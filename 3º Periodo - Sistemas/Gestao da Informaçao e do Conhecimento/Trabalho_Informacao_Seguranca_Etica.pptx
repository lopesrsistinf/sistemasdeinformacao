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3ef2c13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3ef2c135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3ef2c135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f3ef2c135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howtogeek.com/795347/gmail-was-the-best-april-fools-day-joke-of-all-time/" TargetMode="External"/><Relationship Id="rId10" Type="http://schemas.openxmlformats.org/officeDocument/2006/relationships/hyperlink" Target="https://www.howtogeek.com/795347/gmail-was-the-best-april-fools-day-joke-of-all-time/" TargetMode="External"/><Relationship Id="rId13" Type="http://schemas.openxmlformats.org/officeDocument/2006/relationships/hyperlink" Target="https://www.bloomberg.com/news/articles/2018-04-13/apple-warns-employees-to-stop-leaking-information-to-media" TargetMode="External"/><Relationship Id="rId12" Type="http://schemas.openxmlformats.org/officeDocument/2006/relationships/hyperlink" Target="https://www.bloomberg.com/news/articles/2018-04-13/apple-warns-employees-to-stop-leaking-information-to-media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hyperlink" Target="https://www.aclumich.org/cases/facial-recognition/" TargetMode="External"/><Relationship Id="rId9" Type="http://schemas.openxmlformats.org/officeDocument/2006/relationships/hyperlink" Target="https://en.wikipedia.org/wiki/Facebook%E2%80%93Cambridge_Analytica_data_scandal" TargetMode="External"/><Relationship Id="rId5" Type="http://schemas.openxmlformats.org/officeDocument/2006/relationships/hyperlink" Target="https://www.aclumich.org/cases/facial-recognition/" TargetMode="External"/><Relationship Id="rId6" Type="http://schemas.openxmlformats.org/officeDocument/2006/relationships/hyperlink" Target="https://www.consumerfinance.gov/archive/newsroom/cfpb-ftc-states-announce-settlement-with-equifax-over-2017-data-breach/" TargetMode="External"/><Relationship Id="rId7" Type="http://schemas.openxmlformats.org/officeDocument/2006/relationships/hyperlink" Target="https://www.consumerfinance.gov/archive/newsroom/cfpb-ftc-states-announce-settlement-with-equifax-over-2017-data-breach/" TargetMode="External"/><Relationship Id="rId8" Type="http://schemas.openxmlformats.org/officeDocument/2006/relationships/hyperlink" Target="https://en.wikipedia.org/wiki/Facebook%E2%80%93Cambridge_Analytica_data_scandal" TargetMode="External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hyperlink" Target="https://sloanreview.mit.edu/article/the-toyota-group-and-the-aisin-fire/" TargetMode="External"/><Relationship Id="rId10" Type="http://schemas.openxmlformats.org/officeDocument/2006/relationships/hyperlink" Target="https://sloanreview.mit.edu/article/the-toyota-group-and-the-aisin-fire/" TargetMode="External"/><Relationship Id="rId13" Type="http://schemas.openxmlformats.org/officeDocument/2006/relationships/hyperlink" Target="https://www.darkreading.com/endpoint-security/biostar-2-leak-exposes-23gb-data-1m-fingerprints" TargetMode="External"/><Relationship Id="rId12" Type="http://schemas.openxmlformats.org/officeDocument/2006/relationships/hyperlink" Target="https://www.darkreading.com/endpoint-security/biostar-2-leak-exposes-23gb-data-1m-fingerprints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hyperlink" Target="https://krebsonsecurity.com/2016/05/as-scope-of-2012-breach-expands-linkedin-to-again-reset-passwords-for-some-users/" TargetMode="External"/><Relationship Id="rId9" Type="http://schemas.openxmlformats.org/officeDocument/2006/relationships/hyperlink" Target="https://www.huntress.com/threat-library/data-breach/marriott-data-breach" TargetMode="External"/><Relationship Id="rId15" Type="http://schemas.openxmlformats.org/officeDocument/2006/relationships/hyperlink" Target="https://www.securityweek.com/uk-fines-british-airways-failures-2018-data-hack/" TargetMode="External"/><Relationship Id="rId14" Type="http://schemas.openxmlformats.org/officeDocument/2006/relationships/hyperlink" Target="https://www.securityweek.com/uk-fines-british-airways-failures-2018-data-hack/" TargetMode="External"/><Relationship Id="rId5" Type="http://schemas.openxmlformats.org/officeDocument/2006/relationships/hyperlink" Target="https://krebsonsecurity.com/2016/05/as-scope-of-2012-breach-expands-linkedin-to-again-reset-passwords-for-some-users/" TargetMode="External"/><Relationship Id="rId6" Type="http://schemas.openxmlformats.org/officeDocument/2006/relationships/hyperlink" Target="https://krebsonsecurity.com/2014/02/email-attack-on-vendor-set-up-breach-at-target/" TargetMode="External"/><Relationship Id="rId7" Type="http://schemas.openxmlformats.org/officeDocument/2006/relationships/hyperlink" Target="https://krebsonsecurity.com/2014/02/email-attack-on-vendor-set-up-breach-at-target/" TargetMode="External"/><Relationship Id="rId8" Type="http://schemas.openxmlformats.org/officeDocument/2006/relationships/hyperlink" Target="https://www.huntress.com/threat-library/data-breach/marriott-data-breach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00" y="1658790"/>
            <a:ext cx="9001200" cy="16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Informação, Segurança e Ética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979515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Análise de Casos e Impactos Corporativos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87950" y="4968800"/>
            <a:ext cx="701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Dupla: Eric Silva Gusmão, Ramon Lopes de Queiroz</a:t>
            </a:r>
            <a:endParaRPr sz="24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1697091"/>
            <a:ext cx="952500" cy="477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345531" y="2392154"/>
            <a:ext cx="7500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Categorias e Segurança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5975" y="3732191"/>
            <a:ext cx="7620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Mapeando as categorias da informação através da ótica de ativos, ameaças, impactos e falhas de segurança cibernética.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7409"/>
            <a:ext cx="5286375" cy="4015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97409"/>
            <a:ext cx="5286375" cy="401553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62025" y="2287934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Apple (Estratégica)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2888009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vazamento de projetos confidenciais, como o Vision Pro, demonstra o risco competitivo em 2018.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2287934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Google (Alto Potencial)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2888009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lançamento do Gmail em 2004 via beta fechado controlou riscos durante o amadurecimento do serviço.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04900" y="35785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200150" y="357946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Ativo: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Roadmap de produtos (vantagem).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104900" y="39956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200150" y="3996630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Ameaça: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Funcionário mal-intencionado (insider).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04900" y="44128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200150" y="441379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Impacto: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Perda do "efeito surpresa".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104900" y="483000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200150" y="4830960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Falha: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Controle pautado apenas em NDA, ausência de barreira técnica preventiva.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867525" y="35785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962775" y="357946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Ativo: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Produto ainda em testes não validado.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867525" y="39956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962775" y="3996630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Ameaça: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Escala precoce sem infraestrutura.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867525" y="44128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962775" y="441379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Impacto: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Colapso ou dano à reputação.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867525" y="483000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962775" y="4830960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Controle: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 uso de convites atuou como um controle de acesso eficaz, mitigando os riscos.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Estratégica e Alto Potencial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8809"/>
            <a:ext cx="5286375" cy="44727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68809"/>
            <a:ext cx="5286375" cy="447273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962025" y="2059334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Toyota (Operacional-Chave)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62025" y="3116609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Incêndio na fábrica Aisin Seiki (1997) paralisou componentes para o modelo "just-in-time".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24650" y="2059334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Target (Informação de Suporte)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724650" y="3116609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Hackers infiltraram-se via fornecedor de ar-condicionado em 2013 expondo milhões de cartões.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104900" y="38071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200150" y="380806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Ativo: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Insumo físico / capacidade produtiva.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104900" y="42242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200150" y="4225230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Ameaça: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Incêndio que destruiu o local.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104900" y="46414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200150" y="464239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Impacto: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Perdas multibilionárias e parada total.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04900" y="505860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200150" y="5059560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Falha: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Dependência de fornecedor único (equivalente à falta de "backup").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867525" y="38071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962775" y="380806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Ativo: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Credencial de fornecedor terceirizado.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867525" y="42242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962775" y="4225230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Ameaça: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Ataque de Phishing bem-sucedido.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867525" y="46414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962775" y="464239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Impacto: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40M de cartões e 70M de clientes expostos.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867525" y="505860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962775" y="5059560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Falha: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Falta de segmentação na rede corporativa.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Operacional-Chave e Suporte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714375" y="22374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09625" y="223837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ciclo da informação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(Capturar, Organizar, Processar, Manter, Destruir)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possui profundas implicações éticas.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714375" y="29288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09625" y="2929830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Capturar / Manter: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Target expôs falhas de proteção nas camadas iniciais de coleta, enquanto a Marriott herdou vulnerabilidades por falta de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due diligence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14375" y="389462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09625" y="3895576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Processar: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Desvios da finalidade ética originaram o escândalo da Cambridge Analytica com uso indevido.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14375" y="458607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09625" y="4587031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Destruir: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retenção excessiva e negligência de manutenção na Equifax demonstram as falhas de obsolescência de dados.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Ciclo de Vida e Legalidade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5619750" y="2515641"/>
            <a:ext cx="9525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2990611" y="2849016"/>
            <a:ext cx="6210776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Avaliação de Riscos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2286000" y="3896766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Análise qualitativa de incidentes, categorizados em níveis desde o impacto insignificante até o potencial catastrófico sistêmico.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6925"/>
            <a:ext cx="3429000" cy="3676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066925"/>
            <a:ext cx="3429000" cy="3676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066925"/>
            <a:ext cx="3429000" cy="367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900826" y="3238500"/>
            <a:ext cx="27703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Insignificante (1)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66775" y="3838575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Interrupções breves em serviços de nuvem. Configuram risco de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baixíssima probabilidade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sem qualquer tipo de exposição ou impacto sobre a confidencialidade dos dados.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095875" y="3238500"/>
            <a:ext cx="2000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Pequeno (2)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676775" y="3838575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caso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LinkedIn (2012)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revelou senhas criptografadas sem a técnica de "salt". Demonstra como uma falha técnica simples pode resultar num vazamento expressivo.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775858" y="3238500"/>
            <a:ext cx="226028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Moderado (3)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486775" y="3838575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invasão na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British Airways (2018)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desviou tráfego e afetou cerca de 400 mil clientes. O impacto é relevante e gerou multa (£20M), mas ficou restrito a um grupo definido.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25050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5050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5050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Riscos: Níveis 1 a 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3176"/>
            <a:ext cx="5286375" cy="4604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03176"/>
            <a:ext cx="5286375" cy="460414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962025" y="1993701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Alto (4) - Caso Marriott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962025" y="2593776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Vazamento em rede originada em 2014, mas revelada pela rede hoteleira apenas em 2018.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724650" y="1993701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Catastrófico (5) - Caso Equifax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724650" y="3050976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Um dos maiores vazamentos financeiros, ocorrido em 2017 devido a um sistema desatualizado.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104900" y="328427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200150" y="3285232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Impacto: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Dados pessoais e passaportes de até 500 milhões de hóspedes expostos.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104900" y="397573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200150" y="3976687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Causa Legal: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Herança de vulnerabilidades do banco de dados da Starwood.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104900" y="466719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1200150" y="4668142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Lição: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Demonstra as consequências da falha profunda de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due diligence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em fusões e aquisições corporativas.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867525" y="374147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962775" y="3742432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Impacto: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147 milhões de americanos afetados por falha não corrigida. Acordos de quase US$ 700 milhões.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867525" y="443293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962775" y="4433887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Agravantes: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Une um volume colossal a uma falha de segurança primária.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867525" y="512439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962775" y="5125342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Ética: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Ocultação e demora de 6 semanas para a divulgação oficial da brecha.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Riscos: Níveis 4 e 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714375" y="22374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09625" y="2238375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Caso Facebook e Cambridge Analytica (2018)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é o principal exemplo de infração ética pelo uso não autorizado de dados disfarçado de pesquisa.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14375" y="32031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09625" y="320412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Stakeholders Diretos: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87 milhões de usuários que tiveram sua privacidade diretamente violada.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714375" y="389462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809625" y="3895576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Stakeholders Indiretos: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Eleitores, acionistas e o processo democrático, impactados pela manipulação algorítmica.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714375" y="458607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809625" y="4587031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Relatório SoDIS: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Um "Software Development Impact Statement" prévio e robusto deveria ter bloqueado o uso secundário dos perfis.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Ética, SoDIS e Stakeholders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714375" y="22374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09625" y="2238375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Suprema BioStar 2 (2019):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 vazamento de 27,8 milhões de registros demonstrou que a biometria carrega um risco altíssimo: ao contrário de uma senha, sua impressão digital não pode ser alterada.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714375" y="32031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09625" y="320412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Robert Williams (2020):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prisão injusta evidenciou os limites e falhas do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viés algorítmico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em ferramentas biométricas.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14375" y="389462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809625" y="3895576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excesso de confiança e a falta de auditoria nessas tecnologias geram violações de direitos civis, além de falhas de cibersegurança irreversíveis.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Riscos na Análise Biométrica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295200" y="276719"/>
            <a:ext cx="11601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Referências Bibliográficas:</a:t>
            </a:r>
            <a:endParaRPr sz="500"/>
          </a:p>
        </p:txBody>
      </p:sp>
      <p:sp>
        <p:nvSpPr>
          <p:cNvPr id="254" name="Google Shape;254;p23"/>
          <p:cNvSpPr txBox="1"/>
          <p:nvPr/>
        </p:nvSpPr>
        <p:spPr>
          <a:xfrm>
            <a:off x="571500" y="1415850"/>
            <a:ext cx="110490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AAMERICAN CIVIL LIBERTIES UNION OF MICHIGAN (ACLU). Robert Williams - Facial Recognition. ACLU Michigan, [202-?]. Disponível em:</a:t>
            </a:r>
            <a:r>
              <a:rPr lang="en-US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https://www.aclumich.org/cases/facial-recognition/</a:t>
            </a: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. Acesso em: 19 ago. 2026.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CONSUMER FINANCIAL PROTECTION BUREAU (CFPB). CFPB, FTC and States Announce Settlement with Equifax Over 2017 Data Breach. CFPB, Washington, 22 jul. 2019. Disponível em:</a:t>
            </a:r>
            <a:r>
              <a:rPr lang="en-US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https://www.consumerfinance.gov/archive/newsroom/cfpb-ftc-states-announce-settlement-with-equifax-over-2017-data-breach/</a:t>
            </a: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. Acesso em: 19 ago. 2026.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FACEBOOK–Cambridge Analytica data scandal. In: WIKIPEDIA, a enciclopédia livre. Flórida: Wikimedia Foundation, 2026. Disponível em:</a:t>
            </a:r>
            <a:r>
              <a:rPr lang="en-US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https://en.wikipedia.org/wiki/Facebook%E2%80%93Cambridge_Analytica_data_scandal</a:t>
            </a: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. Acesso em: 19 ago. 2026.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GMAIL Was the Best April Fools' Day Joke of All Time. How-To Geek, 1 abr. 2022. Disponível em:</a:t>
            </a:r>
            <a:r>
              <a:rPr lang="en-US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https://www.howtogeek.com/795347/gmail-was-the-best-april-fools-day-joke-of-all-time/</a:t>
            </a: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. Acesso em: 19 ago. 2026.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GURMAN, Mark. Apple Warns Employees to Stop Leaking Information to Media. Bloomberg, 13 abr. 2018. Disponível em:</a:t>
            </a:r>
            <a:r>
              <a:rPr lang="en-US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https://www.bloomberg.com/news/articles/2018-04-13/apple-warns-employees-to-stop-leaking-information-to-media</a:t>
            </a: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. Acesso em: 19 ago. 2026.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571500" y="530950"/>
            <a:ext cx="11049000" cy="57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KREBS, Brian. As Scope of 2012 Breach Expands, LinkedIn to Again Reset Passwords for Some Users. Krebs on Security, 18 maio 2016. Disponível em:</a:t>
            </a:r>
            <a:r>
              <a:rPr lang="en-US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https://krebsonsecurity.com/2016/05/as-scope-of-2012-breach-expands-linkedin-to-again-reset-passwords-for-some-users/</a:t>
            </a: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. Acesso em: 19 ago. 2026.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KREBS, Brian. Email Attack on Vendor Set Up Breach at Target. Krebs on Security, 12 fev. 2014. Disponível em:</a:t>
            </a:r>
            <a:r>
              <a:rPr lang="en-US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https://krebsonsecurity.com/2014/02/email-attack-on-vendor-set-up-breach-at-target/</a:t>
            </a: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. Acesso em: 19 ago. 2026.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MARRIOTT Data Breach. Huntress, [202-?]. Disponível em:</a:t>
            </a:r>
            <a:r>
              <a:rPr lang="en-US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https://www.huntress.com/threat-library/data-breach/marriott-data-breach</a:t>
            </a: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. Acesso em: 19 ago. 2026.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NISHIGUCHI, Toshihiro; BEAUDET, Alexandre. The Toyota Group and the Aisin Fire. MIT Sloan Management Review, 15 out. 1998. Disponível em:</a:t>
            </a:r>
            <a:r>
              <a:rPr lang="en-US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https://sloanreview.mit.edu/article/the-toyota-group-and-the-aisin-fire/</a:t>
            </a: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. Acesso em: 19 ago. 2026.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SHERIDAN, Kelly. BioStar 2 Leak Exposes 23GB of Data, 1M Fingerprints. Dark Reading, 14 ago. 2019. Disponível em:</a:t>
            </a:r>
            <a:r>
              <a:rPr lang="en-US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https://www.darkreading.com/endpoint-security/biostar-2-leak-exposes-23gb-data-1m-fingerprints</a:t>
            </a: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. Acesso em: 19 ago. 2026.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UK FINES British Airways Over Failures in 2018 Data Hack. SecurityWeek, 16 out. 2020. Disponível em:</a:t>
            </a:r>
            <a:r>
              <a:rPr lang="en-US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https://www.securityweek.com/uk-fines-british-airways-failures-2018-data-hack/</a:t>
            </a:r>
            <a:r>
              <a:rPr lang="en-US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. Acesso em: 19 ago. 2026.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295200" y="2967294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