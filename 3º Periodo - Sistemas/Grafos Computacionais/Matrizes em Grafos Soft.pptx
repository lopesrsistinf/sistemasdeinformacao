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Montserrat SemiBold"/>
      <p:regular r:id="rId14"/>
      <p:bold r:id="rId15"/>
      <p:italic r:id="rId16"/>
      <p:boldItalic r:id="rId17"/>
    </p:embeddedFont>
    <p:embeddedFont>
      <p:font typeface="Montserrat"/>
      <p:regular r:id="rId18"/>
      <p:bold r:id="rId19"/>
      <p:italic r:id="rId20"/>
      <p:boldItalic r:id="rId21"/>
    </p:embeddedFont>
    <p:embeddedFont>
      <p:font typeface="Open Sans SemiBold"/>
      <p:regular r:id="rId22"/>
      <p:bold r:id="rId23"/>
      <p:italic r:id="rId24"/>
      <p:boldItalic r:id="rId25"/>
    </p:embeddedFont>
    <p:embeddedFont>
      <p:font typeface="Open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OpenSansSemiBold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OpenSansSemiBold-italic.fntdata"/><Relationship Id="rId23" Type="http://schemas.openxmlformats.org/officeDocument/2006/relationships/font" Target="fonts/OpenSans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regular.fntdata"/><Relationship Id="rId25" Type="http://schemas.openxmlformats.org/officeDocument/2006/relationships/font" Target="fonts/OpenSansSemiBold-boldItalic.fntdata"/><Relationship Id="rId28" Type="http://schemas.openxmlformats.org/officeDocument/2006/relationships/font" Target="fonts/OpenSans-italic.fntdata"/><Relationship Id="rId27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MontserratSemiBold-bold.fntdata"/><Relationship Id="rId14" Type="http://schemas.openxmlformats.org/officeDocument/2006/relationships/font" Target="fonts/MontserratSemiBold-regular.fntdata"/><Relationship Id="rId17" Type="http://schemas.openxmlformats.org/officeDocument/2006/relationships/font" Target="fonts/MontserratSemiBold-boldItalic.fntdata"/><Relationship Id="rId16" Type="http://schemas.openxmlformats.org/officeDocument/2006/relationships/font" Target="fonts/MontserratSemiBold-italic.fntdata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11" Type="http://schemas.openxmlformats.org/officeDocument/2006/relationships/image" Target="../media/image13.png"/><Relationship Id="rId10" Type="http://schemas.openxmlformats.org/officeDocument/2006/relationships/image" Target="../media/image5.png"/><Relationship Id="rId9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14.png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9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21.png"/><Relationship Id="rId7" Type="http://schemas.openxmlformats.org/officeDocument/2006/relationships/image" Target="../media/image11.png"/><Relationship Id="rId8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title="watermarked_img_17377370956825843865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028700" y="2108894"/>
            <a:ext cx="11121300" cy="15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Matrizes de Adjacência e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Incidência em Grafos Soft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028700" y="3678435"/>
            <a:ext cx="1059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Uma abordagem para lidar com incertezas na Teoria dos Grafos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028700" y="4520356"/>
            <a:ext cx="10591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Baseado no artigo de: J. D. Thenge, B. Surendranath Reddy e R. S. Jain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1028700" y="5403585"/>
            <a:ext cx="1059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Equipe: Eric SIlva Gusmão, João Pedro Arantes, Ramon Lopes de Queiroz</a:t>
            </a:r>
            <a:endParaRPr b="1"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38375"/>
            <a:ext cx="5334000" cy="3409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238375"/>
            <a:ext cx="5334000" cy="34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962025" y="2933700"/>
            <a:ext cx="47805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C254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Grafos Clássicos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62025" y="3590925"/>
            <a:ext cx="45529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95057"/>
                </a:solidFill>
                <a:latin typeface="Open Sans"/>
                <a:ea typeface="Open Sans"/>
                <a:cs typeface="Open Sans"/>
                <a:sym typeface="Open Sans"/>
              </a:rPr>
              <a:t>Tradicionalmente, um grafo representa relações fixas. Temos </a:t>
            </a:r>
            <a:r>
              <a:rPr b="1" i="0" lang="en-US" sz="1500" u="none" cap="none" strike="noStrike">
                <a:solidFill>
                  <a:srgbClr val="495057"/>
                </a:solidFill>
                <a:latin typeface="Open Sans"/>
                <a:ea typeface="Open Sans"/>
                <a:cs typeface="Open Sans"/>
                <a:sym typeface="Open Sans"/>
              </a:rPr>
              <a:t>Vértices</a:t>
            </a:r>
            <a:r>
              <a:rPr b="0" i="0" lang="en-US" sz="1500" u="none" cap="none" strike="noStrike">
                <a:solidFill>
                  <a:srgbClr val="495057"/>
                </a:solidFill>
                <a:latin typeface="Open Sans"/>
                <a:ea typeface="Open Sans"/>
                <a:cs typeface="Open Sans"/>
                <a:sym typeface="Open Sans"/>
              </a:rPr>
              <a:t> (pontos) e </a:t>
            </a:r>
            <a:r>
              <a:rPr b="1" i="0" lang="en-US" sz="1500" u="none" cap="none" strike="noStrike">
                <a:solidFill>
                  <a:srgbClr val="495057"/>
                </a:solidFill>
                <a:latin typeface="Open Sans"/>
                <a:ea typeface="Open Sans"/>
                <a:cs typeface="Open Sans"/>
                <a:sym typeface="Open Sans"/>
              </a:rPr>
              <a:t>Arestas</a:t>
            </a:r>
            <a:r>
              <a:rPr b="0" i="0" lang="en-US" sz="1500" u="none" cap="none" strike="noStrike">
                <a:solidFill>
                  <a:srgbClr val="495057"/>
                </a:solidFill>
                <a:latin typeface="Open Sans"/>
                <a:ea typeface="Open Sans"/>
                <a:cs typeface="Open Sans"/>
                <a:sym typeface="Open Sans"/>
              </a:rPr>
              <a:t> (linhas que conectam os pontos). A relação existe ou não existe, de forma exata e absoluta.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677025" y="2628900"/>
            <a:ext cx="47805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C254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 Fator "Soft" (Incerteza)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677025" y="3286125"/>
            <a:ext cx="455295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95057"/>
                </a:solidFill>
                <a:latin typeface="Open Sans"/>
                <a:ea typeface="Open Sans"/>
                <a:cs typeface="Open Sans"/>
                <a:sym typeface="Open Sans"/>
              </a:rPr>
              <a:t>Um </a:t>
            </a:r>
            <a:r>
              <a:rPr b="1" i="0" lang="en-US" sz="1500" u="none" cap="none" strike="noStrike">
                <a:solidFill>
                  <a:srgbClr val="495057"/>
                </a:solidFill>
                <a:latin typeface="Open Sans"/>
                <a:ea typeface="Open Sans"/>
                <a:cs typeface="Open Sans"/>
                <a:sym typeface="Open Sans"/>
              </a:rPr>
              <a:t>Grafo Soft</a:t>
            </a:r>
            <a:r>
              <a:rPr b="0" i="0" lang="en-US" sz="1500" u="none" cap="none" strike="noStrike">
                <a:solidFill>
                  <a:srgbClr val="495057"/>
                </a:solidFill>
                <a:latin typeface="Open Sans"/>
                <a:ea typeface="Open Sans"/>
                <a:cs typeface="Open Sans"/>
                <a:sym typeface="Open Sans"/>
              </a:rPr>
              <a:t> combina grafos com a </a:t>
            </a:r>
            <a:r>
              <a:rPr b="0" i="1" lang="en-US" sz="1500" u="none" cap="none" strike="noStrike">
                <a:solidFill>
                  <a:srgbClr val="495057"/>
                </a:solidFill>
                <a:latin typeface="Open Sans"/>
                <a:ea typeface="Open Sans"/>
                <a:cs typeface="Open Sans"/>
                <a:sym typeface="Open Sans"/>
              </a:rPr>
              <a:t>Teoria dos Conjuntos Soft</a:t>
            </a:r>
            <a:r>
              <a:rPr b="0" i="0" lang="en-US" sz="1500" u="none" cap="none" strike="noStrike">
                <a:solidFill>
                  <a:srgbClr val="495057"/>
                </a:solidFill>
                <a:latin typeface="Open Sans"/>
                <a:ea typeface="Open Sans"/>
                <a:cs typeface="Open Sans"/>
                <a:sym typeface="Open Sans"/>
              </a:rPr>
              <a:t>. Ele adiciona </a:t>
            </a:r>
            <a:r>
              <a:rPr b="1" i="0" lang="en-US" sz="1500" u="none" cap="none" strike="noStrike">
                <a:solidFill>
                  <a:srgbClr val="495057"/>
                </a:solidFill>
                <a:latin typeface="Open Sans"/>
                <a:ea typeface="Open Sans"/>
                <a:cs typeface="Open Sans"/>
                <a:sym typeface="Open Sans"/>
              </a:rPr>
              <a:t>parâmetros</a:t>
            </a:r>
            <a:r>
              <a:rPr b="0" i="0" lang="en-US" sz="1500" u="none" cap="none" strike="noStrike">
                <a:solidFill>
                  <a:srgbClr val="495057"/>
                </a:solidFill>
                <a:latin typeface="Open Sans"/>
                <a:ea typeface="Open Sans"/>
                <a:cs typeface="Open Sans"/>
                <a:sym typeface="Open Sans"/>
              </a:rPr>
              <a:t>. A existência de uma conexão passa a depender de uma condição ou perspectiva específica (ex: conexões válidas apenas se o parâmetro X for atendido).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B132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1. Introdução: O que é um Grafo Soft?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71500" y="1181100"/>
            <a:ext cx="11049000" cy="3810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714375" y="571500"/>
            <a:ext cx="54006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B132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2. O Problema Tratado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571500" y="571500"/>
            <a:ext cx="38100" cy="60960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571500" y="2043112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95057"/>
                </a:solidFill>
                <a:latin typeface="Open Sans"/>
                <a:ea typeface="Open Sans"/>
                <a:cs typeface="Open Sans"/>
                <a:sym typeface="Open Sans"/>
              </a:rPr>
              <a:t>Na vida real, redes de dados (como redes sociais, sistemas de tráfego ou bancos de dados) contêm incertezas. As relações não são preto no branco.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3290887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95057"/>
                </a:solidFill>
                <a:latin typeface="Open Sans"/>
                <a:ea typeface="Open Sans"/>
                <a:cs typeface="Open Sans"/>
                <a:sym typeface="Open Sans"/>
              </a:rPr>
              <a:t>O Desafio:</a:t>
            </a:r>
            <a:r>
              <a:rPr b="0" i="0" lang="en-US" sz="1500" u="none" cap="none" strike="noStrike">
                <a:solidFill>
                  <a:srgbClr val="495057"/>
                </a:solidFill>
                <a:latin typeface="Open Sans"/>
                <a:ea typeface="Open Sans"/>
                <a:cs typeface="Open Sans"/>
                <a:sym typeface="Open Sans"/>
              </a:rPr>
              <a:t> Como representar matematicamente um grafo onde as conexões mudam dependendo do parâmetro analisado?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71500" y="4538662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95057"/>
                </a:solidFill>
                <a:latin typeface="Open Sans"/>
                <a:ea typeface="Open Sans"/>
                <a:cs typeface="Open Sans"/>
                <a:sym typeface="Open Sans"/>
              </a:rPr>
              <a:t>A Solução do Artigo:</a:t>
            </a:r>
            <a:r>
              <a:rPr b="0" i="0" lang="en-US" sz="1500" u="none" cap="none" strike="noStrike">
                <a:solidFill>
                  <a:srgbClr val="495057"/>
                </a:solidFill>
                <a:latin typeface="Open Sans"/>
                <a:ea typeface="Open Sans"/>
                <a:cs typeface="Open Sans"/>
                <a:sym typeface="Open Sans"/>
              </a:rPr>
              <a:t> Criar definições formais para </a:t>
            </a:r>
            <a:r>
              <a:rPr b="0" i="1" lang="en-US" sz="1500" u="none" cap="none" strike="noStrike">
                <a:solidFill>
                  <a:srgbClr val="495057"/>
                </a:solidFill>
                <a:latin typeface="Open Sans"/>
                <a:ea typeface="Open Sans"/>
                <a:cs typeface="Open Sans"/>
                <a:sym typeface="Open Sans"/>
              </a:rPr>
              <a:t>Matrizes de Adjacência</a:t>
            </a:r>
            <a:r>
              <a:rPr b="0" i="0" lang="en-US" sz="1500" u="none" cap="none" strike="noStrike">
                <a:solidFill>
                  <a:srgbClr val="495057"/>
                </a:solidFill>
                <a:latin typeface="Open Sans"/>
                <a:ea typeface="Open Sans"/>
                <a:cs typeface="Open Sans"/>
                <a:sym typeface="Open Sans"/>
              </a:rPr>
              <a:t> e </a:t>
            </a:r>
            <a:r>
              <a:rPr b="0" i="1" lang="en-US" sz="1500" u="none" cap="none" strike="noStrike">
                <a:solidFill>
                  <a:srgbClr val="495057"/>
                </a:solidFill>
                <a:latin typeface="Open Sans"/>
                <a:ea typeface="Open Sans"/>
                <a:cs typeface="Open Sans"/>
                <a:sym typeface="Open Sans"/>
              </a:rPr>
              <a:t>Matrizes de Incidência</a:t>
            </a:r>
            <a:r>
              <a:rPr b="0" i="0" lang="en-US" sz="1500" u="none" cap="none" strike="noStrike">
                <a:solidFill>
                  <a:srgbClr val="495057"/>
                </a:solidFill>
                <a:latin typeface="Open Sans"/>
                <a:ea typeface="Open Sans"/>
                <a:cs typeface="Open Sans"/>
                <a:sym typeface="Open Sans"/>
              </a:rPr>
              <a:t> específicas para Grafos Soft, permitindo que computadores processem essas redes complexas.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43037"/>
            <a:ext cx="3492549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443037"/>
            <a:ext cx="3492549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443037"/>
            <a:ext cx="3492549" cy="500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794225" y="2795587"/>
            <a:ext cx="3047099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C254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Adjacência Condicional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66775" y="3776662"/>
            <a:ext cx="2901900" cy="24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95057"/>
                </a:solidFill>
                <a:latin typeface="Open Sans"/>
                <a:ea typeface="Open Sans"/>
                <a:cs typeface="Open Sans"/>
                <a:sym typeface="Open Sans"/>
              </a:rPr>
              <a:t>Dois vértices só são considerados adjacentes (conectados) no Grafo Soft se eles </a:t>
            </a:r>
            <a:r>
              <a:rPr lang="en-US" sz="1500">
                <a:solidFill>
                  <a:srgbClr val="495057"/>
                </a:solidFill>
                <a:latin typeface="Open Sans"/>
                <a:ea typeface="Open Sans"/>
                <a:cs typeface="Open Sans"/>
                <a:sym typeface="Open Sans"/>
              </a:rPr>
              <a:t>pertencem</a:t>
            </a:r>
            <a:r>
              <a:rPr b="0" i="0" lang="en-US" sz="1500" u="none" cap="none" strike="noStrike">
                <a:solidFill>
                  <a:srgbClr val="495057"/>
                </a:solidFill>
                <a:latin typeface="Open Sans"/>
                <a:ea typeface="Open Sans"/>
                <a:cs typeface="Open Sans"/>
                <a:sym typeface="Open Sans"/>
              </a:rPr>
              <a:t> ao mesmo subgrafo gerado pelo parâmetro analisado. A matriz registra '1' para sim e '0' para não.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4572524" y="2795587"/>
            <a:ext cx="3047099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C254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Matriz de Adjacência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4645074" y="3776662"/>
            <a:ext cx="290199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95057"/>
                </a:solidFill>
                <a:latin typeface="Open Sans"/>
                <a:ea typeface="Open Sans"/>
                <a:cs typeface="Open Sans"/>
                <a:sym typeface="Open Sans"/>
              </a:rPr>
              <a:t>Mapeia a relação Vértice vs. Vértice. É uma matriz quadrada que nos diz rapidamente quais nós estão diretamente interligados sob as regras do parâmetro atual.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350824" y="2795587"/>
            <a:ext cx="3047099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C254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Matriz de Incidência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423374" y="3776662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95057"/>
                </a:solidFill>
                <a:latin typeface="Open Sans"/>
                <a:ea typeface="Open Sans"/>
                <a:cs typeface="Open Sans"/>
                <a:sym typeface="Open Sans"/>
              </a:rPr>
              <a:t>Mapeia a relação Vértice vs. Aresta. Ela indica se uma aresta específica "toca" um vértice dentro das condições impostas pelo conjunto de parâmetros.</a:t>
            </a:r>
            <a:endParaRPr/>
          </a:p>
        </p:txBody>
      </p:sp>
      <p:pic>
        <p:nvPicPr>
          <p:cNvPr descr="image.png" id="128" name="Google Shape;12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17662" y="1938337"/>
            <a:ext cx="600075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29300" y="1938337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86462" y="3176587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540924" y="1938337"/>
            <a:ext cx="66675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774287" y="3186112"/>
            <a:ext cx="200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71500" y="414337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B132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3. Metodologia: Construindo as Matrizes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571500" y="1023937"/>
            <a:ext cx="11049000" cy="3810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19287"/>
            <a:ext cx="5334000" cy="404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919287"/>
            <a:ext cx="5334000" cy="404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962025" y="2767012"/>
            <a:ext cx="47805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C254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 Cenário Base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962025" y="3424237"/>
            <a:ext cx="4552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95057"/>
                </a:solidFill>
                <a:latin typeface="Open Sans"/>
                <a:ea typeface="Open Sans"/>
                <a:cs typeface="Open Sans"/>
                <a:sym typeface="Open Sans"/>
              </a:rPr>
              <a:t>Imagine um grafo onde os vértices são </a:t>
            </a:r>
            <a:r>
              <a:rPr b="1" i="0" lang="en-US" sz="1500" u="none" cap="none" strike="noStrike">
                <a:solidFill>
                  <a:srgbClr val="495057"/>
                </a:solidFill>
                <a:latin typeface="Open Sans"/>
                <a:ea typeface="Open Sans"/>
                <a:cs typeface="Open Sans"/>
                <a:sym typeface="Open Sans"/>
              </a:rPr>
              <a:t>Pessoas</a:t>
            </a:r>
            <a:r>
              <a:rPr b="0" i="0" lang="en-US" sz="1500" u="none" cap="none" strike="noStrike">
                <a:solidFill>
                  <a:srgbClr val="495057"/>
                </a:solidFill>
                <a:latin typeface="Open Sans"/>
                <a:ea typeface="Open Sans"/>
                <a:cs typeface="Open Sans"/>
                <a:sym typeface="Open Sans"/>
              </a:rPr>
              <a:t> e as arestas são </a:t>
            </a:r>
            <a:r>
              <a:rPr b="1" i="0" lang="en-US" sz="1500" u="none" cap="none" strike="noStrike">
                <a:solidFill>
                  <a:srgbClr val="495057"/>
                </a:solidFill>
                <a:latin typeface="Open Sans"/>
                <a:ea typeface="Open Sans"/>
                <a:cs typeface="Open Sans"/>
                <a:sym typeface="Open Sans"/>
              </a:rPr>
              <a:t>Conexões</a:t>
            </a:r>
            <a:r>
              <a:rPr b="0" i="0" lang="en-US" sz="1500" u="none" cap="none" strike="noStrike">
                <a:solidFill>
                  <a:srgbClr val="495057"/>
                </a:solidFill>
                <a:latin typeface="Open Sans"/>
                <a:ea typeface="Open Sans"/>
                <a:cs typeface="Open Sans"/>
                <a:sym typeface="Open Sans"/>
              </a:rPr>
              <a:t> (amigos no app).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962025" y="4367212"/>
            <a:ext cx="4552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95057"/>
                </a:solidFill>
                <a:latin typeface="Open Sans"/>
                <a:ea typeface="Open Sans"/>
                <a:cs typeface="Open Sans"/>
                <a:sym typeface="Open Sans"/>
              </a:rPr>
              <a:t>Num grafo clássico, se Ana e João são amigos, a ligação existe. Ponto.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677025" y="2309812"/>
            <a:ext cx="47805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C254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Aplicando o Grafo Soft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6677025" y="2967037"/>
            <a:ext cx="4552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95057"/>
                </a:solidFill>
                <a:latin typeface="Open Sans"/>
                <a:ea typeface="Open Sans"/>
                <a:cs typeface="Open Sans"/>
                <a:sym typeface="Open Sans"/>
              </a:rPr>
              <a:t>Definimos um parâmetro = </a:t>
            </a:r>
            <a:r>
              <a:rPr b="0" i="1" lang="en-US" sz="1500" u="none" cap="none" strike="noStrike">
                <a:solidFill>
                  <a:srgbClr val="495057"/>
                </a:solidFill>
                <a:latin typeface="Open Sans"/>
                <a:ea typeface="Open Sans"/>
                <a:cs typeface="Open Sans"/>
                <a:sym typeface="Open Sans"/>
              </a:rPr>
              <a:t>"Morar a menos de 5km de distância"</a:t>
            </a:r>
            <a:r>
              <a:rPr b="0" i="0" lang="en-US" sz="1500" u="none" cap="none" strike="noStrike">
                <a:solidFill>
                  <a:srgbClr val="495057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677025" y="3910012"/>
            <a:ext cx="45529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95057"/>
                </a:solidFill>
                <a:latin typeface="Open Sans"/>
                <a:ea typeface="Open Sans"/>
                <a:cs typeface="Open Sans"/>
                <a:sym typeface="Open Sans"/>
              </a:rPr>
              <a:t>Ana e João são amigos no app, mas moram a 20km de distância. Na nossa Matriz de Adjacência do </a:t>
            </a:r>
            <a:r>
              <a:rPr b="1" i="0" lang="en-US" sz="1500" u="none" cap="none" strike="noStrike">
                <a:solidFill>
                  <a:srgbClr val="495057"/>
                </a:solidFill>
                <a:latin typeface="Open Sans"/>
                <a:ea typeface="Open Sans"/>
                <a:cs typeface="Open Sans"/>
                <a:sym typeface="Open Sans"/>
              </a:rPr>
              <a:t>Grafo Soft</a:t>
            </a:r>
            <a:r>
              <a:rPr b="0" i="0" lang="en-US" sz="1500" u="none" cap="none" strike="noStrike">
                <a:solidFill>
                  <a:srgbClr val="495057"/>
                </a:solidFill>
                <a:latin typeface="Open Sans"/>
                <a:ea typeface="Open Sans"/>
                <a:cs typeface="Open Sans"/>
                <a:sym typeface="Open Sans"/>
              </a:rPr>
              <a:t> focado no parâmetro , Ana e João </a:t>
            </a:r>
            <a:r>
              <a:rPr b="1" i="0" lang="en-US" sz="1500" u="none" cap="none" strike="noStrike">
                <a:solidFill>
                  <a:srgbClr val="495057"/>
                </a:solidFill>
                <a:latin typeface="Open Sans"/>
                <a:ea typeface="Open Sans"/>
                <a:cs typeface="Open Sans"/>
                <a:sym typeface="Open Sans"/>
              </a:rPr>
              <a:t>não são adjacentes (valor 0)</a:t>
            </a:r>
            <a:r>
              <a:rPr b="0" i="0" lang="en-US" sz="1500" u="none" cap="none" strike="noStrike">
                <a:solidFill>
                  <a:srgbClr val="495057"/>
                </a:solidFill>
                <a:latin typeface="Open Sans"/>
                <a:ea typeface="Open Sans"/>
                <a:cs typeface="Open Sans"/>
                <a:sym typeface="Open Sans"/>
              </a:rPr>
              <a:t>, pois não satisfazem a condição do parâmetro atual.</a:t>
            </a:r>
            <a:endParaRPr/>
          </a:p>
        </p:txBody>
      </p:sp>
      <p:pic>
        <p:nvPicPr>
          <p:cNvPr descr="image.png" id="148" name="Google Shape;14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72550" y="3052762"/>
            <a:ext cx="127099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82150" y="4605337"/>
            <a:ext cx="127099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B132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4. Exemplo Prático: Rede Social</a:t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571500" y="1181100"/>
            <a:ext cx="11049000" cy="3810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62175" y="3666083"/>
            <a:ext cx="1384101" cy="65142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1047750" y="2279600"/>
            <a:ext cx="10572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B132B"/>
                </a:solidFill>
                <a:latin typeface="Open Sans"/>
                <a:ea typeface="Open Sans"/>
                <a:cs typeface="Open Sans"/>
                <a:sym typeface="Open Sans"/>
              </a:rPr>
              <a:t>Cálculo do Grau do Vértice:</a:t>
            </a:r>
            <a:r>
              <a:rPr b="0" i="0" lang="en-US" sz="1650" u="none" cap="none" strike="noStrike">
                <a:solidFill>
                  <a:srgbClr val="495057"/>
                </a:solidFill>
                <a:latin typeface="Open Sans"/>
                <a:ea typeface="Open Sans"/>
                <a:cs typeface="Open Sans"/>
                <a:sym typeface="Open Sans"/>
              </a:rPr>
              <a:t> Em grafos clássicos, a soma da linha de um vértice na matriz de adjacência é sempre igual ao seu grau (número de conexões).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1047750" y="3188047"/>
            <a:ext cx="10572750" cy="1607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B132B"/>
                </a:solidFill>
                <a:latin typeface="Open Sans"/>
                <a:ea typeface="Open Sans"/>
                <a:cs typeface="Open Sans"/>
                <a:sym typeface="Open Sans"/>
              </a:rPr>
              <a:t>A Exceção do Grafo Soft:</a:t>
            </a:r>
            <a:r>
              <a:rPr b="0" i="0" lang="en-US" sz="1650" u="none" cap="none" strike="noStrike">
                <a:solidFill>
                  <a:srgbClr val="495057"/>
                </a:solidFill>
                <a:latin typeface="Open Sans"/>
                <a:ea typeface="Open Sans"/>
                <a:cs typeface="Open Sans"/>
                <a:sym typeface="Open Sans"/>
              </a:rPr>
              <a:t> O artigo prova que, em Grafos Soft, a soma dos elementos da linha na Matriz de Adjacência só é igual ao grau do vértice se (e somente se) esse vértice pertencer ao conjunto de parâmetros analisado 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1047750" y="5033664"/>
            <a:ext cx="10572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B132B"/>
                </a:solidFill>
                <a:latin typeface="Open Sans"/>
                <a:ea typeface="Open Sans"/>
                <a:cs typeface="Open Sans"/>
                <a:sym typeface="Open Sans"/>
              </a:rPr>
              <a:t>Se o vértice estiver fora do parâmetro:</a:t>
            </a:r>
            <a:r>
              <a:rPr b="0" i="0" lang="en-US" sz="1650" u="none" cap="none" strike="noStrike">
                <a:solidFill>
                  <a:srgbClr val="495057"/>
                </a:solidFill>
                <a:latin typeface="Open Sans"/>
                <a:ea typeface="Open Sans"/>
                <a:cs typeface="Open Sans"/>
                <a:sym typeface="Open Sans"/>
              </a:rPr>
              <a:t> A soma da linha na matriz </a:t>
            </a:r>
            <a:r>
              <a:rPr b="1" i="0" lang="en-US" sz="1650" u="none" cap="none" strike="noStrike">
                <a:solidFill>
                  <a:srgbClr val="0B132B"/>
                </a:solidFill>
                <a:latin typeface="Open Sans"/>
                <a:ea typeface="Open Sans"/>
                <a:cs typeface="Open Sans"/>
                <a:sym typeface="Open Sans"/>
              </a:rPr>
              <a:t>não será igual</a:t>
            </a:r>
            <a:r>
              <a:rPr b="0" i="0" lang="en-US" sz="1650" u="none" cap="none" strike="noStrike">
                <a:solidFill>
                  <a:srgbClr val="495057"/>
                </a:solidFill>
                <a:latin typeface="Open Sans"/>
                <a:ea typeface="Open Sans"/>
                <a:cs typeface="Open Sans"/>
                <a:sym typeface="Open Sans"/>
              </a:rPr>
              <a:t> ao grau do vértice.</a:t>
            </a:r>
            <a:endParaRPr/>
          </a:p>
        </p:txBody>
      </p:sp>
      <p:pic>
        <p:nvPicPr>
          <p:cNvPr descr="image.png" id="161" name="Google Shape;16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14725" y="4574678"/>
            <a:ext cx="139898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29388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202334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343150" y="3904208"/>
            <a:ext cx="1060251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047952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B132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5. Resultados e Descobertas</a:t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571500" y="1181100"/>
            <a:ext cx="11049000" cy="3810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1209675" y="1861244"/>
            <a:ext cx="476250" cy="1390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CAF0F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"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571500" y="5177730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95057"/>
                </a:solidFill>
                <a:latin typeface="Open Sans"/>
                <a:ea typeface="Open Sans"/>
                <a:cs typeface="Open Sans"/>
                <a:sym typeface="Open Sans"/>
              </a:rPr>
              <a:t>Exemplo Clássico que Falha:</a:t>
            </a:r>
            <a:r>
              <a:rPr b="0" i="0" lang="en-US" sz="1500" u="none" cap="none" strike="noStrike">
                <a:solidFill>
                  <a:srgbClr val="495057"/>
                </a:solidFill>
                <a:latin typeface="Open Sans"/>
                <a:ea typeface="Open Sans"/>
                <a:cs typeface="Open Sans"/>
                <a:sym typeface="Open Sans"/>
              </a:rPr>
              <a:t> Em grafos normais, dizemos que Matriz de Adjacência + Matriz de Graus = Matriz de Incidência multiplicada pela sua transposta. No mundo dos grafos soft, essa regra não é garantida!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1876425" y="1956494"/>
            <a:ext cx="8439150" cy="224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C254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Muitos resultados da teoria clássica dos grafos não se sustentam na teoria dos grafos soft. Equações consagradas precisam ser reavaliadas.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3557587" y="4577655"/>
            <a:ext cx="50768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C757D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CONCLUSÃO FUNDAMENTAL DO ARTIGO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B132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Paradigmas Quebrados</a:t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571500" y="1181100"/>
            <a:ext cx="11049000" cy="3810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/>
          <p:nvPr/>
        </p:nvSpPr>
        <p:spPr>
          <a:xfrm>
            <a:off x="5524500" y="1709886"/>
            <a:ext cx="1143000" cy="5715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4360783" y="2052786"/>
            <a:ext cx="3470433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B132B"/>
                </a:solidFill>
                <a:latin typeface="Montserrat"/>
                <a:ea typeface="Montserrat"/>
                <a:cs typeface="Montserrat"/>
                <a:sym typeface="Montserrat"/>
              </a:rPr>
              <a:t>Conclusão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2286000" y="3176736"/>
            <a:ext cx="7620000" cy="1828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95057"/>
                </a:solidFill>
                <a:latin typeface="Open Sans"/>
                <a:ea typeface="Open Sans"/>
                <a:cs typeface="Open Sans"/>
                <a:sym typeface="Open Sans"/>
              </a:rPr>
              <a:t>Os Grafos Soft representam uma nova fronteira na matemática computacional. Ao definir as </a:t>
            </a:r>
            <a:r>
              <a:rPr b="1" i="0" lang="en-US" sz="1800" u="none" cap="none" strike="noStrike">
                <a:solidFill>
                  <a:srgbClr val="495057"/>
                </a:solidFill>
                <a:latin typeface="Open Sans"/>
                <a:ea typeface="Open Sans"/>
                <a:cs typeface="Open Sans"/>
                <a:sym typeface="Open Sans"/>
              </a:rPr>
              <a:t>Matrizes de Adjacência e Incidência</a:t>
            </a:r>
            <a:r>
              <a:rPr b="0" i="0" lang="en-US" sz="1800" u="none" cap="none" strike="noStrike">
                <a:solidFill>
                  <a:srgbClr val="495057"/>
                </a:solidFill>
                <a:latin typeface="Open Sans"/>
                <a:ea typeface="Open Sans"/>
                <a:cs typeface="Open Sans"/>
                <a:sym typeface="Open Sans"/>
              </a:rPr>
              <a:t>, os autores criaram as ferramentas necessárias para que sistemas de IA e computadores possam calcular redes baseadas em incertezas e múltiplas condições.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