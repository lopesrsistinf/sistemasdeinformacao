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76" r:id="rId8"/>
    <p:sldId id="277" r:id="rId9"/>
    <p:sldId id="261" r:id="rId10"/>
    <p:sldId id="262" r:id="rId11"/>
    <p:sldId id="272" r:id="rId12"/>
    <p:sldId id="263" r:id="rId13"/>
    <p:sldId id="264" r:id="rId14"/>
    <p:sldId id="265" r:id="rId15"/>
    <p:sldId id="280" r:id="rId16"/>
    <p:sldId id="266" r:id="rId17"/>
    <p:sldId id="267" r:id="rId18"/>
    <p:sldId id="278" r:id="rId19"/>
    <p:sldId id="268" r:id="rId20"/>
    <p:sldId id="269" r:id="rId21"/>
    <p:sldId id="270" r:id="rId22"/>
    <p:sldId id="279" r:id="rId23"/>
    <p:sldId id="281" r:id="rId24"/>
    <p:sldId id="282" r:id="rId25"/>
    <p:sldId id="283" r:id="rId26"/>
    <p:sldId id="273" r:id="rId27"/>
    <p:sldId id="275" r:id="rId28"/>
    <p:sldId id="274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930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057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496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386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007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1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4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0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17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812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65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004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047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Conceitos</a:t>
            </a:r>
            <a:r>
              <a:rPr dirty="0"/>
              <a:t> </a:t>
            </a:r>
            <a:r>
              <a:rPr dirty="0" err="1"/>
              <a:t>Fundamentais</a:t>
            </a:r>
            <a:r>
              <a:rPr dirty="0"/>
              <a:t> da Teoria dos </a:t>
            </a:r>
            <a:r>
              <a:rPr dirty="0" err="1"/>
              <a:t>Grafos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pt-BR" sz="5400" dirty="0"/>
          </a:p>
          <a:p>
            <a:pPr marL="0" indent="0" algn="ctr">
              <a:buNone/>
            </a:pPr>
            <a:endParaRPr lang="pt-BR" sz="5400" dirty="0"/>
          </a:p>
          <a:p>
            <a:pPr marL="0" indent="0" algn="ctr">
              <a:buNone/>
            </a:pPr>
            <a:endParaRPr lang="pt-BR" sz="1900" dirty="0"/>
          </a:p>
          <a:p>
            <a:pPr marL="0" indent="0" algn="ctr">
              <a:buNone/>
            </a:pPr>
            <a:r>
              <a:rPr lang="pt-BR" sz="1900" dirty="0"/>
              <a:t>Professor: </a:t>
            </a:r>
            <a:r>
              <a:rPr lang="pt-BR" sz="1900" dirty="0" err="1"/>
              <a:t>Allysson</a:t>
            </a:r>
            <a:r>
              <a:rPr lang="pt-BR" sz="1900" dirty="0"/>
              <a:t> Costa e Silva</a:t>
            </a:r>
            <a:endParaRPr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 </a:t>
            </a:r>
            <a:r>
              <a:rPr dirty="0" err="1"/>
              <a:t>Problema</a:t>
            </a:r>
            <a:r>
              <a:rPr dirty="0"/>
              <a:t> das </a:t>
            </a:r>
            <a:r>
              <a:rPr dirty="0" err="1"/>
              <a:t>Sete</a:t>
            </a:r>
            <a:r>
              <a:rPr dirty="0"/>
              <a:t> Pontes de </a:t>
            </a:r>
            <a:r>
              <a:rPr dirty="0" err="1"/>
              <a:t>Königsberg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 </a:t>
            </a:r>
            <a:r>
              <a:rPr dirty="0" err="1"/>
              <a:t>uso</a:t>
            </a:r>
            <a:r>
              <a:rPr dirty="0"/>
              <a:t> de </a:t>
            </a:r>
            <a:r>
              <a:rPr dirty="0" err="1"/>
              <a:t>grafos</a:t>
            </a:r>
            <a:r>
              <a:rPr dirty="0"/>
              <a:t> </a:t>
            </a:r>
            <a:r>
              <a:rPr dirty="0" err="1"/>
              <a:t>remonta</a:t>
            </a:r>
            <a:r>
              <a:rPr dirty="0"/>
              <a:t> a 1736, a </a:t>
            </a:r>
            <a:r>
              <a:rPr dirty="0" err="1"/>
              <a:t>partir</a:t>
            </a:r>
            <a:r>
              <a:rPr dirty="0"/>
              <a:t> de um </a:t>
            </a:r>
            <a:r>
              <a:rPr dirty="0" err="1"/>
              <a:t>artigo</a:t>
            </a:r>
            <a:r>
              <a:rPr dirty="0"/>
              <a:t> </a:t>
            </a:r>
            <a:r>
              <a:rPr dirty="0" err="1"/>
              <a:t>publicado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matemático</a:t>
            </a:r>
            <a:r>
              <a:rPr dirty="0"/>
              <a:t> Leonhard Euler.</a:t>
            </a:r>
          </a:p>
          <a:p>
            <a:r>
              <a:rPr dirty="0"/>
              <a:t>O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envolvia</a:t>
            </a:r>
            <a:r>
              <a:rPr dirty="0"/>
              <a:t> a </a:t>
            </a:r>
            <a:r>
              <a:rPr dirty="0" err="1"/>
              <a:t>cidade</a:t>
            </a:r>
            <a:r>
              <a:rPr dirty="0"/>
              <a:t> de </a:t>
            </a:r>
            <a:r>
              <a:rPr dirty="0" err="1"/>
              <a:t>Königsberg</a:t>
            </a:r>
            <a:r>
              <a:rPr dirty="0"/>
              <a:t>, que </a:t>
            </a:r>
            <a:r>
              <a:rPr dirty="0" err="1"/>
              <a:t>possuía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ilha</a:t>
            </a:r>
            <a:r>
              <a:rPr dirty="0"/>
              <a:t> central e era </a:t>
            </a:r>
            <a:r>
              <a:rPr dirty="0" err="1"/>
              <a:t>cortada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rio</a:t>
            </a:r>
            <a:r>
              <a:rPr dirty="0"/>
              <a:t> Pregel, </a:t>
            </a:r>
            <a:r>
              <a:rPr dirty="0" err="1"/>
              <a:t>contendo</a:t>
            </a:r>
            <a:r>
              <a:rPr dirty="0"/>
              <a:t> </a:t>
            </a:r>
            <a:r>
              <a:rPr dirty="0" err="1"/>
              <a:t>sete</a:t>
            </a:r>
            <a:r>
              <a:rPr dirty="0"/>
              <a:t> pontes.</a:t>
            </a:r>
          </a:p>
          <a:p>
            <a:r>
              <a:rPr dirty="0"/>
              <a:t>O </a:t>
            </a:r>
            <a:r>
              <a:rPr dirty="0" err="1"/>
              <a:t>desafio</a:t>
            </a:r>
            <a:r>
              <a:rPr dirty="0"/>
              <a:t> </a:t>
            </a:r>
            <a:r>
              <a:rPr dirty="0" err="1"/>
              <a:t>consistia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determinar</a:t>
            </a:r>
            <a:r>
              <a:rPr dirty="0"/>
              <a:t> se era </a:t>
            </a:r>
            <a:r>
              <a:rPr dirty="0" err="1"/>
              <a:t>possível</a:t>
            </a:r>
            <a:r>
              <a:rPr dirty="0"/>
              <a:t> </a:t>
            </a:r>
            <a:r>
              <a:rPr dirty="0" err="1"/>
              <a:t>sair</a:t>
            </a:r>
            <a:r>
              <a:rPr dirty="0"/>
              <a:t> de um </a:t>
            </a:r>
            <a:r>
              <a:rPr dirty="0" err="1"/>
              <a:t>ponto</a:t>
            </a:r>
            <a:r>
              <a:rPr dirty="0"/>
              <a:t>, </a:t>
            </a:r>
            <a:r>
              <a:rPr dirty="0" err="1"/>
              <a:t>atravessar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as 7 pontes </a:t>
            </a:r>
            <a:r>
              <a:rPr dirty="0" err="1"/>
              <a:t>exatamente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vez</a:t>
            </a:r>
            <a:r>
              <a:rPr dirty="0"/>
              <a:t> e </a:t>
            </a:r>
            <a:r>
              <a:rPr dirty="0" err="1"/>
              <a:t>regressar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local de </a:t>
            </a:r>
            <a:r>
              <a:rPr dirty="0" err="1"/>
              <a:t>partida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 </a:t>
            </a:r>
            <a:r>
              <a:rPr dirty="0" err="1"/>
              <a:t>Problema</a:t>
            </a:r>
            <a:r>
              <a:rPr dirty="0"/>
              <a:t> das </a:t>
            </a:r>
            <a:r>
              <a:rPr dirty="0" err="1"/>
              <a:t>Sete</a:t>
            </a:r>
            <a:r>
              <a:rPr dirty="0"/>
              <a:t> Pontes de </a:t>
            </a:r>
            <a:r>
              <a:rPr dirty="0" err="1"/>
              <a:t>Königsberg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Euler simplificou o mapa, representando cada ilha e margem por um ponto. </a:t>
            </a:r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0442C6C-7311-4AB9-80EE-1A0002D67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662" y="3335328"/>
            <a:ext cx="3028972" cy="248604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05FC659-0271-47B3-82C7-994C51068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25" y="3467129"/>
            <a:ext cx="3235822" cy="216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995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Abstração de Euler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Em</a:t>
            </a:r>
            <a:r>
              <a:rPr dirty="0"/>
              <a:t> 1730, Euler </a:t>
            </a:r>
            <a:r>
              <a:rPr dirty="0" err="1"/>
              <a:t>provou</a:t>
            </a:r>
            <a:r>
              <a:rPr dirty="0"/>
              <a:t> que </a:t>
            </a:r>
            <a:r>
              <a:rPr dirty="0" err="1"/>
              <a:t>realizar</a:t>
            </a:r>
            <a:r>
              <a:rPr dirty="0"/>
              <a:t> o </a:t>
            </a:r>
            <a:r>
              <a:rPr dirty="0" err="1"/>
              <a:t>trajeto</a:t>
            </a:r>
            <a:r>
              <a:rPr dirty="0"/>
              <a:t> do </a:t>
            </a:r>
            <a:r>
              <a:rPr dirty="0" err="1"/>
              <a:t>problema</a:t>
            </a:r>
            <a:r>
              <a:rPr dirty="0"/>
              <a:t> das pontes era </a:t>
            </a:r>
            <a:r>
              <a:rPr dirty="0" err="1"/>
              <a:t>impossível</a:t>
            </a:r>
            <a:r>
              <a:rPr dirty="0"/>
              <a:t>.</a:t>
            </a:r>
          </a:p>
          <a:p>
            <a:r>
              <a:rPr dirty="0" err="1"/>
              <a:t>Ele</a:t>
            </a:r>
            <a:r>
              <a:rPr dirty="0"/>
              <a:t> </a:t>
            </a:r>
            <a:r>
              <a:rPr dirty="0" err="1"/>
              <a:t>utilizou</a:t>
            </a:r>
            <a:r>
              <a:rPr dirty="0"/>
              <a:t> um </a:t>
            </a:r>
            <a:r>
              <a:rPr dirty="0" err="1"/>
              <a:t>diagrama</a:t>
            </a:r>
            <a:r>
              <a:rPr dirty="0"/>
              <a:t> </a:t>
            </a:r>
            <a:r>
              <a:rPr dirty="0" err="1"/>
              <a:t>onde</a:t>
            </a:r>
            <a:r>
              <a:rPr dirty="0"/>
              <a:t> o </a:t>
            </a:r>
            <a:r>
              <a:rPr dirty="0" err="1"/>
              <a:t>caminho</a:t>
            </a:r>
            <a:r>
              <a:rPr dirty="0"/>
              <a:t> </a:t>
            </a:r>
            <a:r>
              <a:rPr dirty="0" err="1"/>
              <a:t>percorrido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ruas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importava</a:t>
            </a:r>
            <a:r>
              <a:rPr dirty="0"/>
              <a:t>, mas sim a </a:t>
            </a:r>
            <a:r>
              <a:rPr dirty="0" err="1"/>
              <a:t>travessia</a:t>
            </a:r>
            <a:r>
              <a:rPr dirty="0"/>
              <a:t> das pontes.</a:t>
            </a:r>
          </a:p>
          <a:p>
            <a:r>
              <a:rPr dirty="0"/>
              <a:t>Euler </a:t>
            </a:r>
            <a:r>
              <a:rPr dirty="0" err="1"/>
              <a:t>reduziu</a:t>
            </a:r>
            <a:r>
              <a:rPr dirty="0"/>
              <a:t> as </a:t>
            </a:r>
            <a:r>
              <a:rPr dirty="0" err="1"/>
              <a:t>regiões</a:t>
            </a:r>
            <a:r>
              <a:rPr dirty="0"/>
              <a:t> de terra a </a:t>
            </a:r>
            <a:r>
              <a:rPr dirty="0" err="1"/>
              <a:t>pontos</a:t>
            </a:r>
            <a:r>
              <a:rPr dirty="0"/>
              <a:t> (</a:t>
            </a:r>
            <a:r>
              <a:rPr dirty="0" err="1"/>
              <a:t>vértices</a:t>
            </a:r>
            <a:r>
              <a:rPr dirty="0"/>
              <a:t>) e </a:t>
            </a:r>
            <a:r>
              <a:rPr dirty="0" err="1"/>
              <a:t>representou</a:t>
            </a:r>
            <a:r>
              <a:rPr dirty="0"/>
              <a:t> as pontes com </a:t>
            </a:r>
            <a:r>
              <a:rPr dirty="0" err="1"/>
              <a:t>linhas</a:t>
            </a:r>
            <a:r>
              <a:rPr dirty="0"/>
              <a:t> (</a:t>
            </a:r>
            <a:r>
              <a:rPr dirty="0" err="1"/>
              <a:t>arestas</a:t>
            </a:r>
            <a:r>
              <a:rPr dirty="0"/>
              <a:t>), </a:t>
            </a:r>
            <a:r>
              <a:rPr dirty="0" err="1"/>
              <a:t>criando</a:t>
            </a:r>
            <a:r>
              <a:rPr dirty="0"/>
              <a:t> a </a:t>
            </a:r>
            <a:r>
              <a:rPr dirty="0" err="1"/>
              <a:t>primeira</a:t>
            </a:r>
            <a:r>
              <a:rPr dirty="0"/>
              <a:t> </a:t>
            </a:r>
            <a:r>
              <a:rPr dirty="0" err="1"/>
              <a:t>referência</a:t>
            </a:r>
            <a:r>
              <a:rPr dirty="0"/>
              <a:t> </a:t>
            </a:r>
            <a:r>
              <a:rPr dirty="0" err="1"/>
              <a:t>moderna</a:t>
            </a:r>
            <a:r>
              <a:rPr dirty="0"/>
              <a:t> </a:t>
            </a:r>
            <a:r>
              <a:rPr dirty="0" err="1"/>
              <a:t>aos</a:t>
            </a:r>
            <a:r>
              <a:rPr dirty="0"/>
              <a:t> </a:t>
            </a:r>
            <a:r>
              <a:rPr dirty="0" err="1"/>
              <a:t>grafos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um Grafo?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Um </a:t>
            </a:r>
            <a:r>
              <a:rPr dirty="0" err="1"/>
              <a:t>grafo</a:t>
            </a:r>
            <a:r>
              <a:rPr dirty="0"/>
              <a:t> é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abstração</a:t>
            </a:r>
            <a:r>
              <a:rPr dirty="0"/>
              <a:t> </a:t>
            </a:r>
            <a:r>
              <a:rPr dirty="0" err="1"/>
              <a:t>matemática</a:t>
            </a:r>
            <a:r>
              <a:rPr dirty="0"/>
              <a:t> que </a:t>
            </a:r>
            <a:r>
              <a:rPr dirty="0" err="1"/>
              <a:t>modela</a:t>
            </a:r>
            <a:r>
              <a:rPr dirty="0"/>
              <a:t> </a:t>
            </a:r>
            <a:r>
              <a:rPr dirty="0" err="1"/>
              <a:t>relações</a:t>
            </a:r>
            <a:r>
              <a:rPr dirty="0"/>
              <a:t> </a:t>
            </a:r>
            <a:r>
              <a:rPr dirty="0" err="1"/>
              <a:t>simétricas</a:t>
            </a:r>
            <a:r>
              <a:rPr dirty="0"/>
              <a:t>, </a:t>
            </a:r>
            <a:r>
              <a:rPr dirty="0" err="1"/>
              <a:t>dois</a:t>
            </a:r>
            <a:r>
              <a:rPr dirty="0"/>
              <a:t> a </a:t>
            </a:r>
            <a:r>
              <a:rPr dirty="0" err="1"/>
              <a:t>dois</a:t>
            </a:r>
            <a:r>
              <a:rPr dirty="0"/>
              <a:t>, entre </a:t>
            </a:r>
            <a:r>
              <a:rPr dirty="0" err="1"/>
              <a:t>elementos</a:t>
            </a:r>
            <a:r>
              <a:rPr dirty="0"/>
              <a:t> de um </a:t>
            </a:r>
            <a:r>
              <a:rPr dirty="0" err="1"/>
              <a:t>determinado</a:t>
            </a:r>
            <a:r>
              <a:rPr dirty="0"/>
              <a:t> conjunto.</a:t>
            </a:r>
          </a:p>
          <a:p>
            <a:r>
              <a:rPr dirty="0" err="1"/>
              <a:t>Apesar</a:t>
            </a:r>
            <a:r>
              <a:rPr dirty="0"/>
              <a:t> da </a:t>
            </a:r>
            <a:r>
              <a:rPr dirty="0" err="1"/>
              <a:t>definição</a:t>
            </a:r>
            <a:r>
              <a:rPr dirty="0"/>
              <a:t> </a:t>
            </a:r>
            <a:r>
              <a:rPr dirty="0" err="1"/>
              <a:t>aparentemente</a:t>
            </a:r>
            <a:r>
              <a:rPr dirty="0"/>
              <a:t> simples,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grafos</a:t>
            </a:r>
            <a:r>
              <a:rPr dirty="0"/>
              <a:t> </a:t>
            </a:r>
            <a:r>
              <a:rPr dirty="0" err="1"/>
              <a:t>podem</a:t>
            </a:r>
            <a:r>
              <a:rPr dirty="0"/>
              <a:t> </a:t>
            </a:r>
            <a:r>
              <a:rPr dirty="0" err="1"/>
              <a:t>representar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enorme</a:t>
            </a:r>
            <a:r>
              <a:rPr dirty="0"/>
              <a:t> </a:t>
            </a:r>
            <a:r>
              <a:rPr dirty="0" err="1"/>
              <a:t>variedade</a:t>
            </a:r>
            <a:r>
              <a:rPr dirty="0"/>
              <a:t> de </a:t>
            </a:r>
            <a:r>
              <a:rPr dirty="0" err="1"/>
              <a:t>problemas</a:t>
            </a:r>
            <a:r>
              <a:rPr dirty="0"/>
              <a:t> </a:t>
            </a:r>
            <a:r>
              <a:rPr dirty="0" err="1"/>
              <a:t>práticos</a:t>
            </a:r>
            <a:r>
              <a:rPr dirty="0"/>
              <a:t> e </a:t>
            </a:r>
            <a:r>
              <a:rPr dirty="0" err="1"/>
              <a:t>teóricos</a:t>
            </a:r>
            <a:r>
              <a:rPr dirty="0"/>
              <a:t>.</a:t>
            </a:r>
          </a:p>
          <a:p>
            <a:r>
              <a:rPr dirty="0" err="1"/>
              <a:t>Reduzindo</a:t>
            </a:r>
            <a:r>
              <a:rPr dirty="0"/>
              <a:t> um </a:t>
            </a:r>
            <a:r>
              <a:rPr dirty="0" err="1"/>
              <a:t>problema</a:t>
            </a:r>
            <a:r>
              <a:rPr dirty="0"/>
              <a:t> a um </a:t>
            </a:r>
            <a:r>
              <a:rPr dirty="0" err="1"/>
              <a:t>grafo</a:t>
            </a:r>
            <a:r>
              <a:rPr dirty="0"/>
              <a:t>, é </a:t>
            </a:r>
            <a:r>
              <a:rPr dirty="0" err="1"/>
              <a:t>possível</a:t>
            </a:r>
            <a:r>
              <a:rPr dirty="0"/>
              <a:t> </a:t>
            </a:r>
            <a:r>
              <a:rPr dirty="0" err="1"/>
              <a:t>utilizar</a:t>
            </a:r>
            <a:r>
              <a:rPr dirty="0"/>
              <a:t> </a:t>
            </a:r>
            <a:r>
              <a:rPr dirty="0" err="1"/>
              <a:t>teoremas</a:t>
            </a:r>
            <a:r>
              <a:rPr dirty="0"/>
              <a:t> e </a:t>
            </a:r>
            <a:r>
              <a:rPr dirty="0" err="1"/>
              <a:t>algoritmos</a:t>
            </a:r>
            <a:r>
              <a:rPr dirty="0"/>
              <a:t> da </a:t>
            </a:r>
            <a:r>
              <a:rPr dirty="0" err="1"/>
              <a:t>área</a:t>
            </a:r>
            <a:r>
              <a:rPr dirty="0"/>
              <a:t> para </a:t>
            </a:r>
            <a:r>
              <a:rPr dirty="0" err="1"/>
              <a:t>encontrar</a:t>
            </a:r>
            <a:r>
              <a:rPr dirty="0"/>
              <a:t> </a:t>
            </a:r>
            <a:r>
              <a:rPr dirty="0" err="1"/>
              <a:t>soluções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Vértices e Arestas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Um </a:t>
            </a:r>
            <a:r>
              <a:rPr dirty="0" err="1"/>
              <a:t>grafo</a:t>
            </a:r>
            <a:r>
              <a:rPr dirty="0"/>
              <a:t> G=(V,E) é </a:t>
            </a:r>
            <a:r>
              <a:rPr dirty="0" err="1"/>
              <a:t>formalmente</a:t>
            </a:r>
            <a:r>
              <a:rPr dirty="0"/>
              <a:t> </a:t>
            </a:r>
            <a:r>
              <a:rPr dirty="0" err="1"/>
              <a:t>definido</a:t>
            </a:r>
            <a:r>
              <a:rPr dirty="0"/>
              <a:t> por um conjunto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vazio</a:t>
            </a:r>
            <a:r>
              <a:rPr dirty="0"/>
              <a:t> V de </a:t>
            </a:r>
            <a:r>
              <a:rPr dirty="0" err="1"/>
              <a:t>vértices</a:t>
            </a:r>
            <a:r>
              <a:rPr dirty="0"/>
              <a:t> e um conjunto E de </a:t>
            </a:r>
            <a:r>
              <a:rPr dirty="0" err="1"/>
              <a:t>arestas</a:t>
            </a:r>
            <a:r>
              <a:rPr dirty="0"/>
              <a:t>.</a:t>
            </a:r>
          </a:p>
          <a:p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aresta</a:t>
            </a:r>
            <a:r>
              <a:rPr dirty="0"/>
              <a:t> </a:t>
            </a:r>
            <a:r>
              <a:rPr b="1" dirty="0"/>
              <a:t>e</a:t>
            </a:r>
            <a:r>
              <a:rPr dirty="0"/>
              <a:t> ∈ E é </a:t>
            </a:r>
            <a:r>
              <a:rPr dirty="0" err="1"/>
              <a:t>representada</a:t>
            </a:r>
            <a:r>
              <a:rPr dirty="0"/>
              <a:t> por um par </a:t>
            </a:r>
            <a:r>
              <a:rPr dirty="0" err="1"/>
              <a:t>não-ordenado</a:t>
            </a:r>
            <a:r>
              <a:rPr dirty="0"/>
              <a:t> de </a:t>
            </a:r>
            <a:r>
              <a:rPr dirty="0" err="1"/>
              <a:t>vértices</a:t>
            </a:r>
            <a:r>
              <a:rPr dirty="0"/>
              <a:t>.</a:t>
            </a:r>
          </a:p>
          <a:p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representações</a:t>
            </a:r>
            <a:r>
              <a:rPr dirty="0"/>
              <a:t> </a:t>
            </a:r>
            <a:r>
              <a:rPr dirty="0" err="1"/>
              <a:t>visuais</a:t>
            </a:r>
            <a:r>
              <a:rPr dirty="0"/>
              <a:t>,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vértices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pontos</a:t>
            </a:r>
            <a:r>
              <a:rPr dirty="0"/>
              <a:t> e as </a:t>
            </a:r>
            <a:r>
              <a:rPr dirty="0" err="1"/>
              <a:t>arestas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linhas</a:t>
            </a:r>
            <a:r>
              <a:rPr dirty="0"/>
              <a:t>. Uma </a:t>
            </a:r>
            <a:r>
              <a:rPr dirty="0" err="1"/>
              <a:t>aresta</a:t>
            </a:r>
            <a:r>
              <a:rPr dirty="0"/>
              <a:t> </a:t>
            </a:r>
            <a:r>
              <a:rPr dirty="0" err="1"/>
              <a:t>nunca</a:t>
            </a:r>
            <a:r>
              <a:rPr dirty="0"/>
              <a:t> </a:t>
            </a:r>
            <a:r>
              <a:rPr dirty="0" err="1"/>
              <a:t>liga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que </a:t>
            </a:r>
            <a:r>
              <a:rPr dirty="0" err="1"/>
              <a:t>dois</a:t>
            </a:r>
            <a:r>
              <a:rPr dirty="0"/>
              <a:t> </a:t>
            </a:r>
            <a:r>
              <a:rPr dirty="0" err="1"/>
              <a:t>vértices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2D83DD-BDDE-4809-9143-EF96CEDE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02FCE0-9DD7-462C-9D94-56710F2F2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0" y="1852002"/>
            <a:ext cx="8964989" cy="4201478"/>
          </a:xfrm>
        </p:spPr>
        <p:txBody>
          <a:bodyPr>
            <a:normAutofit/>
          </a:bodyPr>
          <a:lstStyle/>
          <a:p>
            <a:r>
              <a:rPr lang="pt-BR" sz="1200" b="1" dirty="0"/>
              <a:t>Roteamento de Dados – </a:t>
            </a:r>
            <a:r>
              <a:rPr lang="pt-BR" sz="1200" dirty="0"/>
              <a:t>(os nós de uma rede de computadores são os roteadores ou computadores, as arestas são as conexões entre os nós). Uma aplicação comum é a determinação das rotas mais eficientes para o tráfego de dados;</a:t>
            </a:r>
          </a:p>
          <a:p>
            <a:r>
              <a:rPr lang="pt-BR" sz="1200" b="1" dirty="0"/>
              <a:t>Modelagem de Redes Sociais – </a:t>
            </a:r>
            <a:r>
              <a:rPr lang="pt-BR" sz="1200" dirty="0"/>
              <a:t>(nós: usuários, arestas: conexões entre eles). Uma aplicação possível é a identificação dos usuários mais influentes, das comunidades ou dos grupos em que eles interagem;</a:t>
            </a:r>
          </a:p>
          <a:p>
            <a:r>
              <a:rPr lang="pt-BR" sz="1200" b="1" dirty="0"/>
              <a:t>Modelagem de Redes Sociais – </a:t>
            </a:r>
            <a:r>
              <a:rPr lang="pt-BR" sz="1200" dirty="0"/>
              <a:t>(nós: usuários, arestas: conexões entre eles). Uma aplicação possível é a identificação dos usuários mais influentes, das comunidades ou dos grupos em que eles interagem;</a:t>
            </a:r>
          </a:p>
          <a:p>
            <a:r>
              <a:rPr lang="pt-BR" sz="1200" b="1" dirty="0"/>
              <a:t>Sistemas de Recomendação - </a:t>
            </a:r>
            <a:r>
              <a:rPr lang="pt-BR" sz="1200" dirty="0"/>
              <a:t>encontrar padrões e relações entre produtos, filmes, </a:t>
            </a:r>
            <a:r>
              <a:rPr lang="pt-BR" sz="1200" dirty="0" err="1"/>
              <a:t>etc</a:t>
            </a:r>
            <a:r>
              <a:rPr lang="pt-BR" sz="1200" dirty="0"/>
              <a:t>, para gerar recomendações personalizadas;</a:t>
            </a:r>
          </a:p>
          <a:p>
            <a:r>
              <a:rPr lang="pt-BR" sz="1200" b="1" dirty="0"/>
              <a:t>Mapeamento e Navegação – </a:t>
            </a:r>
            <a:r>
              <a:rPr lang="pt-BR" sz="1200" dirty="0"/>
              <a:t>(nós: cruzamentos ou pontos de interesse, arestas: estradas ou rotas). Elaboração de mapas ou indicação de rotas entre 2 pontos;</a:t>
            </a:r>
          </a:p>
          <a:p>
            <a:r>
              <a:rPr lang="pt-BR" sz="1200" b="1" dirty="0"/>
              <a:t>Inteligência Artificial e </a:t>
            </a:r>
            <a:r>
              <a:rPr lang="pt-BR" sz="1200" b="1" i="1" dirty="0"/>
              <a:t>”</a:t>
            </a:r>
            <a:r>
              <a:rPr lang="pt-BR" sz="1200" b="1" i="1" dirty="0" err="1"/>
              <a:t>Machine</a:t>
            </a:r>
            <a:r>
              <a:rPr lang="pt-BR" sz="1200" b="1" i="1" dirty="0"/>
              <a:t> Learning</a:t>
            </a:r>
            <a:r>
              <a:rPr lang="pt-BR" sz="1200" b="1" dirty="0"/>
              <a:t>” </a:t>
            </a:r>
            <a:r>
              <a:rPr lang="pt-BR" sz="1200" dirty="0"/>
              <a:t>– (nós: neurônios, arestas: conexões entre eles). Busca e otimização na análise de redes neurais artificiais;</a:t>
            </a:r>
          </a:p>
          <a:p>
            <a:r>
              <a:rPr lang="pt-BR" sz="1200" b="1" dirty="0"/>
              <a:t>Processamento de Linguagem Natural (PNL) - </a:t>
            </a:r>
            <a:r>
              <a:rPr lang="pt-BR" sz="1200" dirty="0"/>
              <a:t>modela relações entre palavras em uma frase ou entre palavras e conceitos em redes de conhecimento;</a:t>
            </a:r>
          </a:p>
          <a:p>
            <a:r>
              <a:rPr lang="pt-BR" sz="1200" b="1" dirty="0"/>
              <a:t>Engenharia de </a:t>
            </a:r>
            <a:r>
              <a:rPr lang="pt-BR" sz="1200" b="1" i="1" dirty="0"/>
              <a:t>Software</a:t>
            </a:r>
            <a:r>
              <a:rPr lang="pt-BR" sz="1200" b="1" dirty="0"/>
              <a:t> e Banco de Dados – </a:t>
            </a:r>
            <a:r>
              <a:rPr lang="pt-BR" sz="1200" dirty="0"/>
              <a:t>modela dependências entre módulos de </a:t>
            </a:r>
            <a:r>
              <a:rPr lang="pt-BR" sz="1200" i="1" dirty="0"/>
              <a:t>software</a:t>
            </a:r>
            <a:r>
              <a:rPr lang="pt-BR" sz="12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46893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2D83DD-BDDE-4809-9143-EF96CEDE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02FCE0-9DD7-462C-9D94-56710F2F2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333" y="2015733"/>
            <a:ext cx="8805334" cy="4002857"/>
          </a:xfrm>
        </p:spPr>
        <p:txBody>
          <a:bodyPr>
            <a:normAutofit fontScale="55000" lnSpcReduction="20000"/>
          </a:bodyPr>
          <a:lstStyle/>
          <a:p>
            <a:r>
              <a:rPr lang="pt-BR" sz="2200" b="1" dirty="0"/>
              <a:t>Pesquisa e Otimização de Redes – </a:t>
            </a:r>
            <a:r>
              <a:rPr lang="pt-BR" sz="2200" dirty="0"/>
              <a:t>Projeto de redes de transporte, sistemas de energia e telecomunicações, entre outras.</a:t>
            </a:r>
          </a:p>
          <a:p>
            <a:r>
              <a:rPr lang="pt-BR" sz="2200" b="1" dirty="0"/>
              <a:t>Sistemas de Recomendação - </a:t>
            </a:r>
            <a:r>
              <a:rPr lang="pt-BR" sz="2200" dirty="0"/>
              <a:t>encontrar padrões e relações entre produtos, filmes, </a:t>
            </a:r>
            <a:r>
              <a:rPr lang="pt-BR" sz="2200" dirty="0" err="1"/>
              <a:t>etc</a:t>
            </a:r>
            <a:r>
              <a:rPr lang="pt-BR" sz="2200" dirty="0"/>
              <a:t>, para gerar recomendações personalizadas;</a:t>
            </a:r>
          </a:p>
          <a:p>
            <a:r>
              <a:rPr lang="pt-BR" sz="2200" b="1" dirty="0"/>
              <a:t>Mapeamento e Navegação – </a:t>
            </a:r>
            <a:r>
              <a:rPr lang="pt-BR" sz="2200" dirty="0"/>
              <a:t>(nós: cruzamentos ou pontos de interesse, arestas: estradas ou rotas). Elaboração de mapas ou indicação de rotas entre 2 pontos;</a:t>
            </a:r>
          </a:p>
          <a:p>
            <a:r>
              <a:rPr lang="pt-BR" sz="2200" b="1" dirty="0"/>
              <a:t>Inteligência Artificial e </a:t>
            </a:r>
            <a:r>
              <a:rPr lang="pt-BR" sz="2200" b="1" i="1" dirty="0"/>
              <a:t>”</a:t>
            </a:r>
            <a:r>
              <a:rPr lang="pt-BR" sz="2200" b="1" i="1" dirty="0" err="1"/>
              <a:t>Machine</a:t>
            </a:r>
            <a:r>
              <a:rPr lang="pt-BR" sz="2200" b="1" i="1" dirty="0"/>
              <a:t> Learning</a:t>
            </a:r>
            <a:r>
              <a:rPr lang="pt-BR" sz="2200" b="1" dirty="0"/>
              <a:t>” </a:t>
            </a:r>
            <a:r>
              <a:rPr lang="pt-BR" sz="2200" dirty="0"/>
              <a:t>– (nós: neurônios, arestas: conexões entre eles). Busca e otimização na análise de redes neurais artificiais;</a:t>
            </a:r>
          </a:p>
          <a:p>
            <a:r>
              <a:rPr lang="pt-BR" sz="2200" b="1" dirty="0"/>
              <a:t>Processamento de Linguagem Natural (PNL) - </a:t>
            </a:r>
            <a:r>
              <a:rPr lang="pt-BR" sz="2200" dirty="0"/>
              <a:t>modela relações entre palavras em uma frase ou entre palavras e conceitos em redes de conhecimento;</a:t>
            </a:r>
          </a:p>
          <a:p>
            <a:r>
              <a:rPr lang="pt-BR" sz="2200" b="1" dirty="0"/>
              <a:t>Engenharia de </a:t>
            </a:r>
            <a:r>
              <a:rPr lang="pt-BR" sz="2200" b="1" i="1" dirty="0"/>
              <a:t>Software</a:t>
            </a:r>
            <a:r>
              <a:rPr lang="pt-BR" sz="2200" b="1" dirty="0"/>
              <a:t> e Banco de Dados – </a:t>
            </a:r>
            <a:r>
              <a:rPr lang="pt-BR" sz="2200" dirty="0"/>
              <a:t>modela dependências entre módulos de </a:t>
            </a:r>
            <a:r>
              <a:rPr lang="pt-BR" sz="2200" i="1" dirty="0"/>
              <a:t>software</a:t>
            </a:r>
            <a:r>
              <a:rPr lang="pt-BR" sz="2200" dirty="0"/>
              <a:t>;</a:t>
            </a:r>
          </a:p>
          <a:p>
            <a:r>
              <a:rPr lang="pt-BR" sz="2200" b="1" dirty="0"/>
              <a:t>Jogos e Simulações – </a:t>
            </a:r>
            <a:r>
              <a:rPr lang="pt-BR" sz="2200" dirty="0"/>
              <a:t>(nós: locais ou estados do jogo, arestas: movimentos ou transições). Realiza o mapeamento de cenários do jogo, tomada de decisões e busca por caminhos para os personagens controlados pela IA;</a:t>
            </a:r>
          </a:p>
          <a:p>
            <a:r>
              <a:rPr lang="pt-BR" sz="2200" b="1" dirty="0"/>
              <a:t>Computação Gráfica – </a:t>
            </a:r>
            <a:r>
              <a:rPr lang="pt-BR" sz="2200" dirty="0"/>
              <a:t>(nós: vértices dos objetos, arestas: arestas e superfícies dos modelos). Modela objetos de uma cena 2D e 3D, permite a realização de operações de posicionamento, translação, rotação e escala dos objetos da cena;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5526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Incidência</a:t>
            </a:r>
            <a:r>
              <a:rPr dirty="0"/>
              <a:t> e </a:t>
            </a:r>
            <a:r>
              <a:rPr dirty="0" err="1"/>
              <a:t>Adjacência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Incidência</a:t>
            </a:r>
            <a:r>
              <a:rPr dirty="0"/>
              <a:t>: É a </a:t>
            </a:r>
            <a:r>
              <a:rPr dirty="0" err="1"/>
              <a:t>propriedade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aresta</a:t>
            </a:r>
            <a:r>
              <a:rPr dirty="0"/>
              <a:t> </a:t>
            </a:r>
            <a:r>
              <a:rPr dirty="0" err="1"/>
              <a:t>estar</a:t>
            </a:r>
            <a:r>
              <a:rPr dirty="0"/>
              <a:t> </a:t>
            </a:r>
            <a:r>
              <a:rPr dirty="0" err="1"/>
              <a:t>diretamente</a:t>
            </a:r>
            <a:r>
              <a:rPr dirty="0"/>
              <a:t> </a:t>
            </a:r>
            <a:r>
              <a:rPr dirty="0" err="1"/>
              <a:t>conectada</a:t>
            </a:r>
            <a:r>
              <a:rPr dirty="0"/>
              <a:t> a um </a:t>
            </a:r>
            <a:r>
              <a:rPr dirty="0" err="1"/>
              <a:t>vértice</a:t>
            </a:r>
            <a:r>
              <a:rPr dirty="0"/>
              <a:t>.</a:t>
            </a:r>
          </a:p>
          <a:p>
            <a:r>
              <a:rPr dirty="0" err="1"/>
              <a:t>Adjacência</a:t>
            </a:r>
            <a:r>
              <a:rPr dirty="0"/>
              <a:t>: É a </a:t>
            </a:r>
            <a:r>
              <a:rPr dirty="0" err="1"/>
              <a:t>propriedade</a:t>
            </a:r>
            <a:r>
              <a:rPr dirty="0"/>
              <a:t> de </a:t>
            </a:r>
            <a:r>
              <a:rPr dirty="0" err="1"/>
              <a:t>dois</a:t>
            </a:r>
            <a:r>
              <a:rPr dirty="0"/>
              <a:t> </a:t>
            </a:r>
            <a:r>
              <a:rPr dirty="0" err="1"/>
              <a:t>vértices</a:t>
            </a:r>
            <a:r>
              <a:rPr dirty="0"/>
              <a:t> </a:t>
            </a:r>
            <a:r>
              <a:rPr dirty="0" err="1"/>
              <a:t>estarem</a:t>
            </a:r>
            <a:r>
              <a:rPr dirty="0"/>
              <a:t> </a:t>
            </a:r>
            <a:r>
              <a:rPr dirty="0" err="1"/>
              <a:t>conectados</a:t>
            </a:r>
            <a:r>
              <a:rPr dirty="0"/>
              <a:t> entre </a:t>
            </a:r>
            <a:r>
              <a:rPr dirty="0" err="1"/>
              <a:t>si</a:t>
            </a:r>
            <a:r>
              <a:rPr dirty="0"/>
              <a:t> por </a:t>
            </a:r>
            <a:r>
              <a:rPr dirty="0" err="1"/>
              <a:t>intermédio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aresta</a:t>
            </a:r>
            <a:r>
              <a:rPr dirty="0"/>
              <a:t>.</a:t>
            </a:r>
          </a:p>
          <a:p>
            <a:r>
              <a:rPr dirty="0" err="1"/>
              <a:t>Dois</a:t>
            </a:r>
            <a:r>
              <a:rPr dirty="0"/>
              <a:t> </a:t>
            </a:r>
            <a:r>
              <a:rPr dirty="0" err="1"/>
              <a:t>vértices</a:t>
            </a:r>
            <a:r>
              <a:rPr dirty="0"/>
              <a:t> que </a:t>
            </a:r>
            <a:r>
              <a:rPr dirty="0" err="1"/>
              <a:t>possuem</a:t>
            </a:r>
            <a:r>
              <a:rPr dirty="0"/>
              <a:t> </a:t>
            </a:r>
            <a:r>
              <a:rPr dirty="0" err="1"/>
              <a:t>essa</a:t>
            </a:r>
            <a:r>
              <a:rPr dirty="0"/>
              <a:t> </a:t>
            </a:r>
            <a:r>
              <a:rPr dirty="0" err="1"/>
              <a:t>relação</a:t>
            </a:r>
            <a:r>
              <a:rPr dirty="0"/>
              <a:t> de </a:t>
            </a:r>
            <a:r>
              <a:rPr dirty="0" err="1"/>
              <a:t>adjacência</a:t>
            </a:r>
            <a:r>
              <a:rPr dirty="0"/>
              <a:t>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comumente</a:t>
            </a:r>
            <a:r>
              <a:rPr dirty="0"/>
              <a:t> </a:t>
            </a:r>
            <a:r>
              <a:rPr dirty="0" err="1"/>
              <a:t>chamados</a:t>
            </a:r>
            <a:r>
              <a:rPr dirty="0"/>
              <a:t> de </a:t>
            </a:r>
            <a:r>
              <a:rPr dirty="0" err="1"/>
              <a:t>vizinhos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dirigidos - </a:t>
            </a:r>
            <a:r>
              <a:rPr dirty="0" err="1"/>
              <a:t>Dígrafos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Grafos</a:t>
            </a:r>
            <a:r>
              <a:rPr dirty="0"/>
              <a:t> </a:t>
            </a:r>
            <a:r>
              <a:rPr dirty="0" err="1"/>
              <a:t>dirigidos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usados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a </a:t>
            </a:r>
            <a:r>
              <a:rPr dirty="0" err="1"/>
              <a:t>relação</a:t>
            </a:r>
            <a:r>
              <a:rPr dirty="0"/>
              <a:t> entre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elementos</a:t>
            </a:r>
            <a:r>
              <a:rPr dirty="0"/>
              <a:t> (</a:t>
            </a:r>
            <a:r>
              <a:rPr dirty="0" err="1"/>
              <a:t>vértices</a:t>
            </a:r>
            <a:r>
              <a:rPr dirty="0"/>
              <a:t>) do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simétrica</a:t>
            </a:r>
            <a:r>
              <a:rPr dirty="0"/>
              <a:t>.</a:t>
            </a:r>
          </a:p>
          <a:p>
            <a:r>
              <a:rPr dirty="0"/>
              <a:t>Nesses </a:t>
            </a:r>
            <a:r>
              <a:rPr dirty="0" err="1"/>
              <a:t>casos</a:t>
            </a:r>
            <a:r>
              <a:rPr dirty="0"/>
              <a:t>, as </a:t>
            </a:r>
            <a:r>
              <a:rPr dirty="0" err="1"/>
              <a:t>arestas</a:t>
            </a:r>
            <a:r>
              <a:rPr dirty="0"/>
              <a:t> </a:t>
            </a:r>
            <a:r>
              <a:rPr dirty="0" err="1"/>
              <a:t>apresentam</a:t>
            </a:r>
            <a:r>
              <a:rPr dirty="0"/>
              <a:t> um </a:t>
            </a:r>
            <a:r>
              <a:rPr dirty="0" err="1"/>
              <a:t>sentido</a:t>
            </a:r>
            <a:r>
              <a:rPr dirty="0"/>
              <a:t> </a:t>
            </a:r>
            <a:r>
              <a:rPr dirty="0" err="1"/>
              <a:t>específico</a:t>
            </a:r>
            <a:r>
              <a:rPr dirty="0"/>
              <a:t>, que </a:t>
            </a:r>
            <a:r>
              <a:rPr dirty="0" err="1"/>
              <a:t>vai</a:t>
            </a:r>
            <a:r>
              <a:rPr dirty="0"/>
              <a:t> de um </a:t>
            </a:r>
            <a:r>
              <a:rPr dirty="0" err="1"/>
              <a:t>vértice</a:t>
            </a:r>
            <a:r>
              <a:rPr dirty="0"/>
              <a:t> de </a:t>
            </a:r>
            <a:r>
              <a:rPr dirty="0" err="1"/>
              <a:t>origem</a:t>
            </a:r>
            <a:r>
              <a:rPr dirty="0"/>
              <a:t> para um </a:t>
            </a:r>
            <a:r>
              <a:rPr dirty="0" err="1"/>
              <a:t>vértice</a:t>
            </a:r>
            <a:r>
              <a:rPr dirty="0"/>
              <a:t> de </a:t>
            </a:r>
            <a:r>
              <a:rPr dirty="0" err="1"/>
              <a:t>destino</a:t>
            </a:r>
            <a:r>
              <a:rPr dirty="0"/>
              <a:t>.</a:t>
            </a:r>
          </a:p>
          <a:p>
            <a:r>
              <a:rPr dirty="0" err="1"/>
              <a:t>Devido</a:t>
            </a:r>
            <a:r>
              <a:rPr dirty="0"/>
              <a:t> à </a:t>
            </a:r>
            <a:r>
              <a:rPr dirty="0" err="1"/>
              <a:t>direção</a:t>
            </a:r>
            <a:r>
              <a:rPr dirty="0"/>
              <a:t>, a </a:t>
            </a:r>
            <a:r>
              <a:rPr dirty="0" err="1"/>
              <a:t>aresta</a:t>
            </a:r>
            <a:r>
              <a:rPr dirty="0"/>
              <a:t> </a:t>
            </a:r>
            <a:r>
              <a:rPr dirty="0" err="1"/>
              <a:t>torna</a:t>
            </a:r>
            <a:r>
              <a:rPr dirty="0"/>
              <a:t>-se um par </a:t>
            </a:r>
            <a:r>
              <a:rPr dirty="0" err="1"/>
              <a:t>ordenado</a:t>
            </a:r>
            <a:r>
              <a:rPr dirty="0"/>
              <a:t>, de modo que a </a:t>
            </a:r>
            <a:r>
              <a:rPr dirty="0" err="1"/>
              <a:t>aresta</a:t>
            </a:r>
            <a:r>
              <a:rPr dirty="0"/>
              <a:t> (v1,v2) é </a:t>
            </a:r>
            <a:r>
              <a:rPr dirty="0" err="1"/>
              <a:t>diferente</a:t>
            </a:r>
            <a:r>
              <a:rPr dirty="0"/>
              <a:t> da </a:t>
            </a:r>
            <a:r>
              <a:rPr dirty="0" err="1"/>
              <a:t>aresta</a:t>
            </a:r>
            <a:r>
              <a:rPr dirty="0"/>
              <a:t> (v2,v1).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Grafos dirigidos - </a:t>
            </a:r>
            <a:r>
              <a:rPr dirty="0" err="1"/>
              <a:t>Dígrafos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33E1ED2-BD6B-47C9-B9A0-D39A83564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497" y="2131244"/>
            <a:ext cx="5599109" cy="345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251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Adjacência Direcionada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Diferente</a:t>
            </a:r>
            <a:r>
              <a:rPr dirty="0"/>
              <a:t> dos </a:t>
            </a:r>
            <a:r>
              <a:rPr dirty="0" err="1"/>
              <a:t>grafos</a:t>
            </a:r>
            <a:r>
              <a:rPr dirty="0"/>
              <a:t> </a:t>
            </a:r>
            <a:r>
              <a:rPr dirty="0" err="1"/>
              <a:t>comuns</a:t>
            </a:r>
            <a:r>
              <a:rPr dirty="0"/>
              <a:t>, a </a:t>
            </a:r>
            <a:r>
              <a:rPr dirty="0" err="1"/>
              <a:t>relação</a:t>
            </a:r>
            <a:r>
              <a:rPr dirty="0"/>
              <a:t> de </a:t>
            </a:r>
            <a:r>
              <a:rPr dirty="0" err="1"/>
              <a:t>adjacência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dígrafos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simétrica</a:t>
            </a:r>
            <a:r>
              <a:rPr dirty="0"/>
              <a:t>.</a:t>
            </a:r>
          </a:p>
          <a:p>
            <a:r>
              <a:rPr dirty="0" err="1"/>
              <a:t>Dizemos</a:t>
            </a:r>
            <a:r>
              <a:rPr dirty="0"/>
              <a:t> que um </a:t>
            </a:r>
            <a:r>
              <a:rPr dirty="0" err="1"/>
              <a:t>vértice</a:t>
            </a:r>
            <a:r>
              <a:rPr dirty="0"/>
              <a:t> </a:t>
            </a:r>
            <a:r>
              <a:rPr dirty="0" err="1"/>
              <a:t>vj</a:t>
            </a:r>
            <a:r>
              <a:rPr dirty="0"/>
              <a:t> é </a:t>
            </a:r>
            <a:r>
              <a:rPr dirty="0" err="1"/>
              <a:t>adjacente</a:t>
            </a:r>
            <a:r>
              <a:rPr dirty="0"/>
              <a:t> a vi </a:t>
            </a:r>
            <a:r>
              <a:rPr dirty="0" err="1"/>
              <a:t>apenas</a:t>
            </a:r>
            <a:r>
              <a:rPr dirty="0"/>
              <a:t> se </a:t>
            </a:r>
            <a:r>
              <a:rPr dirty="0" err="1"/>
              <a:t>houver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aresta</a:t>
            </a:r>
            <a:r>
              <a:rPr dirty="0"/>
              <a:t> que </a:t>
            </a:r>
            <a:r>
              <a:rPr dirty="0" err="1"/>
              <a:t>parta</a:t>
            </a:r>
            <a:r>
              <a:rPr dirty="0"/>
              <a:t> de vi e </a:t>
            </a:r>
            <a:r>
              <a:rPr dirty="0" err="1"/>
              <a:t>chegue</a:t>
            </a:r>
            <a:r>
              <a:rPr dirty="0"/>
              <a:t> a </a:t>
            </a:r>
            <a:r>
              <a:rPr dirty="0" err="1"/>
              <a:t>vj</a:t>
            </a:r>
            <a:r>
              <a:rPr dirty="0"/>
              <a:t>.</a:t>
            </a:r>
          </a:p>
          <a:p>
            <a:r>
              <a:rPr dirty="0" err="1"/>
              <a:t>Consequentemente</a:t>
            </a:r>
            <a:r>
              <a:rPr dirty="0"/>
              <a:t>, o </a:t>
            </a:r>
            <a:r>
              <a:rPr dirty="0" err="1"/>
              <a:t>vértice</a:t>
            </a:r>
            <a:r>
              <a:rPr dirty="0"/>
              <a:t> </a:t>
            </a:r>
            <a:r>
              <a:rPr dirty="0" err="1"/>
              <a:t>destino</a:t>
            </a:r>
            <a:r>
              <a:rPr dirty="0"/>
              <a:t> é </a:t>
            </a:r>
            <a:r>
              <a:rPr dirty="0" err="1"/>
              <a:t>adjacente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de </a:t>
            </a:r>
            <a:r>
              <a:rPr dirty="0" err="1"/>
              <a:t>origem</a:t>
            </a:r>
            <a:r>
              <a:rPr dirty="0"/>
              <a:t>, mas o </a:t>
            </a:r>
            <a:r>
              <a:rPr dirty="0" err="1"/>
              <a:t>vértice</a:t>
            </a:r>
            <a:r>
              <a:rPr dirty="0"/>
              <a:t> de </a:t>
            </a:r>
            <a:r>
              <a:rPr dirty="0" err="1"/>
              <a:t>origem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adjacente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de </a:t>
            </a:r>
            <a:r>
              <a:rPr dirty="0" err="1"/>
              <a:t>destino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Grafos Subjacentes e Transpostos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Grafo Subjacente: É um grafo não dirigido obtido a partir do mesmo conjunto de vértices de um dígrafo, mas com todas as direções das suas arestas removidas.</a:t>
            </a:r>
          </a:p>
          <a:p>
            <a:r>
              <a:t>Grafo Transposto: É o dígrafo obtido quando se inverte o sentido de absolutamente todas as arestas do grafo original.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Laços e Arestas Paralelas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Laço (Loop): Consiste numa aresta que conecta um vértice a ele mesmo.</a:t>
            </a:r>
          </a:p>
          <a:p>
            <a:r>
              <a:t>Arestas Paralelas: É um conjunto de duas ou mais arestas que conectam exatamente o mesmo par de vértices.</a:t>
            </a:r>
          </a:p>
          <a:p>
            <a:r>
              <a:t>Em dígrafos, arestas só são paralelas se tiverem a mesma origem e o mesmo destino.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EF3D37-D73B-4437-B505-335C12C2A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A7A0AE-1309-4530-B865-64CEFE345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85B64EB-E750-4FB5-A462-45D174D5C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41" y="604356"/>
            <a:ext cx="7850732" cy="508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543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Grafos Simples vs. Multigrafos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435" y="2102818"/>
            <a:ext cx="5528204" cy="4037747"/>
          </a:xfrm>
        </p:spPr>
        <p:txBody>
          <a:bodyPr>
            <a:normAutofit/>
          </a:bodyPr>
          <a:lstStyle/>
          <a:p>
            <a:r>
              <a:rPr dirty="0" err="1"/>
              <a:t>Grafo</a:t>
            </a:r>
            <a:r>
              <a:rPr dirty="0"/>
              <a:t> Simples: É </a:t>
            </a:r>
            <a:r>
              <a:rPr dirty="0" err="1"/>
              <a:t>qualquer</a:t>
            </a:r>
            <a:r>
              <a:rPr dirty="0"/>
              <a:t> </a:t>
            </a:r>
            <a:r>
              <a:rPr dirty="0" err="1"/>
              <a:t>grafo</a:t>
            </a:r>
            <a:r>
              <a:rPr dirty="0"/>
              <a:t> (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dígrafo</a:t>
            </a:r>
            <a:r>
              <a:rPr dirty="0"/>
              <a:t>) que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contenha</a:t>
            </a:r>
            <a:r>
              <a:rPr dirty="0"/>
              <a:t> </a:t>
            </a:r>
            <a:r>
              <a:rPr dirty="0" err="1"/>
              <a:t>laços</a:t>
            </a:r>
            <a:r>
              <a:rPr dirty="0"/>
              <a:t> </a:t>
            </a:r>
            <a:r>
              <a:rPr dirty="0" err="1"/>
              <a:t>nem</a:t>
            </a:r>
            <a:r>
              <a:rPr dirty="0"/>
              <a:t> </a:t>
            </a:r>
            <a:r>
              <a:rPr dirty="0" err="1"/>
              <a:t>possua</a:t>
            </a:r>
            <a:r>
              <a:rPr dirty="0"/>
              <a:t> </a:t>
            </a:r>
            <a:r>
              <a:rPr dirty="0" err="1"/>
              <a:t>arestas</a:t>
            </a:r>
            <a:r>
              <a:rPr dirty="0"/>
              <a:t> </a:t>
            </a:r>
            <a:r>
              <a:rPr dirty="0" err="1"/>
              <a:t>paralelas</a:t>
            </a:r>
            <a:r>
              <a:rPr dirty="0"/>
              <a:t>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dirty="0" err="1"/>
              <a:t>Multigrafo</a:t>
            </a:r>
            <a:r>
              <a:rPr dirty="0"/>
              <a:t>: É o </a:t>
            </a:r>
            <a:r>
              <a:rPr dirty="0" err="1"/>
              <a:t>nome</a:t>
            </a:r>
            <a:r>
              <a:rPr dirty="0"/>
              <a:t> dado a um </a:t>
            </a:r>
            <a:r>
              <a:rPr dirty="0" err="1"/>
              <a:t>grafo</a:t>
            </a:r>
            <a:r>
              <a:rPr dirty="0"/>
              <a:t> (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dígrafo</a:t>
            </a:r>
            <a:r>
              <a:rPr dirty="0"/>
              <a:t>) que </a:t>
            </a:r>
            <a:r>
              <a:rPr dirty="0" err="1"/>
              <a:t>contém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menos</a:t>
            </a:r>
            <a:r>
              <a:rPr dirty="0"/>
              <a:t> um </a:t>
            </a:r>
            <a:r>
              <a:rPr dirty="0" err="1"/>
              <a:t>laço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um conjunto de </a:t>
            </a:r>
            <a:r>
              <a:rPr dirty="0" err="1"/>
              <a:t>arestas</a:t>
            </a:r>
            <a:r>
              <a:rPr dirty="0"/>
              <a:t> </a:t>
            </a:r>
            <a:r>
              <a:rPr dirty="0" err="1"/>
              <a:t>paralelas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sua</a:t>
            </a:r>
            <a:r>
              <a:rPr dirty="0"/>
              <a:t> </a:t>
            </a:r>
            <a:r>
              <a:rPr dirty="0" err="1"/>
              <a:t>estrutura</a:t>
            </a:r>
            <a:r>
              <a:rPr dirty="0"/>
              <a:t>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7C70A26-9764-4D4E-9437-1E38C4113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639" y="1986704"/>
            <a:ext cx="2160457" cy="168416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C0B8A34-8118-436F-8916-AF4EE5B14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639" y="4280609"/>
            <a:ext cx="2160457" cy="170321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Ordem</a:t>
            </a:r>
            <a:r>
              <a:rPr lang="pt-BR" dirty="0"/>
              <a:t> de um grafo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328" y="1853755"/>
            <a:ext cx="6571343" cy="3450613"/>
          </a:xfrm>
        </p:spPr>
        <p:txBody>
          <a:bodyPr/>
          <a:lstStyle/>
          <a:p>
            <a:r>
              <a:rPr dirty="0" err="1"/>
              <a:t>Ordem</a:t>
            </a:r>
            <a:r>
              <a:rPr dirty="0"/>
              <a:t>: </a:t>
            </a:r>
            <a:r>
              <a:rPr dirty="0" err="1"/>
              <a:t>Refere</a:t>
            </a:r>
            <a:r>
              <a:rPr dirty="0"/>
              <a:t>-se à </a:t>
            </a:r>
            <a:r>
              <a:rPr dirty="0" err="1"/>
              <a:t>cardinalidade</a:t>
            </a:r>
            <a:r>
              <a:rPr dirty="0"/>
              <a:t> do conjunto V (</a:t>
            </a:r>
            <a:r>
              <a:rPr dirty="0" err="1"/>
              <a:t>quantidade</a:t>
            </a:r>
            <a:r>
              <a:rPr dirty="0"/>
              <a:t> </a:t>
            </a:r>
            <a:r>
              <a:rPr b="1" u="sng" dirty="0"/>
              <a:t>total de </a:t>
            </a:r>
            <a:r>
              <a:rPr b="1" u="sng" dirty="0" err="1"/>
              <a:t>vértices</a:t>
            </a:r>
            <a:r>
              <a:rPr b="1" u="sng" dirty="0"/>
              <a:t> </a:t>
            </a:r>
            <a:r>
              <a:rPr dirty="0"/>
              <a:t>que o </a:t>
            </a:r>
            <a:r>
              <a:rPr dirty="0" err="1"/>
              <a:t>grafo</a:t>
            </a:r>
            <a:r>
              <a:rPr dirty="0"/>
              <a:t> </a:t>
            </a:r>
            <a:r>
              <a:rPr dirty="0" err="1"/>
              <a:t>possui</a:t>
            </a:r>
            <a:r>
              <a:rPr dirty="0"/>
              <a:t>), </a:t>
            </a:r>
            <a:r>
              <a:rPr dirty="0" err="1"/>
              <a:t>denotada</a:t>
            </a:r>
            <a:r>
              <a:rPr dirty="0"/>
              <a:t> por |V| </a:t>
            </a:r>
            <a:r>
              <a:rPr dirty="0" err="1"/>
              <a:t>ou</a:t>
            </a:r>
            <a:r>
              <a:rPr dirty="0"/>
              <a:t> n.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9BED3AA-4FF8-4ED8-96EE-4FBCE3F4F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404" y="3031702"/>
            <a:ext cx="6028267" cy="287961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Tamanho</a:t>
            </a:r>
            <a:r>
              <a:rPr lang="pt-BR" dirty="0"/>
              <a:t> de um grafo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Tamanho</a:t>
            </a:r>
            <a:r>
              <a:rPr dirty="0"/>
              <a:t>: </a:t>
            </a:r>
            <a:r>
              <a:rPr dirty="0" err="1"/>
              <a:t>Refere</a:t>
            </a:r>
            <a:r>
              <a:rPr dirty="0"/>
              <a:t>-se à </a:t>
            </a:r>
            <a:r>
              <a:rPr dirty="0" err="1"/>
              <a:t>cardinalidade</a:t>
            </a:r>
            <a:r>
              <a:rPr dirty="0"/>
              <a:t> do conjunto E (</a:t>
            </a:r>
            <a:r>
              <a:rPr dirty="0" err="1"/>
              <a:t>quantidade</a:t>
            </a:r>
            <a:r>
              <a:rPr dirty="0"/>
              <a:t> </a:t>
            </a:r>
            <a:r>
              <a:rPr b="1" u="sng" dirty="0"/>
              <a:t>total de </a:t>
            </a:r>
            <a:r>
              <a:rPr b="1" u="sng" dirty="0" err="1"/>
              <a:t>arestas</a:t>
            </a:r>
            <a:r>
              <a:rPr b="1" u="sng" dirty="0"/>
              <a:t> </a:t>
            </a:r>
            <a:r>
              <a:rPr dirty="0"/>
              <a:t>do </a:t>
            </a:r>
            <a:r>
              <a:rPr dirty="0" err="1"/>
              <a:t>grafo</a:t>
            </a:r>
            <a:r>
              <a:rPr dirty="0"/>
              <a:t>), </a:t>
            </a:r>
            <a:r>
              <a:rPr dirty="0" err="1"/>
              <a:t>sendo</a:t>
            </a:r>
            <a:r>
              <a:rPr dirty="0"/>
              <a:t> </a:t>
            </a:r>
            <a:r>
              <a:rPr dirty="0" err="1"/>
              <a:t>denotada</a:t>
            </a:r>
            <a:r>
              <a:rPr dirty="0"/>
              <a:t> por |E| </a:t>
            </a:r>
            <a:r>
              <a:rPr dirty="0" err="1"/>
              <a:t>ou</a:t>
            </a:r>
            <a:r>
              <a:rPr dirty="0"/>
              <a:t> m.</a:t>
            </a:r>
            <a:r>
              <a:rPr lang="pt-BR" dirty="0"/>
              <a:t>     TAMANHO DE G2 =&gt;  |G2|=5</a:t>
            </a:r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C577A09-626E-4CD4-996B-A3D768812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022" y="3313509"/>
            <a:ext cx="2255715" cy="21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445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Densidade do Grafo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densidade é dada em função da proporção existente entre a quantidade de arestas e a de vértices de um grafo.</a:t>
            </a:r>
          </a:p>
          <a:p>
            <a:r>
              <a:t>Grafo Denso: Caracterizado por ter muitas arestas em relação ao seu número de vértices.</a:t>
            </a:r>
          </a:p>
          <a:p>
            <a:r>
              <a:t>Grafo Esparso: Aquele que possui uma quantidade de arestas muito menor do que o máximo possível.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Análise de Conexões dos Vértices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 </a:t>
            </a:r>
            <a:r>
              <a:rPr b="1" u="sng" dirty="0" err="1"/>
              <a:t>grau</a:t>
            </a:r>
            <a:r>
              <a:rPr b="1" u="sng" dirty="0"/>
              <a:t> de um </a:t>
            </a:r>
            <a:r>
              <a:rPr b="1" u="sng" dirty="0" err="1"/>
              <a:t>vértice</a:t>
            </a:r>
            <a:r>
              <a:rPr b="1" u="sng" dirty="0"/>
              <a:t> </a:t>
            </a:r>
            <a:r>
              <a:rPr lang="pt-BR" dirty="0"/>
              <a:t> ou grau de um nó</a:t>
            </a:r>
            <a:r>
              <a:rPr dirty="0"/>
              <a:t>.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grau de saída de b: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pt-BR" dirty="0"/>
              <a:t>               grau de entrada de b: 2</a:t>
            </a:r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C2FDFB6-0990-45C7-976D-03EE28A4A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418" y="2462632"/>
            <a:ext cx="4244582" cy="24400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Rótulos e Igualdade Estrutural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grafos</a:t>
            </a:r>
            <a:r>
              <a:rPr dirty="0"/>
              <a:t> </a:t>
            </a:r>
            <a:r>
              <a:rPr dirty="0" err="1"/>
              <a:t>podem</a:t>
            </a:r>
            <a:r>
              <a:rPr dirty="0"/>
              <a:t> ser </a:t>
            </a:r>
            <a:r>
              <a:rPr dirty="0" err="1"/>
              <a:t>rotulados</a:t>
            </a:r>
            <a:r>
              <a:rPr dirty="0"/>
              <a:t> (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seus</a:t>
            </a:r>
            <a:r>
              <a:rPr dirty="0"/>
              <a:t> </a:t>
            </a:r>
            <a:r>
              <a:rPr dirty="0" err="1"/>
              <a:t>elementos</a:t>
            </a:r>
            <a:r>
              <a:rPr dirty="0"/>
              <a:t> </a:t>
            </a:r>
            <a:r>
              <a:rPr dirty="0" err="1"/>
              <a:t>recebem</a:t>
            </a:r>
            <a:r>
              <a:rPr dirty="0"/>
              <a:t> </a:t>
            </a:r>
            <a:r>
              <a:rPr dirty="0" err="1"/>
              <a:t>nomes</a:t>
            </a:r>
            <a:r>
              <a:rPr dirty="0"/>
              <a:t>)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não-rotulados</a:t>
            </a:r>
            <a:r>
              <a:rPr dirty="0"/>
              <a:t>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616D226-BF8A-415B-95DF-7B55FF452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851" y="2955820"/>
            <a:ext cx="5848857" cy="24195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Rótulos e Igualdade Estrutural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Isomorfismo</a:t>
            </a:r>
            <a:r>
              <a:rPr dirty="0"/>
              <a:t>: </a:t>
            </a:r>
            <a:r>
              <a:rPr dirty="0" err="1"/>
              <a:t>Ocorre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dois</a:t>
            </a:r>
            <a:r>
              <a:rPr dirty="0"/>
              <a:t> </a:t>
            </a:r>
            <a:r>
              <a:rPr dirty="0" err="1"/>
              <a:t>grafos</a:t>
            </a:r>
            <a:r>
              <a:rPr dirty="0"/>
              <a:t> </a:t>
            </a:r>
            <a:r>
              <a:rPr dirty="0" err="1"/>
              <a:t>possuem</a:t>
            </a:r>
            <a:r>
              <a:rPr dirty="0"/>
              <a:t> a </a:t>
            </a:r>
            <a:r>
              <a:rPr dirty="0" err="1"/>
              <a:t>mesma</a:t>
            </a:r>
            <a:r>
              <a:rPr dirty="0"/>
              <a:t> </a:t>
            </a:r>
            <a:r>
              <a:rPr dirty="0" err="1"/>
              <a:t>equivalência</a:t>
            </a:r>
            <a:r>
              <a:rPr dirty="0"/>
              <a:t> </a:t>
            </a:r>
            <a:r>
              <a:rPr dirty="0" err="1"/>
              <a:t>estrutural</a:t>
            </a:r>
            <a:r>
              <a:rPr dirty="0"/>
              <a:t>, </a:t>
            </a:r>
            <a:r>
              <a:rPr dirty="0" err="1"/>
              <a:t>mesmo</a:t>
            </a:r>
            <a:r>
              <a:rPr dirty="0"/>
              <a:t> que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nomes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representações</a:t>
            </a:r>
            <a:r>
              <a:rPr dirty="0"/>
              <a:t> </a:t>
            </a:r>
            <a:r>
              <a:rPr dirty="0" err="1"/>
              <a:t>visuais</a:t>
            </a:r>
            <a:r>
              <a:rPr dirty="0"/>
              <a:t> </a:t>
            </a:r>
            <a:r>
              <a:rPr dirty="0" err="1"/>
              <a:t>sejam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.</a:t>
            </a:r>
          </a:p>
          <a:p>
            <a:r>
              <a:rPr dirty="0"/>
              <a:t>O </a:t>
            </a:r>
            <a:r>
              <a:rPr dirty="0" err="1"/>
              <a:t>isomorfismo</a:t>
            </a:r>
            <a:r>
              <a:rPr dirty="0"/>
              <a:t> é </a:t>
            </a:r>
            <a:r>
              <a:rPr dirty="0" err="1"/>
              <a:t>estabelecido</a:t>
            </a:r>
            <a:r>
              <a:rPr dirty="0"/>
              <a:t> </a:t>
            </a:r>
            <a:r>
              <a:rPr dirty="0" err="1"/>
              <a:t>verificando</a:t>
            </a:r>
            <a:r>
              <a:rPr dirty="0"/>
              <a:t> se </a:t>
            </a:r>
            <a:r>
              <a:rPr dirty="0" err="1"/>
              <a:t>existe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correspondência</a:t>
            </a:r>
            <a:r>
              <a:rPr dirty="0"/>
              <a:t> </a:t>
            </a:r>
            <a:r>
              <a:rPr dirty="0" err="1"/>
              <a:t>bijetora</a:t>
            </a:r>
            <a:r>
              <a:rPr dirty="0"/>
              <a:t> que preserve as </a:t>
            </a:r>
            <a:r>
              <a:rPr dirty="0" err="1"/>
              <a:t>adjacências</a:t>
            </a:r>
            <a:r>
              <a:rPr dirty="0"/>
              <a:t> </a:t>
            </a:r>
            <a:r>
              <a:rPr dirty="0" err="1"/>
              <a:t>originais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3916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22B45E-9F63-4C90-A798-9AC0A3140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VALORADO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65051F-88F7-4615-8A06-9FE43845B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2DB0B77-FA8A-4BD1-8980-B276898CB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741" y="1600041"/>
            <a:ext cx="6553768" cy="36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723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22B45E-9F63-4C90-A798-9AC0A3140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VALORADO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65051F-88F7-4615-8A06-9FE43845B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2DB0B77-FA8A-4BD1-8980-B276898CB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741" y="1600041"/>
            <a:ext cx="6553768" cy="36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930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712E8-06B3-47DE-B1DD-69DD1938F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841" y="804520"/>
            <a:ext cx="7731760" cy="1049235"/>
          </a:xfrm>
        </p:spPr>
        <p:txBody>
          <a:bodyPr/>
          <a:lstStyle/>
          <a:p>
            <a:r>
              <a:rPr lang="pt-BR" dirty="0"/>
              <a:t>Grafo valorado – rede neural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DAB9DC-627D-411D-8191-D7CA30233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8F3F647-48E9-4100-8C11-9446C0B2C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640" y="1459309"/>
            <a:ext cx="5999869" cy="456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153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9A24F-5498-43BC-AA9D-4B7BC90C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COMPLETO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DE2B05-80F4-44CA-B955-D376875D5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1619" y="2238286"/>
            <a:ext cx="5523215" cy="2517562"/>
          </a:xfrm>
        </p:spPr>
        <p:txBody>
          <a:bodyPr/>
          <a:lstStyle/>
          <a:p>
            <a:r>
              <a:rPr lang="pt-BR" dirty="0"/>
              <a:t>Um grafo completo é um grafo simples no qual todo par de vértices distintos é adjacente, ou seja,  cada vértice está conectado diretamente a todos os outros vértices do grafo.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4F28E87-605F-4D27-8080-A3EFB22F2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27" y="2769919"/>
            <a:ext cx="1804191" cy="185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38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9A24F-5498-43BC-AA9D-4B7BC90C6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434" y="393282"/>
            <a:ext cx="6571343" cy="1049235"/>
          </a:xfrm>
        </p:spPr>
        <p:txBody>
          <a:bodyPr/>
          <a:lstStyle/>
          <a:p>
            <a:r>
              <a:rPr lang="pt-BR" dirty="0"/>
              <a:t>GRAFO COMPLETO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8C5D404-81F7-4658-9D87-193345239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54" y="916688"/>
            <a:ext cx="8642191" cy="364563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E23F237-9BD4-46E6-9F9E-15F118723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54" y="4562323"/>
            <a:ext cx="8642191" cy="148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228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E26BAD-0A04-41EB-ACA2-3CA98A3D9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C02B341-785A-4DF7-8BF6-EC76AE812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60" y="410144"/>
            <a:ext cx="8055392" cy="535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322953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e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97</TotalTime>
  <Words>1397</Words>
  <Application>Microsoft Office PowerPoint</Application>
  <PresentationFormat>Apresentação na tela (4:3)</PresentationFormat>
  <Paragraphs>94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1" baseType="lpstr">
      <vt:lpstr>Arial</vt:lpstr>
      <vt:lpstr>Gill Sans MT</vt:lpstr>
      <vt:lpstr>Galeria</vt:lpstr>
      <vt:lpstr>Conceitos Fundamentais da Teoria dos Grafos</vt:lpstr>
      <vt:lpstr>O Problema das Sete Pontes de Königsberg</vt:lpstr>
      <vt:lpstr>O Problema das Sete Pontes de Königsberg</vt:lpstr>
      <vt:lpstr>A Abstração de Euler</vt:lpstr>
      <vt:lpstr>O que é um Grafo?</vt:lpstr>
      <vt:lpstr>Vértices e Arestas</vt:lpstr>
      <vt:lpstr>Aplicações</vt:lpstr>
      <vt:lpstr>Aplicações</vt:lpstr>
      <vt:lpstr>Incidência e Adjacência</vt:lpstr>
      <vt:lpstr>Grafos dirigidos - Dígrafos</vt:lpstr>
      <vt:lpstr>Grafos dirigidos - Dígrafos</vt:lpstr>
      <vt:lpstr>Adjacência Direcionada</vt:lpstr>
      <vt:lpstr>Grafos Subjacentes e Transpostos</vt:lpstr>
      <vt:lpstr>Laços e Arestas Paralelas</vt:lpstr>
      <vt:lpstr>Apresentação do PowerPoint</vt:lpstr>
      <vt:lpstr>Grafos Simples vs. Multigrafos</vt:lpstr>
      <vt:lpstr>Ordem de um grafo</vt:lpstr>
      <vt:lpstr>Tamanho de um grafo</vt:lpstr>
      <vt:lpstr>Densidade do Grafo</vt:lpstr>
      <vt:lpstr>Análise de Conexões dos Vértices</vt:lpstr>
      <vt:lpstr>Rótulos e Igualdade Estrutural</vt:lpstr>
      <vt:lpstr>Rótulos e Igualdade Estrutural</vt:lpstr>
      <vt:lpstr>GRAFO VALORADO</vt:lpstr>
      <vt:lpstr>GRAFO VALORADO</vt:lpstr>
      <vt:lpstr>Grafo valorado – rede neural</vt:lpstr>
      <vt:lpstr>GRAFO COMPLETO</vt:lpstr>
      <vt:lpstr>GRAFO COMPLETO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Conceitos Fundamentais da Teoria dos Grafos</dc:title>
  <dc:subject/>
  <dc:creator/>
  <cp:keywords/>
  <dc:description>generated using python-pptx</dc:description>
  <cp:lastModifiedBy>usuario</cp:lastModifiedBy>
  <cp:revision>26</cp:revision>
  <dcterms:created xsi:type="dcterms:W3CDTF">2013-01-27T09:14:16Z</dcterms:created>
  <dcterms:modified xsi:type="dcterms:W3CDTF">2026-03-27T01:40:55Z</dcterms:modified>
  <cp:category/>
</cp:coreProperties>
</file>