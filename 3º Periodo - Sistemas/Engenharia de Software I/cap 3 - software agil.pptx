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8" r:id="rId12"/>
    <p:sldId id="269" r:id="rId13"/>
    <p:sldId id="270" r:id="rId14"/>
    <p:sldId id="271" r:id="rId15"/>
    <p:sldId id="273" r:id="rId16"/>
    <p:sldId id="275" r:id="rId17"/>
    <p:sldId id="277" r:id="rId18"/>
    <p:sldId id="278" r:id="rId19"/>
    <p:sldId id="279" r:id="rId20"/>
    <p:sldId id="280" r:id="rId21"/>
    <p:sldId id="281" r:id="rId22"/>
    <p:sldId id="282" r:id="rId23"/>
    <p:sldId id="283" r:id="rId24"/>
    <p:sldId id="284" r:id="rId25"/>
    <p:sldId id="285" r:id="rId26"/>
    <p:sldId id="286" r:id="rId27"/>
    <p:sldId id="288" r:id="rId28"/>
    <p:sldId id="289" r:id="rId29"/>
    <p:sldId id="291" r:id="rId30"/>
    <p:sldId id="292" r:id="rId31"/>
    <p:sldId id="293" r:id="rId32"/>
    <p:sldId id="295" r:id="rId33"/>
    <p:sldId id="296" r:id="rId34"/>
    <p:sldId id="297" r:id="rId35"/>
    <p:sldId id="299"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7" r:id="rId50"/>
    <p:sldId id="319" r:id="rId51"/>
    <p:sldId id="321" r:id="rId52"/>
    <p:sldId id="322" r:id="rId53"/>
    <p:sldId id="323" r:id="rId54"/>
    <p:sldId id="324" r:id="rId55"/>
    <p:sldId id="325" r:id="rId56"/>
    <p:sldId id="326" r:id="rId57"/>
    <p:sldId id="327" r:id="rId58"/>
    <p:sldId id="328" r:id="rId59"/>
    <p:sldId id="330" r:id="rId60"/>
    <p:sldId id="331" r:id="rId61"/>
    <p:sldId id="332" r:id="rId62"/>
    <p:sldId id="334" r:id="rId63"/>
    <p:sldId id="336" r:id="rId64"/>
    <p:sldId id="338" r:id="rId65"/>
    <p:sldId id="339" r:id="rId66"/>
    <p:sldId id="341" r:id="rId6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373ABC49-1041-4039-9FED-4225D25CE91A}" type="datetimeFigureOut">
              <a:rPr lang="pt-BR" smtClean="0"/>
              <a:t>25/09/2025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2312470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373ABC49-1041-4039-9FED-4225D25CE91A}" type="datetimeFigureOut">
              <a:rPr lang="pt-BR" smtClean="0"/>
              <a:t>25/09/2025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581000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373ABC49-1041-4039-9FED-4225D25CE91A}" type="datetimeFigureOut">
              <a:rPr lang="pt-BR" smtClean="0"/>
              <a:t>25/09/2025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1059164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373ABC49-1041-4039-9FED-4225D25CE91A}" type="datetimeFigureOut">
              <a:rPr lang="pt-BR" smtClean="0"/>
              <a:t>25/09/2025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2296167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373ABC49-1041-4039-9FED-4225D25CE91A}" type="datetimeFigureOut">
              <a:rPr lang="pt-BR" smtClean="0"/>
              <a:t>25/09/2025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23809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373ABC49-1041-4039-9FED-4225D25CE91A}" type="datetimeFigureOut">
              <a:rPr lang="pt-BR" smtClean="0"/>
              <a:t>25/09/2025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1563813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73ABC49-1041-4039-9FED-4225D25CE91A}" type="datetimeFigureOut">
              <a:rPr lang="pt-BR" smtClean="0"/>
              <a:t>25/09/2025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3984423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373ABC49-1041-4039-9FED-4225D25CE91A}" type="datetimeFigureOut">
              <a:rPr lang="pt-BR" smtClean="0"/>
              <a:t>25/09/2025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325206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373ABC49-1041-4039-9FED-4225D25CE91A}" type="datetimeFigureOut">
              <a:rPr lang="pt-BR" smtClean="0"/>
              <a:t>25/09/2025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2161093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373ABC49-1041-4039-9FED-4225D25CE91A}" type="datetimeFigureOut">
              <a:rPr lang="pt-BR" smtClean="0"/>
              <a:t>25/09/2025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390251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373ABC49-1041-4039-9FED-4225D25CE91A}" type="datetimeFigureOut">
              <a:rPr lang="pt-BR" smtClean="0"/>
              <a:t>25/09/2025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982123-EFEB-4F58-874C-10EAC3052D12}" type="slidenum">
              <a:rPr lang="pt-BR" smtClean="0"/>
              <a:t>‹nº›</a:t>
            </a:fld>
            <a:endParaRPr lang="pt-BR"/>
          </a:p>
        </p:txBody>
      </p:sp>
    </p:spTree>
    <p:extLst>
      <p:ext uri="{BB962C8B-B14F-4D97-AF65-F5344CB8AC3E}">
        <p14:creationId xmlns:p14="http://schemas.microsoft.com/office/powerpoint/2010/main" val="4016877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3ABC49-1041-4039-9FED-4225D25CE91A}" type="datetimeFigureOut">
              <a:rPr lang="pt-BR" smtClean="0"/>
              <a:t>25/09/2025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982123-EFEB-4F58-874C-10EAC3052D12}" type="slidenum">
              <a:rPr lang="pt-BR" smtClean="0"/>
              <a:t>‹nº›</a:t>
            </a:fld>
            <a:endParaRPr lang="pt-BR"/>
          </a:p>
        </p:txBody>
      </p:sp>
    </p:spTree>
    <p:extLst>
      <p:ext uri="{BB962C8B-B14F-4D97-AF65-F5344CB8AC3E}">
        <p14:creationId xmlns:p14="http://schemas.microsoft.com/office/powerpoint/2010/main" val="1810870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altLang="pt-BR" dirty="0"/>
              <a:t>3 Desenvolvimento de Software Ágil</a:t>
            </a:r>
            <a:endParaRPr lang="pt-BR" dirty="0"/>
          </a:p>
        </p:txBody>
      </p:sp>
      <p:sp>
        <p:nvSpPr>
          <p:cNvPr id="3" name="Subtítulo 2"/>
          <p:cNvSpPr>
            <a:spLocks noGrp="1"/>
          </p:cNvSpPr>
          <p:nvPr>
            <p:ph type="subTitle" idx="1"/>
          </p:nvPr>
        </p:nvSpPr>
        <p:spPr/>
        <p:txBody>
          <a:bodyPr/>
          <a:lstStyle/>
          <a:p>
            <a:endParaRPr lang="pt-BR"/>
          </a:p>
        </p:txBody>
      </p:sp>
    </p:spTree>
    <p:extLst>
      <p:ext uri="{BB962C8B-B14F-4D97-AF65-F5344CB8AC3E}">
        <p14:creationId xmlns:p14="http://schemas.microsoft.com/office/powerpoint/2010/main" val="1565580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4B7CAF0-5F3E-463A-89CF-FD71B0402E91}" type="slidenum">
              <a:rPr lang="pt-PT" altLang="pt-BR" sz="1400"/>
              <a:pPr>
                <a:spcBef>
                  <a:spcPct val="0"/>
                </a:spcBef>
                <a:buFontTx/>
                <a:buNone/>
              </a:pPr>
              <a:t>2</a:t>
            </a:fld>
            <a:endParaRPr lang="pt-PT" altLang="pt-BR" sz="1400"/>
          </a:p>
        </p:txBody>
      </p:sp>
      <p:sp>
        <p:nvSpPr>
          <p:cNvPr id="106499" name="Rectangle 2"/>
          <p:cNvSpPr>
            <a:spLocks noGrp="1" noChangeArrowheads="1"/>
          </p:cNvSpPr>
          <p:nvPr>
            <p:ph type="ctrTitle"/>
          </p:nvPr>
        </p:nvSpPr>
        <p:spPr>
          <a:xfrm>
            <a:off x="1343026" y="0"/>
            <a:ext cx="9217025" cy="1143000"/>
          </a:xfrm>
        </p:spPr>
        <p:txBody>
          <a:bodyPr anchor="ctr"/>
          <a:lstStyle/>
          <a:p>
            <a:pPr eaLnBrk="1" hangingPunct="1"/>
            <a:r>
              <a:rPr lang="pt-BR" altLang="pt-BR" sz="3600" dirty="0"/>
              <a:t>3 Desenvolvimento de Software Ágil</a:t>
            </a:r>
            <a:endParaRPr lang="pt-PT" altLang="pt-BR" sz="3600" dirty="0"/>
          </a:p>
        </p:txBody>
      </p:sp>
      <p:sp>
        <p:nvSpPr>
          <p:cNvPr id="106500" name="Rectangle 3"/>
          <p:cNvSpPr>
            <a:spLocks noGrp="1" noChangeArrowheads="1"/>
          </p:cNvSpPr>
          <p:nvPr>
            <p:ph type="subTitle" idx="1"/>
          </p:nvPr>
        </p:nvSpPr>
        <p:spPr>
          <a:xfrm>
            <a:off x="224288" y="1078302"/>
            <a:ext cx="11671538" cy="5897174"/>
          </a:xfrm>
        </p:spPr>
        <p:txBody>
          <a:bodyPr/>
          <a:lstStyle/>
          <a:p>
            <a:pPr algn="just" eaLnBrk="1" hangingPunct="1"/>
            <a:r>
              <a:rPr lang="pt-BR" altLang="pt-BR" dirty="0" smtClean="0"/>
              <a:t>Objetivos dos Métodos ágeis de desenvolvimento de software:</a:t>
            </a:r>
          </a:p>
          <a:p>
            <a:pPr algn="just" eaLnBrk="1" hangingPunct="1"/>
            <a:r>
              <a:rPr lang="pt-BR" altLang="pt-BR" dirty="0" smtClean="0"/>
              <a:t>Compreender a lógica dos métodos ágeis de desenvolvimento de software, o manifesto ágil, e as diferenças entre desenvolvimento ágil e desenvolvimento dirigido a planos; </a:t>
            </a:r>
          </a:p>
          <a:p>
            <a:pPr algn="just" eaLnBrk="1" hangingPunct="1"/>
            <a:r>
              <a:rPr lang="pt-BR" altLang="pt-BR" dirty="0" smtClean="0"/>
              <a:t>Conhecer as práticas mais importantes da Extreme </a:t>
            </a:r>
            <a:r>
              <a:rPr lang="pt-BR" altLang="pt-BR" dirty="0" err="1" smtClean="0"/>
              <a:t>Programming</a:t>
            </a:r>
            <a:r>
              <a:rPr lang="pt-BR" altLang="pt-BR" dirty="0" smtClean="0"/>
              <a:t> e o modo como elas se relacionam com os princípios gerais dos métodos ágeis;</a:t>
            </a:r>
          </a:p>
          <a:p>
            <a:pPr algn="just" eaLnBrk="1" hangingPunct="1"/>
            <a:r>
              <a:rPr lang="pt-BR" altLang="pt-BR" dirty="0" smtClean="0"/>
              <a:t>Compreende a abordagem </a:t>
            </a:r>
            <a:r>
              <a:rPr lang="pt-BR" altLang="pt-BR" dirty="0" err="1" smtClean="0"/>
              <a:t>Scrum</a:t>
            </a:r>
            <a:r>
              <a:rPr lang="pt-BR" altLang="pt-BR" dirty="0" smtClean="0"/>
              <a:t> para gerenciamento ágil de projetos; </a:t>
            </a:r>
          </a:p>
          <a:p>
            <a:pPr algn="just" eaLnBrk="1" hangingPunct="1"/>
            <a:r>
              <a:rPr lang="pt-BR" altLang="pt-BR" dirty="0" smtClean="0"/>
              <a:t>Conhecer questões e problemas de escalamento de métodos ágeis de desenvolvimento para o desenvolvimento de sistemas de software de grande porte</a:t>
            </a:r>
            <a:endParaRPr lang="pt-PT" altLang="pt-BR" dirty="0" smtClean="0"/>
          </a:p>
        </p:txBody>
      </p:sp>
    </p:spTree>
    <p:extLst>
      <p:ext uri="{BB962C8B-B14F-4D97-AF65-F5344CB8AC3E}">
        <p14:creationId xmlns:p14="http://schemas.microsoft.com/office/powerpoint/2010/main" val="5780867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CEE0E81-9ECB-4DBD-A39B-7F40D6CE9DBD}" type="slidenum">
              <a:rPr lang="pt-PT" altLang="pt-BR" sz="1400"/>
              <a:pPr>
                <a:spcBef>
                  <a:spcPct val="0"/>
                </a:spcBef>
                <a:buFontTx/>
                <a:buNone/>
              </a:pPr>
              <a:t>3</a:t>
            </a:fld>
            <a:endParaRPr lang="pt-PT" altLang="pt-BR" sz="1400"/>
          </a:p>
        </p:txBody>
      </p:sp>
      <p:sp>
        <p:nvSpPr>
          <p:cNvPr id="10752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a:t>
            </a:r>
            <a:endParaRPr lang="pt-PT" altLang="pt-BR" sz="3600"/>
          </a:p>
        </p:txBody>
      </p:sp>
      <p:sp>
        <p:nvSpPr>
          <p:cNvPr id="107524" name="Rectangle 3"/>
          <p:cNvSpPr>
            <a:spLocks noGrp="1" noChangeArrowheads="1"/>
          </p:cNvSpPr>
          <p:nvPr>
            <p:ph type="subTitle" idx="1"/>
          </p:nvPr>
        </p:nvSpPr>
        <p:spPr>
          <a:xfrm>
            <a:off x="172528" y="1143001"/>
            <a:ext cx="11904453" cy="5832476"/>
          </a:xfrm>
        </p:spPr>
        <p:txBody>
          <a:bodyPr/>
          <a:lstStyle/>
          <a:p>
            <a:pPr algn="just" eaLnBrk="1" hangingPunct="1"/>
            <a:r>
              <a:rPr lang="pt-BR" altLang="pt-BR" smtClean="0"/>
              <a:t>Empresas operam em ambiente global, com mudanças rápidas. </a:t>
            </a:r>
            <a:r>
              <a:rPr lang="pt-BR" altLang="pt-BR" dirty="0" smtClean="0"/>
              <a:t>Precisam responder a novas oportunidades e novos mercados, a mudanças nas condições econômicas e ao surgimento de produtos e serviços concorrentes. </a:t>
            </a:r>
          </a:p>
          <a:p>
            <a:pPr algn="just" eaLnBrk="1" hangingPunct="1"/>
            <a:r>
              <a:rPr lang="pt-BR" altLang="pt-BR" dirty="0" smtClean="0"/>
              <a:t>Softwares fazem parte de quase todas as operações de negócios.</a:t>
            </a:r>
          </a:p>
          <a:p>
            <a:pPr algn="just" eaLnBrk="1" hangingPunct="1"/>
            <a:r>
              <a:rPr lang="pt-BR" altLang="pt-BR" dirty="0" smtClean="0"/>
              <a:t>Softwares são desenvolvidos rapidamente para obterem proveito de oportunidades e responder às pressões competitivas. </a:t>
            </a:r>
          </a:p>
          <a:p>
            <a:pPr algn="just" eaLnBrk="1" hangingPunct="1"/>
            <a:r>
              <a:rPr lang="pt-BR" altLang="pt-BR" dirty="0" smtClean="0"/>
              <a:t>Desenvolvimento e entrega rápidos são o requisito mais crítico para o desenvolvimento de sistemas . </a:t>
            </a:r>
          </a:p>
          <a:p>
            <a:pPr algn="just" eaLnBrk="1" hangingPunct="1"/>
            <a:r>
              <a:rPr lang="pt-BR" altLang="pt-BR" dirty="0" smtClean="0"/>
              <a:t>Muitas empresas estão dispostas a trocar a qualidade e o compromisso com requisitos do software por uma implantação mais rápida do software de que necessitam</a:t>
            </a:r>
            <a:endParaRPr lang="pt-PT" altLang="pt-BR" dirty="0" smtClean="0"/>
          </a:p>
        </p:txBody>
      </p:sp>
    </p:spTree>
    <p:extLst>
      <p:ext uri="{BB962C8B-B14F-4D97-AF65-F5344CB8AC3E}">
        <p14:creationId xmlns:p14="http://schemas.microsoft.com/office/powerpoint/2010/main" val="20228087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F669142-34CF-447C-816E-103B31E77715}" type="slidenum">
              <a:rPr lang="pt-PT" altLang="pt-BR" sz="1400"/>
              <a:pPr>
                <a:spcBef>
                  <a:spcPct val="0"/>
                </a:spcBef>
                <a:buFontTx/>
                <a:buNone/>
              </a:pPr>
              <a:t>4</a:t>
            </a:fld>
            <a:endParaRPr lang="pt-PT" altLang="pt-BR" sz="1400"/>
          </a:p>
        </p:txBody>
      </p:sp>
      <p:sp>
        <p:nvSpPr>
          <p:cNvPr id="10854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a:t>
            </a:r>
            <a:endParaRPr lang="pt-PT" altLang="pt-BR" sz="3600"/>
          </a:p>
        </p:txBody>
      </p:sp>
      <p:sp>
        <p:nvSpPr>
          <p:cNvPr id="108548" name="Rectangle 3"/>
          <p:cNvSpPr>
            <a:spLocks noGrp="1" noChangeArrowheads="1"/>
          </p:cNvSpPr>
          <p:nvPr>
            <p:ph type="subTitle" idx="1"/>
          </p:nvPr>
        </p:nvSpPr>
        <p:spPr>
          <a:xfrm>
            <a:off x="0" y="1492370"/>
            <a:ext cx="11982091" cy="5483106"/>
          </a:xfrm>
        </p:spPr>
        <p:txBody>
          <a:bodyPr/>
          <a:lstStyle/>
          <a:p>
            <a:pPr algn="just" eaLnBrk="1" hangingPunct="1"/>
            <a:r>
              <a:rPr lang="pt-BR" altLang="pt-BR" dirty="0" smtClean="0"/>
              <a:t>Rapidez: impossível se obter um conjunto completo de requisitos de software estável. </a:t>
            </a:r>
          </a:p>
          <a:p>
            <a:pPr algn="just" eaLnBrk="1" hangingPunct="1"/>
            <a:r>
              <a:rPr lang="pt-BR" altLang="pt-BR" dirty="0" smtClean="0"/>
              <a:t>Requisitos iniciais serão alterados: clientes acham impossível prever como um sistema afetará as práticas de trabalho, como irá interagir com outros sistemas e quais operações do usuário devem ser automatizadas. </a:t>
            </a:r>
          </a:p>
          <a:p>
            <a:pPr algn="just" eaLnBrk="1" hangingPunct="1"/>
            <a:r>
              <a:rPr lang="pt-BR" altLang="pt-BR" dirty="0" smtClean="0"/>
              <a:t>Requisitos: mais compreensíveis após a entrega do sistema e à medida que os usuários ganham experiência. </a:t>
            </a:r>
          </a:p>
          <a:p>
            <a:pPr algn="just" eaLnBrk="1" hangingPunct="1"/>
            <a:r>
              <a:rPr lang="pt-BR" altLang="pt-BR" dirty="0" smtClean="0"/>
              <a:t>Requisitos: suscetíveis a mudanças rápidas e imprevisíveis em razão de fatores externos. </a:t>
            </a:r>
          </a:p>
          <a:p>
            <a:pPr algn="just" eaLnBrk="1" hangingPunct="1"/>
            <a:r>
              <a:rPr lang="pt-BR" altLang="pt-BR" dirty="0" err="1" smtClean="0"/>
              <a:t>Ex</a:t>
            </a:r>
            <a:r>
              <a:rPr lang="pt-BR" altLang="pt-BR" dirty="0" smtClean="0"/>
              <a:t>: na entrega do software, os requisitos poderão estar desatualizados.</a:t>
            </a:r>
            <a:endParaRPr lang="pt-PT" altLang="pt-BR" dirty="0" smtClean="0"/>
          </a:p>
        </p:txBody>
      </p:sp>
    </p:spTree>
    <p:extLst>
      <p:ext uri="{BB962C8B-B14F-4D97-AF65-F5344CB8AC3E}">
        <p14:creationId xmlns:p14="http://schemas.microsoft.com/office/powerpoint/2010/main" val="26055070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7ED780C-8129-4743-AC64-DCFDDDDD3E1F}" type="slidenum">
              <a:rPr lang="pt-PT" altLang="pt-BR" sz="1400"/>
              <a:pPr>
                <a:spcBef>
                  <a:spcPct val="0"/>
                </a:spcBef>
                <a:buFontTx/>
                <a:buNone/>
              </a:pPr>
              <a:t>5</a:t>
            </a:fld>
            <a:endParaRPr lang="pt-PT" altLang="pt-BR" sz="1400"/>
          </a:p>
        </p:txBody>
      </p:sp>
      <p:sp>
        <p:nvSpPr>
          <p:cNvPr id="10957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a:t>
            </a:r>
            <a:endParaRPr lang="pt-PT" altLang="pt-BR" sz="3600"/>
          </a:p>
        </p:txBody>
      </p:sp>
      <p:sp>
        <p:nvSpPr>
          <p:cNvPr id="109572" name="Rectangle 3"/>
          <p:cNvSpPr>
            <a:spLocks noGrp="1" noChangeArrowheads="1"/>
          </p:cNvSpPr>
          <p:nvPr>
            <p:ph type="subTitle" idx="1"/>
          </p:nvPr>
        </p:nvSpPr>
        <p:spPr>
          <a:xfrm>
            <a:off x="370936" y="879894"/>
            <a:ext cx="11637034" cy="6095583"/>
          </a:xfrm>
        </p:spPr>
        <p:txBody>
          <a:bodyPr/>
          <a:lstStyle/>
          <a:p>
            <a:pPr algn="just" eaLnBrk="1" hangingPunct="1"/>
            <a:r>
              <a:rPr lang="pt-BR" altLang="pt-BR" dirty="0" smtClean="0"/>
              <a:t>Processos de desenvolvimento de software que planejam especificar completamente os requisitos, projetam, constroem e testam o sistema:  não adaptados ao desenvolvimento rápido de software. </a:t>
            </a:r>
          </a:p>
          <a:p>
            <a:pPr algn="just" eaLnBrk="1" hangingPunct="1"/>
            <a:r>
              <a:rPr lang="pt-BR" altLang="pt-BR" dirty="0" smtClean="0"/>
              <a:t>Mudanças ou a descoberta de problemas nos requisitos leva a novas implementações</a:t>
            </a:r>
          </a:p>
          <a:p>
            <a:pPr algn="just" eaLnBrk="1" hangingPunct="1"/>
            <a:r>
              <a:rPr lang="pt-BR" altLang="pt-BR" dirty="0" smtClean="0"/>
              <a:t>Processo em cascata ou baseado em especificações: demorado, sendo comum a extrapolação de prazos</a:t>
            </a:r>
          </a:p>
          <a:p>
            <a:pPr algn="just" eaLnBrk="1" hangingPunct="1"/>
            <a:r>
              <a:rPr lang="pt-BR" altLang="pt-BR" dirty="0" smtClean="0"/>
              <a:t>Abordagem dirigida a planos: alinha aos sistemas críticos de controle de segurança, em que uma análise completa do sistema é essencial. </a:t>
            </a:r>
          </a:p>
          <a:p>
            <a:pPr algn="just" eaLnBrk="1" hangingPunct="1"/>
            <a:r>
              <a:rPr lang="pt-BR" altLang="pt-BR" dirty="0" smtClean="0"/>
              <a:t>Software inútil: tempo de desenvolvimento pode ter mudado radicalmente.</a:t>
            </a:r>
          </a:p>
          <a:p>
            <a:pPr algn="just" eaLnBrk="1" hangingPunct="1"/>
            <a:r>
              <a:rPr lang="pt-BR" altLang="pt-BR" dirty="0" smtClean="0"/>
              <a:t>Sistemas de negócios: desenvolvimento e entrega rápidos de software  </a:t>
            </a:r>
            <a:endParaRPr lang="pt-PT" altLang="pt-BR" dirty="0" smtClean="0"/>
          </a:p>
        </p:txBody>
      </p:sp>
    </p:spTree>
    <p:extLst>
      <p:ext uri="{BB962C8B-B14F-4D97-AF65-F5344CB8AC3E}">
        <p14:creationId xmlns:p14="http://schemas.microsoft.com/office/powerpoint/2010/main" val="1024242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AEEA2CB-2225-4C57-8210-D6727851F92C}" type="slidenum">
              <a:rPr lang="pt-PT" altLang="pt-BR" sz="1400"/>
              <a:pPr>
                <a:spcBef>
                  <a:spcPct val="0"/>
                </a:spcBef>
                <a:buFontTx/>
                <a:buNone/>
              </a:pPr>
              <a:t>6</a:t>
            </a:fld>
            <a:endParaRPr lang="pt-PT" altLang="pt-BR" sz="1400"/>
          </a:p>
        </p:txBody>
      </p:sp>
      <p:sp>
        <p:nvSpPr>
          <p:cNvPr id="11059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a:t>
            </a:r>
            <a:endParaRPr lang="pt-PT" altLang="pt-BR" sz="3600"/>
          </a:p>
        </p:txBody>
      </p:sp>
      <p:sp>
        <p:nvSpPr>
          <p:cNvPr id="110596" name="Rectangle 3"/>
          <p:cNvSpPr>
            <a:spLocks noGrp="1" noChangeArrowheads="1"/>
          </p:cNvSpPr>
          <p:nvPr>
            <p:ph type="subTitle" idx="1"/>
          </p:nvPr>
        </p:nvSpPr>
        <p:spPr>
          <a:xfrm>
            <a:off x="77639" y="1017918"/>
            <a:ext cx="11913078" cy="5814684"/>
          </a:xfrm>
        </p:spPr>
        <p:txBody>
          <a:bodyPr>
            <a:normAutofit lnSpcReduction="10000"/>
          </a:bodyPr>
          <a:lstStyle/>
          <a:p>
            <a:pPr algn="just" eaLnBrk="1" hangingPunct="1"/>
            <a:r>
              <a:rPr lang="pt-BR" altLang="pt-BR" dirty="0"/>
              <a:t>N</a:t>
            </a:r>
            <a:r>
              <a:rPr lang="pt-BR" altLang="pt-BR" dirty="0" smtClean="0"/>
              <a:t>ecessidade de desenvolvimento rápido e de processos capazes de lidar com mudanças nos requisitos. </a:t>
            </a:r>
          </a:p>
          <a:p>
            <a:pPr algn="just" eaLnBrk="1" hangingPunct="1"/>
            <a:endParaRPr lang="pt-BR" altLang="pt-BR" dirty="0" smtClean="0"/>
          </a:p>
          <a:p>
            <a:pPr algn="just" eaLnBrk="1" hangingPunct="1"/>
            <a:r>
              <a:rPr lang="pt-BR" altLang="pt-BR" dirty="0" smtClean="0"/>
              <a:t>Década de 1980: </a:t>
            </a:r>
          </a:p>
          <a:p>
            <a:pPr algn="just" eaLnBrk="1" hangingPunct="1"/>
            <a:r>
              <a:rPr lang="pt-BR" altLang="pt-BR" dirty="0" smtClean="0"/>
              <a:t>IBM introduziu o desenvolvimento incremental (MILLS et al., 1980). </a:t>
            </a:r>
          </a:p>
          <a:p>
            <a:pPr algn="just" eaLnBrk="1" hangingPunct="1"/>
            <a:r>
              <a:rPr lang="pt-BR" altLang="pt-BR" dirty="0" smtClean="0"/>
              <a:t>Introdução das linguagens de quarta geração apoiou a ideia de desenvolvimento e entrega rápidos de software (MARTIN, 1981).</a:t>
            </a:r>
          </a:p>
          <a:p>
            <a:pPr algn="just" eaLnBrk="1" hangingPunct="1"/>
            <a:r>
              <a:rPr lang="pt-BR" altLang="pt-BR" dirty="0" smtClean="0"/>
              <a:t>Final década de 1990 decola o desenvolvimento rápido: desenvolvimento da noção de abordagens ágeis, como Metodologia de Desenvolvimento de Sistemas Dinâmicos (DSDM, do inglês </a:t>
            </a:r>
            <a:r>
              <a:rPr lang="pt-BR" altLang="pt-BR" dirty="0" err="1" smtClean="0"/>
              <a:t>dynamic</a:t>
            </a:r>
            <a:r>
              <a:rPr lang="pt-BR" altLang="pt-BR" dirty="0" smtClean="0"/>
              <a:t> systems </a:t>
            </a:r>
            <a:r>
              <a:rPr lang="pt-BR" altLang="pt-BR" dirty="0" err="1" smtClean="0"/>
              <a:t>development</a:t>
            </a:r>
            <a:r>
              <a:rPr lang="pt-BR" altLang="pt-BR" dirty="0" smtClean="0"/>
              <a:t> </a:t>
            </a:r>
            <a:r>
              <a:rPr lang="pt-BR" altLang="pt-BR" dirty="0" err="1" smtClean="0"/>
              <a:t>method</a:t>
            </a:r>
            <a:r>
              <a:rPr lang="pt-BR" altLang="pt-BR" dirty="0" smtClean="0"/>
              <a:t>) (STAPLETON, 1997), </a:t>
            </a:r>
            <a:r>
              <a:rPr lang="pt-BR" altLang="pt-BR" dirty="0" err="1" smtClean="0"/>
              <a:t>Scrum</a:t>
            </a:r>
            <a:r>
              <a:rPr lang="pt-BR" altLang="pt-BR" dirty="0" smtClean="0"/>
              <a:t> (SCHWABER e BEEDLE, 2001) e Extreme </a:t>
            </a:r>
            <a:r>
              <a:rPr lang="pt-BR" altLang="pt-BR" dirty="0" err="1" smtClean="0"/>
              <a:t>Programming</a:t>
            </a:r>
            <a:r>
              <a:rPr lang="pt-BR" altLang="pt-BR" dirty="0" smtClean="0"/>
              <a:t> (BECK, 1999; BECK, 2000).</a:t>
            </a:r>
          </a:p>
          <a:p>
            <a:pPr algn="just" eaLnBrk="1" hangingPunct="1"/>
            <a:endParaRPr lang="pt-BR" altLang="pt-BR" dirty="0"/>
          </a:p>
          <a:p>
            <a:pPr algn="just"/>
            <a:r>
              <a:rPr lang="pt-BR" altLang="pt-BR" dirty="0"/>
              <a:t>Processos de desenvolvimento rápido de software: produzir, rapidamente, softwares úteis. </a:t>
            </a:r>
          </a:p>
          <a:p>
            <a:pPr algn="just"/>
            <a:r>
              <a:rPr lang="pt-BR" altLang="pt-BR" dirty="0"/>
              <a:t>O software não é desenvolvido como uma única unidade, mas como uma série de incrementos — cada incremento inclui uma nova funcionalidade do sistema. </a:t>
            </a:r>
          </a:p>
          <a:p>
            <a:pPr algn="just"/>
            <a:endParaRPr lang="pt-BR" altLang="pt-BR" dirty="0"/>
          </a:p>
          <a:p>
            <a:pPr algn="just" eaLnBrk="1" hangingPunct="1"/>
            <a:endParaRPr lang="pt-PT" altLang="pt-BR" dirty="0" smtClean="0"/>
          </a:p>
        </p:txBody>
      </p:sp>
    </p:spTree>
    <p:extLst>
      <p:ext uri="{BB962C8B-B14F-4D97-AF65-F5344CB8AC3E}">
        <p14:creationId xmlns:p14="http://schemas.microsoft.com/office/powerpoint/2010/main" val="19745983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42F7FBA-A836-4B47-8B58-91A5161A6A0D}" type="slidenum">
              <a:rPr lang="pt-PT" altLang="pt-BR" sz="1400"/>
              <a:pPr>
                <a:spcBef>
                  <a:spcPct val="0"/>
                </a:spcBef>
                <a:buFontTx/>
                <a:buNone/>
              </a:pPr>
              <a:t>7</a:t>
            </a:fld>
            <a:endParaRPr lang="pt-PT" altLang="pt-BR" sz="1400"/>
          </a:p>
        </p:txBody>
      </p:sp>
      <p:sp>
        <p:nvSpPr>
          <p:cNvPr id="11264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a:t>
            </a:r>
            <a:endParaRPr lang="pt-PT" altLang="pt-BR" sz="3600"/>
          </a:p>
        </p:txBody>
      </p:sp>
      <p:sp>
        <p:nvSpPr>
          <p:cNvPr id="112644" name="Rectangle 3"/>
          <p:cNvSpPr>
            <a:spLocks noGrp="1" noChangeArrowheads="1"/>
          </p:cNvSpPr>
          <p:nvPr>
            <p:ph type="subTitle" idx="1"/>
          </p:nvPr>
        </p:nvSpPr>
        <p:spPr>
          <a:xfrm>
            <a:off x="224287" y="828136"/>
            <a:ext cx="11861321" cy="6004465"/>
          </a:xfrm>
        </p:spPr>
        <p:txBody>
          <a:bodyPr/>
          <a:lstStyle/>
          <a:p>
            <a:pPr algn="just" eaLnBrk="1" hangingPunct="1"/>
            <a:r>
              <a:rPr lang="pt-BR" altLang="pt-BR" dirty="0" smtClean="0"/>
              <a:t>Abordagens para o desenvolvimento rápido de software compartilham algumas características fundamentais: </a:t>
            </a:r>
          </a:p>
          <a:p>
            <a:pPr algn="just"/>
            <a:r>
              <a:rPr lang="pt-BR" altLang="pt-BR" dirty="0"/>
              <a:t>1. Processos de especificação, projeto e implementação são intercalados. Não há especificação detalhada do sistema, documentação do projeto é minimizada ou gerada automaticamente pelo ambiente de programação. O documento de requisitos do usuário define as características mais importantes do sistema.</a:t>
            </a:r>
            <a:endParaRPr lang="pt-PT" altLang="pt-BR" dirty="0"/>
          </a:p>
          <a:p>
            <a:pPr algn="just" eaLnBrk="1" hangingPunct="1"/>
            <a:endParaRPr lang="pt-BR" altLang="pt-BR" dirty="0" smtClean="0"/>
          </a:p>
          <a:p>
            <a:pPr algn="just" eaLnBrk="1" hangingPunct="1"/>
            <a:r>
              <a:rPr lang="pt-BR" altLang="pt-BR" dirty="0" smtClean="0"/>
              <a:t>2. O sistema é desenvolvido em uma série de versões. Os usuários finais e outros </a:t>
            </a:r>
            <a:r>
              <a:rPr lang="pt-BR" altLang="pt-BR" dirty="0" err="1" smtClean="0"/>
              <a:t>stakeholders</a:t>
            </a:r>
            <a:r>
              <a:rPr lang="pt-BR" altLang="pt-BR" dirty="0" smtClean="0"/>
              <a:t> do sistema são envolvidos na especificação e avaliação de cada versão. Eles podem propor alterações ao software e novos requisitos que devem ser implementados em uma versão posterior.</a:t>
            </a:r>
          </a:p>
          <a:p>
            <a:pPr algn="just" eaLnBrk="1" hangingPunct="1"/>
            <a:endParaRPr lang="pt-BR" altLang="pt-BR" dirty="0" smtClean="0"/>
          </a:p>
          <a:p>
            <a:pPr algn="just" eaLnBrk="1" hangingPunct="1"/>
            <a:r>
              <a:rPr lang="pt-BR" altLang="pt-BR" dirty="0" smtClean="0"/>
              <a:t>3. Interfaces de usuário: desenvolvidas com um sistema interativo que permite a criação rápida do projeto de interface por meio de desenho e posicionamento de ícones na interface. O sistema pode gerar uma interface baseada na Web para um navegador ou uma interface de plataforma específica, como o Microsoft Windows</a:t>
            </a:r>
            <a:endParaRPr lang="pt-PT" altLang="pt-BR" dirty="0" smtClean="0"/>
          </a:p>
        </p:txBody>
      </p:sp>
    </p:spTree>
    <p:extLst>
      <p:ext uri="{BB962C8B-B14F-4D97-AF65-F5344CB8AC3E}">
        <p14:creationId xmlns:p14="http://schemas.microsoft.com/office/powerpoint/2010/main" val="30658691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375103A-E0E8-4C2B-B72F-BF93B8818575}" type="slidenum">
              <a:rPr lang="pt-PT" altLang="pt-BR" sz="1400"/>
              <a:pPr>
                <a:spcBef>
                  <a:spcPct val="0"/>
                </a:spcBef>
                <a:buFontTx/>
                <a:buNone/>
              </a:pPr>
              <a:t>8</a:t>
            </a:fld>
            <a:endParaRPr lang="pt-PT" altLang="pt-BR" sz="1400"/>
          </a:p>
        </p:txBody>
      </p:sp>
      <p:sp>
        <p:nvSpPr>
          <p:cNvPr id="11366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 Ágeis</a:t>
            </a:r>
            <a:endParaRPr lang="pt-PT" altLang="pt-BR" sz="3600"/>
          </a:p>
        </p:txBody>
      </p:sp>
      <p:sp>
        <p:nvSpPr>
          <p:cNvPr id="113668" name="Rectangle 3"/>
          <p:cNvSpPr>
            <a:spLocks noGrp="1" noChangeArrowheads="1"/>
          </p:cNvSpPr>
          <p:nvPr>
            <p:ph type="subTitle" idx="1"/>
          </p:nvPr>
        </p:nvSpPr>
        <p:spPr>
          <a:xfrm>
            <a:off x="276045" y="1397479"/>
            <a:ext cx="11602529" cy="5435122"/>
          </a:xfrm>
        </p:spPr>
        <p:txBody>
          <a:bodyPr/>
          <a:lstStyle/>
          <a:p>
            <a:pPr algn="just" eaLnBrk="1" hangingPunct="1"/>
            <a:r>
              <a:rPr lang="pt-BR" altLang="pt-BR" dirty="0" smtClean="0"/>
              <a:t>Os métodos ágeis: desenvolvimento incremental</a:t>
            </a:r>
          </a:p>
          <a:p>
            <a:pPr algn="just" eaLnBrk="1" hangingPunct="1"/>
            <a:r>
              <a:rPr lang="pt-BR" altLang="pt-BR" dirty="0" smtClean="0"/>
              <a:t>Incrementos são pequenos</a:t>
            </a:r>
          </a:p>
          <a:p>
            <a:pPr algn="just" eaLnBrk="1" hangingPunct="1"/>
            <a:r>
              <a:rPr lang="pt-BR" altLang="pt-BR" dirty="0" smtClean="0"/>
              <a:t>Novas versões do sistema são criadas e disponibilizadas aos clientes a cada duas ou três semanas. </a:t>
            </a:r>
          </a:p>
          <a:p>
            <a:pPr algn="just" eaLnBrk="1" hangingPunct="1"/>
            <a:r>
              <a:rPr lang="pt-BR" altLang="pt-BR" dirty="0" smtClean="0"/>
              <a:t>Envolvem os clientes no processo de desenvolvimento para obter feedback rápido sobre a evolução dos requisitos. </a:t>
            </a:r>
          </a:p>
          <a:p>
            <a:pPr algn="just" eaLnBrk="1" hangingPunct="1"/>
            <a:r>
              <a:rPr lang="pt-BR" altLang="pt-BR" dirty="0" smtClean="0"/>
              <a:t>Minimiza-se a documentação, pois se utiliza mais a comunicação informal do que reuniões formais com documentos escritos</a:t>
            </a:r>
            <a:endParaRPr lang="pt-PT" altLang="pt-BR" dirty="0" smtClean="0"/>
          </a:p>
        </p:txBody>
      </p:sp>
    </p:spTree>
    <p:extLst>
      <p:ext uri="{BB962C8B-B14F-4D97-AF65-F5344CB8AC3E}">
        <p14:creationId xmlns:p14="http://schemas.microsoft.com/office/powerpoint/2010/main" val="2654155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98FAA2-44F5-46E4-9F86-AC76DED7B3C9}" type="slidenum">
              <a:rPr lang="pt-PT" altLang="pt-BR" sz="1400"/>
              <a:pPr>
                <a:spcBef>
                  <a:spcPct val="0"/>
                </a:spcBef>
                <a:buFontTx/>
                <a:buNone/>
              </a:pPr>
              <a:t>9</a:t>
            </a:fld>
            <a:endParaRPr lang="pt-PT" altLang="pt-BR" sz="1400"/>
          </a:p>
        </p:txBody>
      </p:sp>
      <p:sp>
        <p:nvSpPr>
          <p:cNvPr id="11469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14692" name="Rectangle 3"/>
          <p:cNvSpPr>
            <a:spLocks noGrp="1" noChangeArrowheads="1"/>
          </p:cNvSpPr>
          <p:nvPr>
            <p:ph type="subTitle" idx="1"/>
          </p:nvPr>
        </p:nvSpPr>
        <p:spPr>
          <a:xfrm>
            <a:off x="189781" y="1293962"/>
            <a:ext cx="11611155" cy="5538639"/>
          </a:xfrm>
        </p:spPr>
        <p:txBody>
          <a:bodyPr/>
          <a:lstStyle/>
          <a:p>
            <a:pPr algn="just" eaLnBrk="1" hangingPunct="1"/>
            <a:r>
              <a:rPr lang="pt-BR" altLang="pt-BR" dirty="0" smtClean="0"/>
              <a:t>Década de 1980 e início de 1990: a melhor maneira para conseguir o melhor software era por meio de um planejamento cuidadoso do projeto, qualidade da segurança formalizada, uso de métodos de análise e projeto apoiado por ferramentas CASE (Computer-</a:t>
            </a:r>
            <a:r>
              <a:rPr lang="pt-BR" altLang="pt-BR" dirty="0" err="1" smtClean="0"/>
              <a:t>aided</a:t>
            </a:r>
            <a:r>
              <a:rPr lang="pt-BR" altLang="pt-BR" dirty="0" smtClean="0"/>
              <a:t> software </a:t>
            </a:r>
            <a:r>
              <a:rPr lang="pt-BR" altLang="pt-BR" dirty="0" err="1" smtClean="0"/>
              <a:t>engineering</a:t>
            </a:r>
            <a:r>
              <a:rPr lang="pt-BR" altLang="pt-BR" dirty="0" smtClean="0"/>
              <a:t>) e processo de desenvolvimento de software rigoroso e controlado. </a:t>
            </a:r>
          </a:p>
          <a:p>
            <a:pPr algn="just" eaLnBrk="1" hangingPunct="1"/>
            <a:endParaRPr lang="pt-BR" altLang="pt-BR" dirty="0" smtClean="0"/>
          </a:p>
          <a:p>
            <a:pPr algn="just" eaLnBrk="1" hangingPunct="1"/>
            <a:r>
              <a:rPr lang="pt-BR" altLang="pt-BR" dirty="0" smtClean="0"/>
              <a:t>Percepção veio da comunidade de engenharia de software, responsável pelo desenvolvimento de sistemas de software grandes e duradouros, como sistemas aeroespaciais e de governo (software desenvolvido por grandes equipes que trabalham para diferentes empresas. Equipes eram dispersas geograficamente e trabalhavam com o software por longos períodos). </a:t>
            </a:r>
          </a:p>
          <a:p>
            <a:pPr algn="just" eaLnBrk="1" hangingPunct="1"/>
            <a:r>
              <a:rPr lang="pt-BR" altLang="pt-BR" dirty="0" err="1" smtClean="0"/>
              <a:t>Ex</a:t>
            </a:r>
            <a:r>
              <a:rPr lang="pt-BR" altLang="pt-BR" dirty="0" smtClean="0"/>
              <a:t>: o sistema de controle de aeronave moderna, que pode demorar até dez anos desde a especificação inicial até a implantação. </a:t>
            </a:r>
          </a:p>
          <a:p>
            <a:pPr algn="just" eaLnBrk="1" hangingPunct="1"/>
            <a:endParaRPr lang="pt-BR" altLang="pt-BR" dirty="0" smtClean="0"/>
          </a:p>
        </p:txBody>
      </p:sp>
    </p:spTree>
    <p:extLst>
      <p:ext uri="{BB962C8B-B14F-4D97-AF65-F5344CB8AC3E}">
        <p14:creationId xmlns:p14="http://schemas.microsoft.com/office/powerpoint/2010/main" val="7979629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500C965-D614-4B62-A858-F284286BB8D2}" type="slidenum">
              <a:rPr lang="pt-PT" altLang="pt-BR" sz="1400"/>
              <a:pPr>
                <a:spcBef>
                  <a:spcPct val="0"/>
                </a:spcBef>
                <a:buFontTx/>
                <a:buNone/>
              </a:pPr>
              <a:t>10</a:t>
            </a:fld>
            <a:endParaRPr lang="pt-PT" altLang="pt-BR" sz="1400"/>
          </a:p>
        </p:txBody>
      </p:sp>
      <p:sp>
        <p:nvSpPr>
          <p:cNvPr id="11571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15716" name="Rectangle 3"/>
          <p:cNvSpPr>
            <a:spLocks noGrp="1" noChangeArrowheads="1"/>
          </p:cNvSpPr>
          <p:nvPr>
            <p:ph type="subTitle" idx="1"/>
          </p:nvPr>
        </p:nvSpPr>
        <p:spPr>
          <a:xfrm>
            <a:off x="422694" y="948906"/>
            <a:ext cx="11585275" cy="5883696"/>
          </a:xfrm>
        </p:spPr>
        <p:txBody>
          <a:bodyPr/>
          <a:lstStyle/>
          <a:p>
            <a:pPr algn="just" eaLnBrk="1" hangingPunct="1"/>
            <a:endParaRPr lang="pt-BR" altLang="pt-BR" dirty="0" smtClean="0"/>
          </a:p>
          <a:p>
            <a:pPr algn="just" eaLnBrk="1" hangingPunct="1"/>
            <a:r>
              <a:rPr lang="pt-BR" altLang="pt-BR" dirty="0" smtClean="0"/>
              <a:t> Abordagens dirigidas a planos: overhead (sobrecarga) significativo no planejamento, projeto e documentação do sistema. </a:t>
            </a:r>
          </a:p>
          <a:p>
            <a:pPr algn="just" eaLnBrk="1" hangingPunct="1"/>
            <a:r>
              <a:rPr lang="pt-BR" altLang="pt-BR" dirty="0" smtClean="0"/>
              <a:t>Overhead se justifica quando o trabalho de várias equipes de desenvolvimento é coordenado, quando é um sistema crítico e muitas pessoas diferentes estão envolvidas na manutenção do software durante sua vida  útil.</a:t>
            </a:r>
          </a:p>
          <a:p>
            <a:pPr algn="just"/>
            <a:r>
              <a:rPr lang="pt-BR" altLang="pt-BR" dirty="0"/>
              <a:t>Abordagem pesada de desenvolvimento dirigido a </a:t>
            </a:r>
            <a:r>
              <a:rPr lang="pt-BR" altLang="pt-BR" dirty="0" smtClean="0"/>
              <a:t>planos: </a:t>
            </a:r>
            <a:r>
              <a:rPr lang="pt-BR" altLang="pt-BR" dirty="0"/>
              <a:t>sistemas corporativos de pequeno e médio </a:t>
            </a:r>
            <a:r>
              <a:rPr lang="pt-BR" altLang="pt-BR" dirty="0" smtClean="0"/>
              <a:t>porte </a:t>
            </a:r>
          </a:p>
          <a:p>
            <a:pPr algn="just"/>
            <a:r>
              <a:rPr lang="pt-BR" altLang="pt-BR" dirty="0" smtClean="0"/>
              <a:t>Overhead </a:t>
            </a:r>
            <a:r>
              <a:rPr lang="pt-BR" altLang="pt-BR" dirty="0"/>
              <a:t>é tão grande que domina o processo de desenvolvimento de software. </a:t>
            </a:r>
          </a:p>
          <a:p>
            <a:pPr algn="just"/>
            <a:r>
              <a:rPr lang="pt-BR" altLang="pt-BR" dirty="0"/>
              <a:t>Gasta-se mais tempo em análises de como o sistema deve ser desenvolvido do que no desenvolvimento de programas e testes. </a:t>
            </a:r>
          </a:p>
          <a:p>
            <a:pPr algn="just"/>
            <a:r>
              <a:rPr lang="pt-BR" altLang="pt-BR" dirty="0"/>
              <a:t>R</a:t>
            </a:r>
            <a:r>
              <a:rPr lang="pt-BR" altLang="pt-BR" dirty="0" smtClean="0"/>
              <a:t>equisitos </a:t>
            </a:r>
            <a:r>
              <a:rPr lang="pt-BR" altLang="pt-BR" dirty="0"/>
              <a:t>do sistema se alteram, o retrabalho é </a:t>
            </a:r>
            <a:r>
              <a:rPr lang="pt-BR" altLang="pt-BR" dirty="0" smtClean="0"/>
              <a:t>essencial. A </a:t>
            </a:r>
            <a:r>
              <a:rPr lang="pt-BR" altLang="pt-BR" dirty="0"/>
              <a:t>especificação e o projeto devem mudar com o programa.</a:t>
            </a:r>
            <a:endParaRPr lang="pt-PT" altLang="pt-BR" dirty="0"/>
          </a:p>
          <a:p>
            <a:pPr algn="just" eaLnBrk="1" hangingPunct="1"/>
            <a:endParaRPr lang="pt-PT" altLang="pt-BR" dirty="0" smtClean="0"/>
          </a:p>
        </p:txBody>
      </p:sp>
    </p:spTree>
    <p:extLst>
      <p:ext uri="{BB962C8B-B14F-4D97-AF65-F5344CB8AC3E}">
        <p14:creationId xmlns:p14="http://schemas.microsoft.com/office/powerpoint/2010/main" val="1344664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B15D2A-9F87-4E7B-BBE1-4A1FE21B5B0C}" type="slidenum">
              <a:rPr lang="pt-PT" altLang="pt-BR" sz="1400"/>
              <a:pPr>
                <a:spcBef>
                  <a:spcPct val="0"/>
                </a:spcBef>
                <a:buFontTx/>
                <a:buNone/>
              </a:pPr>
              <a:t>11</a:t>
            </a:fld>
            <a:endParaRPr lang="pt-PT" altLang="pt-BR" sz="1400"/>
          </a:p>
        </p:txBody>
      </p:sp>
      <p:sp>
        <p:nvSpPr>
          <p:cNvPr id="11776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17764" name="Rectangle 3"/>
          <p:cNvSpPr>
            <a:spLocks noGrp="1" noChangeArrowheads="1"/>
          </p:cNvSpPr>
          <p:nvPr>
            <p:ph type="subTitle" idx="1"/>
          </p:nvPr>
        </p:nvSpPr>
        <p:spPr>
          <a:xfrm>
            <a:off x="155275" y="1026543"/>
            <a:ext cx="11809563" cy="5806058"/>
          </a:xfrm>
        </p:spPr>
        <p:txBody>
          <a:bodyPr/>
          <a:lstStyle/>
          <a:p>
            <a:pPr algn="just" eaLnBrk="1" hangingPunct="1"/>
            <a:r>
              <a:rPr lang="pt-BR" altLang="pt-BR" dirty="0" smtClean="0"/>
              <a:t>A insatisfação com essas abordagens pesadas da engenharia de software levou um grande número de desenvolvedores de software a proporem, na década de 1990, novos ‘métodos ágeis’. </a:t>
            </a:r>
          </a:p>
          <a:p>
            <a:pPr algn="just" eaLnBrk="1" hangingPunct="1"/>
            <a:r>
              <a:rPr lang="pt-BR" altLang="pt-BR" dirty="0" smtClean="0"/>
              <a:t>Equipe de desenvolvimento focou no software, e não em sua concepção e documentação. </a:t>
            </a:r>
          </a:p>
          <a:p>
            <a:pPr algn="just" eaLnBrk="1" hangingPunct="1"/>
            <a:r>
              <a:rPr lang="pt-BR" altLang="pt-BR" dirty="0" smtClean="0"/>
              <a:t>Métodos ágeis: abordagem incremental para a especificação, o desenvolvimento e a entrega do software. </a:t>
            </a:r>
          </a:p>
          <a:p>
            <a:pPr algn="just" eaLnBrk="1" hangingPunct="1"/>
            <a:r>
              <a:rPr lang="pt-BR" altLang="pt-BR" dirty="0" smtClean="0"/>
              <a:t>Adequados aos aplicativos com requisitos de sistema que mudam rapidamente durante o processo de desenvolvimento. </a:t>
            </a:r>
          </a:p>
          <a:p>
            <a:pPr algn="just" eaLnBrk="1" hangingPunct="1"/>
            <a:r>
              <a:rPr lang="pt-BR" altLang="pt-BR" dirty="0" smtClean="0"/>
              <a:t>Entrega do software é rápida. </a:t>
            </a:r>
          </a:p>
          <a:p>
            <a:pPr algn="just" eaLnBrk="1" hangingPunct="1"/>
            <a:r>
              <a:rPr lang="pt-BR" altLang="pt-BR" dirty="0" smtClean="0"/>
              <a:t>Clientes propõe alterações e inclusão de novos requisitos nas iterações posteriores do sistema. </a:t>
            </a:r>
          </a:p>
          <a:p>
            <a:pPr algn="just" eaLnBrk="1" hangingPunct="1"/>
            <a:r>
              <a:rPr lang="pt-BR" altLang="pt-BR" dirty="0" smtClean="0"/>
              <a:t>Reduz a burocracia do processo, evitando trabalho duvidoso de longo prazo e  documentação que provavelmente nunca será usada.</a:t>
            </a:r>
            <a:endParaRPr lang="pt-PT" altLang="pt-BR" dirty="0" smtClean="0"/>
          </a:p>
        </p:txBody>
      </p:sp>
    </p:spTree>
    <p:extLst>
      <p:ext uri="{BB962C8B-B14F-4D97-AF65-F5344CB8AC3E}">
        <p14:creationId xmlns:p14="http://schemas.microsoft.com/office/powerpoint/2010/main" val="34480669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C8E8485-5BFD-4D73-B8F5-4D821D6E8C6C}" type="slidenum">
              <a:rPr lang="pt-PT" altLang="pt-BR" sz="1400"/>
              <a:pPr>
                <a:spcBef>
                  <a:spcPct val="0"/>
                </a:spcBef>
                <a:buFontTx/>
                <a:buNone/>
              </a:pPr>
              <a:t>12</a:t>
            </a:fld>
            <a:endParaRPr lang="pt-PT" altLang="pt-BR" sz="1400"/>
          </a:p>
        </p:txBody>
      </p:sp>
      <p:sp>
        <p:nvSpPr>
          <p:cNvPr id="11878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18788" name="Rectangle 3"/>
          <p:cNvSpPr>
            <a:spLocks noGrp="1" noChangeArrowheads="1"/>
          </p:cNvSpPr>
          <p:nvPr>
            <p:ph type="subTitle" idx="1"/>
          </p:nvPr>
        </p:nvSpPr>
        <p:spPr>
          <a:xfrm>
            <a:off x="267419" y="1078302"/>
            <a:ext cx="11619781" cy="5754299"/>
          </a:xfrm>
        </p:spPr>
        <p:txBody>
          <a:bodyPr/>
          <a:lstStyle/>
          <a:p>
            <a:pPr algn="just" eaLnBrk="1" hangingPunct="1"/>
            <a:endParaRPr lang="pt-BR" altLang="pt-BR" dirty="0" smtClean="0"/>
          </a:p>
          <a:p>
            <a:pPr algn="just" eaLnBrk="1" hangingPunct="1"/>
            <a:r>
              <a:rPr lang="pt-BR" altLang="pt-BR" dirty="0" smtClean="0"/>
              <a:t>Manifesto Ágil</a:t>
            </a:r>
          </a:p>
          <a:p>
            <a:pPr algn="just" eaLnBrk="1" hangingPunct="1"/>
            <a:r>
              <a:rPr lang="pt-BR" altLang="pt-BR" dirty="0" smtClean="0"/>
              <a:t> “Estamos descobrindo melhores maneiras de desenvolver softwares, fazendo-o e ajudando outros a fazê-lo”, valorizando: </a:t>
            </a:r>
          </a:p>
          <a:p>
            <a:pPr algn="just" eaLnBrk="1" hangingPunct="1"/>
            <a:r>
              <a:rPr lang="pt-BR" altLang="pt-BR" dirty="0" smtClean="0"/>
              <a:t>Indivíduos e interações do que processos e ferramentas; </a:t>
            </a:r>
          </a:p>
          <a:p>
            <a:pPr algn="just" eaLnBrk="1" hangingPunct="1"/>
            <a:r>
              <a:rPr lang="pt-BR" altLang="pt-BR" dirty="0" smtClean="0"/>
              <a:t>Software em funcionamento do que documentação abrangente; </a:t>
            </a:r>
          </a:p>
          <a:p>
            <a:pPr algn="just" eaLnBrk="1" hangingPunct="1"/>
            <a:r>
              <a:rPr lang="pt-BR" altLang="pt-BR" dirty="0" smtClean="0"/>
              <a:t>Colaboração do cliente do que negociação de contrato;</a:t>
            </a:r>
          </a:p>
          <a:p>
            <a:pPr algn="just" eaLnBrk="1" hangingPunct="1"/>
            <a:r>
              <a:rPr lang="pt-BR" altLang="pt-BR" dirty="0" smtClean="0"/>
              <a:t> Respostas a mudanças do que seguir um plano.</a:t>
            </a:r>
          </a:p>
          <a:p>
            <a:pPr algn="just" eaLnBrk="1" hangingPunct="1"/>
            <a:r>
              <a:rPr lang="pt-BR" altLang="pt-BR" dirty="0" smtClean="0"/>
              <a:t> </a:t>
            </a:r>
            <a:endParaRPr lang="pt-PT" altLang="pt-BR" dirty="0" smtClean="0"/>
          </a:p>
        </p:txBody>
      </p:sp>
    </p:spTree>
    <p:extLst>
      <p:ext uri="{BB962C8B-B14F-4D97-AF65-F5344CB8AC3E}">
        <p14:creationId xmlns:p14="http://schemas.microsoft.com/office/powerpoint/2010/main" val="25462989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6EB1509-3305-4A3D-873C-6D6349813D21}" type="slidenum">
              <a:rPr lang="pt-PT" altLang="pt-BR" sz="1400"/>
              <a:pPr>
                <a:spcBef>
                  <a:spcPct val="0"/>
                </a:spcBef>
                <a:buFontTx/>
                <a:buNone/>
              </a:pPr>
              <a:t>13</a:t>
            </a:fld>
            <a:endParaRPr lang="pt-PT" altLang="pt-BR" sz="1400"/>
          </a:p>
        </p:txBody>
      </p:sp>
      <p:sp>
        <p:nvSpPr>
          <p:cNvPr id="11981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19812" name="Rectangle 3"/>
          <p:cNvSpPr>
            <a:spLocks noGrp="1" noChangeArrowheads="1"/>
          </p:cNvSpPr>
          <p:nvPr>
            <p:ph type="subTitle" idx="1"/>
          </p:nvPr>
        </p:nvSpPr>
        <p:spPr>
          <a:xfrm>
            <a:off x="69011" y="1143000"/>
            <a:ext cx="12378906" cy="5689601"/>
          </a:xfrm>
        </p:spPr>
        <p:txBody>
          <a:bodyPr/>
          <a:lstStyle/>
          <a:p>
            <a:pPr algn="just" eaLnBrk="1" hangingPunct="1"/>
            <a:r>
              <a:rPr lang="pt-BR" altLang="pt-BR" dirty="0" smtClean="0"/>
              <a:t>Métodos Ágeis</a:t>
            </a:r>
          </a:p>
          <a:p>
            <a:pPr algn="just" eaLnBrk="1" hangingPunct="1"/>
            <a:r>
              <a:rPr lang="pt-BR" altLang="pt-BR" dirty="0" smtClean="0"/>
              <a:t>Extreme </a:t>
            </a:r>
            <a:r>
              <a:rPr lang="pt-BR" altLang="pt-BR" dirty="0" err="1" smtClean="0"/>
              <a:t>Programming</a:t>
            </a:r>
            <a:r>
              <a:rPr lang="pt-BR" altLang="pt-BR" dirty="0" smtClean="0"/>
              <a:t> (BECK, 1999; BECK, 2000)</a:t>
            </a:r>
          </a:p>
          <a:p>
            <a:pPr algn="just" eaLnBrk="1" hangingPunct="1"/>
            <a:r>
              <a:rPr lang="pt-BR" altLang="pt-BR" dirty="0" err="1" smtClean="0"/>
              <a:t>Scrum</a:t>
            </a:r>
            <a:r>
              <a:rPr lang="pt-BR" altLang="pt-BR" dirty="0" smtClean="0"/>
              <a:t> (COHN, 2009; SCHWABER, 2004; SCHWABER e BEEDLE, 2001)</a:t>
            </a:r>
          </a:p>
          <a:p>
            <a:pPr algn="just" eaLnBrk="1" hangingPunct="1"/>
            <a:r>
              <a:rPr lang="pt-BR" altLang="pt-BR" dirty="0" smtClean="0"/>
              <a:t>Crystal (COCKBURN, 2001; COCKBURN, 2004)</a:t>
            </a:r>
          </a:p>
          <a:p>
            <a:pPr algn="just" eaLnBrk="1" hangingPunct="1"/>
            <a:r>
              <a:rPr lang="pt-BR" altLang="pt-BR" dirty="0" smtClean="0"/>
              <a:t>Desenvolvimento de Software Adaptativo (</a:t>
            </a:r>
            <a:r>
              <a:rPr lang="pt-BR" altLang="pt-BR" dirty="0" err="1" smtClean="0"/>
              <a:t>Adaptative</a:t>
            </a:r>
            <a:r>
              <a:rPr lang="pt-BR" altLang="pt-BR" dirty="0" smtClean="0"/>
              <a:t> Software </a:t>
            </a:r>
            <a:r>
              <a:rPr lang="pt-BR" altLang="pt-BR" dirty="0" err="1" smtClean="0"/>
              <a:t>Development</a:t>
            </a:r>
            <a:r>
              <a:rPr lang="pt-BR" altLang="pt-BR" dirty="0" smtClean="0"/>
              <a:t>), (HIGHSMITH, 2000), DSDM (STAPLETON, 1997; STAPLETON, 2003)</a:t>
            </a:r>
          </a:p>
          <a:p>
            <a:pPr algn="just" eaLnBrk="1" hangingPunct="1"/>
            <a:r>
              <a:rPr lang="pt-BR" altLang="pt-BR" dirty="0" smtClean="0"/>
              <a:t>Desenvolvimento Dirigido a Características (</a:t>
            </a:r>
            <a:r>
              <a:rPr lang="pt-BR" altLang="pt-BR" dirty="0" err="1" smtClean="0"/>
              <a:t>Feature</a:t>
            </a:r>
            <a:r>
              <a:rPr lang="pt-BR" altLang="pt-BR" dirty="0" smtClean="0"/>
              <a:t> </a:t>
            </a:r>
            <a:r>
              <a:rPr lang="pt-BR" altLang="pt-BR" dirty="0" err="1" smtClean="0"/>
              <a:t>Driven</a:t>
            </a:r>
            <a:r>
              <a:rPr lang="pt-BR" altLang="pt-BR" dirty="0" smtClean="0"/>
              <a:t> </a:t>
            </a:r>
            <a:r>
              <a:rPr lang="pt-BR" altLang="pt-BR" dirty="0" err="1" smtClean="0"/>
              <a:t>Development</a:t>
            </a:r>
            <a:r>
              <a:rPr lang="pt-BR" altLang="pt-BR" dirty="0" smtClean="0"/>
              <a:t>), (PALMER e FELSING, 2002). </a:t>
            </a:r>
          </a:p>
          <a:p>
            <a:pPr algn="just" eaLnBrk="1" hangingPunct="1"/>
            <a:r>
              <a:rPr lang="pt-BR" altLang="pt-BR" dirty="0" smtClean="0"/>
              <a:t>Sucesso dos métodos: integração com métodos tradicionais de desenvolvimento baseados na modelagem do sistema, resultando no conceito de modelagem ágil (AMBLER e JEFFRIES, 2002) e instâncias ágeis do </a:t>
            </a:r>
            <a:r>
              <a:rPr lang="pt-BR" altLang="pt-BR" dirty="0" err="1" smtClean="0"/>
              <a:t>Rational</a:t>
            </a:r>
            <a:r>
              <a:rPr lang="pt-BR" altLang="pt-BR" dirty="0" smtClean="0"/>
              <a:t> </a:t>
            </a:r>
            <a:r>
              <a:rPr lang="pt-BR" altLang="pt-BR" dirty="0" err="1" smtClean="0"/>
              <a:t>Unified</a:t>
            </a:r>
            <a:r>
              <a:rPr lang="pt-BR" altLang="pt-BR" dirty="0" smtClean="0"/>
              <a:t> </a:t>
            </a:r>
            <a:r>
              <a:rPr lang="pt-BR" altLang="pt-BR" dirty="0" err="1" smtClean="0"/>
              <a:t>Process</a:t>
            </a:r>
            <a:r>
              <a:rPr lang="pt-BR" altLang="pt-BR" dirty="0" smtClean="0"/>
              <a:t> (LARMAN, 2002).</a:t>
            </a:r>
            <a:endParaRPr lang="pt-PT" altLang="pt-BR" dirty="0" smtClean="0"/>
          </a:p>
        </p:txBody>
      </p:sp>
    </p:spTree>
    <p:extLst>
      <p:ext uri="{BB962C8B-B14F-4D97-AF65-F5344CB8AC3E}">
        <p14:creationId xmlns:p14="http://schemas.microsoft.com/office/powerpoint/2010/main" val="28101151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D7B4A5F-9C43-46DB-81CA-8D698D46E000}" type="slidenum">
              <a:rPr lang="pt-PT" altLang="pt-BR" sz="1400"/>
              <a:pPr>
                <a:spcBef>
                  <a:spcPct val="0"/>
                </a:spcBef>
                <a:buFontTx/>
                <a:buNone/>
              </a:pPr>
              <a:t>14</a:t>
            </a:fld>
            <a:endParaRPr lang="pt-PT" altLang="pt-BR" sz="1400"/>
          </a:p>
        </p:txBody>
      </p:sp>
      <p:sp>
        <p:nvSpPr>
          <p:cNvPr id="12083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20836" name="Rectangle 3"/>
          <p:cNvSpPr>
            <a:spLocks noGrp="1" noChangeArrowheads="1"/>
          </p:cNvSpPr>
          <p:nvPr>
            <p:ph type="subTitle" idx="1"/>
          </p:nvPr>
        </p:nvSpPr>
        <p:spPr>
          <a:xfrm>
            <a:off x="224287" y="1078302"/>
            <a:ext cx="11723298" cy="5754299"/>
          </a:xfrm>
        </p:spPr>
        <p:txBody>
          <a:bodyPr/>
          <a:lstStyle/>
          <a:p>
            <a:pPr algn="just" eaLnBrk="1" hangingPunct="1"/>
            <a:r>
              <a:rPr lang="pt-BR" altLang="pt-BR" dirty="0" smtClean="0"/>
              <a:t>Princípios dos métodos ágeis:</a:t>
            </a:r>
          </a:p>
          <a:p>
            <a:pPr algn="just" eaLnBrk="1" hangingPunct="1"/>
            <a:r>
              <a:rPr lang="pt-BR" altLang="pt-BR" dirty="0" smtClean="0"/>
              <a:t>1)Envolvimento do cliente: Os clientes devem estar intimamente envolvidos no processo de desenvolvimento fornecendo e priorizando novos requisitos do sistema e avaliando suas iterações. </a:t>
            </a:r>
          </a:p>
          <a:p>
            <a:pPr algn="just" eaLnBrk="1" hangingPunct="1"/>
            <a:r>
              <a:rPr lang="pt-BR" altLang="pt-BR" dirty="0" smtClean="0"/>
              <a:t>2) Entrega incremental: O software é desenvolvido em incrementos com o cliente, especificando os requisitos para serem incluídos em cada um. </a:t>
            </a:r>
          </a:p>
          <a:p>
            <a:pPr algn="just" eaLnBrk="1" hangingPunct="1"/>
            <a:r>
              <a:rPr lang="pt-BR" altLang="pt-BR" dirty="0" smtClean="0"/>
              <a:t>3) Pessoas, não processos: As habilidades da equipe de desenvolvimento devem ser reconhecidas e exploradas. Membros da equipe devem desenvolver suas próprias maneiras de trabalhar, sem processos prescritivos. </a:t>
            </a:r>
          </a:p>
          <a:p>
            <a:pPr algn="just"/>
            <a:r>
              <a:rPr lang="pt-BR" altLang="pt-BR" dirty="0"/>
              <a:t>4)Aceitar as mudanças: os requisitos do sistema vão mudar. </a:t>
            </a:r>
            <a:r>
              <a:rPr lang="pt-BR" altLang="pt-BR" dirty="0" smtClean="0"/>
              <a:t>O </a:t>
            </a:r>
            <a:r>
              <a:rPr lang="pt-BR" altLang="pt-BR" dirty="0"/>
              <a:t>sistema </a:t>
            </a:r>
            <a:r>
              <a:rPr lang="pt-BR" altLang="pt-BR" dirty="0" smtClean="0"/>
              <a:t>deve ser projetado para </a:t>
            </a:r>
            <a:r>
              <a:rPr lang="pt-BR" altLang="pt-BR" dirty="0"/>
              <a:t>acomodar </a:t>
            </a:r>
            <a:r>
              <a:rPr lang="pt-BR" altLang="pt-BR" dirty="0" smtClean="0"/>
              <a:t>as </a:t>
            </a:r>
            <a:r>
              <a:rPr lang="pt-BR" altLang="pt-BR" dirty="0"/>
              <a:t>mudanças. </a:t>
            </a:r>
            <a:r>
              <a:rPr lang="pt-BR" altLang="pt-BR" dirty="0" smtClean="0"/>
              <a:t>Deve-se focar na </a:t>
            </a:r>
            <a:r>
              <a:rPr lang="pt-BR" altLang="pt-BR" dirty="0"/>
              <a:t>simplicidade </a:t>
            </a:r>
            <a:r>
              <a:rPr lang="pt-BR" altLang="pt-BR" dirty="0" smtClean="0"/>
              <a:t>do software a ser desenvolvido e no </a:t>
            </a:r>
            <a:r>
              <a:rPr lang="pt-BR" altLang="pt-BR" dirty="0"/>
              <a:t>processo de desenvolvimento. Sempre que possível, trabalhe ativamente para eliminar a complexidade do sistema</a:t>
            </a:r>
            <a:endParaRPr lang="pt-PT" altLang="pt-BR" dirty="0"/>
          </a:p>
          <a:p>
            <a:pPr algn="just" eaLnBrk="1" hangingPunct="1"/>
            <a:endParaRPr lang="pt-BR" altLang="pt-BR" dirty="0" smtClean="0"/>
          </a:p>
        </p:txBody>
      </p:sp>
    </p:spTree>
    <p:extLst>
      <p:ext uri="{BB962C8B-B14F-4D97-AF65-F5344CB8AC3E}">
        <p14:creationId xmlns:p14="http://schemas.microsoft.com/office/powerpoint/2010/main" val="31502924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5EF91B9-9AF7-4977-B492-DA02109DE25B}" type="slidenum">
              <a:rPr lang="pt-PT" altLang="pt-BR" sz="1400"/>
              <a:pPr>
                <a:spcBef>
                  <a:spcPct val="0"/>
                </a:spcBef>
                <a:buFontTx/>
                <a:buNone/>
              </a:pPr>
              <a:t>15</a:t>
            </a:fld>
            <a:endParaRPr lang="pt-PT" altLang="pt-BR" sz="1400"/>
          </a:p>
        </p:txBody>
      </p:sp>
      <p:sp>
        <p:nvSpPr>
          <p:cNvPr id="122883" name="Rectangle 2"/>
          <p:cNvSpPr>
            <a:spLocks noGrp="1" noChangeArrowheads="1"/>
          </p:cNvSpPr>
          <p:nvPr>
            <p:ph type="ctrTitle"/>
          </p:nvPr>
        </p:nvSpPr>
        <p:spPr>
          <a:xfrm>
            <a:off x="1343026" y="0"/>
            <a:ext cx="9217025" cy="1143000"/>
          </a:xfrm>
        </p:spPr>
        <p:txBody>
          <a:bodyPr anchor="ctr"/>
          <a:lstStyle/>
          <a:p>
            <a:pPr eaLnBrk="1" hangingPunct="1"/>
            <a:r>
              <a:rPr lang="pt-BR" altLang="pt-BR" sz="3600" dirty="0"/>
              <a:t>3 Desenvolvimento de Software </a:t>
            </a:r>
            <a:r>
              <a:rPr lang="pt-BR" altLang="pt-BR" sz="3600" dirty="0" smtClean="0"/>
              <a:t>Ágil </a:t>
            </a:r>
            <a:r>
              <a:rPr lang="pt-BR" altLang="pt-BR" sz="3600" dirty="0"/>
              <a:t>- Métodos </a:t>
            </a:r>
            <a:r>
              <a:rPr lang="pt-BR" altLang="pt-BR" sz="3600" dirty="0" smtClean="0"/>
              <a:t>Ágeis</a:t>
            </a:r>
            <a:endParaRPr lang="pt-PT" altLang="pt-BR" sz="3600" dirty="0"/>
          </a:p>
        </p:txBody>
      </p:sp>
      <p:sp>
        <p:nvSpPr>
          <p:cNvPr id="71684" name="Rectangle 3"/>
          <p:cNvSpPr>
            <a:spLocks noGrp="1" noChangeArrowheads="1"/>
          </p:cNvSpPr>
          <p:nvPr>
            <p:ph type="subTitle" idx="1"/>
          </p:nvPr>
        </p:nvSpPr>
        <p:spPr>
          <a:xfrm>
            <a:off x="155275" y="1143000"/>
            <a:ext cx="11835442" cy="5689601"/>
          </a:xfrm>
        </p:spPr>
        <p:txBody>
          <a:bodyPr>
            <a:normAutofit/>
          </a:bodyPr>
          <a:lstStyle/>
          <a:p>
            <a:pPr algn="just" eaLnBrk="1" hangingPunct="1">
              <a:defRPr/>
            </a:pPr>
            <a:r>
              <a:rPr lang="pt-BR" dirty="0" smtClean="0"/>
              <a:t>Sucesso dos Métodos </a:t>
            </a:r>
            <a:r>
              <a:rPr lang="pt-BR" dirty="0"/>
              <a:t>ágeis </a:t>
            </a:r>
            <a:r>
              <a:rPr lang="pt-BR" dirty="0" smtClean="0"/>
              <a:t>para </a:t>
            </a:r>
            <a:r>
              <a:rPr lang="pt-BR" dirty="0"/>
              <a:t>alguns tipos de desenvolvimento de sistemas: </a:t>
            </a:r>
            <a:endParaRPr lang="pt-BR" dirty="0" smtClean="0"/>
          </a:p>
          <a:p>
            <a:pPr marL="457200" indent="-457200" algn="just">
              <a:buFontTx/>
              <a:buAutoNum type="arabicPeriod"/>
              <a:defRPr/>
            </a:pPr>
            <a:r>
              <a:rPr lang="pt-BR" dirty="0" smtClean="0"/>
              <a:t>produtos </a:t>
            </a:r>
            <a:r>
              <a:rPr lang="pt-BR" dirty="0"/>
              <a:t>de software </a:t>
            </a:r>
            <a:r>
              <a:rPr lang="pt-BR" dirty="0" smtClean="0"/>
              <a:t>pequeno </a:t>
            </a:r>
            <a:r>
              <a:rPr lang="pt-BR" dirty="0"/>
              <a:t>ou médio para venda. </a:t>
            </a:r>
            <a:endParaRPr lang="pt-BR" dirty="0" smtClean="0"/>
          </a:p>
          <a:p>
            <a:pPr marL="457200" indent="-457200" algn="just">
              <a:buFontTx/>
              <a:buAutoNum type="arabicPeriod"/>
              <a:defRPr/>
            </a:pPr>
            <a:r>
              <a:rPr lang="pt-BR" dirty="0" smtClean="0"/>
              <a:t>sistema </a:t>
            </a:r>
            <a:r>
              <a:rPr lang="pt-BR" dirty="0"/>
              <a:t>personalizado </a:t>
            </a:r>
            <a:r>
              <a:rPr lang="pt-BR" dirty="0" smtClean="0"/>
              <a:t>da organização</a:t>
            </a:r>
            <a:r>
              <a:rPr lang="pt-BR" dirty="0"/>
              <a:t>, </a:t>
            </a:r>
            <a:r>
              <a:rPr lang="pt-BR" dirty="0" smtClean="0"/>
              <a:t>com </a:t>
            </a:r>
            <a:r>
              <a:rPr lang="pt-BR" dirty="0"/>
              <a:t>compromisso </a:t>
            </a:r>
            <a:r>
              <a:rPr lang="pt-BR" dirty="0" smtClean="0"/>
              <a:t>do </a:t>
            </a:r>
            <a:r>
              <a:rPr lang="pt-BR" dirty="0"/>
              <a:t>cliente de se envolver no processo de </a:t>
            </a:r>
            <a:r>
              <a:rPr lang="pt-BR" dirty="0" smtClean="0"/>
              <a:t>desenvolvimento, não havendo </a:t>
            </a:r>
            <a:r>
              <a:rPr lang="pt-BR" dirty="0"/>
              <a:t>muitas regras e regulamentos externos que afetam o </a:t>
            </a:r>
            <a:r>
              <a:rPr lang="pt-BR" dirty="0" smtClean="0"/>
              <a:t>software</a:t>
            </a:r>
          </a:p>
          <a:p>
            <a:pPr algn="just">
              <a:defRPr/>
            </a:pPr>
            <a:endParaRPr lang="pt-BR" altLang="pt-BR" dirty="0"/>
          </a:p>
          <a:p>
            <a:pPr algn="just"/>
            <a:r>
              <a:rPr lang="pt-BR" altLang="pt-BR" dirty="0"/>
              <a:t>Foco em pequenas equipes bem integradas: existem problemas em </a:t>
            </a:r>
            <a:r>
              <a:rPr lang="pt-BR" altLang="pt-BR" dirty="0" smtClean="0"/>
              <a:t>escalá-las </a:t>
            </a:r>
            <a:r>
              <a:rPr lang="pt-BR" altLang="pt-BR" dirty="0"/>
              <a:t>para grandes sistemas. </a:t>
            </a:r>
          </a:p>
          <a:p>
            <a:pPr algn="just"/>
            <a:r>
              <a:rPr lang="pt-BR" altLang="pt-BR" dirty="0" smtClean="0"/>
              <a:t>Sistemas </a:t>
            </a:r>
            <a:r>
              <a:rPr lang="pt-BR" altLang="pt-BR" dirty="0"/>
              <a:t>críticos: necessidade de proteção, segurança e análise de confiança. Exigem-se modificações significativas nos métodos ágeis para que possam ser </a:t>
            </a:r>
            <a:r>
              <a:rPr lang="pt-BR" altLang="pt-BR" dirty="0" smtClean="0"/>
              <a:t>aplicados</a:t>
            </a:r>
          </a:p>
          <a:p>
            <a:pPr algn="just"/>
            <a:r>
              <a:rPr lang="pt-BR" altLang="pt-BR" dirty="0"/>
              <a:t>Existem experiências de uso de abordagens ágeis para engenharia de sistemas críticos (DROBNA et al., 2004). </a:t>
            </a:r>
          </a:p>
          <a:p>
            <a:pPr algn="just"/>
            <a:endParaRPr lang="pt-PT" altLang="pt-BR" dirty="0"/>
          </a:p>
          <a:p>
            <a:pPr algn="just">
              <a:defRPr/>
            </a:pPr>
            <a:endParaRPr lang="pt-PT" altLang="pt-BR" dirty="0" smtClean="0"/>
          </a:p>
        </p:txBody>
      </p:sp>
    </p:spTree>
    <p:extLst>
      <p:ext uri="{BB962C8B-B14F-4D97-AF65-F5344CB8AC3E}">
        <p14:creationId xmlns:p14="http://schemas.microsoft.com/office/powerpoint/2010/main" val="7059518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C31F388-B453-41C1-881F-49E8D1A0EAEA}" type="slidenum">
              <a:rPr lang="pt-PT" altLang="pt-BR" sz="1400"/>
              <a:pPr>
                <a:spcBef>
                  <a:spcPct val="0"/>
                </a:spcBef>
                <a:buFontTx/>
                <a:buNone/>
              </a:pPr>
              <a:t>16</a:t>
            </a:fld>
            <a:endParaRPr lang="pt-PT" altLang="pt-BR" sz="1400"/>
          </a:p>
        </p:txBody>
      </p:sp>
      <p:sp>
        <p:nvSpPr>
          <p:cNvPr id="12493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24932" name="Rectangle 3"/>
          <p:cNvSpPr>
            <a:spLocks noGrp="1" noChangeArrowheads="1"/>
          </p:cNvSpPr>
          <p:nvPr>
            <p:ph type="subTitle" idx="1"/>
          </p:nvPr>
        </p:nvSpPr>
        <p:spPr>
          <a:xfrm>
            <a:off x="215660" y="1293962"/>
            <a:ext cx="11680165" cy="5538639"/>
          </a:xfrm>
        </p:spPr>
        <p:txBody>
          <a:bodyPr>
            <a:normAutofit/>
          </a:bodyPr>
          <a:lstStyle/>
          <a:p>
            <a:pPr algn="just" eaLnBrk="1" hangingPunct="1"/>
            <a:r>
              <a:rPr lang="pt-BR" altLang="pt-BR" dirty="0" smtClean="0"/>
              <a:t>Princípios básicos dos métodos ágeis são difíceis de se concretizar:</a:t>
            </a:r>
          </a:p>
          <a:p>
            <a:pPr algn="just" eaLnBrk="1" hangingPunct="1"/>
            <a:r>
              <a:rPr lang="pt-BR" altLang="pt-BR" dirty="0" smtClean="0"/>
              <a:t> 1. Sucesso depende do cliente disposto e capaz de estar com a equipe de desenvolvimento, representando os </a:t>
            </a:r>
            <a:r>
              <a:rPr lang="pt-BR" altLang="pt-BR" dirty="0" err="1" smtClean="0"/>
              <a:t>stakeholders</a:t>
            </a:r>
            <a:r>
              <a:rPr lang="pt-BR" altLang="pt-BR" dirty="0" smtClean="0"/>
              <a:t> do sistema. (clientes não podem participar plenamente do desenvolvimento de software).</a:t>
            </a:r>
          </a:p>
          <a:p>
            <a:pPr algn="just" eaLnBrk="1" hangingPunct="1"/>
            <a:r>
              <a:rPr lang="pt-BR" altLang="pt-BR" dirty="0" smtClean="0"/>
              <a:t> 2. Membros individuais da equipe podem não ter personalidade adequada para o intenso envolvimento, típico dos métodos ágeis, e não interagem bem com outros membros da equipe.</a:t>
            </a:r>
          </a:p>
          <a:p>
            <a:pPr algn="just" eaLnBrk="1" hangingPunct="1"/>
            <a:r>
              <a:rPr lang="pt-BR" altLang="pt-BR" dirty="0" smtClean="0"/>
              <a:t> 3. Priorizar as mudanças pode ser extremamente difícil, especialmente em sistemas com muitos </a:t>
            </a:r>
            <a:r>
              <a:rPr lang="pt-BR" altLang="pt-BR" dirty="0" err="1" smtClean="0"/>
              <a:t>stakeholders</a:t>
            </a:r>
            <a:r>
              <a:rPr lang="pt-BR" altLang="pt-BR" dirty="0" smtClean="0"/>
              <a:t>. Cada </a:t>
            </a:r>
            <a:r>
              <a:rPr lang="pt-BR" altLang="pt-BR" dirty="0" err="1" smtClean="0"/>
              <a:t>stakeholder</a:t>
            </a:r>
            <a:r>
              <a:rPr lang="pt-BR" altLang="pt-BR" dirty="0" smtClean="0"/>
              <a:t> dá prioridades diferentes para mudanças diferentes. </a:t>
            </a:r>
          </a:p>
          <a:p>
            <a:pPr algn="just"/>
            <a:r>
              <a:rPr lang="pt-BR" altLang="pt-BR" dirty="0"/>
              <a:t>4. Manter a simplicidade exige um trabalho extra. Sob a pressão de cronogramas de entrega, os membros da equipe podem não ter tempo para fazer as simplificações desejáveis. </a:t>
            </a:r>
          </a:p>
          <a:p>
            <a:pPr algn="just"/>
            <a:r>
              <a:rPr lang="pt-BR" altLang="pt-BR" dirty="0"/>
              <a:t>5. Muitas organizações, principalmente as grandes empresas, passaram anos mudando sua cultura para </a:t>
            </a:r>
            <a:r>
              <a:rPr lang="pt-BR" altLang="pt-BR" dirty="0" smtClean="0"/>
              <a:t>definir e seguir processos. </a:t>
            </a:r>
            <a:r>
              <a:rPr lang="pt-BR" altLang="pt-BR" dirty="0"/>
              <a:t>É difícil mudar </a:t>
            </a:r>
            <a:r>
              <a:rPr lang="pt-BR" altLang="pt-BR" dirty="0" smtClean="0"/>
              <a:t>para </a:t>
            </a:r>
            <a:r>
              <a:rPr lang="pt-BR" altLang="pt-BR" dirty="0"/>
              <a:t>um modelo de trabalho em que os processos são informais e definidos pelas equipes de desenvolvimento. </a:t>
            </a:r>
          </a:p>
          <a:p>
            <a:pPr algn="just" eaLnBrk="1" hangingPunct="1"/>
            <a:endParaRPr lang="pt-PT" altLang="pt-BR" dirty="0" smtClean="0"/>
          </a:p>
        </p:txBody>
      </p:sp>
    </p:spTree>
    <p:extLst>
      <p:ext uri="{BB962C8B-B14F-4D97-AF65-F5344CB8AC3E}">
        <p14:creationId xmlns:p14="http://schemas.microsoft.com/office/powerpoint/2010/main" val="16038996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820008D-8C47-4A45-B449-B1F332B48748}" type="slidenum">
              <a:rPr lang="pt-PT" altLang="pt-BR" sz="1400"/>
              <a:pPr>
                <a:spcBef>
                  <a:spcPct val="0"/>
                </a:spcBef>
                <a:buFontTx/>
                <a:buNone/>
              </a:pPr>
              <a:t>17</a:t>
            </a:fld>
            <a:endParaRPr lang="pt-PT" altLang="pt-BR" sz="1400"/>
          </a:p>
        </p:txBody>
      </p:sp>
      <p:sp>
        <p:nvSpPr>
          <p:cNvPr id="12697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26980" name="Rectangle 3"/>
          <p:cNvSpPr>
            <a:spLocks noGrp="1" noChangeArrowheads="1"/>
          </p:cNvSpPr>
          <p:nvPr>
            <p:ph type="subTitle" idx="1"/>
          </p:nvPr>
        </p:nvSpPr>
        <p:spPr>
          <a:xfrm>
            <a:off x="155275" y="966158"/>
            <a:ext cx="11671540" cy="5866443"/>
          </a:xfrm>
        </p:spPr>
        <p:txBody>
          <a:bodyPr/>
          <a:lstStyle/>
          <a:p>
            <a:pPr algn="just" eaLnBrk="1" hangingPunct="1"/>
            <a:r>
              <a:rPr lang="pt-BR" altLang="pt-BR" dirty="0" smtClean="0"/>
              <a:t>Problema não técnico do desenvolvimento e entrega incremental:</a:t>
            </a:r>
          </a:p>
          <a:p>
            <a:pPr algn="just" eaLnBrk="1" hangingPunct="1"/>
            <a:r>
              <a:rPr lang="pt-BR" altLang="pt-BR" dirty="0" smtClean="0"/>
              <a:t>Cliente usa uma organização externa para desenvolver o sistema. O documento de requisitos do software é normalmente parte do contrato entre o cliente e o fornecedor. </a:t>
            </a:r>
          </a:p>
          <a:p>
            <a:pPr algn="just" eaLnBrk="1" hangingPunct="1"/>
            <a:r>
              <a:rPr lang="pt-BR" altLang="pt-BR" dirty="0" smtClean="0"/>
              <a:t>Nos contratos, o cliente paga pelo tempo necessário para o desenvolvimento do sistema, e não pelo desenvolvimento de um determinado conjunto de requisitos. </a:t>
            </a:r>
          </a:p>
          <a:p>
            <a:pPr algn="just" eaLnBrk="1" hangingPunct="1"/>
            <a:r>
              <a:rPr lang="pt-BR" altLang="pt-BR" dirty="0" smtClean="0"/>
              <a:t>Problemas: difícil definir quem é culpado e quem deve pagar pelo tempo extra, bem como os recursos necessários para a solução dos problemas</a:t>
            </a:r>
          </a:p>
        </p:txBody>
      </p:sp>
    </p:spTree>
    <p:extLst>
      <p:ext uri="{BB962C8B-B14F-4D97-AF65-F5344CB8AC3E}">
        <p14:creationId xmlns:p14="http://schemas.microsoft.com/office/powerpoint/2010/main" val="28479310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8DF12DF-3D8A-4BB7-9CAD-E99F3B79E340}" type="slidenum">
              <a:rPr lang="pt-PT" altLang="pt-BR" sz="1400"/>
              <a:pPr>
                <a:spcBef>
                  <a:spcPct val="0"/>
                </a:spcBef>
                <a:buFontTx/>
                <a:buNone/>
              </a:pPr>
              <a:t>18</a:t>
            </a:fld>
            <a:endParaRPr lang="pt-PT" altLang="pt-BR" sz="1400"/>
          </a:p>
        </p:txBody>
      </p:sp>
      <p:sp>
        <p:nvSpPr>
          <p:cNvPr id="12800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71684" name="Rectangle 3"/>
          <p:cNvSpPr>
            <a:spLocks noGrp="1" noChangeArrowheads="1"/>
          </p:cNvSpPr>
          <p:nvPr>
            <p:ph type="subTitle" idx="1"/>
          </p:nvPr>
        </p:nvSpPr>
        <p:spPr>
          <a:xfrm>
            <a:off x="198409" y="1069675"/>
            <a:ext cx="11671538" cy="5762926"/>
          </a:xfrm>
        </p:spPr>
        <p:txBody>
          <a:bodyPr/>
          <a:lstStyle/>
          <a:p>
            <a:pPr algn="just" eaLnBrk="1" hangingPunct="1">
              <a:defRPr/>
            </a:pPr>
            <a:endParaRPr lang="pt-BR" dirty="0"/>
          </a:p>
          <a:p>
            <a:pPr algn="just">
              <a:defRPr/>
            </a:pPr>
            <a:r>
              <a:rPr lang="pt-BR" dirty="0"/>
              <a:t>(POOLE e HUISMAN, 2001</a:t>
            </a:r>
            <a:r>
              <a:rPr lang="pt-BR" dirty="0" smtClean="0"/>
              <a:t>): Existe pequeno número de relatos de </a:t>
            </a:r>
            <a:r>
              <a:rPr lang="pt-BR" dirty="0"/>
              <a:t>experiências com o uso de métodos ágeis na manutenção de software </a:t>
            </a:r>
            <a:r>
              <a:rPr lang="pt-BR" dirty="0" smtClean="0"/>
              <a:t>Métodos </a:t>
            </a:r>
            <a:r>
              <a:rPr lang="pt-BR" dirty="0"/>
              <a:t>ágeis e </a:t>
            </a:r>
            <a:r>
              <a:rPr lang="pt-BR" dirty="0" smtClean="0"/>
              <a:t>ma</a:t>
            </a:r>
            <a:r>
              <a:rPr lang="pt-BR" dirty="0"/>
              <a:t>n</a:t>
            </a:r>
            <a:r>
              <a:rPr lang="pt-BR" dirty="0" smtClean="0"/>
              <a:t>utenção</a:t>
            </a:r>
            <a:r>
              <a:rPr lang="pt-BR" dirty="0"/>
              <a:t>: </a:t>
            </a:r>
            <a:endParaRPr lang="pt-BR" dirty="0" smtClean="0"/>
          </a:p>
          <a:p>
            <a:pPr marL="457200" indent="-457200" algn="just">
              <a:buFontTx/>
              <a:buAutoNum type="arabicPeriod"/>
              <a:defRPr/>
            </a:pPr>
            <a:r>
              <a:rPr lang="pt-BR" dirty="0" smtClean="0"/>
              <a:t>É </a:t>
            </a:r>
            <a:r>
              <a:rPr lang="pt-BR" dirty="0"/>
              <a:t>possível fazer manutenção dos sistemas </a:t>
            </a:r>
            <a:r>
              <a:rPr lang="pt-BR" dirty="0" smtClean="0"/>
              <a:t>com </a:t>
            </a:r>
            <a:r>
              <a:rPr lang="pt-BR" dirty="0"/>
              <a:t>abordagem ágil, dada a ênfase do processo de desenvolvimento em minimização da documentação formal? </a:t>
            </a:r>
            <a:endParaRPr lang="pt-BR" dirty="0" smtClean="0"/>
          </a:p>
          <a:p>
            <a:pPr marL="457200" indent="-457200" algn="just">
              <a:buFontTx/>
              <a:buAutoNum type="arabicPeriod"/>
              <a:defRPr/>
            </a:pPr>
            <a:r>
              <a:rPr lang="pt-BR" dirty="0" smtClean="0"/>
              <a:t>Os </a:t>
            </a:r>
            <a:r>
              <a:rPr lang="pt-BR" dirty="0"/>
              <a:t>métodos ágeis </a:t>
            </a:r>
            <a:r>
              <a:rPr lang="pt-BR" dirty="0" smtClean="0"/>
              <a:t>podem </a:t>
            </a:r>
            <a:r>
              <a:rPr lang="pt-BR" dirty="0"/>
              <a:t>ser usados para a evolução de um sistema em resposta às solicitações de mudança do </a:t>
            </a:r>
            <a:r>
              <a:rPr lang="pt-BR" dirty="0" smtClean="0"/>
              <a:t>cliente?</a:t>
            </a:r>
          </a:p>
        </p:txBody>
      </p:sp>
    </p:spTree>
    <p:extLst>
      <p:ext uri="{BB962C8B-B14F-4D97-AF65-F5344CB8AC3E}">
        <p14:creationId xmlns:p14="http://schemas.microsoft.com/office/powerpoint/2010/main" val="37287648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A0DB1CB-A214-4814-90B5-0FF7D2F5AE21}" type="slidenum">
              <a:rPr lang="pt-PT" altLang="pt-BR" sz="1400"/>
              <a:pPr>
                <a:spcBef>
                  <a:spcPct val="0"/>
                </a:spcBef>
                <a:buFontTx/>
                <a:buNone/>
              </a:pPr>
              <a:t>19</a:t>
            </a:fld>
            <a:endParaRPr lang="pt-PT" altLang="pt-BR" sz="1400"/>
          </a:p>
        </p:txBody>
      </p:sp>
      <p:sp>
        <p:nvSpPr>
          <p:cNvPr id="129027"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29028" name="Rectangle 3"/>
          <p:cNvSpPr>
            <a:spLocks noGrp="1" noChangeArrowheads="1"/>
          </p:cNvSpPr>
          <p:nvPr>
            <p:ph type="subTitle" idx="1"/>
          </p:nvPr>
        </p:nvSpPr>
        <p:spPr>
          <a:xfrm>
            <a:off x="232913" y="1143000"/>
            <a:ext cx="11688793" cy="5689601"/>
          </a:xfrm>
        </p:spPr>
        <p:txBody>
          <a:bodyPr/>
          <a:lstStyle/>
          <a:p>
            <a:pPr algn="just" eaLnBrk="1" hangingPunct="1"/>
            <a:endParaRPr lang="pt-BR" altLang="pt-BR" dirty="0" smtClean="0"/>
          </a:p>
          <a:p>
            <a:pPr algn="just" eaLnBrk="1" hangingPunct="1"/>
            <a:r>
              <a:rPr lang="pt-BR" altLang="pt-BR" dirty="0" smtClean="0"/>
              <a:t>Documentação formal: descreve o sistema para tornar sua compreensão mais fácil para as pessoas que fazem as mudanças. </a:t>
            </a:r>
          </a:p>
          <a:p>
            <a:pPr algn="just" eaLnBrk="1" hangingPunct="1"/>
            <a:r>
              <a:rPr lang="pt-BR" altLang="pt-BR" dirty="0" smtClean="0"/>
              <a:t>Na prática, a documentação formal nem sempre é atualizada, não refletindo exatamente o código do programa.</a:t>
            </a:r>
          </a:p>
          <a:p>
            <a:pPr algn="just" eaLnBrk="1" hangingPunct="1"/>
            <a:endParaRPr lang="pt-BR" altLang="pt-BR" dirty="0" smtClean="0"/>
          </a:p>
          <a:p>
            <a:pPr algn="just" eaLnBrk="1" hangingPunct="1"/>
            <a:r>
              <a:rPr lang="pt-BR" altLang="pt-BR" dirty="0" smtClean="0"/>
              <a:t>Entusiastas de métodos ágeis: desperdício de tempo criar a documentação; a chave para a implementação de software manutenível é a produção de códigos de alta qualidade e legíveis. </a:t>
            </a:r>
          </a:p>
          <a:p>
            <a:pPr algn="just" eaLnBrk="1" hangingPunct="1"/>
            <a:r>
              <a:rPr lang="pt-BR" altLang="pt-BR" dirty="0" smtClean="0"/>
              <a:t>Práticas ágeis enfatizam a importância de se escrever códigos bem-estruturados e investir na melhoria do código.</a:t>
            </a:r>
          </a:p>
          <a:p>
            <a:pPr algn="just" eaLnBrk="1" hangingPunct="1"/>
            <a:r>
              <a:rPr lang="pt-BR" altLang="pt-BR" dirty="0" smtClean="0"/>
              <a:t>A falta de documentação não deve ser um problema na manutenção dos sistemas desenvolvidos por meio de uma abordagem ágil.</a:t>
            </a:r>
          </a:p>
        </p:txBody>
      </p:sp>
    </p:spTree>
    <p:extLst>
      <p:ext uri="{BB962C8B-B14F-4D97-AF65-F5344CB8AC3E}">
        <p14:creationId xmlns:p14="http://schemas.microsoft.com/office/powerpoint/2010/main" val="1261441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6CABE87-077B-4562-AAF0-C964354EFBB3}" type="slidenum">
              <a:rPr lang="pt-PT" altLang="pt-BR" sz="1400"/>
              <a:pPr>
                <a:spcBef>
                  <a:spcPct val="0"/>
                </a:spcBef>
                <a:buFontTx/>
                <a:buNone/>
              </a:pPr>
              <a:t>20</a:t>
            </a:fld>
            <a:endParaRPr lang="pt-PT" altLang="pt-BR" sz="1400"/>
          </a:p>
        </p:txBody>
      </p:sp>
      <p:sp>
        <p:nvSpPr>
          <p:cNvPr id="13005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30052" name="Rectangle 3"/>
          <p:cNvSpPr>
            <a:spLocks noGrp="1" noChangeArrowheads="1"/>
          </p:cNvSpPr>
          <p:nvPr>
            <p:ph type="subTitle" idx="1"/>
          </p:nvPr>
        </p:nvSpPr>
        <p:spPr>
          <a:xfrm>
            <a:off x="0" y="1143000"/>
            <a:ext cx="11878573" cy="5689601"/>
          </a:xfrm>
        </p:spPr>
        <p:txBody>
          <a:bodyPr/>
          <a:lstStyle/>
          <a:p>
            <a:pPr algn="just" eaLnBrk="1" hangingPunct="1"/>
            <a:endParaRPr lang="pt-BR" altLang="pt-BR" dirty="0" smtClean="0"/>
          </a:p>
          <a:p>
            <a:pPr algn="just" eaLnBrk="1" hangingPunct="1"/>
            <a:r>
              <a:rPr lang="pt-BR" altLang="pt-BR" dirty="0" err="1" smtClean="0"/>
              <a:t>Summerville</a:t>
            </a:r>
            <a:r>
              <a:rPr lang="pt-BR" altLang="pt-BR" dirty="0" smtClean="0"/>
              <a:t>: manutenção de sistemas sugere que o documento-chave é o documento de requisitos do sistema, que informa ao engenheiro de software o que o sistema deve fazer. Sem esse conhecimento, é difícil avaliar o impacto das mudanças propostas. </a:t>
            </a:r>
          </a:p>
          <a:p>
            <a:pPr algn="just" eaLnBrk="1" hangingPunct="1"/>
            <a:r>
              <a:rPr lang="pt-BR" altLang="pt-BR" dirty="0" smtClean="0"/>
              <a:t>Muitos métodos ágeis coletam requisitos informalmente, de forma incremental, e não desenvolvem um documento coerente de requisitos. Nesse sentido, o uso de métodos ágeis pode tornar mais difícil e a manutenção mais cara.</a:t>
            </a:r>
          </a:p>
        </p:txBody>
      </p:sp>
    </p:spTree>
    <p:extLst>
      <p:ext uri="{BB962C8B-B14F-4D97-AF65-F5344CB8AC3E}">
        <p14:creationId xmlns:p14="http://schemas.microsoft.com/office/powerpoint/2010/main" val="38528263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966EA61-5DCA-459C-A251-F24EABD16D57}" type="slidenum">
              <a:rPr lang="pt-PT" altLang="pt-BR" sz="1400"/>
              <a:pPr>
                <a:spcBef>
                  <a:spcPct val="0"/>
                </a:spcBef>
                <a:buFontTx/>
                <a:buNone/>
              </a:pPr>
              <a:t>21</a:t>
            </a:fld>
            <a:endParaRPr lang="pt-PT" altLang="pt-BR" sz="1400"/>
          </a:p>
        </p:txBody>
      </p:sp>
      <p:sp>
        <p:nvSpPr>
          <p:cNvPr id="13107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31076" name="Rectangle 3"/>
          <p:cNvSpPr>
            <a:spLocks noGrp="1" noChangeArrowheads="1"/>
          </p:cNvSpPr>
          <p:nvPr>
            <p:ph type="subTitle" idx="1"/>
          </p:nvPr>
        </p:nvSpPr>
        <p:spPr>
          <a:xfrm>
            <a:off x="293299" y="1143000"/>
            <a:ext cx="11662912" cy="5689601"/>
          </a:xfrm>
        </p:spPr>
        <p:txBody>
          <a:bodyPr/>
          <a:lstStyle/>
          <a:p>
            <a:pPr algn="just" eaLnBrk="1" hangingPunct="1"/>
            <a:r>
              <a:rPr lang="pt-BR" altLang="pt-BR" dirty="0" smtClean="0"/>
              <a:t>Práticas ágeis usadas no processo de manutenção são mais eficazes, independente de ter sido usada uma abordagem ágil para o desenvolvimento do sistema. </a:t>
            </a:r>
          </a:p>
          <a:p>
            <a:pPr algn="just"/>
            <a:r>
              <a:rPr lang="pt-BR" altLang="pt-BR" dirty="0" smtClean="0"/>
              <a:t>Alteração de software: </a:t>
            </a:r>
            <a:r>
              <a:rPr lang="pt-BR" altLang="pt-BR" dirty="0"/>
              <a:t>Entrega </a:t>
            </a:r>
            <a:r>
              <a:rPr lang="pt-BR" altLang="pt-BR" dirty="0" smtClean="0"/>
              <a:t>incremental, projeto para mudanças e manutenção da simplicidade </a:t>
            </a:r>
          </a:p>
          <a:p>
            <a:pPr algn="just" eaLnBrk="1" hangingPunct="1"/>
            <a:r>
              <a:rPr lang="pt-BR" altLang="pt-BR" dirty="0" smtClean="0"/>
              <a:t>Processo ágil de desenvolvimento: processo de evolução do software. Dificuldade após a entrega do software: manter o envolvimento dos clientes no processo. </a:t>
            </a:r>
          </a:p>
          <a:p>
            <a:pPr algn="just" eaLnBrk="1" hangingPunct="1"/>
            <a:r>
              <a:rPr lang="pt-BR" altLang="pt-BR" dirty="0"/>
              <a:t>D</a:t>
            </a:r>
            <a:r>
              <a:rPr lang="pt-BR" altLang="pt-BR" dirty="0" smtClean="0"/>
              <a:t>esenvolvimento do sistema: cliente justifica o envolvimento de um representante em tempo integral. </a:t>
            </a:r>
          </a:p>
          <a:p>
            <a:pPr algn="just" eaLnBrk="1" hangingPunct="1"/>
            <a:r>
              <a:rPr lang="pt-BR" altLang="pt-BR" dirty="0"/>
              <a:t>M</a:t>
            </a:r>
            <a:r>
              <a:rPr lang="pt-BR" altLang="pt-BR" dirty="0" smtClean="0"/>
              <a:t>anutenção (mudanças não contínuas): menos improvável o envolvimento do cliente.  Representantes do cliente são propensos a perder o interesse no sistema. Criar novos requisitos do sistema requerem mecanismos alternativos.</a:t>
            </a:r>
          </a:p>
        </p:txBody>
      </p:sp>
    </p:spTree>
    <p:extLst>
      <p:ext uri="{BB962C8B-B14F-4D97-AF65-F5344CB8AC3E}">
        <p14:creationId xmlns:p14="http://schemas.microsoft.com/office/powerpoint/2010/main" val="32075765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DD458E3-8574-4272-9654-279267A60A0E}" type="slidenum">
              <a:rPr lang="pt-PT" altLang="pt-BR" sz="1400"/>
              <a:pPr>
                <a:spcBef>
                  <a:spcPct val="0"/>
                </a:spcBef>
                <a:buFontTx/>
                <a:buNone/>
              </a:pPr>
              <a:t>22</a:t>
            </a:fld>
            <a:endParaRPr lang="pt-PT" altLang="pt-BR" sz="1400"/>
          </a:p>
        </p:txBody>
      </p:sp>
      <p:sp>
        <p:nvSpPr>
          <p:cNvPr id="132099"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Métodos Ágeis</a:t>
            </a:r>
            <a:endParaRPr lang="pt-PT" altLang="pt-BR" sz="3600"/>
          </a:p>
        </p:txBody>
      </p:sp>
      <p:sp>
        <p:nvSpPr>
          <p:cNvPr id="132100" name="Rectangle 3"/>
          <p:cNvSpPr>
            <a:spLocks noGrp="1" noChangeArrowheads="1"/>
          </p:cNvSpPr>
          <p:nvPr>
            <p:ph type="subTitle" idx="1"/>
          </p:nvPr>
        </p:nvSpPr>
        <p:spPr>
          <a:xfrm>
            <a:off x="120770" y="1216325"/>
            <a:ext cx="11930331" cy="5616276"/>
          </a:xfrm>
        </p:spPr>
        <p:txBody>
          <a:bodyPr/>
          <a:lstStyle/>
          <a:p>
            <a:pPr algn="just" eaLnBrk="1" hangingPunct="1"/>
            <a:r>
              <a:rPr lang="pt-BR" altLang="pt-BR" dirty="0" smtClean="0"/>
              <a:t>Problema: continuidade da equipe de desenvolvimento. </a:t>
            </a:r>
          </a:p>
          <a:p>
            <a:pPr algn="just" eaLnBrk="1" hangingPunct="1"/>
            <a:r>
              <a:rPr lang="pt-BR" altLang="pt-BR" dirty="0" smtClean="0"/>
              <a:t>Métodos ágeis: compreensão dos aspectos do sistema sem consulta a documentação pelos membros da equipe. </a:t>
            </a:r>
          </a:p>
          <a:p>
            <a:pPr algn="just" eaLnBrk="1" hangingPunct="1"/>
            <a:r>
              <a:rPr lang="pt-BR" altLang="pt-BR" dirty="0" smtClean="0"/>
              <a:t>Equipe de desenvolvimento ágil alterada: conhecimento implícito é perdido, e é difícil para os novos membros da equipe construir o mesmo entendimento do sistema e seus componentes.</a:t>
            </a:r>
          </a:p>
          <a:p>
            <a:pPr algn="just" eaLnBrk="1" hangingPunct="1"/>
            <a:r>
              <a:rPr lang="pt-BR" altLang="pt-BR" dirty="0" smtClean="0"/>
              <a:t>Os defensores dos métodos ágeis promoveram o uso e negligenciaram suas deficiências. </a:t>
            </a:r>
          </a:p>
          <a:p>
            <a:pPr algn="just" eaLnBrk="1" hangingPunct="1"/>
            <a:r>
              <a:rPr lang="pt-BR" altLang="pt-BR" dirty="0" smtClean="0"/>
              <a:t>De Marco e </a:t>
            </a:r>
            <a:r>
              <a:rPr lang="pt-BR" altLang="pt-BR" dirty="0" err="1" smtClean="0"/>
              <a:t>Boehm</a:t>
            </a:r>
            <a:r>
              <a:rPr lang="pt-BR" altLang="pt-BR" dirty="0" smtClean="0"/>
              <a:t> (2002): vantagens e desvantagens dos métodos ágeis, propondo abordagem híbrida: métodos ágeis incorporam técnicas do desenvolvimento dirigido a planos, que pode ser o melhor caminho a seguir</a:t>
            </a:r>
          </a:p>
        </p:txBody>
      </p:sp>
    </p:spTree>
    <p:extLst>
      <p:ext uri="{BB962C8B-B14F-4D97-AF65-F5344CB8AC3E}">
        <p14:creationId xmlns:p14="http://schemas.microsoft.com/office/powerpoint/2010/main" val="13896072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1F25387-BBC6-4252-9660-5FCF8444C694}" type="slidenum">
              <a:rPr lang="pt-PT" altLang="pt-BR" sz="1400"/>
              <a:pPr>
                <a:spcBef>
                  <a:spcPct val="0"/>
                </a:spcBef>
                <a:buFontTx/>
                <a:buNone/>
              </a:pPr>
              <a:t>23</a:t>
            </a:fld>
            <a:endParaRPr lang="pt-PT" altLang="pt-BR" sz="1400"/>
          </a:p>
        </p:txBody>
      </p:sp>
      <p:sp>
        <p:nvSpPr>
          <p:cNvPr id="133123"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Desenvolvimento ágil dirigido a planos</a:t>
            </a:r>
            <a:endParaRPr lang="pt-PT" altLang="pt-BR" sz="3600"/>
          </a:p>
        </p:txBody>
      </p:sp>
      <p:sp>
        <p:nvSpPr>
          <p:cNvPr id="133124" name="Rectangle 3"/>
          <p:cNvSpPr>
            <a:spLocks noGrp="1" noChangeArrowheads="1"/>
          </p:cNvSpPr>
          <p:nvPr>
            <p:ph type="subTitle" idx="1"/>
          </p:nvPr>
        </p:nvSpPr>
        <p:spPr>
          <a:xfrm>
            <a:off x="120770" y="1259457"/>
            <a:ext cx="11800935" cy="5573144"/>
          </a:xfrm>
        </p:spPr>
        <p:txBody>
          <a:bodyPr/>
          <a:lstStyle/>
          <a:p>
            <a:pPr algn="just"/>
            <a:r>
              <a:rPr lang="pt-BR" altLang="pt-BR" dirty="0" smtClean="0"/>
              <a:t>Atividades centrais </a:t>
            </a:r>
            <a:r>
              <a:rPr lang="pt-BR" altLang="pt-BR" dirty="0"/>
              <a:t>no processo de </a:t>
            </a:r>
            <a:r>
              <a:rPr lang="pt-BR" altLang="pt-BR" dirty="0" smtClean="0"/>
              <a:t>desenvolvimento de software: projeto e a implementação, </a:t>
            </a:r>
            <a:r>
              <a:rPr lang="pt-BR" altLang="pt-BR" dirty="0" err="1" smtClean="0"/>
              <a:t>elicitação</a:t>
            </a:r>
            <a:r>
              <a:rPr lang="pt-BR" altLang="pt-BR" dirty="0" smtClean="0"/>
              <a:t> de requisitos, testes no projeto e na implementação. </a:t>
            </a:r>
          </a:p>
          <a:p>
            <a:pPr algn="just" eaLnBrk="1" hangingPunct="1"/>
            <a:endParaRPr lang="pt-BR" altLang="pt-BR" dirty="0" smtClean="0"/>
          </a:p>
          <a:p>
            <a:pPr algn="just" eaLnBrk="1" hangingPunct="1"/>
            <a:r>
              <a:rPr lang="pt-BR" altLang="pt-BR" dirty="0" smtClean="0"/>
              <a:t>Identifica estágios distintos do processo de software com saídas associadas a cada estágio. As saídas de um estágio são usadas como base para o planejamento da atividade do processo a seguir. </a:t>
            </a:r>
          </a:p>
        </p:txBody>
      </p:sp>
    </p:spTree>
    <p:extLst>
      <p:ext uri="{BB962C8B-B14F-4D97-AF65-F5344CB8AC3E}">
        <p14:creationId xmlns:p14="http://schemas.microsoft.com/office/powerpoint/2010/main" val="26245135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ítulo 1"/>
          <p:cNvSpPr>
            <a:spLocks noGrp="1"/>
          </p:cNvSpPr>
          <p:nvPr>
            <p:ph type="title"/>
          </p:nvPr>
        </p:nvSpPr>
        <p:spPr>
          <a:xfrm>
            <a:off x="1524000" y="279400"/>
            <a:ext cx="9251950" cy="1143000"/>
          </a:xfrm>
        </p:spPr>
        <p:txBody>
          <a:bodyPr/>
          <a:lstStyle/>
          <a:p>
            <a:r>
              <a:rPr lang="pt-BR" altLang="pt-BR" smtClean="0"/>
              <a:t>3 Desenvolvimento de Software Ágil</a:t>
            </a:r>
          </a:p>
        </p:txBody>
      </p:sp>
      <p:pic>
        <p:nvPicPr>
          <p:cNvPr id="134147" name="Espaço Reservado para Conteúdo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282951" y="1535114"/>
            <a:ext cx="6126163" cy="4630737"/>
          </a:xfrm>
        </p:spPr>
      </p:pic>
      <p:sp>
        <p:nvSpPr>
          <p:cNvPr id="134148" name="Espaço Reservado para Número de Slide 3"/>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36FDE60-D82B-4044-8B86-9B57DEF9E3EB}" type="slidenum">
              <a:rPr lang="pt-PT" altLang="pt-BR" sz="1400"/>
              <a:pPr>
                <a:spcBef>
                  <a:spcPct val="0"/>
                </a:spcBef>
                <a:buFontTx/>
                <a:buNone/>
              </a:pPr>
              <a:t>24</a:t>
            </a:fld>
            <a:endParaRPr lang="pt-PT" altLang="pt-BR" sz="1400"/>
          </a:p>
        </p:txBody>
      </p:sp>
    </p:spTree>
    <p:extLst>
      <p:ext uri="{BB962C8B-B14F-4D97-AF65-F5344CB8AC3E}">
        <p14:creationId xmlns:p14="http://schemas.microsoft.com/office/powerpoint/2010/main" val="977840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8C6A404-A5F4-4856-B09C-FAD3D08FC49A}" type="slidenum">
              <a:rPr lang="pt-PT" altLang="pt-BR" sz="1400"/>
              <a:pPr>
                <a:spcBef>
                  <a:spcPct val="0"/>
                </a:spcBef>
                <a:buFontTx/>
                <a:buNone/>
              </a:pPr>
              <a:t>25</a:t>
            </a:fld>
            <a:endParaRPr lang="pt-PT" altLang="pt-BR" sz="1400"/>
          </a:p>
        </p:txBody>
      </p:sp>
      <p:sp>
        <p:nvSpPr>
          <p:cNvPr id="135171"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Desenvolvimento ágil dirigido a planos</a:t>
            </a:r>
            <a:endParaRPr lang="pt-PT" altLang="pt-BR" sz="3600"/>
          </a:p>
        </p:txBody>
      </p:sp>
      <p:sp>
        <p:nvSpPr>
          <p:cNvPr id="135172" name="Rectangle 3"/>
          <p:cNvSpPr>
            <a:spLocks noGrp="1" noChangeArrowheads="1"/>
          </p:cNvSpPr>
          <p:nvPr>
            <p:ph type="subTitle" idx="1"/>
          </p:nvPr>
        </p:nvSpPr>
        <p:spPr>
          <a:xfrm>
            <a:off x="172528" y="1319842"/>
            <a:ext cx="11800935" cy="5512759"/>
          </a:xfrm>
        </p:spPr>
        <p:txBody>
          <a:bodyPr/>
          <a:lstStyle/>
          <a:p>
            <a:pPr algn="just" eaLnBrk="1" hangingPunct="1"/>
            <a:r>
              <a:rPr lang="pt-BR" altLang="pt-BR" dirty="0" smtClean="0"/>
              <a:t>Iterações nas atividades com documentos formais: estabelecem comunicação entre os estágios do processo. </a:t>
            </a:r>
          </a:p>
          <a:p>
            <a:pPr algn="just" eaLnBrk="1" hangingPunct="1"/>
            <a:r>
              <a:rPr lang="pt-BR" altLang="pt-BR" dirty="0" err="1" smtClean="0"/>
              <a:t>Ex</a:t>
            </a:r>
            <a:r>
              <a:rPr lang="pt-BR" altLang="pt-BR" dirty="0" smtClean="0"/>
              <a:t>: requisitos vão evoluir para produção da especificação de requisitos. É a entrada para o processo de projeto e implementação.</a:t>
            </a:r>
          </a:p>
          <a:p>
            <a:pPr algn="just" eaLnBrk="1" hangingPunct="1"/>
            <a:r>
              <a:rPr lang="pt-BR" altLang="pt-BR" dirty="0" smtClean="0"/>
              <a:t>Abordagem ágil: iterações ocorrem em todas as atividades. Requisitos e  projeto são desenvolvidos em conjunto. </a:t>
            </a:r>
          </a:p>
          <a:p>
            <a:pPr algn="just" eaLnBrk="1" hangingPunct="1"/>
            <a:r>
              <a:rPr lang="pt-BR" altLang="pt-BR" dirty="0" smtClean="0"/>
              <a:t>Processo de software dirigido a planos: apoia o desenvolvimento e a entrega incremental. Alocam-se requisitos e planejam-se as fases de projeto e desenvolvimento como uma série de incrementos. </a:t>
            </a:r>
          </a:p>
          <a:p>
            <a:pPr algn="just" eaLnBrk="1" hangingPunct="1"/>
            <a:r>
              <a:rPr lang="pt-BR" altLang="pt-BR" dirty="0" smtClean="0"/>
              <a:t>Processo ágil não é focado no código, e pode produzir alguma documentação de projeto. A equipe de desenvolvimento pode decidir incluir um ‘</a:t>
            </a:r>
            <a:r>
              <a:rPr lang="pt-BR" altLang="pt-BR" dirty="0" err="1" smtClean="0"/>
              <a:t>spike</a:t>
            </a:r>
            <a:r>
              <a:rPr lang="pt-BR" altLang="pt-BR" dirty="0" smtClean="0"/>
              <a:t>’ de documentação (em vez de produzir uma nova versão de um sistema, a equipe produz a sua documentação)</a:t>
            </a:r>
          </a:p>
        </p:txBody>
      </p:sp>
    </p:spTree>
    <p:extLst>
      <p:ext uri="{BB962C8B-B14F-4D97-AF65-F5344CB8AC3E}">
        <p14:creationId xmlns:p14="http://schemas.microsoft.com/office/powerpoint/2010/main" val="4225747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DE90841-242E-4471-BD4F-04BBB84258DB}" type="slidenum">
              <a:rPr lang="pt-PT" altLang="pt-BR" sz="1400"/>
              <a:pPr>
                <a:spcBef>
                  <a:spcPct val="0"/>
                </a:spcBef>
                <a:buFontTx/>
                <a:buNone/>
              </a:pPr>
              <a:t>26</a:t>
            </a:fld>
            <a:endParaRPr lang="pt-PT" altLang="pt-BR" sz="1400"/>
          </a:p>
        </p:txBody>
      </p:sp>
      <p:sp>
        <p:nvSpPr>
          <p:cNvPr id="136195" name="Rectangle 2"/>
          <p:cNvSpPr>
            <a:spLocks noGrp="1" noChangeArrowheads="1"/>
          </p:cNvSpPr>
          <p:nvPr>
            <p:ph type="ctrTitle"/>
          </p:nvPr>
        </p:nvSpPr>
        <p:spPr>
          <a:xfrm>
            <a:off x="1343026" y="0"/>
            <a:ext cx="9217025" cy="1143000"/>
          </a:xfrm>
        </p:spPr>
        <p:txBody>
          <a:bodyPr anchor="ctr"/>
          <a:lstStyle/>
          <a:p>
            <a:pPr eaLnBrk="1" hangingPunct="1"/>
            <a:r>
              <a:rPr lang="pt-BR" altLang="pt-BR" sz="3600"/>
              <a:t>3 Desenvolvimento de Software Ágil -  Desenvolvimento ágil dirigido a planos</a:t>
            </a:r>
            <a:endParaRPr lang="pt-PT" altLang="pt-BR" sz="3600"/>
          </a:p>
        </p:txBody>
      </p:sp>
      <p:sp>
        <p:nvSpPr>
          <p:cNvPr id="71684" name="Rectangle 3"/>
          <p:cNvSpPr>
            <a:spLocks noGrp="1" noChangeArrowheads="1"/>
          </p:cNvSpPr>
          <p:nvPr>
            <p:ph type="subTitle" idx="1"/>
          </p:nvPr>
        </p:nvSpPr>
        <p:spPr>
          <a:xfrm>
            <a:off x="310551" y="1268083"/>
            <a:ext cx="11602528" cy="5564518"/>
          </a:xfrm>
        </p:spPr>
        <p:txBody>
          <a:bodyPr>
            <a:normAutofit fontScale="92500" lnSpcReduction="10000"/>
          </a:bodyPr>
          <a:lstStyle/>
          <a:p>
            <a:pPr algn="just" eaLnBrk="1" hangingPunct="1">
              <a:defRPr/>
            </a:pPr>
            <a:endParaRPr lang="pt-BR" dirty="0" smtClean="0"/>
          </a:p>
          <a:p>
            <a:pPr algn="just" eaLnBrk="1" hangingPunct="1">
              <a:defRPr/>
            </a:pPr>
            <a:r>
              <a:rPr lang="pt-BR" dirty="0" smtClean="0"/>
              <a:t>Maioria </a:t>
            </a:r>
            <a:r>
              <a:rPr lang="pt-BR" dirty="0"/>
              <a:t>dos projetos de software inclui práticas das abordagens dirigidas a planos e ágil. </a:t>
            </a:r>
            <a:endParaRPr lang="pt-BR" dirty="0" smtClean="0"/>
          </a:p>
          <a:p>
            <a:pPr algn="just" eaLnBrk="1" hangingPunct="1">
              <a:defRPr/>
            </a:pPr>
            <a:r>
              <a:rPr lang="pt-BR" dirty="0"/>
              <a:t>E</a:t>
            </a:r>
            <a:r>
              <a:rPr lang="pt-BR" dirty="0" smtClean="0"/>
              <a:t>quilíbrio </a:t>
            </a:r>
            <a:r>
              <a:rPr lang="pt-BR" dirty="0"/>
              <a:t>entre as </a:t>
            </a:r>
            <a:r>
              <a:rPr lang="pt-BR" dirty="0" smtClean="0"/>
              <a:t>abordagens: responde </a:t>
            </a:r>
            <a:r>
              <a:rPr lang="pt-BR" dirty="0"/>
              <a:t>a uma série de questões técnicas, humanas e organizacionais: </a:t>
            </a:r>
            <a:endParaRPr lang="pt-BR" dirty="0" smtClean="0"/>
          </a:p>
          <a:p>
            <a:pPr algn="just">
              <a:defRPr/>
            </a:pPr>
            <a:r>
              <a:rPr lang="pt-BR" dirty="0" smtClean="0"/>
              <a:t>1. É </a:t>
            </a:r>
            <a:r>
              <a:rPr lang="pt-BR" dirty="0"/>
              <a:t>importante ter uma especificação e um projeto muito detalhados antes de passar para a implementação? Se sim, você provavelmente necessita usar uma abordagem dirigida a planos. </a:t>
            </a:r>
            <a:endParaRPr lang="pt-BR" dirty="0" smtClean="0"/>
          </a:p>
          <a:p>
            <a:pPr algn="just">
              <a:defRPr/>
            </a:pPr>
            <a:r>
              <a:rPr lang="pt-BR" dirty="0" smtClean="0"/>
              <a:t>2. É </a:t>
            </a:r>
            <a:r>
              <a:rPr lang="pt-BR" dirty="0"/>
              <a:t>realista uma estratégia </a:t>
            </a:r>
            <a:r>
              <a:rPr lang="pt-BR" dirty="0" smtClean="0"/>
              <a:t>incremental de entrega rápida do </a:t>
            </a:r>
            <a:r>
              <a:rPr lang="pt-BR" dirty="0"/>
              <a:t>software aos clientes e rapidamente </a:t>
            </a:r>
            <a:r>
              <a:rPr lang="pt-BR" dirty="0" smtClean="0"/>
              <a:t>obter </a:t>
            </a:r>
            <a:r>
              <a:rPr lang="pt-BR" dirty="0"/>
              <a:t>um feedback? Em caso afirmativo, considere o uso de métodos </a:t>
            </a:r>
            <a:r>
              <a:rPr lang="pt-BR" dirty="0" smtClean="0"/>
              <a:t>ágeis</a:t>
            </a:r>
          </a:p>
          <a:p>
            <a:pPr algn="just"/>
            <a:r>
              <a:rPr lang="pt-BR" altLang="pt-BR" dirty="0"/>
              <a:t>3. Quão grande é o sistema em desenvolvimento? Os métodos ágeis são mais eficazes quando o sistema pode ser desenvolvido com uma pequena equipe </a:t>
            </a:r>
            <a:r>
              <a:rPr lang="pt-BR" altLang="pt-BR" dirty="0" err="1"/>
              <a:t>colocalizada</a:t>
            </a:r>
            <a:r>
              <a:rPr lang="pt-BR" altLang="pt-BR" dirty="0"/>
              <a:t> (espaço alugado) capaz de se comunicar de maneira informal. Isso pode não ser possível para sistemas de grande porte que exigem equipes de desenvolvimento maiores: </a:t>
            </a:r>
            <a:r>
              <a:rPr lang="pt-BR" altLang="pt-BR" dirty="0" smtClean="0"/>
              <a:t>sugere-se a abordagem </a:t>
            </a:r>
            <a:r>
              <a:rPr lang="pt-BR" altLang="pt-BR" dirty="0"/>
              <a:t>dirigida a planos </a:t>
            </a:r>
          </a:p>
          <a:p>
            <a:pPr algn="just"/>
            <a:r>
              <a:rPr lang="pt-BR" altLang="pt-BR" dirty="0"/>
              <a:t>4. Que tipo de sistema está sendo desenvolvido? Sistemas que </a:t>
            </a:r>
            <a:r>
              <a:rPr lang="pt-BR" altLang="pt-BR" dirty="0" smtClean="0"/>
              <a:t>exigem </a:t>
            </a:r>
            <a:r>
              <a:rPr lang="pt-BR" altLang="pt-BR" dirty="0"/>
              <a:t>análise profunda antes da implementação </a:t>
            </a:r>
            <a:r>
              <a:rPr lang="pt-BR" altLang="pt-BR" dirty="0" smtClean="0"/>
              <a:t>(</a:t>
            </a:r>
            <a:r>
              <a:rPr lang="pt-BR" altLang="pt-BR" dirty="0" err="1" smtClean="0"/>
              <a:t>Ex</a:t>
            </a:r>
            <a:r>
              <a:rPr lang="pt-BR" altLang="pt-BR" dirty="0" smtClean="0"/>
              <a:t>: sistema </a:t>
            </a:r>
            <a:r>
              <a:rPr lang="pt-BR" altLang="pt-BR" dirty="0"/>
              <a:t>de tempo real com </a:t>
            </a:r>
            <a:r>
              <a:rPr lang="pt-BR" altLang="pt-BR" dirty="0" smtClean="0"/>
              <a:t>requisitos complexos </a:t>
            </a:r>
            <a:r>
              <a:rPr lang="pt-BR" altLang="pt-BR" dirty="0"/>
              <a:t>de </a:t>
            </a:r>
            <a:r>
              <a:rPr lang="pt-BR" altLang="pt-BR" dirty="0" smtClean="0"/>
              <a:t>tempo) </a:t>
            </a:r>
            <a:r>
              <a:rPr lang="pt-BR" altLang="pt-BR" dirty="0"/>
              <a:t>geralmente demandam um projeto bastante detalhado para atender a essa análise: abordagem dirigida a planos pode ser a melhor opção. </a:t>
            </a:r>
          </a:p>
          <a:p>
            <a:pPr marL="457200" indent="-457200" algn="just">
              <a:buFontTx/>
              <a:buAutoNum type="arabicPeriod"/>
              <a:defRPr/>
            </a:pPr>
            <a:endParaRPr lang="pt-BR" dirty="0" smtClean="0"/>
          </a:p>
        </p:txBody>
      </p:sp>
    </p:spTree>
    <p:extLst>
      <p:ext uri="{BB962C8B-B14F-4D97-AF65-F5344CB8AC3E}">
        <p14:creationId xmlns:p14="http://schemas.microsoft.com/office/powerpoint/2010/main" val="32917664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1B64F37-BEEC-4B11-8E73-7C3BA2EB1163}" type="slidenum">
              <a:rPr lang="pt-PT" altLang="pt-BR" sz="1400"/>
              <a:pPr>
                <a:spcBef>
                  <a:spcPct val="0"/>
                </a:spcBef>
                <a:buFontTx/>
                <a:buNone/>
              </a:pPr>
              <a:t>27</a:t>
            </a:fld>
            <a:endParaRPr lang="pt-PT" altLang="pt-BR" sz="1400"/>
          </a:p>
        </p:txBody>
      </p:sp>
      <p:sp>
        <p:nvSpPr>
          <p:cNvPr id="138243"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Desenvolvimento ágil dirigido a planos</a:t>
            </a:r>
            <a:endParaRPr lang="pt-PT" altLang="pt-BR" sz="3600"/>
          </a:p>
        </p:txBody>
      </p:sp>
      <p:sp>
        <p:nvSpPr>
          <p:cNvPr id="138244" name="Rectangle 3"/>
          <p:cNvSpPr>
            <a:spLocks noGrp="1" noChangeArrowheads="1"/>
          </p:cNvSpPr>
          <p:nvPr>
            <p:ph type="subTitle" idx="1"/>
          </p:nvPr>
        </p:nvSpPr>
        <p:spPr>
          <a:xfrm>
            <a:off x="94891" y="836614"/>
            <a:ext cx="11887200" cy="5613400"/>
          </a:xfrm>
        </p:spPr>
        <p:txBody>
          <a:bodyPr>
            <a:normAutofit lnSpcReduction="10000"/>
          </a:bodyPr>
          <a:lstStyle/>
          <a:p>
            <a:pPr algn="just" eaLnBrk="1" hangingPunct="1"/>
            <a:endParaRPr lang="pt-BR" altLang="pt-BR" dirty="0" smtClean="0"/>
          </a:p>
          <a:p>
            <a:pPr algn="just">
              <a:defRPr/>
            </a:pPr>
            <a:r>
              <a:rPr lang="pt-BR" dirty="0"/>
              <a:t>Equilíbrio entre as abordagens: responder a uma série de questões técnicas, humanas e organizacionais: </a:t>
            </a:r>
          </a:p>
          <a:p>
            <a:pPr algn="just" eaLnBrk="1" hangingPunct="1"/>
            <a:r>
              <a:rPr lang="pt-BR" altLang="pt-BR" dirty="0" smtClean="0"/>
              <a:t>5. Qual é o tempo de vida esperado do sistema? Sistemas de vida-longa podem exigir mais da documentação de projeto, a fim de comunicar para a equipe de apoio as intenções originais dos desenvolvedores do sistema. Defensores dos métodos ágeis argumentam que a documentação não é constantemente atualizada e não é de muita utilidade para a manutenção do sistema a longo prazo. </a:t>
            </a:r>
          </a:p>
          <a:p>
            <a:pPr algn="just" eaLnBrk="1" hangingPunct="1"/>
            <a:r>
              <a:rPr lang="pt-BR" altLang="pt-BR" dirty="0" smtClean="0"/>
              <a:t>6. Quais tecnologias estão disponíveis para apoiar o desenvolvimento do sistema? Métodos ágeis contam com boas ferramentas para manter o controle do projeto em desenvolvimento. Uso de IDE (ambiente integrado de desenvolvimento (</a:t>
            </a:r>
            <a:r>
              <a:rPr lang="pt-BR" altLang="pt-BR" dirty="0" err="1" smtClean="0"/>
              <a:t>integrated</a:t>
            </a:r>
            <a:r>
              <a:rPr lang="pt-BR" altLang="pt-BR" dirty="0" smtClean="0"/>
              <a:t> </a:t>
            </a:r>
            <a:r>
              <a:rPr lang="pt-BR" altLang="pt-BR" dirty="0" err="1" smtClean="0"/>
              <a:t>development</a:t>
            </a:r>
            <a:r>
              <a:rPr lang="pt-BR" altLang="pt-BR" dirty="0" smtClean="0"/>
              <a:t> </a:t>
            </a:r>
            <a:r>
              <a:rPr lang="pt-BR" altLang="pt-BR" dirty="0" err="1" smtClean="0"/>
              <a:t>environment</a:t>
            </a:r>
            <a:r>
              <a:rPr lang="pt-BR" altLang="pt-BR" dirty="0" smtClean="0"/>
              <a:t>) sem boas ferramentas para visualização e análise do programa, pode  necessitar de mais documentação do projeto.</a:t>
            </a:r>
          </a:p>
          <a:p>
            <a:pPr algn="just"/>
            <a:r>
              <a:rPr lang="pt-BR" altLang="pt-BR" dirty="0"/>
              <a:t>7. Como é organizada a equipe de desenvolvimento? D</a:t>
            </a:r>
            <a:r>
              <a:rPr lang="pt-BR" altLang="pt-BR" dirty="0" smtClean="0"/>
              <a:t>istribuída</a:t>
            </a:r>
            <a:r>
              <a:rPr lang="pt-BR" altLang="pt-BR" dirty="0"/>
              <a:t>, ou </a:t>
            </a:r>
            <a:r>
              <a:rPr lang="pt-BR" altLang="pt-BR" dirty="0" smtClean="0"/>
              <a:t>parte é terceirizada, podendo </a:t>
            </a:r>
            <a:r>
              <a:rPr lang="pt-BR" altLang="pt-BR" dirty="0"/>
              <a:t>ser </a:t>
            </a:r>
            <a:r>
              <a:rPr lang="pt-BR" altLang="pt-BR" dirty="0" smtClean="0"/>
              <a:t>necessária a elaboração de </a:t>
            </a:r>
            <a:r>
              <a:rPr lang="pt-BR" altLang="pt-BR" dirty="0"/>
              <a:t>documentos de projeto para a comunicação entre as equipes de desenvolvimento. Pode ser necessário planejar com antecedência quais serão esses documentos.</a:t>
            </a:r>
          </a:p>
          <a:p>
            <a:pPr algn="just" eaLnBrk="1" hangingPunct="1"/>
            <a:endParaRPr lang="pt-BR" altLang="pt-BR" dirty="0" smtClean="0"/>
          </a:p>
        </p:txBody>
      </p:sp>
    </p:spTree>
    <p:extLst>
      <p:ext uri="{BB962C8B-B14F-4D97-AF65-F5344CB8AC3E}">
        <p14:creationId xmlns:p14="http://schemas.microsoft.com/office/powerpoint/2010/main" val="24859609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0818A35-BBAB-4A8F-BC3D-F9852E200B45}" type="slidenum">
              <a:rPr lang="pt-PT" altLang="pt-BR" sz="1400"/>
              <a:pPr>
                <a:spcBef>
                  <a:spcPct val="0"/>
                </a:spcBef>
                <a:buFontTx/>
                <a:buNone/>
              </a:pPr>
              <a:t>28</a:t>
            </a:fld>
            <a:endParaRPr lang="pt-PT" altLang="pt-BR" sz="1400"/>
          </a:p>
        </p:txBody>
      </p:sp>
      <p:sp>
        <p:nvSpPr>
          <p:cNvPr id="139267"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Métodos Ágeis</a:t>
            </a:r>
            <a:endParaRPr lang="pt-PT" altLang="pt-BR" sz="3600"/>
          </a:p>
        </p:txBody>
      </p:sp>
      <p:sp>
        <p:nvSpPr>
          <p:cNvPr id="139268" name="Rectangle 3"/>
          <p:cNvSpPr>
            <a:spLocks noGrp="1" noChangeArrowheads="1"/>
          </p:cNvSpPr>
          <p:nvPr>
            <p:ph type="subTitle" idx="1"/>
          </p:nvPr>
        </p:nvSpPr>
        <p:spPr>
          <a:xfrm>
            <a:off x="1" y="836614"/>
            <a:ext cx="11956210" cy="5613400"/>
          </a:xfrm>
        </p:spPr>
        <p:txBody>
          <a:bodyPr/>
          <a:lstStyle/>
          <a:p>
            <a:pPr algn="just" eaLnBrk="1" hangingPunct="1"/>
            <a:r>
              <a:rPr lang="pt-BR" altLang="pt-BR" dirty="0" smtClean="0"/>
              <a:t>Desenvolvimento ágil e dirigido a planos </a:t>
            </a:r>
          </a:p>
          <a:p>
            <a:pPr algn="just">
              <a:defRPr/>
            </a:pPr>
            <a:r>
              <a:rPr lang="pt-BR" dirty="0"/>
              <a:t>Equilíbrio entre as abordagens: responder a uma série de questões técnicas, humanas e organizacionais: </a:t>
            </a:r>
          </a:p>
          <a:p>
            <a:pPr algn="just" eaLnBrk="1" hangingPunct="1"/>
            <a:r>
              <a:rPr lang="pt-BR" altLang="pt-BR" dirty="0" smtClean="0"/>
              <a:t>8. Existem questões culturais que podem afetar o desenvolvimento do sistema? Organizações tradicionais de engenharia têm uma cultura de desenvolvimento baseado em planos, com extensa documentação de projeto, no lugar do conhecimento informal, usado em processos ágeis.</a:t>
            </a:r>
          </a:p>
          <a:p>
            <a:pPr algn="just"/>
            <a:r>
              <a:rPr lang="pt-BR" altLang="pt-BR" dirty="0"/>
              <a:t>9. Quão bons são os projetistas e programadores na equipe de desenvolvimento? Métodos ágeis exigem níveis mais altos de habilidade do que as abordagens dirigidas a planos (</a:t>
            </a:r>
            <a:r>
              <a:rPr lang="pt-BR" altLang="pt-BR" dirty="0" smtClean="0"/>
              <a:t>programadores </a:t>
            </a:r>
            <a:r>
              <a:rPr lang="pt-BR" altLang="pt-BR" dirty="0"/>
              <a:t>traduzem um projeto detalhado em um código). Equipe com níveis de habilidade relativamente baixos necessita usar as melhores pessoas para desenvolver o projeto, juntamente com outros, responsáveis pela programação. </a:t>
            </a:r>
          </a:p>
          <a:p>
            <a:pPr algn="just"/>
            <a:r>
              <a:rPr lang="pt-BR" altLang="pt-BR" dirty="0"/>
              <a:t>10. O sistema é sujeito à regulamentação externa? (</a:t>
            </a:r>
            <a:r>
              <a:rPr lang="pt-BR" altLang="pt-BR" dirty="0" err="1"/>
              <a:t>Ex</a:t>
            </a:r>
            <a:r>
              <a:rPr lang="pt-BR" altLang="pt-BR" dirty="0"/>
              <a:t>: FAA [Autoridade Federal de Aviação (Federal </a:t>
            </a:r>
            <a:r>
              <a:rPr lang="pt-BR" altLang="pt-BR" dirty="0" err="1"/>
              <a:t>Aviation</a:t>
            </a:r>
            <a:r>
              <a:rPr lang="pt-BR" altLang="pt-BR" dirty="0"/>
              <a:t> </a:t>
            </a:r>
            <a:r>
              <a:rPr lang="pt-BR" altLang="pt-BR" dirty="0" err="1"/>
              <a:t>Authority</a:t>
            </a:r>
            <a:r>
              <a:rPr lang="pt-BR" altLang="pt-BR" dirty="0" smtClean="0"/>
              <a:t>)]. </a:t>
            </a:r>
            <a:r>
              <a:rPr lang="pt-BR" altLang="pt-BR" dirty="0"/>
              <a:t>Será obrigatória a produção de uma documentação detalhada como parte da documentação de segurança do sistema.</a:t>
            </a:r>
          </a:p>
          <a:p>
            <a:pPr algn="just" eaLnBrk="1" hangingPunct="1"/>
            <a:endParaRPr lang="pt-BR" altLang="pt-BR" dirty="0" smtClean="0"/>
          </a:p>
        </p:txBody>
      </p:sp>
    </p:spTree>
    <p:extLst>
      <p:ext uri="{BB962C8B-B14F-4D97-AF65-F5344CB8AC3E}">
        <p14:creationId xmlns:p14="http://schemas.microsoft.com/office/powerpoint/2010/main" val="21231912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13559CE-99BB-4F2E-BD56-47B9623422AE}" type="slidenum">
              <a:rPr lang="pt-PT" altLang="pt-BR" sz="1400"/>
              <a:pPr>
                <a:spcBef>
                  <a:spcPct val="0"/>
                </a:spcBef>
                <a:buFontTx/>
                <a:buNone/>
              </a:pPr>
              <a:t>29</a:t>
            </a:fld>
            <a:endParaRPr lang="pt-PT" altLang="pt-BR" sz="1400"/>
          </a:p>
        </p:txBody>
      </p:sp>
      <p:sp>
        <p:nvSpPr>
          <p:cNvPr id="141315" name="Rectangle 2"/>
          <p:cNvSpPr>
            <a:spLocks noGrp="1" noChangeArrowheads="1"/>
          </p:cNvSpPr>
          <p:nvPr>
            <p:ph type="ctrTitle"/>
          </p:nvPr>
        </p:nvSpPr>
        <p:spPr>
          <a:xfrm>
            <a:off x="1631951"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41316" name="Rectangle 3"/>
          <p:cNvSpPr>
            <a:spLocks noGrp="1" noChangeArrowheads="1"/>
          </p:cNvSpPr>
          <p:nvPr>
            <p:ph type="subTitle" idx="1"/>
          </p:nvPr>
        </p:nvSpPr>
        <p:spPr>
          <a:xfrm>
            <a:off x="207034" y="905774"/>
            <a:ext cx="11800935" cy="5544240"/>
          </a:xfrm>
        </p:spPr>
        <p:txBody>
          <a:bodyPr>
            <a:normAutofit/>
          </a:bodyPr>
          <a:lstStyle/>
          <a:p>
            <a:pPr algn="just" eaLnBrk="1" hangingPunct="1"/>
            <a:r>
              <a:rPr lang="pt-BR" altLang="pt-BR" dirty="0" smtClean="0"/>
              <a:t>Mais conhecido e utilizado dos métodos ágeis. </a:t>
            </a:r>
          </a:p>
          <a:p>
            <a:pPr algn="just" eaLnBrk="1" hangingPunct="1"/>
            <a:r>
              <a:rPr lang="pt-BR" altLang="pt-BR" dirty="0" smtClean="0"/>
              <a:t>Nome cunhado por Beck (2000)</a:t>
            </a:r>
          </a:p>
          <a:p>
            <a:pPr algn="just" eaLnBrk="1" hangingPunct="1"/>
            <a:r>
              <a:rPr lang="pt-BR" altLang="pt-BR" dirty="0" smtClean="0"/>
              <a:t>Boas práticas: desenvolvimento iterativo, em níveis ‘extremos’.</a:t>
            </a:r>
          </a:p>
          <a:p>
            <a:pPr algn="just" eaLnBrk="1" hangingPunct="1"/>
            <a:r>
              <a:rPr lang="pt-BR" altLang="pt-BR" dirty="0" smtClean="0"/>
              <a:t>XP: novas versões do sistema podem ser desenvolvidas, integradas e testadas em um único dia por programadores diferentes; </a:t>
            </a:r>
          </a:p>
          <a:p>
            <a:pPr algn="just" eaLnBrk="1" hangingPunct="1"/>
            <a:r>
              <a:rPr lang="pt-BR" altLang="pt-BR" dirty="0" smtClean="0"/>
              <a:t>Requisitos expressos como cenários (chamados de Estórias do usuário), implementados como uma série de tarefas; </a:t>
            </a:r>
          </a:p>
          <a:p>
            <a:pPr algn="just" eaLnBrk="1" hangingPunct="1"/>
            <a:r>
              <a:rPr lang="pt-BR" altLang="pt-BR" dirty="0" smtClean="0"/>
              <a:t>Programadores trabalham em pares e desenvolvem testes para cada tarefa antes de escreverem o código. </a:t>
            </a:r>
          </a:p>
          <a:p>
            <a:pPr algn="just" eaLnBrk="1" hangingPunct="1"/>
            <a:r>
              <a:rPr lang="pt-BR" altLang="pt-BR" dirty="0" smtClean="0"/>
              <a:t>Novo código é integrado ao sistema: todos os testes devem ser executados com sucesso. </a:t>
            </a:r>
          </a:p>
          <a:p>
            <a:pPr algn="just" eaLnBrk="1" hangingPunct="1"/>
            <a:r>
              <a:rPr lang="pt-BR" altLang="pt-BR" dirty="0" smtClean="0"/>
              <a:t>Curto intervalo entre os releases do sistema. </a:t>
            </a:r>
          </a:p>
        </p:txBody>
      </p:sp>
    </p:spTree>
    <p:extLst>
      <p:ext uri="{BB962C8B-B14F-4D97-AF65-F5344CB8AC3E}">
        <p14:creationId xmlns:p14="http://schemas.microsoft.com/office/powerpoint/2010/main" val="21363760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2D210B8-EBB6-4DA5-ABA9-DCD04A4D3497}" type="slidenum">
              <a:rPr lang="pt-PT" altLang="pt-BR" sz="1400"/>
              <a:pPr>
                <a:spcBef>
                  <a:spcPct val="0"/>
                </a:spcBef>
                <a:buFontTx/>
                <a:buNone/>
              </a:pPr>
              <a:t>30</a:t>
            </a:fld>
            <a:endParaRPr lang="pt-PT" altLang="pt-BR" sz="1400"/>
          </a:p>
        </p:txBody>
      </p:sp>
      <p:sp>
        <p:nvSpPr>
          <p:cNvPr id="14233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42340" name="Rectangle 3"/>
          <p:cNvSpPr>
            <a:spLocks noGrp="1" noChangeArrowheads="1"/>
          </p:cNvSpPr>
          <p:nvPr>
            <p:ph type="subTitle" idx="1"/>
          </p:nvPr>
        </p:nvSpPr>
        <p:spPr>
          <a:xfrm>
            <a:off x="1524001" y="617539"/>
            <a:ext cx="9180513" cy="5832475"/>
          </a:xfrm>
        </p:spPr>
        <p:txBody>
          <a:bodyPr/>
          <a:lstStyle/>
          <a:p>
            <a:pPr algn="just" eaLnBrk="1" hangingPunct="1"/>
            <a:endParaRPr lang="pt-BR" altLang="pt-BR" smtClean="0"/>
          </a:p>
          <a:p>
            <a:pPr algn="just" eaLnBrk="1" hangingPunct="1"/>
            <a:r>
              <a:rPr lang="pt-BR" altLang="pt-BR" smtClean="0"/>
              <a:t>. </a:t>
            </a:r>
          </a:p>
        </p:txBody>
      </p:sp>
      <p:pic>
        <p:nvPicPr>
          <p:cNvPr id="142341"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87489"/>
            <a:ext cx="9144000"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39968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46DF5D5-F1F3-421A-8ECB-60845EE9DAD8}" type="slidenum">
              <a:rPr lang="pt-PT" altLang="pt-BR" sz="1400"/>
              <a:pPr>
                <a:spcBef>
                  <a:spcPct val="0"/>
                </a:spcBef>
                <a:buFontTx/>
                <a:buNone/>
              </a:pPr>
              <a:t>31</a:t>
            </a:fld>
            <a:endParaRPr lang="pt-PT" altLang="pt-BR" sz="1400"/>
          </a:p>
        </p:txBody>
      </p:sp>
      <p:sp>
        <p:nvSpPr>
          <p:cNvPr id="143363"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43364" name="Rectangle 3"/>
          <p:cNvSpPr>
            <a:spLocks noGrp="1" noChangeArrowheads="1"/>
          </p:cNvSpPr>
          <p:nvPr>
            <p:ph type="subTitle" idx="1"/>
          </p:nvPr>
        </p:nvSpPr>
        <p:spPr>
          <a:xfrm>
            <a:off x="77638" y="1026542"/>
            <a:ext cx="11861319" cy="5423471"/>
          </a:xfrm>
        </p:spPr>
        <p:txBody>
          <a:bodyPr>
            <a:normAutofit lnSpcReduction="10000"/>
          </a:bodyPr>
          <a:lstStyle/>
          <a:p>
            <a:pPr algn="just" eaLnBrk="1" hangingPunct="1"/>
            <a:r>
              <a:rPr lang="pt-BR" altLang="pt-BR" dirty="0" smtClean="0"/>
              <a:t>Práticas que refletem os princípios dos métodos ágeis:</a:t>
            </a:r>
          </a:p>
          <a:p>
            <a:pPr algn="just" eaLnBrk="1" hangingPunct="1"/>
            <a:r>
              <a:rPr lang="pt-BR" altLang="pt-BR" dirty="0" smtClean="0"/>
              <a:t> 1. Desenvolvimento incremental: pequenos e frequentes releases do sistema. Os requisitos são baseados em cenários ou em simples Estórias de clientes, usadas como base para decidir a funcionalidade que deve ser incluída em um incremento do sistema.</a:t>
            </a:r>
          </a:p>
          <a:p>
            <a:pPr algn="just" eaLnBrk="1" hangingPunct="1"/>
            <a:r>
              <a:rPr lang="pt-BR" altLang="pt-BR" dirty="0" smtClean="0"/>
              <a:t> 2. Envolvimento do cliente: engajamento contínuo com a equipe de desenvolvimento. O representante do cliente participa do desenvolvimento e é responsável por definir os testes de aceitação para o sistema. </a:t>
            </a:r>
          </a:p>
          <a:p>
            <a:pPr algn="just" eaLnBrk="1" hangingPunct="1"/>
            <a:r>
              <a:rPr lang="pt-BR" altLang="pt-BR" dirty="0" smtClean="0"/>
              <a:t>3. Pessoas, não processos: programação em pares, propriedade coletiva do código do sistema e um processo de desenvolvimento sustentável que não envolve horas de trabalho excessivamente longas. </a:t>
            </a:r>
          </a:p>
          <a:p>
            <a:pPr algn="just"/>
            <a:r>
              <a:rPr lang="pt-BR" altLang="pt-BR" dirty="0"/>
              <a:t>4. Mudanças aceitas por releases contínuos para os </a:t>
            </a:r>
            <a:r>
              <a:rPr lang="pt-BR" altLang="pt-BR" dirty="0" smtClean="0"/>
              <a:t>clientes: desenvolvimento </a:t>
            </a:r>
            <a:r>
              <a:rPr lang="pt-BR" altLang="pt-BR" dirty="0" err="1" smtClean="0"/>
              <a:t>test-first</a:t>
            </a:r>
            <a:r>
              <a:rPr lang="pt-BR" altLang="pt-BR" dirty="0" smtClean="0"/>
              <a:t> (pratica de escrever testes antes da implementação),  </a:t>
            </a:r>
            <a:r>
              <a:rPr lang="pt-BR" altLang="pt-BR" dirty="0" err="1"/>
              <a:t>refatoração</a:t>
            </a:r>
            <a:r>
              <a:rPr lang="pt-BR" altLang="pt-BR" dirty="0"/>
              <a:t> para evitar a degeneração do código e integração contínua de nova funcionalidade. </a:t>
            </a:r>
          </a:p>
          <a:p>
            <a:pPr algn="just"/>
            <a:r>
              <a:rPr lang="pt-BR" altLang="pt-BR" dirty="0"/>
              <a:t>5. Manutenção da </a:t>
            </a:r>
            <a:r>
              <a:rPr lang="pt-BR" altLang="pt-BR" dirty="0" smtClean="0"/>
              <a:t>simplicidade: </a:t>
            </a:r>
            <a:r>
              <a:rPr lang="pt-BR" altLang="pt-BR" dirty="0" err="1"/>
              <a:t>refatoração</a:t>
            </a:r>
            <a:r>
              <a:rPr lang="pt-BR" altLang="pt-BR" dirty="0"/>
              <a:t> constante que melhora a qualidade do código, por projetos simples que não antecipam desnecessariamente futuras mudanças no sistema.</a:t>
            </a:r>
          </a:p>
          <a:p>
            <a:pPr algn="just" eaLnBrk="1" hangingPunct="1"/>
            <a:endParaRPr lang="pt-BR" altLang="pt-BR" dirty="0" smtClean="0"/>
          </a:p>
        </p:txBody>
      </p:sp>
    </p:spTree>
    <p:extLst>
      <p:ext uri="{BB962C8B-B14F-4D97-AF65-F5344CB8AC3E}">
        <p14:creationId xmlns:p14="http://schemas.microsoft.com/office/powerpoint/2010/main" val="32211843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DF165BD-4EA1-4383-876E-8F760AE34346}" type="slidenum">
              <a:rPr lang="pt-PT" altLang="pt-BR" sz="1400"/>
              <a:pPr>
                <a:spcBef>
                  <a:spcPct val="0"/>
                </a:spcBef>
                <a:buFontTx/>
                <a:buNone/>
              </a:pPr>
              <a:t>32</a:t>
            </a:fld>
            <a:endParaRPr lang="pt-PT" altLang="pt-BR" sz="1400"/>
          </a:p>
        </p:txBody>
      </p:sp>
      <p:sp>
        <p:nvSpPr>
          <p:cNvPr id="145411"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45412" name="Rectangle 3"/>
          <p:cNvSpPr>
            <a:spLocks noGrp="1" noChangeArrowheads="1"/>
          </p:cNvSpPr>
          <p:nvPr>
            <p:ph type="subTitle" idx="1"/>
          </p:nvPr>
        </p:nvSpPr>
        <p:spPr>
          <a:xfrm>
            <a:off x="161028" y="1061049"/>
            <a:ext cx="11752051" cy="5660426"/>
          </a:xfrm>
        </p:spPr>
        <p:txBody>
          <a:bodyPr/>
          <a:lstStyle/>
          <a:p>
            <a:pPr algn="just" eaLnBrk="1" hangingPunct="1"/>
            <a:endParaRPr lang="pt-BR" altLang="pt-BR" dirty="0" smtClean="0"/>
          </a:p>
          <a:p>
            <a:pPr algn="just" eaLnBrk="1" hangingPunct="1"/>
            <a:r>
              <a:rPr lang="pt-BR" altLang="pt-BR" dirty="0" smtClean="0"/>
              <a:t>Clientes estão intimamente envolvidos na especificação e priorização dos requisitos do sistema. </a:t>
            </a:r>
          </a:p>
          <a:p>
            <a:pPr algn="just" eaLnBrk="1" hangingPunct="1"/>
            <a:r>
              <a:rPr lang="pt-BR" altLang="pt-BR" dirty="0" smtClean="0"/>
              <a:t>Requisitos não são especificados como uma lista de funções requeridas do sistema. </a:t>
            </a:r>
          </a:p>
          <a:p>
            <a:pPr algn="just" eaLnBrk="1" hangingPunct="1"/>
            <a:r>
              <a:rPr lang="pt-BR" altLang="pt-BR" dirty="0" smtClean="0"/>
              <a:t>Cliente do sistema é parte da equipe de desenvolvimento e discute cenários com outros membros da equipe. Juntos, eles desenvolvem um ‘cartão de Estória’, englobando as necessidades do cliente. </a:t>
            </a:r>
          </a:p>
          <a:p>
            <a:pPr algn="just" eaLnBrk="1" hangingPunct="1"/>
            <a:r>
              <a:rPr lang="pt-BR" altLang="pt-BR" dirty="0" smtClean="0"/>
              <a:t>A equipe de desenvolvimento tenta implementar esse cenário em um release do futuro do software. </a:t>
            </a:r>
          </a:p>
        </p:txBody>
      </p:sp>
    </p:spTree>
    <p:extLst>
      <p:ext uri="{BB962C8B-B14F-4D97-AF65-F5344CB8AC3E}">
        <p14:creationId xmlns:p14="http://schemas.microsoft.com/office/powerpoint/2010/main" val="17870952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7EC8E74-AD99-4691-803E-89E6EC3FED13}" type="slidenum">
              <a:rPr lang="pt-PT" altLang="pt-BR" sz="1400"/>
              <a:pPr>
                <a:spcBef>
                  <a:spcPct val="0"/>
                </a:spcBef>
                <a:buFontTx/>
                <a:buNone/>
              </a:pPr>
              <a:t>33</a:t>
            </a:fld>
            <a:endParaRPr lang="pt-PT" altLang="pt-BR" sz="1400"/>
          </a:p>
        </p:txBody>
      </p:sp>
      <p:sp>
        <p:nvSpPr>
          <p:cNvPr id="146435"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46436" name="Rectangle 3"/>
          <p:cNvSpPr>
            <a:spLocks noGrp="1" noChangeArrowheads="1"/>
          </p:cNvSpPr>
          <p:nvPr>
            <p:ph type="subTitle" idx="1"/>
          </p:nvPr>
        </p:nvSpPr>
        <p:spPr>
          <a:xfrm>
            <a:off x="69011" y="1086928"/>
            <a:ext cx="11982091" cy="5363086"/>
          </a:xfrm>
        </p:spPr>
        <p:txBody>
          <a:bodyPr>
            <a:normAutofit lnSpcReduction="10000"/>
          </a:bodyPr>
          <a:lstStyle/>
          <a:p>
            <a:pPr algn="just" eaLnBrk="1" hangingPunct="1"/>
            <a:r>
              <a:rPr lang="pt-BR" altLang="pt-BR" dirty="0" smtClean="0"/>
              <a:t>Princípios e Práticas:</a:t>
            </a:r>
          </a:p>
          <a:p>
            <a:pPr algn="just" eaLnBrk="1" hangingPunct="1"/>
            <a:r>
              <a:rPr lang="pt-BR" altLang="pt-BR" dirty="0" smtClean="0"/>
              <a:t>1)Planejamento incremental: requisitos são gravados em cartões de Estória. As Estórias que serão incluídas em um release são determinadas pelo tempo disponível e sua relativa prioridade. Os desenvolvedores dividem as Estórias em ‘Tarefas’.</a:t>
            </a:r>
          </a:p>
          <a:p>
            <a:pPr algn="just" eaLnBrk="1" hangingPunct="1"/>
            <a:r>
              <a:rPr lang="pt-BR" altLang="pt-BR" dirty="0" smtClean="0"/>
              <a:t>2) Pequenos releases: primeiro desenvolve-se um conjunto mínimo de funcionalidades úteis que fornece o valor do negócio. Releases do sistema são frequentes. Gradualmente adicionam funcionalidade ao primeiro release. </a:t>
            </a:r>
          </a:p>
          <a:p>
            <a:pPr algn="just" eaLnBrk="1" hangingPunct="1"/>
            <a:r>
              <a:rPr lang="pt-BR" altLang="pt-BR" dirty="0" smtClean="0"/>
              <a:t>3) Projeto simples: cada projeto é realizado para atender às necessidades atuais, e nada mais. </a:t>
            </a:r>
          </a:p>
          <a:p>
            <a:pPr algn="just" eaLnBrk="1" hangingPunct="1"/>
            <a:r>
              <a:rPr lang="pt-BR" altLang="pt-BR" dirty="0" smtClean="0"/>
              <a:t>4)Desenvolvimento </a:t>
            </a:r>
            <a:r>
              <a:rPr lang="pt-BR" altLang="pt-BR" dirty="0" err="1" smtClean="0"/>
              <a:t>test-first</a:t>
            </a:r>
            <a:r>
              <a:rPr lang="pt-BR" altLang="pt-BR" dirty="0" smtClean="0"/>
              <a:t>: framework de testes iniciais automatizados é usado para escrever os testes para uma nova funcionalidade antes que seja implementada.</a:t>
            </a:r>
          </a:p>
          <a:p>
            <a:pPr algn="just"/>
            <a:r>
              <a:rPr lang="pt-BR" altLang="pt-BR" dirty="0"/>
              <a:t>5) </a:t>
            </a:r>
            <a:r>
              <a:rPr lang="pt-BR" altLang="pt-BR" dirty="0" err="1"/>
              <a:t>Refatoração</a:t>
            </a:r>
            <a:r>
              <a:rPr lang="pt-BR" altLang="pt-BR" dirty="0"/>
              <a:t>: desenvolvedores devem </a:t>
            </a:r>
            <a:r>
              <a:rPr lang="pt-BR" altLang="pt-BR" dirty="0" err="1"/>
              <a:t>refatorar</a:t>
            </a:r>
            <a:r>
              <a:rPr lang="pt-BR" altLang="pt-BR" dirty="0"/>
              <a:t> o código </a:t>
            </a:r>
            <a:r>
              <a:rPr lang="pt-BR" altLang="pt-BR" dirty="0" smtClean="0"/>
              <a:t>continuamente. </a:t>
            </a:r>
            <a:r>
              <a:rPr lang="pt-BR" altLang="pt-BR" dirty="0"/>
              <a:t>Isso mantém o código simples e manutenível</a:t>
            </a:r>
            <a:r>
              <a:rPr lang="pt-BR" altLang="pt-BR" dirty="0" smtClean="0"/>
              <a:t>.</a:t>
            </a:r>
          </a:p>
          <a:p>
            <a:pPr algn="just"/>
            <a:r>
              <a:rPr lang="pt-BR" altLang="pt-BR" dirty="0"/>
              <a:t>6) Programação em pares: desenvolvedores trabalham em pares, verificando o trabalho dos outros e prestando apoio para um bom trabalho sempre</a:t>
            </a:r>
            <a:r>
              <a:rPr lang="pt-BR" altLang="pt-BR" dirty="0" smtClean="0"/>
              <a:t>. </a:t>
            </a:r>
          </a:p>
        </p:txBody>
      </p:sp>
    </p:spTree>
    <p:extLst>
      <p:ext uri="{BB962C8B-B14F-4D97-AF65-F5344CB8AC3E}">
        <p14:creationId xmlns:p14="http://schemas.microsoft.com/office/powerpoint/2010/main" val="20415937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8F03B6A-1866-4A12-A5EC-1126AE14BC59}" type="slidenum">
              <a:rPr lang="pt-PT" altLang="pt-BR" sz="1400"/>
              <a:pPr>
                <a:spcBef>
                  <a:spcPct val="0"/>
                </a:spcBef>
                <a:buFontTx/>
                <a:buNone/>
              </a:pPr>
              <a:t>34</a:t>
            </a:fld>
            <a:endParaRPr lang="pt-PT" altLang="pt-BR" sz="1400"/>
          </a:p>
        </p:txBody>
      </p:sp>
      <p:sp>
        <p:nvSpPr>
          <p:cNvPr id="14745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dirty="0"/>
              <a:t>3 Desenvolvimento de Software Ágil - Extreme </a:t>
            </a:r>
            <a:r>
              <a:rPr lang="pt-BR" altLang="pt-BR" sz="3600" dirty="0" err="1"/>
              <a:t>Programming</a:t>
            </a:r>
            <a:r>
              <a:rPr lang="pt-BR" altLang="pt-BR" sz="3600" dirty="0"/>
              <a:t> XP</a:t>
            </a:r>
            <a:endParaRPr lang="pt-PT" altLang="pt-BR" sz="3600" dirty="0"/>
          </a:p>
        </p:txBody>
      </p:sp>
      <p:sp>
        <p:nvSpPr>
          <p:cNvPr id="147460" name="Rectangle 3"/>
          <p:cNvSpPr>
            <a:spLocks noGrp="1" noChangeArrowheads="1"/>
          </p:cNvSpPr>
          <p:nvPr>
            <p:ph type="subTitle" idx="1"/>
          </p:nvPr>
        </p:nvSpPr>
        <p:spPr>
          <a:xfrm>
            <a:off x="138023" y="612475"/>
            <a:ext cx="11895826" cy="5837539"/>
          </a:xfrm>
        </p:spPr>
        <p:txBody>
          <a:bodyPr/>
          <a:lstStyle/>
          <a:p>
            <a:pPr algn="just" eaLnBrk="1" hangingPunct="1"/>
            <a:endParaRPr lang="pt-BR" altLang="pt-BR" dirty="0" smtClean="0"/>
          </a:p>
          <a:p>
            <a:pPr algn="just" eaLnBrk="1" hangingPunct="1"/>
            <a:r>
              <a:rPr lang="pt-BR" altLang="pt-BR" dirty="0" smtClean="0"/>
              <a:t>Princípios e Práticas:</a:t>
            </a:r>
          </a:p>
          <a:p>
            <a:pPr algn="just" eaLnBrk="1" hangingPunct="1"/>
            <a:r>
              <a:rPr lang="pt-BR" altLang="pt-BR" dirty="0" smtClean="0"/>
              <a:t>7) Propriedade coletiva: os pares de desenvolvedores trabalham em todas as áreas do sistema, de modo que não se desenvolvam ilhas de expertise. Todos os conhecimentos e todos os desenvolvedores assumem responsabilidade por todo o código. Qualquer um pode mudar qualquer coisa. </a:t>
            </a:r>
          </a:p>
          <a:p>
            <a:pPr algn="just"/>
            <a:r>
              <a:rPr lang="pt-BR" altLang="pt-BR" dirty="0"/>
              <a:t>8) Integração contínua: o </a:t>
            </a:r>
            <a:r>
              <a:rPr lang="pt-BR" altLang="pt-BR" dirty="0" smtClean="0"/>
              <a:t>trabalho </a:t>
            </a:r>
            <a:r>
              <a:rPr lang="pt-BR" altLang="pt-BR" dirty="0"/>
              <a:t>concluído </a:t>
            </a:r>
            <a:r>
              <a:rPr lang="pt-BR" altLang="pt-BR" dirty="0" smtClean="0"/>
              <a:t>na tarefa é </a:t>
            </a:r>
            <a:r>
              <a:rPr lang="pt-BR" altLang="pt-BR" dirty="0"/>
              <a:t>integrado ao </a:t>
            </a:r>
            <a:r>
              <a:rPr lang="pt-BR" altLang="pt-BR" dirty="0" smtClean="0"/>
              <a:t>sistema e aplicam-se </a:t>
            </a:r>
            <a:r>
              <a:rPr lang="pt-BR" altLang="pt-BR" dirty="0"/>
              <a:t>todos os testes de unidade do sistema</a:t>
            </a:r>
          </a:p>
          <a:p>
            <a:pPr algn="just"/>
            <a:r>
              <a:rPr lang="pt-BR" altLang="pt-BR" dirty="0"/>
              <a:t>9) Ritmo sustentável: Grandes quantidades de horas-extra não </a:t>
            </a:r>
            <a:r>
              <a:rPr lang="pt-BR" altLang="pt-BR" dirty="0" smtClean="0"/>
              <a:t>são </a:t>
            </a:r>
            <a:r>
              <a:rPr lang="pt-BR" altLang="pt-BR" dirty="0"/>
              <a:t>aceitáveis, pois o resultado final, muitas vezes, é a redução da qualidade do código e da produtividade a médio prazo.</a:t>
            </a:r>
          </a:p>
          <a:p>
            <a:pPr algn="just"/>
            <a:r>
              <a:rPr lang="pt-BR" altLang="pt-BR" dirty="0"/>
              <a:t>10) Cliente no local: um representante do usuário final do sistema (o cliente) deve estar disponível todo o tempo à equipe de XP. O cliente é um membro da equipe de desenvolvimento comunicando os requisitos de sistema para implementação</a:t>
            </a:r>
          </a:p>
          <a:p>
            <a:pPr algn="just" eaLnBrk="1" hangingPunct="1"/>
            <a:endParaRPr lang="pt-BR" altLang="pt-BR" dirty="0" smtClean="0"/>
          </a:p>
        </p:txBody>
      </p:sp>
    </p:spTree>
    <p:extLst>
      <p:ext uri="{BB962C8B-B14F-4D97-AF65-F5344CB8AC3E}">
        <p14:creationId xmlns:p14="http://schemas.microsoft.com/office/powerpoint/2010/main" val="26524113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7156054-9C9D-4543-AE69-D613DAA9D7CE}" type="slidenum">
              <a:rPr lang="pt-PT" altLang="pt-BR" sz="1400"/>
              <a:pPr>
                <a:spcBef>
                  <a:spcPct val="0"/>
                </a:spcBef>
                <a:buFontTx/>
                <a:buNone/>
              </a:pPr>
              <a:t>35</a:t>
            </a:fld>
            <a:endParaRPr lang="pt-PT" altLang="pt-BR" sz="1400"/>
          </a:p>
        </p:txBody>
      </p:sp>
      <p:sp>
        <p:nvSpPr>
          <p:cNvPr id="149507"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49508" name="Rectangle 3"/>
          <p:cNvSpPr>
            <a:spLocks noGrp="1" noChangeArrowheads="1"/>
          </p:cNvSpPr>
          <p:nvPr>
            <p:ph type="subTitle" idx="1"/>
          </p:nvPr>
        </p:nvSpPr>
        <p:spPr>
          <a:xfrm>
            <a:off x="0" y="966159"/>
            <a:ext cx="12191999" cy="5483856"/>
          </a:xfrm>
        </p:spPr>
        <p:txBody>
          <a:bodyPr/>
          <a:lstStyle/>
          <a:p>
            <a:pPr algn="just" eaLnBrk="1" hangingPunct="1"/>
            <a:endParaRPr lang="pt-BR" altLang="pt-BR" dirty="0" smtClean="0"/>
          </a:p>
          <a:p>
            <a:pPr algn="just" eaLnBrk="1" hangingPunct="1"/>
            <a:r>
              <a:rPr lang="pt-BR" altLang="pt-BR" dirty="0" smtClean="0"/>
              <a:t>Estória para prescrição de medicamentos</a:t>
            </a:r>
          </a:p>
          <a:p>
            <a:pPr algn="just" eaLnBrk="1" hangingPunct="1"/>
            <a:r>
              <a:rPr lang="pt-BR" altLang="pt-BR" dirty="0" smtClean="0"/>
              <a:t>Kate é uma médica que deseja prescrever medicamentos para um paciente de uma clínica. O prontuário do paciente já está sendo exibido em seu computador, assim, ela clica no campo ‘medicação’ e pode selecionar ‘medicação atual’, ‘nova medicação’, ou ‘formulário’. Se ela selecionar ‘medicação atual’, o sistema pede que ela verifique a dose. Se ela quiser mudar a dose, ela a altera e em seguida, confirma a prescrição. Se ela escolher ‘nova medicação’, o sistema assume que ela sabe qual medicação receitar. Ela digita as primeiras letras do nome do medicamento. O sistema exibe uma lista de possíveis fármacos que começam com essas letras. Ela escolhe a medicação requerida e o sistema responde, pedindo-lhe para verificar se o medicamento selecionado está correto. Ela insere a dose e, em seguida, confirma a prescrição. Se ela escolhe ‘formulário’, o sistema exibe uma caixa de busca para o formulário aprovado. </a:t>
            </a:r>
          </a:p>
        </p:txBody>
      </p:sp>
    </p:spTree>
    <p:extLst>
      <p:ext uri="{BB962C8B-B14F-4D97-AF65-F5344CB8AC3E}">
        <p14:creationId xmlns:p14="http://schemas.microsoft.com/office/powerpoint/2010/main" val="12939171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8E09AFC-CABE-49C1-A30A-1C6AF6D513F1}" type="slidenum">
              <a:rPr lang="pt-PT" altLang="pt-BR" sz="1400"/>
              <a:pPr>
                <a:spcBef>
                  <a:spcPct val="0"/>
                </a:spcBef>
                <a:buFontTx/>
                <a:buNone/>
              </a:pPr>
              <a:t>36</a:t>
            </a:fld>
            <a:endParaRPr lang="pt-PT" altLang="pt-BR" sz="1400"/>
          </a:p>
        </p:txBody>
      </p:sp>
      <p:sp>
        <p:nvSpPr>
          <p:cNvPr id="151555"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51556" name="Rectangle 3"/>
          <p:cNvSpPr>
            <a:spLocks noGrp="1" noChangeArrowheads="1"/>
          </p:cNvSpPr>
          <p:nvPr>
            <p:ph type="subTitle" idx="1"/>
          </p:nvPr>
        </p:nvSpPr>
        <p:spPr>
          <a:xfrm>
            <a:off x="1524001" y="617539"/>
            <a:ext cx="9180513" cy="5832475"/>
          </a:xfrm>
        </p:spPr>
        <p:txBody>
          <a:bodyPr/>
          <a:lstStyle/>
          <a:p>
            <a:pPr algn="just" eaLnBrk="1" hangingPunct="1"/>
            <a:endParaRPr lang="pt-BR" altLang="pt-BR" smtClean="0"/>
          </a:p>
          <a:p>
            <a:pPr algn="just" eaLnBrk="1" hangingPunct="1"/>
            <a:endParaRPr lang="pt-BR" altLang="pt-BR" smtClean="0"/>
          </a:p>
        </p:txBody>
      </p:sp>
      <p:pic>
        <p:nvPicPr>
          <p:cNvPr id="151557"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81176" y="1162051"/>
            <a:ext cx="10124910" cy="569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02600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C4BE3F1-8379-49DB-B7C0-A330C753DEFA}" type="slidenum">
              <a:rPr lang="pt-PT" altLang="pt-BR" sz="1400"/>
              <a:pPr>
                <a:spcBef>
                  <a:spcPct val="0"/>
                </a:spcBef>
                <a:buFontTx/>
                <a:buNone/>
              </a:pPr>
              <a:t>37</a:t>
            </a:fld>
            <a:endParaRPr lang="pt-PT" altLang="pt-BR" sz="1400"/>
          </a:p>
        </p:txBody>
      </p:sp>
      <p:sp>
        <p:nvSpPr>
          <p:cNvPr id="15257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52580" name="Rectangle 3"/>
          <p:cNvSpPr>
            <a:spLocks noGrp="1" noChangeArrowheads="1"/>
          </p:cNvSpPr>
          <p:nvPr>
            <p:ph type="subTitle" idx="1"/>
          </p:nvPr>
        </p:nvSpPr>
        <p:spPr>
          <a:xfrm>
            <a:off x="146650" y="836614"/>
            <a:ext cx="11831880" cy="5575046"/>
          </a:xfrm>
        </p:spPr>
        <p:txBody>
          <a:bodyPr/>
          <a:lstStyle/>
          <a:p>
            <a:pPr algn="just" eaLnBrk="1" hangingPunct="1"/>
            <a:endParaRPr lang="pt-BR" altLang="pt-BR" dirty="0" smtClean="0"/>
          </a:p>
          <a:p>
            <a:pPr algn="just" eaLnBrk="1" hangingPunct="1"/>
            <a:r>
              <a:rPr lang="pt-BR" altLang="pt-BR" dirty="0" smtClean="0"/>
              <a:t>Requisitos mudam, Estórias não implementadas mudam ou podem ser descartadas. </a:t>
            </a:r>
          </a:p>
          <a:p>
            <a:pPr algn="just" eaLnBrk="1" hangingPunct="1"/>
            <a:r>
              <a:rPr lang="pt-BR" altLang="pt-BR" dirty="0" smtClean="0"/>
              <a:t>Mudanças em um sistema entregue requerem desenvolvimento de novos cartões de Estória</a:t>
            </a:r>
          </a:p>
          <a:p>
            <a:pPr algn="just" eaLnBrk="1" hangingPunct="1"/>
            <a:r>
              <a:rPr lang="pt-BR" altLang="pt-BR" dirty="0" smtClean="0"/>
              <a:t>Cliente decide se mudanças devem ter prioridade sobre a nova funcionalidade.</a:t>
            </a:r>
          </a:p>
          <a:p>
            <a:pPr algn="just" eaLnBrk="1" hangingPunct="1"/>
            <a:r>
              <a:rPr lang="pt-BR" altLang="pt-BR" dirty="0" smtClean="0"/>
              <a:t>No planejamento devem-se explorar possíveis soluções para questões que emergem. A equipe pode fazer protótipo ou desenvolvimento-teste para entender o problema e a solução (isso é um ‘</a:t>
            </a:r>
            <a:r>
              <a:rPr lang="pt-BR" altLang="pt-BR" dirty="0" err="1" smtClean="0"/>
              <a:t>spike</a:t>
            </a:r>
            <a:r>
              <a:rPr lang="pt-BR" altLang="pt-BR" dirty="0" smtClean="0"/>
              <a:t>’, um incremento sem nenhum tipo de programação). </a:t>
            </a:r>
          </a:p>
          <a:p>
            <a:pPr algn="just" eaLnBrk="1" hangingPunct="1"/>
            <a:r>
              <a:rPr lang="pt-BR" altLang="pt-BR" dirty="0" err="1" smtClean="0"/>
              <a:t>Spikes</a:t>
            </a:r>
            <a:r>
              <a:rPr lang="pt-BR" altLang="pt-BR" dirty="0" smtClean="0"/>
              <a:t>: para projeto da arquitetura do sistema ou para desenvolver a documentação do sistema</a:t>
            </a:r>
          </a:p>
          <a:p>
            <a:pPr algn="just"/>
            <a:r>
              <a:rPr lang="pt-BR" dirty="0" err="1"/>
              <a:t>Spikes</a:t>
            </a:r>
            <a:r>
              <a:rPr lang="pt-BR" dirty="0"/>
              <a:t> dão às equipes ágeis as informações técnicas e funcionais de que precisam para tomar decisões sobre a melhor abordagem para certas </a:t>
            </a:r>
            <a:r>
              <a:rPr lang="pt-BR" dirty="0" smtClean="0"/>
              <a:t>Estórias </a:t>
            </a:r>
            <a:r>
              <a:rPr lang="pt-BR" dirty="0"/>
              <a:t>de usuário </a:t>
            </a:r>
            <a:r>
              <a:rPr lang="pt-BR" dirty="0" smtClean="0"/>
              <a:t>.</a:t>
            </a:r>
            <a:endParaRPr lang="pt-BR" altLang="pt-BR" dirty="0" smtClean="0"/>
          </a:p>
        </p:txBody>
      </p:sp>
    </p:spTree>
    <p:extLst>
      <p:ext uri="{BB962C8B-B14F-4D97-AF65-F5344CB8AC3E}">
        <p14:creationId xmlns:p14="http://schemas.microsoft.com/office/powerpoint/2010/main" val="37133889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732ED89-7D4A-457C-B0BF-32DAFA001688}" type="slidenum">
              <a:rPr lang="pt-PT" altLang="pt-BR" sz="1400"/>
              <a:pPr>
                <a:spcBef>
                  <a:spcPct val="0"/>
                </a:spcBef>
                <a:buFontTx/>
                <a:buNone/>
              </a:pPr>
              <a:t>38</a:t>
            </a:fld>
            <a:endParaRPr lang="pt-PT" altLang="pt-BR" sz="1400"/>
          </a:p>
        </p:txBody>
      </p:sp>
      <p:sp>
        <p:nvSpPr>
          <p:cNvPr id="153603"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53604" name="Rectangle 3"/>
          <p:cNvSpPr>
            <a:spLocks noGrp="1" noChangeArrowheads="1"/>
          </p:cNvSpPr>
          <p:nvPr>
            <p:ph type="subTitle" idx="1"/>
          </p:nvPr>
        </p:nvSpPr>
        <p:spPr>
          <a:xfrm>
            <a:off x="146649" y="836615"/>
            <a:ext cx="12045351" cy="5613400"/>
          </a:xfrm>
        </p:spPr>
        <p:txBody>
          <a:bodyPr/>
          <a:lstStyle/>
          <a:p>
            <a:pPr algn="just" eaLnBrk="1" hangingPunct="1"/>
            <a:endParaRPr lang="pt-BR" altLang="pt-BR" dirty="0" smtClean="0"/>
          </a:p>
          <a:p>
            <a:pPr algn="just" eaLnBrk="1" hangingPunct="1"/>
            <a:r>
              <a:rPr lang="pt-BR" altLang="pt-BR" dirty="0" smtClean="0"/>
              <a:t>Abordagem ‘extrema’ para o desenvolvimento incremental: Novas versões do software podem ser construídas várias vezes por dia e releases são entregues aos clientes a cada duas semanas, aproximadamente. </a:t>
            </a:r>
          </a:p>
          <a:p>
            <a:pPr algn="just" eaLnBrk="1" hangingPunct="1"/>
            <a:r>
              <a:rPr lang="pt-BR" altLang="pt-BR" dirty="0" smtClean="0"/>
              <a:t>Prazos de releases nunca são desrespeitados; se houver problemas de desenvolvimento, o cliente é consultado, e a funcionalidade é removida do release planejado.</a:t>
            </a:r>
          </a:p>
          <a:p>
            <a:pPr algn="just" eaLnBrk="1" hangingPunct="1"/>
            <a:r>
              <a:rPr lang="pt-BR" altLang="pt-BR" dirty="0" smtClean="0"/>
              <a:t>Quando um programador cria nova versão, deve executar todos os testes automatizados existentes, bem como os testes para a nova funcionalidade. A nova construção do software só é aceita se todos os testes forem executados com êxito. </a:t>
            </a:r>
          </a:p>
          <a:p>
            <a:pPr algn="just" eaLnBrk="1" hangingPunct="1"/>
            <a:r>
              <a:rPr lang="pt-BR" altLang="pt-BR" dirty="0" smtClean="0"/>
              <a:t>É a base para a próxima iteração do sistema</a:t>
            </a:r>
          </a:p>
        </p:txBody>
      </p:sp>
    </p:spTree>
    <p:extLst>
      <p:ext uri="{BB962C8B-B14F-4D97-AF65-F5344CB8AC3E}">
        <p14:creationId xmlns:p14="http://schemas.microsoft.com/office/powerpoint/2010/main" val="15827675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9B3B73A-3D16-430F-B2E9-036239E2DA18}" type="slidenum">
              <a:rPr lang="pt-PT" altLang="pt-BR" sz="1400"/>
              <a:pPr>
                <a:spcBef>
                  <a:spcPct val="0"/>
                </a:spcBef>
                <a:buFontTx/>
                <a:buNone/>
              </a:pPr>
              <a:t>39</a:t>
            </a:fld>
            <a:endParaRPr lang="pt-PT" altLang="pt-BR" sz="1400"/>
          </a:p>
        </p:txBody>
      </p:sp>
      <p:sp>
        <p:nvSpPr>
          <p:cNvPr id="154627"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54628" name="Rectangle 3"/>
          <p:cNvSpPr>
            <a:spLocks noGrp="1" noChangeArrowheads="1"/>
          </p:cNvSpPr>
          <p:nvPr>
            <p:ph type="subTitle" idx="1"/>
          </p:nvPr>
        </p:nvSpPr>
        <p:spPr>
          <a:xfrm>
            <a:off x="181155" y="750499"/>
            <a:ext cx="11947585" cy="5699516"/>
          </a:xfrm>
        </p:spPr>
        <p:txBody>
          <a:bodyPr/>
          <a:lstStyle/>
          <a:p>
            <a:pPr algn="just" eaLnBrk="1" hangingPunct="1"/>
            <a:endParaRPr lang="pt-BR" altLang="pt-BR" dirty="0" smtClean="0"/>
          </a:p>
          <a:p>
            <a:pPr algn="just" eaLnBrk="1" hangingPunct="1"/>
            <a:r>
              <a:rPr lang="pt-BR" altLang="pt-BR" dirty="0" smtClean="0"/>
              <a:t>Engenharia de software tradicional: projetar para mudar. Deve-se antecipar futuras alterações do software e projetá-lo para implementar as mudanças.</a:t>
            </a:r>
          </a:p>
          <a:p>
            <a:pPr algn="just" eaLnBrk="1" hangingPunct="1"/>
            <a:r>
              <a:rPr lang="pt-BR" altLang="pt-BR" dirty="0" smtClean="0"/>
              <a:t>Extreme </a:t>
            </a:r>
            <a:r>
              <a:rPr lang="pt-BR" altLang="pt-BR" dirty="0" err="1" smtClean="0"/>
              <a:t>Programming</a:t>
            </a:r>
            <a:r>
              <a:rPr lang="pt-BR" altLang="pt-BR" dirty="0" smtClean="0"/>
              <a:t>: descartou esse princípio: mudança é um esforço desperdiçado. </a:t>
            </a:r>
          </a:p>
          <a:p>
            <a:pPr algn="just" eaLnBrk="1" hangingPunct="1"/>
            <a:r>
              <a:rPr lang="pt-BR" altLang="pt-BR" dirty="0" smtClean="0"/>
              <a:t>Frequentemente, mudanças previstas não se materializam e podem ser feitas solicitações de mudanças completamente diferentes </a:t>
            </a:r>
          </a:p>
          <a:p>
            <a:pPr algn="just" eaLnBrk="1" hangingPunct="1"/>
            <a:r>
              <a:rPr lang="pt-BR" altLang="pt-BR" dirty="0" smtClean="0"/>
              <a:t>Abordagem XP: mudanças acontecerão e reorganizarão o software quando essas mudanças realmente acontecerem.</a:t>
            </a:r>
          </a:p>
        </p:txBody>
      </p:sp>
    </p:spTree>
    <p:extLst>
      <p:ext uri="{BB962C8B-B14F-4D97-AF65-F5344CB8AC3E}">
        <p14:creationId xmlns:p14="http://schemas.microsoft.com/office/powerpoint/2010/main" val="40068127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CBE7BB1-255C-47A9-9DC6-ACF8C5085826}" type="slidenum">
              <a:rPr lang="pt-PT" altLang="pt-BR" sz="1400"/>
              <a:pPr>
                <a:spcBef>
                  <a:spcPct val="0"/>
                </a:spcBef>
                <a:buFontTx/>
                <a:buNone/>
              </a:pPr>
              <a:t>40</a:t>
            </a:fld>
            <a:endParaRPr lang="pt-PT" altLang="pt-BR" sz="1400"/>
          </a:p>
        </p:txBody>
      </p:sp>
      <p:sp>
        <p:nvSpPr>
          <p:cNvPr id="155651"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55652" name="Rectangle 3"/>
          <p:cNvSpPr>
            <a:spLocks noGrp="1" noChangeArrowheads="1"/>
          </p:cNvSpPr>
          <p:nvPr>
            <p:ph type="subTitle" idx="1"/>
          </p:nvPr>
        </p:nvSpPr>
        <p:spPr>
          <a:xfrm>
            <a:off x="60385" y="1069675"/>
            <a:ext cx="12007970" cy="5380339"/>
          </a:xfrm>
        </p:spPr>
        <p:txBody>
          <a:bodyPr/>
          <a:lstStyle/>
          <a:p>
            <a:pPr algn="just" eaLnBrk="1" hangingPunct="1"/>
            <a:endParaRPr lang="pt-BR" altLang="pt-BR" dirty="0" smtClean="0"/>
          </a:p>
          <a:p>
            <a:pPr algn="just" eaLnBrk="1" hangingPunct="1"/>
            <a:r>
              <a:rPr lang="pt-BR" altLang="pt-BR" dirty="0" smtClean="0"/>
              <a:t>Problema com o desenvolvimento incremental: </a:t>
            </a:r>
          </a:p>
          <a:p>
            <a:pPr algn="just" eaLnBrk="1" hangingPunct="1"/>
            <a:r>
              <a:rPr lang="pt-BR" altLang="pt-BR" dirty="0" smtClean="0"/>
              <a:t>Tende a degradar a estrutura do software. As mudanças do software tornam-se cada vez mais difíceis de serem implementadas. </a:t>
            </a:r>
          </a:p>
          <a:p>
            <a:pPr algn="just" eaLnBrk="1" hangingPunct="1"/>
            <a:r>
              <a:rPr lang="pt-BR" altLang="pt-BR" dirty="0" smtClean="0"/>
              <a:t>Pode haver:</a:t>
            </a:r>
          </a:p>
          <a:p>
            <a:pPr algn="just" eaLnBrk="1" hangingPunct="1"/>
            <a:r>
              <a:rPr lang="pt-BR" altLang="pt-BR" dirty="0" smtClean="0"/>
              <a:t>duplicação do código; </a:t>
            </a:r>
          </a:p>
          <a:p>
            <a:pPr algn="just" eaLnBrk="1" hangingPunct="1"/>
            <a:r>
              <a:rPr lang="pt-BR" altLang="pt-BR" dirty="0" smtClean="0"/>
              <a:t>partes do software são reusadas de maneira inadequada;</a:t>
            </a:r>
          </a:p>
          <a:p>
            <a:pPr algn="just" eaLnBrk="1" hangingPunct="1"/>
            <a:r>
              <a:rPr lang="pt-BR" altLang="pt-BR" dirty="0" smtClean="0"/>
              <a:t>estrutura global do código degrada-se quando ele é adicionado ao sistema.</a:t>
            </a:r>
          </a:p>
          <a:p>
            <a:pPr algn="just" eaLnBrk="1" hangingPunct="1"/>
            <a:endParaRPr lang="pt-BR" altLang="pt-BR" dirty="0" smtClean="0"/>
          </a:p>
          <a:p>
            <a:pPr algn="just" eaLnBrk="1" hangingPunct="1"/>
            <a:r>
              <a:rPr lang="pt-BR" altLang="pt-BR" dirty="0" smtClean="0"/>
              <a:t>Extreme </a:t>
            </a:r>
            <a:r>
              <a:rPr lang="pt-BR" altLang="pt-BR" dirty="0" err="1" smtClean="0"/>
              <a:t>Programming</a:t>
            </a:r>
            <a:r>
              <a:rPr lang="pt-BR" altLang="pt-BR" dirty="0" smtClean="0"/>
              <a:t>:  software deve ser constantemente </a:t>
            </a:r>
            <a:r>
              <a:rPr lang="pt-BR" altLang="pt-BR" dirty="0" err="1" smtClean="0"/>
              <a:t>refatorado</a:t>
            </a:r>
            <a:r>
              <a:rPr lang="pt-BR" altLang="pt-BR" dirty="0" smtClean="0"/>
              <a:t>. </a:t>
            </a:r>
          </a:p>
          <a:p>
            <a:pPr algn="just" eaLnBrk="1" hangingPunct="1"/>
            <a:endParaRPr lang="pt-BR" altLang="pt-BR" dirty="0" smtClean="0"/>
          </a:p>
        </p:txBody>
      </p:sp>
    </p:spTree>
    <p:extLst>
      <p:ext uri="{BB962C8B-B14F-4D97-AF65-F5344CB8AC3E}">
        <p14:creationId xmlns:p14="http://schemas.microsoft.com/office/powerpoint/2010/main" val="2971254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A20C383-7B0C-441B-8CC4-2114A07104A8}" type="slidenum">
              <a:rPr lang="pt-PT" altLang="pt-BR" sz="1400"/>
              <a:pPr>
                <a:spcBef>
                  <a:spcPct val="0"/>
                </a:spcBef>
                <a:buFontTx/>
                <a:buNone/>
              </a:pPr>
              <a:t>41</a:t>
            </a:fld>
            <a:endParaRPr lang="pt-PT" altLang="pt-BR" sz="1400"/>
          </a:p>
        </p:txBody>
      </p:sp>
      <p:sp>
        <p:nvSpPr>
          <p:cNvPr id="156675"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56676" name="Rectangle 3"/>
          <p:cNvSpPr>
            <a:spLocks noGrp="1" noChangeArrowheads="1"/>
          </p:cNvSpPr>
          <p:nvPr>
            <p:ph type="subTitle" idx="1"/>
          </p:nvPr>
        </p:nvSpPr>
        <p:spPr>
          <a:xfrm>
            <a:off x="38248" y="966158"/>
            <a:ext cx="12153752" cy="5572754"/>
          </a:xfrm>
        </p:spPr>
        <p:txBody>
          <a:bodyPr/>
          <a:lstStyle/>
          <a:p>
            <a:pPr algn="just" eaLnBrk="1" hangingPunct="1"/>
            <a:r>
              <a:rPr lang="pt-BR" altLang="pt-BR" dirty="0" smtClean="0"/>
              <a:t>Problema geral com o desenvolvimento incremental: </a:t>
            </a:r>
          </a:p>
          <a:p>
            <a:pPr algn="just" eaLnBrk="1" hangingPunct="1"/>
            <a:r>
              <a:rPr lang="pt-BR" altLang="pt-BR" dirty="0" smtClean="0"/>
              <a:t>Equipe de programação deve estar focada em possíveis melhorias do software e na sua implementação imediata. Quando um membro da equipe percebe que o código pode ser melhorado, essas melhorias são feitas, mesmo sem necessidade imediata. </a:t>
            </a:r>
          </a:p>
          <a:p>
            <a:pPr algn="just" eaLnBrk="1" hangingPunct="1"/>
            <a:r>
              <a:rPr lang="pt-BR" altLang="pt-BR" dirty="0" err="1" smtClean="0"/>
              <a:t>Refatoração</a:t>
            </a:r>
            <a:r>
              <a:rPr lang="pt-BR" altLang="pt-BR" dirty="0" smtClean="0"/>
              <a:t>: reorganização da hierarquia de classes para eliminação de código duplicado, a arrumação e renomeação de atributos e métodos,  substituição do código com as chamadas para métodos definidos em uma biblioteca de programas. </a:t>
            </a:r>
          </a:p>
          <a:p>
            <a:pPr algn="just" eaLnBrk="1" hangingPunct="1"/>
            <a:r>
              <a:rPr lang="pt-BR" altLang="pt-BR" dirty="0" smtClean="0"/>
              <a:t>Ambientes de desenvolvimento de programas (Eclipse) incluem ferramentas de </a:t>
            </a:r>
            <a:r>
              <a:rPr lang="pt-BR" altLang="pt-BR" dirty="0" err="1" smtClean="0"/>
              <a:t>refatoração</a:t>
            </a:r>
            <a:r>
              <a:rPr lang="pt-BR" altLang="pt-BR" dirty="0" smtClean="0"/>
              <a:t> que simplificam o processo de encontrar dependências entre as seções do código e modificar o código global</a:t>
            </a:r>
          </a:p>
        </p:txBody>
      </p:sp>
    </p:spTree>
    <p:extLst>
      <p:ext uri="{BB962C8B-B14F-4D97-AF65-F5344CB8AC3E}">
        <p14:creationId xmlns:p14="http://schemas.microsoft.com/office/powerpoint/2010/main" val="270213179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32FD76A-4C1E-4927-9871-B250A0DCEF8B}" type="slidenum">
              <a:rPr lang="pt-PT" altLang="pt-BR" sz="1400"/>
              <a:pPr>
                <a:spcBef>
                  <a:spcPct val="0"/>
                </a:spcBef>
                <a:buFontTx/>
                <a:buNone/>
              </a:pPr>
              <a:t>42</a:t>
            </a:fld>
            <a:endParaRPr lang="pt-PT" altLang="pt-BR" sz="1400"/>
          </a:p>
        </p:txBody>
      </p:sp>
      <p:sp>
        <p:nvSpPr>
          <p:cNvPr id="15769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Extreme Programming XP</a:t>
            </a:r>
            <a:endParaRPr lang="pt-PT" altLang="pt-BR" sz="3600"/>
          </a:p>
        </p:txBody>
      </p:sp>
      <p:sp>
        <p:nvSpPr>
          <p:cNvPr id="157700" name="Rectangle 3"/>
          <p:cNvSpPr>
            <a:spLocks noGrp="1" noChangeArrowheads="1"/>
          </p:cNvSpPr>
          <p:nvPr>
            <p:ph type="subTitle" idx="1"/>
          </p:nvPr>
        </p:nvSpPr>
        <p:spPr>
          <a:xfrm>
            <a:off x="129397" y="836614"/>
            <a:ext cx="11852694" cy="5613400"/>
          </a:xfrm>
        </p:spPr>
        <p:txBody>
          <a:bodyPr/>
          <a:lstStyle/>
          <a:p>
            <a:pPr algn="just" eaLnBrk="1" hangingPunct="1"/>
            <a:endParaRPr lang="pt-BR" altLang="pt-BR" dirty="0" smtClean="0"/>
          </a:p>
          <a:p>
            <a:pPr algn="just" eaLnBrk="1" hangingPunct="1"/>
            <a:r>
              <a:rPr lang="pt-BR" altLang="pt-BR" dirty="0" smtClean="0"/>
              <a:t>Software: deve ser fácil de compreender e mudar à medida que novas histórias sejam implementadas. </a:t>
            </a:r>
          </a:p>
          <a:p>
            <a:pPr algn="just" eaLnBrk="1" hangingPunct="1"/>
            <a:r>
              <a:rPr lang="pt-BR" altLang="pt-BR" dirty="0" smtClean="0"/>
              <a:t>A pressão pelo desenvolvimento significa que a </a:t>
            </a:r>
            <a:r>
              <a:rPr lang="pt-BR" altLang="pt-BR" dirty="0" err="1" smtClean="0"/>
              <a:t>refatoração</a:t>
            </a:r>
            <a:r>
              <a:rPr lang="pt-BR" altLang="pt-BR" dirty="0" smtClean="0"/>
              <a:t> será postergada. A maior parte do tempo é dedicada à implementação de nova funcionalidade. Algumas mudanças não podem ser acomodadas por </a:t>
            </a:r>
            <a:r>
              <a:rPr lang="pt-BR" altLang="pt-BR" dirty="0" err="1" smtClean="0"/>
              <a:t>refatoração</a:t>
            </a:r>
            <a:r>
              <a:rPr lang="pt-BR" altLang="pt-BR" dirty="0"/>
              <a:t> </a:t>
            </a:r>
            <a:r>
              <a:rPr lang="pt-BR" altLang="pt-BR" dirty="0" smtClean="0"/>
              <a:t>do código, e exigem modificações da arquitetura do sistema. </a:t>
            </a:r>
          </a:p>
          <a:p>
            <a:pPr algn="just" eaLnBrk="1" hangingPunct="1"/>
            <a:r>
              <a:rPr lang="pt-BR" altLang="pt-BR" dirty="0" smtClean="0"/>
              <a:t>Muitas empresas que adotaram XP não usam todas as práticas. Umas usam programação em pares, outras preferem a programação individual e revisões. Para acomodar os diferentes níveis de habilidade, alguns programadores não fazem </a:t>
            </a:r>
            <a:r>
              <a:rPr lang="pt-BR" altLang="pt-BR" dirty="0" err="1" smtClean="0"/>
              <a:t>refatoração</a:t>
            </a:r>
            <a:r>
              <a:rPr lang="pt-BR" altLang="pt-BR" dirty="0" smtClean="0"/>
              <a:t> em partes do sistema que não desenvolveram, e podem ser usados os requisitos convencionais em vez de Estórias de usuários. </a:t>
            </a:r>
          </a:p>
          <a:p>
            <a:pPr algn="just" eaLnBrk="1" hangingPunct="1"/>
            <a:r>
              <a:rPr lang="pt-BR" altLang="pt-BR" dirty="0" smtClean="0"/>
              <a:t>A maioria das empresas adotam variante de XP: releases de pequeno porte, desenvolvimento do </a:t>
            </a:r>
            <a:r>
              <a:rPr lang="pt-BR" altLang="pt-BR" dirty="0" err="1" smtClean="0"/>
              <a:t>test-first</a:t>
            </a:r>
            <a:r>
              <a:rPr lang="pt-BR" altLang="pt-BR" dirty="0" smtClean="0"/>
              <a:t> e integração contínua.</a:t>
            </a:r>
          </a:p>
        </p:txBody>
      </p:sp>
    </p:spTree>
    <p:extLst>
      <p:ext uri="{BB962C8B-B14F-4D97-AF65-F5344CB8AC3E}">
        <p14:creationId xmlns:p14="http://schemas.microsoft.com/office/powerpoint/2010/main" val="6345469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5AF63FA-FF9A-4D16-B7C3-30D58534730C}" type="slidenum">
              <a:rPr lang="pt-PT" altLang="pt-BR" sz="1400"/>
              <a:pPr>
                <a:spcBef>
                  <a:spcPct val="0"/>
                </a:spcBef>
                <a:buFontTx/>
                <a:buNone/>
              </a:pPr>
              <a:t>43</a:t>
            </a:fld>
            <a:endParaRPr lang="pt-PT" altLang="pt-BR" sz="1400"/>
          </a:p>
        </p:txBody>
      </p:sp>
      <p:sp>
        <p:nvSpPr>
          <p:cNvPr id="158723"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Teste em XP</a:t>
            </a:r>
            <a:endParaRPr lang="pt-PT" altLang="pt-BR" sz="3600"/>
          </a:p>
        </p:txBody>
      </p:sp>
      <p:sp>
        <p:nvSpPr>
          <p:cNvPr id="158724" name="Rectangle 3"/>
          <p:cNvSpPr>
            <a:spLocks noGrp="1" noChangeArrowheads="1"/>
          </p:cNvSpPr>
          <p:nvPr>
            <p:ph type="subTitle" idx="1"/>
          </p:nvPr>
        </p:nvSpPr>
        <p:spPr>
          <a:xfrm>
            <a:off x="94891" y="1035170"/>
            <a:ext cx="11999343" cy="5414844"/>
          </a:xfrm>
        </p:spPr>
        <p:txBody>
          <a:bodyPr/>
          <a:lstStyle/>
          <a:p>
            <a:pPr algn="just" eaLnBrk="1" hangingPunct="1"/>
            <a:endParaRPr lang="pt-BR" altLang="pt-BR" dirty="0" smtClean="0"/>
          </a:p>
          <a:p>
            <a:pPr algn="just" eaLnBrk="1" hangingPunct="1"/>
            <a:r>
              <a:rPr lang="pt-BR" altLang="pt-BR" dirty="0" smtClean="0"/>
              <a:t>Desenvolvimento </a:t>
            </a:r>
            <a:r>
              <a:rPr lang="pt-BR" altLang="pt-BR" dirty="0" err="1" smtClean="0"/>
              <a:t>test-first</a:t>
            </a:r>
            <a:r>
              <a:rPr lang="pt-BR" altLang="pt-BR" dirty="0" smtClean="0"/>
              <a:t>: uma das mais importantes inovações no XP. Em vez de escrever código e realizar testes, escrevem-se os testes antes de escrever o código. </a:t>
            </a:r>
          </a:p>
          <a:p>
            <a:pPr algn="just" eaLnBrk="1" hangingPunct="1"/>
            <a:r>
              <a:rPr lang="pt-BR" altLang="pt-BR" dirty="0" smtClean="0"/>
              <a:t>O teste é executado durante a escrita do código podendo encontrar problemas durante o desenvolvimento. Ao escrever os testes, implicitamente define-se uma interface e uma especificação de comportamento para a funcionalidade. </a:t>
            </a:r>
          </a:p>
          <a:p>
            <a:pPr algn="just" eaLnBrk="1" hangingPunct="1"/>
            <a:r>
              <a:rPr lang="pt-BR" altLang="pt-BR" dirty="0" smtClean="0"/>
              <a:t>Problemas de requisitos e mal-entendidos de interface são reduzidos. </a:t>
            </a:r>
          </a:p>
          <a:p>
            <a:pPr algn="just" eaLnBrk="1" hangingPunct="1"/>
            <a:r>
              <a:rPr lang="pt-BR" altLang="pt-BR" dirty="0" smtClean="0"/>
              <a:t>Test-</a:t>
            </a:r>
            <a:r>
              <a:rPr lang="pt-BR" altLang="pt-BR" dirty="0" err="1" smtClean="0"/>
              <a:t>first</a:t>
            </a:r>
            <a:r>
              <a:rPr lang="pt-BR" altLang="pt-BR" dirty="0" smtClean="0"/>
              <a:t>: adotado em qualquer processo com relação clara entre um requisito do sistema e o código que implementa esse requisito. </a:t>
            </a:r>
          </a:p>
          <a:p>
            <a:pPr algn="just" eaLnBrk="1" hangingPunct="1"/>
            <a:r>
              <a:rPr lang="pt-BR" altLang="pt-BR" dirty="0" smtClean="0"/>
              <a:t>XP: cartões de estórias que representam os requisitos são divididos em tarefas, que são a principal unidade de implementação. </a:t>
            </a:r>
          </a:p>
          <a:p>
            <a:pPr algn="just" eaLnBrk="1" hangingPunct="1"/>
            <a:r>
              <a:rPr lang="pt-BR" altLang="pt-BR" dirty="0" smtClean="0"/>
              <a:t>Desenvolvimento </a:t>
            </a:r>
            <a:r>
              <a:rPr lang="pt-BR" altLang="pt-BR" dirty="0" err="1" smtClean="0"/>
              <a:t>test-first</a:t>
            </a:r>
            <a:r>
              <a:rPr lang="pt-BR" altLang="pt-BR" dirty="0" smtClean="0"/>
              <a:t>:  abordagens mais gerais dirigidas a testes</a:t>
            </a:r>
          </a:p>
        </p:txBody>
      </p:sp>
    </p:spTree>
    <p:extLst>
      <p:ext uri="{BB962C8B-B14F-4D97-AF65-F5344CB8AC3E}">
        <p14:creationId xmlns:p14="http://schemas.microsoft.com/office/powerpoint/2010/main" val="37886227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F70A668-F9A3-4812-83F8-182DEFDCE376}" type="slidenum">
              <a:rPr lang="pt-PT" altLang="pt-BR" sz="1400"/>
              <a:pPr>
                <a:spcBef>
                  <a:spcPct val="0"/>
                </a:spcBef>
                <a:buFontTx/>
                <a:buNone/>
              </a:pPr>
              <a:t>44</a:t>
            </a:fld>
            <a:endParaRPr lang="pt-PT" altLang="pt-BR" sz="1400"/>
          </a:p>
        </p:txBody>
      </p:sp>
      <p:sp>
        <p:nvSpPr>
          <p:cNvPr id="159747"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Teste em XP</a:t>
            </a:r>
            <a:endParaRPr lang="pt-PT" altLang="pt-BR" sz="3600"/>
          </a:p>
        </p:txBody>
      </p:sp>
      <p:sp>
        <p:nvSpPr>
          <p:cNvPr id="154628" name="Rectangle 3"/>
          <p:cNvSpPr>
            <a:spLocks noGrp="1" noChangeArrowheads="1"/>
          </p:cNvSpPr>
          <p:nvPr>
            <p:ph type="subTitle" idx="1"/>
          </p:nvPr>
        </p:nvSpPr>
        <p:spPr>
          <a:xfrm>
            <a:off x="69011" y="836614"/>
            <a:ext cx="11956212" cy="5613400"/>
          </a:xfrm>
        </p:spPr>
        <p:txBody>
          <a:bodyPr>
            <a:normAutofit/>
          </a:bodyPr>
          <a:lstStyle/>
          <a:p>
            <a:pPr algn="just" eaLnBrk="1" hangingPunct="1">
              <a:defRPr/>
            </a:pPr>
            <a:endParaRPr lang="pt-BR" altLang="pt-BR" dirty="0" smtClean="0"/>
          </a:p>
          <a:p>
            <a:pPr algn="just" eaLnBrk="1" hangingPunct="1">
              <a:defRPr/>
            </a:pPr>
            <a:r>
              <a:rPr lang="pt-BR" dirty="0" smtClean="0"/>
              <a:t>Diferenças entre </a:t>
            </a:r>
            <a:r>
              <a:rPr lang="pt-BR" dirty="0"/>
              <a:t>o desenvolvimento </a:t>
            </a:r>
            <a:r>
              <a:rPr lang="pt-BR" dirty="0" smtClean="0"/>
              <a:t>incremental </a:t>
            </a:r>
            <a:r>
              <a:rPr lang="pt-BR" dirty="0"/>
              <a:t>e o desenvolvimento dirigido a </a:t>
            </a:r>
            <a:r>
              <a:rPr lang="pt-BR" dirty="0" smtClean="0"/>
              <a:t>planos: forma de teste do sistema</a:t>
            </a:r>
          </a:p>
          <a:p>
            <a:pPr algn="just" eaLnBrk="1" hangingPunct="1">
              <a:defRPr/>
            </a:pPr>
            <a:r>
              <a:rPr lang="pt-BR" dirty="0"/>
              <a:t>D</a:t>
            </a:r>
            <a:r>
              <a:rPr lang="pt-BR" dirty="0" smtClean="0"/>
              <a:t>esenvolvimento incremental: não </a:t>
            </a:r>
            <a:r>
              <a:rPr lang="pt-BR" dirty="0"/>
              <a:t>há especificação do sistema que possa ser usada </a:t>
            </a:r>
            <a:r>
              <a:rPr lang="pt-BR" dirty="0" smtClean="0"/>
              <a:t>para desenvolvimento </a:t>
            </a:r>
            <a:r>
              <a:rPr lang="pt-BR" dirty="0"/>
              <a:t>de testes do </a:t>
            </a:r>
            <a:r>
              <a:rPr lang="pt-BR" dirty="0" smtClean="0"/>
              <a:t>sistema por equipe externa. Processo informal de testes em </a:t>
            </a:r>
            <a:r>
              <a:rPr lang="pt-BR" dirty="0"/>
              <a:t>comparação com os testes dirigidos a planos. </a:t>
            </a:r>
            <a:endParaRPr lang="pt-BR" dirty="0" smtClean="0"/>
          </a:p>
          <a:p>
            <a:pPr algn="just" eaLnBrk="1" hangingPunct="1">
              <a:defRPr/>
            </a:pPr>
            <a:r>
              <a:rPr lang="pt-BR" dirty="0"/>
              <a:t>V</a:t>
            </a:r>
            <a:r>
              <a:rPr lang="pt-BR" dirty="0" smtClean="0"/>
              <a:t>alidação </a:t>
            </a:r>
            <a:r>
              <a:rPr lang="pt-BR" dirty="0"/>
              <a:t>do </a:t>
            </a:r>
            <a:r>
              <a:rPr lang="pt-BR" dirty="0" smtClean="0"/>
              <a:t>sistema: XP </a:t>
            </a:r>
            <a:r>
              <a:rPr lang="pt-BR" dirty="0"/>
              <a:t>enfatiza a importância dos testes do programa. </a:t>
            </a:r>
            <a:endParaRPr lang="pt-BR" dirty="0" smtClean="0"/>
          </a:p>
          <a:p>
            <a:pPr algn="just" eaLnBrk="1" hangingPunct="1">
              <a:defRPr/>
            </a:pPr>
            <a:r>
              <a:rPr lang="pt-BR" dirty="0" smtClean="0"/>
              <a:t>XP: </a:t>
            </a:r>
            <a:r>
              <a:rPr lang="pt-BR" dirty="0"/>
              <a:t>testes </a:t>
            </a:r>
            <a:r>
              <a:rPr lang="pt-BR" dirty="0" smtClean="0"/>
              <a:t>reduzem </a:t>
            </a:r>
            <a:r>
              <a:rPr lang="pt-BR" dirty="0"/>
              <a:t>chances de erros </a:t>
            </a:r>
            <a:r>
              <a:rPr lang="pt-BR" dirty="0" smtClean="0"/>
              <a:t>desconhecidos </a:t>
            </a:r>
            <a:r>
              <a:rPr lang="pt-BR" dirty="0"/>
              <a:t>na versão </a:t>
            </a:r>
            <a:r>
              <a:rPr lang="pt-BR" dirty="0" smtClean="0"/>
              <a:t>atual</a:t>
            </a:r>
          </a:p>
          <a:p>
            <a:pPr algn="just" eaLnBrk="1" hangingPunct="1">
              <a:defRPr/>
            </a:pPr>
            <a:r>
              <a:rPr lang="pt-BR" dirty="0"/>
              <a:t>P</a:t>
            </a:r>
            <a:r>
              <a:rPr lang="pt-BR" dirty="0" smtClean="0"/>
              <a:t>rincipais </a:t>
            </a:r>
            <a:r>
              <a:rPr lang="pt-BR" dirty="0"/>
              <a:t>características dos testes em </a:t>
            </a:r>
            <a:r>
              <a:rPr lang="pt-BR" dirty="0" smtClean="0"/>
              <a:t>XP: </a:t>
            </a:r>
          </a:p>
          <a:p>
            <a:pPr marL="457200" indent="-457200" algn="just">
              <a:buFontTx/>
              <a:buAutoNum type="arabicPeriod"/>
              <a:defRPr/>
            </a:pPr>
            <a:r>
              <a:rPr lang="pt-BR" dirty="0" smtClean="0"/>
              <a:t>desenvolvimento </a:t>
            </a:r>
            <a:r>
              <a:rPr lang="pt-BR" dirty="0" err="1"/>
              <a:t>test-first</a:t>
            </a:r>
            <a:r>
              <a:rPr lang="pt-BR" dirty="0"/>
              <a:t>; </a:t>
            </a:r>
            <a:endParaRPr lang="pt-BR" dirty="0" smtClean="0"/>
          </a:p>
          <a:p>
            <a:pPr marL="457200" indent="-457200" algn="just">
              <a:buFontTx/>
              <a:buAutoNum type="arabicPeriod"/>
              <a:defRPr/>
            </a:pPr>
            <a:r>
              <a:rPr lang="pt-BR" dirty="0" smtClean="0"/>
              <a:t>desenvolvimento </a:t>
            </a:r>
            <a:r>
              <a:rPr lang="pt-BR" dirty="0"/>
              <a:t>de teste incremental a partir de cenários; </a:t>
            </a:r>
            <a:endParaRPr lang="pt-BR" dirty="0" smtClean="0"/>
          </a:p>
          <a:p>
            <a:pPr marL="457200" indent="-457200" algn="just">
              <a:buFontTx/>
              <a:buAutoNum type="arabicPeriod"/>
              <a:defRPr/>
            </a:pPr>
            <a:r>
              <a:rPr lang="pt-BR" dirty="0" smtClean="0"/>
              <a:t>envolvimento </a:t>
            </a:r>
            <a:r>
              <a:rPr lang="pt-BR" dirty="0"/>
              <a:t>dos usuários no desenvolvimento de testes e validação</a:t>
            </a:r>
            <a:r>
              <a:rPr lang="pt-BR" dirty="0" smtClean="0"/>
              <a:t>;</a:t>
            </a:r>
          </a:p>
          <a:p>
            <a:pPr marL="457200" indent="-457200" algn="just">
              <a:buFontTx/>
              <a:buAutoNum type="arabicPeriod"/>
              <a:defRPr/>
            </a:pPr>
            <a:r>
              <a:rPr lang="pt-BR" dirty="0" smtClean="0"/>
              <a:t> </a:t>
            </a:r>
            <a:r>
              <a:rPr lang="pt-BR" dirty="0"/>
              <a:t>uso de frameworks de testes automatizados.</a:t>
            </a:r>
            <a:endParaRPr lang="pt-BR" altLang="pt-BR" dirty="0" smtClean="0"/>
          </a:p>
        </p:txBody>
      </p:sp>
    </p:spTree>
    <p:extLst>
      <p:ext uri="{BB962C8B-B14F-4D97-AF65-F5344CB8AC3E}">
        <p14:creationId xmlns:p14="http://schemas.microsoft.com/office/powerpoint/2010/main" val="13660863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EA157F6-7D08-4E8D-A508-BDB19CDF03E3}" type="slidenum">
              <a:rPr lang="pt-PT" altLang="pt-BR" sz="1400"/>
              <a:pPr>
                <a:spcBef>
                  <a:spcPct val="0"/>
                </a:spcBef>
                <a:buFontTx/>
                <a:buNone/>
              </a:pPr>
              <a:t>45</a:t>
            </a:fld>
            <a:endParaRPr lang="pt-PT" altLang="pt-BR" sz="1400"/>
          </a:p>
        </p:txBody>
      </p:sp>
      <p:sp>
        <p:nvSpPr>
          <p:cNvPr id="160771"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Teste em XP</a:t>
            </a:r>
            <a:endParaRPr lang="pt-PT" altLang="pt-BR" sz="3600"/>
          </a:p>
        </p:txBody>
      </p:sp>
      <p:sp>
        <p:nvSpPr>
          <p:cNvPr id="154628" name="Rectangle 3"/>
          <p:cNvSpPr>
            <a:spLocks noGrp="1" noChangeArrowheads="1"/>
          </p:cNvSpPr>
          <p:nvPr>
            <p:ph type="subTitle" idx="1"/>
          </p:nvPr>
        </p:nvSpPr>
        <p:spPr>
          <a:xfrm>
            <a:off x="181155" y="836614"/>
            <a:ext cx="11869947" cy="5613400"/>
          </a:xfrm>
        </p:spPr>
        <p:txBody>
          <a:bodyPr>
            <a:normAutofit/>
          </a:bodyPr>
          <a:lstStyle/>
          <a:p>
            <a:pPr algn="just" eaLnBrk="1" hangingPunct="1">
              <a:defRPr/>
            </a:pPr>
            <a:r>
              <a:rPr lang="pt-BR" dirty="0" err="1" smtClean="0"/>
              <a:t>Ex</a:t>
            </a:r>
            <a:r>
              <a:rPr lang="pt-BR" dirty="0" smtClean="0"/>
              <a:t>: Verificação de dose Entrada: </a:t>
            </a:r>
          </a:p>
          <a:p>
            <a:pPr algn="just" eaLnBrk="1" hangingPunct="1">
              <a:defRPr/>
            </a:pPr>
            <a:r>
              <a:rPr lang="pt-BR" dirty="0" smtClean="0"/>
              <a:t>Entrada</a:t>
            </a:r>
            <a:r>
              <a:rPr lang="pt-BR" dirty="0"/>
              <a:t>: </a:t>
            </a:r>
            <a:endParaRPr lang="pt-BR" dirty="0" smtClean="0"/>
          </a:p>
          <a:p>
            <a:pPr marL="457200" indent="-457200" algn="just">
              <a:buFontTx/>
              <a:buAutoNum type="arabicPeriod"/>
              <a:defRPr/>
            </a:pPr>
            <a:r>
              <a:rPr lang="pt-BR" dirty="0" smtClean="0"/>
              <a:t>Um </a:t>
            </a:r>
            <a:r>
              <a:rPr lang="pt-BR" dirty="0"/>
              <a:t>número em mg representando uma única dose da medicação. </a:t>
            </a:r>
            <a:endParaRPr lang="pt-BR" dirty="0" smtClean="0"/>
          </a:p>
          <a:p>
            <a:pPr marL="457200" indent="-457200" algn="just">
              <a:buFontTx/>
              <a:buAutoNum type="arabicPeriod"/>
              <a:defRPr/>
            </a:pPr>
            <a:r>
              <a:rPr lang="pt-BR" dirty="0" smtClean="0"/>
              <a:t>Um </a:t>
            </a:r>
            <a:r>
              <a:rPr lang="pt-BR" dirty="0"/>
              <a:t>número que representa o número de doses únicas por dia. </a:t>
            </a:r>
            <a:endParaRPr lang="pt-BR" dirty="0" smtClean="0"/>
          </a:p>
          <a:p>
            <a:pPr algn="just" eaLnBrk="1" hangingPunct="1">
              <a:defRPr/>
            </a:pPr>
            <a:r>
              <a:rPr lang="pt-BR" dirty="0" smtClean="0"/>
              <a:t>Testes</a:t>
            </a:r>
            <a:r>
              <a:rPr lang="pt-BR" dirty="0"/>
              <a:t> </a:t>
            </a:r>
            <a:r>
              <a:rPr lang="pt-BR" dirty="0" smtClean="0"/>
              <a:t>para entradas</a:t>
            </a:r>
            <a:endParaRPr lang="pt-BR" dirty="0" smtClean="0"/>
          </a:p>
          <a:p>
            <a:pPr marL="457200" indent="-457200" algn="just">
              <a:buFontTx/>
              <a:buAutoNum type="arabicPeriod"/>
              <a:defRPr/>
            </a:pPr>
            <a:r>
              <a:rPr lang="pt-BR" dirty="0" smtClean="0"/>
              <a:t>dose </a:t>
            </a:r>
            <a:r>
              <a:rPr lang="pt-BR" dirty="0"/>
              <a:t>única é correta</a:t>
            </a:r>
            <a:r>
              <a:rPr lang="pt-BR" dirty="0" smtClean="0"/>
              <a:t>, </a:t>
            </a:r>
            <a:r>
              <a:rPr lang="pt-BR" dirty="0"/>
              <a:t>frequência é muito alta. </a:t>
            </a:r>
            <a:endParaRPr lang="pt-BR" dirty="0" smtClean="0"/>
          </a:p>
          <a:p>
            <a:pPr marL="457200" indent="-457200" algn="just">
              <a:buFontTx/>
              <a:buAutoNum type="arabicPeriod"/>
              <a:defRPr/>
            </a:pPr>
            <a:r>
              <a:rPr lang="pt-BR" dirty="0" smtClean="0"/>
              <a:t>única </a:t>
            </a:r>
            <a:r>
              <a:rPr lang="pt-BR" dirty="0"/>
              <a:t>dose é muito alta e muito baixa</a:t>
            </a:r>
            <a:r>
              <a:rPr lang="pt-BR" dirty="0" smtClean="0"/>
              <a:t>.</a:t>
            </a:r>
          </a:p>
          <a:p>
            <a:pPr marL="457200" indent="-457200" algn="just">
              <a:buFontTx/>
              <a:buAutoNum type="arabicPeriod"/>
              <a:defRPr/>
            </a:pPr>
            <a:r>
              <a:rPr lang="pt-BR" dirty="0" smtClean="0"/>
              <a:t>dose </a:t>
            </a:r>
            <a:r>
              <a:rPr lang="pt-BR" dirty="0"/>
              <a:t>única x frequência é muito alta e muito baixa. </a:t>
            </a:r>
            <a:endParaRPr lang="pt-BR" dirty="0" smtClean="0"/>
          </a:p>
          <a:p>
            <a:pPr marL="457200" indent="-457200" algn="just">
              <a:buFontTx/>
              <a:buAutoNum type="arabicPeriod"/>
              <a:defRPr/>
            </a:pPr>
            <a:r>
              <a:rPr lang="pt-BR" dirty="0" smtClean="0"/>
              <a:t>Teste </a:t>
            </a:r>
            <a:r>
              <a:rPr lang="pt-BR" dirty="0"/>
              <a:t>para </a:t>
            </a:r>
            <a:r>
              <a:rPr lang="pt-BR" dirty="0" smtClean="0"/>
              <a:t>entradas: </a:t>
            </a:r>
            <a:r>
              <a:rPr lang="pt-BR" dirty="0"/>
              <a:t>dose única x frequência é </a:t>
            </a:r>
            <a:r>
              <a:rPr lang="pt-BR" dirty="0" smtClean="0"/>
              <a:t>permitida</a:t>
            </a:r>
            <a:r>
              <a:rPr lang="pt-BR" dirty="0"/>
              <a:t> </a:t>
            </a:r>
            <a:r>
              <a:rPr lang="pt-BR" dirty="0" smtClean="0"/>
              <a:t> é </a:t>
            </a:r>
            <a:r>
              <a:rPr lang="pt-BR" dirty="0"/>
              <a:t>muito alta. </a:t>
            </a:r>
          </a:p>
          <a:p>
            <a:pPr algn="just" eaLnBrk="1" hangingPunct="1">
              <a:defRPr/>
            </a:pPr>
            <a:r>
              <a:rPr lang="pt-BR" dirty="0" smtClean="0"/>
              <a:t>Teste de Saída</a:t>
            </a:r>
            <a:r>
              <a:rPr lang="pt-BR" dirty="0" smtClean="0"/>
              <a:t>:</a:t>
            </a:r>
          </a:p>
          <a:p>
            <a:pPr algn="just" eaLnBrk="1" hangingPunct="1">
              <a:defRPr/>
            </a:pPr>
            <a:r>
              <a:rPr lang="pt-BR" dirty="0" smtClean="0"/>
              <a:t>Mensagem </a:t>
            </a:r>
            <a:r>
              <a:rPr lang="pt-BR" dirty="0"/>
              <a:t>de OK ou erro indicando que a dose está fora da faixa de segurança.</a:t>
            </a:r>
            <a:endParaRPr lang="pt-BR" altLang="pt-BR" dirty="0" smtClean="0"/>
          </a:p>
        </p:txBody>
      </p:sp>
    </p:spTree>
    <p:extLst>
      <p:ext uri="{BB962C8B-B14F-4D97-AF65-F5344CB8AC3E}">
        <p14:creationId xmlns:p14="http://schemas.microsoft.com/office/powerpoint/2010/main" val="13668384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DED67F-414E-4BEA-8AE6-A8D38F1B7D1E}" type="slidenum">
              <a:rPr lang="pt-PT" altLang="pt-BR" sz="1400"/>
              <a:pPr>
                <a:spcBef>
                  <a:spcPct val="0"/>
                </a:spcBef>
                <a:buFontTx/>
                <a:buNone/>
              </a:pPr>
              <a:t>46</a:t>
            </a:fld>
            <a:endParaRPr lang="pt-PT" altLang="pt-BR" sz="1400"/>
          </a:p>
        </p:txBody>
      </p:sp>
      <p:sp>
        <p:nvSpPr>
          <p:cNvPr id="161795"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Teste em XP</a:t>
            </a:r>
            <a:endParaRPr lang="pt-PT" altLang="pt-BR" sz="3600"/>
          </a:p>
        </p:txBody>
      </p:sp>
      <p:sp>
        <p:nvSpPr>
          <p:cNvPr id="154628" name="Rectangle 3"/>
          <p:cNvSpPr>
            <a:spLocks noGrp="1" noChangeArrowheads="1"/>
          </p:cNvSpPr>
          <p:nvPr>
            <p:ph type="subTitle" idx="1"/>
          </p:nvPr>
        </p:nvSpPr>
        <p:spPr>
          <a:xfrm>
            <a:off x="120769" y="836614"/>
            <a:ext cx="11921705" cy="5673637"/>
          </a:xfrm>
        </p:spPr>
        <p:txBody>
          <a:bodyPr/>
          <a:lstStyle/>
          <a:p>
            <a:pPr algn="just" eaLnBrk="1" hangingPunct="1">
              <a:defRPr/>
            </a:pPr>
            <a:r>
              <a:rPr lang="pt-BR" dirty="0" smtClean="0"/>
              <a:t>Teste-</a:t>
            </a:r>
            <a:r>
              <a:rPr lang="pt-BR" dirty="0" err="1" smtClean="0"/>
              <a:t>first</a:t>
            </a:r>
            <a:r>
              <a:rPr lang="pt-BR" dirty="0" smtClean="0"/>
              <a:t>: </a:t>
            </a:r>
            <a:r>
              <a:rPr lang="pt-BR" dirty="0"/>
              <a:t>C</a:t>
            </a:r>
            <a:r>
              <a:rPr lang="pt-BR" dirty="0" smtClean="0"/>
              <a:t>liente ajuda </a:t>
            </a:r>
            <a:r>
              <a:rPr lang="pt-BR" dirty="0"/>
              <a:t>a desenvolver testes de aceitação para as estórias que serão implementadas no próximo release do sistema. </a:t>
            </a:r>
            <a:endParaRPr lang="pt-BR" dirty="0" smtClean="0"/>
          </a:p>
          <a:p>
            <a:pPr algn="just" eaLnBrk="1" hangingPunct="1">
              <a:defRPr/>
            </a:pPr>
            <a:r>
              <a:rPr lang="pt-BR" dirty="0" smtClean="0"/>
              <a:t>Teste </a:t>
            </a:r>
            <a:r>
              <a:rPr lang="pt-BR" dirty="0"/>
              <a:t>de </a:t>
            </a:r>
            <a:r>
              <a:rPr lang="pt-BR" dirty="0" smtClean="0"/>
              <a:t>aceitação: processo </a:t>
            </a:r>
            <a:r>
              <a:rPr lang="pt-BR" dirty="0"/>
              <a:t>em que o sistema é testado com os dados do cliente para verificar se o sistema atende às reais necessidades do cliente. </a:t>
            </a:r>
            <a:r>
              <a:rPr lang="pt-BR" dirty="0" smtClean="0"/>
              <a:t>XP: teste </a:t>
            </a:r>
            <a:r>
              <a:rPr lang="pt-BR" dirty="0"/>
              <a:t>de </a:t>
            </a:r>
            <a:r>
              <a:rPr lang="pt-BR" dirty="0" smtClean="0"/>
              <a:t>aceitação e desenvolvimento são incrementais.</a:t>
            </a:r>
          </a:p>
          <a:p>
            <a:pPr algn="just" eaLnBrk="1" hangingPunct="1">
              <a:defRPr/>
            </a:pPr>
            <a:r>
              <a:rPr lang="pt-BR" dirty="0" smtClean="0"/>
              <a:t>Cliente </a:t>
            </a:r>
            <a:r>
              <a:rPr lang="pt-BR" dirty="0"/>
              <a:t>escreve os testes enquanto o desenvolvimento </a:t>
            </a:r>
            <a:r>
              <a:rPr lang="pt-BR" dirty="0" smtClean="0"/>
              <a:t>avança</a:t>
            </a:r>
          </a:p>
          <a:p>
            <a:pPr algn="just" eaLnBrk="1" hangingPunct="1">
              <a:defRPr/>
            </a:pPr>
            <a:r>
              <a:rPr lang="pt-BR" dirty="0" smtClean="0"/>
              <a:t>Novos </a:t>
            </a:r>
            <a:r>
              <a:rPr lang="pt-BR" dirty="0"/>
              <a:t>códigos são validados para garantir que realmente é o que o cliente necessita. </a:t>
            </a:r>
            <a:endParaRPr lang="pt-BR" dirty="0" smtClean="0"/>
          </a:p>
          <a:p>
            <a:pPr algn="just" eaLnBrk="1" hangingPunct="1">
              <a:defRPr/>
            </a:pPr>
            <a:r>
              <a:rPr lang="pt-BR" dirty="0" smtClean="0"/>
              <a:t>Para </a:t>
            </a:r>
            <a:r>
              <a:rPr lang="pt-BR" dirty="0"/>
              <a:t>a estória </a:t>
            </a:r>
            <a:r>
              <a:rPr lang="pt-BR" dirty="0" smtClean="0"/>
              <a:t>da receita, </a:t>
            </a:r>
            <a:r>
              <a:rPr lang="pt-BR" dirty="0"/>
              <a:t>o teste de aceitação implicaria </a:t>
            </a:r>
            <a:r>
              <a:rPr lang="pt-BR" dirty="0" smtClean="0"/>
              <a:t>cenários:</a:t>
            </a:r>
          </a:p>
          <a:p>
            <a:pPr marL="457200" indent="-457200" algn="just">
              <a:buFontTx/>
              <a:buAutoNum type="alphaLcParenBoth"/>
              <a:defRPr/>
            </a:pPr>
            <a:r>
              <a:rPr lang="pt-BR" dirty="0" smtClean="0"/>
              <a:t>a </a:t>
            </a:r>
            <a:r>
              <a:rPr lang="pt-BR" dirty="0"/>
              <a:t>dose de um medicamento foi </a:t>
            </a:r>
            <a:r>
              <a:rPr lang="pt-BR" dirty="0" smtClean="0"/>
              <a:t>alterada</a:t>
            </a:r>
          </a:p>
          <a:p>
            <a:pPr marL="457200" indent="-457200" algn="just">
              <a:buFontTx/>
              <a:buAutoNum type="alphaLcParenBoth"/>
              <a:defRPr/>
            </a:pPr>
            <a:r>
              <a:rPr lang="pt-BR" dirty="0" smtClean="0"/>
              <a:t>um </a:t>
            </a:r>
            <a:r>
              <a:rPr lang="pt-BR" dirty="0"/>
              <a:t>novo medicamento foi </a:t>
            </a:r>
            <a:r>
              <a:rPr lang="pt-BR" dirty="0" smtClean="0"/>
              <a:t>selecionado</a:t>
            </a:r>
          </a:p>
          <a:p>
            <a:pPr marL="457200" indent="-457200" algn="just">
              <a:buFontTx/>
              <a:buAutoNum type="alphaLcParenBoth"/>
              <a:defRPr/>
            </a:pPr>
            <a:r>
              <a:rPr lang="pt-BR" dirty="0" smtClean="0"/>
              <a:t>o </a:t>
            </a:r>
            <a:r>
              <a:rPr lang="pt-BR" dirty="0"/>
              <a:t>formulário foi usado para encontrar um medicamento. </a:t>
            </a:r>
            <a:endParaRPr lang="pt-BR" dirty="0" smtClean="0"/>
          </a:p>
          <a:p>
            <a:pPr algn="just" eaLnBrk="1" hangingPunct="1">
              <a:defRPr/>
            </a:pPr>
            <a:r>
              <a:rPr lang="pt-BR" dirty="0" smtClean="0"/>
              <a:t>É </a:t>
            </a:r>
            <a:r>
              <a:rPr lang="pt-BR" dirty="0"/>
              <a:t>n</a:t>
            </a:r>
            <a:r>
              <a:rPr lang="pt-BR" dirty="0" smtClean="0"/>
              <a:t>ecessária u</a:t>
            </a:r>
            <a:r>
              <a:rPr lang="pt-BR" dirty="0" smtClean="0"/>
              <a:t>ma </a:t>
            </a:r>
            <a:r>
              <a:rPr lang="pt-BR" dirty="0"/>
              <a:t>série de testes de </a:t>
            </a:r>
            <a:r>
              <a:rPr lang="pt-BR" dirty="0" smtClean="0"/>
              <a:t>aceitação.</a:t>
            </a:r>
            <a:endParaRPr lang="pt-BR" altLang="pt-BR" dirty="0" smtClean="0"/>
          </a:p>
        </p:txBody>
      </p:sp>
    </p:spTree>
    <p:extLst>
      <p:ext uri="{BB962C8B-B14F-4D97-AF65-F5344CB8AC3E}">
        <p14:creationId xmlns:p14="http://schemas.microsoft.com/office/powerpoint/2010/main" val="411187416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F1E14E8-545E-48DE-9B18-04F8159AD04E}" type="slidenum">
              <a:rPr lang="pt-PT" altLang="pt-BR" sz="1400"/>
              <a:pPr>
                <a:spcBef>
                  <a:spcPct val="0"/>
                </a:spcBef>
                <a:buFontTx/>
                <a:buNone/>
              </a:pPr>
              <a:t>47</a:t>
            </a:fld>
            <a:endParaRPr lang="pt-PT" altLang="pt-BR" sz="1400"/>
          </a:p>
        </p:txBody>
      </p:sp>
      <p:sp>
        <p:nvSpPr>
          <p:cNvPr id="16281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Teste em XP</a:t>
            </a:r>
            <a:endParaRPr lang="pt-PT" altLang="pt-BR" sz="3600"/>
          </a:p>
        </p:txBody>
      </p:sp>
      <p:sp>
        <p:nvSpPr>
          <p:cNvPr id="162820" name="Rectangle 3"/>
          <p:cNvSpPr>
            <a:spLocks noGrp="1" noChangeArrowheads="1"/>
          </p:cNvSpPr>
          <p:nvPr>
            <p:ph type="subTitle" idx="1"/>
          </p:nvPr>
        </p:nvSpPr>
        <p:spPr>
          <a:xfrm>
            <a:off x="129396" y="836614"/>
            <a:ext cx="11800935" cy="5613400"/>
          </a:xfrm>
        </p:spPr>
        <p:txBody>
          <a:bodyPr/>
          <a:lstStyle/>
          <a:p>
            <a:pPr algn="just" eaLnBrk="1" hangingPunct="1"/>
            <a:r>
              <a:rPr lang="pt-BR" altLang="pt-BR" dirty="0" smtClean="0"/>
              <a:t>Dificuldade:</a:t>
            </a:r>
          </a:p>
          <a:p>
            <a:pPr algn="just" eaLnBrk="1" hangingPunct="1"/>
            <a:r>
              <a:rPr lang="pt-BR" altLang="pt-BR" dirty="0" smtClean="0"/>
              <a:t>Apoio do cliente no desenvolvimento de testes de aceitação. Clientes têm muito pouco tempo e podem não conseguir trabalhar com a equipe de desenvolvimento em tempo integral. </a:t>
            </a:r>
          </a:p>
          <a:p>
            <a:pPr algn="just" eaLnBrk="1" hangingPunct="1"/>
            <a:r>
              <a:rPr lang="pt-BR" altLang="pt-BR" dirty="0" smtClean="0"/>
              <a:t>Para o cliente, fornecer  requisitos é contribuição suficiente, ficando relutante em se envolver no processo de testes. </a:t>
            </a:r>
          </a:p>
          <a:p>
            <a:pPr algn="just" eaLnBrk="1" hangingPunct="1"/>
            <a:r>
              <a:rPr lang="pt-BR" altLang="pt-BR" dirty="0" smtClean="0"/>
              <a:t>Automação de testes é essencial para o desenvolvimento </a:t>
            </a:r>
            <a:r>
              <a:rPr lang="pt-BR" altLang="pt-BR" dirty="0" err="1" smtClean="0"/>
              <a:t>test-first</a:t>
            </a:r>
            <a:r>
              <a:rPr lang="pt-BR" altLang="pt-BR" dirty="0" smtClean="0"/>
              <a:t>. </a:t>
            </a:r>
          </a:p>
          <a:p>
            <a:pPr algn="just" eaLnBrk="1" hangingPunct="1"/>
            <a:r>
              <a:rPr lang="pt-BR" altLang="pt-BR" dirty="0" smtClean="0"/>
              <a:t>Os testes são escritos como componentes executáveis antes que a tarefa seja implementada. </a:t>
            </a:r>
          </a:p>
          <a:p>
            <a:pPr algn="just" eaLnBrk="1" hangingPunct="1"/>
            <a:r>
              <a:rPr lang="pt-BR" altLang="pt-BR" dirty="0" smtClean="0"/>
              <a:t>Componentes de teste: autônomos, simulam a submissão de entrada a ser testada e verificam se o resultado atende à especificação de saída. </a:t>
            </a:r>
          </a:p>
          <a:p>
            <a:pPr algn="just" eaLnBrk="1" hangingPunct="1"/>
            <a:r>
              <a:rPr lang="pt-BR" altLang="pt-BR" dirty="0" smtClean="0"/>
              <a:t>Framework de testes automatizados: sistema que torna mais fácil escrever os testes executáveis e submete conjunto de testes para execução. </a:t>
            </a:r>
          </a:p>
          <a:p>
            <a:pPr algn="just" eaLnBrk="1" hangingPunct="1"/>
            <a:r>
              <a:rPr lang="pt-BR" altLang="pt-BR" dirty="0" err="1" smtClean="0"/>
              <a:t>Junit</a:t>
            </a:r>
            <a:r>
              <a:rPr lang="pt-BR" altLang="pt-BR" dirty="0" smtClean="0"/>
              <a:t>: framework de testes automatizados</a:t>
            </a:r>
          </a:p>
        </p:txBody>
      </p:sp>
    </p:spTree>
    <p:extLst>
      <p:ext uri="{BB962C8B-B14F-4D97-AF65-F5344CB8AC3E}">
        <p14:creationId xmlns:p14="http://schemas.microsoft.com/office/powerpoint/2010/main" val="3974613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1315DE0-A47E-4F2B-B2B1-D2A5A156585A}" type="slidenum">
              <a:rPr lang="pt-PT" altLang="pt-BR" sz="1400"/>
              <a:pPr>
                <a:spcBef>
                  <a:spcPct val="0"/>
                </a:spcBef>
                <a:buFontTx/>
                <a:buNone/>
              </a:pPr>
              <a:t>48</a:t>
            </a:fld>
            <a:endParaRPr lang="pt-PT" altLang="pt-BR" sz="1400"/>
          </a:p>
        </p:txBody>
      </p:sp>
      <p:sp>
        <p:nvSpPr>
          <p:cNvPr id="163843"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Teste em XP</a:t>
            </a:r>
            <a:endParaRPr lang="pt-PT" altLang="pt-BR" sz="3600"/>
          </a:p>
        </p:txBody>
      </p:sp>
      <p:sp>
        <p:nvSpPr>
          <p:cNvPr id="154628" name="Rectangle 3"/>
          <p:cNvSpPr>
            <a:spLocks noGrp="1" noChangeArrowheads="1"/>
          </p:cNvSpPr>
          <p:nvPr>
            <p:ph type="subTitle" idx="1"/>
          </p:nvPr>
        </p:nvSpPr>
        <p:spPr>
          <a:xfrm>
            <a:off x="1" y="759125"/>
            <a:ext cx="11947584" cy="5690889"/>
          </a:xfrm>
        </p:spPr>
        <p:txBody>
          <a:bodyPr>
            <a:normAutofit/>
          </a:bodyPr>
          <a:lstStyle/>
          <a:p>
            <a:pPr algn="just" eaLnBrk="1" hangingPunct="1">
              <a:defRPr/>
            </a:pPr>
            <a:r>
              <a:rPr lang="pt-BR" dirty="0"/>
              <a:t>T</a:t>
            </a:r>
            <a:r>
              <a:rPr lang="pt-BR" dirty="0" smtClean="0"/>
              <a:t>este automatizado: </a:t>
            </a:r>
            <a:r>
              <a:rPr lang="pt-BR" dirty="0"/>
              <a:t>há sempre um conjunto de testes que podem ser executados rapidamente e com facilidade</a:t>
            </a:r>
            <a:r>
              <a:rPr lang="pt-BR" dirty="0" smtClean="0"/>
              <a:t>. Testes </a:t>
            </a:r>
            <a:r>
              <a:rPr lang="pt-BR" dirty="0"/>
              <a:t>podem ser executados e os problemas que o novo código introduziu podem ser detectados imediatamente. </a:t>
            </a:r>
            <a:endParaRPr lang="pt-BR" dirty="0" smtClean="0"/>
          </a:p>
          <a:p>
            <a:pPr algn="just" eaLnBrk="1" hangingPunct="1">
              <a:defRPr/>
            </a:pPr>
            <a:r>
              <a:rPr lang="pt-BR" dirty="0" smtClean="0"/>
              <a:t>Desenvolvimento </a:t>
            </a:r>
            <a:r>
              <a:rPr lang="pt-BR" dirty="0" err="1"/>
              <a:t>test-first</a:t>
            </a:r>
            <a:r>
              <a:rPr lang="pt-BR" dirty="0"/>
              <a:t> e teste </a:t>
            </a:r>
            <a:r>
              <a:rPr lang="pt-BR" dirty="0" smtClean="0"/>
              <a:t>automatizado: resultam </a:t>
            </a:r>
            <a:r>
              <a:rPr lang="pt-BR" dirty="0"/>
              <a:t>em um grande número de testes sendo escritos e executados</a:t>
            </a:r>
            <a:r>
              <a:rPr lang="pt-BR" dirty="0" smtClean="0"/>
              <a:t>.</a:t>
            </a:r>
          </a:p>
          <a:p>
            <a:pPr algn="just" eaLnBrk="1" hangingPunct="1">
              <a:defRPr/>
            </a:pPr>
            <a:r>
              <a:rPr lang="pt-BR" dirty="0" smtClean="0"/>
              <a:t>Abordagem </a:t>
            </a:r>
            <a:r>
              <a:rPr lang="pt-BR" dirty="0"/>
              <a:t>não </a:t>
            </a:r>
            <a:r>
              <a:rPr lang="pt-BR" dirty="0" smtClean="0"/>
              <a:t>leva </a:t>
            </a:r>
            <a:r>
              <a:rPr lang="pt-BR" dirty="0"/>
              <a:t>a testes completos do </a:t>
            </a:r>
            <a:r>
              <a:rPr lang="pt-BR" dirty="0" smtClean="0"/>
              <a:t>programa: </a:t>
            </a:r>
          </a:p>
          <a:p>
            <a:pPr marL="457200" indent="-457200" algn="just">
              <a:buFontTx/>
              <a:buAutoNum type="arabicPeriod"/>
              <a:defRPr/>
            </a:pPr>
            <a:r>
              <a:rPr lang="pt-BR" dirty="0" smtClean="0"/>
              <a:t>Programadores </a:t>
            </a:r>
            <a:r>
              <a:rPr lang="pt-BR" dirty="0"/>
              <a:t>preferem programar para testes e, por vezes, tomam atalhos ao escrevê-los. </a:t>
            </a:r>
            <a:endParaRPr lang="pt-BR" dirty="0" smtClean="0"/>
          </a:p>
          <a:p>
            <a:pPr marL="457200" indent="-457200" algn="just">
              <a:buFontTx/>
              <a:buAutoNum type="arabicPeriod"/>
              <a:defRPr/>
            </a:pPr>
            <a:r>
              <a:rPr lang="pt-BR" dirty="0" smtClean="0"/>
              <a:t>Escrevem </a:t>
            </a:r>
            <a:r>
              <a:rPr lang="pt-BR" dirty="0"/>
              <a:t>testes incompletos que não verificam todas as possíveis </a:t>
            </a:r>
            <a:r>
              <a:rPr lang="pt-BR" dirty="0" smtClean="0"/>
              <a:t>exceções</a:t>
            </a:r>
          </a:p>
          <a:p>
            <a:pPr marL="457200" indent="-457200" algn="just">
              <a:buFontTx/>
              <a:buAutoNum type="arabicPeriod"/>
              <a:defRPr/>
            </a:pPr>
            <a:r>
              <a:rPr lang="pt-BR" dirty="0" smtClean="0"/>
              <a:t>Alguns </a:t>
            </a:r>
            <a:r>
              <a:rPr lang="pt-BR" dirty="0"/>
              <a:t>testes </a:t>
            </a:r>
            <a:r>
              <a:rPr lang="pt-BR" dirty="0" smtClean="0"/>
              <a:t>são </a:t>
            </a:r>
            <a:r>
              <a:rPr lang="pt-BR" dirty="0"/>
              <a:t>difíceis de escrever de forma incremental. </a:t>
            </a:r>
            <a:r>
              <a:rPr lang="pt-BR" dirty="0" err="1" smtClean="0"/>
              <a:t>Ex</a:t>
            </a:r>
            <a:r>
              <a:rPr lang="pt-BR" dirty="0" smtClean="0"/>
              <a:t>: </a:t>
            </a:r>
            <a:r>
              <a:rPr lang="pt-BR" dirty="0"/>
              <a:t>em uma interface complexa de </a:t>
            </a:r>
            <a:r>
              <a:rPr lang="pt-BR" dirty="0" smtClean="0"/>
              <a:t>usuário é </a:t>
            </a:r>
            <a:r>
              <a:rPr lang="pt-BR" dirty="0"/>
              <a:t>difícil escrever testes unitários para o código que implementa a ‘lógica de exibição’ e o workflow entre as </a:t>
            </a:r>
            <a:r>
              <a:rPr lang="pt-BR" dirty="0" smtClean="0"/>
              <a:t>telas</a:t>
            </a:r>
          </a:p>
          <a:p>
            <a:pPr algn="just">
              <a:defRPr/>
            </a:pPr>
            <a:endParaRPr lang="pt-BR" altLang="pt-BR" dirty="0" smtClean="0"/>
          </a:p>
        </p:txBody>
      </p:sp>
    </p:spTree>
    <p:extLst>
      <p:ext uri="{BB962C8B-B14F-4D97-AF65-F5344CB8AC3E}">
        <p14:creationId xmlns:p14="http://schemas.microsoft.com/office/powerpoint/2010/main" val="28174635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66C004F-FEC3-41E6-AFC8-B6D2D9BF61DA}" type="slidenum">
              <a:rPr lang="pt-PT" altLang="pt-BR" sz="1400"/>
              <a:pPr>
                <a:spcBef>
                  <a:spcPct val="0"/>
                </a:spcBef>
                <a:buFontTx/>
                <a:buNone/>
              </a:pPr>
              <a:t>49</a:t>
            </a:fld>
            <a:endParaRPr lang="pt-PT" altLang="pt-BR" sz="1400"/>
          </a:p>
        </p:txBody>
      </p:sp>
      <p:sp>
        <p:nvSpPr>
          <p:cNvPr id="16793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Programação em Pares</a:t>
            </a:r>
            <a:endParaRPr lang="pt-PT" altLang="pt-BR" sz="3600"/>
          </a:p>
        </p:txBody>
      </p:sp>
      <p:sp>
        <p:nvSpPr>
          <p:cNvPr id="167940" name="Rectangle 3"/>
          <p:cNvSpPr>
            <a:spLocks noGrp="1" noChangeArrowheads="1"/>
          </p:cNvSpPr>
          <p:nvPr>
            <p:ph type="subTitle" idx="1"/>
          </p:nvPr>
        </p:nvSpPr>
        <p:spPr>
          <a:xfrm>
            <a:off x="103517" y="836614"/>
            <a:ext cx="11826815" cy="5422899"/>
          </a:xfrm>
        </p:spPr>
        <p:txBody>
          <a:bodyPr>
            <a:normAutofit/>
          </a:bodyPr>
          <a:lstStyle/>
          <a:p>
            <a:pPr algn="just" eaLnBrk="1" hangingPunct="1"/>
            <a:r>
              <a:rPr lang="pt-BR" altLang="pt-BR" dirty="0" smtClean="0"/>
              <a:t>Vantagens:</a:t>
            </a:r>
          </a:p>
          <a:p>
            <a:pPr algn="just" eaLnBrk="1" hangingPunct="1"/>
            <a:r>
              <a:rPr lang="pt-BR" altLang="pt-BR" dirty="0" smtClean="0"/>
              <a:t>1Dá suporte à ideia de propriedade e responsabilidade coletiva para o sistema, programação sem ego, de Weinberg (1971). O software é de propriedade da equipe, Os indivíduos não são responsabilizados por problemas com o código. A equipe tem responsabilidade coletiva para resolver problemas.</a:t>
            </a:r>
          </a:p>
          <a:p>
            <a:pPr algn="just" eaLnBrk="1" hangingPunct="1"/>
            <a:r>
              <a:rPr lang="pt-BR" altLang="pt-BR" dirty="0" smtClean="0"/>
              <a:t> 2. Atua como processo de revisão informal. Cada linha de código é observada por duas pessoas ao menos. Inspeções e revisões do código são bem-sucedidas em descobrir uma elevada porcentagem de erros de softwares. Demoradas para organizar e costumam atrasar o desenvolvimento. </a:t>
            </a:r>
            <a:r>
              <a:rPr lang="pt-BR" altLang="pt-BR" dirty="0"/>
              <a:t>É</a:t>
            </a:r>
            <a:r>
              <a:rPr lang="pt-BR" altLang="pt-BR" dirty="0" smtClean="0"/>
              <a:t> um processo menos formal que provavelmente não encontra tantos erros como as inspeções de código. </a:t>
            </a:r>
            <a:r>
              <a:rPr lang="pt-BR" altLang="pt-BR" dirty="0"/>
              <a:t>M</a:t>
            </a:r>
            <a:r>
              <a:rPr lang="pt-BR" altLang="pt-BR" dirty="0" smtClean="0"/>
              <a:t>ais barato do que inspeções formais de programa.</a:t>
            </a:r>
          </a:p>
          <a:p>
            <a:pPr algn="just"/>
            <a:r>
              <a:rPr lang="pt-BR" altLang="pt-BR" dirty="0"/>
              <a:t>3. Dá suporte à </a:t>
            </a:r>
            <a:r>
              <a:rPr lang="pt-BR" altLang="pt-BR" dirty="0" err="1"/>
              <a:t>refatoração</a:t>
            </a:r>
            <a:r>
              <a:rPr lang="pt-BR" altLang="pt-BR" dirty="0"/>
              <a:t> (processo de melhoria de software), que </a:t>
            </a:r>
            <a:r>
              <a:rPr lang="pt-BR" altLang="pt-BR" dirty="0" smtClean="0"/>
              <a:t>traz </a:t>
            </a:r>
            <a:r>
              <a:rPr lang="pt-BR" altLang="pt-BR" dirty="0"/>
              <a:t>benefício a longo prazo.</a:t>
            </a:r>
          </a:p>
          <a:p>
            <a:pPr algn="just"/>
            <a:r>
              <a:rPr lang="pt-BR" altLang="pt-BR" dirty="0"/>
              <a:t>Um indivíduo que pratica a </a:t>
            </a:r>
            <a:r>
              <a:rPr lang="pt-BR" altLang="pt-BR" dirty="0" err="1"/>
              <a:t>refatoração</a:t>
            </a:r>
            <a:r>
              <a:rPr lang="pt-BR" altLang="pt-BR" dirty="0"/>
              <a:t> pode ser considerado menos eficiente do que aquele que atua no desenvolvimento de código. </a:t>
            </a:r>
            <a:endParaRPr lang="pt-BR" altLang="pt-BR" dirty="0" smtClean="0"/>
          </a:p>
        </p:txBody>
      </p:sp>
    </p:spTree>
    <p:extLst>
      <p:ext uri="{BB962C8B-B14F-4D97-AF65-F5344CB8AC3E}">
        <p14:creationId xmlns:p14="http://schemas.microsoft.com/office/powerpoint/2010/main" val="28104423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EC1507B-93BB-4A55-895E-BEF6A513F585}" type="slidenum">
              <a:rPr lang="pt-PT" altLang="pt-BR" sz="1400"/>
              <a:pPr>
                <a:spcBef>
                  <a:spcPct val="0"/>
                </a:spcBef>
                <a:buFontTx/>
                <a:buNone/>
              </a:pPr>
              <a:t>50</a:t>
            </a:fld>
            <a:endParaRPr lang="pt-PT" altLang="pt-BR" sz="1400"/>
          </a:p>
        </p:txBody>
      </p:sp>
      <p:sp>
        <p:nvSpPr>
          <p:cNvPr id="169987"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Programação em Pares</a:t>
            </a:r>
            <a:endParaRPr lang="pt-PT" altLang="pt-BR" sz="3600"/>
          </a:p>
        </p:txBody>
      </p:sp>
      <p:sp>
        <p:nvSpPr>
          <p:cNvPr id="169988" name="Rectangle 3"/>
          <p:cNvSpPr>
            <a:spLocks noGrp="1" noChangeArrowheads="1"/>
          </p:cNvSpPr>
          <p:nvPr>
            <p:ph type="subTitle" idx="1"/>
          </p:nvPr>
        </p:nvSpPr>
        <p:spPr>
          <a:xfrm>
            <a:off x="129396" y="957532"/>
            <a:ext cx="12062604" cy="5421043"/>
          </a:xfrm>
        </p:spPr>
        <p:txBody>
          <a:bodyPr>
            <a:normAutofit fontScale="92500"/>
          </a:bodyPr>
          <a:lstStyle/>
          <a:p>
            <a:pPr algn="just" eaLnBrk="1" hangingPunct="1"/>
            <a:r>
              <a:rPr lang="pt-BR" altLang="pt-BR" dirty="0" smtClean="0"/>
              <a:t>Programação em pares é menos eficiente do que a individual?</a:t>
            </a:r>
          </a:p>
          <a:p>
            <a:pPr algn="just" eaLnBrk="1" hangingPunct="1"/>
            <a:r>
              <a:rPr lang="pt-BR" altLang="pt-BR" dirty="0" smtClean="0"/>
              <a:t>Inicio: um par de desenvolvedores produziria metade da quantidade de código que dois indivíduos trabalhando sozinhos. </a:t>
            </a:r>
          </a:p>
          <a:p>
            <a:pPr algn="just" eaLnBrk="1" hangingPunct="1"/>
            <a:r>
              <a:rPr lang="pt-BR" altLang="pt-BR" dirty="0" smtClean="0"/>
              <a:t>Estudos da produtividade de programadores com estudantes voluntários, Williams e seus colaboradores (COCKBURN e WILLIAMS, 2001; WILLIAMS et al., 2000): produtividade na programação em pares parece ser comparável com a de duas pessoas que trabalham de forma independente. </a:t>
            </a:r>
          </a:p>
          <a:p>
            <a:pPr algn="just" eaLnBrk="1" hangingPunct="1"/>
            <a:r>
              <a:rPr lang="pt-BR" altLang="pt-BR" dirty="0"/>
              <a:t>P</a:t>
            </a:r>
            <a:r>
              <a:rPr lang="pt-BR" altLang="pt-BR" dirty="0" smtClean="0"/>
              <a:t>ares discutem o software antes do desenvolvimento, com menos falsos começos e menos retrabalho. O número de erros evitados pela inspeção informal reduz o tempo gasto consertando defeitos descobertos durante o processo de teste</a:t>
            </a:r>
          </a:p>
          <a:p>
            <a:pPr algn="just"/>
            <a:r>
              <a:rPr lang="pt-BR" altLang="pt-BR" dirty="0"/>
              <a:t>Estudos com programadores mais experientes (ARISHOLM et al., 2007; PARRISH et al., 2004</a:t>
            </a:r>
            <a:r>
              <a:rPr lang="pt-BR" altLang="pt-BR" dirty="0" smtClean="0"/>
              <a:t>) </a:t>
            </a:r>
            <a:r>
              <a:rPr lang="pt-BR" altLang="pt-BR" dirty="0"/>
              <a:t>não replicaram esses </a:t>
            </a:r>
            <a:r>
              <a:rPr lang="pt-BR" altLang="pt-BR" dirty="0" smtClean="0"/>
              <a:t>resultados:  perda significativa </a:t>
            </a:r>
            <a:r>
              <a:rPr lang="pt-BR" altLang="pt-BR" dirty="0"/>
              <a:t>de produtividade em comparação com dois programadores trabalhando sozinhos.</a:t>
            </a:r>
          </a:p>
          <a:p>
            <a:pPr algn="just"/>
            <a:r>
              <a:rPr lang="pt-BR" altLang="pt-BR" dirty="0" smtClean="0"/>
              <a:t>Compartilhamento </a:t>
            </a:r>
            <a:r>
              <a:rPr lang="pt-BR" altLang="pt-BR" dirty="0"/>
              <a:t>de conhecimento da programação em </a:t>
            </a:r>
            <a:r>
              <a:rPr lang="pt-BR" altLang="pt-BR" dirty="0" smtClean="0"/>
              <a:t>pares: </a:t>
            </a:r>
            <a:r>
              <a:rPr lang="pt-BR" altLang="pt-BR" dirty="0"/>
              <a:t>reduz os riscos globais na saída de membros da equipe. </a:t>
            </a:r>
          </a:p>
          <a:p>
            <a:pPr algn="just"/>
            <a:r>
              <a:rPr lang="pt-BR" altLang="pt-BR" dirty="0"/>
              <a:t>Esse aspecto pode fazer a programação em pares valer a pena.</a:t>
            </a:r>
          </a:p>
          <a:p>
            <a:pPr algn="just" eaLnBrk="1" hangingPunct="1"/>
            <a:endParaRPr lang="pt-BR" altLang="pt-BR" dirty="0" smtClean="0"/>
          </a:p>
        </p:txBody>
      </p:sp>
    </p:spTree>
    <p:extLst>
      <p:ext uri="{BB962C8B-B14F-4D97-AF65-F5344CB8AC3E}">
        <p14:creationId xmlns:p14="http://schemas.microsoft.com/office/powerpoint/2010/main" val="350266120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06CF892-1179-4BB7-B33C-9E6F18C6AFAD}" type="slidenum">
              <a:rPr lang="pt-PT" altLang="pt-BR" sz="1400"/>
              <a:pPr>
                <a:spcBef>
                  <a:spcPct val="0"/>
                </a:spcBef>
                <a:buFontTx/>
                <a:buNone/>
              </a:pPr>
              <a:t>51</a:t>
            </a:fld>
            <a:endParaRPr lang="pt-PT" altLang="pt-BR" sz="1400"/>
          </a:p>
        </p:txBody>
      </p:sp>
      <p:sp>
        <p:nvSpPr>
          <p:cNvPr id="172035"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Gerenciamento Ágil de Projetos</a:t>
            </a:r>
            <a:endParaRPr lang="pt-PT" altLang="pt-BR" sz="3600"/>
          </a:p>
        </p:txBody>
      </p:sp>
      <p:sp>
        <p:nvSpPr>
          <p:cNvPr id="172036" name="Rectangle 3"/>
          <p:cNvSpPr>
            <a:spLocks noGrp="1" noChangeArrowheads="1"/>
          </p:cNvSpPr>
          <p:nvPr>
            <p:ph type="subTitle" idx="1"/>
          </p:nvPr>
        </p:nvSpPr>
        <p:spPr>
          <a:xfrm>
            <a:off x="1" y="1026543"/>
            <a:ext cx="12068354" cy="5352032"/>
          </a:xfrm>
        </p:spPr>
        <p:txBody>
          <a:bodyPr>
            <a:normAutofit/>
          </a:bodyPr>
          <a:lstStyle/>
          <a:p>
            <a:pPr algn="just" eaLnBrk="1" hangingPunct="1"/>
            <a:r>
              <a:rPr lang="pt-BR" altLang="pt-BR" dirty="0" smtClean="0"/>
              <a:t>Responsabilidade dos gerentes de projeto: gerenciar o projeto para entrega do software no prazo e no orçamento previsto. </a:t>
            </a:r>
          </a:p>
          <a:p>
            <a:pPr algn="just" eaLnBrk="1" hangingPunct="1"/>
            <a:r>
              <a:rPr lang="pt-BR" altLang="pt-BR" dirty="0" smtClean="0"/>
              <a:t>Supervisionam o trabalho dos engenheiros de software e acompanham o desenvolvimento. </a:t>
            </a:r>
          </a:p>
          <a:p>
            <a:pPr algn="just" eaLnBrk="1" hangingPunct="1"/>
            <a:r>
              <a:rPr lang="pt-BR" altLang="pt-BR" dirty="0" smtClean="0"/>
              <a:t>A abordagem-padrão para gerenciamento de projetos é a dirigida a planos. </a:t>
            </a:r>
          </a:p>
          <a:p>
            <a:pPr algn="just" eaLnBrk="1" hangingPunct="1"/>
            <a:r>
              <a:rPr lang="pt-BR" altLang="pt-BR" dirty="0" smtClean="0"/>
              <a:t>Gerentes elaboram plano do projeto mostrando o que e quando deve ser entregue, quem vai trabalhar no desenvolvimento das entregas do projeto. </a:t>
            </a:r>
          </a:p>
          <a:p>
            <a:pPr algn="just" eaLnBrk="1" hangingPunct="1"/>
            <a:endParaRPr lang="pt-BR" altLang="pt-BR" dirty="0" smtClean="0"/>
          </a:p>
          <a:p>
            <a:pPr algn="just" eaLnBrk="1" hangingPunct="1"/>
            <a:r>
              <a:rPr lang="pt-BR" altLang="pt-BR" dirty="0" smtClean="0"/>
              <a:t>Abordagem baseada em planos:</a:t>
            </a:r>
          </a:p>
          <a:p>
            <a:pPr algn="just" eaLnBrk="1" hangingPunct="1"/>
            <a:r>
              <a:rPr lang="pt-BR" altLang="pt-BR" dirty="0" smtClean="0"/>
              <a:t>1)gerente com visão estável de tudo o que tem de ser desenvolvido e dos processos de desenvolvimento</a:t>
            </a:r>
          </a:p>
          <a:p>
            <a:pPr algn="just" eaLnBrk="1" hangingPunct="1"/>
            <a:r>
              <a:rPr lang="pt-BR" altLang="pt-BR" dirty="0" smtClean="0"/>
              <a:t>2)não funciona bem com os métodos ágeis, (requisitos desenvolvidos de forma incremental, o software entregue em incrementos curtos e rápidos, e as mudanças nos requisitos e no software são normais).</a:t>
            </a:r>
          </a:p>
        </p:txBody>
      </p:sp>
    </p:spTree>
    <p:extLst>
      <p:ext uri="{BB962C8B-B14F-4D97-AF65-F5344CB8AC3E}">
        <p14:creationId xmlns:p14="http://schemas.microsoft.com/office/powerpoint/2010/main" val="266165323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1C82959-FE15-4015-8E65-B0BBF6C2D339}" type="slidenum">
              <a:rPr lang="pt-PT" altLang="pt-BR" sz="1400"/>
              <a:pPr>
                <a:spcBef>
                  <a:spcPct val="0"/>
                </a:spcBef>
                <a:buFontTx/>
                <a:buNone/>
              </a:pPr>
              <a:t>52</a:t>
            </a:fld>
            <a:endParaRPr lang="pt-PT" altLang="pt-BR" sz="1400"/>
          </a:p>
        </p:txBody>
      </p:sp>
      <p:sp>
        <p:nvSpPr>
          <p:cNvPr id="17305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dirty="0"/>
              <a:t>3 Desenvolvimento de Software Ágil – Gerenciamento Ágil de </a:t>
            </a:r>
            <a:r>
              <a:rPr lang="pt-BR" altLang="pt-BR" sz="3600" dirty="0" smtClean="0"/>
              <a:t>Projetos -</a:t>
            </a:r>
            <a:r>
              <a:rPr lang="pt-BR" altLang="pt-BR" sz="3600" dirty="0" err="1" smtClean="0"/>
              <a:t>scrum</a:t>
            </a:r>
            <a:endParaRPr lang="pt-PT" altLang="pt-BR" sz="3600" dirty="0"/>
          </a:p>
        </p:txBody>
      </p:sp>
      <p:sp>
        <p:nvSpPr>
          <p:cNvPr id="173060" name="Rectangle 3"/>
          <p:cNvSpPr>
            <a:spLocks noGrp="1" noChangeArrowheads="1"/>
          </p:cNvSpPr>
          <p:nvPr>
            <p:ph type="subTitle" idx="1"/>
          </p:nvPr>
        </p:nvSpPr>
        <p:spPr>
          <a:xfrm>
            <a:off x="146649" y="1104181"/>
            <a:ext cx="11800936" cy="5274394"/>
          </a:xfrm>
        </p:spPr>
        <p:txBody>
          <a:bodyPr/>
          <a:lstStyle/>
          <a:p>
            <a:pPr algn="just" eaLnBrk="1" hangingPunct="1"/>
            <a:r>
              <a:rPr lang="pt-BR" altLang="pt-BR" dirty="0" smtClean="0"/>
              <a:t>Desenvolvimento ágil: gerenciado de modo que se faça o melhor uso com o tempo e recursos disponíveis para a equipe – abordagem diferente de gerenciamento de projeto, adaptada para o desenvolvimento incremental e para os pontos fortes dos métodos ágeis. </a:t>
            </a:r>
          </a:p>
          <a:p>
            <a:pPr algn="just" eaLnBrk="1" hangingPunct="1"/>
            <a:r>
              <a:rPr lang="pt-BR" altLang="pt-BR" dirty="0" err="1" smtClean="0"/>
              <a:t>Scrum</a:t>
            </a:r>
            <a:r>
              <a:rPr lang="pt-BR" altLang="pt-BR" dirty="0" smtClean="0"/>
              <a:t>: </a:t>
            </a:r>
          </a:p>
          <a:p>
            <a:pPr algn="just" eaLnBrk="1" hangingPunct="1"/>
            <a:r>
              <a:rPr lang="pt-BR" altLang="pt-BR" dirty="0" smtClean="0"/>
              <a:t>não prescreve o uso de práticas de programação, como programação em pares e desenvolvimento </a:t>
            </a:r>
            <a:r>
              <a:rPr lang="pt-BR" altLang="pt-BR" dirty="0" err="1" smtClean="0"/>
              <a:t>test-first</a:t>
            </a:r>
            <a:r>
              <a:rPr lang="pt-BR" altLang="pt-BR" dirty="0" smtClean="0"/>
              <a:t>. </a:t>
            </a:r>
          </a:p>
          <a:p>
            <a:pPr algn="just" eaLnBrk="1" hangingPunct="1"/>
            <a:r>
              <a:rPr lang="pt-BR" altLang="pt-BR" dirty="0" smtClean="0"/>
              <a:t>Pode ser usado com abordagens ágeis e técnicas, como XP, para fornecer um framework de gerenciamento do projeto</a:t>
            </a:r>
          </a:p>
        </p:txBody>
      </p:sp>
    </p:spTree>
    <p:extLst>
      <p:ext uri="{BB962C8B-B14F-4D97-AF65-F5344CB8AC3E}">
        <p14:creationId xmlns:p14="http://schemas.microsoft.com/office/powerpoint/2010/main" val="64071385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C6BD3C4-005A-40C9-BE4A-87296D953CCC}" type="slidenum">
              <a:rPr lang="pt-PT" altLang="pt-BR" sz="1400"/>
              <a:pPr>
                <a:spcBef>
                  <a:spcPct val="0"/>
                </a:spcBef>
                <a:buFontTx/>
                <a:buNone/>
              </a:pPr>
              <a:t>53</a:t>
            </a:fld>
            <a:endParaRPr lang="pt-PT" altLang="pt-BR" sz="1400"/>
          </a:p>
        </p:txBody>
      </p:sp>
      <p:sp>
        <p:nvSpPr>
          <p:cNvPr id="174083"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dirty="0"/>
              <a:t>3 Desenvolvimento de Software Ágil – Gerenciamento Ágil de </a:t>
            </a:r>
            <a:r>
              <a:rPr lang="pt-BR" altLang="pt-BR" sz="3600" dirty="0" smtClean="0"/>
              <a:t>Projetos - </a:t>
            </a:r>
            <a:r>
              <a:rPr lang="pt-BR" altLang="pt-BR" sz="3600" dirty="0" err="1" smtClean="0"/>
              <a:t>scrum</a:t>
            </a:r>
            <a:endParaRPr lang="pt-PT" altLang="pt-BR" sz="3600" dirty="0"/>
          </a:p>
        </p:txBody>
      </p:sp>
      <p:sp>
        <p:nvSpPr>
          <p:cNvPr id="3" name="Retângulo 2"/>
          <p:cNvSpPr/>
          <p:nvPr/>
        </p:nvSpPr>
        <p:spPr>
          <a:xfrm>
            <a:off x="1774825" y="3500439"/>
            <a:ext cx="1441450" cy="1368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Planejamento do projeto</a:t>
            </a:r>
          </a:p>
        </p:txBody>
      </p:sp>
      <p:sp>
        <p:nvSpPr>
          <p:cNvPr id="4" name="Retângulo 3"/>
          <p:cNvSpPr/>
          <p:nvPr/>
        </p:nvSpPr>
        <p:spPr>
          <a:xfrm>
            <a:off x="8975726" y="3284539"/>
            <a:ext cx="1692275" cy="1800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Encerramento do projeto</a:t>
            </a:r>
          </a:p>
        </p:txBody>
      </p:sp>
      <p:sp>
        <p:nvSpPr>
          <p:cNvPr id="5" name="Elipse 4"/>
          <p:cNvSpPr/>
          <p:nvPr/>
        </p:nvSpPr>
        <p:spPr>
          <a:xfrm>
            <a:off x="3359151" y="1341439"/>
            <a:ext cx="5184775" cy="45354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cxnSp>
        <p:nvCxnSpPr>
          <p:cNvPr id="9" name="Conector reto 8"/>
          <p:cNvCxnSpPr>
            <a:stCxn id="5" idx="0"/>
            <a:endCxn id="5" idx="4"/>
          </p:cNvCxnSpPr>
          <p:nvPr/>
        </p:nvCxnSpPr>
        <p:spPr>
          <a:xfrm>
            <a:off x="5951538" y="1341439"/>
            <a:ext cx="0" cy="45354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p:cNvCxnSpPr>
            <a:stCxn id="5" idx="2"/>
            <a:endCxn id="5" idx="6"/>
          </p:cNvCxnSpPr>
          <p:nvPr/>
        </p:nvCxnSpPr>
        <p:spPr>
          <a:xfrm>
            <a:off x="3359151" y="3608388"/>
            <a:ext cx="518477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tângulo 11"/>
          <p:cNvSpPr/>
          <p:nvPr/>
        </p:nvSpPr>
        <p:spPr>
          <a:xfrm>
            <a:off x="3935413" y="2349500"/>
            <a:ext cx="1439862" cy="935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Avaliar</a:t>
            </a:r>
          </a:p>
        </p:txBody>
      </p:sp>
      <p:sp>
        <p:nvSpPr>
          <p:cNvPr id="13" name="Retângulo 12"/>
          <p:cNvSpPr/>
          <p:nvPr/>
        </p:nvSpPr>
        <p:spPr>
          <a:xfrm>
            <a:off x="6456363" y="2349501"/>
            <a:ext cx="1511300" cy="1008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Selecionar</a:t>
            </a:r>
          </a:p>
        </p:txBody>
      </p:sp>
      <p:sp>
        <p:nvSpPr>
          <p:cNvPr id="14" name="Retângulo 13"/>
          <p:cNvSpPr/>
          <p:nvPr/>
        </p:nvSpPr>
        <p:spPr>
          <a:xfrm>
            <a:off x="6383339" y="4005263"/>
            <a:ext cx="1800225" cy="7921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Desenvolver</a:t>
            </a:r>
          </a:p>
        </p:txBody>
      </p:sp>
      <p:sp>
        <p:nvSpPr>
          <p:cNvPr id="15" name="Retângulo 14"/>
          <p:cNvSpPr/>
          <p:nvPr/>
        </p:nvSpPr>
        <p:spPr>
          <a:xfrm>
            <a:off x="4008439" y="4076701"/>
            <a:ext cx="1582737" cy="792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dirty="0"/>
              <a:t>Revisar</a:t>
            </a:r>
          </a:p>
        </p:txBody>
      </p:sp>
      <p:sp>
        <p:nvSpPr>
          <p:cNvPr id="16" name="Seta para a direita 15"/>
          <p:cNvSpPr/>
          <p:nvPr/>
        </p:nvSpPr>
        <p:spPr>
          <a:xfrm>
            <a:off x="5448300" y="2781300"/>
            <a:ext cx="935038" cy="215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7" name="Seta para baixo 16"/>
          <p:cNvSpPr/>
          <p:nvPr/>
        </p:nvSpPr>
        <p:spPr>
          <a:xfrm>
            <a:off x="7175500" y="3357563"/>
            <a:ext cx="215900" cy="5762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19" name="Seta para baixo 18"/>
          <p:cNvSpPr/>
          <p:nvPr/>
        </p:nvSpPr>
        <p:spPr>
          <a:xfrm rot="10800000">
            <a:off x="4656138" y="3357564"/>
            <a:ext cx="360362" cy="7191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
        <p:nvSpPr>
          <p:cNvPr id="20" name="Seta para a direita 19"/>
          <p:cNvSpPr/>
          <p:nvPr/>
        </p:nvSpPr>
        <p:spPr>
          <a:xfrm rot="10800000">
            <a:off x="5664200" y="4365625"/>
            <a:ext cx="647700" cy="2873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p>
        </p:txBody>
      </p:sp>
    </p:spTree>
    <p:extLst>
      <p:ext uri="{BB962C8B-B14F-4D97-AF65-F5344CB8AC3E}">
        <p14:creationId xmlns:p14="http://schemas.microsoft.com/office/powerpoint/2010/main" val="24820222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A052798-850D-461B-9944-780FE18F210E}" type="slidenum">
              <a:rPr lang="pt-PT" altLang="pt-BR" sz="1400"/>
              <a:pPr>
                <a:spcBef>
                  <a:spcPct val="0"/>
                </a:spcBef>
                <a:buFontTx/>
                <a:buNone/>
              </a:pPr>
              <a:t>54</a:t>
            </a:fld>
            <a:endParaRPr lang="pt-PT" altLang="pt-BR" sz="1400"/>
          </a:p>
        </p:txBody>
      </p:sp>
      <p:sp>
        <p:nvSpPr>
          <p:cNvPr id="175107"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Gerenciamento Ágil de Projetos</a:t>
            </a:r>
            <a:endParaRPr lang="pt-PT" altLang="pt-BR" sz="3600"/>
          </a:p>
        </p:txBody>
      </p:sp>
      <p:sp>
        <p:nvSpPr>
          <p:cNvPr id="154628" name="Rectangle 3"/>
          <p:cNvSpPr>
            <a:spLocks noGrp="1" noChangeArrowheads="1"/>
          </p:cNvSpPr>
          <p:nvPr>
            <p:ph type="subTitle" idx="1"/>
          </p:nvPr>
        </p:nvSpPr>
        <p:spPr>
          <a:xfrm>
            <a:off x="60385" y="1061049"/>
            <a:ext cx="11982090" cy="5317526"/>
          </a:xfrm>
        </p:spPr>
        <p:txBody>
          <a:bodyPr/>
          <a:lstStyle/>
          <a:p>
            <a:pPr algn="just" eaLnBrk="1" hangingPunct="1">
              <a:defRPr/>
            </a:pPr>
            <a:r>
              <a:rPr lang="pt-BR" dirty="0" smtClean="0"/>
              <a:t>Fases </a:t>
            </a:r>
            <a:r>
              <a:rPr lang="pt-BR" dirty="0" err="1" smtClean="0"/>
              <a:t>Scrum</a:t>
            </a:r>
            <a:r>
              <a:rPr lang="pt-BR" dirty="0" smtClean="0"/>
              <a:t>:</a:t>
            </a:r>
          </a:p>
          <a:p>
            <a:pPr marL="457200" indent="-457200" algn="just">
              <a:buFontTx/>
              <a:buAutoNum type="arabicParenR"/>
              <a:defRPr/>
            </a:pPr>
            <a:r>
              <a:rPr lang="pt-BR" dirty="0" smtClean="0"/>
              <a:t>Planejamento geral: estabelecem </a:t>
            </a:r>
            <a:r>
              <a:rPr lang="pt-BR" dirty="0"/>
              <a:t>os objetivos gerais do projeto e da arquitetura do software. </a:t>
            </a:r>
            <a:endParaRPr lang="pt-BR" dirty="0" smtClean="0"/>
          </a:p>
          <a:p>
            <a:pPr marL="457200" indent="-457200" algn="just">
              <a:buFontTx/>
              <a:buAutoNum type="arabicParenR"/>
              <a:defRPr/>
            </a:pPr>
            <a:r>
              <a:rPr lang="pt-BR" dirty="0"/>
              <a:t>S</a:t>
            </a:r>
            <a:r>
              <a:rPr lang="pt-BR" dirty="0" smtClean="0"/>
              <a:t>érie </a:t>
            </a:r>
            <a:r>
              <a:rPr lang="pt-BR" dirty="0"/>
              <a:t>de ciclos de </a:t>
            </a:r>
            <a:r>
              <a:rPr lang="pt-BR" dirty="0" smtClean="0"/>
              <a:t>Sprint: </a:t>
            </a:r>
            <a:r>
              <a:rPr lang="pt-BR" dirty="0"/>
              <a:t>cada ciclo desenvolve um incremento do sistema</a:t>
            </a:r>
            <a:r>
              <a:rPr lang="pt-BR" dirty="0" smtClean="0"/>
              <a:t>.</a:t>
            </a:r>
          </a:p>
          <a:p>
            <a:pPr marL="457200" indent="-457200" algn="just">
              <a:buFontTx/>
              <a:buAutoNum type="arabicParenR"/>
              <a:defRPr/>
            </a:pPr>
            <a:r>
              <a:rPr lang="pt-BR" dirty="0" smtClean="0"/>
              <a:t>Encerramento do projeto: completa </a:t>
            </a:r>
            <a:r>
              <a:rPr lang="pt-BR" dirty="0"/>
              <a:t>a documentação exigida, como quadros de ajuda do sistema e manuais do usuário, e avalia as lições aprendidas com o projeto. </a:t>
            </a:r>
            <a:endParaRPr lang="pt-BR" dirty="0" smtClean="0"/>
          </a:p>
          <a:p>
            <a:pPr algn="just" eaLnBrk="1" hangingPunct="1">
              <a:defRPr/>
            </a:pPr>
            <a:r>
              <a:rPr lang="pt-BR" dirty="0" smtClean="0"/>
              <a:t>A </a:t>
            </a:r>
            <a:r>
              <a:rPr lang="pt-BR" dirty="0"/>
              <a:t>característica inovadora do </a:t>
            </a:r>
            <a:r>
              <a:rPr lang="pt-BR" dirty="0" err="1"/>
              <a:t>Scrum</a:t>
            </a:r>
            <a:r>
              <a:rPr lang="pt-BR" dirty="0"/>
              <a:t> é sua fase central, chamada ciclos de </a:t>
            </a:r>
            <a:r>
              <a:rPr lang="pt-BR" dirty="0" err="1"/>
              <a:t>sprint</a:t>
            </a:r>
            <a:r>
              <a:rPr lang="pt-BR" dirty="0"/>
              <a:t>. </a:t>
            </a:r>
            <a:endParaRPr lang="pt-BR" dirty="0" smtClean="0"/>
          </a:p>
          <a:p>
            <a:pPr algn="just" eaLnBrk="1" hangingPunct="1">
              <a:defRPr/>
            </a:pPr>
            <a:r>
              <a:rPr lang="pt-BR" dirty="0" smtClean="0"/>
              <a:t>Um </a:t>
            </a:r>
            <a:r>
              <a:rPr lang="pt-BR" dirty="0" err="1" smtClean="0"/>
              <a:t>sprint</a:t>
            </a:r>
            <a:r>
              <a:rPr lang="pt-BR" dirty="0" smtClean="0"/>
              <a:t> </a:t>
            </a:r>
            <a:r>
              <a:rPr lang="pt-BR" dirty="0"/>
              <a:t>é uma unidade de planejamento na qual o trabalho a ser feito é avaliado, os recursos para o desenvolvimento são </a:t>
            </a:r>
            <a:r>
              <a:rPr lang="pt-BR" dirty="0" smtClean="0"/>
              <a:t>selecionados </a:t>
            </a:r>
            <a:r>
              <a:rPr lang="pt-BR" dirty="0"/>
              <a:t>e o software é implementado. No fim de um </a:t>
            </a:r>
            <a:r>
              <a:rPr lang="pt-BR" dirty="0" err="1"/>
              <a:t>sprint</a:t>
            </a:r>
            <a:r>
              <a:rPr lang="pt-BR" dirty="0"/>
              <a:t>, a funcionalidade completa é entregue aos </a:t>
            </a:r>
            <a:r>
              <a:rPr lang="pt-BR" dirty="0" err="1"/>
              <a:t>stakeholders</a:t>
            </a:r>
            <a:r>
              <a:rPr lang="pt-BR" dirty="0"/>
              <a:t>. </a:t>
            </a:r>
            <a:endParaRPr lang="pt-BR" altLang="pt-BR" dirty="0" smtClean="0"/>
          </a:p>
        </p:txBody>
      </p:sp>
    </p:spTree>
    <p:extLst>
      <p:ext uri="{BB962C8B-B14F-4D97-AF65-F5344CB8AC3E}">
        <p14:creationId xmlns:p14="http://schemas.microsoft.com/office/powerpoint/2010/main" val="26928917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E432978-2088-4224-B355-73E29234A98C}" type="slidenum">
              <a:rPr lang="pt-PT" altLang="pt-BR" sz="1400"/>
              <a:pPr>
                <a:spcBef>
                  <a:spcPct val="0"/>
                </a:spcBef>
                <a:buFontTx/>
                <a:buNone/>
              </a:pPr>
              <a:t>55</a:t>
            </a:fld>
            <a:endParaRPr lang="pt-PT" altLang="pt-BR" sz="1400"/>
          </a:p>
        </p:txBody>
      </p:sp>
      <p:sp>
        <p:nvSpPr>
          <p:cNvPr id="176131"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Gerenciamento Ágil de Projetos</a:t>
            </a:r>
            <a:endParaRPr lang="pt-PT" altLang="pt-BR" sz="3600"/>
          </a:p>
        </p:txBody>
      </p:sp>
      <p:sp>
        <p:nvSpPr>
          <p:cNvPr id="176132" name="Rectangle 3"/>
          <p:cNvSpPr>
            <a:spLocks noGrp="1" noChangeArrowheads="1"/>
          </p:cNvSpPr>
          <p:nvPr>
            <p:ph type="subTitle" idx="1"/>
          </p:nvPr>
        </p:nvSpPr>
        <p:spPr>
          <a:xfrm>
            <a:off x="0" y="1069675"/>
            <a:ext cx="12191999" cy="5308900"/>
          </a:xfrm>
        </p:spPr>
        <p:txBody>
          <a:bodyPr/>
          <a:lstStyle/>
          <a:p>
            <a:pPr algn="just" eaLnBrk="1" hangingPunct="1"/>
            <a:r>
              <a:rPr lang="pt-BR" altLang="pt-BR" dirty="0" smtClean="0"/>
              <a:t>Características </a:t>
            </a:r>
            <a:r>
              <a:rPr lang="pt-BR" altLang="pt-BR" dirty="0" err="1" smtClean="0"/>
              <a:t>Scrum</a:t>
            </a:r>
            <a:r>
              <a:rPr lang="pt-BR" altLang="pt-BR" dirty="0" smtClean="0"/>
              <a:t>: </a:t>
            </a:r>
          </a:p>
          <a:p>
            <a:pPr marL="457200" indent="-457200" algn="just" eaLnBrk="1" hangingPunct="1">
              <a:buAutoNum type="arabicPeriod"/>
            </a:pPr>
            <a:r>
              <a:rPr lang="pt-BR" altLang="pt-BR" dirty="0" err="1" smtClean="0"/>
              <a:t>Sprints</a:t>
            </a:r>
            <a:r>
              <a:rPr lang="pt-BR" altLang="pt-BR" dirty="0" smtClean="0"/>
              <a:t> são de comprimento fixo, normalmente duas a quatro semanas. Eles correspondem ao desenvolvimento de um release do sistema em XP. </a:t>
            </a:r>
          </a:p>
          <a:p>
            <a:pPr marL="457200" indent="-457200" algn="just" eaLnBrk="1" hangingPunct="1">
              <a:buAutoNum type="arabicPeriod"/>
            </a:pPr>
            <a:r>
              <a:rPr lang="pt-BR" altLang="pt-BR" dirty="0" smtClean="0"/>
              <a:t>O ponto de partida para o planejamento é o </a:t>
            </a:r>
            <a:r>
              <a:rPr lang="pt-BR" altLang="pt-BR" dirty="0" err="1" smtClean="0"/>
              <a:t>backlog</a:t>
            </a:r>
            <a:r>
              <a:rPr lang="pt-BR" altLang="pt-BR" dirty="0" smtClean="0"/>
              <a:t> do produto (lista do trabalho a ser feito no projeto). Na fase de avaliação do </a:t>
            </a:r>
            <a:r>
              <a:rPr lang="pt-BR" altLang="pt-BR" dirty="0" err="1" smtClean="0"/>
              <a:t>sprint</a:t>
            </a:r>
            <a:r>
              <a:rPr lang="pt-BR" altLang="pt-BR" dirty="0" smtClean="0"/>
              <a:t>, este é revisto, e as prioridades e os riscos são identificados. O cliente está intimamente envolvido nesse processo e, no início de cada </a:t>
            </a:r>
            <a:r>
              <a:rPr lang="pt-BR" altLang="pt-BR" dirty="0" err="1" smtClean="0"/>
              <a:t>sprint</a:t>
            </a:r>
            <a:r>
              <a:rPr lang="pt-BR" altLang="pt-BR" dirty="0" smtClean="0"/>
              <a:t>, pode introduzir novos requisitos ou tarefas.</a:t>
            </a:r>
          </a:p>
          <a:p>
            <a:pPr marL="457200" indent="-457200" algn="just" eaLnBrk="1" hangingPunct="1">
              <a:buAutoNum type="arabicPeriod"/>
            </a:pPr>
            <a:r>
              <a:rPr lang="pt-BR" altLang="pt-BR" dirty="0" smtClean="0"/>
              <a:t>A fase de seleção envolve todos da equipe do projeto que trabalham com o cliente para selecionar os recursos e a funcionalidade a ser desenvolvida durante o </a:t>
            </a:r>
            <a:r>
              <a:rPr lang="pt-BR" altLang="pt-BR" dirty="0" err="1" smtClean="0"/>
              <a:t>sprint</a:t>
            </a:r>
            <a:r>
              <a:rPr lang="pt-BR" altLang="pt-BR" dirty="0" smtClean="0"/>
              <a:t>.</a:t>
            </a:r>
          </a:p>
        </p:txBody>
      </p:sp>
    </p:spTree>
    <p:extLst>
      <p:ext uri="{BB962C8B-B14F-4D97-AF65-F5344CB8AC3E}">
        <p14:creationId xmlns:p14="http://schemas.microsoft.com/office/powerpoint/2010/main" val="58683076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38D6D6B-018F-4C22-96BE-6948108A72E4}" type="slidenum">
              <a:rPr lang="pt-PT" altLang="pt-BR" sz="1400"/>
              <a:pPr>
                <a:spcBef>
                  <a:spcPct val="0"/>
                </a:spcBef>
                <a:buFontTx/>
                <a:buNone/>
              </a:pPr>
              <a:t>56</a:t>
            </a:fld>
            <a:endParaRPr lang="pt-PT" altLang="pt-BR" sz="1400"/>
          </a:p>
        </p:txBody>
      </p:sp>
      <p:sp>
        <p:nvSpPr>
          <p:cNvPr id="177155"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Gerenciamento Ágil de Projetos</a:t>
            </a:r>
            <a:endParaRPr lang="pt-PT" altLang="pt-BR" sz="3600"/>
          </a:p>
        </p:txBody>
      </p:sp>
      <p:sp>
        <p:nvSpPr>
          <p:cNvPr id="177156" name="Rectangle 3"/>
          <p:cNvSpPr>
            <a:spLocks noGrp="1" noChangeArrowheads="1"/>
          </p:cNvSpPr>
          <p:nvPr>
            <p:ph type="subTitle" idx="1"/>
          </p:nvPr>
        </p:nvSpPr>
        <p:spPr>
          <a:xfrm>
            <a:off x="60385" y="836614"/>
            <a:ext cx="11999343" cy="5541961"/>
          </a:xfrm>
        </p:spPr>
        <p:txBody>
          <a:bodyPr/>
          <a:lstStyle/>
          <a:p>
            <a:pPr algn="just" eaLnBrk="1" hangingPunct="1"/>
            <a:r>
              <a:rPr lang="pt-BR" altLang="pt-BR" dirty="0" smtClean="0"/>
              <a:t>Características </a:t>
            </a:r>
            <a:r>
              <a:rPr lang="pt-BR" altLang="pt-BR" dirty="0" err="1" smtClean="0"/>
              <a:t>Scrum</a:t>
            </a:r>
            <a:r>
              <a:rPr lang="pt-BR" altLang="pt-BR" dirty="0" smtClean="0"/>
              <a:t>: </a:t>
            </a:r>
          </a:p>
          <a:p>
            <a:pPr algn="just" eaLnBrk="1" hangingPunct="1"/>
            <a:r>
              <a:rPr lang="pt-BR" altLang="pt-BR" dirty="0" smtClean="0"/>
              <a:t>4. Todos de acordo. Equipe se organiza para desenvolver o software. Reuniões diárias rápidas, envolvendo todos os membros da equipe são realizadas para analisar os progressos e, se necessário, </a:t>
            </a:r>
            <a:r>
              <a:rPr lang="pt-BR" altLang="pt-BR" dirty="0" err="1" smtClean="0"/>
              <a:t>repriorizar</a:t>
            </a:r>
            <a:r>
              <a:rPr lang="pt-BR" altLang="pt-BR" dirty="0" smtClean="0"/>
              <a:t> o trabalho. Nessa etapa, a equipe está isolada do cliente e da organização, com todas as comunicações canalizadas por meio do chamado ‘</a:t>
            </a:r>
            <a:r>
              <a:rPr lang="pt-BR" altLang="pt-BR" dirty="0" err="1" smtClean="0"/>
              <a:t>Scrum</a:t>
            </a:r>
            <a:r>
              <a:rPr lang="pt-BR" altLang="pt-BR" dirty="0" smtClean="0"/>
              <a:t> Master’ (proteger a equipe de desenvolvimento de distrações externas). A maneira como o trabalho é desenvolvido depende do problema e da equipe. Diferentemente do XP, a abordagem </a:t>
            </a:r>
            <a:r>
              <a:rPr lang="pt-BR" altLang="pt-BR" dirty="0" err="1" smtClean="0"/>
              <a:t>Scrum</a:t>
            </a:r>
            <a:r>
              <a:rPr lang="pt-BR" altLang="pt-BR" dirty="0" smtClean="0"/>
              <a:t> não faz sugestões específicas sobre como escrever os requisitos ou sobre o desenvolvimento </a:t>
            </a:r>
            <a:r>
              <a:rPr lang="pt-BR" altLang="pt-BR" dirty="0" err="1" smtClean="0"/>
              <a:t>test-first</a:t>
            </a:r>
            <a:r>
              <a:rPr lang="pt-BR" altLang="pt-BR" dirty="0" smtClean="0"/>
              <a:t> etc. No entanto, essas práticas de XP podem ser usadas se a equipe achar que são adequadas.</a:t>
            </a:r>
          </a:p>
          <a:p>
            <a:pPr algn="just" eaLnBrk="1" hangingPunct="1"/>
            <a:r>
              <a:rPr lang="pt-BR" altLang="pt-BR" dirty="0" smtClean="0"/>
              <a:t>5 No fim do </a:t>
            </a:r>
            <a:r>
              <a:rPr lang="pt-BR" altLang="pt-BR" dirty="0" err="1" smtClean="0"/>
              <a:t>sprint</a:t>
            </a:r>
            <a:r>
              <a:rPr lang="pt-BR" altLang="pt-BR" dirty="0" smtClean="0"/>
              <a:t>, o trabalho é revisto e apresentado aos </a:t>
            </a:r>
            <a:r>
              <a:rPr lang="pt-BR" altLang="pt-BR" dirty="0" err="1" smtClean="0"/>
              <a:t>stakeholders</a:t>
            </a:r>
            <a:r>
              <a:rPr lang="pt-BR" altLang="pt-BR" dirty="0" smtClean="0"/>
              <a:t>. O próximo ciclo </a:t>
            </a:r>
            <a:r>
              <a:rPr lang="pt-BR" altLang="pt-BR" dirty="0" err="1" smtClean="0"/>
              <a:t>sprint</a:t>
            </a:r>
            <a:r>
              <a:rPr lang="pt-BR" altLang="pt-BR" dirty="0" smtClean="0"/>
              <a:t> começa em seguida.</a:t>
            </a:r>
          </a:p>
          <a:p>
            <a:pPr algn="just" eaLnBrk="1" hangingPunct="1"/>
            <a:endParaRPr lang="pt-BR" altLang="pt-BR" dirty="0" smtClean="0"/>
          </a:p>
        </p:txBody>
      </p:sp>
    </p:spTree>
    <p:extLst>
      <p:ext uri="{BB962C8B-B14F-4D97-AF65-F5344CB8AC3E}">
        <p14:creationId xmlns:p14="http://schemas.microsoft.com/office/powerpoint/2010/main" val="66457755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6FCA10E-2120-4A72-BFBF-BE3FE434510D}" type="slidenum">
              <a:rPr lang="pt-PT" altLang="pt-BR" sz="1400"/>
              <a:pPr>
                <a:spcBef>
                  <a:spcPct val="0"/>
                </a:spcBef>
                <a:buFontTx/>
                <a:buNone/>
              </a:pPr>
              <a:t>57</a:t>
            </a:fld>
            <a:endParaRPr lang="pt-PT" altLang="pt-BR" sz="1400"/>
          </a:p>
        </p:txBody>
      </p:sp>
      <p:sp>
        <p:nvSpPr>
          <p:cNvPr id="17817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Gerenciamento Ágil de Projetos</a:t>
            </a:r>
            <a:endParaRPr lang="pt-PT" altLang="pt-BR" sz="3600"/>
          </a:p>
        </p:txBody>
      </p:sp>
      <p:sp>
        <p:nvSpPr>
          <p:cNvPr id="178180" name="Rectangle 3"/>
          <p:cNvSpPr>
            <a:spLocks noGrp="1" noChangeArrowheads="1"/>
          </p:cNvSpPr>
          <p:nvPr>
            <p:ph type="subTitle" idx="1"/>
          </p:nvPr>
        </p:nvSpPr>
        <p:spPr>
          <a:xfrm>
            <a:off x="94891" y="957532"/>
            <a:ext cx="12097109" cy="5421043"/>
          </a:xfrm>
        </p:spPr>
        <p:txBody>
          <a:bodyPr/>
          <a:lstStyle/>
          <a:p>
            <a:pPr algn="just" eaLnBrk="1" hangingPunct="1"/>
            <a:r>
              <a:rPr lang="pt-BR" altLang="pt-BR" dirty="0" err="1" smtClean="0"/>
              <a:t>Scrum</a:t>
            </a:r>
            <a:r>
              <a:rPr lang="pt-BR" altLang="pt-BR" dirty="0" smtClean="0"/>
              <a:t>:</a:t>
            </a:r>
          </a:p>
          <a:p>
            <a:pPr algn="just" eaLnBrk="1" hangingPunct="1"/>
            <a:r>
              <a:rPr lang="pt-BR" altLang="pt-BR" dirty="0" smtClean="0"/>
              <a:t>Equipe tem poderes para tomar decisões. O termo ‘gerente de projeto’ tem sido evitado. Pelo contrário, o ‘</a:t>
            </a:r>
            <a:r>
              <a:rPr lang="pt-BR" altLang="pt-BR" dirty="0" err="1" smtClean="0"/>
              <a:t>Scrum</a:t>
            </a:r>
            <a:r>
              <a:rPr lang="pt-BR" altLang="pt-BR" dirty="0" smtClean="0"/>
              <a:t> Master’ é um facilitador, que organiza reuniões diárias, controla o </a:t>
            </a:r>
            <a:r>
              <a:rPr lang="pt-BR" altLang="pt-BR" dirty="0" err="1" smtClean="0"/>
              <a:t>backlog</a:t>
            </a:r>
            <a:r>
              <a:rPr lang="pt-BR" altLang="pt-BR" dirty="0" smtClean="0"/>
              <a:t> de trabalho, registra decisões, mede o progresso comparado ao </a:t>
            </a:r>
            <a:r>
              <a:rPr lang="pt-BR" altLang="pt-BR" dirty="0" err="1" smtClean="0"/>
              <a:t>backlog</a:t>
            </a:r>
            <a:r>
              <a:rPr lang="pt-BR" altLang="pt-BR" dirty="0" smtClean="0"/>
              <a:t> e se comunica com os clientes e gerência externa à equipe. Sem hierarquia top-</a:t>
            </a:r>
            <a:r>
              <a:rPr lang="pt-BR" altLang="pt-BR" dirty="0" err="1" smtClean="0"/>
              <a:t>down</a:t>
            </a:r>
            <a:endParaRPr lang="pt-BR" altLang="pt-BR" dirty="0" smtClean="0"/>
          </a:p>
          <a:p>
            <a:pPr algn="just" eaLnBrk="1" hangingPunct="1"/>
            <a:r>
              <a:rPr lang="pt-BR" altLang="pt-BR" dirty="0" smtClean="0"/>
              <a:t>Equipe participa das reuniões diárias; às vezes com os participantes em pé (stand-</a:t>
            </a:r>
            <a:r>
              <a:rPr lang="pt-BR" altLang="pt-BR" dirty="0" err="1" smtClean="0"/>
              <a:t>up</a:t>
            </a:r>
            <a:r>
              <a:rPr lang="pt-BR" altLang="pt-BR" dirty="0" smtClean="0"/>
              <a:t>), muito rápidas, para a manutenção do foco da equipe. Membros da equipe compartilham informações, descrevem seu progresso desde a última reunião, os problemas e o que está planejado para o dia seguinte. Isso garante que todos na equipe saibam o que está acontecendo e, se surgirem problemas, poderão </a:t>
            </a:r>
            <a:r>
              <a:rPr lang="pt-BR" altLang="pt-BR" dirty="0" err="1" smtClean="0"/>
              <a:t>replanejar</a:t>
            </a:r>
            <a:r>
              <a:rPr lang="pt-BR" altLang="pt-BR" dirty="0" smtClean="0"/>
              <a:t> o trabalho de curto prazo para lidar com eles. Todos participam desse planejamento de curto prazo.</a:t>
            </a:r>
          </a:p>
        </p:txBody>
      </p:sp>
    </p:spTree>
    <p:extLst>
      <p:ext uri="{BB962C8B-B14F-4D97-AF65-F5344CB8AC3E}">
        <p14:creationId xmlns:p14="http://schemas.microsoft.com/office/powerpoint/2010/main" val="77877361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81EA2C-F8B5-40BC-AB9E-8392EEB49B97}" type="slidenum">
              <a:rPr lang="pt-PT" altLang="pt-BR" sz="1400"/>
              <a:pPr>
                <a:spcBef>
                  <a:spcPct val="0"/>
                </a:spcBef>
                <a:buFontTx/>
                <a:buNone/>
              </a:pPr>
              <a:t>58</a:t>
            </a:fld>
            <a:endParaRPr lang="pt-PT" altLang="pt-BR" sz="1400"/>
          </a:p>
        </p:txBody>
      </p:sp>
      <p:sp>
        <p:nvSpPr>
          <p:cNvPr id="179203"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dirty="0"/>
              <a:t>3 Desenvolvimento de Software Ágil – Gerenciamento Ágil de </a:t>
            </a:r>
            <a:r>
              <a:rPr lang="pt-BR" altLang="pt-BR" sz="3600" dirty="0" smtClean="0"/>
              <a:t>Projetos - </a:t>
            </a:r>
            <a:r>
              <a:rPr lang="pt-BR" altLang="pt-BR" sz="3600" dirty="0" err="1" smtClean="0"/>
              <a:t>scrum</a:t>
            </a:r>
            <a:endParaRPr lang="pt-PT" altLang="pt-BR" sz="3600" dirty="0"/>
          </a:p>
        </p:txBody>
      </p:sp>
      <p:sp>
        <p:nvSpPr>
          <p:cNvPr id="154628" name="Rectangle 3"/>
          <p:cNvSpPr>
            <a:spLocks noGrp="1" noChangeArrowheads="1"/>
          </p:cNvSpPr>
          <p:nvPr>
            <p:ph type="subTitle" idx="1"/>
          </p:nvPr>
        </p:nvSpPr>
        <p:spPr>
          <a:xfrm>
            <a:off x="69011" y="974785"/>
            <a:ext cx="11947585" cy="5403790"/>
          </a:xfrm>
        </p:spPr>
        <p:txBody>
          <a:bodyPr/>
          <a:lstStyle/>
          <a:p>
            <a:pPr algn="just" eaLnBrk="1" hangingPunct="1">
              <a:defRPr/>
            </a:pPr>
            <a:r>
              <a:rPr lang="pt-BR" dirty="0" smtClean="0"/>
              <a:t>Uso bem-sucedido do </a:t>
            </a:r>
            <a:r>
              <a:rPr lang="pt-BR" dirty="0" err="1" smtClean="0"/>
              <a:t>Scrum</a:t>
            </a:r>
            <a:r>
              <a:rPr lang="pt-BR" dirty="0" smtClean="0"/>
              <a:t>:</a:t>
            </a:r>
          </a:p>
          <a:p>
            <a:pPr algn="just" eaLnBrk="1" hangingPunct="1">
              <a:defRPr/>
            </a:pPr>
            <a:r>
              <a:rPr lang="pt-BR" dirty="0" smtClean="0"/>
              <a:t> Desenvolvimento </a:t>
            </a:r>
            <a:r>
              <a:rPr lang="pt-BR" dirty="0"/>
              <a:t>de software de </a:t>
            </a:r>
            <a:r>
              <a:rPr lang="pt-BR" dirty="0" smtClean="0"/>
              <a:t>telecomunicações. Vantagens: </a:t>
            </a:r>
          </a:p>
          <a:p>
            <a:pPr marL="457200" indent="-457200" algn="just">
              <a:buFontTx/>
              <a:buAutoNum type="arabicPeriod"/>
              <a:defRPr/>
            </a:pPr>
            <a:r>
              <a:rPr lang="pt-BR" dirty="0" smtClean="0"/>
              <a:t>O </a:t>
            </a:r>
            <a:r>
              <a:rPr lang="pt-BR" dirty="0"/>
              <a:t>produto é decomposto em um conjunto de partes gerenciáveis e compreensíveis. </a:t>
            </a:r>
            <a:endParaRPr lang="pt-BR" dirty="0" smtClean="0"/>
          </a:p>
          <a:p>
            <a:pPr marL="457200" indent="-457200" algn="just">
              <a:buFontTx/>
              <a:buAutoNum type="arabicPeriod"/>
              <a:defRPr/>
            </a:pPr>
            <a:r>
              <a:rPr lang="pt-BR" dirty="0" smtClean="0"/>
              <a:t>Requisitos </a:t>
            </a:r>
            <a:r>
              <a:rPr lang="pt-BR" dirty="0"/>
              <a:t>instáveis não atrasam o progresso. </a:t>
            </a:r>
            <a:endParaRPr lang="pt-BR" dirty="0" smtClean="0"/>
          </a:p>
          <a:p>
            <a:pPr marL="457200" indent="-457200" algn="just">
              <a:buFontTx/>
              <a:buAutoNum type="arabicPeriod"/>
              <a:defRPr/>
            </a:pPr>
            <a:r>
              <a:rPr lang="pt-BR" dirty="0" smtClean="0"/>
              <a:t>Toda </a:t>
            </a:r>
            <a:r>
              <a:rPr lang="pt-BR" dirty="0"/>
              <a:t>a equipe tem visão de tudo, </a:t>
            </a:r>
            <a:r>
              <a:rPr lang="pt-BR" dirty="0" smtClean="0"/>
              <a:t>sendo melhorada  </a:t>
            </a:r>
            <a:r>
              <a:rPr lang="pt-BR" dirty="0"/>
              <a:t>a comunicação da </a:t>
            </a:r>
            <a:r>
              <a:rPr lang="pt-BR" dirty="0" smtClean="0"/>
              <a:t>equipe.</a:t>
            </a:r>
          </a:p>
          <a:p>
            <a:pPr marL="457200" indent="-457200" algn="just">
              <a:buFontTx/>
              <a:buAutoNum type="arabicPeriod"/>
              <a:defRPr/>
            </a:pPr>
            <a:r>
              <a:rPr lang="pt-BR" dirty="0" smtClean="0"/>
              <a:t>Os </a:t>
            </a:r>
            <a:r>
              <a:rPr lang="pt-BR" dirty="0"/>
              <a:t>clientes veem a entrega de incrementos dentro do prazo e recebem feedback sobre como o produto funciona. </a:t>
            </a:r>
            <a:endParaRPr lang="pt-BR" dirty="0" smtClean="0"/>
          </a:p>
          <a:p>
            <a:pPr marL="457200" indent="-457200" algn="just">
              <a:buFontTx/>
              <a:buAutoNum type="arabicPeriod"/>
              <a:defRPr/>
            </a:pPr>
            <a:r>
              <a:rPr lang="pt-BR" dirty="0" smtClean="0"/>
              <a:t>Estabelece </a:t>
            </a:r>
            <a:r>
              <a:rPr lang="pt-BR" dirty="0"/>
              <a:t>confiança entre clientes e desenvolvedores e </a:t>
            </a:r>
            <a:r>
              <a:rPr lang="pt-BR" dirty="0" smtClean="0"/>
              <a:t>cria </a:t>
            </a:r>
            <a:r>
              <a:rPr lang="pt-BR" dirty="0"/>
              <a:t>cultura </a:t>
            </a:r>
            <a:r>
              <a:rPr lang="pt-BR" dirty="0" smtClean="0"/>
              <a:t>positiva para o êxito do projeto.</a:t>
            </a:r>
          </a:p>
        </p:txBody>
      </p:sp>
    </p:spTree>
    <p:extLst>
      <p:ext uri="{BB962C8B-B14F-4D97-AF65-F5344CB8AC3E}">
        <p14:creationId xmlns:p14="http://schemas.microsoft.com/office/powerpoint/2010/main" val="11672465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F9CF2C-6383-49DC-85C4-8735F6782EE6}" type="slidenum">
              <a:rPr lang="pt-PT" altLang="pt-BR" sz="1400"/>
              <a:pPr>
                <a:spcBef>
                  <a:spcPct val="0"/>
                </a:spcBef>
                <a:buFontTx/>
                <a:buNone/>
              </a:pPr>
              <a:t>59</a:t>
            </a:fld>
            <a:endParaRPr lang="pt-PT" altLang="pt-BR" sz="1400"/>
          </a:p>
        </p:txBody>
      </p:sp>
      <p:sp>
        <p:nvSpPr>
          <p:cNvPr id="181251"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Escalonamento de Métodos Ágeis</a:t>
            </a:r>
            <a:endParaRPr lang="pt-PT" altLang="pt-BR" sz="3600"/>
          </a:p>
        </p:txBody>
      </p:sp>
      <p:sp>
        <p:nvSpPr>
          <p:cNvPr id="181252" name="Rectangle 3"/>
          <p:cNvSpPr>
            <a:spLocks noGrp="1" noChangeArrowheads="1"/>
          </p:cNvSpPr>
          <p:nvPr>
            <p:ph type="subTitle" idx="1"/>
          </p:nvPr>
        </p:nvSpPr>
        <p:spPr>
          <a:xfrm>
            <a:off x="103517" y="1112809"/>
            <a:ext cx="11921706" cy="5265766"/>
          </a:xfrm>
        </p:spPr>
        <p:txBody>
          <a:bodyPr/>
          <a:lstStyle/>
          <a:p>
            <a:pPr algn="just" eaLnBrk="1" hangingPunct="1"/>
            <a:r>
              <a:rPr lang="pt-BR" altLang="pt-BR" dirty="0" smtClean="0"/>
              <a:t>Métodos ágeis:</a:t>
            </a:r>
          </a:p>
          <a:p>
            <a:pPr algn="just" eaLnBrk="1" hangingPunct="1"/>
            <a:r>
              <a:rPr lang="pt-BR" altLang="pt-BR" dirty="0" smtClean="0"/>
              <a:t>Desenvolvidos para serem usados por equipes de programação de pequeno porte que podiam trabalhar juntas na mesma sala e se comunicar de maneira informal.</a:t>
            </a:r>
          </a:p>
          <a:p>
            <a:pPr algn="just" eaLnBrk="1" hangingPunct="1"/>
            <a:r>
              <a:rPr lang="pt-BR" altLang="pt-BR" dirty="0" smtClean="0"/>
              <a:t>Usados para o desenvolvimento de sistemas de pequeno e médio porte. </a:t>
            </a:r>
          </a:p>
          <a:p>
            <a:pPr algn="just" eaLnBrk="1" hangingPunct="1"/>
            <a:r>
              <a:rPr lang="pt-BR" altLang="pt-BR" dirty="0" smtClean="0"/>
              <a:t>A necessidade de acelerar a entrega de software, adequada às necessidades do cliente, também se aplica a sistemas maiores.</a:t>
            </a:r>
          </a:p>
          <a:p>
            <a:pPr algn="just" eaLnBrk="1" hangingPunct="1"/>
            <a:r>
              <a:rPr lang="pt-BR" altLang="pt-BR" dirty="0" smtClean="0"/>
              <a:t>Sistemas maiores: escalamento dos métodos</a:t>
            </a:r>
          </a:p>
          <a:p>
            <a:pPr algn="just" eaLnBrk="1" hangingPunct="1"/>
            <a:r>
              <a:rPr lang="pt-BR" altLang="pt-BR" dirty="0" smtClean="0"/>
              <a:t> Para evitar problemas da engenharia de software (sistemas não atendem e estouros de orçamento), deve-se encontrar maneiras de fazer os métodos ágeis trabalharem para grandes sistemas. </a:t>
            </a:r>
          </a:p>
        </p:txBody>
      </p:sp>
    </p:spTree>
    <p:extLst>
      <p:ext uri="{BB962C8B-B14F-4D97-AF65-F5344CB8AC3E}">
        <p14:creationId xmlns:p14="http://schemas.microsoft.com/office/powerpoint/2010/main" val="416843475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F317E90-16F5-4F04-A1FB-B507017FEE18}" type="slidenum">
              <a:rPr lang="pt-PT" altLang="pt-BR" sz="1400"/>
              <a:pPr>
                <a:spcBef>
                  <a:spcPct val="0"/>
                </a:spcBef>
                <a:buFontTx/>
                <a:buNone/>
              </a:pPr>
              <a:t>60</a:t>
            </a:fld>
            <a:endParaRPr lang="pt-PT" altLang="pt-BR" sz="1400"/>
          </a:p>
        </p:txBody>
      </p:sp>
      <p:sp>
        <p:nvSpPr>
          <p:cNvPr id="182275"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Escalonamento de Métodos Ágeis</a:t>
            </a:r>
            <a:endParaRPr lang="pt-PT" altLang="pt-BR" sz="3600"/>
          </a:p>
        </p:txBody>
      </p:sp>
      <p:sp>
        <p:nvSpPr>
          <p:cNvPr id="182276" name="Rectangle 3"/>
          <p:cNvSpPr>
            <a:spLocks noGrp="1" noChangeArrowheads="1"/>
          </p:cNvSpPr>
          <p:nvPr>
            <p:ph type="subTitle" idx="1"/>
          </p:nvPr>
        </p:nvSpPr>
        <p:spPr>
          <a:xfrm>
            <a:off x="155275" y="1138687"/>
            <a:ext cx="11757804" cy="5239887"/>
          </a:xfrm>
        </p:spPr>
        <p:txBody>
          <a:bodyPr>
            <a:normAutofit fontScale="92500"/>
          </a:bodyPr>
          <a:lstStyle/>
          <a:p>
            <a:pPr algn="just" eaLnBrk="1" hangingPunct="1"/>
            <a:r>
              <a:rPr lang="pt-BR" altLang="pt-BR" dirty="0" smtClean="0"/>
              <a:t>Métodos ágeis:</a:t>
            </a:r>
          </a:p>
          <a:p>
            <a:pPr algn="just" eaLnBrk="1" hangingPunct="1"/>
            <a:r>
              <a:rPr lang="pt-BR" altLang="pt-BR" dirty="0"/>
              <a:t>D</a:t>
            </a:r>
            <a:r>
              <a:rPr lang="pt-BR" altLang="pt-BR" dirty="0" smtClean="0"/>
              <a:t>esenvolvimento de sistemas de software de grande porte é diferente do de sistemas pequenos:</a:t>
            </a:r>
          </a:p>
          <a:p>
            <a:pPr algn="just" eaLnBrk="1" hangingPunct="1"/>
            <a:r>
              <a:rPr lang="pt-BR" altLang="pt-BR" dirty="0" smtClean="0"/>
              <a:t>1 São coleções de sistemas separados que se comunicam. Equipes separadas desenvolvem cada um dos sistemas, trabalhando em lugares  e fusos horários diferentes, sendo impossível ter visão de todo o sistema. As prioridades se voltam para completar sua parte do sistema, sem levar em conta questões do sistema como um todo. </a:t>
            </a:r>
          </a:p>
          <a:p>
            <a:pPr algn="just" eaLnBrk="1" hangingPunct="1"/>
            <a:r>
              <a:rPr lang="pt-BR" altLang="pt-BR" dirty="0" smtClean="0"/>
              <a:t>2. São ‘</a:t>
            </a:r>
            <a:r>
              <a:rPr lang="pt-BR" altLang="pt-BR" dirty="0" err="1" smtClean="0"/>
              <a:t>brownfield</a:t>
            </a:r>
            <a:r>
              <a:rPr lang="pt-BR" altLang="pt-BR" dirty="0" smtClean="0"/>
              <a:t> systems’ (contaminados: incluem e interagem com inúmeros sistemas existentes). Muitos requisitos do sistema estão preocupados com essa interação, não se enquadrando ao desenvolvimento incremental. Questões políticas podem ser importantes. Muitas vezes, a solução mais fácil é mudar um sistema em vigor, requerendo negociação com os gerentes do sistema para convencê-los de que as mudanças podem ser implementadas sem risco. </a:t>
            </a:r>
          </a:p>
          <a:p>
            <a:pPr algn="just"/>
            <a:r>
              <a:rPr lang="pt-BR" altLang="pt-BR" dirty="0"/>
              <a:t>3. Sempre que vários sistemas estão integrados para criar um único, uma fração significativa do desenvolvimento preocupa-se com a configuração do sistema e não com o desenvolvimento do código original. Isso não </a:t>
            </a:r>
            <a:r>
              <a:rPr lang="pt-BR" altLang="pt-BR" dirty="0" smtClean="0"/>
              <a:t>é </a:t>
            </a:r>
            <a:r>
              <a:rPr lang="pt-BR" altLang="pt-BR" dirty="0"/>
              <a:t>compatível com o desenvolvimento incremental e com a integração frequente de </a:t>
            </a:r>
            <a:r>
              <a:rPr lang="pt-BR" altLang="pt-BR" dirty="0" smtClean="0"/>
              <a:t>sistemas</a:t>
            </a:r>
          </a:p>
        </p:txBody>
      </p:sp>
    </p:spTree>
    <p:extLst>
      <p:ext uri="{BB962C8B-B14F-4D97-AF65-F5344CB8AC3E}">
        <p14:creationId xmlns:p14="http://schemas.microsoft.com/office/powerpoint/2010/main" val="138202335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1CA0ADB-2F21-4087-AA34-B71A038D7C9C}" type="slidenum">
              <a:rPr lang="pt-PT" altLang="pt-BR" sz="1400"/>
              <a:pPr>
                <a:spcBef>
                  <a:spcPct val="0"/>
                </a:spcBef>
                <a:buFontTx/>
                <a:buNone/>
              </a:pPr>
              <a:t>61</a:t>
            </a:fld>
            <a:endParaRPr lang="pt-PT" altLang="pt-BR" sz="1400"/>
          </a:p>
        </p:txBody>
      </p:sp>
      <p:sp>
        <p:nvSpPr>
          <p:cNvPr id="183299"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Escalonamento de Métodos Ágeis</a:t>
            </a:r>
            <a:endParaRPr lang="pt-PT" altLang="pt-BR" sz="3600"/>
          </a:p>
        </p:txBody>
      </p:sp>
      <p:sp>
        <p:nvSpPr>
          <p:cNvPr id="183300" name="Rectangle 3"/>
          <p:cNvSpPr>
            <a:spLocks noGrp="1" noChangeArrowheads="1"/>
          </p:cNvSpPr>
          <p:nvPr>
            <p:ph type="subTitle" idx="1"/>
          </p:nvPr>
        </p:nvSpPr>
        <p:spPr>
          <a:xfrm>
            <a:off x="319177" y="983411"/>
            <a:ext cx="11662914" cy="5395164"/>
          </a:xfrm>
        </p:spPr>
        <p:txBody>
          <a:bodyPr/>
          <a:lstStyle/>
          <a:p>
            <a:pPr algn="just" eaLnBrk="1" hangingPunct="1"/>
            <a:r>
              <a:rPr lang="pt-BR" altLang="pt-BR" dirty="0" smtClean="0"/>
              <a:t>Métodos ágeis:</a:t>
            </a:r>
          </a:p>
          <a:p>
            <a:pPr algn="just" eaLnBrk="1" hangingPunct="1"/>
            <a:r>
              <a:rPr lang="pt-BR" altLang="pt-BR" dirty="0"/>
              <a:t>D</a:t>
            </a:r>
            <a:r>
              <a:rPr lang="pt-BR" altLang="pt-BR" dirty="0" smtClean="0"/>
              <a:t>esenvolvimento de sistemas de software de grande porte é diferente do de sistemas pequenos:</a:t>
            </a:r>
          </a:p>
          <a:p>
            <a:pPr algn="just" eaLnBrk="1" hangingPunct="1"/>
            <a:r>
              <a:rPr lang="pt-BR" altLang="pt-BR" dirty="0" smtClean="0"/>
              <a:t>4. Restringidos pelas regras externas e regulamentos que limitam o desenvolvimento, que exigem produção de documentação.</a:t>
            </a:r>
          </a:p>
          <a:p>
            <a:pPr algn="just" eaLnBrk="1" hangingPunct="1"/>
            <a:r>
              <a:rPr lang="pt-BR" altLang="pt-BR" dirty="0" smtClean="0"/>
              <a:t>5. Longo tempo de aquisição e desenvolvimento. É difícil manter equipes coerentes que saibam sobre o sistema durante </a:t>
            </a:r>
            <a:r>
              <a:rPr lang="pt-BR" altLang="pt-BR" dirty="0"/>
              <a:t>o</a:t>
            </a:r>
            <a:r>
              <a:rPr lang="pt-BR" altLang="pt-BR" dirty="0" smtClean="0"/>
              <a:t> período, pois as pessoas deslocam-se para outros trabalhos e projetos.</a:t>
            </a:r>
          </a:p>
          <a:p>
            <a:pPr algn="just"/>
            <a:r>
              <a:rPr lang="pt-BR" altLang="pt-BR" dirty="0"/>
              <a:t>6 Conjunto diverso de </a:t>
            </a:r>
            <a:r>
              <a:rPr lang="pt-BR" altLang="pt-BR" dirty="0" err="1" smtClean="0"/>
              <a:t>stakeholders</a:t>
            </a:r>
            <a:r>
              <a:rPr lang="pt-BR" altLang="pt-BR" dirty="0" smtClean="0"/>
              <a:t>. </a:t>
            </a:r>
            <a:r>
              <a:rPr lang="pt-BR" altLang="pt-BR" dirty="0" err="1" smtClean="0"/>
              <a:t>Ex</a:t>
            </a:r>
            <a:r>
              <a:rPr lang="pt-BR" altLang="pt-BR" dirty="0" smtClean="0"/>
              <a:t>: enfermeiros </a:t>
            </a:r>
            <a:r>
              <a:rPr lang="pt-BR" altLang="pt-BR" dirty="0"/>
              <a:t>e administradores podem ser os usuários finais de um sistema médico, mas </a:t>
            </a:r>
            <a:r>
              <a:rPr lang="pt-BR" altLang="pt-BR" dirty="0" smtClean="0"/>
              <a:t>os médicos sêniores, </a:t>
            </a:r>
            <a:r>
              <a:rPr lang="pt-BR" altLang="pt-BR" dirty="0"/>
              <a:t>gerentes de hospital etc. também são </a:t>
            </a:r>
            <a:r>
              <a:rPr lang="pt-BR" altLang="pt-BR" dirty="0" err="1"/>
              <a:t>stakeholders</a:t>
            </a:r>
            <a:r>
              <a:rPr lang="pt-BR" altLang="pt-BR" dirty="0"/>
              <a:t> do sistema. É praticamente impossível </a:t>
            </a:r>
            <a:r>
              <a:rPr lang="pt-BR" altLang="pt-BR" dirty="0" smtClean="0"/>
              <a:t>envolver os </a:t>
            </a:r>
            <a:r>
              <a:rPr lang="pt-BR" altLang="pt-BR" dirty="0"/>
              <a:t>diferentes </a:t>
            </a:r>
            <a:r>
              <a:rPr lang="pt-BR" altLang="pt-BR" dirty="0" err="1" smtClean="0"/>
              <a:t>stakeholders</a:t>
            </a:r>
            <a:r>
              <a:rPr lang="pt-BR" altLang="pt-BR" dirty="0" smtClean="0"/>
              <a:t>, </a:t>
            </a:r>
            <a:r>
              <a:rPr lang="pt-BR" altLang="pt-BR" dirty="0"/>
              <a:t>no processo de </a:t>
            </a:r>
            <a:r>
              <a:rPr lang="pt-BR" altLang="pt-BR" dirty="0" smtClean="0"/>
              <a:t>desenvolvimento.</a:t>
            </a:r>
            <a:endParaRPr lang="pt-BR" altLang="pt-BR" dirty="0"/>
          </a:p>
          <a:p>
            <a:pPr algn="just" eaLnBrk="1" hangingPunct="1"/>
            <a:endParaRPr lang="pt-BR" altLang="pt-BR" dirty="0" smtClean="0"/>
          </a:p>
        </p:txBody>
      </p:sp>
    </p:spTree>
    <p:extLst>
      <p:ext uri="{BB962C8B-B14F-4D97-AF65-F5344CB8AC3E}">
        <p14:creationId xmlns:p14="http://schemas.microsoft.com/office/powerpoint/2010/main" val="349731173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06C36A2-10DA-47A3-B860-CD4F352E8163}" type="slidenum">
              <a:rPr lang="pt-PT" altLang="pt-BR" sz="1400"/>
              <a:pPr>
                <a:spcBef>
                  <a:spcPct val="0"/>
                </a:spcBef>
                <a:buFontTx/>
                <a:buNone/>
              </a:pPr>
              <a:t>62</a:t>
            </a:fld>
            <a:endParaRPr lang="pt-PT" altLang="pt-BR" sz="1400"/>
          </a:p>
        </p:txBody>
      </p:sp>
      <p:sp>
        <p:nvSpPr>
          <p:cNvPr id="185347" name="Rectangle 2"/>
          <p:cNvSpPr>
            <a:spLocks noGrp="1" noChangeArrowheads="1"/>
          </p:cNvSpPr>
          <p:nvPr>
            <p:ph type="ctrTitle"/>
          </p:nvPr>
        </p:nvSpPr>
        <p:spPr>
          <a:xfrm>
            <a:off x="1343026" y="1"/>
            <a:ext cx="9217025" cy="836613"/>
          </a:xfrm>
        </p:spPr>
        <p:txBody>
          <a:bodyPr anchor="ctr">
            <a:normAutofit fontScale="90000"/>
          </a:bodyPr>
          <a:lstStyle/>
          <a:p>
            <a:pPr eaLnBrk="1" hangingPunct="1"/>
            <a:r>
              <a:rPr lang="pt-BR" altLang="pt-BR" sz="3600"/>
              <a:t>3 Desenvolvimento de Software Ágil – Escalonamento de Métodos Ágeis</a:t>
            </a:r>
            <a:endParaRPr lang="pt-PT" altLang="pt-BR" sz="3600"/>
          </a:p>
        </p:txBody>
      </p:sp>
      <p:sp>
        <p:nvSpPr>
          <p:cNvPr id="185348" name="Rectangle 3"/>
          <p:cNvSpPr>
            <a:spLocks noGrp="1" noChangeArrowheads="1"/>
          </p:cNvSpPr>
          <p:nvPr>
            <p:ph type="subTitle" idx="1"/>
          </p:nvPr>
        </p:nvSpPr>
        <p:spPr>
          <a:xfrm>
            <a:off x="120771" y="1147313"/>
            <a:ext cx="11904452" cy="5447162"/>
          </a:xfrm>
        </p:spPr>
        <p:txBody>
          <a:bodyPr/>
          <a:lstStyle/>
          <a:p>
            <a:pPr algn="just" eaLnBrk="1" hangingPunct="1"/>
            <a:r>
              <a:rPr lang="pt-BR" altLang="pt-BR" dirty="0" smtClean="0"/>
              <a:t>Perspectivas no escalamento de métodos ágeis: </a:t>
            </a:r>
          </a:p>
          <a:p>
            <a:pPr algn="just" eaLnBrk="1" hangingPunct="1"/>
            <a:r>
              <a:rPr lang="pt-BR" altLang="pt-BR" dirty="0" smtClean="0"/>
              <a:t>1.Perspectiva ‘</a:t>
            </a:r>
            <a:r>
              <a:rPr lang="pt-BR" altLang="pt-BR" dirty="0" err="1" smtClean="0"/>
              <a:t>scaling</a:t>
            </a:r>
            <a:r>
              <a:rPr lang="pt-BR" altLang="pt-BR" dirty="0" smtClean="0"/>
              <a:t> </a:t>
            </a:r>
            <a:r>
              <a:rPr lang="pt-BR" altLang="pt-BR" dirty="0" err="1" smtClean="0"/>
              <a:t>up</a:t>
            </a:r>
            <a:r>
              <a:rPr lang="pt-BR" altLang="pt-BR" dirty="0" smtClean="0"/>
              <a:t>’: uso dos métodos para desenvolver sistemas de grande porte que não podem ser desenvolvidos por uma equipe pequena. </a:t>
            </a:r>
          </a:p>
          <a:p>
            <a:pPr algn="just" eaLnBrk="1" hangingPunct="1"/>
            <a:r>
              <a:rPr lang="pt-BR" altLang="pt-BR" dirty="0" smtClean="0"/>
              <a:t>2. Perspectiva ‘</a:t>
            </a:r>
            <a:r>
              <a:rPr lang="pt-BR" altLang="pt-BR" dirty="0" err="1" smtClean="0"/>
              <a:t>scaling</a:t>
            </a:r>
            <a:r>
              <a:rPr lang="pt-BR" altLang="pt-BR" dirty="0" smtClean="0"/>
              <a:t> out’: métodos ágeis podem ser introduzidos em uma grande organização com muitos anos de experiência em desenvolvimento de software.</a:t>
            </a:r>
          </a:p>
          <a:p>
            <a:pPr algn="just" eaLnBrk="1" hangingPunct="1"/>
            <a:endParaRPr lang="pt-BR" altLang="pt-BR" dirty="0"/>
          </a:p>
          <a:p>
            <a:pPr algn="just"/>
            <a:r>
              <a:rPr lang="pt-BR" altLang="pt-BR" dirty="0"/>
              <a:t>Métodos ágeis precisam ser adaptados para lidar com sistemas de engenharia de grande porte.</a:t>
            </a:r>
          </a:p>
          <a:p>
            <a:pPr algn="just"/>
            <a:r>
              <a:rPr lang="pt-BR" altLang="pt-BR" dirty="0"/>
              <a:t>É essencial manter os fundamentos dos métodos ágeis — planejamento flexível, frequentes releases do sistema, integração contínua, desenvolvimento dirigido a testes e boa comunicação entre os membros da equipe. </a:t>
            </a:r>
          </a:p>
          <a:p>
            <a:pPr algn="just" eaLnBrk="1" hangingPunct="1"/>
            <a:endParaRPr lang="pt-BR" altLang="pt-BR" dirty="0" smtClean="0"/>
          </a:p>
        </p:txBody>
      </p:sp>
    </p:spTree>
    <p:extLst>
      <p:ext uri="{BB962C8B-B14F-4D97-AF65-F5344CB8AC3E}">
        <p14:creationId xmlns:p14="http://schemas.microsoft.com/office/powerpoint/2010/main" val="249675691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B96999F-BB0E-4AFA-B853-EC1F8B6D4468}" type="slidenum">
              <a:rPr lang="pt-PT" altLang="pt-BR" sz="1400"/>
              <a:pPr>
                <a:spcBef>
                  <a:spcPct val="0"/>
                </a:spcBef>
                <a:buFontTx/>
                <a:buNone/>
              </a:pPr>
              <a:t>63</a:t>
            </a:fld>
            <a:endParaRPr lang="pt-PT" altLang="pt-BR" sz="1400"/>
          </a:p>
        </p:txBody>
      </p:sp>
      <p:sp>
        <p:nvSpPr>
          <p:cNvPr id="187395" name="Rectangle 2"/>
          <p:cNvSpPr>
            <a:spLocks noGrp="1" noChangeArrowheads="1"/>
          </p:cNvSpPr>
          <p:nvPr>
            <p:ph type="ctrTitle"/>
          </p:nvPr>
        </p:nvSpPr>
        <p:spPr>
          <a:xfrm>
            <a:off x="66316" y="77639"/>
            <a:ext cx="11864016" cy="836613"/>
          </a:xfrm>
        </p:spPr>
        <p:txBody>
          <a:bodyPr anchor="ctr">
            <a:normAutofit/>
          </a:bodyPr>
          <a:lstStyle/>
          <a:p>
            <a:pPr eaLnBrk="1" hangingPunct="1"/>
            <a:r>
              <a:rPr lang="pt-BR" altLang="pt-BR" sz="3600" dirty="0"/>
              <a:t>3 Desenvolvimento de Software Ágil </a:t>
            </a:r>
            <a:endParaRPr lang="pt-PT" altLang="pt-BR" sz="3600" dirty="0"/>
          </a:p>
        </p:txBody>
      </p:sp>
      <p:sp>
        <p:nvSpPr>
          <p:cNvPr id="187396" name="Rectangle 3"/>
          <p:cNvSpPr>
            <a:spLocks noGrp="1" noChangeArrowheads="1"/>
          </p:cNvSpPr>
          <p:nvPr>
            <p:ph type="subTitle" idx="1"/>
          </p:nvPr>
        </p:nvSpPr>
        <p:spPr>
          <a:xfrm>
            <a:off x="1" y="1155940"/>
            <a:ext cx="12042474" cy="5438535"/>
          </a:xfrm>
        </p:spPr>
        <p:txBody>
          <a:bodyPr>
            <a:normAutofit/>
          </a:bodyPr>
          <a:lstStyle/>
          <a:p>
            <a:pPr algn="just" eaLnBrk="1" hangingPunct="1"/>
            <a:r>
              <a:rPr lang="pt-BR" altLang="pt-BR" dirty="0" smtClean="0"/>
              <a:t>Adaptações críticas que necessitam ser introduzidas para sistemas de grande porte:</a:t>
            </a:r>
          </a:p>
          <a:p>
            <a:pPr algn="just" eaLnBrk="1" hangingPunct="1"/>
            <a:r>
              <a:rPr lang="pt-BR" altLang="pt-BR" dirty="0" smtClean="0"/>
              <a:t>1.Não é possível focar apenas no código, necessitando de projeto adiantado e documentação do sistema. A arquitetura de software precisa ser projetada. Deve haver documentos produzidos para descrever os aspectos críticos do sistema, como esquemas de banco de dados, a divisão de trabalho entre as equipes etc.</a:t>
            </a:r>
          </a:p>
          <a:p>
            <a:pPr algn="just" eaLnBrk="1" hangingPunct="1"/>
            <a:r>
              <a:rPr lang="pt-BR" altLang="pt-BR" dirty="0" smtClean="0"/>
              <a:t> 2. Mecanismos de comunicação entre equipes precisam ser projetados e usados (telefone, videoconferências regulares entre os membros da equipe, reuniões eletrônicas frequentes e curtas para atualização dos membros das diversas equipes sobre o progresso uns dos outros). </a:t>
            </a:r>
            <a:r>
              <a:rPr lang="pt-BR" altLang="pt-BR" dirty="0"/>
              <a:t>C</a:t>
            </a:r>
            <a:r>
              <a:rPr lang="pt-BR" altLang="pt-BR" dirty="0" smtClean="0"/>
              <a:t>anais de comunicação (e-mail, mensagens instantâneas, </a:t>
            </a:r>
            <a:r>
              <a:rPr lang="pt-BR" altLang="pt-BR" dirty="0" err="1" smtClean="0"/>
              <a:t>wikis</a:t>
            </a:r>
            <a:r>
              <a:rPr lang="pt-BR" altLang="pt-BR" dirty="0" smtClean="0"/>
              <a:t> e sistemas de redes sociais) deve ser fornecida para facilitar as comunicações. </a:t>
            </a:r>
          </a:p>
          <a:p>
            <a:pPr algn="just"/>
            <a:r>
              <a:rPr lang="pt-BR" altLang="pt-BR" dirty="0"/>
              <a:t>3. </a:t>
            </a:r>
            <a:r>
              <a:rPr lang="pt-BR" altLang="pt-BR" dirty="0" smtClean="0"/>
              <a:t>Impossível a integração contínua no sistema </a:t>
            </a:r>
            <a:r>
              <a:rPr lang="pt-BR" altLang="pt-BR" dirty="0"/>
              <a:t>toda vez que um desenvolvedor verifica uma </a:t>
            </a:r>
            <a:r>
              <a:rPr lang="pt-BR" altLang="pt-BR" dirty="0" smtClean="0"/>
              <a:t>mudança. </a:t>
            </a:r>
            <a:r>
              <a:rPr lang="pt-BR" altLang="pt-BR" dirty="0"/>
              <a:t>E</a:t>
            </a:r>
            <a:r>
              <a:rPr lang="pt-BR" altLang="pt-BR" dirty="0" smtClean="0"/>
              <a:t>ssencial </a:t>
            </a:r>
            <a:r>
              <a:rPr lang="pt-BR" altLang="pt-BR" dirty="0"/>
              <a:t>manter construções frequentes e releases regulares. Isso pode significar a necessidade da introdução de novas ferramentas de gerenciamento de configuração para suporte ao desenvolvimento de software com </a:t>
            </a:r>
            <a:r>
              <a:rPr lang="pt-BR" altLang="pt-BR" dirty="0" err="1"/>
              <a:t>multiequipes</a:t>
            </a:r>
            <a:r>
              <a:rPr lang="pt-BR" altLang="pt-BR" dirty="0"/>
              <a:t>. </a:t>
            </a:r>
          </a:p>
          <a:p>
            <a:pPr algn="just" eaLnBrk="1" hangingPunct="1"/>
            <a:endParaRPr lang="pt-BR" altLang="pt-BR" dirty="0" smtClean="0"/>
          </a:p>
        </p:txBody>
      </p:sp>
    </p:spTree>
    <p:extLst>
      <p:ext uri="{BB962C8B-B14F-4D97-AF65-F5344CB8AC3E}">
        <p14:creationId xmlns:p14="http://schemas.microsoft.com/office/powerpoint/2010/main" val="160710325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DA129F-AB5F-48D0-A056-A182FDFBD8E6}" type="slidenum">
              <a:rPr lang="pt-PT" altLang="pt-BR" sz="1400"/>
              <a:pPr>
                <a:spcBef>
                  <a:spcPct val="0"/>
                </a:spcBef>
                <a:buFontTx/>
                <a:buNone/>
              </a:pPr>
              <a:t>64</a:t>
            </a:fld>
            <a:endParaRPr lang="pt-PT" altLang="pt-BR" sz="1400"/>
          </a:p>
        </p:txBody>
      </p:sp>
      <p:sp>
        <p:nvSpPr>
          <p:cNvPr id="189443" name="Rectangle 2"/>
          <p:cNvSpPr>
            <a:spLocks noGrp="1" noChangeArrowheads="1"/>
          </p:cNvSpPr>
          <p:nvPr>
            <p:ph type="ctrTitle"/>
          </p:nvPr>
        </p:nvSpPr>
        <p:spPr>
          <a:xfrm>
            <a:off x="1343026" y="1"/>
            <a:ext cx="9217025" cy="836613"/>
          </a:xfrm>
        </p:spPr>
        <p:txBody>
          <a:bodyPr anchor="ctr">
            <a:normAutofit/>
          </a:bodyPr>
          <a:lstStyle/>
          <a:p>
            <a:pPr eaLnBrk="1" hangingPunct="1"/>
            <a:r>
              <a:rPr lang="pt-BR" altLang="pt-BR" sz="3600" dirty="0"/>
              <a:t>3 Desenvolvimento de Software </a:t>
            </a:r>
            <a:r>
              <a:rPr lang="pt-BR" altLang="pt-BR" sz="3600" dirty="0" smtClean="0"/>
              <a:t>Ágil</a:t>
            </a:r>
            <a:endParaRPr lang="pt-PT" altLang="pt-BR" sz="3600" dirty="0"/>
          </a:p>
        </p:txBody>
      </p:sp>
      <p:sp>
        <p:nvSpPr>
          <p:cNvPr id="189444" name="Rectangle 3"/>
          <p:cNvSpPr>
            <a:spLocks noGrp="1" noChangeArrowheads="1"/>
          </p:cNvSpPr>
          <p:nvPr>
            <p:ph type="subTitle" idx="1"/>
          </p:nvPr>
        </p:nvSpPr>
        <p:spPr>
          <a:xfrm>
            <a:off x="140900" y="1100139"/>
            <a:ext cx="11982089" cy="5757861"/>
          </a:xfrm>
        </p:spPr>
        <p:txBody>
          <a:bodyPr/>
          <a:lstStyle/>
          <a:p>
            <a:pPr algn="just" eaLnBrk="1" hangingPunct="1"/>
            <a:r>
              <a:rPr lang="pt-BR" altLang="pt-BR" dirty="0" smtClean="0"/>
              <a:t>Pequenas empresas que desenvolvem produtos de software estão entre os adeptos mais entusiastas dos métodos ágeis. </a:t>
            </a:r>
          </a:p>
          <a:p>
            <a:pPr algn="just" eaLnBrk="1" hangingPunct="1"/>
            <a:r>
              <a:rPr lang="pt-BR" altLang="pt-BR" dirty="0" smtClean="0"/>
              <a:t>Essas empresas não são limitadas pelas burocracias organizacionais ou padrões de processos e podem mudar rapidamente para adotar novas ideias. </a:t>
            </a:r>
          </a:p>
          <a:p>
            <a:pPr algn="just" eaLnBrk="1" hangingPunct="1"/>
            <a:r>
              <a:rPr lang="pt-BR" altLang="pt-BR" dirty="0" smtClean="0"/>
              <a:t>As grandes empresas também têm feito experiências com métodos ágeis em projetos específicos, mas é muito mais difícil para eles introduzirem (‘</a:t>
            </a:r>
            <a:r>
              <a:rPr lang="pt-BR" altLang="pt-BR" dirty="0" err="1" smtClean="0"/>
              <a:t>scale</a:t>
            </a:r>
            <a:r>
              <a:rPr lang="pt-BR" altLang="pt-BR" dirty="0" smtClean="0"/>
              <a:t> out’) esses métodos em toda a organização. </a:t>
            </a:r>
          </a:p>
        </p:txBody>
      </p:sp>
    </p:spTree>
    <p:extLst>
      <p:ext uri="{BB962C8B-B14F-4D97-AF65-F5344CB8AC3E}">
        <p14:creationId xmlns:p14="http://schemas.microsoft.com/office/powerpoint/2010/main" val="398381900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275A50B-107F-4585-A62B-1141B30BDD3D}" type="slidenum">
              <a:rPr lang="pt-PT" altLang="pt-BR" sz="1400"/>
              <a:pPr>
                <a:spcBef>
                  <a:spcPct val="0"/>
                </a:spcBef>
                <a:buFontTx/>
                <a:buNone/>
              </a:pPr>
              <a:t>65</a:t>
            </a:fld>
            <a:endParaRPr lang="pt-PT" altLang="pt-BR" sz="1400"/>
          </a:p>
        </p:txBody>
      </p:sp>
      <p:sp>
        <p:nvSpPr>
          <p:cNvPr id="190467" name="Rectangle 2"/>
          <p:cNvSpPr>
            <a:spLocks noGrp="1" noChangeArrowheads="1"/>
          </p:cNvSpPr>
          <p:nvPr>
            <p:ph type="ctrTitle"/>
          </p:nvPr>
        </p:nvSpPr>
        <p:spPr>
          <a:xfrm>
            <a:off x="1343026" y="1"/>
            <a:ext cx="9217025" cy="836613"/>
          </a:xfrm>
        </p:spPr>
        <p:txBody>
          <a:bodyPr anchor="ctr">
            <a:normAutofit/>
          </a:bodyPr>
          <a:lstStyle/>
          <a:p>
            <a:pPr eaLnBrk="1" hangingPunct="1"/>
            <a:r>
              <a:rPr lang="pt-BR" altLang="pt-BR" sz="3600" dirty="0"/>
              <a:t>3 Desenvolvimento de Software </a:t>
            </a:r>
            <a:r>
              <a:rPr lang="pt-BR" altLang="pt-BR" sz="3600" dirty="0" smtClean="0"/>
              <a:t>Ágil</a:t>
            </a:r>
            <a:endParaRPr lang="pt-PT" altLang="pt-BR" sz="3600" dirty="0"/>
          </a:p>
        </p:txBody>
      </p:sp>
      <p:sp>
        <p:nvSpPr>
          <p:cNvPr id="190468" name="Rectangle 3"/>
          <p:cNvSpPr>
            <a:spLocks noGrp="1" noChangeArrowheads="1"/>
          </p:cNvSpPr>
          <p:nvPr>
            <p:ph type="subTitle" idx="1"/>
          </p:nvPr>
        </p:nvSpPr>
        <p:spPr>
          <a:xfrm>
            <a:off x="112143" y="1121433"/>
            <a:ext cx="11887200" cy="5473041"/>
          </a:xfrm>
        </p:spPr>
        <p:txBody>
          <a:bodyPr>
            <a:normAutofit lnSpcReduction="10000"/>
          </a:bodyPr>
          <a:lstStyle/>
          <a:p>
            <a:pPr algn="just" eaLnBrk="1" hangingPunct="1"/>
            <a:r>
              <a:rPr lang="pt-BR" altLang="pt-BR" dirty="0" smtClean="0"/>
              <a:t>Problemas em introduzir métodos ágeis:</a:t>
            </a:r>
          </a:p>
          <a:p>
            <a:pPr algn="just" eaLnBrk="1" hangingPunct="1"/>
            <a:r>
              <a:rPr lang="pt-BR" altLang="pt-BR" dirty="0" smtClean="0"/>
              <a:t>1. Os gerentes de projeto que não têm experiência em métodos ágeis podem ser relutantes em aceitar o risco de uma nova abordagem, uma vez que não sabem como isso vai afetar seus projetos particulares.</a:t>
            </a:r>
          </a:p>
          <a:p>
            <a:pPr algn="just" eaLnBrk="1" hangingPunct="1"/>
            <a:r>
              <a:rPr lang="pt-BR" altLang="pt-BR" dirty="0" smtClean="0"/>
              <a:t> 2. Nas grandes organizações existem procedimentos e padrões de qualidade que todos os projetos devem seguir e, por causa de sua natureza burocrática, geralmente são incompatíveis com os métodos ágeis. Às vezes, recebem suporte de ferramentas de software (ex. ferramentas de gerenciamento de requisitos), e o uso dessas ferramentas é obrigatório a todos os projetos. </a:t>
            </a:r>
          </a:p>
          <a:p>
            <a:pPr algn="just"/>
            <a:r>
              <a:rPr lang="pt-BR" altLang="pt-BR" dirty="0"/>
              <a:t>3. Métodos ágeis parecem funcionar melhor quando os membros da equipe têm um nível relativamente alto de habilidade. </a:t>
            </a:r>
            <a:r>
              <a:rPr lang="pt-BR" altLang="pt-BR" dirty="0" smtClean="0"/>
              <a:t>Nas </a:t>
            </a:r>
            <a:r>
              <a:rPr lang="pt-BR" altLang="pt-BR" dirty="0"/>
              <a:t>grandes organizações é possível encontrar uma ampla gama de habilidades e competências; além disso, pessoas com níveis menores de habilidade podem não se tornar membros </a:t>
            </a:r>
            <a:r>
              <a:rPr lang="pt-BR" altLang="pt-BR" dirty="0" smtClean="0"/>
              <a:t>efetivos </a:t>
            </a:r>
            <a:r>
              <a:rPr lang="pt-BR" altLang="pt-BR" dirty="0"/>
              <a:t>da equipe em processos ágeis. </a:t>
            </a:r>
          </a:p>
          <a:p>
            <a:pPr algn="just"/>
            <a:r>
              <a:rPr lang="pt-BR" altLang="pt-BR" dirty="0"/>
              <a:t>4. Pode haver resistência cultural aos métodos ágeis, principalmente em organizações com longa história de uso dos processos convencionais de engenharia de sistemas</a:t>
            </a:r>
          </a:p>
          <a:p>
            <a:pPr algn="just" eaLnBrk="1" hangingPunct="1"/>
            <a:endParaRPr lang="pt-BR" altLang="pt-BR" dirty="0" smtClean="0"/>
          </a:p>
        </p:txBody>
      </p:sp>
    </p:spTree>
    <p:extLst>
      <p:ext uri="{BB962C8B-B14F-4D97-AF65-F5344CB8AC3E}">
        <p14:creationId xmlns:p14="http://schemas.microsoft.com/office/powerpoint/2010/main" val="251752115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77F585B-AE48-4121-8D2B-9B74482BF706}" type="slidenum">
              <a:rPr lang="pt-PT" altLang="pt-BR" sz="1400"/>
              <a:pPr>
                <a:spcBef>
                  <a:spcPct val="0"/>
                </a:spcBef>
                <a:buFontTx/>
                <a:buNone/>
              </a:pPr>
              <a:t>66</a:t>
            </a:fld>
            <a:endParaRPr lang="pt-PT" altLang="pt-BR" sz="1400"/>
          </a:p>
        </p:txBody>
      </p:sp>
      <p:sp>
        <p:nvSpPr>
          <p:cNvPr id="192515" name="Rectangle 2"/>
          <p:cNvSpPr>
            <a:spLocks noGrp="1" noChangeArrowheads="1"/>
          </p:cNvSpPr>
          <p:nvPr>
            <p:ph type="ctrTitle"/>
          </p:nvPr>
        </p:nvSpPr>
        <p:spPr>
          <a:xfrm>
            <a:off x="1343026" y="1"/>
            <a:ext cx="9217025" cy="836613"/>
          </a:xfrm>
        </p:spPr>
        <p:txBody>
          <a:bodyPr anchor="ctr">
            <a:normAutofit/>
          </a:bodyPr>
          <a:lstStyle/>
          <a:p>
            <a:pPr eaLnBrk="1" hangingPunct="1"/>
            <a:r>
              <a:rPr lang="pt-BR" altLang="pt-BR" sz="3600" dirty="0"/>
              <a:t>3 Desenvolvimento de Software </a:t>
            </a:r>
            <a:r>
              <a:rPr lang="pt-BR" altLang="pt-BR" sz="3600"/>
              <a:t>Ágil </a:t>
            </a:r>
            <a:endParaRPr lang="pt-PT" altLang="pt-BR" sz="3600" dirty="0"/>
          </a:p>
        </p:txBody>
      </p:sp>
      <p:sp>
        <p:nvSpPr>
          <p:cNvPr id="192516" name="Rectangle 3"/>
          <p:cNvSpPr>
            <a:spLocks noGrp="1" noChangeArrowheads="1"/>
          </p:cNvSpPr>
          <p:nvPr>
            <p:ph type="subTitle" idx="1"/>
          </p:nvPr>
        </p:nvSpPr>
        <p:spPr>
          <a:xfrm>
            <a:off x="163902" y="1078302"/>
            <a:ext cx="11938957" cy="5516173"/>
          </a:xfrm>
        </p:spPr>
        <p:txBody>
          <a:bodyPr/>
          <a:lstStyle/>
          <a:p>
            <a:pPr algn="just"/>
            <a:r>
              <a:rPr lang="pt-BR" altLang="pt-BR" dirty="0"/>
              <a:t>P</a:t>
            </a:r>
            <a:r>
              <a:rPr lang="pt-BR" altLang="pt-BR" dirty="0" smtClean="0"/>
              <a:t>rocedimentos de empresas não compatíveis aos métodos ágeis: </a:t>
            </a:r>
            <a:r>
              <a:rPr lang="pt-BR" altLang="pt-BR" dirty="0"/>
              <a:t>Procedimentos de gerenciamento de mudanças e testes </a:t>
            </a:r>
            <a:endParaRPr lang="pt-BR" altLang="pt-BR" dirty="0" smtClean="0"/>
          </a:p>
          <a:p>
            <a:pPr algn="just" eaLnBrk="1" hangingPunct="1"/>
            <a:r>
              <a:rPr lang="pt-BR" altLang="pt-BR" dirty="0" smtClean="0"/>
              <a:t>Gerenciamento de mudanças: processo de controle das mudanças em sistema, sendo previsível o impacto das mudanças, e os custos, controlados. Mudanças necessitam de aprovação antes de serem feitas, o que entra em conflito com a noção de </a:t>
            </a:r>
            <a:r>
              <a:rPr lang="pt-BR" altLang="pt-BR" dirty="0" err="1" smtClean="0"/>
              <a:t>refatoração</a:t>
            </a:r>
            <a:r>
              <a:rPr lang="pt-BR" altLang="pt-BR" dirty="0" smtClean="0"/>
              <a:t>. </a:t>
            </a:r>
          </a:p>
          <a:p>
            <a:pPr algn="just" eaLnBrk="1" hangingPunct="1"/>
            <a:r>
              <a:rPr lang="pt-BR" altLang="pt-BR" dirty="0" smtClean="0"/>
              <a:t>No XP, qualquer desenvolvedor pode melhorar qualquer código sem a aprovação externa. </a:t>
            </a:r>
          </a:p>
          <a:p>
            <a:pPr algn="just" eaLnBrk="1" hangingPunct="1"/>
            <a:r>
              <a:rPr lang="pt-BR" altLang="pt-BR" dirty="0"/>
              <a:t>S</a:t>
            </a:r>
            <a:r>
              <a:rPr lang="pt-BR" altLang="pt-BR" dirty="0" smtClean="0"/>
              <a:t>istemas de grande porte: existem padrões para os testes. Uma construção de sistema é entregue a uma equipe externa de teste. Esse procedimento pode entrar em conflito com as abordagens </a:t>
            </a:r>
            <a:r>
              <a:rPr lang="pt-BR" altLang="pt-BR" dirty="0" err="1" smtClean="0"/>
              <a:t>test-first</a:t>
            </a:r>
            <a:r>
              <a:rPr lang="pt-BR" altLang="pt-BR" dirty="0" smtClean="0"/>
              <a:t> e testes frequentes, usadas em XP.</a:t>
            </a:r>
          </a:p>
        </p:txBody>
      </p:sp>
    </p:spTree>
    <p:extLst>
      <p:ext uri="{BB962C8B-B14F-4D97-AF65-F5344CB8AC3E}">
        <p14:creationId xmlns:p14="http://schemas.microsoft.com/office/powerpoint/2010/main" val="3087824798"/>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TotalTime>
  <Words>8120</Words>
  <Application>Microsoft Office PowerPoint</Application>
  <PresentationFormat>Widescreen</PresentationFormat>
  <Paragraphs>490</Paragraphs>
  <Slides>66</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66</vt:i4>
      </vt:variant>
    </vt:vector>
  </HeadingPairs>
  <TitlesOfParts>
    <vt:vector size="71" baseType="lpstr">
      <vt:lpstr>Arial</vt:lpstr>
      <vt:lpstr>Calibri</vt:lpstr>
      <vt:lpstr>Calibri Light</vt:lpstr>
      <vt:lpstr>Times New Roman</vt:lpstr>
      <vt:lpstr>Tema do Office</vt:lpstr>
      <vt:lpstr>3 Desenvolvimento de Software Ágil</vt:lpstr>
      <vt:lpstr>3 Desenvolvimento de Software Ágil</vt:lpstr>
      <vt:lpstr>3 Desenvolvimento de Software Ágil</vt:lpstr>
      <vt:lpstr>3 Desenvolvimento de Software Ágil</vt:lpstr>
      <vt:lpstr>3 Desenvolvimento de Software Ágil</vt:lpstr>
      <vt:lpstr>3 Desenvolvimento de Software Ágil</vt:lpstr>
      <vt:lpstr>3 Desenvolvimento de Software Ágil</vt:lpstr>
      <vt:lpstr>3 Desenvolvimento de Software Ágil – Método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Métodos Ágeis</vt:lpstr>
      <vt:lpstr>3 Desenvolvimento de Software Ágil – Desenvolvimento ágil dirigido a planos</vt:lpstr>
      <vt:lpstr>3 Desenvolvimento de Software Ágil</vt:lpstr>
      <vt:lpstr>3 Desenvolvimento de Software Ágil  Desenvolvimento ágil dirigido a planos</vt:lpstr>
      <vt:lpstr>3 Desenvolvimento de Software Ágil -  Desenvolvimento ágil dirigido a planos</vt:lpstr>
      <vt:lpstr>3 Desenvolvimento de Software Ágil -  Desenvolvimento ágil dirigido a planos</vt:lpstr>
      <vt:lpstr>3 Desenvolvimento de Software Ágil - Métodos Ágeis</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Extreme Programming XP</vt:lpstr>
      <vt:lpstr>3 Desenvolvimento de Software Ágil – Teste em XP</vt:lpstr>
      <vt:lpstr>3 Desenvolvimento de Software Ágil – Teste em XP</vt:lpstr>
      <vt:lpstr>3 Desenvolvimento de Software Ágil – Teste em XP</vt:lpstr>
      <vt:lpstr>3 Desenvolvimento de Software Ágil – Teste em XP</vt:lpstr>
      <vt:lpstr>3 Desenvolvimento de Software Ágil – Teste em XP</vt:lpstr>
      <vt:lpstr>3 Desenvolvimento de Software Ágil – Teste em XP</vt:lpstr>
      <vt:lpstr>3 Desenvolvimento de Software Ágil – Programação em Pares</vt:lpstr>
      <vt:lpstr>3 Desenvolvimento de Software Ágil – Programação em Pares</vt:lpstr>
      <vt:lpstr>3 Desenvolvimento de Software Ágil – Gerenciamento Ágil de Projetos</vt:lpstr>
      <vt:lpstr>3 Desenvolvimento de Software Ágil – Gerenciamento Ágil de Projetos -scrum</vt:lpstr>
      <vt:lpstr>3 Desenvolvimento de Software Ágil – Gerenciamento Ágil de Projetos - scrum</vt:lpstr>
      <vt:lpstr>3 Desenvolvimento de Software Ágil – Gerenciamento Ágil de Projetos</vt:lpstr>
      <vt:lpstr>3 Desenvolvimento de Software Ágil – Gerenciamento Ágil de Projetos</vt:lpstr>
      <vt:lpstr>3 Desenvolvimento de Software Ágil – Gerenciamento Ágil de Projetos</vt:lpstr>
      <vt:lpstr>3 Desenvolvimento de Software Ágil – Gerenciamento Ágil de Projetos</vt:lpstr>
      <vt:lpstr>3 Desenvolvimento de Software Ágil – Gerenciamento Ágil de Projetos - scrum</vt:lpstr>
      <vt:lpstr>3 Desenvolvimento de Software Ágil – Escalonamento de Métodos Ágeis</vt:lpstr>
      <vt:lpstr>3 Desenvolvimento de Software Ágil – Escalonamento de Métodos Ágeis</vt:lpstr>
      <vt:lpstr>3 Desenvolvimento de Software Ágil – Escalonamento de Métodos Ágeis</vt:lpstr>
      <vt:lpstr>3 Desenvolvimento de Software Ágil – Escalonamento de Métodos Ágeis</vt:lpstr>
      <vt:lpstr>3 Desenvolvimento de Software Ágil </vt:lpstr>
      <vt:lpstr>3 Desenvolvimento de Software Ágil</vt:lpstr>
      <vt:lpstr>3 Desenvolvimento de Software Ágil</vt:lpstr>
      <vt:lpstr>3 Desenvolvimento de Software Ágil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Marilee</dc:creator>
  <cp:lastModifiedBy>Marilee</cp:lastModifiedBy>
  <cp:revision>37</cp:revision>
  <dcterms:created xsi:type="dcterms:W3CDTF">2025-01-02T12:57:10Z</dcterms:created>
  <dcterms:modified xsi:type="dcterms:W3CDTF">2025-09-25T11:50:09Z</dcterms:modified>
</cp:coreProperties>
</file>