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4" r:id="rId17"/>
    <p:sldId id="276" r:id="rId18"/>
    <p:sldId id="277" r:id="rId19"/>
    <p:sldId id="279" r:id="rId20"/>
    <p:sldId id="280" r:id="rId21"/>
    <p:sldId id="281" r:id="rId22"/>
    <p:sldId id="283" r:id="rId23"/>
    <p:sldId id="286" r:id="rId24"/>
    <p:sldId id="287" r:id="rId25"/>
    <p:sldId id="288" r:id="rId26"/>
    <p:sldId id="289" r:id="rId27"/>
    <p:sldId id="290" r:id="rId28"/>
    <p:sldId id="291" r:id="rId29"/>
    <p:sldId id="292" r:id="rId30"/>
    <p:sldId id="293" r:id="rId31"/>
    <p:sldId id="294" r:id="rId32"/>
    <p:sldId id="295" r:id="rId33"/>
    <p:sldId id="296" r:id="rId34"/>
    <p:sldId id="298" r:id="rId35"/>
    <p:sldId id="299" r:id="rId36"/>
    <p:sldId id="300" r:id="rId37"/>
    <p:sldId id="301" r:id="rId38"/>
    <p:sldId id="302" r:id="rId39"/>
    <p:sldId id="303" r:id="rId40"/>
    <p:sldId id="304" r:id="rId41"/>
    <p:sldId id="305" r:id="rId42"/>
    <p:sldId id="306" r:id="rId43"/>
    <p:sldId id="307" r:id="rId44"/>
    <p:sldId id="308" r:id="rId45"/>
    <p:sldId id="310" r:id="rId46"/>
    <p:sldId id="311" r:id="rId47"/>
    <p:sldId id="312" r:id="rId48"/>
    <p:sldId id="313" r:id="rId49"/>
    <p:sldId id="314" r:id="rId50"/>
    <p:sldId id="315" r:id="rId51"/>
    <p:sldId id="316" r:id="rId52"/>
    <p:sldId id="317" r:id="rId53"/>
    <p:sldId id="319" r:id="rId54"/>
    <p:sldId id="320" r:id="rId55"/>
    <p:sldId id="321" r:id="rId56"/>
    <p:sldId id="322" r:id="rId57"/>
    <p:sldId id="323" r:id="rId58"/>
    <p:sldId id="324" r:id="rId59"/>
    <p:sldId id="325" r:id="rId60"/>
    <p:sldId id="327" r:id="rId61"/>
    <p:sldId id="328" r:id="rId62"/>
    <p:sldId id="329" r:id="rId63"/>
    <p:sldId id="330" r:id="rId64"/>
    <p:sldId id="331" r:id="rId65"/>
    <p:sldId id="332" r:id="rId66"/>
    <p:sldId id="333" r:id="rId67"/>
    <p:sldId id="334" r:id="rId68"/>
    <p:sldId id="335" r:id="rId69"/>
    <p:sldId id="337" r:id="rId70"/>
    <p:sldId id="338" r:id="rId71"/>
    <p:sldId id="339" r:id="rId72"/>
    <p:sldId id="340" r:id="rId73"/>
    <p:sldId id="341" r:id="rId74"/>
    <p:sldId id="342" r:id="rId75"/>
    <p:sldId id="343" r:id="rId76"/>
    <p:sldId id="386" r:id="rId77"/>
    <p:sldId id="387" r:id="rId78"/>
    <p:sldId id="389" r:id="rId79"/>
    <p:sldId id="391" r:id="rId80"/>
    <p:sldId id="392" r:id="rId81"/>
    <p:sldId id="344" r:id="rId82"/>
    <p:sldId id="346" r:id="rId83"/>
    <p:sldId id="347" r:id="rId84"/>
    <p:sldId id="348" r:id="rId85"/>
    <p:sldId id="393" r:id="rId86"/>
    <p:sldId id="394" r:id="rId87"/>
    <p:sldId id="395" r:id="rId88"/>
    <p:sldId id="349" r:id="rId89"/>
    <p:sldId id="350" r:id="rId90"/>
    <p:sldId id="351" r:id="rId91"/>
    <p:sldId id="352" r:id="rId92"/>
    <p:sldId id="353" r:id="rId93"/>
    <p:sldId id="354" r:id="rId94"/>
    <p:sldId id="355" r:id="rId95"/>
    <p:sldId id="356" r:id="rId96"/>
    <p:sldId id="357" r:id="rId97"/>
    <p:sldId id="359" r:id="rId98"/>
    <p:sldId id="360" r:id="rId99"/>
    <p:sldId id="361" r:id="rId100"/>
    <p:sldId id="362" r:id="rId101"/>
    <p:sldId id="363" r:id="rId102"/>
    <p:sldId id="364" r:id="rId103"/>
    <p:sldId id="365" r:id="rId104"/>
    <p:sldId id="366" r:id="rId105"/>
    <p:sldId id="367" r:id="rId106"/>
    <p:sldId id="368" r:id="rId107"/>
    <p:sldId id="369" r:id="rId108"/>
    <p:sldId id="370" r:id="rId109"/>
    <p:sldId id="371" r:id="rId110"/>
    <p:sldId id="372" r:id="rId111"/>
    <p:sldId id="373" r:id="rId112"/>
    <p:sldId id="374" r:id="rId113"/>
    <p:sldId id="375" r:id="rId114"/>
    <p:sldId id="376" r:id="rId115"/>
    <p:sldId id="377" r:id="rId116"/>
    <p:sldId id="378" r:id="rId117"/>
    <p:sldId id="379" r:id="rId118"/>
    <p:sldId id="380" r:id="rId119"/>
    <p:sldId id="381" r:id="rId120"/>
    <p:sldId id="382" r:id="rId121"/>
    <p:sldId id="383" r:id="rId122"/>
    <p:sldId id="384" r:id="rId123"/>
    <p:sldId id="385" r:id="rId12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73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3267814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825905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786577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027FC700-8EE6-42CD-A962-83F72B09DC11}" type="datetimeFigureOut">
              <a:rPr lang="pt-BR" smtClean="0"/>
              <a:t>17/10/2025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1418178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027FC700-8EE6-42CD-A962-83F72B09DC11}" type="datetimeFigureOut">
              <a:rPr lang="pt-BR" smtClean="0"/>
              <a:t>17/10/2025</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358021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027FC700-8EE6-42CD-A962-83F72B09DC11}" type="datetimeFigureOut">
              <a:rPr lang="pt-BR" smtClean="0"/>
              <a:t>17/10/2025</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3078012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027FC700-8EE6-42CD-A962-83F72B09DC11}" type="datetimeFigureOut">
              <a:rPr lang="pt-BR" smtClean="0"/>
              <a:t>17/10/2025</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2103765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027FC700-8EE6-42CD-A962-83F72B09DC11}" type="datetimeFigureOut">
              <a:rPr lang="pt-BR" smtClean="0"/>
              <a:t>17/10/2025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374726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027FC700-8EE6-42CD-A962-83F72B09DC11}" type="datetimeFigureOut">
              <a:rPr lang="pt-BR" smtClean="0"/>
              <a:t>17/10/2025</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427878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118151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D2146DBB-DB31-4713-BF8C-8ECE618B8CCF}" type="slidenum">
              <a:rPr lang="pt-BR" smtClean="0"/>
              <a:t>‹nº›</a:t>
            </a:fld>
            <a:endParaRPr lang="pt-BR"/>
          </a:p>
        </p:txBody>
      </p:sp>
    </p:spTree>
    <p:extLst>
      <p:ext uri="{BB962C8B-B14F-4D97-AF65-F5344CB8AC3E}">
        <p14:creationId xmlns:p14="http://schemas.microsoft.com/office/powerpoint/2010/main" val="146824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7FC700-8EE6-42CD-A962-83F72B09DC11}" type="datetimeFigureOut">
              <a:rPr lang="pt-BR" smtClean="0"/>
              <a:t>17/10/2025</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146DBB-DB31-4713-BF8C-8ECE618B8CCF}" type="slidenum">
              <a:rPr lang="pt-BR" smtClean="0"/>
              <a:t>‹nº›</a:t>
            </a:fld>
            <a:endParaRPr lang="pt-BR"/>
          </a:p>
        </p:txBody>
      </p:sp>
    </p:spTree>
    <p:extLst>
      <p:ext uri="{BB962C8B-B14F-4D97-AF65-F5344CB8AC3E}">
        <p14:creationId xmlns:p14="http://schemas.microsoft.com/office/powerpoint/2010/main" val="3181139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DECB5D1-E2FD-4E5D-A4FF-C5C3367F0D0E}" type="slidenum">
              <a:rPr lang="pt-PT" altLang="pt-BR" sz="1400"/>
              <a:pPr>
                <a:spcBef>
                  <a:spcPct val="0"/>
                </a:spcBef>
                <a:buFontTx/>
                <a:buNone/>
              </a:pPr>
              <a:t>1</a:t>
            </a:fld>
            <a:endParaRPr lang="pt-PT" altLang="pt-BR" sz="1400"/>
          </a:p>
        </p:txBody>
      </p:sp>
      <p:sp>
        <p:nvSpPr>
          <p:cNvPr id="196611"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196612" name="Rectangle 3"/>
          <p:cNvSpPr>
            <a:spLocks noGrp="1" noChangeArrowheads="1"/>
          </p:cNvSpPr>
          <p:nvPr>
            <p:ph type="subTitle" idx="1"/>
          </p:nvPr>
        </p:nvSpPr>
        <p:spPr>
          <a:xfrm>
            <a:off x="534839" y="1224951"/>
            <a:ext cx="11162580" cy="5369524"/>
          </a:xfrm>
        </p:spPr>
        <p:txBody>
          <a:bodyPr/>
          <a:lstStyle/>
          <a:p>
            <a:pPr algn="just" eaLnBrk="1" hangingPunct="1"/>
            <a:r>
              <a:rPr lang="pt-BR" altLang="pt-BR" dirty="0" smtClean="0"/>
              <a:t>Objetivos:</a:t>
            </a:r>
          </a:p>
          <a:p>
            <a:pPr algn="just" eaLnBrk="1" hangingPunct="1"/>
            <a:r>
              <a:rPr lang="pt-BR" altLang="pt-BR" dirty="0" smtClean="0"/>
              <a:t>compreender os conceitos de requisitos de usuário e de sistema e por que eles devem ser escritos de formas diferentes; </a:t>
            </a:r>
          </a:p>
          <a:p>
            <a:pPr algn="just" eaLnBrk="1" hangingPunct="1"/>
            <a:r>
              <a:rPr lang="pt-BR" altLang="pt-BR" dirty="0" smtClean="0"/>
              <a:t>compreender as diferenças entre requisitos de software funcionais e não funcionais; </a:t>
            </a:r>
          </a:p>
          <a:p>
            <a:pPr algn="just" eaLnBrk="1" hangingPunct="1"/>
            <a:r>
              <a:rPr lang="pt-BR" altLang="pt-BR" dirty="0" smtClean="0"/>
              <a:t>compreender como os requisitos podem ser organizados em um documento de requisitos de software;</a:t>
            </a:r>
          </a:p>
          <a:p>
            <a:pPr algn="just" eaLnBrk="1" hangingPunct="1"/>
            <a:r>
              <a:rPr lang="pt-BR" altLang="pt-BR" dirty="0" smtClean="0"/>
              <a:t>compreender as principais atividades de </a:t>
            </a:r>
            <a:r>
              <a:rPr lang="pt-BR" altLang="pt-BR" dirty="0" err="1" smtClean="0"/>
              <a:t>elicitação</a:t>
            </a:r>
            <a:r>
              <a:rPr lang="pt-BR" altLang="pt-BR" dirty="0" smtClean="0"/>
              <a:t>, análise e validação da engenharia de requisitos e as relações entre essas atividades;</a:t>
            </a:r>
          </a:p>
          <a:p>
            <a:pPr algn="just" eaLnBrk="1" hangingPunct="1"/>
            <a:r>
              <a:rPr lang="pt-BR" altLang="pt-BR" dirty="0" smtClean="0"/>
              <a:t>compreender por que o gerenciamento de requisitos é necessário e como ele dá suporte às outras atividades da engenharia de requisitos</a:t>
            </a:r>
          </a:p>
        </p:txBody>
      </p:sp>
    </p:spTree>
    <p:extLst>
      <p:ext uri="{BB962C8B-B14F-4D97-AF65-F5344CB8AC3E}">
        <p14:creationId xmlns:p14="http://schemas.microsoft.com/office/powerpoint/2010/main" val="2079874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55D8925-11D0-40DC-8A9B-DAD00B12F69B}" type="slidenum">
              <a:rPr lang="pt-PT" altLang="pt-BR" sz="1400"/>
              <a:pPr>
                <a:spcBef>
                  <a:spcPct val="0"/>
                </a:spcBef>
                <a:buFontTx/>
                <a:buNone/>
              </a:pPr>
              <a:t>2</a:t>
            </a:fld>
            <a:endParaRPr lang="pt-PT" altLang="pt-BR" sz="1400"/>
          </a:p>
        </p:txBody>
      </p:sp>
      <p:sp>
        <p:nvSpPr>
          <p:cNvPr id="197635"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197636" name="Rectangle 3"/>
          <p:cNvSpPr>
            <a:spLocks noGrp="1" noChangeArrowheads="1"/>
          </p:cNvSpPr>
          <p:nvPr>
            <p:ph type="subTitle" idx="1"/>
          </p:nvPr>
        </p:nvSpPr>
        <p:spPr>
          <a:xfrm>
            <a:off x="327804" y="836614"/>
            <a:ext cx="11602527" cy="5757861"/>
          </a:xfrm>
        </p:spPr>
        <p:txBody>
          <a:bodyPr/>
          <a:lstStyle/>
          <a:p>
            <a:pPr algn="just" eaLnBrk="1" hangingPunct="1"/>
            <a:r>
              <a:rPr lang="pt-BR" altLang="pt-BR" dirty="0" smtClean="0"/>
              <a:t>Requisitos de um sistema:</a:t>
            </a:r>
          </a:p>
          <a:p>
            <a:pPr algn="just" eaLnBrk="1" hangingPunct="1"/>
            <a:r>
              <a:rPr lang="pt-BR" altLang="pt-BR" dirty="0" smtClean="0"/>
              <a:t>Descrições do que o sistema deve fazer, os serviços que oferece e as restrições a seu funcionamento. </a:t>
            </a:r>
          </a:p>
          <a:p>
            <a:pPr algn="just" eaLnBrk="1" hangingPunct="1"/>
            <a:r>
              <a:rPr lang="pt-BR" altLang="pt-BR" dirty="0"/>
              <a:t>N</a:t>
            </a:r>
            <a:r>
              <a:rPr lang="pt-BR" altLang="pt-BR" dirty="0" smtClean="0"/>
              <a:t>ecessidades dos clientes para um sistema que serve a uma finalidade determinada, como controlar um dispositivo, colocar um pedido ou encontrar informações. </a:t>
            </a:r>
          </a:p>
          <a:p>
            <a:pPr algn="just"/>
            <a:r>
              <a:rPr lang="pt-BR" altLang="pt-BR" dirty="0"/>
              <a:t>engenharia de requisitos (RE</a:t>
            </a:r>
            <a:r>
              <a:rPr lang="pt-BR" altLang="pt-BR" dirty="0" smtClean="0"/>
              <a:t>, </a:t>
            </a:r>
            <a:r>
              <a:rPr lang="pt-BR" altLang="pt-BR" dirty="0" err="1"/>
              <a:t>requirements</a:t>
            </a:r>
            <a:r>
              <a:rPr lang="pt-BR" altLang="pt-BR" dirty="0"/>
              <a:t> </a:t>
            </a:r>
            <a:r>
              <a:rPr lang="pt-BR" altLang="pt-BR" dirty="0" err="1"/>
              <a:t>engineering</a:t>
            </a:r>
            <a:r>
              <a:rPr lang="pt-BR" altLang="pt-BR" dirty="0" smtClean="0"/>
              <a:t>): processo de descobrir, analisar, documentar e verificar serviços e restrições </a:t>
            </a:r>
          </a:p>
          <a:p>
            <a:pPr algn="just"/>
            <a:endParaRPr lang="pt-BR" altLang="pt-BR" dirty="0"/>
          </a:p>
          <a:p>
            <a:pPr algn="just"/>
            <a:r>
              <a:rPr lang="pt-BR" altLang="pt-BR" dirty="0"/>
              <a:t>Requisitos de um sistema:</a:t>
            </a:r>
          </a:p>
          <a:p>
            <a:pPr algn="just"/>
            <a:r>
              <a:rPr lang="pt-BR" altLang="pt-BR" dirty="0"/>
              <a:t>O termo ‘requisito’ não é usado de forma consistente pela indústria de software. </a:t>
            </a:r>
            <a:endParaRPr lang="pt-BR" altLang="pt-BR" dirty="0" smtClean="0"/>
          </a:p>
          <a:p>
            <a:pPr algn="just"/>
            <a:r>
              <a:rPr lang="pt-BR" altLang="pt-BR" dirty="0" smtClean="0"/>
              <a:t>Requisito: declaração </a:t>
            </a:r>
            <a:r>
              <a:rPr lang="pt-BR" altLang="pt-BR" dirty="0"/>
              <a:t>abstrata em alto nível de um serviço que o sistema deve oferecer ou uma restrição a um </a:t>
            </a:r>
            <a:r>
              <a:rPr lang="pt-BR" altLang="pt-BR" dirty="0" smtClean="0"/>
              <a:t>sistema x definição </a:t>
            </a:r>
            <a:r>
              <a:rPr lang="pt-BR" altLang="pt-BR" dirty="0"/>
              <a:t>detalhada e formal de uma função do sistema. </a:t>
            </a:r>
          </a:p>
          <a:p>
            <a:pPr algn="just"/>
            <a:endParaRPr lang="pt-BR" altLang="pt-BR" dirty="0" smtClean="0"/>
          </a:p>
        </p:txBody>
      </p:sp>
    </p:spTree>
    <p:extLst>
      <p:ext uri="{BB962C8B-B14F-4D97-AF65-F5344CB8AC3E}">
        <p14:creationId xmlns:p14="http://schemas.microsoft.com/office/powerpoint/2010/main" val="14754314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C2FB98B-B05B-45FE-B4D8-51FF0A5B8D39}" type="slidenum">
              <a:rPr lang="pt-PT" altLang="pt-BR" sz="1400"/>
              <a:pPr>
                <a:spcBef>
                  <a:spcPct val="0"/>
                </a:spcBef>
                <a:buFontTx/>
                <a:buNone/>
              </a:pPr>
              <a:t>3</a:t>
            </a:fld>
            <a:endParaRPr lang="pt-PT" altLang="pt-BR" sz="1400"/>
          </a:p>
        </p:txBody>
      </p:sp>
      <p:sp>
        <p:nvSpPr>
          <p:cNvPr id="199683"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199684" name="Rectangle 3"/>
          <p:cNvSpPr>
            <a:spLocks noGrp="1" noChangeArrowheads="1"/>
          </p:cNvSpPr>
          <p:nvPr>
            <p:ph type="subTitle" idx="1"/>
          </p:nvPr>
        </p:nvSpPr>
        <p:spPr>
          <a:xfrm>
            <a:off x="181155" y="586596"/>
            <a:ext cx="11723298" cy="6007879"/>
          </a:xfrm>
        </p:spPr>
        <p:txBody>
          <a:bodyPr/>
          <a:lstStyle/>
          <a:p>
            <a:pPr algn="just" eaLnBrk="1" hangingPunct="1"/>
            <a:r>
              <a:rPr lang="pt-BR" altLang="pt-BR" dirty="0" smtClean="0"/>
              <a:t>Requisitos de um sistema:</a:t>
            </a:r>
          </a:p>
          <a:p>
            <a:pPr algn="just" eaLnBrk="1" hangingPunct="1"/>
            <a:r>
              <a:rPr lang="pt-BR" altLang="pt-BR" dirty="0" smtClean="0"/>
              <a:t>Davis (1993) explica por que essas diferenças existem: </a:t>
            </a:r>
          </a:p>
          <a:p>
            <a:pPr algn="just" eaLnBrk="1" hangingPunct="1"/>
            <a:r>
              <a:rPr lang="pt-BR" altLang="pt-BR" dirty="0" smtClean="0"/>
              <a:t>Se uma empresa pretende fechar um contrato para um projeto de desenvolvimento de software de grande porte, deve definir as necessidades de forma abstrata o suficiente para que a solução para essas necessidades não seja predefinida. </a:t>
            </a:r>
          </a:p>
          <a:p>
            <a:pPr algn="just" eaLnBrk="1" hangingPunct="1"/>
            <a:r>
              <a:rPr lang="pt-BR" altLang="pt-BR" dirty="0" smtClean="0"/>
              <a:t>Os requisitos precisam ser escritos de modo que vários contratantes possam concorrer pelo contrato e oferecer diferentes maneiras de atender às necessidades da organização do cliente. Uma vez que o contrato tenha sido adjudicado, o contratante deve escrever para o cliente uma definição mais detalhada do sistema, para que este entenda e possa validar o que o software fará. Ambos os documentos podem ser chamados documentos de requisitos para o sistema</a:t>
            </a:r>
          </a:p>
        </p:txBody>
      </p:sp>
    </p:spTree>
    <p:extLst>
      <p:ext uri="{BB962C8B-B14F-4D97-AF65-F5344CB8AC3E}">
        <p14:creationId xmlns:p14="http://schemas.microsoft.com/office/powerpoint/2010/main" val="18783444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80A4598-4775-489E-8E6E-985E30650E96}" type="slidenum">
              <a:rPr lang="pt-PT" altLang="pt-BR" sz="1400"/>
              <a:pPr>
                <a:spcBef>
                  <a:spcPct val="0"/>
                </a:spcBef>
                <a:buFontTx/>
                <a:buNone/>
              </a:pPr>
              <a:t>4</a:t>
            </a:fld>
            <a:endParaRPr lang="pt-PT" altLang="pt-BR" sz="1400"/>
          </a:p>
        </p:txBody>
      </p:sp>
      <p:sp>
        <p:nvSpPr>
          <p:cNvPr id="200707"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154628" name="Rectangle 3"/>
          <p:cNvSpPr>
            <a:spLocks noGrp="1" noChangeArrowheads="1"/>
          </p:cNvSpPr>
          <p:nvPr>
            <p:ph type="subTitle" idx="1"/>
          </p:nvPr>
        </p:nvSpPr>
        <p:spPr>
          <a:xfrm>
            <a:off x="224287" y="948906"/>
            <a:ext cx="11619781" cy="5645569"/>
          </a:xfrm>
        </p:spPr>
        <p:txBody>
          <a:bodyPr/>
          <a:lstStyle/>
          <a:p>
            <a:pPr algn="just" eaLnBrk="1" hangingPunct="1">
              <a:defRPr/>
            </a:pPr>
            <a:r>
              <a:rPr lang="pt-BR" dirty="0" smtClean="0"/>
              <a:t>Problemas da Engenharia </a:t>
            </a:r>
            <a:r>
              <a:rPr lang="pt-BR" dirty="0"/>
              <a:t>de </a:t>
            </a:r>
            <a:r>
              <a:rPr lang="pt-BR" dirty="0" smtClean="0"/>
              <a:t>requisitos - Falhas </a:t>
            </a:r>
            <a:r>
              <a:rPr lang="pt-BR" dirty="0"/>
              <a:t>em não fazer uma clara separação entre esses diferentes níveis de </a:t>
            </a:r>
            <a:r>
              <a:rPr lang="pt-BR" dirty="0" smtClean="0"/>
              <a:t>descrição: </a:t>
            </a:r>
          </a:p>
          <a:p>
            <a:pPr algn="just" eaLnBrk="1" hangingPunct="1">
              <a:defRPr/>
            </a:pPr>
            <a:endParaRPr lang="pt-BR" dirty="0" smtClean="0"/>
          </a:p>
          <a:p>
            <a:pPr algn="just" eaLnBrk="1" hangingPunct="1">
              <a:defRPr/>
            </a:pPr>
            <a:r>
              <a:rPr lang="pt-BR" dirty="0" smtClean="0"/>
              <a:t>1 Requisitos </a:t>
            </a:r>
            <a:r>
              <a:rPr lang="pt-BR" dirty="0"/>
              <a:t>de </a:t>
            </a:r>
            <a:r>
              <a:rPr lang="pt-BR" dirty="0" smtClean="0"/>
              <a:t>usuário: </a:t>
            </a:r>
            <a:r>
              <a:rPr lang="pt-BR" dirty="0"/>
              <a:t>declarações, em uma linguagem natural com </a:t>
            </a:r>
            <a:r>
              <a:rPr lang="pt-BR" dirty="0" smtClean="0"/>
              <a:t>diagramas dos </a:t>
            </a:r>
            <a:r>
              <a:rPr lang="pt-BR" dirty="0"/>
              <a:t>serviços </a:t>
            </a:r>
            <a:r>
              <a:rPr lang="pt-BR" dirty="0" smtClean="0"/>
              <a:t>fornecidos pelo sistema, além das </a:t>
            </a:r>
            <a:r>
              <a:rPr lang="pt-BR" dirty="0"/>
              <a:t>restrições com as quais este deve operar</a:t>
            </a:r>
            <a:r>
              <a:rPr lang="pt-BR" dirty="0" smtClean="0"/>
              <a:t>.</a:t>
            </a:r>
          </a:p>
          <a:p>
            <a:pPr marL="457200" indent="-457200" algn="just">
              <a:buFontTx/>
              <a:buAutoNum type="arabicPeriod"/>
              <a:defRPr/>
            </a:pPr>
            <a:endParaRPr lang="pt-BR" dirty="0"/>
          </a:p>
          <a:p>
            <a:pPr algn="just" eaLnBrk="1" hangingPunct="1">
              <a:defRPr/>
            </a:pPr>
            <a:r>
              <a:rPr lang="pt-BR" dirty="0" smtClean="0"/>
              <a:t> </a:t>
            </a:r>
            <a:r>
              <a:rPr lang="pt-BR" dirty="0"/>
              <a:t>2. Requisitos de </a:t>
            </a:r>
            <a:r>
              <a:rPr lang="pt-BR" dirty="0" smtClean="0"/>
              <a:t>sistema: descrições </a:t>
            </a:r>
            <a:r>
              <a:rPr lang="pt-BR" dirty="0"/>
              <a:t>mais detalhadas das funções, serviços e restrições operacionais do sistema de software. O documento de requisitos do sistema </a:t>
            </a:r>
            <a:r>
              <a:rPr lang="pt-BR" dirty="0" smtClean="0"/>
              <a:t>(especificação </a:t>
            </a:r>
            <a:r>
              <a:rPr lang="pt-BR" dirty="0"/>
              <a:t>funcional) deve definir </a:t>
            </a:r>
            <a:r>
              <a:rPr lang="pt-BR" dirty="0" smtClean="0"/>
              <a:t>exatamente </a:t>
            </a:r>
            <a:r>
              <a:rPr lang="pt-BR" dirty="0"/>
              <a:t>o que deve ser implementado. Pode ser parte do contrato entre o comprador do sistema e os </a:t>
            </a:r>
            <a:r>
              <a:rPr lang="pt-BR" dirty="0" smtClean="0"/>
              <a:t>desenvolvedores </a:t>
            </a:r>
            <a:r>
              <a:rPr lang="pt-BR" dirty="0"/>
              <a:t>de software.</a:t>
            </a:r>
          </a:p>
        </p:txBody>
      </p:sp>
    </p:spTree>
    <p:extLst>
      <p:ext uri="{BB962C8B-B14F-4D97-AF65-F5344CB8AC3E}">
        <p14:creationId xmlns:p14="http://schemas.microsoft.com/office/powerpoint/2010/main" val="4458439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77792AA-FAB9-4F69-85A1-93FB9EBD443C}" type="slidenum">
              <a:rPr lang="pt-PT" altLang="pt-BR" sz="1400"/>
              <a:pPr>
                <a:spcBef>
                  <a:spcPct val="0"/>
                </a:spcBef>
                <a:buFontTx/>
                <a:buNone/>
              </a:pPr>
              <a:t>5</a:t>
            </a:fld>
            <a:endParaRPr lang="pt-PT" altLang="pt-BR" sz="1400"/>
          </a:p>
        </p:txBody>
      </p:sp>
      <p:sp>
        <p:nvSpPr>
          <p:cNvPr id="201731"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154628" name="Rectangle 3"/>
          <p:cNvSpPr>
            <a:spLocks noGrp="1" noChangeArrowheads="1"/>
          </p:cNvSpPr>
          <p:nvPr>
            <p:ph type="subTitle" idx="1"/>
          </p:nvPr>
        </p:nvSpPr>
        <p:spPr>
          <a:xfrm>
            <a:off x="310550" y="836614"/>
            <a:ext cx="11585275" cy="5757861"/>
          </a:xfrm>
        </p:spPr>
        <p:txBody>
          <a:bodyPr/>
          <a:lstStyle/>
          <a:p>
            <a:pPr algn="just" eaLnBrk="1" hangingPunct="1">
              <a:defRPr/>
            </a:pPr>
            <a:r>
              <a:rPr lang="pt-BR" dirty="0"/>
              <a:t>Diferentes níveis de requisitos são úteis, pois eles comunicam informações sobre o sistema para diferentes tipos de leitor. </a:t>
            </a:r>
            <a:endParaRPr lang="pt-BR" dirty="0" smtClean="0"/>
          </a:p>
          <a:p>
            <a:pPr algn="just" eaLnBrk="1" hangingPunct="1">
              <a:defRPr/>
            </a:pPr>
            <a:endParaRPr lang="pt-BR" dirty="0"/>
          </a:p>
          <a:p>
            <a:pPr algn="just" eaLnBrk="1" hangingPunct="1">
              <a:defRPr/>
            </a:pPr>
            <a:r>
              <a:rPr lang="pt-BR" dirty="0"/>
              <a:t>Definição de requisitos de </a:t>
            </a:r>
            <a:r>
              <a:rPr lang="pt-BR" dirty="0" smtClean="0"/>
              <a:t>usuário</a:t>
            </a:r>
          </a:p>
          <a:p>
            <a:pPr marL="457200" indent="-457200" algn="just">
              <a:buFontTx/>
              <a:buAutoNum type="arabicPeriod"/>
              <a:defRPr/>
            </a:pPr>
            <a:r>
              <a:rPr lang="pt-BR" dirty="0" smtClean="0"/>
              <a:t>O </a:t>
            </a:r>
            <a:r>
              <a:rPr lang="pt-BR" dirty="0"/>
              <a:t>MHC-PMS deve gerar relatórios gerenciais mensais que mostrem o </a:t>
            </a:r>
            <a:r>
              <a:rPr lang="pt-BR" dirty="0" smtClean="0"/>
              <a:t>custo </a:t>
            </a:r>
            <a:r>
              <a:rPr lang="pt-BR" dirty="0"/>
              <a:t>dos medicamentos prescritos por cada clínica durante aquele mês</a:t>
            </a:r>
            <a:r>
              <a:rPr lang="pt-BR" dirty="0" smtClean="0"/>
              <a:t>.</a:t>
            </a:r>
          </a:p>
          <a:p>
            <a:pPr algn="just" eaLnBrk="1" hangingPunct="1">
              <a:defRPr/>
            </a:pPr>
            <a:endParaRPr lang="pt-BR" dirty="0"/>
          </a:p>
        </p:txBody>
      </p:sp>
    </p:spTree>
    <p:extLst>
      <p:ext uri="{BB962C8B-B14F-4D97-AF65-F5344CB8AC3E}">
        <p14:creationId xmlns:p14="http://schemas.microsoft.com/office/powerpoint/2010/main" val="41927218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34A7DA-9498-44D9-99B5-BB758C42C37D}" type="slidenum">
              <a:rPr lang="pt-PT" altLang="pt-BR" sz="1400"/>
              <a:pPr>
                <a:spcBef>
                  <a:spcPct val="0"/>
                </a:spcBef>
                <a:buFontTx/>
                <a:buNone/>
              </a:pPr>
              <a:t>6</a:t>
            </a:fld>
            <a:endParaRPr lang="pt-PT" altLang="pt-BR" sz="1400"/>
          </a:p>
        </p:txBody>
      </p:sp>
      <p:sp>
        <p:nvSpPr>
          <p:cNvPr id="202755"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202756" name="Rectangle 3"/>
          <p:cNvSpPr>
            <a:spLocks noGrp="1" noChangeArrowheads="1"/>
          </p:cNvSpPr>
          <p:nvPr>
            <p:ph type="subTitle" idx="1"/>
          </p:nvPr>
        </p:nvSpPr>
        <p:spPr>
          <a:xfrm>
            <a:off x="138023" y="979517"/>
            <a:ext cx="11757803" cy="5878483"/>
          </a:xfrm>
        </p:spPr>
        <p:txBody>
          <a:bodyPr/>
          <a:lstStyle/>
          <a:p>
            <a:pPr algn="just" eaLnBrk="1" hangingPunct="1"/>
            <a:r>
              <a:rPr lang="pt-BR" altLang="pt-BR" dirty="0" smtClean="0"/>
              <a:t>Especificação de requisitos de sistema</a:t>
            </a:r>
          </a:p>
          <a:p>
            <a:pPr algn="just" eaLnBrk="1" hangingPunct="1"/>
            <a:r>
              <a:rPr lang="pt-BR" altLang="pt-BR" dirty="0" smtClean="0"/>
              <a:t>1.1 No último dia útil de cada mês deve ser gerado um resumo dos medicamentos prescritos, seus custos e as prescrições de cada clínica. </a:t>
            </a:r>
          </a:p>
          <a:p>
            <a:pPr algn="just" eaLnBrk="1" hangingPunct="1"/>
            <a:r>
              <a:rPr lang="pt-BR" altLang="pt-BR" dirty="0" smtClean="0"/>
              <a:t>1.2 Após 17:30h do último dia útil do mês, o sistema deve gerar automaticamente o relatório para impressão. </a:t>
            </a:r>
          </a:p>
          <a:p>
            <a:pPr algn="just" eaLnBrk="1" hangingPunct="1"/>
            <a:r>
              <a:rPr lang="pt-BR" altLang="pt-BR" dirty="0" smtClean="0"/>
              <a:t>1.3 Um relatório será criado para cada clínica, listando os nomes dos medicamentos, o número total de prescrições, o número de doses prescritas e o custo total dos medicamentos prescritos. </a:t>
            </a:r>
          </a:p>
          <a:p>
            <a:pPr algn="just" eaLnBrk="1" hangingPunct="1"/>
            <a:r>
              <a:rPr lang="pt-BR" altLang="pt-BR" dirty="0" smtClean="0"/>
              <a:t>1.4 Se os medicamentos estão disponíveis em diferentes unidades de dosagem (por exemplo, 10 mg, 20 mg), devem ser criados relatórios separados para cada unidade.</a:t>
            </a:r>
          </a:p>
          <a:p>
            <a:pPr algn="just" eaLnBrk="1" hangingPunct="1"/>
            <a:r>
              <a:rPr lang="pt-BR" altLang="pt-BR" dirty="0" smtClean="0"/>
              <a:t> 1.5 O acesso aos relatórios de custos deve ser restrito a usuários autorizados por uma lista de controle de gerenciamento de acesso. </a:t>
            </a:r>
          </a:p>
        </p:txBody>
      </p:sp>
    </p:spTree>
    <p:extLst>
      <p:ext uri="{BB962C8B-B14F-4D97-AF65-F5344CB8AC3E}">
        <p14:creationId xmlns:p14="http://schemas.microsoft.com/office/powerpoint/2010/main" val="35650294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A2A647-C9CA-481B-B556-44EFA015A120}" type="slidenum">
              <a:rPr lang="pt-PT" altLang="pt-BR" sz="1400"/>
              <a:pPr>
                <a:spcBef>
                  <a:spcPct val="0"/>
                </a:spcBef>
                <a:buFontTx/>
                <a:buNone/>
              </a:pPr>
              <a:t>7</a:t>
            </a:fld>
            <a:endParaRPr lang="pt-PT" altLang="pt-BR" sz="1400"/>
          </a:p>
        </p:txBody>
      </p:sp>
      <p:sp>
        <p:nvSpPr>
          <p:cNvPr id="203779"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Engenharia de Requisitos</a:t>
            </a:r>
            <a:endParaRPr lang="pt-PT" altLang="pt-BR" sz="3600"/>
          </a:p>
        </p:txBody>
      </p:sp>
      <p:sp>
        <p:nvSpPr>
          <p:cNvPr id="203780" name="Rectangle 3"/>
          <p:cNvSpPr>
            <a:spLocks noGrp="1" noChangeArrowheads="1"/>
          </p:cNvSpPr>
          <p:nvPr>
            <p:ph type="subTitle" idx="1"/>
          </p:nvPr>
        </p:nvSpPr>
        <p:spPr>
          <a:xfrm>
            <a:off x="232913" y="836614"/>
            <a:ext cx="11818189" cy="5757861"/>
          </a:xfrm>
        </p:spPr>
        <p:txBody>
          <a:bodyPr/>
          <a:lstStyle/>
          <a:p>
            <a:pPr algn="just" eaLnBrk="1" hangingPunct="1"/>
            <a:r>
              <a:rPr lang="pt-BR" altLang="pt-BR" dirty="0" smtClean="0"/>
              <a:t>O Sistema de Gerenciamento da Saúde Mental de Pacientes (MHC-PMS, Mental Health </a:t>
            </a:r>
            <a:r>
              <a:rPr lang="pt-BR" altLang="pt-BR" dirty="0" err="1" smtClean="0"/>
              <a:t>Care</a:t>
            </a:r>
            <a:r>
              <a:rPr lang="pt-BR" altLang="pt-BR" dirty="0" smtClean="0"/>
              <a:t> </a:t>
            </a:r>
            <a:r>
              <a:rPr lang="pt-BR" altLang="pt-BR" dirty="0" err="1" smtClean="0"/>
              <a:t>Patient</a:t>
            </a:r>
            <a:r>
              <a:rPr lang="pt-BR" altLang="pt-BR" dirty="0" smtClean="0"/>
              <a:t> Management System), mostra como um requisito de usuário pode ser expandido em diversos requisitos de sistemas. </a:t>
            </a:r>
          </a:p>
          <a:p>
            <a:pPr algn="just" eaLnBrk="1" hangingPunct="1"/>
            <a:r>
              <a:rPr lang="pt-BR" altLang="pt-BR" dirty="0" smtClean="0"/>
              <a:t>Requisitos de usuário: gerais. Leitores não se preocupam como o sistema será implementado. podem ser gerentes não interessados nos recursos detalhados do sistema. (Gerentes clientes; Usuários finais do sistema; Engenheiros clientes; Gerentes contratantes; Arquitetos de sistema)</a:t>
            </a:r>
          </a:p>
          <a:p>
            <a:pPr algn="just" eaLnBrk="1" hangingPunct="1"/>
            <a:r>
              <a:rPr lang="pt-BR" altLang="pt-BR" dirty="0" smtClean="0"/>
              <a:t>Requisitos de sistema: informações mais específicas sobre serviços e funções do sistema. Leitores precisam saber mais sobre o que o sistema fará, como apoiará os processos dos negócios ou porque estão envolvidos na implementação do sistema. (Usuários finais do sistema; Engenheiros clientes ;Arquitetos de sistema Desenvolvedores de software)</a:t>
            </a:r>
          </a:p>
        </p:txBody>
      </p:sp>
    </p:spTree>
    <p:extLst>
      <p:ext uri="{BB962C8B-B14F-4D97-AF65-F5344CB8AC3E}">
        <p14:creationId xmlns:p14="http://schemas.microsoft.com/office/powerpoint/2010/main" val="31781739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564FBDA-22EE-4CD0-971A-3E380A438739}" type="slidenum">
              <a:rPr lang="pt-PT" altLang="pt-BR" sz="1400"/>
              <a:pPr>
                <a:spcBef>
                  <a:spcPct val="0"/>
                </a:spcBef>
                <a:buFontTx/>
                <a:buNone/>
              </a:pPr>
              <a:t>8</a:t>
            </a:fld>
            <a:endParaRPr lang="pt-PT" altLang="pt-BR" sz="1400"/>
          </a:p>
        </p:txBody>
      </p:sp>
      <p:sp>
        <p:nvSpPr>
          <p:cNvPr id="204803"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 e não funcionais</a:t>
            </a:r>
            <a:endParaRPr lang="pt-PT" altLang="pt-BR" sz="3600"/>
          </a:p>
        </p:txBody>
      </p:sp>
      <p:sp>
        <p:nvSpPr>
          <p:cNvPr id="204804" name="Rectangle 3"/>
          <p:cNvSpPr>
            <a:spLocks noGrp="1" noChangeArrowheads="1"/>
          </p:cNvSpPr>
          <p:nvPr>
            <p:ph type="subTitle" idx="1"/>
          </p:nvPr>
        </p:nvSpPr>
        <p:spPr>
          <a:xfrm>
            <a:off x="448575" y="983411"/>
            <a:ext cx="11257470" cy="5611064"/>
          </a:xfrm>
        </p:spPr>
        <p:txBody>
          <a:bodyPr/>
          <a:lstStyle/>
          <a:p>
            <a:pPr algn="just" eaLnBrk="1" hangingPunct="1"/>
            <a:r>
              <a:rPr lang="pt-BR" altLang="pt-BR" dirty="0" smtClean="0"/>
              <a:t>1.Requisitos funcionais: declarações de serviços que o sistema deve fornecer, de como o sistema deve reagir a entradas específicas e de como o sistema deve se comportar em determinadas situações. Em alguns casos, os requisitos funcionais também podem explicitar o que o sistema não deve fazer. </a:t>
            </a:r>
          </a:p>
          <a:p>
            <a:pPr algn="just" eaLnBrk="1" hangingPunct="1"/>
            <a:r>
              <a:rPr lang="pt-BR" altLang="pt-BR" dirty="0" smtClean="0"/>
              <a:t>2. Requisitos não funcionais: restrições aos serviços ou funções oferecidos pelo sistema. Incluem restrições de timing, no processo de desenvolvimento e impostas pelas normas. Ao contrário das características individuais ou serviços do sistema, os requisitos não funcionais, muitas vezes, aplicam-se ao sistema como um todo</a:t>
            </a:r>
          </a:p>
        </p:txBody>
      </p:sp>
    </p:spTree>
    <p:extLst>
      <p:ext uri="{BB962C8B-B14F-4D97-AF65-F5344CB8AC3E}">
        <p14:creationId xmlns:p14="http://schemas.microsoft.com/office/powerpoint/2010/main" val="42587074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0E42E21-9F2E-4F97-BB43-1A37B0D09BF9}" type="slidenum">
              <a:rPr lang="pt-PT" altLang="pt-BR" sz="1400"/>
              <a:pPr>
                <a:spcBef>
                  <a:spcPct val="0"/>
                </a:spcBef>
                <a:buFontTx/>
                <a:buNone/>
              </a:pPr>
              <a:t>9</a:t>
            </a:fld>
            <a:endParaRPr lang="pt-PT" altLang="pt-BR" sz="1400"/>
          </a:p>
        </p:txBody>
      </p:sp>
      <p:sp>
        <p:nvSpPr>
          <p:cNvPr id="205827"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 e não funcionais</a:t>
            </a:r>
            <a:endParaRPr lang="pt-PT" altLang="pt-BR" sz="3600"/>
          </a:p>
        </p:txBody>
      </p:sp>
      <p:sp>
        <p:nvSpPr>
          <p:cNvPr id="205828" name="Rectangle 3"/>
          <p:cNvSpPr>
            <a:spLocks noGrp="1" noChangeArrowheads="1"/>
          </p:cNvSpPr>
          <p:nvPr>
            <p:ph type="subTitle" idx="1"/>
          </p:nvPr>
        </p:nvSpPr>
        <p:spPr>
          <a:xfrm>
            <a:off x="569343" y="1112808"/>
            <a:ext cx="11335110" cy="5481667"/>
          </a:xfrm>
        </p:spPr>
        <p:txBody>
          <a:bodyPr/>
          <a:lstStyle/>
          <a:p>
            <a:pPr algn="just" eaLnBrk="1" hangingPunct="1"/>
            <a:r>
              <a:rPr lang="pt-BR" altLang="pt-BR" dirty="0" smtClean="0"/>
              <a:t>Distinção entre diferentes tipos de requisitos não é tão clara como sugerem essas definições.</a:t>
            </a:r>
          </a:p>
          <a:p>
            <a:pPr algn="just" eaLnBrk="1" hangingPunct="1"/>
            <a:r>
              <a:rPr lang="pt-BR" altLang="pt-BR" dirty="0" smtClean="0"/>
              <a:t>Um requisito de limitação de acesso a usuários autorizados, pode parecer um requisito não funcional. No entanto, quando desenvolvido em mais detalhes, esse requisito pode gerar outros requisitos, claramente funcionais, como a necessidade de incluir recursos de autenticação de usuário no sistema. </a:t>
            </a:r>
          </a:p>
          <a:p>
            <a:pPr algn="just" eaLnBrk="1" hangingPunct="1"/>
            <a:r>
              <a:rPr lang="pt-BR" altLang="pt-BR" dirty="0" smtClean="0"/>
              <a:t>Isso mostra que os requisitos não são independentes e que muitas vezes geram ou restringem outros requisitos. </a:t>
            </a:r>
          </a:p>
          <a:p>
            <a:pPr algn="just" eaLnBrk="1" hangingPunct="1"/>
            <a:r>
              <a:rPr lang="pt-BR" altLang="pt-BR" dirty="0" smtClean="0"/>
              <a:t>Requisitos de sistema: especificam serviços, características necessárias e funcionalidades necessárias para garantir que esses serviços/características sejam entregues corretamente.</a:t>
            </a:r>
          </a:p>
        </p:txBody>
      </p:sp>
    </p:spTree>
    <p:extLst>
      <p:ext uri="{BB962C8B-B14F-4D97-AF65-F5344CB8AC3E}">
        <p14:creationId xmlns:p14="http://schemas.microsoft.com/office/powerpoint/2010/main" val="25068255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532B4B3-1D8E-4BB4-9F68-A3F7F4F0A678}" type="slidenum">
              <a:rPr lang="pt-PT" altLang="pt-BR" sz="1400"/>
              <a:pPr>
                <a:spcBef>
                  <a:spcPct val="0"/>
                </a:spcBef>
                <a:buFontTx/>
                <a:buNone/>
              </a:pPr>
              <a:t>10</a:t>
            </a:fld>
            <a:endParaRPr lang="pt-PT" altLang="pt-BR" sz="1400"/>
          </a:p>
        </p:txBody>
      </p:sp>
      <p:sp>
        <p:nvSpPr>
          <p:cNvPr id="206851"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a:t>
            </a:r>
            <a:endParaRPr lang="pt-PT" altLang="pt-BR" sz="3600"/>
          </a:p>
        </p:txBody>
      </p:sp>
      <p:sp>
        <p:nvSpPr>
          <p:cNvPr id="206852" name="Rectangle 3"/>
          <p:cNvSpPr>
            <a:spLocks noGrp="1" noChangeArrowheads="1"/>
          </p:cNvSpPr>
          <p:nvPr>
            <p:ph type="subTitle" idx="1"/>
          </p:nvPr>
        </p:nvSpPr>
        <p:spPr>
          <a:xfrm>
            <a:off x="388189" y="1009291"/>
            <a:ext cx="11395494" cy="5585184"/>
          </a:xfrm>
        </p:spPr>
        <p:txBody>
          <a:bodyPr/>
          <a:lstStyle/>
          <a:p>
            <a:pPr algn="just" eaLnBrk="1" hangingPunct="1"/>
            <a:r>
              <a:rPr lang="pt-BR" altLang="pt-BR" dirty="0" smtClean="0"/>
              <a:t>Descrevem o que o sistema deve fazer. </a:t>
            </a:r>
          </a:p>
          <a:p>
            <a:pPr algn="just" eaLnBrk="1" hangingPunct="1"/>
            <a:r>
              <a:rPr lang="pt-BR" altLang="pt-BR" dirty="0" smtClean="0"/>
              <a:t>Dependem do tipo de software a ser desenvolvido, de quem são seus possíveis usuários e da abordagem geral adotada pela organização ao escrever os requisitos. </a:t>
            </a:r>
          </a:p>
          <a:p>
            <a:pPr algn="just" eaLnBrk="1" hangingPunct="1"/>
            <a:r>
              <a:rPr lang="pt-BR" altLang="pt-BR" dirty="0" smtClean="0"/>
              <a:t>Requisitos funcionais de usuário: descritos de forma abstrata, para serem compreendidos pelos usuários do sistema. </a:t>
            </a:r>
          </a:p>
          <a:p>
            <a:pPr algn="just" eaLnBrk="1" hangingPunct="1"/>
            <a:r>
              <a:rPr lang="pt-BR" altLang="pt-BR" dirty="0" smtClean="0"/>
              <a:t>Requisitos funcionais de sistema: descrevem em detalhes as funções do sistema, suas entradas e saídas, exceções etc.</a:t>
            </a:r>
          </a:p>
        </p:txBody>
      </p:sp>
    </p:spTree>
    <p:extLst>
      <p:ext uri="{BB962C8B-B14F-4D97-AF65-F5344CB8AC3E}">
        <p14:creationId xmlns:p14="http://schemas.microsoft.com/office/powerpoint/2010/main" val="30385437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65C1EC0-1172-4621-9210-324D1834803D}" type="slidenum">
              <a:rPr lang="pt-PT" altLang="pt-BR" sz="1400"/>
              <a:pPr>
                <a:spcBef>
                  <a:spcPct val="0"/>
                </a:spcBef>
                <a:buFontTx/>
                <a:buNone/>
              </a:pPr>
              <a:t>11</a:t>
            </a:fld>
            <a:endParaRPr lang="pt-PT" altLang="pt-BR" sz="1400"/>
          </a:p>
        </p:txBody>
      </p:sp>
      <p:sp>
        <p:nvSpPr>
          <p:cNvPr id="207875"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a:t>
            </a:r>
            <a:endParaRPr lang="pt-PT" altLang="pt-BR" sz="3600"/>
          </a:p>
        </p:txBody>
      </p:sp>
      <p:sp>
        <p:nvSpPr>
          <p:cNvPr id="154628" name="Rectangle 3"/>
          <p:cNvSpPr>
            <a:spLocks noGrp="1" noChangeArrowheads="1"/>
          </p:cNvSpPr>
          <p:nvPr>
            <p:ph type="subTitle" idx="1"/>
          </p:nvPr>
        </p:nvSpPr>
        <p:spPr>
          <a:xfrm>
            <a:off x="603849" y="836614"/>
            <a:ext cx="11171208" cy="5757861"/>
          </a:xfrm>
        </p:spPr>
        <p:txBody>
          <a:bodyPr/>
          <a:lstStyle/>
          <a:p>
            <a:pPr algn="just" eaLnBrk="1" hangingPunct="1">
              <a:defRPr/>
            </a:pPr>
            <a:r>
              <a:rPr lang="pt-BR" dirty="0" smtClean="0"/>
              <a:t>Variam </a:t>
            </a:r>
            <a:r>
              <a:rPr lang="pt-BR" dirty="0"/>
              <a:t>de requisitos </a:t>
            </a:r>
            <a:r>
              <a:rPr lang="pt-BR" dirty="0" smtClean="0"/>
              <a:t>gerais (o </a:t>
            </a:r>
            <a:r>
              <a:rPr lang="pt-BR" dirty="0"/>
              <a:t>que o sistema deve </a:t>
            </a:r>
            <a:r>
              <a:rPr lang="pt-BR" dirty="0" smtClean="0"/>
              <a:t>fazer) </a:t>
            </a:r>
            <a:r>
              <a:rPr lang="pt-BR" dirty="0"/>
              <a:t>até requisitos muito </a:t>
            </a:r>
            <a:r>
              <a:rPr lang="pt-BR" dirty="0" smtClean="0"/>
              <a:t>específicos (refletem </a:t>
            </a:r>
            <a:r>
              <a:rPr lang="pt-BR" dirty="0"/>
              <a:t>os sistemas e as formas de trabalho em uma </a:t>
            </a:r>
            <a:r>
              <a:rPr lang="pt-BR" dirty="0" smtClean="0"/>
              <a:t>organização). </a:t>
            </a:r>
          </a:p>
          <a:p>
            <a:pPr algn="just" eaLnBrk="1" hangingPunct="1">
              <a:defRPr/>
            </a:pPr>
            <a:r>
              <a:rPr lang="pt-BR" dirty="0" err="1" smtClean="0"/>
              <a:t>Ex</a:t>
            </a:r>
            <a:r>
              <a:rPr lang="pt-BR" dirty="0" smtClean="0"/>
              <a:t>: </a:t>
            </a:r>
            <a:r>
              <a:rPr lang="pt-BR" dirty="0"/>
              <a:t>R</a:t>
            </a:r>
            <a:r>
              <a:rPr lang="pt-BR" dirty="0" smtClean="0"/>
              <a:t>equisitos </a:t>
            </a:r>
            <a:r>
              <a:rPr lang="pt-BR" dirty="0"/>
              <a:t>funcionais para o sistema MHC-PMS, usados para manter informações </a:t>
            </a:r>
            <a:r>
              <a:rPr lang="pt-BR" dirty="0" smtClean="0"/>
              <a:t>dos </a:t>
            </a:r>
            <a:r>
              <a:rPr lang="pt-BR" dirty="0"/>
              <a:t>pacientes em tratamento por problemas de saúde mental: </a:t>
            </a:r>
            <a:endParaRPr lang="pt-BR" dirty="0" smtClean="0"/>
          </a:p>
          <a:p>
            <a:pPr marL="457200" indent="-457200" algn="just">
              <a:buFontTx/>
              <a:buAutoNum type="arabicPeriod"/>
              <a:defRPr/>
            </a:pPr>
            <a:r>
              <a:rPr lang="pt-BR" dirty="0" smtClean="0"/>
              <a:t>Um </a:t>
            </a:r>
            <a:r>
              <a:rPr lang="pt-BR" dirty="0"/>
              <a:t>usuário deve ser capaz de pesquisar as listas de agendamentos para todas as clínicas. </a:t>
            </a:r>
            <a:endParaRPr lang="pt-BR" dirty="0" smtClean="0"/>
          </a:p>
          <a:p>
            <a:pPr marL="457200" indent="-457200" algn="just">
              <a:buFontTx/>
              <a:buAutoNum type="arabicPeriod"/>
              <a:defRPr/>
            </a:pPr>
            <a:r>
              <a:rPr lang="pt-BR" dirty="0" smtClean="0"/>
              <a:t>O </a:t>
            </a:r>
            <a:r>
              <a:rPr lang="pt-BR" dirty="0"/>
              <a:t>sistema deve gerar a cada dia, para cada clínica, a lista dos pacientes para as consultas daquele dia</a:t>
            </a:r>
            <a:r>
              <a:rPr lang="pt-BR" dirty="0" smtClean="0"/>
              <a:t>.</a:t>
            </a:r>
          </a:p>
          <a:p>
            <a:pPr marL="457200" indent="-457200" algn="just">
              <a:buFontTx/>
              <a:buAutoNum type="arabicPeriod"/>
              <a:defRPr/>
            </a:pPr>
            <a:r>
              <a:rPr lang="pt-BR" dirty="0" smtClean="0"/>
              <a:t>Cada </a:t>
            </a:r>
            <a:r>
              <a:rPr lang="pt-BR" dirty="0"/>
              <a:t>membro da equipe que usa o sistema deve ser identificado apenas por seu número de oito dígitos.</a:t>
            </a:r>
          </a:p>
        </p:txBody>
      </p:sp>
    </p:spTree>
    <p:extLst>
      <p:ext uri="{BB962C8B-B14F-4D97-AF65-F5344CB8AC3E}">
        <p14:creationId xmlns:p14="http://schemas.microsoft.com/office/powerpoint/2010/main" val="39480446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EF6B9FE-0CC3-415C-B93B-594F0072406E}" type="slidenum">
              <a:rPr lang="pt-PT" altLang="pt-BR" sz="1400"/>
              <a:pPr>
                <a:spcBef>
                  <a:spcPct val="0"/>
                </a:spcBef>
                <a:buFontTx/>
                <a:buNone/>
              </a:pPr>
              <a:t>12</a:t>
            </a:fld>
            <a:endParaRPr lang="pt-PT" altLang="pt-BR" sz="1400"/>
          </a:p>
        </p:txBody>
      </p:sp>
      <p:sp>
        <p:nvSpPr>
          <p:cNvPr id="208899"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a:t>
            </a:r>
            <a:endParaRPr lang="pt-PT" altLang="pt-BR" sz="3600"/>
          </a:p>
        </p:txBody>
      </p:sp>
      <p:sp>
        <p:nvSpPr>
          <p:cNvPr id="208900" name="Rectangle 3"/>
          <p:cNvSpPr>
            <a:spLocks noGrp="1" noChangeArrowheads="1"/>
          </p:cNvSpPr>
          <p:nvPr>
            <p:ph type="subTitle" idx="1"/>
          </p:nvPr>
        </p:nvSpPr>
        <p:spPr>
          <a:xfrm>
            <a:off x="396815" y="1121434"/>
            <a:ext cx="11473132" cy="5473041"/>
          </a:xfrm>
        </p:spPr>
        <p:txBody>
          <a:bodyPr/>
          <a:lstStyle/>
          <a:p>
            <a:pPr algn="just" eaLnBrk="1" hangingPunct="1"/>
            <a:r>
              <a:rPr lang="pt-BR" altLang="pt-BR" dirty="0" smtClean="0"/>
              <a:t>Requisitos funcionais dos usuários definem os recursos específicos a serem fornecidos pelo sistema. </a:t>
            </a:r>
          </a:p>
          <a:p>
            <a:pPr algn="just" eaLnBrk="1" hangingPunct="1"/>
            <a:r>
              <a:rPr lang="pt-BR" altLang="pt-BR" dirty="0" smtClean="0"/>
              <a:t>Retirados do documento de requisitos de usuário,  mostram que os requisitos funcionais podem ser escritos em diferentes níveis de detalhamento. </a:t>
            </a:r>
          </a:p>
          <a:p>
            <a:pPr algn="just" eaLnBrk="1" hangingPunct="1"/>
            <a:r>
              <a:rPr lang="pt-BR" altLang="pt-BR" dirty="0" smtClean="0"/>
              <a:t>Imprecisão na especificação de requisitos: causa muitos problemas da engenharia de software. </a:t>
            </a:r>
          </a:p>
          <a:p>
            <a:pPr algn="just" eaLnBrk="1" hangingPunct="1"/>
            <a:r>
              <a:rPr lang="pt-BR" altLang="pt-BR" dirty="0" smtClean="0"/>
              <a:t>Desenvolvedor de sistemas interpreta um requisito ambíguo de uma maneira que simplifique sua implementação.</a:t>
            </a:r>
          </a:p>
          <a:p>
            <a:pPr algn="just" eaLnBrk="1" hangingPunct="1"/>
            <a:r>
              <a:rPr lang="pt-BR" altLang="pt-BR" dirty="0" smtClean="0"/>
              <a:t>Novos requisitos e alterações no sistema levam a atrasos de entrega e aumento dos custos.</a:t>
            </a:r>
          </a:p>
        </p:txBody>
      </p:sp>
    </p:spTree>
    <p:extLst>
      <p:ext uri="{BB962C8B-B14F-4D97-AF65-F5344CB8AC3E}">
        <p14:creationId xmlns:p14="http://schemas.microsoft.com/office/powerpoint/2010/main" val="16892094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03A7DC-D16B-4799-8E6C-CFA578D62D51}" type="slidenum">
              <a:rPr lang="pt-PT" altLang="pt-BR" sz="1400"/>
              <a:pPr>
                <a:spcBef>
                  <a:spcPct val="0"/>
                </a:spcBef>
                <a:buFontTx/>
                <a:buNone/>
              </a:pPr>
              <a:t>13</a:t>
            </a:fld>
            <a:endParaRPr lang="pt-PT" altLang="pt-BR" sz="1400"/>
          </a:p>
        </p:txBody>
      </p:sp>
      <p:sp>
        <p:nvSpPr>
          <p:cNvPr id="209923"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a:t>
            </a:r>
            <a:endParaRPr lang="pt-PT" altLang="pt-BR" sz="3600"/>
          </a:p>
        </p:txBody>
      </p:sp>
      <p:sp>
        <p:nvSpPr>
          <p:cNvPr id="209924" name="Rectangle 3"/>
          <p:cNvSpPr>
            <a:spLocks noGrp="1" noChangeArrowheads="1"/>
          </p:cNvSpPr>
          <p:nvPr>
            <p:ph type="subTitle" idx="1"/>
          </p:nvPr>
        </p:nvSpPr>
        <p:spPr>
          <a:xfrm>
            <a:off x="284673" y="974786"/>
            <a:ext cx="11706044" cy="5619690"/>
          </a:xfrm>
        </p:spPr>
        <p:txBody>
          <a:bodyPr/>
          <a:lstStyle/>
          <a:p>
            <a:pPr algn="just" eaLnBrk="1" hangingPunct="1"/>
            <a:r>
              <a:rPr lang="pt-BR" altLang="pt-BR" dirty="0" err="1" smtClean="0"/>
              <a:t>Ex</a:t>
            </a:r>
            <a:r>
              <a:rPr lang="pt-BR" altLang="pt-BR" dirty="0" smtClean="0"/>
              <a:t>: o primeiro requisito hipotético para o MHC-PMS diz que um usuário deve ser capaz de buscar as listas de agendamentos para todas as clínicas. A justificativa para esse requisito é que os pacientes com problemas de saúde mental por vezes são confusos. Eles podem ter uma consulta em uma clínica, mas se deslocaram até outra. Caso eles tenham uma consulta marcada, eles serão registrados como atendidos, independente da clínica. O membro da equipe médica que especifica esse requisito pode esperar que ‘pesquisar’ significa que, dado um nome de paciente, o sistema vai procurar esse nome em todos os agendamentos de todas as clínicas. No entanto, isso não está explícito no requisito. Desenvolvedores do sistema podem interpretar o requisito de maneira diferente e implementar uma pesquisa em que o usuário tenha de escolher uma clínica, e, em seguida, realizar a pesquisa. Isso, obviamente, envolverá mais entradas do usuário e necessitará de mais tempo.</a:t>
            </a:r>
          </a:p>
        </p:txBody>
      </p:sp>
    </p:spTree>
    <p:extLst>
      <p:ext uri="{BB962C8B-B14F-4D97-AF65-F5344CB8AC3E}">
        <p14:creationId xmlns:p14="http://schemas.microsoft.com/office/powerpoint/2010/main" val="8530814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3284548-90F7-4105-81BE-0C6A2F93A4D6}" type="slidenum">
              <a:rPr lang="pt-PT" altLang="pt-BR" sz="1400"/>
              <a:pPr>
                <a:spcBef>
                  <a:spcPct val="0"/>
                </a:spcBef>
                <a:buFontTx/>
                <a:buNone/>
              </a:pPr>
              <a:t>14</a:t>
            </a:fld>
            <a:endParaRPr lang="pt-PT" altLang="pt-BR" sz="1400"/>
          </a:p>
        </p:txBody>
      </p:sp>
      <p:sp>
        <p:nvSpPr>
          <p:cNvPr id="210947"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funcionais</a:t>
            </a:r>
            <a:endParaRPr lang="pt-PT" altLang="pt-BR" sz="3600"/>
          </a:p>
        </p:txBody>
      </p:sp>
      <p:sp>
        <p:nvSpPr>
          <p:cNvPr id="210948" name="Rectangle 3"/>
          <p:cNvSpPr>
            <a:spLocks noGrp="1" noChangeArrowheads="1"/>
          </p:cNvSpPr>
          <p:nvPr>
            <p:ph type="subTitle" idx="1"/>
          </p:nvPr>
        </p:nvSpPr>
        <p:spPr>
          <a:xfrm>
            <a:off x="310551" y="1061049"/>
            <a:ext cx="11881449" cy="5533426"/>
          </a:xfrm>
        </p:spPr>
        <p:txBody>
          <a:bodyPr/>
          <a:lstStyle/>
          <a:p>
            <a:pPr algn="just" eaLnBrk="1" hangingPunct="1"/>
            <a:r>
              <a:rPr lang="pt-BR" altLang="pt-BR" dirty="0" smtClean="0"/>
              <a:t>Especificação dos requisitos funcionais de um sistema deve ser completa e consistente Completude: todos os serviços requeridos pelo usuário devem ser definidos</a:t>
            </a:r>
          </a:p>
          <a:p>
            <a:pPr algn="just" eaLnBrk="1" hangingPunct="1"/>
            <a:r>
              <a:rPr lang="pt-BR" altLang="pt-BR" dirty="0" smtClean="0"/>
              <a:t>Consistência: os requisitos não devem ter definições contraditórias. </a:t>
            </a:r>
          </a:p>
          <a:p>
            <a:pPr algn="just" eaLnBrk="1" hangingPunct="1"/>
            <a:endParaRPr lang="pt-BR" altLang="pt-BR" dirty="0" smtClean="0"/>
          </a:p>
          <a:p>
            <a:pPr algn="just" eaLnBrk="1" hangingPunct="1"/>
            <a:r>
              <a:rPr lang="pt-BR" altLang="pt-BR" dirty="0" smtClean="0"/>
              <a:t>Sistemas grandes e complexos: </a:t>
            </a:r>
          </a:p>
          <a:p>
            <a:pPr algn="just" eaLnBrk="1" hangingPunct="1"/>
            <a:r>
              <a:rPr lang="pt-BR" altLang="pt-BR" dirty="0" smtClean="0"/>
              <a:t>impossível alcançar completude e consistência dos requisitos em função de erros e omissões. </a:t>
            </a:r>
          </a:p>
          <a:p>
            <a:pPr algn="just" eaLnBrk="1" hangingPunct="1"/>
            <a:r>
              <a:rPr lang="pt-BR" altLang="pt-BR" dirty="0"/>
              <a:t>E</a:t>
            </a:r>
            <a:r>
              <a:rPr lang="pt-BR" altLang="pt-BR" dirty="0" smtClean="0"/>
              <a:t>xistem muitos </a:t>
            </a:r>
            <a:r>
              <a:rPr lang="pt-BR" altLang="pt-BR" dirty="0" err="1" smtClean="0"/>
              <a:t>stakeholders</a:t>
            </a:r>
            <a:r>
              <a:rPr lang="pt-BR" altLang="pt-BR" dirty="0" smtClean="0"/>
              <a:t> (pessoa ou papel que, de alguma maneira, é afetado pelo sistema) que tem necessidades diferentes (inconsistentes) que podem não ser evidentes em no momento da especificação dos requisitos. Os problemas podem surgir após uma análise mais profunda ou depois de o sistema ter sido entregue ao cliente.</a:t>
            </a:r>
          </a:p>
        </p:txBody>
      </p:sp>
    </p:spTree>
    <p:extLst>
      <p:ext uri="{BB962C8B-B14F-4D97-AF65-F5344CB8AC3E}">
        <p14:creationId xmlns:p14="http://schemas.microsoft.com/office/powerpoint/2010/main" val="23796572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397AA29-C49C-4DA8-A85C-70A9E42A6AC8}" type="slidenum">
              <a:rPr lang="pt-PT" altLang="pt-BR" sz="1400"/>
              <a:pPr>
                <a:spcBef>
                  <a:spcPct val="0"/>
                </a:spcBef>
                <a:buFontTx/>
                <a:buNone/>
              </a:pPr>
              <a:t>15</a:t>
            </a:fld>
            <a:endParaRPr lang="pt-PT" altLang="pt-BR" sz="1400"/>
          </a:p>
        </p:txBody>
      </p:sp>
      <p:sp>
        <p:nvSpPr>
          <p:cNvPr id="211971"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11972" name="Rectangle 3"/>
          <p:cNvSpPr>
            <a:spLocks noGrp="1" noChangeArrowheads="1"/>
          </p:cNvSpPr>
          <p:nvPr>
            <p:ph type="subTitle" idx="1"/>
          </p:nvPr>
        </p:nvSpPr>
        <p:spPr>
          <a:xfrm>
            <a:off x="258792" y="681488"/>
            <a:ext cx="11933207" cy="5912988"/>
          </a:xfrm>
        </p:spPr>
        <p:txBody>
          <a:bodyPr/>
          <a:lstStyle/>
          <a:p>
            <a:pPr algn="just" eaLnBrk="1" hangingPunct="1"/>
            <a:r>
              <a:rPr lang="pt-BR" altLang="pt-BR" dirty="0" smtClean="0"/>
              <a:t>Não estão diretamente relacionados aos serviços oferecidos pelo sistema a seus usuários. </a:t>
            </a:r>
          </a:p>
          <a:p>
            <a:pPr algn="just" eaLnBrk="1" hangingPunct="1"/>
            <a:r>
              <a:rPr lang="pt-BR" altLang="pt-BR" dirty="0" smtClean="0"/>
              <a:t>Relacionados às propriedades emergentes do sistema (confiabilidade, tempo de resposta e ocupação de área). </a:t>
            </a:r>
          </a:p>
          <a:p>
            <a:pPr algn="just" eaLnBrk="1" hangingPunct="1"/>
            <a:r>
              <a:rPr lang="pt-BR" altLang="pt-BR" dirty="0" smtClean="0"/>
              <a:t>Requisitos podem definir restrições sobre a implementação do sistema (capacidades dos dispositivos de E/S ou as representações de dados usadas nas interfaces com outros sistemas). </a:t>
            </a:r>
          </a:p>
          <a:p>
            <a:pPr algn="just" eaLnBrk="1" hangingPunct="1"/>
            <a:r>
              <a:rPr lang="pt-BR" altLang="pt-BR" dirty="0" smtClean="0"/>
              <a:t>Desempenho, proteção ou disponibilidade: especificam ou restringem as características do sistema. </a:t>
            </a:r>
          </a:p>
          <a:p>
            <a:pPr algn="just" eaLnBrk="1" hangingPunct="1"/>
            <a:r>
              <a:rPr lang="pt-BR" altLang="pt-BR" dirty="0" smtClean="0"/>
              <a:t>São mais críticos que requisitos funcionais individuais.</a:t>
            </a:r>
          </a:p>
          <a:p>
            <a:pPr algn="just"/>
            <a:r>
              <a:rPr lang="pt-BR" altLang="pt-BR" dirty="0"/>
              <a:t>Deixar de atender a um requisito não funcional pode significar a inutilização de todo o sistema. </a:t>
            </a:r>
          </a:p>
          <a:p>
            <a:pPr algn="just"/>
            <a:r>
              <a:rPr lang="pt-BR" altLang="pt-BR" dirty="0" err="1"/>
              <a:t>Ex</a:t>
            </a:r>
            <a:r>
              <a:rPr lang="pt-BR" altLang="pt-BR" dirty="0"/>
              <a:t>: se um sistema de aeronaves não cumprir seus requisitos de confiabilidade, não será certificado como um sistema seguro para operar; se um sistema de controle embutido não atender aos requisitos de desempenho, as funções de controle não funcionarão corretamente.</a:t>
            </a:r>
          </a:p>
          <a:p>
            <a:pPr algn="just" eaLnBrk="1" hangingPunct="1"/>
            <a:endParaRPr lang="pt-BR" altLang="pt-BR" dirty="0" smtClean="0"/>
          </a:p>
        </p:txBody>
      </p:sp>
    </p:spTree>
    <p:extLst>
      <p:ext uri="{BB962C8B-B14F-4D97-AF65-F5344CB8AC3E}">
        <p14:creationId xmlns:p14="http://schemas.microsoft.com/office/powerpoint/2010/main" val="25172041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ED71244-C28C-4C81-ABD8-683E941E9435}" type="slidenum">
              <a:rPr lang="pt-PT" altLang="pt-BR" sz="1400"/>
              <a:pPr>
                <a:spcBef>
                  <a:spcPct val="0"/>
                </a:spcBef>
                <a:buFontTx/>
                <a:buNone/>
              </a:pPr>
              <a:t>16</a:t>
            </a:fld>
            <a:endParaRPr lang="pt-PT" altLang="pt-BR" sz="1400"/>
          </a:p>
        </p:txBody>
      </p:sp>
      <p:sp>
        <p:nvSpPr>
          <p:cNvPr id="214019"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14020" name="Rectangle 3"/>
          <p:cNvSpPr>
            <a:spLocks noGrp="1" noChangeArrowheads="1"/>
          </p:cNvSpPr>
          <p:nvPr>
            <p:ph type="subTitle" idx="1"/>
          </p:nvPr>
        </p:nvSpPr>
        <p:spPr>
          <a:xfrm>
            <a:off x="146649" y="1224951"/>
            <a:ext cx="11921706" cy="5369523"/>
          </a:xfrm>
        </p:spPr>
        <p:txBody>
          <a:bodyPr/>
          <a:lstStyle/>
          <a:p>
            <a:pPr algn="just" eaLnBrk="1" hangingPunct="1"/>
            <a:r>
              <a:rPr lang="pt-BR" altLang="pt-BR" dirty="0" smtClean="0"/>
              <a:t>É mais difícil relacionar os componentes com os requisitos não funcionais. </a:t>
            </a:r>
          </a:p>
          <a:p>
            <a:pPr algn="just" eaLnBrk="1" hangingPunct="1"/>
            <a:r>
              <a:rPr lang="pt-BR" altLang="pt-BR" dirty="0" smtClean="0"/>
              <a:t>A implementação desses requisitos pode ser difundida em todo o sistema</a:t>
            </a:r>
            <a:r>
              <a:rPr lang="pt-BR" altLang="pt-BR" dirty="0"/>
              <a:t>:</a:t>
            </a:r>
            <a:endParaRPr lang="pt-BR" altLang="pt-BR" dirty="0" smtClean="0"/>
          </a:p>
          <a:p>
            <a:pPr marL="457200" indent="-457200" algn="just" eaLnBrk="1" hangingPunct="1">
              <a:buAutoNum type="arabicPeriod"/>
            </a:pPr>
            <a:r>
              <a:rPr lang="pt-BR" altLang="pt-BR" dirty="0" smtClean="0"/>
              <a:t>Requisitos não funcionais podem afetar a arquitetura geral do sistema em vez de apenas componentes individuais. </a:t>
            </a:r>
            <a:r>
              <a:rPr lang="pt-BR" altLang="pt-BR" dirty="0" err="1" smtClean="0"/>
              <a:t>Ex</a:t>
            </a:r>
            <a:r>
              <a:rPr lang="pt-BR" altLang="pt-BR" dirty="0" smtClean="0"/>
              <a:t>: para assegurar que sejam cumpridos os requisitos de desempenho, será necessário organizar o sistema para minimizar a comunicação entre os componentes. </a:t>
            </a:r>
          </a:p>
          <a:p>
            <a:pPr marL="457200" indent="-457200" algn="just" eaLnBrk="1" hangingPunct="1">
              <a:buAutoNum type="arabicPeriod"/>
            </a:pPr>
            <a:r>
              <a:rPr lang="pt-BR" altLang="pt-BR" dirty="0" smtClean="0"/>
              <a:t>Um único requisito não funcional, tal como um requisito de proteção, pode gerar uma série de requisitos funcionais relacionados que definam os serviços necessários no novo sistema. Podem gerar requisitos que restrinjam requisitos existentes.  </a:t>
            </a:r>
          </a:p>
          <a:p>
            <a:pPr algn="just" eaLnBrk="1" hangingPunct="1"/>
            <a:endParaRPr lang="pt-BR" altLang="pt-BR" dirty="0"/>
          </a:p>
          <a:p>
            <a:pPr algn="just"/>
            <a:r>
              <a:rPr lang="pt-BR" altLang="pt-BR" dirty="0"/>
              <a:t>Surgem das necessidades dos usuários, devido a restrições de orçamento, políticas organizacionais, necessidade de interoperabilidade com outros sistemas de software ou hardware, ou a partir de fatores externos, como regulamentos de segurança ou legislações de privacidade. </a:t>
            </a:r>
          </a:p>
          <a:p>
            <a:pPr algn="just" eaLnBrk="1" hangingPunct="1"/>
            <a:endParaRPr lang="pt-BR" altLang="pt-BR" dirty="0" smtClean="0"/>
          </a:p>
        </p:txBody>
      </p:sp>
    </p:spTree>
    <p:extLst>
      <p:ext uri="{BB962C8B-B14F-4D97-AF65-F5344CB8AC3E}">
        <p14:creationId xmlns:p14="http://schemas.microsoft.com/office/powerpoint/2010/main" val="3873654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6E0D6C5-5AA0-4CDB-81D7-62E0C34F0D6C}" type="slidenum">
              <a:rPr lang="pt-PT" altLang="pt-BR" sz="1400"/>
              <a:pPr>
                <a:spcBef>
                  <a:spcPct val="0"/>
                </a:spcBef>
                <a:buFontTx/>
                <a:buNone/>
              </a:pPr>
              <a:t>17</a:t>
            </a:fld>
            <a:endParaRPr lang="pt-PT" altLang="pt-BR" sz="1400"/>
          </a:p>
        </p:txBody>
      </p:sp>
      <p:sp>
        <p:nvSpPr>
          <p:cNvPr id="216067"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pic>
        <p:nvPicPr>
          <p:cNvPr id="216068"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862139"/>
            <a:ext cx="8096250"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069" name="Rectangle 3"/>
          <p:cNvSpPr>
            <a:spLocks noGrp="1" noChangeArrowheads="1"/>
          </p:cNvSpPr>
          <p:nvPr>
            <p:ph type="subTitle" idx="1"/>
          </p:nvPr>
        </p:nvSpPr>
        <p:spPr>
          <a:xfrm>
            <a:off x="1631951" y="1268413"/>
            <a:ext cx="9180513" cy="5326062"/>
          </a:xfrm>
        </p:spPr>
        <p:txBody>
          <a:bodyPr/>
          <a:lstStyle/>
          <a:p>
            <a:pPr algn="just" eaLnBrk="1" hangingPunct="1"/>
            <a:endParaRPr lang="pt-BR" altLang="pt-BR" smtClean="0"/>
          </a:p>
        </p:txBody>
      </p:sp>
    </p:spTree>
    <p:extLst>
      <p:ext uri="{BB962C8B-B14F-4D97-AF65-F5344CB8AC3E}">
        <p14:creationId xmlns:p14="http://schemas.microsoft.com/office/powerpoint/2010/main" val="38520294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12909D0-6662-48AD-9C25-1E204FCE4FBA}" type="slidenum">
              <a:rPr lang="pt-PT" altLang="pt-BR" sz="1400"/>
              <a:pPr>
                <a:spcBef>
                  <a:spcPct val="0"/>
                </a:spcBef>
                <a:buFontTx/>
                <a:buNone/>
              </a:pPr>
              <a:t>18</a:t>
            </a:fld>
            <a:endParaRPr lang="pt-PT" altLang="pt-BR" sz="1400"/>
          </a:p>
        </p:txBody>
      </p:sp>
      <p:sp>
        <p:nvSpPr>
          <p:cNvPr id="217091"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17092" name="Rectangle 3"/>
          <p:cNvSpPr>
            <a:spLocks noGrp="1" noChangeArrowheads="1"/>
          </p:cNvSpPr>
          <p:nvPr>
            <p:ph type="subTitle" idx="1"/>
          </p:nvPr>
        </p:nvSpPr>
        <p:spPr>
          <a:xfrm>
            <a:off x="232913" y="948906"/>
            <a:ext cx="11783683" cy="5645569"/>
          </a:xfrm>
        </p:spPr>
        <p:txBody>
          <a:bodyPr>
            <a:normAutofit lnSpcReduction="10000"/>
          </a:bodyPr>
          <a:lstStyle/>
          <a:p>
            <a:pPr algn="just" eaLnBrk="1" hangingPunct="1"/>
            <a:r>
              <a:rPr lang="pt-BR" altLang="pt-BR" dirty="0" smtClean="0"/>
              <a:t>Podem ser provenientes das características requeridas para o software (requisitos de produto), da organização que desenvolve o software (requisitos organizacionais) ou de fontes externas:</a:t>
            </a:r>
          </a:p>
          <a:p>
            <a:pPr algn="just" eaLnBrk="1" hangingPunct="1"/>
            <a:r>
              <a:rPr lang="pt-BR" altLang="pt-BR" dirty="0" smtClean="0"/>
              <a:t>1. Requisitos de produto: especificam ou restringem o comportamento do software. Incluem os requisitos de desempenho: rapidez, quantidade de memória, confiabilidade que estabelece a taxa aceitável de falhas, os proteção e os de usabilidade.</a:t>
            </a:r>
          </a:p>
          <a:p>
            <a:pPr algn="just" eaLnBrk="1" hangingPunct="1"/>
            <a:r>
              <a:rPr lang="pt-BR" altLang="pt-BR" dirty="0" smtClean="0"/>
              <a:t> 2. Requisitos organizacionais: derivados das políticas e procedimentos da organização do cliente e do desenvolvedor. Incluem os requisitos do processo operacional (como o sistema será usado), os requisitos do processo de desenvolvimento (linguagem de programação, o ambiente de desenvolvimento ou normas de processo a serem usadas), os requisitos ambientais (ambiente operacional do sistema).</a:t>
            </a:r>
          </a:p>
          <a:p>
            <a:pPr algn="just"/>
            <a:r>
              <a:rPr lang="pt-BR" altLang="pt-BR" dirty="0"/>
              <a:t>3. Requisitos externos: derivam de fatores externos ao sistema e seu processo de desenvolvimento. </a:t>
            </a:r>
            <a:r>
              <a:rPr lang="pt-BR" altLang="pt-BR" dirty="0" smtClean="0"/>
              <a:t>Inclui </a:t>
            </a:r>
            <a:r>
              <a:rPr lang="pt-BR" altLang="pt-BR" dirty="0"/>
              <a:t>requisitos reguladores (definem o que deve ser feito para que o sistema seja aprovado para uso, por um regulador, tal como um banco central); requisitos legais (devem ser seguidos para garantir que o sistema opere dentro da lei); e requisitos éticos (asseguram que o sistema será aceitável para seus usuários e o público em geral).</a:t>
            </a:r>
          </a:p>
          <a:p>
            <a:pPr algn="just" eaLnBrk="1" hangingPunct="1"/>
            <a:endParaRPr lang="pt-BR" altLang="pt-BR" dirty="0" smtClean="0"/>
          </a:p>
        </p:txBody>
      </p:sp>
    </p:spTree>
    <p:extLst>
      <p:ext uri="{BB962C8B-B14F-4D97-AF65-F5344CB8AC3E}">
        <p14:creationId xmlns:p14="http://schemas.microsoft.com/office/powerpoint/2010/main" val="11223384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7C637E1-6383-4235-834C-BA16AC52EE50}" type="slidenum">
              <a:rPr lang="pt-PT" altLang="pt-BR" sz="1400"/>
              <a:pPr>
                <a:spcBef>
                  <a:spcPct val="0"/>
                </a:spcBef>
                <a:buFontTx/>
                <a:buNone/>
              </a:pPr>
              <a:t>19</a:t>
            </a:fld>
            <a:endParaRPr lang="pt-PT" altLang="pt-BR" sz="1400"/>
          </a:p>
        </p:txBody>
      </p:sp>
      <p:sp>
        <p:nvSpPr>
          <p:cNvPr id="219139"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19140" name="Rectangle 3"/>
          <p:cNvSpPr>
            <a:spLocks noGrp="1" noChangeArrowheads="1"/>
          </p:cNvSpPr>
          <p:nvPr>
            <p:ph type="subTitle" idx="1"/>
          </p:nvPr>
        </p:nvSpPr>
        <p:spPr>
          <a:xfrm>
            <a:off x="1" y="836614"/>
            <a:ext cx="11999342" cy="5757861"/>
          </a:xfrm>
        </p:spPr>
        <p:txBody>
          <a:bodyPr/>
          <a:lstStyle/>
          <a:p>
            <a:pPr algn="just" eaLnBrk="1" hangingPunct="1"/>
            <a:r>
              <a:rPr lang="pt-BR" altLang="pt-BR" dirty="0" smtClean="0"/>
              <a:t>Requisito de produto</a:t>
            </a:r>
          </a:p>
          <a:p>
            <a:pPr algn="just" eaLnBrk="1" hangingPunct="1"/>
            <a:r>
              <a:rPr lang="pt-BR" altLang="pt-BR" dirty="0" smtClean="0"/>
              <a:t> O MHC-PMS deve estar disponível para todas as clínicas durante as horas normais de trabalho (segunda a sexta-feira, 8h30 às 17h30). Períodos de não operação dentro do horário normal de trabalho não podem exceder cinco segundos em um dia. </a:t>
            </a:r>
          </a:p>
          <a:p>
            <a:pPr algn="just" eaLnBrk="1" hangingPunct="1"/>
            <a:r>
              <a:rPr lang="pt-BR" altLang="pt-BR" dirty="0" smtClean="0"/>
              <a:t>Requisito organizacional</a:t>
            </a:r>
          </a:p>
          <a:p>
            <a:pPr algn="just" eaLnBrk="1" hangingPunct="1"/>
            <a:r>
              <a:rPr lang="pt-BR" altLang="pt-BR" dirty="0" smtClean="0"/>
              <a:t> Usuários do sistema MHC-PMS devem se autenticar com seus cartões de identificação da autoridade da saúde. </a:t>
            </a:r>
          </a:p>
          <a:p>
            <a:pPr algn="just" eaLnBrk="1" hangingPunct="1"/>
            <a:r>
              <a:rPr lang="pt-BR" altLang="pt-BR" dirty="0" smtClean="0"/>
              <a:t>Requisito externo </a:t>
            </a:r>
          </a:p>
          <a:p>
            <a:pPr algn="just" eaLnBrk="1" hangingPunct="1"/>
            <a:r>
              <a:rPr lang="pt-BR" altLang="pt-BR" dirty="0" smtClean="0"/>
              <a:t>O sistema deve implementar as disposições de privacidade dos pacientes, tal como estabelecido no HStan-03-2006-priv</a:t>
            </a:r>
          </a:p>
        </p:txBody>
      </p:sp>
    </p:spTree>
    <p:extLst>
      <p:ext uri="{BB962C8B-B14F-4D97-AF65-F5344CB8AC3E}">
        <p14:creationId xmlns:p14="http://schemas.microsoft.com/office/powerpoint/2010/main" val="28990364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8D31BCE-2FAA-40E5-885C-54141BB8AA91}" type="slidenum">
              <a:rPr lang="pt-PT" altLang="pt-BR" sz="1400"/>
              <a:pPr>
                <a:spcBef>
                  <a:spcPct val="0"/>
                </a:spcBef>
                <a:buFontTx/>
                <a:buNone/>
              </a:pPr>
              <a:t>20</a:t>
            </a:fld>
            <a:endParaRPr lang="pt-PT" altLang="pt-BR" sz="1400"/>
          </a:p>
        </p:txBody>
      </p:sp>
      <p:sp>
        <p:nvSpPr>
          <p:cNvPr id="220163"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20164" name="Rectangle 3"/>
          <p:cNvSpPr>
            <a:spLocks noGrp="1" noChangeArrowheads="1"/>
          </p:cNvSpPr>
          <p:nvPr>
            <p:ph type="subTitle" idx="1"/>
          </p:nvPr>
        </p:nvSpPr>
        <p:spPr>
          <a:xfrm>
            <a:off x="60385" y="836614"/>
            <a:ext cx="11973464" cy="5757861"/>
          </a:xfrm>
        </p:spPr>
        <p:txBody>
          <a:bodyPr/>
          <a:lstStyle/>
          <a:p>
            <a:pPr algn="just" eaLnBrk="1" hangingPunct="1"/>
            <a:r>
              <a:rPr lang="pt-BR" altLang="pt-BR" dirty="0" smtClean="0"/>
              <a:t>Requisito de produto:</a:t>
            </a:r>
          </a:p>
          <a:p>
            <a:pPr algn="just"/>
            <a:r>
              <a:rPr lang="pt-BR" altLang="pt-BR" dirty="0" smtClean="0"/>
              <a:t>Identifica </a:t>
            </a:r>
            <a:r>
              <a:rPr lang="pt-BR" altLang="pt-BR" dirty="0"/>
              <a:t>restrição que deve ser considerada pelos projetistas do sistema. </a:t>
            </a:r>
            <a:endParaRPr lang="pt-BR" altLang="pt-BR" dirty="0" smtClean="0"/>
          </a:p>
          <a:p>
            <a:pPr algn="just"/>
            <a:r>
              <a:rPr lang="pt-BR" altLang="pt-BR" dirty="0" smtClean="0"/>
              <a:t>Define quando o sistema deve estar disponível e o tempo diário permitido de seu não funcionamento. </a:t>
            </a:r>
          </a:p>
          <a:p>
            <a:pPr algn="just"/>
            <a:r>
              <a:rPr lang="pt-BR" altLang="pt-BR" dirty="0" smtClean="0"/>
              <a:t>Requisito organizacional: </a:t>
            </a:r>
          </a:p>
          <a:p>
            <a:pPr algn="just"/>
            <a:r>
              <a:rPr lang="pt-BR" altLang="pt-BR" dirty="0"/>
              <a:t>C</a:t>
            </a:r>
            <a:r>
              <a:rPr lang="pt-BR" altLang="pt-BR" dirty="0" smtClean="0"/>
              <a:t>omo os usuários se autenticam para o sistema. </a:t>
            </a:r>
          </a:p>
          <a:p>
            <a:pPr algn="just"/>
            <a:r>
              <a:rPr lang="pt-BR" altLang="pt-BR" dirty="0" err="1" smtClean="0"/>
              <a:t>Ex</a:t>
            </a:r>
            <a:r>
              <a:rPr lang="pt-BR" altLang="pt-BR" dirty="0" smtClean="0"/>
              <a:t>: A autoridade de saúde que opera o sistema está migrando para um procedimento de autenticação-padrão para todos os softwares. Em vez de o usuário ter um nome de </a:t>
            </a:r>
            <a:r>
              <a:rPr lang="pt-BR" altLang="pt-BR" dirty="0" err="1" smtClean="0"/>
              <a:t>login</a:t>
            </a:r>
            <a:r>
              <a:rPr lang="pt-BR" altLang="pt-BR" dirty="0" smtClean="0"/>
              <a:t> para se identificar, deve passar seu cartão de identificação por um leitor. </a:t>
            </a:r>
          </a:p>
          <a:p>
            <a:pPr algn="just" eaLnBrk="1" hangingPunct="1"/>
            <a:r>
              <a:rPr lang="pt-BR" altLang="pt-BR" dirty="0" smtClean="0"/>
              <a:t>Requisito externo: </a:t>
            </a:r>
          </a:p>
          <a:p>
            <a:pPr algn="just" eaLnBrk="1" hangingPunct="1"/>
            <a:r>
              <a:rPr lang="pt-BR" altLang="pt-BR" dirty="0" err="1" smtClean="0"/>
              <a:t>Ex</a:t>
            </a:r>
            <a:r>
              <a:rPr lang="pt-BR" altLang="pt-BR" dirty="0" smtClean="0"/>
              <a:t>: Conformidade do sistema com a legislação de privacidade que é uma questão muito importante nos sistemas de saúde. Requisito especifica que o sistema deverá ser desenvolvido de acordo com uma norma nacional de privacidade.</a:t>
            </a:r>
          </a:p>
        </p:txBody>
      </p:sp>
    </p:spTree>
    <p:extLst>
      <p:ext uri="{BB962C8B-B14F-4D97-AF65-F5344CB8AC3E}">
        <p14:creationId xmlns:p14="http://schemas.microsoft.com/office/powerpoint/2010/main" val="5115218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21DFCCD-3873-456B-B649-D4BEE8CC8427}" type="slidenum">
              <a:rPr lang="pt-PT" altLang="pt-BR" sz="1400"/>
              <a:pPr>
                <a:spcBef>
                  <a:spcPct val="0"/>
                </a:spcBef>
                <a:buFontTx/>
                <a:buNone/>
              </a:pPr>
              <a:t>21</a:t>
            </a:fld>
            <a:endParaRPr lang="pt-PT" altLang="pt-BR" sz="1400"/>
          </a:p>
        </p:txBody>
      </p:sp>
      <p:sp>
        <p:nvSpPr>
          <p:cNvPr id="221187"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221188" name="Rectangle 3"/>
          <p:cNvSpPr>
            <a:spLocks noGrp="1" noChangeArrowheads="1"/>
          </p:cNvSpPr>
          <p:nvPr>
            <p:ph type="subTitle" idx="1"/>
          </p:nvPr>
        </p:nvSpPr>
        <p:spPr>
          <a:xfrm>
            <a:off x="0" y="836614"/>
            <a:ext cx="12192000" cy="5757861"/>
          </a:xfrm>
        </p:spPr>
        <p:txBody>
          <a:bodyPr>
            <a:normAutofit fontScale="92500" lnSpcReduction="10000"/>
          </a:bodyPr>
          <a:lstStyle/>
          <a:p>
            <a:pPr algn="just" eaLnBrk="1" hangingPunct="1"/>
            <a:r>
              <a:rPr lang="pt-BR" altLang="pt-BR" dirty="0" smtClean="0"/>
              <a:t>Problema dos Requisitos não funcionais:</a:t>
            </a:r>
          </a:p>
          <a:p>
            <a:pPr algn="just" eaLnBrk="1" hangingPunct="1"/>
            <a:r>
              <a:rPr lang="pt-BR" altLang="pt-BR" dirty="0"/>
              <a:t>P</a:t>
            </a:r>
            <a:r>
              <a:rPr lang="pt-BR" altLang="pt-BR" dirty="0" smtClean="0"/>
              <a:t>ropostos pelos usuários ou clientes como metas gerais: facilidade de uso, capacidade do sistema de se recuperar de falhas ou velocidade das respostas do usuário. </a:t>
            </a:r>
          </a:p>
          <a:p>
            <a:pPr algn="just" eaLnBrk="1" hangingPunct="1"/>
            <a:r>
              <a:rPr lang="pt-BR" altLang="pt-BR" dirty="0" smtClean="0"/>
              <a:t>Metas estabelecem boas intenções, mas podem causar problemas para os desenvolvedores do sistema, uma vez que deixam margem para interpretação e, consequentemente, para disputas, quando da entrega do sistema. </a:t>
            </a:r>
          </a:p>
          <a:p>
            <a:pPr algn="just" eaLnBrk="1" hangingPunct="1"/>
            <a:endParaRPr lang="pt-BR" altLang="pt-BR" dirty="0" smtClean="0"/>
          </a:p>
          <a:p>
            <a:pPr algn="just" eaLnBrk="1" hangingPunct="1"/>
            <a:r>
              <a:rPr lang="pt-BR" altLang="pt-BR" dirty="0" err="1" smtClean="0"/>
              <a:t>Ex</a:t>
            </a:r>
            <a:r>
              <a:rPr lang="pt-BR" altLang="pt-BR" dirty="0" smtClean="0"/>
              <a:t>: A meta do sistema é típica de como um gerente pode expressar requisitos de usabilidade: O sistema deve ser de fácil uso pelo pessoal médico e deve ser organizado de tal maneira que os erros dos usuários sejam minimizados.</a:t>
            </a:r>
          </a:p>
          <a:p>
            <a:pPr algn="just"/>
            <a:r>
              <a:rPr lang="pt-BR" altLang="pt-BR" dirty="0"/>
              <a:t>Essa meta poderia ser expressa como um requisito não funcional ‘testável’. </a:t>
            </a:r>
          </a:p>
          <a:p>
            <a:pPr algn="just"/>
            <a:endParaRPr lang="pt-BR" altLang="pt-BR" dirty="0"/>
          </a:p>
          <a:p>
            <a:pPr algn="just"/>
            <a:r>
              <a:rPr lang="pt-BR" altLang="pt-BR" dirty="0" smtClean="0"/>
              <a:t>Na </a:t>
            </a:r>
            <a:r>
              <a:rPr lang="pt-BR" altLang="pt-BR" dirty="0"/>
              <a:t>descrição a seguir é possível incluir pelo menos a instrumentação de software para contar os erros cometidos pelos usuários quando estão testando o </a:t>
            </a:r>
            <a:r>
              <a:rPr lang="pt-BR" altLang="pt-BR" dirty="0" smtClean="0"/>
              <a:t>sistema</a:t>
            </a:r>
            <a:r>
              <a:rPr lang="pt-BR" altLang="pt-BR" dirty="0"/>
              <a:t>:</a:t>
            </a:r>
          </a:p>
          <a:p>
            <a:pPr algn="just"/>
            <a:r>
              <a:rPr lang="pt-BR" altLang="pt-BR" dirty="0" smtClean="0"/>
              <a:t>“</a:t>
            </a:r>
            <a:r>
              <a:rPr lang="pt-BR" altLang="pt-BR" dirty="0"/>
              <a:t>A equipe médica deve ser capaz de usar todas as funções do sistema após quatro horas de treinamento. Após esse treinamento, o número médio de erros cometidos por usuários experientes não deve exceder dois por hora de uso do sistema”.</a:t>
            </a:r>
          </a:p>
          <a:p>
            <a:pPr algn="just" eaLnBrk="1" hangingPunct="1"/>
            <a:endParaRPr lang="pt-BR" altLang="pt-BR" dirty="0" smtClean="0"/>
          </a:p>
        </p:txBody>
      </p:sp>
    </p:spTree>
    <p:extLst>
      <p:ext uri="{BB962C8B-B14F-4D97-AF65-F5344CB8AC3E}">
        <p14:creationId xmlns:p14="http://schemas.microsoft.com/office/powerpoint/2010/main" val="34137059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E338DED-CBD6-4761-A92D-577F7D39CDB1}" type="slidenum">
              <a:rPr lang="pt-PT" altLang="pt-BR" sz="1400"/>
              <a:pPr>
                <a:spcBef>
                  <a:spcPct val="0"/>
                </a:spcBef>
                <a:buFontTx/>
                <a:buNone/>
              </a:pPr>
              <a:t>22</a:t>
            </a:fld>
            <a:endParaRPr lang="pt-PT" altLang="pt-BR" sz="1400"/>
          </a:p>
        </p:txBody>
      </p:sp>
      <p:sp>
        <p:nvSpPr>
          <p:cNvPr id="223235" name="Rectangle 2"/>
          <p:cNvSpPr>
            <a:spLocks noGrp="1" noChangeArrowheads="1"/>
          </p:cNvSpPr>
          <p:nvPr>
            <p:ph type="ctrTitle"/>
          </p:nvPr>
        </p:nvSpPr>
        <p:spPr>
          <a:xfrm>
            <a:off x="1343026" y="1"/>
            <a:ext cx="9217025" cy="836613"/>
          </a:xfrm>
        </p:spPr>
        <p:txBody>
          <a:bodyPr anchor="ctr"/>
          <a:lstStyle/>
          <a:p>
            <a:pPr eaLnBrk="1" hangingPunct="1"/>
            <a:r>
              <a:rPr lang="pt-BR" altLang="pt-BR" sz="3600"/>
              <a:t>4 Requisitos não funcionais</a:t>
            </a:r>
            <a:endParaRPr lang="pt-PT" altLang="pt-BR" sz="3600"/>
          </a:p>
        </p:txBody>
      </p:sp>
      <p:sp>
        <p:nvSpPr>
          <p:cNvPr id="154628" name="Rectangle 3"/>
          <p:cNvSpPr>
            <a:spLocks noGrp="1" noChangeArrowheads="1"/>
          </p:cNvSpPr>
          <p:nvPr>
            <p:ph type="subTitle" idx="1"/>
          </p:nvPr>
        </p:nvSpPr>
        <p:spPr>
          <a:xfrm>
            <a:off x="103517" y="905774"/>
            <a:ext cx="11775057" cy="5688701"/>
          </a:xfrm>
        </p:spPr>
        <p:txBody>
          <a:bodyPr>
            <a:normAutofit fontScale="92500" lnSpcReduction="10000"/>
          </a:bodyPr>
          <a:lstStyle/>
          <a:p>
            <a:pPr algn="just" eaLnBrk="1" hangingPunct="1">
              <a:defRPr/>
            </a:pPr>
            <a:r>
              <a:rPr lang="pt-BR" dirty="0"/>
              <a:t>D</a:t>
            </a:r>
            <a:r>
              <a:rPr lang="pt-BR" dirty="0" smtClean="0"/>
              <a:t>evem </a:t>
            </a:r>
            <a:r>
              <a:rPr lang="pt-BR" dirty="0"/>
              <a:t>ser escritos quantitativamente, para que possam ser objetivamente testados. </a:t>
            </a:r>
            <a:endParaRPr lang="pt-BR" dirty="0" smtClean="0"/>
          </a:p>
          <a:p>
            <a:pPr algn="just" eaLnBrk="1" hangingPunct="1">
              <a:defRPr/>
            </a:pPr>
            <a:endParaRPr lang="pt-BR" dirty="0" smtClean="0"/>
          </a:p>
          <a:p>
            <a:pPr algn="just" eaLnBrk="1" hangingPunct="1">
              <a:defRPr/>
            </a:pPr>
            <a:r>
              <a:rPr lang="pt-BR" dirty="0" smtClean="0"/>
              <a:t>Propriedades e Medidas dos requisitos não funcionais:</a:t>
            </a:r>
          </a:p>
          <a:p>
            <a:pPr marL="457200" indent="-457200" algn="just">
              <a:buFontTx/>
              <a:buAutoNum type="arabicParenR"/>
              <a:defRPr/>
            </a:pPr>
            <a:r>
              <a:rPr lang="pt-BR" dirty="0" smtClean="0"/>
              <a:t>Velocidade: </a:t>
            </a:r>
            <a:r>
              <a:rPr lang="pt-BR" dirty="0"/>
              <a:t>Transações </a:t>
            </a:r>
            <a:r>
              <a:rPr lang="pt-BR" dirty="0" smtClean="0"/>
              <a:t>processadas/segundo; </a:t>
            </a:r>
            <a:r>
              <a:rPr lang="pt-BR" dirty="0"/>
              <a:t>Tempo de resposta de </a:t>
            </a:r>
            <a:r>
              <a:rPr lang="pt-BR" dirty="0" smtClean="0"/>
              <a:t>usuário/evento; </a:t>
            </a:r>
            <a:r>
              <a:rPr lang="pt-BR" dirty="0"/>
              <a:t>Tempo de atualização de </a:t>
            </a:r>
            <a:r>
              <a:rPr lang="pt-BR" dirty="0" smtClean="0"/>
              <a:t>tela; </a:t>
            </a:r>
            <a:r>
              <a:rPr lang="pt-BR" dirty="0"/>
              <a:t>Tamanho </a:t>
            </a:r>
            <a:r>
              <a:rPr lang="pt-BR" dirty="0" smtClean="0"/>
              <a:t>Megabytes; </a:t>
            </a:r>
            <a:r>
              <a:rPr lang="pt-BR" dirty="0"/>
              <a:t>Número de chips de memória </a:t>
            </a:r>
            <a:r>
              <a:rPr lang="pt-BR" dirty="0" smtClean="0"/>
              <a:t>ROM</a:t>
            </a:r>
          </a:p>
          <a:p>
            <a:pPr marL="457200" indent="-457200" algn="just">
              <a:buFontTx/>
              <a:buAutoNum type="arabicParenR"/>
              <a:defRPr/>
            </a:pPr>
            <a:r>
              <a:rPr lang="pt-BR" dirty="0" smtClean="0"/>
              <a:t> </a:t>
            </a:r>
            <a:r>
              <a:rPr lang="pt-BR" dirty="0"/>
              <a:t>Facilidade de </a:t>
            </a:r>
            <a:r>
              <a:rPr lang="pt-BR" dirty="0" smtClean="0"/>
              <a:t>uso: </a:t>
            </a:r>
            <a:r>
              <a:rPr lang="pt-BR" dirty="0"/>
              <a:t>Tempo de </a:t>
            </a:r>
            <a:r>
              <a:rPr lang="pt-BR" dirty="0" smtClean="0"/>
              <a:t>treinamento; </a:t>
            </a:r>
            <a:r>
              <a:rPr lang="pt-BR" dirty="0"/>
              <a:t>Número de frames de </a:t>
            </a:r>
            <a:r>
              <a:rPr lang="pt-BR" dirty="0" smtClean="0"/>
              <a:t>ajuda;</a:t>
            </a:r>
          </a:p>
          <a:p>
            <a:pPr marL="457200" indent="-457200" algn="just">
              <a:buFontTx/>
              <a:buAutoNum type="arabicParenR"/>
              <a:defRPr/>
            </a:pPr>
            <a:r>
              <a:rPr lang="pt-BR" dirty="0" smtClean="0"/>
              <a:t> Confiabilidade: Tempo médio para falha; Probabilidade de indisponibilidade; Taxa </a:t>
            </a:r>
            <a:r>
              <a:rPr lang="pt-BR" dirty="0"/>
              <a:t>de ocorrência de </a:t>
            </a:r>
            <a:r>
              <a:rPr lang="pt-BR" dirty="0" smtClean="0"/>
              <a:t>falhas;</a:t>
            </a:r>
          </a:p>
          <a:p>
            <a:pPr marL="457200" indent="-457200" algn="just">
              <a:buFontTx/>
              <a:buAutoNum type="arabicParenR"/>
              <a:defRPr/>
            </a:pPr>
            <a:r>
              <a:rPr lang="pt-BR" dirty="0" smtClean="0"/>
              <a:t> Disponibilidade: Robustez (capacidade de funcionamento do sistema); </a:t>
            </a:r>
            <a:r>
              <a:rPr lang="pt-BR" dirty="0"/>
              <a:t>Tempo de reinício após </a:t>
            </a:r>
            <a:r>
              <a:rPr lang="pt-BR" dirty="0" smtClean="0"/>
              <a:t>falha; </a:t>
            </a:r>
            <a:r>
              <a:rPr lang="pt-BR" dirty="0"/>
              <a:t>Percentual de eventos que causam </a:t>
            </a:r>
            <a:r>
              <a:rPr lang="pt-BR" dirty="0" smtClean="0"/>
              <a:t>falhas; </a:t>
            </a:r>
            <a:r>
              <a:rPr lang="pt-BR" dirty="0"/>
              <a:t>Probabilidade de corrupção de dados em caso de </a:t>
            </a:r>
            <a:r>
              <a:rPr lang="pt-BR" dirty="0" smtClean="0"/>
              <a:t>falha</a:t>
            </a:r>
          </a:p>
          <a:p>
            <a:pPr marL="457200" indent="-457200" algn="just">
              <a:buFontTx/>
              <a:buAutoNum type="arabicParenR"/>
              <a:defRPr/>
            </a:pPr>
            <a:r>
              <a:rPr lang="pt-BR" altLang="pt-BR" dirty="0" smtClean="0"/>
              <a:t>Portabilidade</a:t>
            </a:r>
            <a:r>
              <a:rPr lang="pt-BR" altLang="pt-BR" dirty="0"/>
              <a:t>: Percentual de declarações dependentes do sistema-alvo; Número de sistemas-alvo</a:t>
            </a:r>
          </a:p>
          <a:p>
            <a:pPr marL="457200" indent="-457200" algn="just">
              <a:buFontTx/>
              <a:buAutoNum type="arabicParenR"/>
              <a:defRPr/>
            </a:pPr>
            <a:endParaRPr lang="pt-BR" dirty="0" smtClean="0"/>
          </a:p>
          <a:p>
            <a:pPr algn="just"/>
            <a:r>
              <a:rPr lang="pt-BR" altLang="pt-BR" dirty="0"/>
              <a:t>Clientes consideram difícil traduzir suas metas em requisitos mensuráveis. Para algumas metas, como </a:t>
            </a:r>
            <a:r>
              <a:rPr lang="pt-BR" altLang="pt-BR" dirty="0" err="1"/>
              <a:t>manutenibilidade</a:t>
            </a:r>
            <a:r>
              <a:rPr lang="pt-BR" altLang="pt-BR" dirty="0"/>
              <a:t>, não existem métricas que possam ser usadas. </a:t>
            </a:r>
          </a:p>
          <a:p>
            <a:pPr algn="just"/>
            <a:r>
              <a:rPr lang="pt-BR" altLang="pt-BR" dirty="0"/>
              <a:t>.</a:t>
            </a:r>
          </a:p>
          <a:p>
            <a:pPr marL="457200" indent="-457200" algn="just">
              <a:buFontTx/>
              <a:buAutoNum type="arabicParenR"/>
              <a:defRPr/>
            </a:pPr>
            <a:endParaRPr lang="pt-BR" dirty="0" smtClean="0"/>
          </a:p>
        </p:txBody>
      </p:sp>
    </p:spTree>
    <p:extLst>
      <p:ext uri="{BB962C8B-B14F-4D97-AF65-F5344CB8AC3E}">
        <p14:creationId xmlns:p14="http://schemas.microsoft.com/office/powerpoint/2010/main" val="26759447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60364CA-1187-4037-9788-0FA8E39CBB4C}" type="slidenum">
              <a:rPr lang="pt-PT" altLang="pt-BR" sz="1400"/>
              <a:pPr>
                <a:spcBef>
                  <a:spcPct val="0"/>
                </a:spcBef>
                <a:buFontTx/>
                <a:buNone/>
              </a:pPr>
              <a:t>23</a:t>
            </a:fld>
            <a:endParaRPr lang="pt-PT" altLang="pt-BR" sz="1400"/>
          </a:p>
        </p:txBody>
      </p:sp>
      <p:sp>
        <p:nvSpPr>
          <p:cNvPr id="226307" name="Rectangle 2"/>
          <p:cNvSpPr>
            <a:spLocks noGrp="1" noChangeArrowheads="1"/>
          </p:cNvSpPr>
          <p:nvPr>
            <p:ph type="ctrTitle"/>
          </p:nvPr>
        </p:nvSpPr>
        <p:spPr>
          <a:xfrm>
            <a:off x="1271587" y="-42863"/>
            <a:ext cx="9217026" cy="836613"/>
          </a:xfrm>
        </p:spPr>
        <p:txBody>
          <a:bodyPr anchor="ctr"/>
          <a:lstStyle/>
          <a:p>
            <a:pPr eaLnBrk="1" hangingPunct="1"/>
            <a:r>
              <a:rPr lang="pt-BR" altLang="pt-BR" sz="3600"/>
              <a:t>4 Requisitos não funcionais</a:t>
            </a:r>
            <a:endParaRPr lang="pt-PT" altLang="pt-BR" sz="3600"/>
          </a:p>
        </p:txBody>
      </p:sp>
      <p:sp>
        <p:nvSpPr>
          <p:cNvPr id="226308" name="Rectangle 3"/>
          <p:cNvSpPr>
            <a:spLocks noGrp="1" noChangeArrowheads="1"/>
          </p:cNvSpPr>
          <p:nvPr>
            <p:ph type="subTitle" idx="1"/>
          </p:nvPr>
        </p:nvSpPr>
        <p:spPr>
          <a:xfrm>
            <a:off x="0" y="793749"/>
            <a:ext cx="12192001" cy="5948365"/>
          </a:xfrm>
        </p:spPr>
        <p:txBody>
          <a:bodyPr/>
          <a:lstStyle/>
          <a:p>
            <a:pPr algn="just" eaLnBrk="1" hangingPunct="1"/>
            <a:r>
              <a:rPr lang="pt-BR" altLang="pt-BR" dirty="0" smtClean="0"/>
              <a:t>Conflitam e interagem com requisitos funcionais ou não funcionais. </a:t>
            </a:r>
          </a:p>
          <a:p>
            <a:pPr algn="just" eaLnBrk="1" hangingPunct="1"/>
            <a:r>
              <a:rPr lang="pt-BR" altLang="pt-BR" dirty="0" err="1" smtClean="0"/>
              <a:t>Ex</a:t>
            </a:r>
            <a:r>
              <a:rPr lang="pt-BR" altLang="pt-BR" dirty="0" smtClean="0"/>
              <a:t>: requisito de autenticação exige a instalação de um leitor de cartão em cada computador conectado ao sistema. </a:t>
            </a:r>
          </a:p>
          <a:p>
            <a:pPr algn="just" eaLnBrk="1" hangingPunct="1"/>
            <a:r>
              <a:rPr lang="pt-BR" altLang="pt-BR" dirty="0" smtClean="0"/>
              <a:t>Pode haver outro requisito que solicita acesso móvel ao sistema, pelos laptops dos médicos ou enfermeiras: laptops não são geralmente equipados com leitores de cartão. Algum método de autenticação alternativo deve ser criado. </a:t>
            </a:r>
          </a:p>
          <a:p>
            <a:pPr algn="just" eaLnBrk="1" hangingPunct="1"/>
            <a:endParaRPr lang="pt-BR" altLang="pt-BR" dirty="0"/>
          </a:p>
          <a:p>
            <a:pPr algn="just" eaLnBrk="1" hangingPunct="1"/>
            <a:r>
              <a:rPr lang="pt-BR" altLang="pt-BR" dirty="0" smtClean="0"/>
              <a:t>No documento de requisitos, é difícil separar os requisitos funcionais dos não funcionais. </a:t>
            </a:r>
          </a:p>
          <a:p>
            <a:pPr algn="just" eaLnBrk="1" hangingPunct="1"/>
            <a:r>
              <a:rPr lang="pt-BR" altLang="pt-BR" dirty="0" smtClean="0"/>
              <a:t>Quando separados, os relacionamentos entre eles podem ficar difíceis de serem entendidos. </a:t>
            </a:r>
          </a:p>
          <a:p>
            <a:pPr algn="just" eaLnBrk="1" hangingPunct="1"/>
            <a:r>
              <a:rPr lang="pt-BR" altLang="pt-BR" dirty="0" smtClean="0"/>
              <a:t>Desempenho ou confiabilidade: destacados numa seção separada do documento de requisitos ou distinguidos dos outros requisitos.</a:t>
            </a:r>
          </a:p>
          <a:p>
            <a:pPr algn="just" eaLnBrk="1" hangingPunct="1"/>
            <a:r>
              <a:rPr lang="pt-BR" altLang="pt-BR" dirty="0" smtClean="0"/>
              <a:t>Confiabilidade, segurança e confidencialidade: importantes para sistemas críticos.</a:t>
            </a:r>
          </a:p>
        </p:txBody>
      </p:sp>
    </p:spTree>
    <p:extLst>
      <p:ext uri="{BB962C8B-B14F-4D97-AF65-F5344CB8AC3E}">
        <p14:creationId xmlns:p14="http://schemas.microsoft.com/office/powerpoint/2010/main" val="39445410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6A11CA-BC76-43AA-9E62-794B33B35360}" type="slidenum">
              <a:rPr lang="pt-PT" altLang="pt-BR" sz="1400"/>
              <a:pPr>
                <a:spcBef>
                  <a:spcPct val="0"/>
                </a:spcBef>
                <a:buFontTx/>
                <a:buNone/>
              </a:pPr>
              <a:t>24</a:t>
            </a:fld>
            <a:endParaRPr lang="pt-PT" altLang="pt-BR" sz="1400"/>
          </a:p>
        </p:txBody>
      </p:sp>
      <p:sp>
        <p:nvSpPr>
          <p:cNvPr id="227331"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27332" name="Rectangle 3"/>
          <p:cNvSpPr>
            <a:spLocks noGrp="1" noChangeArrowheads="1"/>
          </p:cNvSpPr>
          <p:nvPr>
            <p:ph type="subTitle" idx="1"/>
          </p:nvPr>
        </p:nvSpPr>
        <p:spPr>
          <a:xfrm>
            <a:off x="0" y="1052423"/>
            <a:ext cx="12258135" cy="5689691"/>
          </a:xfrm>
        </p:spPr>
        <p:txBody>
          <a:bodyPr/>
          <a:lstStyle/>
          <a:p>
            <a:pPr algn="just" eaLnBrk="1" hangingPunct="1"/>
            <a:r>
              <a:rPr lang="pt-BR" altLang="pt-BR" dirty="0" smtClean="0"/>
              <a:t>Especificação de Requisitos de Software:</a:t>
            </a:r>
          </a:p>
          <a:p>
            <a:pPr algn="just" eaLnBrk="1" hangingPunct="1"/>
            <a:r>
              <a:rPr lang="pt-BR" altLang="pt-BR" dirty="0" smtClean="0"/>
              <a:t>Declaração oficial do que os desenvolvedores do sistema devem implementar. </a:t>
            </a:r>
          </a:p>
          <a:p>
            <a:pPr algn="just" eaLnBrk="1" hangingPunct="1"/>
            <a:r>
              <a:rPr lang="pt-BR" altLang="pt-BR" dirty="0" smtClean="0"/>
              <a:t>Inclui requisitos de usuário e requisitos de sistema. </a:t>
            </a:r>
          </a:p>
          <a:p>
            <a:pPr algn="just" eaLnBrk="1" hangingPunct="1"/>
            <a:r>
              <a:rPr lang="pt-BR" altLang="pt-BR" dirty="0"/>
              <a:t>R</a:t>
            </a:r>
            <a:r>
              <a:rPr lang="pt-BR" altLang="pt-BR" dirty="0" smtClean="0"/>
              <a:t>equisitos de usuário e de sistema podem ser integrados em uma única descrição ou os  requisitos de usuário são definidos em uma introdução à especificação de requisitos de sistema. </a:t>
            </a:r>
          </a:p>
          <a:p>
            <a:pPr algn="just" eaLnBrk="1" hangingPunct="1"/>
            <a:r>
              <a:rPr lang="pt-BR" altLang="pt-BR" dirty="0"/>
              <a:t>G</a:t>
            </a:r>
            <a:r>
              <a:rPr lang="pt-BR" altLang="pt-BR" dirty="0" smtClean="0"/>
              <a:t>rande número de requisitos: requisitos detalhados de sistema podem ser apresentados em um documento separado.</a:t>
            </a:r>
          </a:p>
          <a:p>
            <a:pPr algn="just" eaLnBrk="1" hangingPunct="1"/>
            <a:endParaRPr lang="pt-BR" altLang="pt-BR" dirty="0"/>
          </a:p>
          <a:p>
            <a:pPr algn="just"/>
            <a:r>
              <a:rPr lang="pt-BR" altLang="pt-BR" dirty="0"/>
              <a:t>Documentos de requisitos: essenciais quando um </a:t>
            </a:r>
            <a:r>
              <a:rPr lang="pt-BR" altLang="pt-BR" dirty="0" smtClean="0"/>
              <a:t>há desenvolvimento externo do </a:t>
            </a:r>
            <a:r>
              <a:rPr lang="pt-BR" altLang="pt-BR" dirty="0"/>
              <a:t>sistema. </a:t>
            </a:r>
          </a:p>
          <a:p>
            <a:pPr algn="just" eaLnBrk="1" hangingPunct="1"/>
            <a:endParaRPr lang="pt-BR" altLang="pt-BR" dirty="0" smtClean="0"/>
          </a:p>
        </p:txBody>
      </p:sp>
    </p:spTree>
    <p:extLst>
      <p:ext uri="{BB962C8B-B14F-4D97-AF65-F5344CB8AC3E}">
        <p14:creationId xmlns:p14="http://schemas.microsoft.com/office/powerpoint/2010/main" val="18508425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C52EAB6-7C9F-41B2-BAD8-6F4A4BEA2710}" type="slidenum">
              <a:rPr lang="pt-PT" altLang="pt-BR" sz="1400"/>
              <a:pPr>
                <a:spcBef>
                  <a:spcPct val="0"/>
                </a:spcBef>
                <a:buFontTx/>
                <a:buNone/>
              </a:pPr>
              <a:t>25</a:t>
            </a:fld>
            <a:endParaRPr lang="pt-PT" altLang="pt-BR" sz="1400"/>
          </a:p>
        </p:txBody>
      </p:sp>
      <p:sp>
        <p:nvSpPr>
          <p:cNvPr id="228355"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28356" name="Rectangle 3"/>
          <p:cNvSpPr>
            <a:spLocks noGrp="1" noChangeArrowheads="1"/>
          </p:cNvSpPr>
          <p:nvPr>
            <p:ph type="subTitle" idx="1"/>
          </p:nvPr>
        </p:nvSpPr>
        <p:spPr>
          <a:xfrm>
            <a:off x="189781" y="836614"/>
            <a:ext cx="11818189" cy="5905500"/>
          </a:xfrm>
        </p:spPr>
        <p:txBody>
          <a:bodyPr/>
          <a:lstStyle/>
          <a:p>
            <a:pPr algn="just" eaLnBrk="1" hangingPunct="1"/>
            <a:r>
              <a:rPr lang="pt-BR" altLang="pt-BR" dirty="0" smtClean="0"/>
              <a:t>Especificação de Requisitos de Software</a:t>
            </a:r>
          </a:p>
          <a:p>
            <a:pPr algn="just" eaLnBrk="1" hangingPunct="1"/>
            <a:endParaRPr lang="pt-BR" altLang="pt-BR" dirty="0" smtClean="0"/>
          </a:p>
          <a:p>
            <a:pPr algn="just" eaLnBrk="1" hangingPunct="1"/>
            <a:r>
              <a:rPr lang="pt-BR" altLang="pt-BR" dirty="0" smtClean="0"/>
              <a:t>Métodos ágeis de desenvolvimento: requisitos mudam tão rapidamente que um documento de requisitos já está ultrapassado assim que termina de ser escrito. Esforço é, em grande parte, desperdiçado. </a:t>
            </a:r>
          </a:p>
          <a:p>
            <a:pPr algn="just" eaLnBrk="1" hangingPunct="1"/>
            <a:endParaRPr lang="pt-BR" altLang="pt-BR" dirty="0" smtClean="0"/>
          </a:p>
          <a:p>
            <a:pPr algn="just" eaLnBrk="1" hangingPunct="1"/>
            <a:r>
              <a:rPr lang="pt-BR" altLang="pt-BR" dirty="0" smtClean="0"/>
              <a:t>Extreme </a:t>
            </a:r>
            <a:r>
              <a:rPr lang="pt-BR" altLang="pt-BR" dirty="0" err="1" smtClean="0"/>
              <a:t>Programming</a:t>
            </a:r>
            <a:r>
              <a:rPr lang="pt-BR" altLang="pt-BR" dirty="0" smtClean="0"/>
              <a:t> coleta os requisitos de usuário de forma incremental e os escrevem em cartões como estórias de usuário. O usuário os prioriza  para implementação no próximo incremento.</a:t>
            </a:r>
          </a:p>
          <a:p>
            <a:pPr algn="just" eaLnBrk="1" hangingPunct="1"/>
            <a:r>
              <a:rPr lang="pt-BR" altLang="pt-BR" dirty="0" smtClean="0"/>
              <a:t>Boa abordagem para os sistemas de negócio com requisitos instáveis. </a:t>
            </a:r>
          </a:p>
          <a:p>
            <a:pPr algn="just" eaLnBrk="1" hangingPunct="1"/>
            <a:r>
              <a:rPr lang="pt-BR" altLang="pt-BR" dirty="0" smtClean="0"/>
              <a:t>Útil escrever documento de apoio com requisitos de negócio e de confiança para o sistema</a:t>
            </a:r>
          </a:p>
          <a:p>
            <a:pPr algn="just" eaLnBrk="1" hangingPunct="1"/>
            <a:r>
              <a:rPr lang="pt-BR" altLang="pt-BR" dirty="0" smtClean="0"/>
              <a:t>Trabalho com requisitos funcionais dos próximos releases, pode levar a esquecer dos requisitos que se aplicam ao sistema como um todo.</a:t>
            </a:r>
          </a:p>
        </p:txBody>
      </p:sp>
    </p:spTree>
    <p:extLst>
      <p:ext uri="{BB962C8B-B14F-4D97-AF65-F5344CB8AC3E}">
        <p14:creationId xmlns:p14="http://schemas.microsoft.com/office/powerpoint/2010/main" val="29533439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8A15BC-A961-4DC0-AE65-775287DEA942}" type="slidenum">
              <a:rPr lang="pt-PT" altLang="pt-BR" sz="1400"/>
              <a:pPr>
                <a:spcBef>
                  <a:spcPct val="0"/>
                </a:spcBef>
                <a:buFontTx/>
                <a:buNone/>
              </a:pPr>
              <a:t>26</a:t>
            </a:fld>
            <a:endParaRPr lang="pt-PT" altLang="pt-BR" sz="1400"/>
          </a:p>
        </p:txBody>
      </p:sp>
      <p:sp>
        <p:nvSpPr>
          <p:cNvPr id="229379"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29380" name="Rectangle 3"/>
          <p:cNvSpPr>
            <a:spLocks noGrp="1" noChangeArrowheads="1"/>
          </p:cNvSpPr>
          <p:nvPr>
            <p:ph type="subTitle" idx="1"/>
          </p:nvPr>
        </p:nvSpPr>
        <p:spPr>
          <a:xfrm>
            <a:off x="138023" y="836614"/>
            <a:ext cx="11921705" cy="6073775"/>
          </a:xfrm>
        </p:spPr>
        <p:txBody>
          <a:bodyPr/>
          <a:lstStyle/>
          <a:p>
            <a:pPr algn="just" eaLnBrk="1" hangingPunct="1"/>
            <a:r>
              <a:rPr lang="pt-BR" altLang="pt-BR" dirty="0" smtClean="0"/>
              <a:t>Especificação de Requisitos de Software</a:t>
            </a:r>
          </a:p>
          <a:p>
            <a:pPr algn="just" eaLnBrk="1" hangingPunct="1"/>
            <a:r>
              <a:rPr lang="pt-BR" altLang="pt-BR" dirty="0" smtClean="0"/>
              <a:t>Conjunto diversificado de usuários: desde a alta administração da organização (pagam pelo sistema) até os engenheiros responsáveis pelo desenvolvimento do software. </a:t>
            </a:r>
          </a:p>
          <a:p>
            <a:pPr algn="just" eaLnBrk="1" hangingPunct="1"/>
            <a:r>
              <a:rPr lang="pt-BR" altLang="pt-BR" dirty="0" smtClean="0"/>
              <a:t>Clientes: Especificam e leem os requisitos para verificar se  satisfazem suas necessidades. Especificam as alterações nos requisitos.</a:t>
            </a:r>
          </a:p>
          <a:p>
            <a:pPr algn="just" eaLnBrk="1" hangingPunct="1"/>
            <a:r>
              <a:rPr lang="pt-BR" altLang="pt-BR" dirty="0" smtClean="0"/>
              <a:t>Gerentes: Usam o documento de requisitos para planejar uma proposta para o  processo de desenvolvimento do sistema.</a:t>
            </a:r>
          </a:p>
          <a:p>
            <a:pPr algn="just" eaLnBrk="1" hangingPunct="1"/>
            <a:r>
              <a:rPr lang="pt-BR" altLang="pt-BR" dirty="0" smtClean="0"/>
              <a:t>Engenheiros de sistema: Usam os requisitos para entender o sistema que será desenvolvido.</a:t>
            </a:r>
          </a:p>
          <a:p>
            <a:pPr algn="just" eaLnBrk="1" hangingPunct="1"/>
            <a:r>
              <a:rPr lang="pt-BR" altLang="pt-BR" dirty="0" smtClean="0"/>
              <a:t>Engenheiros de teste de sistema: Usam os requisitos para desenvolver testes de validação do sistema.</a:t>
            </a:r>
          </a:p>
          <a:p>
            <a:pPr algn="just" eaLnBrk="1" hangingPunct="1"/>
            <a:r>
              <a:rPr lang="pt-BR" altLang="pt-BR" dirty="0" smtClean="0"/>
              <a:t>Engenheiros de manutenção de sistema: Usam os requisitos para entender o sistema e os relacionamentos entre suas partes.</a:t>
            </a:r>
          </a:p>
        </p:txBody>
      </p:sp>
    </p:spTree>
    <p:extLst>
      <p:ext uri="{BB962C8B-B14F-4D97-AF65-F5344CB8AC3E}">
        <p14:creationId xmlns:p14="http://schemas.microsoft.com/office/powerpoint/2010/main" val="6279311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2940B2C-B5B0-4789-961D-21A1491D2268}" type="slidenum">
              <a:rPr lang="pt-PT" altLang="pt-BR" sz="1400"/>
              <a:pPr>
                <a:spcBef>
                  <a:spcPct val="0"/>
                </a:spcBef>
                <a:buFontTx/>
                <a:buNone/>
              </a:pPr>
              <a:t>27</a:t>
            </a:fld>
            <a:endParaRPr lang="pt-PT" altLang="pt-BR" sz="1400"/>
          </a:p>
        </p:txBody>
      </p:sp>
      <p:sp>
        <p:nvSpPr>
          <p:cNvPr id="230403"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0404" name="Rectangle 3"/>
          <p:cNvSpPr>
            <a:spLocks noGrp="1" noChangeArrowheads="1"/>
          </p:cNvSpPr>
          <p:nvPr>
            <p:ph type="subTitle" idx="1"/>
          </p:nvPr>
        </p:nvSpPr>
        <p:spPr>
          <a:xfrm>
            <a:off x="103517" y="707366"/>
            <a:ext cx="11887200" cy="6203023"/>
          </a:xfrm>
        </p:spPr>
        <p:txBody>
          <a:bodyPr/>
          <a:lstStyle/>
          <a:p>
            <a:pPr algn="just" eaLnBrk="1" hangingPunct="1"/>
            <a:r>
              <a:rPr lang="pt-BR" altLang="pt-BR" dirty="0" smtClean="0"/>
              <a:t>Especificação de Requisitos de Software</a:t>
            </a:r>
          </a:p>
          <a:p>
            <a:pPr algn="just" eaLnBrk="1" hangingPunct="1"/>
            <a:r>
              <a:rPr lang="pt-BR" altLang="pt-BR" dirty="0"/>
              <a:t>N</a:t>
            </a:r>
            <a:r>
              <a:rPr lang="pt-BR" altLang="pt-BR" dirty="0" smtClean="0"/>
              <a:t>ível de detalhes depende do tipo de sistema em desenvolvimento e o processo usado. </a:t>
            </a:r>
          </a:p>
          <a:p>
            <a:pPr algn="just" eaLnBrk="1" hangingPunct="1"/>
            <a:r>
              <a:rPr lang="pt-BR" altLang="pt-BR" dirty="0" smtClean="0"/>
              <a:t>Sistemas críticos: requisitos detalhados, porque a segurança e a proteção devem ser analisadas em detalhes. </a:t>
            </a:r>
          </a:p>
          <a:p>
            <a:pPr algn="just" eaLnBrk="1" hangingPunct="1"/>
            <a:r>
              <a:rPr lang="pt-BR" altLang="pt-BR" dirty="0" smtClean="0"/>
              <a:t>Sistema desenvolvido por uma companhia separada (por exemplo, através de outsourcing): especificações de sistema devem ser detalhadas e precisas. </a:t>
            </a:r>
          </a:p>
          <a:p>
            <a:pPr algn="just" eaLnBrk="1" hangingPunct="1"/>
            <a:r>
              <a:rPr lang="pt-BR" altLang="pt-BR" dirty="0" smtClean="0"/>
              <a:t>Processo interno de desenvolvimento iterativo: documento de requisitos pode ser muito menos detalhado e quaisquer ambiguidades podem ser resolvidas durante o desenvolvimento do sistema.</a:t>
            </a:r>
          </a:p>
        </p:txBody>
      </p:sp>
    </p:spTree>
    <p:extLst>
      <p:ext uri="{BB962C8B-B14F-4D97-AF65-F5344CB8AC3E}">
        <p14:creationId xmlns:p14="http://schemas.microsoft.com/office/powerpoint/2010/main" val="9960595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1BBDEC5-8E17-477D-B7E3-D1BF2E196589}" type="slidenum">
              <a:rPr lang="pt-PT" altLang="pt-BR" sz="1400"/>
              <a:pPr>
                <a:spcBef>
                  <a:spcPct val="0"/>
                </a:spcBef>
                <a:buFontTx/>
                <a:buNone/>
              </a:pPr>
              <a:t>28</a:t>
            </a:fld>
            <a:endParaRPr lang="pt-PT" altLang="pt-BR" sz="1400"/>
          </a:p>
        </p:txBody>
      </p:sp>
      <p:sp>
        <p:nvSpPr>
          <p:cNvPr id="231427"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1428" name="Rectangle 3"/>
          <p:cNvSpPr>
            <a:spLocks noGrp="1" noChangeArrowheads="1"/>
          </p:cNvSpPr>
          <p:nvPr>
            <p:ph type="subTitle" idx="1"/>
          </p:nvPr>
        </p:nvSpPr>
        <p:spPr>
          <a:xfrm>
            <a:off x="172528" y="836614"/>
            <a:ext cx="11749177" cy="6073775"/>
          </a:xfrm>
        </p:spPr>
        <p:txBody>
          <a:bodyPr/>
          <a:lstStyle/>
          <a:p>
            <a:pPr algn="just" eaLnBrk="1" hangingPunct="1">
              <a:spcBef>
                <a:spcPct val="0"/>
              </a:spcBef>
            </a:pPr>
            <a:r>
              <a:rPr lang="pt-BR" altLang="pt-BR" dirty="0" smtClean="0"/>
              <a:t>Organização – norma IEEE 1998 – Capítulos</a:t>
            </a:r>
          </a:p>
          <a:p>
            <a:pPr algn="just" eaLnBrk="1" hangingPunct="1">
              <a:spcBef>
                <a:spcPct val="0"/>
              </a:spcBef>
            </a:pPr>
            <a:endParaRPr lang="pt-BR" altLang="pt-BR" dirty="0" smtClean="0"/>
          </a:p>
          <a:p>
            <a:pPr algn="just" eaLnBrk="1" hangingPunct="1">
              <a:spcBef>
                <a:spcPct val="0"/>
              </a:spcBef>
            </a:pPr>
            <a:r>
              <a:rPr lang="pt-BR" altLang="pt-BR" dirty="0" smtClean="0"/>
              <a:t>Prefácio: define possíveis leitores, descrever seu histórico de versões, com justificativa e resumo das mudanças para a criação da nova versão</a:t>
            </a:r>
          </a:p>
          <a:p>
            <a:pPr algn="just" eaLnBrk="1" hangingPunct="1">
              <a:spcBef>
                <a:spcPct val="0"/>
              </a:spcBef>
            </a:pPr>
            <a:endParaRPr lang="pt-BR" altLang="pt-BR" dirty="0" smtClean="0"/>
          </a:p>
          <a:p>
            <a:pPr algn="just" eaLnBrk="1" hangingPunct="1">
              <a:spcBef>
                <a:spcPct val="0"/>
              </a:spcBef>
            </a:pPr>
            <a:r>
              <a:rPr lang="pt-BR" altLang="pt-BR" dirty="0" smtClean="0"/>
              <a:t>Introdução: descreve a necessidade do sistema, suas funções e explica como ele vai funcionar com outros sistemas, descreve como o sistema atende aos objetivos globais de negócio ou estratégicos da organização que encomendou o software. </a:t>
            </a:r>
          </a:p>
          <a:p>
            <a:pPr algn="just" eaLnBrk="1" hangingPunct="1">
              <a:spcBef>
                <a:spcPct val="0"/>
              </a:spcBef>
            </a:pPr>
            <a:endParaRPr lang="pt-BR" altLang="pt-BR" dirty="0" smtClean="0"/>
          </a:p>
          <a:p>
            <a:pPr algn="just" eaLnBrk="1" hangingPunct="1">
              <a:spcBef>
                <a:spcPct val="0"/>
              </a:spcBef>
            </a:pPr>
            <a:r>
              <a:rPr lang="pt-BR" altLang="pt-BR" dirty="0" smtClean="0"/>
              <a:t>Glossário: termos técnicos usados no documento. </a:t>
            </a:r>
          </a:p>
          <a:p>
            <a:pPr algn="just" eaLnBrk="1" hangingPunct="1">
              <a:spcBef>
                <a:spcPct val="0"/>
              </a:spcBef>
            </a:pPr>
            <a:endParaRPr lang="pt-BR" altLang="pt-BR" dirty="0" smtClean="0"/>
          </a:p>
          <a:p>
            <a:pPr algn="just" eaLnBrk="1" hangingPunct="1">
              <a:spcBef>
                <a:spcPct val="0"/>
              </a:spcBef>
            </a:pPr>
            <a:r>
              <a:rPr lang="pt-BR" altLang="pt-BR" dirty="0" smtClean="0"/>
              <a:t>Definição de requisitos de usuário: descreve os serviços fornecidos ao usuário. </a:t>
            </a:r>
          </a:p>
          <a:p>
            <a:pPr algn="just" eaLnBrk="1" hangingPunct="1">
              <a:spcBef>
                <a:spcPct val="0"/>
              </a:spcBef>
            </a:pPr>
            <a:r>
              <a:rPr lang="pt-BR" altLang="pt-BR" dirty="0" smtClean="0"/>
              <a:t>Requisitos não funcionais: descritos.</a:t>
            </a:r>
          </a:p>
          <a:p>
            <a:pPr algn="just" eaLnBrk="1" hangingPunct="1">
              <a:spcBef>
                <a:spcPct val="0"/>
              </a:spcBef>
            </a:pPr>
            <a:r>
              <a:rPr lang="pt-BR" altLang="pt-BR" dirty="0" smtClean="0"/>
              <a:t>Normas de produto e processos que devem ser seguidos devem ser especificados. </a:t>
            </a:r>
          </a:p>
          <a:p>
            <a:pPr algn="just" eaLnBrk="1" hangingPunct="1">
              <a:spcBef>
                <a:spcPct val="0"/>
              </a:spcBef>
            </a:pPr>
            <a:endParaRPr lang="pt-BR" altLang="pt-BR" dirty="0"/>
          </a:p>
          <a:p>
            <a:pPr algn="just" eaLnBrk="1" hangingPunct="1">
              <a:spcBef>
                <a:spcPct val="0"/>
              </a:spcBef>
            </a:pPr>
            <a:r>
              <a:rPr lang="pt-BR" altLang="pt-BR" dirty="0" smtClean="0"/>
              <a:t>Pode-se usar a linguagem natural, diagramas ou outras notações compreensíveis para os clientes. </a:t>
            </a:r>
          </a:p>
        </p:txBody>
      </p:sp>
    </p:spTree>
    <p:extLst>
      <p:ext uri="{BB962C8B-B14F-4D97-AF65-F5344CB8AC3E}">
        <p14:creationId xmlns:p14="http://schemas.microsoft.com/office/powerpoint/2010/main" val="26956114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9398BE7-55A7-4607-8189-FC40A64E4B89}" type="slidenum">
              <a:rPr lang="pt-PT" altLang="pt-BR" sz="1400"/>
              <a:pPr>
                <a:spcBef>
                  <a:spcPct val="0"/>
                </a:spcBef>
                <a:buFontTx/>
                <a:buNone/>
              </a:pPr>
              <a:t>29</a:t>
            </a:fld>
            <a:endParaRPr lang="pt-PT" altLang="pt-BR" sz="1400"/>
          </a:p>
        </p:txBody>
      </p:sp>
      <p:sp>
        <p:nvSpPr>
          <p:cNvPr id="232451"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2452" name="Rectangle 3"/>
          <p:cNvSpPr>
            <a:spLocks noGrp="1" noChangeArrowheads="1"/>
          </p:cNvSpPr>
          <p:nvPr>
            <p:ph type="subTitle" idx="1"/>
          </p:nvPr>
        </p:nvSpPr>
        <p:spPr>
          <a:xfrm>
            <a:off x="156834" y="836615"/>
            <a:ext cx="12035166" cy="6263556"/>
          </a:xfrm>
        </p:spPr>
        <p:txBody>
          <a:bodyPr/>
          <a:lstStyle/>
          <a:p>
            <a:pPr algn="just" eaLnBrk="1" hangingPunct="1">
              <a:spcBef>
                <a:spcPct val="0"/>
              </a:spcBef>
            </a:pPr>
            <a:r>
              <a:rPr lang="pt-BR" altLang="pt-BR" dirty="0" smtClean="0"/>
              <a:t>Organização – norma IEEE 1998 – Capítulos</a:t>
            </a:r>
          </a:p>
          <a:p>
            <a:pPr algn="just" eaLnBrk="1" hangingPunct="1"/>
            <a:r>
              <a:rPr lang="pt-BR" altLang="pt-BR" dirty="0" smtClean="0"/>
              <a:t>Arquitetura do sistema: apresenta visão geral em alto nível da arquitetura do sistema, mostrando a distribuição de funções entre os módulos do sistema. Componentes de arquitetura que são reusados devem ser destacados. </a:t>
            </a:r>
          </a:p>
          <a:p>
            <a:pPr algn="just" eaLnBrk="1" hangingPunct="1"/>
            <a:r>
              <a:rPr lang="pt-BR" altLang="pt-BR" dirty="0" smtClean="0"/>
              <a:t>Especificação de requisitos do sistema: descrever em detalhes os requisitos funcionais e não funcionais. Se necessário, também podem ser adicionados mais detalhes aos requisitos não funcionais. Interfaces com outros sistemas podem ser definidas. </a:t>
            </a:r>
          </a:p>
          <a:p>
            <a:pPr algn="just"/>
            <a:r>
              <a:rPr lang="pt-BR" altLang="pt-BR" dirty="0" smtClean="0"/>
              <a:t>Modelos do sistema: inclui modelos gráficos do sistema que mostram os relacionamentos entre os componentes do sistema, o sistema e seu ambiente. </a:t>
            </a:r>
            <a:r>
              <a:rPr lang="pt-BR" altLang="pt-BR" dirty="0" err="1" smtClean="0"/>
              <a:t>Ex</a:t>
            </a:r>
            <a:r>
              <a:rPr lang="pt-BR" altLang="pt-BR" dirty="0" smtClean="0"/>
              <a:t>: modelos de objetos, modelos de fluxo de dados ou modelos semânticos de dados (</a:t>
            </a:r>
            <a:r>
              <a:rPr lang="pt-BR" dirty="0" smtClean="0"/>
              <a:t>estrutura </a:t>
            </a:r>
            <a:r>
              <a:rPr lang="pt-BR" dirty="0"/>
              <a:t>conceitual sofisticada projetada para organizar e representar dados de uma forma que capture seu significado, relacionamentos e </a:t>
            </a:r>
            <a:r>
              <a:rPr lang="pt-BR" dirty="0" smtClean="0"/>
              <a:t>contexto)</a:t>
            </a:r>
            <a:r>
              <a:rPr lang="pt-BR" altLang="pt-BR" dirty="0" smtClean="0"/>
              <a:t>. </a:t>
            </a:r>
          </a:p>
        </p:txBody>
      </p:sp>
    </p:spTree>
    <p:extLst>
      <p:ext uri="{BB962C8B-B14F-4D97-AF65-F5344CB8AC3E}">
        <p14:creationId xmlns:p14="http://schemas.microsoft.com/office/powerpoint/2010/main" val="30686956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4682E7E-9CD8-4040-9C61-B8789513CDE0}" type="slidenum">
              <a:rPr lang="pt-PT" altLang="pt-BR" sz="1400"/>
              <a:pPr>
                <a:spcBef>
                  <a:spcPct val="0"/>
                </a:spcBef>
                <a:buFontTx/>
                <a:buNone/>
              </a:pPr>
              <a:t>30</a:t>
            </a:fld>
            <a:endParaRPr lang="pt-PT" altLang="pt-BR" sz="1400"/>
          </a:p>
        </p:txBody>
      </p:sp>
      <p:sp>
        <p:nvSpPr>
          <p:cNvPr id="233475"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3476" name="Rectangle 3"/>
          <p:cNvSpPr>
            <a:spLocks noGrp="1" noChangeArrowheads="1"/>
          </p:cNvSpPr>
          <p:nvPr>
            <p:ph type="subTitle" idx="1"/>
          </p:nvPr>
        </p:nvSpPr>
        <p:spPr>
          <a:xfrm>
            <a:off x="215661" y="897147"/>
            <a:ext cx="11818188" cy="6013242"/>
          </a:xfrm>
        </p:spPr>
        <p:txBody>
          <a:bodyPr/>
          <a:lstStyle/>
          <a:p>
            <a:pPr algn="just" eaLnBrk="1" hangingPunct="1">
              <a:spcBef>
                <a:spcPct val="0"/>
              </a:spcBef>
            </a:pPr>
            <a:r>
              <a:rPr lang="pt-BR" altLang="pt-BR" dirty="0" smtClean="0"/>
              <a:t>Organização – norma IEEE 1998 – Capítulos</a:t>
            </a:r>
          </a:p>
          <a:p>
            <a:pPr algn="just" eaLnBrk="1" hangingPunct="1"/>
            <a:r>
              <a:rPr lang="pt-BR" altLang="pt-BR" dirty="0" smtClean="0"/>
              <a:t>Evolução do sistema: descreve os pressupostos fundamentais em que o sistema se baseia, mudanças previstas, em decorrência da evolução de hardware, de mudanças nas necessidades do usuário etc. Útil para projetistas, pois ajuda a evitar decisões que restringem possíveis mudanças futuras no sistema. </a:t>
            </a:r>
          </a:p>
          <a:p>
            <a:pPr algn="just" eaLnBrk="1" hangingPunct="1"/>
            <a:r>
              <a:rPr lang="pt-BR" altLang="pt-BR" dirty="0" smtClean="0"/>
              <a:t>Apêndices: fornece informações detalhadas e específicas da aplicação em desenvolvimento, descrições de hardware e banco de dados, por exemplo. Os requisitos de hardware definem as configurações mínimas ideais para o sistema. Requisitos de banco de dados definem a organização lógica dos dados usados pelo sistema e os relacionamentos entre esses dados. </a:t>
            </a:r>
          </a:p>
          <a:p>
            <a:pPr algn="just" eaLnBrk="1" hangingPunct="1"/>
            <a:r>
              <a:rPr lang="pt-BR" altLang="pt-BR" dirty="0" smtClean="0"/>
              <a:t>Índice: Vários índices podem ser incluídos no documento (índice alfabético, de diagramas, de funções, entre outros pertinentes)</a:t>
            </a:r>
          </a:p>
        </p:txBody>
      </p:sp>
    </p:spTree>
    <p:extLst>
      <p:ext uri="{BB962C8B-B14F-4D97-AF65-F5344CB8AC3E}">
        <p14:creationId xmlns:p14="http://schemas.microsoft.com/office/powerpoint/2010/main" val="20501695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3E21EB4-9543-470C-9031-B48D5270BBF1}" type="slidenum">
              <a:rPr lang="pt-PT" altLang="pt-BR" sz="1400"/>
              <a:pPr>
                <a:spcBef>
                  <a:spcPct val="0"/>
                </a:spcBef>
                <a:buFontTx/>
                <a:buNone/>
              </a:pPr>
              <a:t>31</a:t>
            </a:fld>
            <a:endParaRPr lang="pt-PT" altLang="pt-BR" sz="1400"/>
          </a:p>
        </p:txBody>
      </p:sp>
      <p:sp>
        <p:nvSpPr>
          <p:cNvPr id="234499"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4500" name="Rectangle 3"/>
          <p:cNvSpPr>
            <a:spLocks noGrp="1" noChangeArrowheads="1"/>
          </p:cNvSpPr>
          <p:nvPr>
            <p:ph type="subTitle" idx="1"/>
          </p:nvPr>
        </p:nvSpPr>
        <p:spPr>
          <a:xfrm>
            <a:off x="0" y="836614"/>
            <a:ext cx="12191999" cy="6073775"/>
          </a:xfrm>
        </p:spPr>
        <p:txBody>
          <a:bodyPr/>
          <a:lstStyle/>
          <a:p>
            <a:pPr algn="just" eaLnBrk="1" hangingPunct="1">
              <a:spcBef>
                <a:spcPct val="0"/>
              </a:spcBef>
            </a:pPr>
            <a:r>
              <a:rPr lang="pt-BR" altLang="pt-BR" dirty="0" smtClean="0"/>
              <a:t>Requisitos de usuário e de sistema:</a:t>
            </a:r>
          </a:p>
          <a:p>
            <a:pPr algn="just" eaLnBrk="1" hangingPunct="1">
              <a:spcBef>
                <a:spcPct val="0"/>
              </a:spcBef>
            </a:pPr>
            <a:r>
              <a:rPr lang="pt-BR" altLang="pt-BR" dirty="0" smtClean="0"/>
              <a:t>Claros, inequívocos, de fácil compreensão, completos e consistentes: isso é difícil de conseguir, pois os </a:t>
            </a:r>
            <a:r>
              <a:rPr lang="pt-BR" altLang="pt-BR" dirty="0" err="1" smtClean="0"/>
              <a:t>stakeholders</a:t>
            </a:r>
            <a:r>
              <a:rPr lang="pt-BR" altLang="pt-BR" dirty="0" smtClean="0"/>
              <a:t> interpretam os requisitos de maneiras diferentes, e, muitas vezes, notam-se conflitos e inconsistências inerentes aos requisitos.</a:t>
            </a:r>
          </a:p>
          <a:p>
            <a:pPr algn="just">
              <a:spcBef>
                <a:spcPct val="0"/>
              </a:spcBef>
            </a:pPr>
            <a:r>
              <a:rPr lang="pt-BR" altLang="pt-BR" dirty="0" smtClean="0"/>
              <a:t>Escritos </a:t>
            </a:r>
            <a:r>
              <a:rPr lang="pt-BR" altLang="pt-BR" dirty="0"/>
              <a:t>em linguagem natural e suplementados no documento de requisitos por diagramas apropriados e tabelas. </a:t>
            </a:r>
          </a:p>
          <a:p>
            <a:pPr algn="just" eaLnBrk="1" hangingPunct="1">
              <a:spcBef>
                <a:spcPct val="0"/>
              </a:spcBef>
            </a:pPr>
            <a:endParaRPr lang="pt-BR" altLang="pt-BR" dirty="0" smtClean="0"/>
          </a:p>
          <a:p>
            <a:pPr algn="just" eaLnBrk="1" hangingPunct="1">
              <a:spcBef>
                <a:spcPct val="0"/>
              </a:spcBef>
            </a:pPr>
            <a:r>
              <a:rPr lang="pt-BR" altLang="pt-BR" dirty="0" smtClean="0"/>
              <a:t>Requisitos de usuários: requisitos funcionais e não funcionais de modo que sejam compreensíveis para os usuários do sistema sem conhecimentos técnicos. Devem especificar somente o comportamento externo do sistema. </a:t>
            </a:r>
          </a:p>
          <a:p>
            <a:pPr algn="just" eaLnBrk="1" hangingPunct="1">
              <a:spcBef>
                <a:spcPct val="0"/>
              </a:spcBef>
            </a:pPr>
            <a:endParaRPr lang="pt-BR" altLang="pt-BR" dirty="0" smtClean="0"/>
          </a:p>
          <a:p>
            <a:pPr algn="just" eaLnBrk="1" hangingPunct="1">
              <a:spcBef>
                <a:spcPct val="0"/>
              </a:spcBef>
            </a:pPr>
            <a:r>
              <a:rPr lang="pt-BR" altLang="pt-BR" dirty="0"/>
              <a:t>D</a:t>
            </a:r>
            <a:r>
              <a:rPr lang="pt-BR" altLang="pt-BR" dirty="0" smtClean="0"/>
              <a:t>ocumento de requisitos: não inclui detalhes da arquitetura ou projeto do sistema. </a:t>
            </a:r>
          </a:p>
          <a:p>
            <a:pPr algn="just" eaLnBrk="1" hangingPunct="1">
              <a:spcBef>
                <a:spcPct val="0"/>
              </a:spcBef>
            </a:pPr>
            <a:endParaRPr lang="pt-BR" altLang="pt-BR" dirty="0" smtClean="0"/>
          </a:p>
          <a:p>
            <a:pPr algn="just" eaLnBrk="1" hangingPunct="1">
              <a:spcBef>
                <a:spcPct val="0"/>
              </a:spcBef>
            </a:pPr>
            <a:r>
              <a:rPr lang="pt-BR" altLang="pt-BR" dirty="0" smtClean="0"/>
              <a:t>Requisitos de usuário: sem jargão de software, notações estruturadas ou notações formais; em linguagem natural, com tabelas simples, formas e diagramas intuitivos. </a:t>
            </a:r>
          </a:p>
        </p:txBody>
      </p:sp>
    </p:spTree>
    <p:extLst>
      <p:ext uri="{BB962C8B-B14F-4D97-AF65-F5344CB8AC3E}">
        <p14:creationId xmlns:p14="http://schemas.microsoft.com/office/powerpoint/2010/main" val="37902388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19A44C4-D74F-4517-B95D-40D84DA7C445}" type="slidenum">
              <a:rPr lang="pt-PT" altLang="pt-BR" sz="1400"/>
              <a:pPr>
                <a:spcBef>
                  <a:spcPct val="0"/>
                </a:spcBef>
                <a:buFontTx/>
                <a:buNone/>
              </a:pPr>
              <a:t>32</a:t>
            </a:fld>
            <a:endParaRPr lang="pt-PT" altLang="pt-BR" sz="1400"/>
          </a:p>
        </p:txBody>
      </p:sp>
      <p:sp>
        <p:nvSpPr>
          <p:cNvPr id="235523"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5524" name="Rectangle 3"/>
          <p:cNvSpPr>
            <a:spLocks noGrp="1" noChangeArrowheads="1"/>
          </p:cNvSpPr>
          <p:nvPr>
            <p:ph type="subTitle" idx="1"/>
          </p:nvPr>
        </p:nvSpPr>
        <p:spPr>
          <a:xfrm>
            <a:off x="120770" y="923026"/>
            <a:ext cx="11300603" cy="5987363"/>
          </a:xfrm>
        </p:spPr>
        <p:txBody>
          <a:bodyPr>
            <a:normAutofit/>
          </a:bodyPr>
          <a:lstStyle/>
          <a:p>
            <a:pPr algn="just">
              <a:spcBef>
                <a:spcPct val="0"/>
              </a:spcBef>
            </a:pPr>
            <a:r>
              <a:rPr lang="pt-BR" altLang="pt-BR" dirty="0" smtClean="0"/>
              <a:t>Requisitos </a:t>
            </a:r>
            <a:r>
              <a:rPr lang="pt-BR" altLang="pt-BR" dirty="0"/>
              <a:t>de usuário e de sistema:</a:t>
            </a:r>
          </a:p>
          <a:p>
            <a:pPr algn="just" eaLnBrk="1" hangingPunct="1">
              <a:spcBef>
                <a:spcPct val="0"/>
              </a:spcBef>
            </a:pPr>
            <a:endParaRPr lang="pt-BR" altLang="pt-BR" dirty="0" smtClean="0"/>
          </a:p>
          <a:p>
            <a:pPr algn="just" eaLnBrk="1" hangingPunct="1">
              <a:spcBef>
                <a:spcPct val="0"/>
              </a:spcBef>
            </a:pPr>
            <a:r>
              <a:rPr lang="pt-BR" altLang="pt-BR" dirty="0" smtClean="0"/>
              <a:t>Requisitos de sistema: versões expandidas dos requisitos de usuário, usados por engenheiros de software como ponto de partida para o projeto do sistema. </a:t>
            </a:r>
          </a:p>
          <a:p>
            <a:pPr algn="just" eaLnBrk="1" hangingPunct="1">
              <a:spcBef>
                <a:spcPct val="0"/>
              </a:spcBef>
            </a:pPr>
            <a:r>
              <a:rPr lang="pt-BR" altLang="pt-BR" dirty="0" smtClean="0"/>
              <a:t>Acrescentam detalhes e explicam como os requisitos de usuário devem ser atendidos pelo sistema. </a:t>
            </a:r>
          </a:p>
          <a:p>
            <a:pPr algn="just" eaLnBrk="1" hangingPunct="1">
              <a:spcBef>
                <a:spcPct val="0"/>
              </a:spcBef>
            </a:pPr>
            <a:endParaRPr lang="pt-BR" altLang="pt-BR" dirty="0"/>
          </a:p>
          <a:p>
            <a:pPr algn="just">
              <a:spcBef>
                <a:spcPct val="0"/>
              </a:spcBef>
            </a:pPr>
            <a:r>
              <a:rPr lang="pt-BR" altLang="pt-BR" dirty="0"/>
              <a:t>Requisitos de sistema: escritos em linguagem natural, mas também em outras notações com base em formulários, modelos gráficos ou matemáticos de sistema. </a:t>
            </a:r>
          </a:p>
          <a:p>
            <a:pPr algn="just">
              <a:spcBef>
                <a:spcPct val="0"/>
              </a:spcBef>
            </a:pPr>
            <a:endParaRPr lang="pt-BR" altLang="pt-BR" dirty="0"/>
          </a:p>
          <a:p>
            <a:pPr algn="just" eaLnBrk="1" hangingPunct="1">
              <a:spcBef>
                <a:spcPct val="0"/>
              </a:spcBef>
            </a:pPr>
            <a:r>
              <a:rPr lang="pt-BR" altLang="pt-BR" dirty="0" smtClean="0"/>
              <a:t>Usados como parte do contrato para a implementação do sistema</a:t>
            </a:r>
          </a:p>
          <a:p>
            <a:pPr algn="just" eaLnBrk="1" hangingPunct="1">
              <a:spcBef>
                <a:spcPct val="0"/>
              </a:spcBef>
            </a:pPr>
            <a:endParaRPr lang="pt-BR" altLang="pt-BR" dirty="0" smtClean="0"/>
          </a:p>
          <a:p>
            <a:pPr algn="just" eaLnBrk="1" hangingPunct="1">
              <a:spcBef>
                <a:spcPct val="0"/>
              </a:spcBef>
            </a:pPr>
            <a:r>
              <a:rPr lang="pt-BR" altLang="pt-BR" dirty="0"/>
              <a:t>E</a:t>
            </a:r>
            <a:r>
              <a:rPr lang="pt-BR" altLang="pt-BR" dirty="0" smtClean="0"/>
              <a:t>specificação completa e detalhada de todo o sistema.</a:t>
            </a:r>
          </a:p>
          <a:p>
            <a:pPr algn="just" eaLnBrk="1" hangingPunct="1">
              <a:spcBef>
                <a:spcPct val="0"/>
              </a:spcBef>
            </a:pPr>
            <a:endParaRPr lang="pt-BR" altLang="pt-BR" dirty="0" smtClean="0"/>
          </a:p>
          <a:p>
            <a:pPr algn="just" eaLnBrk="1" hangingPunct="1">
              <a:spcBef>
                <a:spcPct val="0"/>
              </a:spcBef>
            </a:pPr>
            <a:r>
              <a:rPr lang="pt-BR" altLang="pt-BR" dirty="0" smtClean="0"/>
              <a:t>Descrevem o comportamento externo do sistema e suas restrições operacionais. </a:t>
            </a:r>
          </a:p>
          <a:p>
            <a:pPr algn="just" eaLnBrk="1" hangingPunct="1">
              <a:spcBef>
                <a:spcPct val="0"/>
              </a:spcBef>
            </a:pPr>
            <a:r>
              <a:rPr lang="pt-BR" altLang="pt-BR" dirty="0" smtClean="0"/>
              <a:t>Não se preocupam com a forma como o sistema deve ser projetado ou implementado. </a:t>
            </a:r>
          </a:p>
          <a:p>
            <a:pPr algn="just" eaLnBrk="1" hangingPunct="1">
              <a:spcBef>
                <a:spcPct val="0"/>
              </a:spcBef>
            </a:pPr>
            <a:endParaRPr lang="pt-BR" altLang="pt-BR" dirty="0" smtClean="0"/>
          </a:p>
        </p:txBody>
      </p:sp>
    </p:spTree>
    <p:extLst>
      <p:ext uri="{BB962C8B-B14F-4D97-AF65-F5344CB8AC3E}">
        <p14:creationId xmlns:p14="http://schemas.microsoft.com/office/powerpoint/2010/main" val="42529323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D85B25-1CC3-4F88-9CB7-595B873AD6C6}" type="slidenum">
              <a:rPr lang="pt-PT" altLang="pt-BR" sz="1400"/>
              <a:pPr>
                <a:spcBef>
                  <a:spcPct val="0"/>
                </a:spcBef>
                <a:buFontTx/>
                <a:buNone/>
              </a:pPr>
              <a:t>33</a:t>
            </a:fld>
            <a:endParaRPr lang="pt-PT" altLang="pt-BR" sz="1400"/>
          </a:p>
        </p:txBody>
      </p:sp>
      <p:sp>
        <p:nvSpPr>
          <p:cNvPr id="236547"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6548" name="Rectangle 3"/>
          <p:cNvSpPr>
            <a:spLocks noGrp="1" noChangeArrowheads="1"/>
          </p:cNvSpPr>
          <p:nvPr>
            <p:ph type="subTitle" idx="1"/>
          </p:nvPr>
        </p:nvSpPr>
        <p:spPr>
          <a:xfrm>
            <a:off x="1" y="767750"/>
            <a:ext cx="12068354" cy="6142639"/>
          </a:xfrm>
        </p:spPr>
        <p:txBody>
          <a:bodyPr/>
          <a:lstStyle/>
          <a:p>
            <a:pPr algn="just">
              <a:spcBef>
                <a:spcPct val="0"/>
              </a:spcBef>
            </a:pPr>
            <a:r>
              <a:rPr lang="pt-BR" altLang="pt-BR" dirty="0"/>
              <a:t>Especificação de sistema de software complexo: nível de detalhamento torna impossível eliminar informações de </a:t>
            </a:r>
            <a:r>
              <a:rPr lang="pt-BR" altLang="pt-BR" dirty="0" smtClean="0"/>
              <a:t>projeto. Existem várias razões para isso:</a:t>
            </a:r>
          </a:p>
          <a:p>
            <a:pPr algn="just">
              <a:spcBef>
                <a:spcPct val="0"/>
              </a:spcBef>
            </a:pPr>
            <a:endParaRPr lang="pt-BR" altLang="pt-BR" dirty="0" smtClean="0"/>
          </a:p>
          <a:p>
            <a:pPr algn="just" eaLnBrk="1" hangingPunct="1">
              <a:spcBef>
                <a:spcPct val="0"/>
              </a:spcBef>
            </a:pPr>
            <a:r>
              <a:rPr lang="pt-BR" altLang="pt-BR" dirty="0" smtClean="0"/>
              <a:t> 1. Projeta-se arquitetura inicial do sistema para ajudar a estruturar a especificação de requisitos. Os requisitos de sistema são organizados de acordo com os diferentes subsistemas que compõem o sistema. A definição da arquitetura é essencial para o reuso de componentes de software na implementação.</a:t>
            </a:r>
          </a:p>
          <a:p>
            <a:pPr algn="just" eaLnBrk="1" hangingPunct="1">
              <a:spcBef>
                <a:spcPct val="0"/>
              </a:spcBef>
            </a:pPr>
            <a:endParaRPr lang="pt-BR" altLang="pt-BR" dirty="0" smtClean="0"/>
          </a:p>
          <a:p>
            <a:pPr algn="just" eaLnBrk="1" hangingPunct="1">
              <a:spcBef>
                <a:spcPct val="0"/>
              </a:spcBef>
            </a:pPr>
            <a:r>
              <a:rPr lang="pt-BR" altLang="pt-BR" dirty="0" smtClean="0"/>
              <a:t> 2. Na maioria dos casos, os sistemas devem interoperar com os sistemas existentes, que restringem o projeto e impõem requisitos sobre o novo sistema. </a:t>
            </a:r>
          </a:p>
          <a:p>
            <a:pPr algn="just" eaLnBrk="1" hangingPunct="1">
              <a:spcBef>
                <a:spcPct val="0"/>
              </a:spcBef>
            </a:pPr>
            <a:endParaRPr lang="pt-BR" altLang="pt-BR" dirty="0" smtClean="0"/>
          </a:p>
          <a:p>
            <a:pPr algn="just" eaLnBrk="1" hangingPunct="1">
              <a:spcBef>
                <a:spcPct val="0"/>
              </a:spcBef>
            </a:pPr>
            <a:r>
              <a:rPr lang="pt-BR" altLang="pt-BR" dirty="0" smtClean="0"/>
              <a:t>3. Pode ser necessário o uso de uma arquitetura específica para atender aos requisitos não funcionais. Um regulador externo que precisa certificar que o sistema é seguro pode especificar que um projeto já certificado de arquitetura pode ser usado</a:t>
            </a:r>
          </a:p>
        </p:txBody>
      </p:sp>
    </p:spTree>
    <p:extLst>
      <p:ext uri="{BB962C8B-B14F-4D97-AF65-F5344CB8AC3E}">
        <p14:creationId xmlns:p14="http://schemas.microsoft.com/office/powerpoint/2010/main" val="38852092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B75CF7D-E1BC-48EA-A364-3A5806EBC2B6}" type="slidenum">
              <a:rPr lang="pt-PT" altLang="pt-BR" sz="1400"/>
              <a:pPr>
                <a:spcBef>
                  <a:spcPct val="0"/>
                </a:spcBef>
                <a:buFontTx/>
                <a:buNone/>
              </a:pPr>
              <a:t>34</a:t>
            </a:fld>
            <a:endParaRPr lang="pt-PT" altLang="pt-BR" sz="1400"/>
          </a:p>
        </p:txBody>
      </p:sp>
      <p:sp>
        <p:nvSpPr>
          <p:cNvPr id="238595" name="Rectangle 2"/>
          <p:cNvSpPr>
            <a:spLocks noGrp="1" noChangeArrowheads="1"/>
          </p:cNvSpPr>
          <p:nvPr>
            <p:ph type="ctrTitle"/>
          </p:nvPr>
        </p:nvSpPr>
        <p:spPr>
          <a:xfrm>
            <a:off x="1722408" y="0"/>
            <a:ext cx="9217025" cy="836613"/>
          </a:xfrm>
        </p:spPr>
        <p:txBody>
          <a:bodyPr anchor="ctr"/>
          <a:lstStyle/>
          <a:p>
            <a:pPr eaLnBrk="1" hangingPunct="1"/>
            <a:r>
              <a:rPr lang="pt-BR" altLang="pt-BR" sz="3600"/>
              <a:t>4 O documento de requisitos de software</a:t>
            </a:r>
            <a:endParaRPr lang="pt-PT" altLang="pt-BR" sz="3600"/>
          </a:p>
        </p:txBody>
      </p:sp>
      <p:sp>
        <p:nvSpPr>
          <p:cNvPr id="238596" name="Rectangle 3"/>
          <p:cNvSpPr>
            <a:spLocks noGrp="1" noChangeArrowheads="1"/>
          </p:cNvSpPr>
          <p:nvPr>
            <p:ph type="subTitle" idx="1"/>
          </p:nvPr>
        </p:nvSpPr>
        <p:spPr>
          <a:xfrm>
            <a:off x="181156" y="836613"/>
            <a:ext cx="11878572" cy="6076951"/>
          </a:xfrm>
        </p:spPr>
        <p:txBody>
          <a:bodyPr/>
          <a:lstStyle/>
          <a:p>
            <a:pPr algn="just">
              <a:spcBef>
                <a:spcPct val="0"/>
              </a:spcBef>
            </a:pPr>
            <a:r>
              <a:rPr lang="pt-BR" altLang="pt-BR" dirty="0" smtClean="0"/>
              <a:t>Requisitos do usuário: Escritos </a:t>
            </a:r>
            <a:r>
              <a:rPr lang="pt-BR" altLang="pt-BR" dirty="0"/>
              <a:t>em linguagem natural e suplementados no documento de requisitos por diagramas apropriados e tabelas. </a:t>
            </a:r>
          </a:p>
          <a:p>
            <a:pPr algn="just">
              <a:spcBef>
                <a:spcPct val="0"/>
              </a:spcBef>
            </a:pPr>
            <a:r>
              <a:rPr lang="pt-BR" altLang="pt-BR" dirty="0" smtClean="0"/>
              <a:t>Requisitos </a:t>
            </a:r>
            <a:r>
              <a:rPr lang="pt-BR" altLang="pt-BR" dirty="0"/>
              <a:t>de sistema: escritos em linguagem natural, mas também em outras notações com base em formulários, modelos gráficos ou matemáticos de sistema. </a:t>
            </a:r>
          </a:p>
          <a:p>
            <a:pPr algn="just" eaLnBrk="1" hangingPunct="1">
              <a:spcBef>
                <a:spcPct val="0"/>
              </a:spcBef>
            </a:pPr>
            <a:endParaRPr lang="pt-BR" altLang="pt-BR" dirty="0" smtClean="0"/>
          </a:p>
          <a:p>
            <a:pPr algn="just" eaLnBrk="1" hangingPunct="1">
              <a:spcBef>
                <a:spcPct val="0"/>
              </a:spcBef>
            </a:pPr>
            <a:r>
              <a:rPr lang="pt-BR" altLang="pt-BR" dirty="0" smtClean="0"/>
              <a:t>Notações:</a:t>
            </a:r>
          </a:p>
          <a:p>
            <a:pPr algn="just" eaLnBrk="1" hangingPunct="1">
              <a:spcBef>
                <a:spcPct val="0"/>
              </a:spcBef>
            </a:pPr>
            <a:r>
              <a:rPr lang="pt-BR" altLang="pt-BR" dirty="0" smtClean="0"/>
              <a:t>Sentenças em linguagem natural: cada frase enumerada deve expressar um requisito. </a:t>
            </a:r>
          </a:p>
          <a:p>
            <a:pPr algn="just" eaLnBrk="1" hangingPunct="1">
              <a:spcBef>
                <a:spcPct val="0"/>
              </a:spcBef>
            </a:pPr>
            <a:r>
              <a:rPr lang="pt-BR" altLang="pt-BR" dirty="0" smtClean="0"/>
              <a:t>Linguagem natural estruturada: são escritos em formulário padrão ou </a:t>
            </a:r>
            <a:r>
              <a:rPr lang="pt-BR" altLang="pt-BR" dirty="0" err="1" smtClean="0"/>
              <a:t>template</a:t>
            </a:r>
            <a:r>
              <a:rPr lang="pt-BR" altLang="pt-BR" dirty="0" smtClean="0"/>
              <a:t>. Cada campo fornece informações sobre um aspecto do requisito. </a:t>
            </a:r>
          </a:p>
          <a:p>
            <a:pPr algn="just" eaLnBrk="1" hangingPunct="1">
              <a:spcBef>
                <a:spcPct val="0"/>
              </a:spcBef>
            </a:pPr>
            <a:r>
              <a:rPr lang="pt-BR" altLang="pt-BR" dirty="0" smtClean="0"/>
              <a:t>Linguagem de descrição de projeto: similar a linguagem de programação com características mais abstratas, definindo um modelo operacional do sistema. Pouco usada, útil para as especificações de interface. </a:t>
            </a:r>
          </a:p>
          <a:p>
            <a:pPr algn="just" eaLnBrk="1" hangingPunct="1">
              <a:spcBef>
                <a:spcPct val="0"/>
              </a:spcBef>
            </a:pPr>
            <a:r>
              <a:rPr lang="pt-BR" altLang="pt-BR" dirty="0" smtClean="0"/>
              <a:t>Notações gráficas: modelos gráficos,  anotações de texto; diagramas de caso de uso e de sequência.</a:t>
            </a:r>
          </a:p>
          <a:p>
            <a:pPr algn="just" eaLnBrk="1" hangingPunct="1">
              <a:spcBef>
                <a:spcPct val="0"/>
              </a:spcBef>
            </a:pPr>
            <a:r>
              <a:rPr lang="pt-BR" altLang="pt-BR" dirty="0" smtClean="0"/>
              <a:t> Especificações matemáticas: conceitos matemáticos (estado finito ou conjuntos). Especificações inequívocas. Reduzem a ambiguidade de um documento de requisitos. Maioria dos clientes não entendem. São relutantes em aceitá-las como um contrato de sistema.</a:t>
            </a:r>
          </a:p>
        </p:txBody>
      </p:sp>
    </p:spTree>
    <p:extLst>
      <p:ext uri="{BB962C8B-B14F-4D97-AF65-F5344CB8AC3E}">
        <p14:creationId xmlns:p14="http://schemas.microsoft.com/office/powerpoint/2010/main" val="34538408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2AC4F4C-6928-44B5-B1AF-C526E3DF5EA6}" type="slidenum">
              <a:rPr lang="pt-PT" altLang="pt-BR" sz="1400"/>
              <a:pPr>
                <a:spcBef>
                  <a:spcPct val="0"/>
                </a:spcBef>
                <a:buFontTx/>
                <a:buNone/>
              </a:pPr>
              <a:t>35</a:t>
            </a:fld>
            <a:endParaRPr lang="pt-PT" altLang="pt-BR" sz="1400"/>
          </a:p>
        </p:txBody>
      </p:sp>
      <p:sp>
        <p:nvSpPr>
          <p:cNvPr id="239619"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39620" name="Rectangle 3"/>
          <p:cNvSpPr>
            <a:spLocks noGrp="1" noChangeArrowheads="1"/>
          </p:cNvSpPr>
          <p:nvPr>
            <p:ph type="subTitle" idx="1"/>
          </p:nvPr>
        </p:nvSpPr>
        <p:spPr>
          <a:xfrm>
            <a:off x="146649" y="923027"/>
            <a:ext cx="11852693" cy="5990538"/>
          </a:xfrm>
        </p:spPr>
        <p:txBody>
          <a:bodyPr/>
          <a:lstStyle/>
          <a:p>
            <a:pPr algn="just" eaLnBrk="1" hangingPunct="1">
              <a:spcBef>
                <a:spcPct val="0"/>
              </a:spcBef>
            </a:pPr>
            <a:r>
              <a:rPr lang="pt-BR" altLang="pt-BR" dirty="0" smtClean="0"/>
              <a:t>Especificação em linguagem natural</a:t>
            </a:r>
          </a:p>
          <a:p>
            <a:pPr algn="just" eaLnBrk="1" hangingPunct="1">
              <a:spcBef>
                <a:spcPct val="0"/>
              </a:spcBef>
            </a:pPr>
            <a:endParaRPr lang="pt-BR" altLang="pt-BR" dirty="0" smtClean="0"/>
          </a:p>
          <a:p>
            <a:pPr algn="just" eaLnBrk="1" hangingPunct="1">
              <a:spcBef>
                <a:spcPct val="0"/>
              </a:spcBef>
            </a:pPr>
            <a:r>
              <a:rPr lang="pt-BR" altLang="pt-BR" dirty="0" smtClean="0"/>
              <a:t>Desde o início da engenharia de software a linguagem natural tem sido usada para escrever os requisitos para o software. </a:t>
            </a:r>
          </a:p>
          <a:p>
            <a:pPr algn="just" eaLnBrk="1" hangingPunct="1">
              <a:spcBef>
                <a:spcPct val="0"/>
              </a:spcBef>
            </a:pPr>
            <a:r>
              <a:rPr lang="pt-BR" altLang="pt-BR" dirty="0" smtClean="0"/>
              <a:t>É expressiva, intuitiva e universal. </a:t>
            </a:r>
          </a:p>
          <a:p>
            <a:pPr algn="just" eaLnBrk="1" hangingPunct="1">
              <a:spcBef>
                <a:spcPct val="0"/>
              </a:spcBef>
            </a:pPr>
            <a:r>
              <a:rPr lang="pt-BR" altLang="pt-BR" dirty="0" smtClean="0"/>
              <a:t>Potencialmente vaga, ambígua, e seu significado depende do conhecimento do leitor.</a:t>
            </a:r>
          </a:p>
          <a:p>
            <a:pPr algn="just" eaLnBrk="1" hangingPunct="1">
              <a:spcBef>
                <a:spcPct val="0"/>
              </a:spcBef>
            </a:pPr>
            <a:r>
              <a:rPr lang="pt-BR" altLang="pt-BR" dirty="0" smtClean="0"/>
              <a:t>Sugiram outras formas de caminhos alternativos para a escrita dos requisitos, mas não foram amplamente adotados </a:t>
            </a:r>
          </a:p>
          <a:p>
            <a:pPr algn="just" eaLnBrk="1" hangingPunct="1">
              <a:spcBef>
                <a:spcPct val="0"/>
              </a:spcBef>
            </a:pPr>
            <a:r>
              <a:rPr lang="pt-BR" altLang="pt-BR" dirty="0" smtClean="0"/>
              <a:t>Linguagem natural é a forma mais usada de especificação de requisitos do software e do sistema.</a:t>
            </a:r>
          </a:p>
        </p:txBody>
      </p:sp>
    </p:spTree>
    <p:extLst>
      <p:ext uri="{BB962C8B-B14F-4D97-AF65-F5344CB8AC3E}">
        <p14:creationId xmlns:p14="http://schemas.microsoft.com/office/powerpoint/2010/main" val="9157453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AAA7B4C-AD08-40B2-9CDE-5BB83D874549}" type="slidenum">
              <a:rPr lang="pt-PT" altLang="pt-BR" sz="1400"/>
              <a:pPr>
                <a:spcBef>
                  <a:spcPct val="0"/>
                </a:spcBef>
                <a:buFontTx/>
                <a:buNone/>
              </a:pPr>
              <a:t>36</a:t>
            </a:fld>
            <a:endParaRPr lang="pt-PT" altLang="pt-BR" sz="1400"/>
          </a:p>
        </p:txBody>
      </p:sp>
      <p:sp>
        <p:nvSpPr>
          <p:cNvPr id="240643"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0644" name="Rectangle 3"/>
          <p:cNvSpPr>
            <a:spLocks noGrp="1" noChangeArrowheads="1"/>
          </p:cNvSpPr>
          <p:nvPr>
            <p:ph type="subTitle" idx="1"/>
          </p:nvPr>
        </p:nvSpPr>
        <p:spPr>
          <a:xfrm>
            <a:off x="138024" y="836613"/>
            <a:ext cx="11869946" cy="6076951"/>
          </a:xfrm>
        </p:spPr>
        <p:txBody>
          <a:bodyPr/>
          <a:lstStyle/>
          <a:p>
            <a:pPr algn="just" eaLnBrk="1" hangingPunct="1">
              <a:spcBef>
                <a:spcPct val="0"/>
              </a:spcBef>
            </a:pPr>
            <a:r>
              <a:rPr lang="pt-BR" altLang="pt-BR" dirty="0" smtClean="0"/>
              <a:t>Especificação em linguagem natural – Diretrizes para evitar mal-entendidos:</a:t>
            </a:r>
          </a:p>
          <a:p>
            <a:pPr algn="just" eaLnBrk="1" hangingPunct="1">
              <a:spcBef>
                <a:spcPct val="0"/>
              </a:spcBef>
            </a:pPr>
            <a:endParaRPr lang="pt-BR" altLang="pt-BR" dirty="0" smtClean="0"/>
          </a:p>
          <a:p>
            <a:pPr algn="just" eaLnBrk="1" hangingPunct="1">
              <a:spcBef>
                <a:spcPct val="0"/>
              </a:spcBef>
            </a:pPr>
            <a:r>
              <a:rPr lang="pt-BR" altLang="pt-BR" dirty="0" smtClean="0"/>
              <a:t>1.Formato-padrão para as definições de requisitos. A padronização do formato torna menos prováveis as omissões e mais fácil a verificação dos requisitos. </a:t>
            </a:r>
          </a:p>
          <a:p>
            <a:pPr algn="just" eaLnBrk="1" hangingPunct="1">
              <a:spcBef>
                <a:spcPct val="0"/>
              </a:spcBef>
            </a:pPr>
            <a:endParaRPr lang="pt-BR" altLang="pt-BR" dirty="0"/>
          </a:p>
          <a:p>
            <a:pPr algn="just" eaLnBrk="1" hangingPunct="1">
              <a:spcBef>
                <a:spcPct val="0"/>
              </a:spcBef>
            </a:pPr>
            <a:r>
              <a:rPr lang="pt-BR" altLang="pt-BR" dirty="0" smtClean="0"/>
              <a:t>Formato sugerido: requisito em uma única frase, associando-o a uma declaração com a justificativa para cada requisito para explicar por que o requisito foi proposto. A justificativa também pode incluir informações sobre quem propôs o requisito (a fonte do requisito), para saber quem consultar caso o requisito tenha de ser mudado. </a:t>
            </a:r>
          </a:p>
          <a:p>
            <a:pPr algn="just" eaLnBrk="1" hangingPunct="1">
              <a:spcBef>
                <a:spcPct val="0"/>
              </a:spcBef>
            </a:pPr>
            <a:endParaRPr lang="pt-BR" altLang="pt-BR" dirty="0" smtClean="0"/>
          </a:p>
          <a:p>
            <a:pPr algn="just" eaLnBrk="1" hangingPunct="1">
              <a:spcBef>
                <a:spcPct val="0"/>
              </a:spcBef>
            </a:pPr>
            <a:r>
              <a:rPr lang="pt-BR" altLang="pt-BR" dirty="0" smtClean="0"/>
              <a:t>2. </a:t>
            </a:r>
            <a:r>
              <a:rPr lang="pt-BR" altLang="pt-BR" dirty="0"/>
              <a:t>L</a:t>
            </a:r>
            <a:r>
              <a:rPr lang="pt-BR" altLang="pt-BR" dirty="0" smtClean="0"/>
              <a:t>inguagem consistente para distinguir entre os requisitos obrigatórios e os desejáveis. Os obrigatórios são aqueles que o sistema tem que dar suporte e geralmente são escritos usando-se ‘deve’. Requisitos desejáveis não são essenciais e são escritos usando-se ‘pode’. </a:t>
            </a:r>
          </a:p>
        </p:txBody>
      </p:sp>
    </p:spTree>
    <p:extLst>
      <p:ext uri="{BB962C8B-B14F-4D97-AF65-F5344CB8AC3E}">
        <p14:creationId xmlns:p14="http://schemas.microsoft.com/office/powerpoint/2010/main" val="41961672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8FADD54-2F51-4827-94B7-38F616488426}" type="slidenum">
              <a:rPr lang="pt-PT" altLang="pt-BR" sz="1400"/>
              <a:pPr>
                <a:spcBef>
                  <a:spcPct val="0"/>
                </a:spcBef>
                <a:buFontTx/>
                <a:buNone/>
              </a:pPr>
              <a:t>37</a:t>
            </a:fld>
            <a:endParaRPr lang="pt-PT" altLang="pt-BR" sz="1400"/>
          </a:p>
        </p:txBody>
      </p:sp>
      <p:sp>
        <p:nvSpPr>
          <p:cNvPr id="241667"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1668" name="Rectangle 3"/>
          <p:cNvSpPr>
            <a:spLocks noGrp="1" noChangeArrowheads="1"/>
          </p:cNvSpPr>
          <p:nvPr>
            <p:ph type="subTitle" idx="1"/>
          </p:nvPr>
        </p:nvSpPr>
        <p:spPr>
          <a:xfrm>
            <a:off x="86264" y="1181819"/>
            <a:ext cx="12105736" cy="5731745"/>
          </a:xfrm>
        </p:spPr>
        <p:txBody>
          <a:bodyPr/>
          <a:lstStyle/>
          <a:p>
            <a:pPr algn="just" eaLnBrk="1" hangingPunct="1">
              <a:spcBef>
                <a:spcPct val="0"/>
              </a:spcBef>
            </a:pPr>
            <a:r>
              <a:rPr lang="pt-BR" altLang="pt-BR" dirty="0" smtClean="0"/>
              <a:t>Especificação em linguagem natural – Diretrizes para evitar mal-entendidos:</a:t>
            </a:r>
          </a:p>
          <a:p>
            <a:pPr algn="just" eaLnBrk="1" hangingPunct="1">
              <a:spcBef>
                <a:spcPct val="0"/>
              </a:spcBef>
            </a:pPr>
            <a:endParaRPr lang="pt-BR" altLang="pt-BR" dirty="0" smtClean="0"/>
          </a:p>
          <a:p>
            <a:pPr algn="just" eaLnBrk="1" hangingPunct="1">
              <a:spcBef>
                <a:spcPct val="0"/>
              </a:spcBef>
            </a:pPr>
            <a:r>
              <a:rPr lang="pt-BR" altLang="pt-BR" dirty="0" smtClean="0"/>
              <a:t>3. Destaque as partes fundamentais do requisito (negrito, itálico ou cores). </a:t>
            </a:r>
          </a:p>
          <a:p>
            <a:pPr algn="just" eaLnBrk="1" hangingPunct="1">
              <a:spcBef>
                <a:spcPct val="0"/>
              </a:spcBef>
            </a:pPr>
            <a:endParaRPr lang="pt-BR" altLang="pt-BR" dirty="0" smtClean="0"/>
          </a:p>
          <a:p>
            <a:pPr algn="just" eaLnBrk="1" hangingPunct="1">
              <a:spcBef>
                <a:spcPct val="0"/>
              </a:spcBef>
            </a:pPr>
            <a:r>
              <a:rPr lang="pt-BR" altLang="pt-BR" dirty="0" smtClean="0"/>
              <a:t>4. Não assuma que os leitores compreendam a linguagem técnica da engenharia de software. Palavras como ‘arquitetura’ e ‘módulo’ são mal interpretadas. Evite o uso de jargões, siglas e acrônimos. </a:t>
            </a:r>
          </a:p>
          <a:p>
            <a:pPr algn="just" eaLnBrk="1" hangingPunct="1">
              <a:spcBef>
                <a:spcPct val="0"/>
              </a:spcBef>
            </a:pPr>
            <a:endParaRPr lang="pt-BR" altLang="pt-BR" dirty="0" smtClean="0"/>
          </a:p>
          <a:p>
            <a:pPr algn="just" eaLnBrk="1" hangingPunct="1">
              <a:spcBef>
                <a:spcPct val="0"/>
              </a:spcBef>
            </a:pPr>
            <a:r>
              <a:rPr lang="pt-BR" altLang="pt-BR" dirty="0" smtClean="0"/>
              <a:t>5. Sempre que possível, tente associar uma lógica a cada um dos requisitos de usuário. Essa justificativa deve explicar por que o requisito foi incluído, sendo útil quando os requisitos são alterados, uma vez que pode ajudar a decidir sobre quais mudanças seriam indesejáveis.</a:t>
            </a:r>
          </a:p>
        </p:txBody>
      </p:sp>
    </p:spTree>
    <p:extLst>
      <p:ext uri="{BB962C8B-B14F-4D97-AF65-F5344CB8AC3E}">
        <p14:creationId xmlns:p14="http://schemas.microsoft.com/office/powerpoint/2010/main" val="21852640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466D553-7C61-4A79-A929-92F219F23501}" type="slidenum">
              <a:rPr lang="pt-PT" altLang="pt-BR" sz="1400"/>
              <a:pPr>
                <a:spcBef>
                  <a:spcPct val="0"/>
                </a:spcBef>
                <a:buFontTx/>
                <a:buNone/>
              </a:pPr>
              <a:t>38</a:t>
            </a:fld>
            <a:endParaRPr lang="pt-PT" altLang="pt-BR" sz="1400"/>
          </a:p>
        </p:txBody>
      </p:sp>
      <p:sp>
        <p:nvSpPr>
          <p:cNvPr id="2426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2692" name="Rectangle 3"/>
          <p:cNvSpPr>
            <a:spLocks noGrp="1" noChangeArrowheads="1"/>
          </p:cNvSpPr>
          <p:nvPr>
            <p:ph type="subTitle" idx="1"/>
          </p:nvPr>
        </p:nvSpPr>
        <p:spPr>
          <a:xfrm>
            <a:off x="69012" y="940279"/>
            <a:ext cx="12025222" cy="5973285"/>
          </a:xfrm>
        </p:spPr>
        <p:txBody>
          <a:bodyPr/>
          <a:lstStyle/>
          <a:p>
            <a:pPr algn="just" eaLnBrk="1" hangingPunct="1">
              <a:spcBef>
                <a:spcPct val="0"/>
              </a:spcBef>
            </a:pPr>
            <a:r>
              <a:rPr lang="pt-BR" altLang="pt-BR" dirty="0" smtClean="0"/>
              <a:t>Especificações estruturadas</a:t>
            </a:r>
          </a:p>
          <a:p>
            <a:pPr algn="just" eaLnBrk="1" hangingPunct="1">
              <a:spcBef>
                <a:spcPct val="0"/>
              </a:spcBef>
            </a:pPr>
            <a:endParaRPr lang="pt-BR" altLang="pt-BR" dirty="0" smtClean="0"/>
          </a:p>
          <a:p>
            <a:pPr algn="just" eaLnBrk="1" hangingPunct="1">
              <a:spcBef>
                <a:spcPct val="0"/>
              </a:spcBef>
            </a:pPr>
            <a:r>
              <a:rPr lang="pt-BR" altLang="pt-BR" dirty="0" smtClean="0"/>
              <a:t> A linguagem natural estruturada é uma forma de escrever os requisitos do sistema na qual a liberdade do escritor dos requisitos é limitada e todos os requisitos são escritos em uma forma-padrão.</a:t>
            </a:r>
          </a:p>
          <a:p>
            <a:pPr algn="just" eaLnBrk="1" hangingPunct="1">
              <a:spcBef>
                <a:spcPct val="0"/>
              </a:spcBef>
            </a:pPr>
            <a:r>
              <a:rPr lang="pt-BR" altLang="pt-BR" dirty="0" smtClean="0"/>
              <a:t> </a:t>
            </a:r>
            <a:r>
              <a:rPr lang="pt-BR" altLang="pt-BR" dirty="0"/>
              <a:t>M</a:t>
            </a:r>
            <a:r>
              <a:rPr lang="pt-BR" altLang="pt-BR" dirty="0" smtClean="0"/>
              <a:t>antém grande parte da expressividade e compreensão da linguagem natural</a:t>
            </a:r>
            <a:endParaRPr lang="pt-BR" altLang="pt-BR" dirty="0"/>
          </a:p>
          <a:p>
            <a:pPr algn="just" eaLnBrk="1" hangingPunct="1">
              <a:spcBef>
                <a:spcPct val="0"/>
              </a:spcBef>
            </a:pPr>
            <a:r>
              <a:rPr lang="pt-BR" altLang="pt-BR" dirty="0" smtClean="0"/>
              <a:t>Garante certa uniformidade imposta sobre a especificação. </a:t>
            </a:r>
          </a:p>
          <a:p>
            <a:pPr algn="just" eaLnBrk="1" hangingPunct="1">
              <a:spcBef>
                <a:spcPct val="0"/>
              </a:spcBef>
            </a:pPr>
            <a:r>
              <a:rPr lang="pt-BR" altLang="pt-BR" dirty="0" smtClean="0"/>
              <a:t>Notações de linguagem estruturada usam </a:t>
            </a:r>
            <a:r>
              <a:rPr lang="pt-BR" altLang="pt-BR" dirty="0" err="1" smtClean="0"/>
              <a:t>templates</a:t>
            </a:r>
            <a:r>
              <a:rPr lang="pt-BR" altLang="pt-BR" dirty="0" smtClean="0"/>
              <a:t> para especificar os requisitos de sistema. </a:t>
            </a:r>
          </a:p>
          <a:p>
            <a:pPr algn="just" eaLnBrk="1" hangingPunct="1">
              <a:spcBef>
                <a:spcPct val="0"/>
              </a:spcBef>
            </a:pPr>
            <a:endParaRPr lang="pt-BR" altLang="pt-BR" dirty="0" smtClean="0"/>
          </a:p>
          <a:p>
            <a:pPr algn="just" eaLnBrk="1" hangingPunct="1">
              <a:spcBef>
                <a:spcPct val="0"/>
              </a:spcBef>
            </a:pPr>
            <a:r>
              <a:rPr lang="pt-BR" altLang="pt-BR" dirty="0" smtClean="0"/>
              <a:t>A especificação pode :</a:t>
            </a:r>
          </a:p>
          <a:p>
            <a:pPr algn="just">
              <a:spcBef>
                <a:spcPct val="0"/>
              </a:spcBef>
            </a:pPr>
            <a:r>
              <a:rPr lang="pt-BR" altLang="pt-BR" dirty="0"/>
              <a:t> usar construções </a:t>
            </a:r>
            <a:r>
              <a:rPr lang="pt-BR" altLang="pt-BR" dirty="0" smtClean="0"/>
              <a:t>de linguagem de programação para mostrar alternativas e iteração; </a:t>
            </a:r>
          </a:p>
          <a:p>
            <a:pPr algn="just">
              <a:spcBef>
                <a:spcPct val="0"/>
              </a:spcBef>
            </a:pPr>
            <a:r>
              <a:rPr lang="pt-BR" altLang="pt-BR" dirty="0" smtClean="0"/>
              <a:t>destacar elementos-chave pelo uso de sombreamento ou fontes diferentes. </a:t>
            </a:r>
          </a:p>
          <a:p>
            <a:pPr algn="just" eaLnBrk="1" hangingPunct="1">
              <a:spcBef>
                <a:spcPct val="0"/>
              </a:spcBef>
            </a:pPr>
            <a:endParaRPr lang="pt-BR" altLang="pt-BR" dirty="0" smtClean="0"/>
          </a:p>
          <a:p>
            <a:pPr algn="just" eaLnBrk="1" hangingPunct="1">
              <a:spcBef>
                <a:spcPct val="0"/>
              </a:spcBef>
            </a:pPr>
            <a:r>
              <a:rPr lang="pt-BR" altLang="pt-BR" dirty="0" smtClean="0"/>
              <a:t>Requisitos de usuário devem ser escritos em cartões, sendo um requisito por cartão. Inserem-se: lógica dos requisitos, as dependências de outros requisitos, a origem dos requisitos, materiais de apoio, e assim por diante. </a:t>
            </a:r>
          </a:p>
        </p:txBody>
      </p:sp>
    </p:spTree>
    <p:extLst>
      <p:ext uri="{BB962C8B-B14F-4D97-AF65-F5344CB8AC3E}">
        <p14:creationId xmlns:p14="http://schemas.microsoft.com/office/powerpoint/2010/main" val="42225150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DDAC889-CE5B-42ED-98A5-10D76776E7CA}" type="slidenum">
              <a:rPr lang="pt-PT" altLang="pt-BR" sz="1400"/>
              <a:pPr>
                <a:spcBef>
                  <a:spcPct val="0"/>
                </a:spcBef>
                <a:buFontTx/>
                <a:buNone/>
              </a:pPr>
              <a:t>39</a:t>
            </a:fld>
            <a:endParaRPr lang="pt-PT" altLang="pt-BR" sz="1400"/>
          </a:p>
        </p:txBody>
      </p:sp>
      <p:sp>
        <p:nvSpPr>
          <p:cNvPr id="243715"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3716" name="Rectangle 3"/>
          <p:cNvSpPr>
            <a:spLocks noGrp="1" noChangeArrowheads="1"/>
          </p:cNvSpPr>
          <p:nvPr>
            <p:ph type="subTitle" idx="1"/>
          </p:nvPr>
        </p:nvSpPr>
        <p:spPr>
          <a:xfrm>
            <a:off x="112144" y="767752"/>
            <a:ext cx="11818188" cy="6333138"/>
          </a:xfrm>
        </p:spPr>
        <p:txBody>
          <a:bodyPr/>
          <a:lstStyle/>
          <a:p>
            <a:pPr algn="just" eaLnBrk="1" hangingPunct="1">
              <a:spcBef>
                <a:spcPct val="0"/>
              </a:spcBef>
            </a:pPr>
            <a:r>
              <a:rPr lang="pt-BR" altLang="pt-BR" dirty="0" smtClean="0"/>
              <a:t>Especificações estruturadas para Bomba de insulina/Software de controle/SRS/3.3.2 </a:t>
            </a:r>
          </a:p>
          <a:p>
            <a:pPr algn="just" eaLnBrk="1" hangingPunct="1">
              <a:spcBef>
                <a:spcPct val="0"/>
              </a:spcBef>
            </a:pPr>
            <a:endParaRPr lang="pt-BR" altLang="pt-BR" dirty="0" smtClean="0"/>
          </a:p>
          <a:p>
            <a:pPr algn="just" eaLnBrk="1" hangingPunct="1">
              <a:spcBef>
                <a:spcPct val="0"/>
              </a:spcBef>
            </a:pPr>
            <a:r>
              <a:rPr lang="pt-BR" altLang="pt-BR" dirty="0" smtClean="0"/>
              <a:t>Função: Calcula doses de insulina: nível seguro de açúcar. </a:t>
            </a:r>
          </a:p>
          <a:p>
            <a:pPr algn="just" eaLnBrk="1" hangingPunct="1">
              <a:spcBef>
                <a:spcPct val="0"/>
              </a:spcBef>
            </a:pPr>
            <a:endParaRPr lang="pt-BR" altLang="pt-BR" dirty="0" smtClean="0"/>
          </a:p>
          <a:p>
            <a:pPr algn="just" eaLnBrk="1" hangingPunct="1">
              <a:spcBef>
                <a:spcPct val="0"/>
              </a:spcBef>
            </a:pPr>
            <a:r>
              <a:rPr lang="pt-BR" altLang="pt-BR" dirty="0" smtClean="0"/>
              <a:t>Descrição: Calcula a dose de insulina a ser fornecida quando o nível de açúcar está na zona de segurança entre três e sete unidades</a:t>
            </a:r>
          </a:p>
          <a:p>
            <a:pPr algn="just" eaLnBrk="1" hangingPunct="1">
              <a:spcBef>
                <a:spcPct val="0"/>
              </a:spcBef>
            </a:pPr>
            <a:endParaRPr lang="pt-BR" altLang="pt-BR" dirty="0" smtClean="0"/>
          </a:p>
          <a:p>
            <a:pPr algn="just" eaLnBrk="1" hangingPunct="1">
              <a:spcBef>
                <a:spcPct val="0"/>
              </a:spcBef>
            </a:pPr>
            <a:r>
              <a:rPr lang="pt-BR" altLang="pt-BR" dirty="0" smtClean="0"/>
              <a:t> Entradas: Leitura atual de açúcar (r2), duas leituras anteriores (r0 e r1). Fonte: Leitura atual da taxa de açúcar pelo sensor. Outras leituras da memória</a:t>
            </a:r>
          </a:p>
          <a:p>
            <a:pPr algn="just" eaLnBrk="1" hangingPunct="1">
              <a:spcBef>
                <a:spcPct val="0"/>
              </a:spcBef>
            </a:pPr>
            <a:endParaRPr lang="pt-BR" altLang="pt-BR" dirty="0" smtClean="0"/>
          </a:p>
          <a:p>
            <a:pPr algn="just" eaLnBrk="1" hangingPunct="1">
              <a:spcBef>
                <a:spcPct val="0"/>
              </a:spcBef>
            </a:pPr>
            <a:r>
              <a:rPr lang="pt-BR" altLang="pt-BR" dirty="0" smtClean="0"/>
              <a:t> Saídas: </a:t>
            </a:r>
            <a:r>
              <a:rPr lang="pt-BR" altLang="pt-BR" dirty="0" err="1" smtClean="0"/>
              <a:t>CompDose</a:t>
            </a:r>
            <a:r>
              <a:rPr lang="pt-BR" altLang="pt-BR" dirty="0" smtClean="0"/>
              <a:t> — a dose de insulina a ser fornecida </a:t>
            </a:r>
          </a:p>
          <a:p>
            <a:pPr algn="just" eaLnBrk="1" hangingPunct="1">
              <a:spcBef>
                <a:spcPct val="0"/>
              </a:spcBef>
            </a:pPr>
            <a:endParaRPr lang="pt-BR" altLang="pt-BR" dirty="0" smtClean="0"/>
          </a:p>
          <a:p>
            <a:pPr algn="just" eaLnBrk="1" hangingPunct="1">
              <a:spcBef>
                <a:spcPct val="0"/>
              </a:spcBef>
            </a:pPr>
            <a:r>
              <a:rPr lang="pt-BR" altLang="pt-BR" dirty="0" smtClean="0"/>
              <a:t>Destino: </a:t>
            </a:r>
            <a:r>
              <a:rPr lang="pt-BR" altLang="pt-BR" dirty="0" err="1" smtClean="0"/>
              <a:t>CompDose</a:t>
            </a:r>
            <a:r>
              <a:rPr lang="pt-BR" altLang="pt-BR" dirty="0" smtClean="0"/>
              <a:t> é zero se o nível de açúcar está estável ou em queda ou se o nível está aumentando, mas a taxa de aumento está diminuindo. Se o nível está aumentando e a taxa de aumento está aumentando, então </a:t>
            </a:r>
            <a:r>
              <a:rPr lang="pt-BR" altLang="pt-BR" dirty="0" err="1" smtClean="0"/>
              <a:t>CompDose</a:t>
            </a:r>
            <a:r>
              <a:rPr lang="pt-BR" altLang="pt-BR" dirty="0" smtClean="0"/>
              <a:t> é calculado dividindo-se a diferença entre o nível atual de açúcar e o nível anterior por quatro e arredondando-se o resultado. Se o resultado é arredondado para zero, então </a:t>
            </a:r>
            <a:r>
              <a:rPr lang="pt-BR" altLang="pt-BR" dirty="0" err="1" smtClean="0"/>
              <a:t>CompDose</a:t>
            </a:r>
            <a:r>
              <a:rPr lang="pt-BR" altLang="pt-BR" dirty="0" smtClean="0"/>
              <a:t> é definida como a dose mínima que pode ser fornecida. </a:t>
            </a:r>
          </a:p>
        </p:txBody>
      </p:sp>
    </p:spTree>
    <p:extLst>
      <p:ext uri="{BB962C8B-B14F-4D97-AF65-F5344CB8AC3E}">
        <p14:creationId xmlns:p14="http://schemas.microsoft.com/office/powerpoint/2010/main" val="13584276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5010C6C-7599-42C1-96E4-37E99DCABA4D}" type="slidenum">
              <a:rPr lang="pt-PT" altLang="pt-BR" sz="1400"/>
              <a:pPr>
                <a:spcBef>
                  <a:spcPct val="0"/>
                </a:spcBef>
                <a:buFontTx/>
                <a:buNone/>
              </a:pPr>
              <a:t>40</a:t>
            </a:fld>
            <a:endParaRPr lang="pt-PT" altLang="pt-BR" sz="1400"/>
          </a:p>
        </p:txBody>
      </p:sp>
      <p:sp>
        <p:nvSpPr>
          <p:cNvPr id="244739"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4740" name="Rectangle 3"/>
          <p:cNvSpPr>
            <a:spLocks noGrp="1" noChangeArrowheads="1"/>
          </p:cNvSpPr>
          <p:nvPr>
            <p:ph type="subTitle" idx="1"/>
          </p:nvPr>
        </p:nvSpPr>
        <p:spPr>
          <a:xfrm>
            <a:off x="163902" y="836614"/>
            <a:ext cx="11913079" cy="6264276"/>
          </a:xfrm>
        </p:spPr>
        <p:txBody>
          <a:bodyPr/>
          <a:lstStyle/>
          <a:p>
            <a:pPr algn="just" eaLnBrk="1" hangingPunct="1">
              <a:spcBef>
                <a:spcPct val="0"/>
              </a:spcBef>
            </a:pPr>
            <a:r>
              <a:rPr lang="pt-BR" altLang="pt-BR" dirty="0" smtClean="0"/>
              <a:t>Especificações estruturadas para Bomba de insulina/Software de controle/SRS/3.3.2 </a:t>
            </a:r>
          </a:p>
          <a:p>
            <a:pPr algn="just" eaLnBrk="1" hangingPunct="1">
              <a:spcBef>
                <a:spcPct val="0"/>
              </a:spcBef>
            </a:pPr>
            <a:endParaRPr lang="pt-BR" altLang="pt-BR" dirty="0" smtClean="0"/>
          </a:p>
          <a:p>
            <a:pPr algn="just" eaLnBrk="1" hangingPunct="1">
              <a:spcBef>
                <a:spcPct val="0"/>
              </a:spcBef>
            </a:pPr>
            <a:r>
              <a:rPr lang="pt-BR" altLang="pt-BR" dirty="0" smtClean="0"/>
              <a:t>Requisitos: Duas leituras anteriores, de modo que a taxa de variação do nível de açúcar pode ser calculada</a:t>
            </a:r>
          </a:p>
          <a:p>
            <a:pPr algn="just" eaLnBrk="1" hangingPunct="1">
              <a:spcBef>
                <a:spcPct val="0"/>
              </a:spcBef>
            </a:pPr>
            <a:endParaRPr lang="pt-BR" altLang="pt-BR" dirty="0" smtClean="0"/>
          </a:p>
          <a:p>
            <a:pPr algn="just" eaLnBrk="1" hangingPunct="1">
              <a:spcBef>
                <a:spcPct val="0"/>
              </a:spcBef>
            </a:pPr>
            <a:r>
              <a:rPr lang="pt-BR" altLang="pt-BR" dirty="0" smtClean="0"/>
              <a:t>Pré-condição: O reservatório de insulina contém, no mínimo, o máximo de dose única permitida de insulina</a:t>
            </a:r>
          </a:p>
          <a:p>
            <a:pPr algn="just" eaLnBrk="1" hangingPunct="1">
              <a:spcBef>
                <a:spcPct val="0"/>
              </a:spcBef>
            </a:pPr>
            <a:endParaRPr lang="pt-BR" altLang="pt-BR" dirty="0" smtClean="0"/>
          </a:p>
          <a:p>
            <a:pPr algn="just" eaLnBrk="1" hangingPunct="1">
              <a:spcBef>
                <a:spcPct val="0"/>
              </a:spcBef>
            </a:pPr>
            <a:r>
              <a:rPr lang="pt-BR" altLang="pt-BR" dirty="0" smtClean="0"/>
              <a:t>Pós – condições: r0 é substituído por r1 e r1 é substituído por r2. </a:t>
            </a:r>
          </a:p>
          <a:p>
            <a:pPr algn="just" eaLnBrk="1" hangingPunct="1">
              <a:spcBef>
                <a:spcPct val="0"/>
              </a:spcBef>
            </a:pPr>
            <a:endParaRPr lang="pt-BR" altLang="pt-BR" dirty="0" smtClean="0"/>
          </a:p>
          <a:p>
            <a:pPr algn="just" eaLnBrk="1" hangingPunct="1">
              <a:spcBef>
                <a:spcPct val="0"/>
              </a:spcBef>
            </a:pPr>
            <a:r>
              <a:rPr lang="pt-BR" altLang="pt-BR" dirty="0" smtClean="0"/>
              <a:t>Efeitos colaterais: Nenhum. </a:t>
            </a:r>
          </a:p>
        </p:txBody>
      </p:sp>
    </p:spTree>
    <p:extLst>
      <p:ext uri="{BB962C8B-B14F-4D97-AF65-F5344CB8AC3E}">
        <p14:creationId xmlns:p14="http://schemas.microsoft.com/office/powerpoint/2010/main" val="283689485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BC478BC-B1C0-4116-BB8A-6FEF9C0ED70F}" type="slidenum">
              <a:rPr lang="pt-PT" altLang="pt-BR" sz="1400"/>
              <a:pPr>
                <a:spcBef>
                  <a:spcPct val="0"/>
                </a:spcBef>
                <a:buFontTx/>
                <a:buNone/>
              </a:pPr>
              <a:t>41</a:t>
            </a:fld>
            <a:endParaRPr lang="pt-PT" altLang="pt-BR" sz="1400"/>
          </a:p>
        </p:txBody>
      </p:sp>
      <p:sp>
        <p:nvSpPr>
          <p:cNvPr id="245763"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154628" name="Rectangle 3"/>
          <p:cNvSpPr>
            <a:spLocks noGrp="1" noChangeArrowheads="1"/>
          </p:cNvSpPr>
          <p:nvPr>
            <p:ph type="subTitle" idx="1"/>
          </p:nvPr>
        </p:nvSpPr>
        <p:spPr>
          <a:xfrm>
            <a:off x="86264" y="1112808"/>
            <a:ext cx="12033849" cy="5988081"/>
          </a:xfrm>
        </p:spPr>
        <p:txBody>
          <a:bodyPr/>
          <a:lstStyle/>
          <a:p>
            <a:pPr algn="just">
              <a:spcBef>
                <a:spcPts val="0"/>
              </a:spcBef>
              <a:defRPr/>
            </a:pPr>
            <a:r>
              <a:rPr lang="pt-BR" dirty="0" smtClean="0"/>
              <a:t>Informações nos formulário-padrão: </a:t>
            </a:r>
          </a:p>
          <a:p>
            <a:pPr algn="just">
              <a:spcBef>
                <a:spcPts val="0"/>
              </a:spcBef>
              <a:defRPr/>
            </a:pPr>
            <a:endParaRPr lang="pt-BR" dirty="0" smtClean="0"/>
          </a:p>
          <a:p>
            <a:pPr algn="just">
              <a:spcBef>
                <a:spcPts val="0"/>
              </a:spcBef>
              <a:defRPr/>
            </a:pPr>
            <a:r>
              <a:rPr lang="pt-BR" dirty="0" smtClean="0"/>
              <a:t>1. Descrição </a:t>
            </a:r>
            <a:r>
              <a:rPr lang="pt-BR" dirty="0"/>
              <a:t>da função ou entidade a ser especificada. </a:t>
            </a:r>
            <a:endParaRPr lang="pt-BR" dirty="0" smtClean="0"/>
          </a:p>
          <a:p>
            <a:pPr algn="just">
              <a:spcBef>
                <a:spcPts val="0"/>
              </a:spcBef>
              <a:defRPr/>
            </a:pPr>
            <a:r>
              <a:rPr lang="pt-BR" dirty="0" smtClean="0"/>
              <a:t>2</a:t>
            </a:r>
            <a:r>
              <a:rPr lang="pt-BR" dirty="0"/>
              <a:t>. D</a:t>
            </a:r>
            <a:r>
              <a:rPr lang="pt-BR" dirty="0" smtClean="0"/>
              <a:t>escrição das </a:t>
            </a:r>
            <a:r>
              <a:rPr lang="pt-BR" dirty="0"/>
              <a:t>entradas e de onde elas vieram. </a:t>
            </a:r>
            <a:endParaRPr lang="pt-BR" dirty="0" smtClean="0"/>
          </a:p>
          <a:p>
            <a:pPr algn="just">
              <a:spcBef>
                <a:spcPts val="0"/>
              </a:spcBef>
              <a:defRPr/>
            </a:pPr>
            <a:r>
              <a:rPr lang="pt-BR" dirty="0" smtClean="0"/>
              <a:t>3</a:t>
            </a:r>
            <a:r>
              <a:rPr lang="pt-BR" dirty="0"/>
              <a:t>. D</a:t>
            </a:r>
            <a:r>
              <a:rPr lang="pt-BR" dirty="0" smtClean="0"/>
              <a:t>escrição </a:t>
            </a:r>
            <a:r>
              <a:rPr lang="pt-BR" dirty="0"/>
              <a:t>de suas saídas e para onde elas irão. </a:t>
            </a:r>
            <a:endParaRPr lang="pt-BR" dirty="0" smtClean="0"/>
          </a:p>
          <a:p>
            <a:pPr algn="just">
              <a:spcBef>
                <a:spcPts val="0"/>
              </a:spcBef>
              <a:defRPr/>
            </a:pPr>
            <a:r>
              <a:rPr lang="pt-BR" dirty="0" smtClean="0"/>
              <a:t>4</a:t>
            </a:r>
            <a:r>
              <a:rPr lang="pt-BR" dirty="0"/>
              <a:t>. Informações </a:t>
            </a:r>
            <a:r>
              <a:rPr lang="pt-BR" dirty="0" smtClean="0"/>
              <a:t>para </a:t>
            </a:r>
            <a:r>
              <a:rPr lang="pt-BR" dirty="0"/>
              <a:t>o processamento ou outras entidades usadas no sistema (a parte ‘</a:t>
            </a:r>
            <a:r>
              <a:rPr lang="pt-BR" dirty="0" err="1" smtClean="0"/>
              <a:t>requires</a:t>
            </a:r>
            <a:r>
              <a:rPr lang="pt-BR" dirty="0" smtClean="0"/>
              <a:t>’ – chamadas a módulos ou bibliotecas). </a:t>
            </a:r>
          </a:p>
          <a:p>
            <a:pPr algn="just">
              <a:spcBef>
                <a:spcPts val="0"/>
              </a:spcBef>
              <a:defRPr/>
            </a:pPr>
            <a:r>
              <a:rPr lang="pt-BR" dirty="0" smtClean="0"/>
              <a:t>5</a:t>
            </a:r>
            <a:r>
              <a:rPr lang="pt-BR" dirty="0"/>
              <a:t>. D</a:t>
            </a:r>
            <a:r>
              <a:rPr lang="pt-BR" dirty="0" smtClean="0"/>
              <a:t>escrição </a:t>
            </a:r>
            <a:r>
              <a:rPr lang="pt-BR" dirty="0"/>
              <a:t>da ação a ser tomada. </a:t>
            </a:r>
            <a:endParaRPr lang="pt-BR" dirty="0" smtClean="0"/>
          </a:p>
          <a:p>
            <a:pPr algn="just">
              <a:spcBef>
                <a:spcPts val="0"/>
              </a:spcBef>
              <a:defRPr/>
            </a:pPr>
            <a:r>
              <a:rPr lang="pt-BR" dirty="0" smtClean="0"/>
              <a:t>6</a:t>
            </a:r>
            <a:r>
              <a:rPr lang="pt-BR" dirty="0"/>
              <a:t>. Se uma abordagem funcional é usada, uma pré-condição define o que deve ser verdade antes que a função seja chamada, e é chamada uma pós-condição, especificando o que é verdade depois da função. </a:t>
            </a:r>
            <a:endParaRPr lang="pt-BR" dirty="0" smtClean="0"/>
          </a:p>
          <a:p>
            <a:pPr algn="just">
              <a:spcBef>
                <a:spcPts val="0"/>
              </a:spcBef>
              <a:defRPr/>
            </a:pPr>
            <a:r>
              <a:rPr lang="pt-BR" dirty="0" smtClean="0"/>
              <a:t>7</a:t>
            </a:r>
            <a:r>
              <a:rPr lang="pt-BR" dirty="0"/>
              <a:t>. D</a:t>
            </a:r>
            <a:r>
              <a:rPr lang="pt-BR" dirty="0" smtClean="0"/>
              <a:t>escrição </a:t>
            </a:r>
            <a:r>
              <a:rPr lang="pt-BR" dirty="0"/>
              <a:t>dos efeitos colaterais da operação (caso haja algum).</a:t>
            </a:r>
          </a:p>
        </p:txBody>
      </p:sp>
    </p:spTree>
    <p:extLst>
      <p:ext uri="{BB962C8B-B14F-4D97-AF65-F5344CB8AC3E}">
        <p14:creationId xmlns:p14="http://schemas.microsoft.com/office/powerpoint/2010/main" val="396353780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5F27245-E75B-463A-8748-B7DFED9BAD2A}" type="slidenum">
              <a:rPr lang="pt-PT" altLang="pt-BR" sz="1400"/>
              <a:pPr>
                <a:spcBef>
                  <a:spcPct val="0"/>
                </a:spcBef>
                <a:buFontTx/>
                <a:buNone/>
              </a:pPr>
              <a:t>42</a:t>
            </a:fld>
            <a:endParaRPr lang="pt-PT" altLang="pt-BR" sz="1400"/>
          </a:p>
        </p:txBody>
      </p:sp>
      <p:sp>
        <p:nvSpPr>
          <p:cNvPr id="246787"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6788" name="Rectangle 3"/>
          <p:cNvSpPr>
            <a:spLocks noGrp="1" noChangeArrowheads="1"/>
          </p:cNvSpPr>
          <p:nvPr>
            <p:ph type="subTitle" idx="1"/>
          </p:nvPr>
        </p:nvSpPr>
        <p:spPr>
          <a:xfrm>
            <a:off x="0" y="836614"/>
            <a:ext cx="11938958" cy="6264275"/>
          </a:xfrm>
        </p:spPr>
        <p:txBody>
          <a:bodyPr/>
          <a:lstStyle/>
          <a:p>
            <a:pPr algn="just" eaLnBrk="1" hangingPunct="1">
              <a:spcBef>
                <a:spcPct val="0"/>
              </a:spcBef>
            </a:pPr>
            <a:r>
              <a:rPr lang="pt-BR" altLang="pt-BR" dirty="0" smtClean="0"/>
              <a:t>Especificações estruturadas eliminam alguns problemas de especificação em linguagem natural:</a:t>
            </a:r>
          </a:p>
          <a:p>
            <a:pPr algn="just" eaLnBrk="1" hangingPunct="1">
              <a:spcBef>
                <a:spcPct val="0"/>
              </a:spcBef>
            </a:pPr>
            <a:endParaRPr lang="pt-BR" altLang="pt-BR" dirty="0" smtClean="0"/>
          </a:p>
          <a:p>
            <a:pPr algn="just" eaLnBrk="1" hangingPunct="1">
              <a:spcBef>
                <a:spcPct val="0"/>
              </a:spcBef>
            </a:pPr>
            <a:r>
              <a:rPr lang="pt-BR" altLang="pt-BR" dirty="0" smtClean="0"/>
              <a:t>Reduz-se a variabilidade na especificação</a:t>
            </a:r>
          </a:p>
          <a:p>
            <a:pPr algn="just" eaLnBrk="1" hangingPunct="1">
              <a:spcBef>
                <a:spcPct val="0"/>
              </a:spcBef>
            </a:pPr>
            <a:r>
              <a:rPr lang="pt-BR" altLang="pt-BR" dirty="0" smtClean="0"/>
              <a:t>Requisitos são organizados de forma mais eficaz. </a:t>
            </a:r>
          </a:p>
          <a:p>
            <a:pPr algn="just">
              <a:spcBef>
                <a:spcPct val="0"/>
              </a:spcBef>
            </a:pPr>
            <a:r>
              <a:rPr lang="pt-BR" altLang="pt-BR" dirty="0" smtClean="0"/>
              <a:t>Difícil escrever os requisitos de forma clara e inequívoca, especialmente quando processamentos complexos </a:t>
            </a:r>
            <a:r>
              <a:rPr lang="pt-BR" altLang="pt-BR" dirty="0"/>
              <a:t>devem ser </a:t>
            </a:r>
            <a:r>
              <a:rPr lang="pt-BR" altLang="pt-BR" dirty="0" smtClean="0"/>
              <a:t>especificados (</a:t>
            </a:r>
            <a:r>
              <a:rPr lang="pt-BR" altLang="pt-BR" dirty="0" err="1" smtClean="0"/>
              <a:t>Ex</a:t>
            </a:r>
            <a:r>
              <a:rPr lang="pt-BR" altLang="pt-BR" dirty="0" smtClean="0"/>
              <a:t>: calcular a dose de insulina). </a:t>
            </a:r>
          </a:p>
          <a:p>
            <a:pPr algn="just" eaLnBrk="1" hangingPunct="1">
              <a:spcBef>
                <a:spcPct val="0"/>
              </a:spcBef>
            </a:pPr>
            <a:endParaRPr lang="pt-BR" altLang="pt-BR" dirty="0" smtClean="0"/>
          </a:p>
          <a:p>
            <a:pPr algn="just" eaLnBrk="1" hangingPunct="1">
              <a:spcBef>
                <a:spcPct val="0"/>
              </a:spcBef>
            </a:pPr>
            <a:r>
              <a:rPr lang="pt-BR" altLang="pt-BR" dirty="0" smtClean="0"/>
              <a:t>Informações extras aos requisitos em linguagem natural: tabelas ou modelos gráficos do sistema</a:t>
            </a:r>
            <a:r>
              <a:rPr lang="pt-BR" altLang="pt-BR" dirty="0"/>
              <a:t> </a:t>
            </a:r>
            <a:r>
              <a:rPr lang="pt-BR" altLang="pt-BR" dirty="0" smtClean="0"/>
              <a:t>que mostra como os cálculos são executados, como o sistema muda de estado, como os usuários interagem com o sistema e como sequências de ações são executadas.</a:t>
            </a:r>
          </a:p>
        </p:txBody>
      </p:sp>
    </p:spTree>
    <p:extLst>
      <p:ext uri="{BB962C8B-B14F-4D97-AF65-F5344CB8AC3E}">
        <p14:creationId xmlns:p14="http://schemas.microsoft.com/office/powerpoint/2010/main" val="41320259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DEF04E6-4C4B-4C26-B60E-2A37CFE0E650}" type="slidenum">
              <a:rPr lang="pt-PT" altLang="pt-BR" sz="1400"/>
              <a:pPr>
                <a:spcBef>
                  <a:spcPct val="0"/>
                </a:spcBef>
                <a:buFontTx/>
                <a:buNone/>
              </a:pPr>
              <a:t>43</a:t>
            </a:fld>
            <a:endParaRPr lang="pt-PT" altLang="pt-BR" sz="1400"/>
          </a:p>
        </p:txBody>
      </p:sp>
      <p:sp>
        <p:nvSpPr>
          <p:cNvPr id="247811" name="Rectangle 2"/>
          <p:cNvSpPr>
            <a:spLocks noGrp="1" noChangeArrowheads="1"/>
          </p:cNvSpPr>
          <p:nvPr>
            <p:ph type="ctrTitle"/>
          </p:nvPr>
        </p:nvSpPr>
        <p:spPr>
          <a:xfrm>
            <a:off x="1524001" y="1"/>
            <a:ext cx="9217025" cy="836613"/>
          </a:xfrm>
        </p:spPr>
        <p:txBody>
          <a:bodyPr anchor="ctr"/>
          <a:lstStyle/>
          <a:p>
            <a:pPr eaLnBrk="1" hangingPunct="1"/>
            <a:r>
              <a:rPr lang="pt-BR" altLang="pt-BR" sz="3600"/>
              <a:t>4 O documento de requisitos de software</a:t>
            </a:r>
            <a:endParaRPr lang="pt-PT" altLang="pt-BR" sz="3600"/>
          </a:p>
        </p:txBody>
      </p:sp>
      <p:sp>
        <p:nvSpPr>
          <p:cNvPr id="247812" name="Rectangle 3"/>
          <p:cNvSpPr>
            <a:spLocks noGrp="1" noChangeArrowheads="1"/>
          </p:cNvSpPr>
          <p:nvPr>
            <p:ph type="subTitle" idx="1"/>
          </p:nvPr>
        </p:nvSpPr>
        <p:spPr>
          <a:xfrm>
            <a:off x="86264" y="948906"/>
            <a:ext cx="11921706" cy="6151984"/>
          </a:xfrm>
        </p:spPr>
        <p:txBody>
          <a:bodyPr/>
          <a:lstStyle/>
          <a:p>
            <a:pPr algn="just" eaLnBrk="1" hangingPunct="1">
              <a:spcBef>
                <a:spcPct val="0"/>
              </a:spcBef>
            </a:pPr>
            <a:r>
              <a:rPr lang="pt-BR" altLang="pt-BR" dirty="0" smtClean="0"/>
              <a:t>As tabelas são úteis quando há um número de situações alternativas possíveis e é necessário descrever as ações a serem tomadas para cada uma delas. </a:t>
            </a:r>
          </a:p>
          <a:p>
            <a:pPr algn="just" eaLnBrk="1" hangingPunct="1">
              <a:spcBef>
                <a:spcPct val="0"/>
              </a:spcBef>
            </a:pPr>
            <a:endParaRPr lang="pt-BR" altLang="pt-BR" dirty="0" smtClean="0"/>
          </a:p>
          <a:p>
            <a:pPr algn="just" eaLnBrk="1" hangingPunct="1">
              <a:spcBef>
                <a:spcPct val="0"/>
              </a:spcBef>
            </a:pPr>
            <a:endParaRPr lang="pt-BR" altLang="pt-BR" dirty="0" smtClean="0"/>
          </a:p>
          <a:p>
            <a:pPr algn="just" eaLnBrk="1" hangingPunct="1">
              <a:spcBef>
                <a:spcPct val="0"/>
              </a:spcBef>
            </a:pPr>
            <a:r>
              <a:rPr lang="pt-BR" altLang="pt-BR" dirty="0" smtClean="0"/>
              <a:t>Condição 						 </a:t>
            </a:r>
          </a:p>
          <a:p>
            <a:pPr algn="just" eaLnBrk="1" hangingPunct="1">
              <a:spcBef>
                <a:spcPct val="0"/>
              </a:spcBef>
            </a:pPr>
            <a:endParaRPr lang="pt-BR" altLang="pt-BR" dirty="0" smtClean="0"/>
          </a:p>
          <a:p>
            <a:pPr algn="just" eaLnBrk="1" hangingPunct="1">
              <a:spcBef>
                <a:spcPct val="0"/>
              </a:spcBef>
            </a:pPr>
            <a:r>
              <a:rPr lang="pt-BR" altLang="pt-BR" dirty="0" smtClean="0"/>
              <a:t>Nível de açúcar diminuindo (r2 &lt; r1) 		</a:t>
            </a:r>
          </a:p>
          <a:p>
            <a:pPr algn="just" eaLnBrk="1" hangingPunct="1">
              <a:spcBef>
                <a:spcPct val="0"/>
              </a:spcBef>
            </a:pPr>
            <a:r>
              <a:rPr lang="pt-BR" altLang="pt-BR" dirty="0" smtClean="0"/>
              <a:t>Nível de açúcar estável (r2 = r1) 			 </a:t>
            </a:r>
          </a:p>
          <a:p>
            <a:pPr algn="just" eaLnBrk="1" hangingPunct="1">
              <a:spcBef>
                <a:spcPct val="0"/>
              </a:spcBef>
            </a:pPr>
            <a:r>
              <a:rPr lang="pt-BR" altLang="pt-BR" dirty="0" smtClean="0"/>
              <a:t>Nível de açúcar aumentando e a taxa </a:t>
            </a:r>
          </a:p>
          <a:p>
            <a:pPr algn="just" eaLnBrk="1" hangingPunct="1">
              <a:spcBef>
                <a:spcPct val="0"/>
              </a:spcBef>
            </a:pPr>
            <a:r>
              <a:rPr lang="pt-BR" altLang="pt-BR" dirty="0" smtClean="0"/>
              <a:t>de aumento decrescente [(r2 – r1) &lt; (r1 – r0)] 						</a:t>
            </a:r>
          </a:p>
          <a:p>
            <a:pPr algn="just" eaLnBrk="1" hangingPunct="1">
              <a:spcBef>
                <a:spcPct val="0"/>
              </a:spcBef>
            </a:pPr>
            <a:r>
              <a:rPr lang="pt-BR" altLang="pt-BR" dirty="0" smtClean="0"/>
              <a:t>Nível de açúcar aumentando e a taxa</a:t>
            </a:r>
          </a:p>
          <a:p>
            <a:pPr algn="just" eaLnBrk="1" hangingPunct="1">
              <a:spcBef>
                <a:spcPct val="0"/>
              </a:spcBef>
            </a:pPr>
            <a:r>
              <a:rPr lang="pt-BR" altLang="pt-BR" dirty="0" smtClean="0"/>
              <a:t> de aumento estável ou </a:t>
            </a:r>
          </a:p>
          <a:p>
            <a:pPr algn="just" eaLnBrk="1" hangingPunct="1">
              <a:spcBef>
                <a:spcPct val="0"/>
              </a:spcBef>
            </a:pPr>
            <a:r>
              <a:rPr lang="pt-BR" altLang="pt-BR" dirty="0" smtClean="0"/>
              <a:t>crescente [(r2 – r1) ≥ (r1 – r0)] 			= 							</a:t>
            </a:r>
            <a:r>
              <a:rPr lang="pt-BR" altLang="pt-BR" dirty="0" err="1" smtClean="0"/>
              <a:t>MinimumDose</a:t>
            </a:r>
            <a:endParaRPr lang="pt-BR" altLang="pt-BR" dirty="0" smtClean="0"/>
          </a:p>
        </p:txBody>
      </p:sp>
      <p:sp>
        <p:nvSpPr>
          <p:cNvPr id="2" name="Retângulo 1"/>
          <p:cNvSpPr/>
          <p:nvPr/>
        </p:nvSpPr>
        <p:spPr>
          <a:xfrm>
            <a:off x="6184901" y="2057400"/>
            <a:ext cx="4303713" cy="4427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r>
              <a:rPr lang="pt-BR" dirty="0"/>
              <a:t>Ação </a:t>
            </a:r>
          </a:p>
          <a:p>
            <a:pPr algn="just">
              <a:defRPr/>
            </a:pPr>
            <a:r>
              <a:rPr lang="pt-BR" dirty="0" err="1"/>
              <a:t>CompDose</a:t>
            </a:r>
            <a:r>
              <a:rPr lang="pt-BR" dirty="0"/>
              <a:t> = 0 </a:t>
            </a:r>
          </a:p>
          <a:p>
            <a:pPr algn="just">
              <a:defRPr/>
            </a:pPr>
            <a:r>
              <a:rPr lang="pt-BR" dirty="0" err="1"/>
              <a:t>CompDose</a:t>
            </a:r>
            <a:r>
              <a:rPr lang="pt-BR" dirty="0"/>
              <a:t> = 0 </a:t>
            </a:r>
          </a:p>
          <a:p>
            <a:pPr algn="just">
              <a:defRPr/>
            </a:pPr>
            <a:r>
              <a:rPr lang="pt-BR" dirty="0" err="1"/>
              <a:t>CompDose</a:t>
            </a:r>
            <a:r>
              <a:rPr lang="pt-BR" dirty="0"/>
              <a:t> = 0 </a:t>
            </a:r>
          </a:p>
          <a:p>
            <a:pPr algn="just">
              <a:defRPr/>
            </a:pPr>
            <a:r>
              <a:rPr lang="pt-BR" dirty="0" err="1"/>
              <a:t>CompDose</a:t>
            </a:r>
            <a:r>
              <a:rPr lang="pt-BR" dirty="0"/>
              <a:t> = arredondar [(r2 – r1) / 4)]. </a:t>
            </a:r>
          </a:p>
          <a:p>
            <a:pPr algn="just">
              <a:defRPr/>
            </a:pPr>
            <a:r>
              <a:rPr lang="pt-BR" dirty="0"/>
              <a:t>Se o resultado </a:t>
            </a:r>
            <a:r>
              <a:rPr lang="pt-BR" dirty="0" err="1"/>
              <a:t>rredondado</a:t>
            </a:r>
            <a:r>
              <a:rPr lang="pt-BR" dirty="0"/>
              <a:t> = 0, 									então </a:t>
            </a:r>
            <a:r>
              <a:rPr lang="pt-BR" dirty="0" err="1"/>
              <a:t>CompDose</a:t>
            </a:r>
            <a:endParaRPr lang="pt-BR" dirty="0"/>
          </a:p>
        </p:txBody>
      </p:sp>
    </p:spTree>
    <p:extLst>
      <p:ext uri="{BB962C8B-B14F-4D97-AF65-F5344CB8AC3E}">
        <p14:creationId xmlns:p14="http://schemas.microsoft.com/office/powerpoint/2010/main" val="191782575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CB7618-02B9-421C-A9CC-DDA667A529C5}" type="slidenum">
              <a:rPr lang="pt-PT" altLang="pt-BR" sz="1400"/>
              <a:pPr>
                <a:spcBef>
                  <a:spcPct val="0"/>
                </a:spcBef>
                <a:buFontTx/>
                <a:buNone/>
              </a:pPr>
              <a:t>44</a:t>
            </a:fld>
            <a:endParaRPr lang="pt-PT" altLang="pt-BR" sz="1400"/>
          </a:p>
        </p:txBody>
      </p:sp>
      <p:sp>
        <p:nvSpPr>
          <p:cNvPr id="248835" name="Rectangle 2"/>
          <p:cNvSpPr>
            <a:spLocks noGrp="1" noChangeArrowheads="1"/>
          </p:cNvSpPr>
          <p:nvPr>
            <p:ph type="ctrTitle"/>
          </p:nvPr>
        </p:nvSpPr>
        <p:spPr>
          <a:xfrm>
            <a:off x="1524001" y="1"/>
            <a:ext cx="9217025" cy="836613"/>
          </a:xfrm>
        </p:spPr>
        <p:txBody>
          <a:bodyPr anchor="ctr"/>
          <a:lstStyle/>
          <a:p>
            <a:pPr eaLnBrk="1" hangingPunct="1"/>
            <a:r>
              <a:rPr lang="pt-BR" altLang="pt-BR" sz="3600"/>
              <a:t>Processos de Engenharia de requisitos </a:t>
            </a:r>
            <a:endParaRPr lang="pt-PT" altLang="pt-BR" sz="3600"/>
          </a:p>
        </p:txBody>
      </p:sp>
      <p:sp>
        <p:nvSpPr>
          <p:cNvPr id="248836" name="Rectangle 3"/>
          <p:cNvSpPr>
            <a:spLocks noGrp="1" noChangeArrowheads="1"/>
          </p:cNvSpPr>
          <p:nvPr>
            <p:ph type="subTitle" idx="1"/>
          </p:nvPr>
        </p:nvSpPr>
        <p:spPr>
          <a:xfrm>
            <a:off x="181156" y="931654"/>
            <a:ext cx="12010844" cy="6169236"/>
          </a:xfrm>
        </p:spPr>
        <p:txBody>
          <a:bodyPr/>
          <a:lstStyle/>
          <a:p>
            <a:pPr algn="just" eaLnBrk="1" hangingPunct="1">
              <a:spcBef>
                <a:spcPct val="0"/>
              </a:spcBef>
            </a:pPr>
            <a:r>
              <a:rPr lang="pt-BR" altLang="pt-BR" dirty="0" smtClean="0"/>
              <a:t>Quatro atividades de alto nível:</a:t>
            </a:r>
          </a:p>
          <a:p>
            <a:pPr marL="457200" indent="-457200" algn="just" eaLnBrk="1" hangingPunct="1">
              <a:spcBef>
                <a:spcPct val="0"/>
              </a:spcBef>
              <a:buAutoNum type="arabicParenR"/>
            </a:pPr>
            <a:r>
              <a:rPr lang="pt-BR" altLang="pt-BR" dirty="0" smtClean="0"/>
              <a:t>avaliar se o sistema é útil para a empresa (estudo de viabilidade)</a:t>
            </a:r>
          </a:p>
          <a:p>
            <a:pPr marL="457200" indent="-457200" algn="just" eaLnBrk="1" hangingPunct="1">
              <a:spcBef>
                <a:spcPct val="0"/>
              </a:spcBef>
              <a:buAutoNum type="arabicParenR"/>
            </a:pPr>
            <a:r>
              <a:rPr lang="pt-BR" altLang="pt-BR" dirty="0" smtClean="0"/>
              <a:t>descobrir requisitos (</a:t>
            </a:r>
            <a:r>
              <a:rPr lang="pt-BR" altLang="pt-BR" dirty="0" err="1" smtClean="0"/>
              <a:t>elicitação</a:t>
            </a:r>
            <a:r>
              <a:rPr lang="pt-BR" altLang="pt-BR" dirty="0" smtClean="0"/>
              <a:t> e análise), </a:t>
            </a:r>
          </a:p>
          <a:p>
            <a:pPr algn="just" eaLnBrk="1" hangingPunct="1">
              <a:spcBef>
                <a:spcPct val="0"/>
              </a:spcBef>
            </a:pPr>
            <a:r>
              <a:rPr lang="pt-BR" altLang="pt-BR" dirty="0" smtClean="0"/>
              <a:t>3)   converter forma-padrão (especificação), </a:t>
            </a:r>
          </a:p>
          <a:p>
            <a:pPr algn="just" eaLnBrk="1" hangingPunct="1">
              <a:spcBef>
                <a:spcPct val="0"/>
              </a:spcBef>
            </a:pPr>
            <a:r>
              <a:rPr lang="pt-BR" altLang="pt-BR" dirty="0" smtClean="0"/>
              <a:t>4)   verificar se os requisitos definem o sistema que o cliente quer (validação). </a:t>
            </a:r>
          </a:p>
          <a:p>
            <a:pPr algn="just" eaLnBrk="1" hangingPunct="1">
              <a:spcBef>
                <a:spcPct val="0"/>
              </a:spcBef>
            </a:pPr>
            <a:endParaRPr lang="pt-BR" altLang="pt-BR" dirty="0"/>
          </a:p>
          <a:p>
            <a:pPr algn="just">
              <a:spcBef>
                <a:spcPct val="0"/>
              </a:spcBef>
            </a:pPr>
            <a:r>
              <a:rPr lang="pt-BR" altLang="pt-BR" dirty="0"/>
              <a:t>Engenharia de requisitos: organizada em torno de uma espiral, como um processo iterativo, sendo a saída um documento de requisitos de sistema. </a:t>
            </a:r>
          </a:p>
          <a:p>
            <a:pPr algn="just">
              <a:spcBef>
                <a:spcPct val="0"/>
              </a:spcBef>
            </a:pPr>
            <a:endParaRPr lang="pt-BR" altLang="pt-BR" dirty="0" smtClean="0"/>
          </a:p>
          <a:p>
            <a:pPr algn="just">
              <a:spcBef>
                <a:spcPct val="0"/>
              </a:spcBef>
            </a:pPr>
            <a:r>
              <a:rPr lang="pt-BR" altLang="pt-BR" dirty="0" smtClean="0"/>
              <a:t>Tempo </a:t>
            </a:r>
            <a:r>
              <a:rPr lang="pt-BR" altLang="pt-BR" dirty="0"/>
              <a:t>e esforço dedicados a cada atividade em cada iteração depende do estágio do processo </a:t>
            </a:r>
            <a:r>
              <a:rPr lang="pt-BR" altLang="pt-BR" dirty="0" smtClean="0"/>
              <a:t> </a:t>
            </a:r>
            <a:r>
              <a:rPr lang="pt-BR" altLang="pt-BR" dirty="0"/>
              <a:t>e do tipo de sistema. </a:t>
            </a:r>
          </a:p>
          <a:p>
            <a:pPr algn="just">
              <a:spcBef>
                <a:spcPct val="0"/>
              </a:spcBef>
            </a:pPr>
            <a:endParaRPr lang="pt-BR" altLang="pt-BR" dirty="0" smtClean="0"/>
          </a:p>
          <a:p>
            <a:pPr algn="just">
              <a:spcBef>
                <a:spcPct val="0"/>
              </a:spcBef>
            </a:pPr>
            <a:r>
              <a:rPr lang="pt-BR" altLang="pt-BR" dirty="0" smtClean="0"/>
              <a:t>Início </a:t>
            </a:r>
            <a:r>
              <a:rPr lang="pt-BR" altLang="pt-BR" dirty="0"/>
              <a:t>do </a:t>
            </a:r>
            <a:r>
              <a:rPr lang="pt-BR" altLang="pt-BR" dirty="0" smtClean="0"/>
              <a:t>processo: maior </a:t>
            </a:r>
            <a:r>
              <a:rPr lang="pt-BR" altLang="pt-BR" dirty="0"/>
              <a:t>esforço </a:t>
            </a:r>
            <a:r>
              <a:rPr lang="pt-BR" altLang="pt-BR" dirty="0" smtClean="0"/>
              <a:t>é compreensão </a:t>
            </a:r>
            <a:r>
              <a:rPr lang="pt-BR" altLang="pt-BR" dirty="0"/>
              <a:t>dos requisitos de </a:t>
            </a:r>
            <a:r>
              <a:rPr lang="pt-BR" altLang="pt-BR" dirty="0" smtClean="0"/>
              <a:t>negócio, </a:t>
            </a:r>
            <a:r>
              <a:rPr lang="pt-BR" altLang="pt-BR" dirty="0"/>
              <a:t>não funcionais em alto nível, </a:t>
            </a:r>
            <a:r>
              <a:rPr lang="pt-BR" altLang="pt-BR" dirty="0" smtClean="0"/>
              <a:t>e dos </a:t>
            </a:r>
            <a:r>
              <a:rPr lang="pt-BR" altLang="pt-BR" dirty="0"/>
              <a:t>requisitos de usuário d</a:t>
            </a:r>
            <a:r>
              <a:rPr lang="pt-BR" altLang="pt-BR" dirty="0" smtClean="0"/>
              <a:t>o </a:t>
            </a:r>
            <a:r>
              <a:rPr lang="pt-BR" altLang="pt-BR" dirty="0"/>
              <a:t>sistema. </a:t>
            </a:r>
            <a:endParaRPr lang="pt-BR" altLang="pt-BR" dirty="0" smtClean="0"/>
          </a:p>
          <a:p>
            <a:pPr algn="just">
              <a:spcBef>
                <a:spcPct val="0"/>
              </a:spcBef>
            </a:pPr>
            <a:r>
              <a:rPr lang="pt-BR" altLang="pt-BR" dirty="0"/>
              <a:t>N</a:t>
            </a:r>
            <a:r>
              <a:rPr lang="pt-BR" altLang="pt-BR" dirty="0" smtClean="0"/>
              <a:t>os </a:t>
            </a:r>
            <a:r>
              <a:rPr lang="pt-BR" altLang="pt-BR" dirty="0"/>
              <a:t>anéis externos da </a:t>
            </a:r>
            <a:r>
              <a:rPr lang="pt-BR" altLang="pt-BR" dirty="0" smtClean="0"/>
              <a:t>espiral: maior esforço </a:t>
            </a:r>
            <a:r>
              <a:rPr lang="pt-BR" altLang="pt-BR" dirty="0"/>
              <a:t>será </a:t>
            </a:r>
            <a:r>
              <a:rPr lang="pt-BR" altLang="pt-BR" dirty="0" err="1" smtClean="0"/>
              <a:t>elicitar</a:t>
            </a:r>
            <a:r>
              <a:rPr lang="pt-BR" altLang="pt-BR" dirty="0" smtClean="0"/>
              <a:t> </a:t>
            </a:r>
            <a:r>
              <a:rPr lang="pt-BR" altLang="pt-BR" dirty="0"/>
              <a:t>e compreender os requisitos de sistema em detalhes.</a:t>
            </a:r>
          </a:p>
          <a:p>
            <a:pPr algn="just" eaLnBrk="1" hangingPunct="1">
              <a:spcBef>
                <a:spcPct val="0"/>
              </a:spcBef>
            </a:pPr>
            <a:endParaRPr lang="pt-BR" altLang="pt-BR" dirty="0" smtClean="0"/>
          </a:p>
        </p:txBody>
      </p:sp>
    </p:spTree>
    <p:extLst>
      <p:ext uri="{BB962C8B-B14F-4D97-AF65-F5344CB8AC3E}">
        <p14:creationId xmlns:p14="http://schemas.microsoft.com/office/powerpoint/2010/main" val="42313838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FDE098-D864-4415-B9F4-636243EA3C0B}" type="slidenum">
              <a:rPr lang="pt-PT" altLang="pt-BR" sz="1400"/>
              <a:pPr>
                <a:spcBef>
                  <a:spcPct val="0"/>
                </a:spcBef>
                <a:buFontTx/>
                <a:buNone/>
              </a:pPr>
              <a:t>45</a:t>
            </a:fld>
            <a:endParaRPr lang="pt-PT" altLang="pt-BR" sz="1400"/>
          </a:p>
        </p:txBody>
      </p:sp>
      <p:sp>
        <p:nvSpPr>
          <p:cNvPr id="250883" name="Rectangle 2"/>
          <p:cNvSpPr>
            <a:spLocks noGrp="1" noChangeArrowheads="1"/>
          </p:cNvSpPr>
          <p:nvPr>
            <p:ph type="ctrTitle"/>
          </p:nvPr>
        </p:nvSpPr>
        <p:spPr>
          <a:xfrm>
            <a:off x="1524001" y="1"/>
            <a:ext cx="9217025" cy="836613"/>
          </a:xfrm>
        </p:spPr>
        <p:txBody>
          <a:bodyPr anchor="ctr"/>
          <a:lstStyle/>
          <a:p>
            <a:pPr eaLnBrk="1" hangingPunct="1"/>
            <a:r>
              <a:rPr lang="pt-BR" altLang="pt-BR" sz="3600"/>
              <a:t>Processos de Engenharia de requisitos </a:t>
            </a:r>
            <a:endParaRPr lang="pt-PT" altLang="pt-BR" sz="3600"/>
          </a:p>
        </p:txBody>
      </p:sp>
      <p:sp>
        <p:nvSpPr>
          <p:cNvPr id="250884" name="Rectangle 3"/>
          <p:cNvSpPr>
            <a:spLocks noGrp="1" noChangeArrowheads="1"/>
          </p:cNvSpPr>
          <p:nvPr>
            <p:ph type="subTitle" idx="1"/>
          </p:nvPr>
        </p:nvSpPr>
        <p:spPr>
          <a:xfrm>
            <a:off x="94891" y="741872"/>
            <a:ext cx="11930331" cy="6359017"/>
          </a:xfrm>
        </p:spPr>
        <p:txBody>
          <a:bodyPr/>
          <a:lstStyle/>
          <a:p>
            <a:pPr algn="just" eaLnBrk="1" hangingPunct="1">
              <a:spcBef>
                <a:spcPct val="0"/>
              </a:spcBef>
            </a:pPr>
            <a:r>
              <a:rPr lang="pt-BR" altLang="pt-BR" dirty="0" smtClean="0"/>
              <a:t>Modelo espiral: requisitos são desenvolvidos em diferentes níveis de detalhamento. </a:t>
            </a:r>
          </a:p>
          <a:p>
            <a:pPr algn="just" eaLnBrk="1" hangingPunct="1">
              <a:spcBef>
                <a:spcPct val="0"/>
              </a:spcBef>
            </a:pPr>
            <a:endParaRPr lang="pt-BR" altLang="pt-BR" dirty="0" smtClean="0"/>
          </a:p>
          <a:p>
            <a:pPr algn="just" eaLnBrk="1" hangingPunct="1">
              <a:spcBef>
                <a:spcPct val="0"/>
              </a:spcBef>
            </a:pPr>
            <a:r>
              <a:rPr lang="pt-BR" altLang="pt-BR" dirty="0" smtClean="0"/>
              <a:t>Número de iterações em torno da espiral pode variar</a:t>
            </a:r>
          </a:p>
          <a:p>
            <a:pPr algn="just" eaLnBrk="1" hangingPunct="1">
              <a:spcBef>
                <a:spcPct val="0"/>
              </a:spcBef>
            </a:pPr>
            <a:endParaRPr lang="pt-BR" altLang="pt-BR" dirty="0" smtClean="0"/>
          </a:p>
          <a:p>
            <a:pPr algn="just" eaLnBrk="1" hangingPunct="1">
              <a:spcBef>
                <a:spcPct val="0"/>
              </a:spcBef>
            </a:pPr>
            <a:r>
              <a:rPr lang="pt-BR" altLang="pt-BR" dirty="0" smtClean="0"/>
              <a:t>Espiral pode acabar depois da definição de alguns ou de todos os requisitos de usuário. </a:t>
            </a:r>
          </a:p>
          <a:p>
            <a:pPr algn="just" eaLnBrk="1" hangingPunct="1">
              <a:spcBef>
                <a:spcPct val="0"/>
              </a:spcBef>
            </a:pPr>
            <a:endParaRPr lang="pt-BR" altLang="pt-BR" dirty="0" smtClean="0"/>
          </a:p>
          <a:p>
            <a:pPr algn="just" eaLnBrk="1" hangingPunct="1">
              <a:spcBef>
                <a:spcPct val="0"/>
              </a:spcBef>
            </a:pPr>
            <a:r>
              <a:rPr lang="pt-BR" altLang="pt-BR" dirty="0" smtClean="0"/>
              <a:t>No lugar de prototipação, o desenvolvimento ágil pode ser usado para que os requisitos e a implementação do sistema sejam desenvolvidos em conjunto. </a:t>
            </a:r>
          </a:p>
          <a:p>
            <a:pPr algn="just" eaLnBrk="1" hangingPunct="1">
              <a:spcBef>
                <a:spcPct val="0"/>
              </a:spcBef>
            </a:pPr>
            <a:endParaRPr lang="pt-BR" altLang="pt-BR" dirty="0" smtClean="0"/>
          </a:p>
          <a:p>
            <a:pPr algn="just" eaLnBrk="1" hangingPunct="1">
              <a:spcBef>
                <a:spcPct val="0"/>
              </a:spcBef>
            </a:pPr>
            <a:r>
              <a:rPr lang="pt-BR" altLang="pt-BR" dirty="0" smtClean="0"/>
              <a:t>Analisa-se o sistema e desenvolve-se conjunto de modelos gráficos. </a:t>
            </a:r>
            <a:r>
              <a:rPr lang="pt-BR" altLang="pt-BR" dirty="0" err="1" smtClean="0"/>
              <a:t>Ex</a:t>
            </a:r>
            <a:r>
              <a:rPr lang="pt-BR" altLang="pt-BR" dirty="0" smtClean="0"/>
              <a:t>: modelos de casos de uso que especificam o sistema, conjunto de modelos comportamentais do sistema</a:t>
            </a:r>
          </a:p>
          <a:p>
            <a:pPr algn="just" eaLnBrk="1" hangingPunct="1">
              <a:spcBef>
                <a:spcPct val="0"/>
              </a:spcBef>
            </a:pPr>
            <a:endParaRPr lang="pt-BR" altLang="pt-BR" dirty="0" smtClean="0"/>
          </a:p>
          <a:p>
            <a:pPr algn="just" eaLnBrk="1" hangingPunct="1">
              <a:spcBef>
                <a:spcPct val="0"/>
              </a:spcBef>
            </a:pPr>
            <a:r>
              <a:rPr lang="pt-BR" altLang="pt-BR" dirty="0" smtClean="0"/>
              <a:t>Anotam-se informações adicionais (</a:t>
            </a:r>
            <a:r>
              <a:rPr lang="pt-BR" altLang="pt-BR" dirty="0" err="1" smtClean="0"/>
              <a:t>Ex</a:t>
            </a:r>
            <a:r>
              <a:rPr lang="pt-BR" altLang="pt-BR" dirty="0" smtClean="0"/>
              <a:t>: desempenho ou a confiabilidade). </a:t>
            </a:r>
          </a:p>
        </p:txBody>
      </p:sp>
    </p:spTree>
    <p:extLst>
      <p:ext uri="{BB962C8B-B14F-4D97-AF65-F5344CB8AC3E}">
        <p14:creationId xmlns:p14="http://schemas.microsoft.com/office/powerpoint/2010/main" val="1950301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257FCA-66F0-47B4-A9FF-A3B43EC90751}" type="slidenum">
              <a:rPr lang="pt-PT" altLang="pt-BR" sz="1400"/>
              <a:pPr>
                <a:spcBef>
                  <a:spcPct val="0"/>
                </a:spcBef>
                <a:buFontTx/>
                <a:buNone/>
              </a:pPr>
              <a:t>46</a:t>
            </a:fld>
            <a:endParaRPr lang="pt-PT" altLang="pt-BR" sz="1400"/>
          </a:p>
        </p:txBody>
      </p:sp>
      <p:sp>
        <p:nvSpPr>
          <p:cNvPr id="251907" name="Rectangle 2"/>
          <p:cNvSpPr>
            <a:spLocks noGrp="1" noChangeArrowheads="1"/>
          </p:cNvSpPr>
          <p:nvPr>
            <p:ph type="ctrTitle"/>
          </p:nvPr>
        </p:nvSpPr>
        <p:spPr>
          <a:xfrm>
            <a:off x="1524001" y="1"/>
            <a:ext cx="9217025" cy="836613"/>
          </a:xfrm>
        </p:spPr>
        <p:txBody>
          <a:bodyPr anchor="ctr"/>
          <a:lstStyle/>
          <a:p>
            <a:pPr eaLnBrk="1" hangingPunct="1"/>
            <a:r>
              <a:rPr lang="pt-BR" altLang="pt-BR" sz="3600"/>
              <a:t>Processos de Engenharia de requisitos </a:t>
            </a:r>
            <a:endParaRPr lang="pt-PT" altLang="pt-BR" sz="3600"/>
          </a:p>
        </p:txBody>
      </p:sp>
      <p:sp>
        <p:nvSpPr>
          <p:cNvPr id="251908" name="Rectangle 3"/>
          <p:cNvSpPr>
            <a:spLocks noGrp="1" noChangeArrowheads="1"/>
          </p:cNvSpPr>
          <p:nvPr>
            <p:ph type="subTitle" idx="1"/>
          </p:nvPr>
        </p:nvSpPr>
        <p:spPr>
          <a:xfrm>
            <a:off x="232914" y="707366"/>
            <a:ext cx="11869946" cy="6393524"/>
          </a:xfrm>
        </p:spPr>
        <p:txBody>
          <a:bodyPr/>
          <a:lstStyle/>
          <a:p>
            <a:pPr algn="just" eaLnBrk="1" hangingPunct="1">
              <a:spcBef>
                <a:spcPct val="0"/>
              </a:spcBef>
            </a:pPr>
            <a:r>
              <a:rPr lang="pt-BR" altLang="pt-BR" dirty="0" smtClean="0"/>
              <a:t>Métodos estruturados tem papel a desempenhar no processo de engenharia de requisitos.</a:t>
            </a:r>
          </a:p>
          <a:p>
            <a:pPr algn="just" eaLnBrk="1" hangingPunct="1">
              <a:spcBef>
                <a:spcPct val="0"/>
              </a:spcBef>
            </a:pPr>
            <a:endParaRPr lang="pt-BR" altLang="pt-BR" dirty="0" smtClean="0"/>
          </a:p>
          <a:p>
            <a:pPr algn="just" eaLnBrk="1" hangingPunct="1">
              <a:spcBef>
                <a:spcPct val="0"/>
              </a:spcBef>
            </a:pPr>
            <a:r>
              <a:rPr lang="pt-BR" altLang="pt-BR" dirty="0" err="1" smtClean="0"/>
              <a:t>Elicitação</a:t>
            </a:r>
            <a:r>
              <a:rPr lang="pt-BR" altLang="pt-BR" dirty="0" smtClean="0"/>
              <a:t> de requisitos: atividade centrada em pessoas (não gostam de restrições impostas por modelos rígidos de sistema).</a:t>
            </a:r>
          </a:p>
          <a:p>
            <a:pPr algn="just" eaLnBrk="1" hangingPunct="1">
              <a:spcBef>
                <a:spcPct val="0"/>
              </a:spcBef>
            </a:pPr>
            <a:endParaRPr lang="pt-BR" altLang="pt-BR" dirty="0" smtClean="0"/>
          </a:p>
          <a:p>
            <a:pPr algn="just" eaLnBrk="1" hangingPunct="1">
              <a:spcBef>
                <a:spcPct val="0"/>
              </a:spcBef>
            </a:pPr>
            <a:r>
              <a:rPr lang="pt-BR" altLang="pt-BR" dirty="0"/>
              <a:t>R</a:t>
            </a:r>
            <a:r>
              <a:rPr lang="pt-BR" altLang="pt-BR" dirty="0" smtClean="0"/>
              <a:t>equisitos mudam em praticamente todos os sistemas. </a:t>
            </a:r>
          </a:p>
          <a:p>
            <a:pPr algn="just" eaLnBrk="1" hangingPunct="1">
              <a:spcBef>
                <a:spcPct val="0"/>
              </a:spcBef>
            </a:pPr>
            <a:endParaRPr lang="pt-BR" altLang="pt-BR" dirty="0" smtClean="0"/>
          </a:p>
          <a:p>
            <a:pPr algn="just" eaLnBrk="1" hangingPunct="1">
              <a:spcBef>
                <a:spcPct val="0"/>
              </a:spcBef>
            </a:pPr>
            <a:r>
              <a:rPr lang="pt-BR" altLang="pt-BR" dirty="0" smtClean="0"/>
              <a:t>As pessoas desenvolvem melhor compreensão do que querem do software</a:t>
            </a:r>
          </a:p>
          <a:p>
            <a:pPr algn="just" eaLnBrk="1" hangingPunct="1">
              <a:spcBef>
                <a:spcPct val="0"/>
              </a:spcBef>
            </a:pPr>
            <a:endParaRPr lang="pt-BR" altLang="pt-BR" dirty="0" smtClean="0"/>
          </a:p>
          <a:p>
            <a:pPr algn="just" eaLnBrk="1" hangingPunct="1">
              <a:spcBef>
                <a:spcPct val="0"/>
              </a:spcBef>
            </a:pPr>
            <a:r>
              <a:rPr lang="pt-BR" altLang="pt-BR" dirty="0" smtClean="0"/>
              <a:t>A organização que compra o sistema também muda</a:t>
            </a:r>
          </a:p>
          <a:p>
            <a:pPr algn="just" eaLnBrk="1" hangingPunct="1">
              <a:spcBef>
                <a:spcPct val="0"/>
              </a:spcBef>
            </a:pPr>
            <a:endParaRPr lang="pt-BR" altLang="pt-BR" dirty="0" smtClean="0"/>
          </a:p>
          <a:p>
            <a:pPr algn="just" eaLnBrk="1" hangingPunct="1">
              <a:spcBef>
                <a:spcPct val="0"/>
              </a:spcBef>
            </a:pPr>
            <a:r>
              <a:rPr lang="pt-BR" altLang="pt-BR" dirty="0" smtClean="0"/>
              <a:t>Modificações são feitas no hardware, no software e no ambiente organizacional do sistema. </a:t>
            </a:r>
          </a:p>
          <a:p>
            <a:pPr algn="just" eaLnBrk="1" hangingPunct="1">
              <a:spcBef>
                <a:spcPct val="0"/>
              </a:spcBef>
            </a:pPr>
            <a:endParaRPr lang="pt-BR" altLang="pt-BR" dirty="0" smtClean="0"/>
          </a:p>
          <a:p>
            <a:pPr algn="just" eaLnBrk="1" hangingPunct="1">
              <a:spcBef>
                <a:spcPct val="0"/>
              </a:spcBef>
            </a:pPr>
            <a:r>
              <a:rPr lang="pt-BR" altLang="pt-BR" dirty="0" smtClean="0"/>
              <a:t>Gerenciamento de requisitos: controla as mudanças nos requisitos</a:t>
            </a:r>
          </a:p>
        </p:txBody>
      </p:sp>
    </p:spTree>
    <p:extLst>
      <p:ext uri="{BB962C8B-B14F-4D97-AF65-F5344CB8AC3E}">
        <p14:creationId xmlns:p14="http://schemas.microsoft.com/office/powerpoint/2010/main" val="64582415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80608F-0DC0-4171-9187-1D71D1EBE07B}" type="slidenum">
              <a:rPr lang="pt-PT" altLang="pt-BR" sz="1400"/>
              <a:pPr>
                <a:spcBef>
                  <a:spcPct val="0"/>
                </a:spcBef>
                <a:buFontTx/>
                <a:buNone/>
              </a:pPr>
              <a:t>47</a:t>
            </a:fld>
            <a:endParaRPr lang="pt-PT" altLang="pt-BR" sz="1400"/>
          </a:p>
        </p:txBody>
      </p:sp>
      <p:sp>
        <p:nvSpPr>
          <p:cNvPr id="252931"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sp>
        <p:nvSpPr>
          <p:cNvPr id="252932" name="Rectangle 3"/>
          <p:cNvSpPr>
            <a:spLocks noGrp="1" noChangeArrowheads="1"/>
          </p:cNvSpPr>
          <p:nvPr>
            <p:ph type="subTitle" idx="1"/>
          </p:nvPr>
        </p:nvSpPr>
        <p:spPr>
          <a:xfrm>
            <a:off x="189782" y="1078302"/>
            <a:ext cx="11783682" cy="6022588"/>
          </a:xfrm>
        </p:spPr>
        <p:txBody>
          <a:bodyPr/>
          <a:lstStyle/>
          <a:p>
            <a:pPr algn="just" eaLnBrk="1" hangingPunct="1">
              <a:spcBef>
                <a:spcPct val="0"/>
              </a:spcBef>
            </a:pPr>
            <a:r>
              <a:rPr lang="pt-BR" altLang="pt-BR" dirty="0" err="1" smtClean="0"/>
              <a:t>Estagios</a:t>
            </a:r>
            <a:r>
              <a:rPr lang="pt-BR" altLang="pt-BR" dirty="0" smtClean="0"/>
              <a:t> do processo de engenharia de requisitos</a:t>
            </a:r>
          </a:p>
          <a:p>
            <a:pPr marL="457200" indent="-457200" algn="just" eaLnBrk="1" hangingPunct="1">
              <a:spcBef>
                <a:spcPct val="0"/>
              </a:spcBef>
              <a:buAutoNum type="arabicParenR"/>
            </a:pPr>
            <a:r>
              <a:rPr lang="pt-BR" altLang="pt-BR" dirty="0" smtClean="0"/>
              <a:t>estudo inicial de viabilidade</a:t>
            </a:r>
          </a:p>
          <a:p>
            <a:pPr marL="457200" indent="-457200" algn="just" eaLnBrk="1" hangingPunct="1">
              <a:spcBef>
                <a:spcPct val="0"/>
              </a:spcBef>
              <a:buAutoNum type="arabicParenR"/>
            </a:pPr>
            <a:r>
              <a:rPr lang="pt-BR" altLang="pt-BR" dirty="0" err="1" smtClean="0"/>
              <a:t>elicitação</a:t>
            </a:r>
            <a:r>
              <a:rPr lang="pt-BR" altLang="pt-BR" dirty="0" smtClean="0"/>
              <a:t> e análise de requisitos. </a:t>
            </a:r>
          </a:p>
          <a:p>
            <a:pPr algn="just" eaLnBrk="1" hangingPunct="1">
              <a:spcBef>
                <a:spcPct val="0"/>
              </a:spcBef>
            </a:pPr>
            <a:endParaRPr lang="pt-BR" altLang="pt-BR" dirty="0" smtClean="0"/>
          </a:p>
          <a:p>
            <a:pPr algn="just" eaLnBrk="1" hangingPunct="1">
              <a:spcBef>
                <a:spcPct val="0"/>
              </a:spcBef>
            </a:pPr>
            <a:r>
              <a:rPr lang="pt-BR" altLang="pt-BR" dirty="0" smtClean="0"/>
              <a:t>Na atividade 2, os engenheiros de software trabalham com clientes e usuários finais do sistema para obter informações sobre o domínio da aplicação, os serviços que o sistema deve oferecer, o desempenho do sistema, restrições de hardware e assim por diante. </a:t>
            </a:r>
          </a:p>
          <a:p>
            <a:pPr algn="just" eaLnBrk="1" hangingPunct="1">
              <a:spcBef>
                <a:spcPct val="0"/>
              </a:spcBef>
            </a:pPr>
            <a:endParaRPr lang="pt-BR" altLang="pt-BR" dirty="0" smtClean="0"/>
          </a:p>
          <a:p>
            <a:pPr algn="just" eaLnBrk="1" hangingPunct="1">
              <a:spcBef>
                <a:spcPct val="0"/>
              </a:spcBef>
            </a:pPr>
            <a:r>
              <a:rPr lang="pt-BR" altLang="pt-BR" dirty="0" err="1"/>
              <a:t>E</a:t>
            </a:r>
            <a:r>
              <a:rPr lang="pt-BR" altLang="pt-BR" dirty="0" err="1" smtClean="0"/>
              <a:t>licitação</a:t>
            </a:r>
            <a:r>
              <a:rPr lang="pt-BR" altLang="pt-BR" dirty="0" smtClean="0"/>
              <a:t> e análise de requisitos: processo iterativo, com feedback contínuo de cada atividade para as outras atividades. </a:t>
            </a:r>
          </a:p>
          <a:p>
            <a:pPr algn="just" eaLnBrk="1" hangingPunct="1">
              <a:spcBef>
                <a:spcPct val="0"/>
              </a:spcBef>
            </a:pPr>
            <a:r>
              <a:rPr lang="pt-BR" altLang="pt-BR" dirty="0"/>
              <a:t>C</a:t>
            </a:r>
            <a:r>
              <a:rPr lang="pt-BR" altLang="pt-BR" dirty="0" smtClean="0"/>
              <a:t>iclo do processo começa com a descoberta de requisitos e termina com sua documentação. </a:t>
            </a:r>
          </a:p>
          <a:p>
            <a:pPr algn="just" eaLnBrk="1" hangingPunct="1">
              <a:spcBef>
                <a:spcPct val="0"/>
              </a:spcBef>
            </a:pPr>
            <a:r>
              <a:rPr lang="pt-BR" altLang="pt-BR" dirty="0" smtClean="0"/>
              <a:t>O entendimento do analista de requisitos melhora a cada rodada do ciclo. Quando se completa o documento de requisitos, o ciclo termina.</a:t>
            </a:r>
          </a:p>
        </p:txBody>
      </p:sp>
    </p:spTree>
    <p:extLst>
      <p:ext uri="{BB962C8B-B14F-4D97-AF65-F5344CB8AC3E}">
        <p14:creationId xmlns:p14="http://schemas.microsoft.com/office/powerpoint/2010/main" val="4323252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7936097-67F1-4E74-A2BF-4873249BF902}" type="slidenum">
              <a:rPr lang="pt-PT" altLang="pt-BR" sz="1400"/>
              <a:pPr>
                <a:spcBef>
                  <a:spcPct val="0"/>
                </a:spcBef>
                <a:buFontTx/>
                <a:buNone/>
              </a:pPr>
              <a:t>48</a:t>
            </a:fld>
            <a:endParaRPr lang="pt-PT" altLang="pt-BR" sz="1400"/>
          </a:p>
        </p:txBody>
      </p:sp>
      <p:sp>
        <p:nvSpPr>
          <p:cNvPr id="253955"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pic>
        <p:nvPicPr>
          <p:cNvPr id="253956"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66989" y="1020763"/>
            <a:ext cx="6624637"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7" name="Rectangle 3"/>
          <p:cNvSpPr>
            <a:spLocks noGrp="1" noChangeArrowheads="1"/>
          </p:cNvSpPr>
          <p:nvPr>
            <p:ph type="subTitle" idx="1"/>
          </p:nvPr>
        </p:nvSpPr>
        <p:spPr>
          <a:xfrm>
            <a:off x="933062" y="836614"/>
            <a:ext cx="9713167" cy="6013449"/>
          </a:xfrm>
        </p:spPr>
        <p:txBody>
          <a:bodyPr/>
          <a:lstStyle/>
          <a:p>
            <a:pPr algn="just" eaLnBrk="1" hangingPunct="1">
              <a:spcBef>
                <a:spcPct val="0"/>
              </a:spcBef>
            </a:pPr>
            <a:endParaRPr lang="pt-BR" altLang="pt-BR" dirty="0" smtClean="0"/>
          </a:p>
        </p:txBody>
      </p:sp>
    </p:spTree>
    <p:extLst>
      <p:ext uri="{BB962C8B-B14F-4D97-AF65-F5344CB8AC3E}">
        <p14:creationId xmlns:p14="http://schemas.microsoft.com/office/powerpoint/2010/main" val="273141791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557335B-3B21-4887-93C3-258C40970FC6}" type="slidenum">
              <a:rPr lang="pt-PT" altLang="pt-BR" sz="1400"/>
              <a:pPr>
                <a:spcBef>
                  <a:spcPct val="0"/>
                </a:spcBef>
                <a:buFontTx/>
                <a:buNone/>
              </a:pPr>
              <a:t>49</a:t>
            </a:fld>
            <a:endParaRPr lang="pt-PT" altLang="pt-BR" sz="1400"/>
          </a:p>
        </p:txBody>
      </p:sp>
      <p:sp>
        <p:nvSpPr>
          <p:cNvPr id="254979"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sp>
        <p:nvSpPr>
          <p:cNvPr id="254980" name="Rectangle 3"/>
          <p:cNvSpPr>
            <a:spLocks noGrp="1" noChangeArrowheads="1"/>
          </p:cNvSpPr>
          <p:nvPr>
            <p:ph type="subTitle" idx="1"/>
          </p:nvPr>
        </p:nvSpPr>
        <p:spPr>
          <a:xfrm>
            <a:off x="163902" y="1017917"/>
            <a:ext cx="11749177" cy="6091600"/>
          </a:xfrm>
        </p:spPr>
        <p:txBody>
          <a:bodyPr/>
          <a:lstStyle/>
          <a:p>
            <a:pPr algn="just" eaLnBrk="1" hangingPunct="1">
              <a:spcBef>
                <a:spcPct val="0"/>
              </a:spcBef>
            </a:pPr>
            <a:r>
              <a:rPr lang="pt-BR" altLang="pt-BR" dirty="0" smtClean="0"/>
              <a:t>Envolve diversos tipos de pessoas em uma organização. </a:t>
            </a:r>
          </a:p>
          <a:p>
            <a:pPr algn="just" eaLnBrk="1" hangingPunct="1">
              <a:spcBef>
                <a:spcPct val="0"/>
              </a:spcBef>
            </a:pPr>
            <a:r>
              <a:rPr lang="pt-BR" altLang="pt-BR" dirty="0" err="1"/>
              <a:t>S</a:t>
            </a:r>
            <a:r>
              <a:rPr lang="pt-BR" altLang="pt-BR" dirty="0" err="1" smtClean="0"/>
              <a:t>takeholder</a:t>
            </a:r>
            <a:r>
              <a:rPr lang="pt-BR" altLang="pt-BR" dirty="0" smtClean="0"/>
              <a:t> do sistema: tem influência direta ou indireta sobre os requisitos do sistema. </a:t>
            </a:r>
          </a:p>
          <a:p>
            <a:pPr algn="just" eaLnBrk="1" hangingPunct="1">
              <a:spcBef>
                <a:spcPct val="0"/>
              </a:spcBef>
            </a:pPr>
            <a:endParaRPr lang="pt-BR" altLang="pt-BR" dirty="0" smtClean="0"/>
          </a:p>
          <a:p>
            <a:pPr algn="just" eaLnBrk="1" hangingPunct="1">
              <a:spcBef>
                <a:spcPct val="0"/>
              </a:spcBef>
            </a:pPr>
            <a:r>
              <a:rPr lang="pt-BR" altLang="pt-BR" dirty="0" err="1" smtClean="0"/>
              <a:t>Stakeholers</a:t>
            </a:r>
            <a:r>
              <a:rPr lang="pt-BR" altLang="pt-BR" dirty="0" smtClean="0"/>
              <a:t>:</a:t>
            </a:r>
          </a:p>
          <a:p>
            <a:pPr algn="just" eaLnBrk="1" hangingPunct="1">
              <a:spcBef>
                <a:spcPct val="0"/>
              </a:spcBef>
            </a:pPr>
            <a:endParaRPr lang="pt-BR" altLang="pt-BR" dirty="0"/>
          </a:p>
          <a:p>
            <a:pPr marL="342900" indent="-342900" algn="just" eaLnBrk="1" hangingPunct="1">
              <a:spcBef>
                <a:spcPct val="0"/>
              </a:spcBef>
              <a:buFont typeface="Arial" panose="020B0604020202020204" pitchFamily="34" charset="0"/>
              <a:buChar char="•"/>
            </a:pPr>
            <a:r>
              <a:rPr lang="pt-BR" altLang="pt-BR" dirty="0" smtClean="0"/>
              <a:t>usuários finais que irão interagir com o sistema e qualquer outra pessoa da organização que será afetada por ele</a:t>
            </a:r>
          </a:p>
          <a:p>
            <a:pPr marL="342900" indent="-342900" algn="just" eaLnBrk="1" hangingPunct="1">
              <a:spcBef>
                <a:spcPct val="0"/>
              </a:spcBef>
              <a:buFont typeface="Arial" panose="020B0604020202020204" pitchFamily="34" charset="0"/>
              <a:buChar char="•"/>
            </a:pPr>
            <a:r>
              <a:rPr lang="pt-BR" altLang="pt-BR" dirty="0" smtClean="0"/>
              <a:t>engenheiros que estão desenvolvendo ou mantendo outros sistemas relacionado</a:t>
            </a:r>
          </a:p>
          <a:p>
            <a:pPr marL="342900" indent="-342900" algn="just" eaLnBrk="1" hangingPunct="1">
              <a:spcBef>
                <a:spcPct val="0"/>
              </a:spcBef>
              <a:buFont typeface="Arial" panose="020B0604020202020204" pitchFamily="34" charset="0"/>
              <a:buChar char="•"/>
            </a:pPr>
            <a:r>
              <a:rPr lang="pt-BR" altLang="pt-BR" dirty="0" smtClean="0"/>
              <a:t>gerentes de negócios</a:t>
            </a:r>
          </a:p>
          <a:p>
            <a:pPr marL="342900" indent="-342900" algn="just" eaLnBrk="1" hangingPunct="1">
              <a:spcBef>
                <a:spcPct val="0"/>
              </a:spcBef>
              <a:buFont typeface="Arial" panose="020B0604020202020204" pitchFamily="34" charset="0"/>
              <a:buChar char="•"/>
            </a:pPr>
            <a:r>
              <a:rPr lang="pt-BR" altLang="pt-BR" dirty="0" smtClean="0"/>
              <a:t>especialistas de domínio</a:t>
            </a:r>
          </a:p>
          <a:p>
            <a:pPr marL="342900" indent="-342900" algn="just" eaLnBrk="1" hangingPunct="1">
              <a:spcBef>
                <a:spcPct val="0"/>
              </a:spcBef>
              <a:buFont typeface="Arial" panose="020B0604020202020204" pitchFamily="34" charset="0"/>
              <a:buChar char="•"/>
            </a:pPr>
            <a:r>
              <a:rPr lang="pt-BR" altLang="pt-BR" dirty="0" smtClean="0"/>
              <a:t>representantes sindicais.</a:t>
            </a:r>
          </a:p>
        </p:txBody>
      </p:sp>
    </p:spTree>
    <p:extLst>
      <p:ext uri="{BB962C8B-B14F-4D97-AF65-F5344CB8AC3E}">
        <p14:creationId xmlns:p14="http://schemas.microsoft.com/office/powerpoint/2010/main" val="25592581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28283E3-DE96-4EA6-AD3A-C23BBC180ED1}" type="slidenum">
              <a:rPr lang="pt-PT" altLang="pt-BR" sz="1400"/>
              <a:pPr>
                <a:spcBef>
                  <a:spcPct val="0"/>
                </a:spcBef>
                <a:buFontTx/>
                <a:buNone/>
              </a:pPr>
              <a:t>50</a:t>
            </a:fld>
            <a:endParaRPr lang="pt-PT" altLang="pt-BR" sz="1400"/>
          </a:p>
        </p:txBody>
      </p:sp>
      <p:sp>
        <p:nvSpPr>
          <p:cNvPr id="256003"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pic>
        <p:nvPicPr>
          <p:cNvPr id="256004"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05" name="Rectangle 3"/>
          <p:cNvSpPr>
            <a:spLocks noGrp="1" noChangeArrowheads="1"/>
          </p:cNvSpPr>
          <p:nvPr>
            <p:ph type="subTitle" idx="1"/>
          </p:nvPr>
        </p:nvSpPr>
        <p:spPr>
          <a:xfrm>
            <a:off x="1565276" y="1052514"/>
            <a:ext cx="9180513" cy="6048375"/>
          </a:xfrm>
        </p:spPr>
        <p:txBody>
          <a:bodyPr/>
          <a:lstStyle/>
          <a:p>
            <a:pPr algn="just" eaLnBrk="1" hangingPunct="1">
              <a:spcBef>
                <a:spcPct val="0"/>
              </a:spcBef>
            </a:pPr>
            <a:endParaRPr lang="pt-BR" altLang="pt-BR" smtClean="0"/>
          </a:p>
        </p:txBody>
      </p:sp>
    </p:spTree>
    <p:extLst>
      <p:ext uri="{BB962C8B-B14F-4D97-AF65-F5344CB8AC3E}">
        <p14:creationId xmlns:p14="http://schemas.microsoft.com/office/powerpoint/2010/main" val="211443641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292023A-7451-4916-A179-BCDF960A3DB4}" type="slidenum">
              <a:rPr lang="pt-PT" altLang="pt-BR" sz="1400"/>
              <a:pPr>
                <a:spcBef>
                  <a:spcPct val="0"/>
                </a:spcBef>
                <a:buFontTx/>
                <a:buNone/>
              </a:pPr>
              <a:t>51</a:t>
            </a:fld>
            <a:endParaRPr lang="pt-PT" altLang="pt-BR" sz="1400"/>
          </a:p>
        </p:txBody>
      </p:sp>
      <p:sp>
        <p:nvSpPr>
          <p:cNvPr id="257027"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sp>
        <p:nvSpPr>
          <p:cNvPr id="257028" name="Rectangle 3"/>
          <p:cNvSpPr>
            <a:spLocks noGrp="1" noChangeArrowheads="1"/>
          </p:cNvSpPr>
          <p:nvPr>
            <p:ph type="subTitle" idx="1"/>
          </p:nvPr>
        </p:nvSpPr>
        <p:spPr>
          <a:xfrm>
            <a:off x="155275" y="836614"/>
            <a:ext cx="11800935" cy="6264275"/>
          </a:xfrm>
        </p:spPr>
        <p:txBody>
          <a:bodyPr/>
          <a:lstStyle/>
          <a:p>
            <a:pPr algn="just" eaLnBrk="1" hangingPunct="1">
              <a:spcBef>
                <a:spcPct val="0"/>
              </a:spcBef>
            </a:pPr>
            <a:r>
              <a:rPr lang="pt-BR" altLang="pt-BR" dirty="0" smtClean="0"/>
              <a:t>Atividades do processo:</a:t>
            </a:r>
          </a:p>
          <a:p>
            <a:pPr algn="just" eaLnBrk="1" hangingPunct="1">
              <a:spcBef>
                <a:spcPct val="0"/>
              </a:spcBef>
            </a:pPr>
            <a:r>
              <a:rPr lang="pt-BR" altLang="pt-BR" dirty="0" smtClean="0"/>
              <a:t>1.Descoberta de requisitos: interação com os </a:t>
            </a:r>
            <a:r>
              <a:rPr lang="pt-BR" altLang="pt-BR" dirty="0" err="1" smtClean="0"/>
              <a:t>stakeholders</a:t>
            </a:r>
            <a:r>
              <a:rPr lang="pt-BR" altLang="pt-BR" dirty="0" smtClean="0"/>
              <a:t> para descobrir </a:t>
            </a:r>
            <a:r>
              <a:rPr lang="pt-BR" altLang="pt-BR" dirty="0"/>
              <a:t>o</a:t>
            </a:r>
            <a:r>
              <a:rPr lang="pt-BR" altLang="pt-BR" dirty="0" smtClean="0"/>
              <a:t>s requisitos. </a:t>
            </a:r>
          </a:p>
          <a:p>
            <a:pPr algn="just" eaLnBrk="1" hangingPunct="1">
              <a:spcBef>
                <a:spcPct val="0"/>
              </a:spcBef>
            </a:pPr>
            <a:endParaRPr lang="pt-BR" altLang="pt-BR" dirty="0"/>
          </a:p>
          <a:p>
            <a:pPr algn="just" eaLnBrk="1" hangingPunct="1">
              <a:spcBef>
                <a:spcPct val="0"/>
              </a:spcBef>
            </a:pPr>
            <a:r>
              <a:rPr lang="pt-BR" altLang="pt-BR" dirty="0" smtClean="0"/>
              <a:t>2. Classificação e organização de requisitos: levantamento de requisitos não estruturados, agrupamento de requisitos relacionados e organização em grupos coerentes. Agrupar requisitos: uso de modelo de arquitetura do sistema para identificar e associar requisitos aos subsistemas. Engenharia de requisitos e projeto da arquitetura não podem ser atividades completamente separadas. </a:t>
            </a:r>
          </a:p>
          <a:p>
            <a:pPr algn="just" eaLnBrk="1" hangingPunct="1">
              <a:spcBef>
                <a:spcPct val="0"/>
              </a:spcBef>
            </a:pPr>
            <a:endParaRPr lang="pt-BR" altLang="pt-BR" dirty="0" smtClean="0"/>
          </a:p>
          <a:p>
            <a:pPr algn="just" eaLnBrk="1" hangingPunct="1">
              <a:spcBef>
                <a:spcPct val="0"/>
              </a:spcBef>
            </a:pPr>
            <a:r>
              <a:rPr lang="pt-BR" altLang="pt-BR" dirty="0" smtClean="0"/>
              <a:t>3. Priorização e negociação de requisitos: vários </a:t>
            </a:r>
            <a:r>
              <a:rPr lang="pt-BR" altLang="pt-BR" dirty="0" err="1" smtClean="0"/>
              <a:t>stakeholders</a:t>
            </a:r>
            <a:r>
              <a:rPr lang="pt-BR" altLang="pt-BR" dirty="0" smtClean="0"/>
              <a:t>, requisitos em conflito: negociação de requisitos</a:t>
            </a:r>
          </a:p>
          <a:p>
            <a:pPr algn="just" eaLnBrk="1" hangingPunct="1">
              <a:spcBef>
                <a:spcPct val="0"/>
              </a:spcBef>
            </a:pPr>
            <a:endParaRPr lang="pt-BR" altLang="pt-BR" dirty="0" smtClean="0"/>
          </a:p>
          <a:p>
            <a:pPr algn="just" eaLnBrk="1" hangingPunct="1">
              <a:spcBef>
                <a:spcPct val="0"/>
              </a:spcBef>
            </a:pPr>
            <a:r>
              <a:rPr lang="pt-BR" altLang="pt-BR" dirty="0" smtClean="0"/>
              <a:t>4. Especificação de requisitos: requisitos são documentados e inseridos no próximo ciclo da espiral. Documentos formais ou informais de requisitos podem ser produzidos.</a:t>
            </a:r>
          </a:p>
        </p:txBody>
      </p:sp>
    </p:spTree>
    <p:extLst>
      <p:ext uri="{BB962C8B-B14F-4D97-AF65-F5344CB8AC3E}">
        <p14:creationId xmlns:p14="http://schemas.microsoft.com/office/powerpoint/2010/main" val="52936496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A1A674B-4A0E-4501-9DBF-E25FA6C96D63}" type="slidenum">
              <a:rPr lang="pt-PT" altLang="pt-BR" sz="1400"/>
              <a:pPr>
                <a:spcBef>
                  <a:spcPct val="0"/>
                </a:spcBef>
                <a:buFontTx/>
                <a:buNone/>
              </a:pPr>
              <a:t>52</a:t>
            </a:fld>
            <a:endParaRPr lang="pt-PT" altLang="pt-BR" sz="1400"/>
          </a:p>
        </p:txBody>
      </p:sp>
      <p:sp>
        <p:nvSpPr>
          <p:cNvPr id="258051"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sp>
        <p:nvSpPr>
          <p:cNvPr id="258052" name="Rectangle 3"/>
          <p:cNvSpPr>
            <a:spLocks noGrp="1" noChangeArrowheads="1"/>
          </p:cNvSpPr>
          <p:nvPr>
            <p:ph type="subTitle" idx="1"/>
          </p:nvPr>
        </p:nvSpPr>
        <p:spPr>
          <a:xfrm>
            <a:off x="1" y="836614"/>
            <a:ext cx="12192000" cy="6264276"/>
          </a:xfrm>
        </p:spPr>
        <p:txBody>
          <a:bodyPr/>
          <a:lstStyle/>
          <a:p>
            <a:pPr algn="just" eaLnBrk="1" hangingPunct="1">
              <a:spcBef>
                <a:spcPct val="0"/>
              </a:spcBef>
            </a:pPr>
            <a:r>
              <a:rPr lang="pt-BR" altLang="pt-BR" dirty="0" err="1" smtClean="0"/>
              <a:t>Elicitar</a:t>
            </a:r>
            <a:r>
              <a:rPr lang="pt-BR" altLang="pt-BR" dirty="0" smtClean="0"/>
              <a:t> e compreender os requisitos dos </a:t>
            </a:r>
            <a:r>
              <a:rPr lang="pt-BR" altLang="pt-BR" dirty="0" err="1" smtClean="0"/>
              <a:t>stakeholders</a:t>
            </a:r>
            <a:r>
              <a:rPr lang="pt-BR" altLang="pt-BR" dirty="0" smtClean="0"/>
              <a:t> do sistema é um processo difícil por várias razões:</a:t>
            </a:r>
          </a:p>
          <a:p>
            <a:pPr algn="just" eaLnBrk="1" hangingPunct="1">
              <a:spcBef>
                <a:spcPct val="0"/>
              </a:spcBef>
            </a:pPr>
            <a:r>
              <a:rPr lang="pt-BR" altLang="pt-BR" dirty="0" smtClean="0"/>
              <a:t>1.Stakeholders não sabem o que querem de um sistema computacional; podem fazer exigências inviáveis. </a:t>
            </a:r>
          </a:p>
          <a:p>
            <a:pPr algn="just" eaLnBrk="1" hangingPunct="1">
              <a:spcBef>
                <a:spcPct val="0"/>
              </a:spcBef>
            </a:pPr>
            <a:endParaRPr lang="pt-BR" altLang="pt-BR" dirty="0" smtClean="0"/>
          </a:p>
          <a:p>
            <a:pPr algn="just" eaLnBrk="1" hangingPunct="1">
              <a:spcBef>
                <a:spcPct val="0"/>
              </a:spcBef>
            </a:pPr>
            <a:r>
              <a:rPr lang="pt-BR" altLang="pt-BR" dirty="0" smtClean="0"/>
              <a:t>2.Stakeholders expressam requisitos com o conhecimento implícito de seu trabalho. Engenheiros de requisitos, sem experiência no domínio do cliente, podem não entender. </a:t>
            </a:r>
          </a:p>
          <a:p>
            <a:pPr algn="just" eaLnBrk="1" hangingPunct="1">
              <a:spcBef>
                <a:spcPct val="0"/>
              </a:spcBef>
            </a:pPr>
            <a:endParaRPr lang="pt-BR" altLang="pt-BR" dirty="0" smtClean="0"/>
          </a:p>
          <a:p>
            <a:pPr algn="just" eaLnBrk="1" hangingPunct="1">
              <a:spcBef>
                <a:spcPct val="0"/>
              </a:spcBef>
            </a:pPr>
            <a:r>
              <a:rPr lang="pt-BR" altLang="pt-BR" dirty="0" smtClean="0"/>
              <a:t>3.Diferentes </a:t>
            </a:r>
            <a:r>
              <a:rPr lang="pt-BR" altLang="pt-BR" dirty="0" err="1" smtClean="0"/>
              <a:t>stakeholders</a:t>
            </a:r>
            <a:r>
              <a:rPr lang="pt-BR" altLang="pt-BR" dirty="0" smtClean="0"/>
              <a:t>, requisitos diferentes. Expressam diferenças de várias maneiras. Engenheiros de requisitos precisam descobrir as potenciais fontes de requisitos e descobrir as semelhanças e conflitos. </a:t>
            </a:r>
          </a:p>
          <a:p>
            <a:pPr algn="just" eaLnBrk="1" hangingPunct="1">
              <a:spcBef>
                <a:spcPct val="0"/>
              </a:spcBef>
            </a:pPr>
            <a:endParaRPr lang="pt-BR" altLang="pt-BR" dirty="0" smtClean="0"/>
          </a:p>
          <a:p>
            <a:pPr algn="just">
              <a:spcBef>
                <a:spcPct val="0"/>
              </a:spcBef>
            </a:pPr>
            <a:r>
              <a:rPr lang="pt-BR" altLang="pt-BR" dirty="0"/>
              <a:t>4. Fatores políticos influenciam os requisitos de um sistema. Os gerentes podem exigir requisitos específicos, pois podem aumentar sua influência na organização. </a:t>
            </a:r>
            <a:endParaRPr lang="pt-BR" altLang="pt-BR" dirty="0" smtClean="0"/>
          </a:p>
          <a:p>
            <a:pPr algn="just">
              <a:spcBef>
                <a:spcPct val="0"/>
              </a:spcBef>
            </a:pPr>
            <a:endParaRPr lang="pt-BR" altLang="pt-BR" dirty="0"/>
          </a:p>
          <a:p>
            <a:pPr algn="just">
              <a:spcBef>
                <a:spcPct val="0"/>
              </a:spcBef>
            </a:pPr>
            <a:r>
              <a:rPr lang="pt-BR" altLang="pt-BR" dirty="0"/>
              <a:t>5. Ambiente econômico e empresarial </a:t>
            </a:r>
            <a:r>
              <a:rPr lang="pt-BR" altLang="pt-BR" dirty="0" smtClean="0"/>
              <a:t>com análise dinâmica.  </a:t>
            </a:r>
            <a:r>
              <a:rPr lang="pt-BR" altLang="pt-BR" dirty="0"/>
              <a:t>Mudanças são inevitáveis. A importância dos requisitos específicos pode mudar. Novos requisitos podem surgir a partir de novos </a:t>
            </a:r>
            <a:r>
              <a:rPr lang="pt-BR" altLang="pt-BR" dirty="0" err="1"/>
              <a:t>stakeholders</a:t>
            </a:r>
            <a:r>
              <a:rPr lang="pt-BR" altLang="pt-BR" dirty="0"/>
              <a:t> que não foram inicialmente consultados.</a:t>
            </a:r>
          </a:p>
          <a:p>
            <a:pPr algn="just" eaLnBrk="1" hangingPunct="1">
              <a:spcBef>
                <a:spcPct val="0"/>
              </a:spcBef>
            </a:pPr>
            <a:endParaRPr lang="pt-BR" altLang="pt-BR" dirty="0" smtClean="0"/>
          </a:p>
        </p:txBody>
      </p:sp>
    </p:spTree>
    <p:extLst>
      <p:ext uri="{BB962C8B-B14F-4D97-AF65-F5344CB8AC3E}">
        <p14:creationId xmlns:p14="http://schemas.microsoft.com/office/powerpoint/2010/main" val="35205974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31C9C0B-88B5-4480-BDB8-FBA2D0310361}" type="slidenum">
              <a:rPr lang="pt-PT" altLang="pt-BR" sz="1400"/>
              <a:pPr>
                <a:spcBef>
                  <a:spcPct val="0"/>
                </a:spcBef>
                <a:buFontTx/>
                <a:buNone/>
              </a:pPr>
              <a:t>53</a:t>
            </a:fld>
            <a:endParaRPr lang="pt-PT" altLang="pt-BR" sz="1400"/>
          </a:p>
        </p:txBody>
      </p:sp>
      <p:sp>
        <p:nvSpPr>
          <p:cNvPr id="260099" name="Rectangle 2"/>
          <p:cNvSpPr>
            <a:spLocks noGrp="1" noChangeArrowheads="1"/>
          </p:cNvSpPr>
          <p:nvPr>
            <p:ph type="ctrTitle"/>
          </p:nvPr>
        </p:nvSpPr>
        <p:spPr>
          <a:xfrm>
            <a:off x="1524001" y="1"/>
            <a:ext cx="9217025" cy="836613"/>
          </a:xfrm>
        </p:spPr>
        <p:txBody>
          <a:bodyPr anchor="ctr"/>
          <a:lstStyle/>
          <a:p>
            <a:pPr eaLnBrk="1" hangingPunct="1"/>
            <a:r>
              <a:rPr lang="pt-BR" altLang="pt-BR" sz="3600"/>
              <a:t>Elicitação e análise de requisitos </a:t>
            </a:r>
            <a:endParaRPr lang="pt-PT" altLang="pt-BR" sz="3600"/>
          </a:p>
        </p:txBody>
      </p:sp>
      <p:sp>
        <p:nvSpPr>
          <p:cNvPr id="260100" name="Rectangle 3"/>
          <p:cNvSpPr>
            <a:spLocks noGrp="1" noChangeArrowheads="1"/>
          </p:cNvSpPr>
          <p:nvPr>
            <p:ph type="subTitle" idx="1"/>
          </p:nvPr>
        </p:nvSpPr>
        <p:spPr>
          <a:xfrm>
            <a:off x="60385" y="836614"/>
            <a:ext cx="12051101" cy="6264276"/>
          </a:xfrm>
        </p:spPr>
        <p:txBody>
          <a:bodyPr/>
          <a:lstStyle/>
          <a:p>
            <a:pPr algn="just" eaLnBrk="1" hangingPunct="1">
              <a:spcBef>
                <a:spcPct val="0"/>
              </a:spcBef>
            </a:pPr>
            <a:r>
              <a:rPr lang="pt-BR" altLang="pt-BR" dirty="0" smtClean="0"/>
              <a:t>Estágio de especificação de requisitos: documentar os que foram </a:t>
            </a:r>
            <a:r>
              <a:rPr lang="pt-BR" altLang="pt-BR" dirty="0" err="1" smtClean="0"/>
              <a:t>elicitados</a:t>
            </a:r>
            <a:r>
              <a:rPr lang="pt-BR" altLang="pt-BR" dirty="0" smtClean="0"/>
              <a:t> até o momento para ajudar na descoberta de novos requisitos. </a:t>
            </a:r>
          </a:p>
          <a:p>
            <a:pPr algn="just" eaLnBrk="1" hangingPunct="1">
              <a:spcBef>
                <a:spcPct val="0"/>
              </a:spcBef>
            </a:pPr>
            <a:endParaRPr lang="pt-BR" altLang="pt-BR" dirty="0" smtClean="0"/>
          </a:p>
          <a:p>
            <a:pPr algn="just" eaLnBrk="1" hangingPunct="1">
              <a:spcBef>
                <a:spcPct val="0"/>
              </a:spcBef>
            </a:pPr>
            <a:r>
              <a:rPr lang="pt-BR" altLang="pt-BR" dirty="0" smtClean="0"/>
              <a:t>Produz-se versão inicial do documento de requisitos do sistema com seções faltantes e requisitos incompletos. </a:t>
            </a:r>
          </a:p>
          <a:p>
            <a:pPr algn="just" eaLnBrk="1" hangingPunct="1">
              <a:spcBef>
                <a:spcPct val="0"/>
              </a:spcBef>
            </a:pPr>
            <a:endParaRPr lang="pt-BR" altLang="pt-BR" dirty="0" smtClean="0"/>
          </a:p>
          <a:p>
            <a:pPr algn="just" eaLnBrk="1" hangingPunct="1">
              <a:spcBef>
                <a:spcPct val="0"/>
              </a:spcBef>
            </a:pPr>
            <a:r>
              <a:rPr lang="pt-BR" altLang="pt-BR" dirty="0" smtClean="0"/>
              <a:t>Como alternativa, os requisitos podem ser documentados de uma forma completamente diferente (em uma planilha ou em cartões). </a:t>
            </a:r>
          </a:p>
          <a:p>
            <a:pPr algn="just" eaLnBrk="1" hangingPunct="1">
              <a:spcBef>
                <a:spcPct val="0"/>
              </a:spcBef>
            </a:pPr>
            <a:endParaRPr lang="pt-BR" altLang="pt-BR" dirty="0"/>
          </a:p>
          <a:p>
            <a:pPr algn="just" eaLnBrk="1" hangingPunct="1">
              <a:spcBef>
                <a:spcPct val="0"/>
              </a:spcBef>
            </a:pPr>
            <a:r>
              <a:rPr lang="pt-BR" altLang="pt-BR" dirty="0"/>
              <a:t>R</a:t>
            </a:r>
            <a:r>
              <a:rPr lang="pt-BR" altLang="pt-BR" dirty="0" smtClean="0"/>
              <a:t>equisitos em cartões podem ser eficazes: fáceis para os </a:t>
            </a:r>
            <a:r>
              <a:rPr lang="pt-BR" altLang="pt-BR" dirty="0" err="1" smtClean="0"/>
              <a:t>stakeholders</a:t>
            </a:r>
            <a:r>
              <a:rPr lang="pt-BR" altLang="pt-BR" dirty="0" smtClean="0"/>
              <a:t> lidarem, mudarem e organizarem</a:t>
            </a:r>
          </a:p>
        </p:txBody>
      </p:sp>
    </p:spTree>
    <p:extLst>
      <p:ext uri="{BB962C8B-B14F-4D97-AF65-F5344CB8AC3E}">
        <p14:creationId xmlns:p14="http://schemas.microsoft.com/office/powerpoint/2010/main" val="10571140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D1FC4E1-17B5-4B5A-A569-EE149D65D302}" type="slidenum">
              <a:rPr lang="pt-PT" altLang="pt-BR" sz="1400"/>
              <a:pPr>
                <a:spcBef>
                  <a:spcPct val="0"/>
                </a:spcBef>
                <a:buFontTx/>
                <a:buNone/>
              </a:pPr>
              <a:t>54</a:t>
            </a:fld>
            <a:endParaRPr lang="pt-PT" altLang="pt-BR" sz="1400"/>
          </a:p>
        </p:txBody>
      </p:sp>
      <p:sp>
        <p:nvSpPr>
          <p:cNvPr id="26112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1124" name="Rectangle 3"/>
          <p:cNvSpPr>
            <a:spLocks noGrp="1" noChangeArrowheads="1"/>
          </p:cNvSpPr>
          <p:nvPr>
            <p:ph type="subTitle" idx="1"/>
          </p:nvPr>
        </p:nvSpPr>
        <p:spPr>
          <a:xfrm>
            <a:off x="0" y="1009291"/>
            <a:ext cx="12068355" cy="6091599"/>
          </a:xfrm>
        </p:spPr>
        <p:txBody>
          <a:bodyPr/>
          <a:lstStyle/>
          <a:p>
            <a:pPr algn="just" eaLnBrk="1" hangingPunct="1">
              <a:spcBef>
                <a:spcPct val="0"/>
              </a:spcBef>
            </a:pPr>
            <a:r>
              <a:rPr lang="pt-BR" altLang="pt-BR" dirty="0" smtClean="0"/>
              <a:t>A descoberta de requisitos ou </a:t>
            </a:r>
            <a:r>
              <a:rPr lang="pt-BR" altLang="pt-BR" dirty="0" err="1" smtClean="0"/>
              <a:t>elicitação</a:t>
            </a:r>
            <a:r>
              <a:rPr lang="pt-BR" altLang="pt-BR" dirty="0" smtClean="0"/>
              <a:t> de requisitos: </a:t>
            </a:r>
          </a:p>
          <a:p>
            <a:pPr algn="just" eaLnBrk="1" hangingPunct="1">
              <a:spcBef>
                <a:spcPct val="0"/>
              </a:spcBef>
            </a:pPr>
            <a:endParaRPr lang="pt-BR" altLang="pt-BR" dirty="0"/>
          </a:p>
          <a:p>
            <a:pPr algn="just" eaLnBrk="1" hangingPunct="1">
              <a:spcBef>
                <a:spcPct val="0"/>
              </a:spcBef>
            </a:pPr>
            <a:r>
              <a:rPr lang="pt-BR" altLang="pt-BR" dirty="0" smtClean="0"/>
              <a:t>processo de reunir informações sobre o sistema requerido e os sistemas existentes e separar dessas informações os requisitos de usuário e de sistema. </a:t>
            </a:r>
          </a:p>
          <a:p>
            <a:pPr algn="just" eaLnBrk="1" hangingPunct="1">
              <a:spcBef>
                <a:spcPct val="0"/>
              </a:spcBef>
            </a:pPr>
            <a:endParaRPr lang="pt-BR" altLang="pt-BR" dirty="0" smtClean="0"/>
          </a:p>
          <a:p>
            <a:pPr algn="just" eaLnBrk="1" hangingPunct="1">
              <a:spcBef>
                <a:spcPct val="0"/>
              </a:spcBef>
            </a:pPr>
            <a:r>
              <a:rPr lang="pt-BR" altLang="pt-BR" dirty="0" smtClean="0"/>
              <a:t>Fontes de informação durante a fase de descoberta de requisitos: documentação, </a:t>
            </a:r>
            <a:r>
              <a:rPr lang="pt-BR" altLang="pt-BR" dirty="0" err="1" smtClean="0"/>
              <a:t>stakeholders</a:t>
            </a:r>
            <a:r>
              <a:rPr lang="pt-BR" altLang="pt-BR" dirty="0" smtClean="0"/>
              <a:t> do sistema e especificações de sistemas similares. </a:t>
            </a:r>
          </a:p>
          <a:p>
            <a:pPr algn="just" eaLnBrk="1" hangingPunct="1">
              <a:spcBef>
                <a:spcPct val="0"/>
              </a:spcBef>
            </a:pPr>
            <a:endParaRPr lang="pt-BR" altLang="pt-BR" dirty="0" smtClean="0"/>
          </a:p>
          <a:p>
            <a:pPr algn="just" eaLnBrk="1" hangingPunct="1">
              <a:spcBef>
                <a:spcPct val="0"/>
              </a:spcBef>
            </a:pPr>
            <a:r>
              <a:rPr lang="pt-BR" altLang="pt-BR" dirty="0" smtClean="0"/>
              <a:t>Interação com os </a:t>
            </a:r>
            <a:r>
              <a:rPr lang="pt-BR" altLang="pt-BR" dirty="0" err="1" smtClean="0"/>
              <a:t>stakeholders</a:t>
            </a:r>
            <a:r>
              <a:rPr lang="pt-BR" altLang="pt-BR" dirty="0" smtClean="0"/>
              <a:t> – ajuda-os a compreenderem o sistema: observação, entrevistas, cenários e protótipos</a:t>
            </a:r>
          </a:p>
        </p:txBody>
      </p:sp>
    </p:spTree>
    <p:extLst>
      <p:ext uri="{BB962C8B-B14F-4D97-AF65-F5344CB8AC3E}">
        <p14:creationId xmlns:p14="http://schemas.microsoft.com/office/powerpoint/2010/main" val="15829332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C621322-34D4-4AC2-960C-1B381DB7BE11}" type="slidenum">
              <a:rPr lang="pt-PT" altLang="pt-BR" sz="1400"/>
              <a:pPr>
                <a:spcBef>
                  <a:spcPct val="0"/>
                </a:spcBef>
                <a:buFontTx/>
                <a:buNone/>
              </a:pPr>
              <a:t>55</a:t>
            </a:fld>
            <a:endParaRPr lang="pt-PT" altLang="pt-BR" sz="1400"/>
          </a:p>
        </p:txBody>
      </p:sp>
      <p:sp>
        <p:nvSpPr>
          <p:cNvPr id="26214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2148" name="Rectangle 3"/>
          <p:cNvSpPr>
            <a:spLocks noGrp="1" noChangeArrowheads="1"/>
          </p:cNvSpPr>
          <p:nvPr>
            <p:ph type="subTitle" idx="1"/>
          </p:nvPr>
        </p:nvSpPr>
        <p:spPr>
          <a:xfrm>
            <a:off x="198408" y="715992"/>
            <a:ext cx="11766430" cy="6384897"/>
          </a:xfrm>
        </p:spPr>
        <p:txBody>
          <a:bodyPr/>
          <a:lstStyle/>
          <a:p>
            <a:pPr algn="just" eaLnBrk="1" hangingPunct="1">
              <a:spcBef>
                <a:spcPct val="0"/>
              </a:spcBef>
            </a:pPr>
            <a:r>
              <a:rPr lang="pt-BR" altLang="pt-BR" dirty="0" err="1"/>
              <a:t>S</a:t>
            </a:r>
            <a:r>
              <a:rPr lang="pt-BR" altLang="pt-BR" dirty="0" err="1" smtClean="0"/>
              <a:t>takeholders</a:t>
            </a:r>
            <a:r>
              <a:rPr lang="pt-BR" altLang="pt-BR" dirty="0" smtClean="0"/>
              <a:t>: usuários finais, gerentes do sistema, </a:t>
            </a:r>
            <a:r>
              <a:rPr lang="pt-BR" altLang="pt-BR" dirty="0" err="1" smtClean="0"/>
              <a:t>stakeholders</a:t>
            </a:r>
            <a:r>
              <a:rPr lang="pt-BR" altLang="pt-BR" dirty="0" smtClean="0"/>
              <a:t> externos (reguladores, que certificam a aceitabilidade do sistema). </a:t>
            </a:r>
          </a:p>
          <a:p>
            <a:pPr algn="just" eaLnBrk="1" hangingPunct="1">
              <a:spcBef>
                <a:spcPct val="0"/>
              </a:spcBef>
            </a:pPr>
            <a:endParaRPr lang="pt-BR" altLang="pt-BR" dirty="0" smtClean="0"/>
          </a:p>
          <a:p>
            <a:pPr algn="just" eaLnBrk="1" hangingPunct="1">
              <a:spcBef>
                <a:spcPct val="0"/>
              </a:spcBef>
            </a:pPr>
            <a:r>
              <a:rPr lang="pt-BR" altLang="pt-BR" dirty="0" err="1" smtClean="0"/>
              <a:t>Ex</a:t>
            </a:r>
            <a:r>
              <a:rPr lang="pt-BR" altLang="pt-BR" dirty="0" smtClean="0"/>
              <a:t>: </a:t>
            </a:r>
            <a:r>
              <a:rPr lang="pt-BR" altLang="pt-BR" dirty="0" err="1" smtClean="0"/>
              <a:t>stakeholders</a:t>
            </a:r>
            <a:r>
              <a:rPr lang="pt-BR" altLang="pt-BR" dirty="0" smtClean="0"/>
              <a:t> do sistema de informação da saúde mental de pacientes incluem:</a:t>
            </a:r>
          </a:p>
          <a:p>
            <a:pPr algn="just" eaLnBrk="1" hangingPunct="1">
              <a:spcBef>
                <a:spcPct val="0"/>
              </a:spcBef>
            </a:pPr>
            <a:endParaRPr lang="pt-BR" altLang="pt-BR" dirty="0" smtClean="0"/>
          </a:p>
          <a:p>
            <a:pPr algn="just" eaLnBrk="1" hangingPunct="1">
              <a:spcBef>
                <a:spcPct val="0"/>
              </a:spcBef>
            </a:pPr>
            <a:r>
              <a:rPr lang="pt-BR" altLang="pt-BR" dirty="0" smtClean="0"/>
              <a:t>1.Pacientes: informações estão registradas no sistema.</a:t>
            </a:r>
          </a:p>
          <a:p>
            <a:pPr algn="just" eaLnBrk="1" hangingPunct="1">
              <a:spcBef>
                <a:spcPct val="0"/>
              </a:spcBef>
            </a:pPr>
            <a:r>
              <a:rPr lang="pt-BR" altLang="pt-BR" dirty="0" smtClean="0"/>
              <a:t>2. Médicos: responsáveis pela avaliação e tratamento dos pacientes. </a:t>
            </a:r>
          </a:p>
          <a:p>
            <a:pPr algn="just" eaLnBrk="1" hangingPunct="1">
              <a:spcBef>
                <a:spcPct val="0"/>
              </a:spcBef>
            </a:pPr>
            <a:r>
              <a:rPr lang="pt-BR" altLang="pt-BR" dirty="0" smtClean="0"/>
              <a:t>3. Enfermeiros: alinhados com os médicos, coordenam as consultas e administram tratamentos. </a:t>
            </a:r>
          </a:p>
          <a:p>
            <a:pPr algn="just" eaLnBrk="1" hangingPunct="1">
              <a:spcBef>
                <a:spcPct val="0"/>
              </a:spcBef>
            </a:pPr>
            <a:r>
              <a:rPr lang="pt-BR" altLang="pt-BR" dirty="0" smtClean="0"/>
              <a:t>4. Recepcionistas dos médicos: gerenciam as consultas dos pacientes. </a:t>
            </a:r>
          </a:p>
          <a:p>
            <a:pPr algn="just" eaLnBrk="1" hangingPunct="1">
              <a:spcBef>
                <a:spcPct val="0"/>
              </a:spcBef>
            </a:pPr>
            <a:r>
              <a:rPr lang="pt-BR" altLang="pt-BR" dirty="0" smtClean="0"/>
              <a:t>5. Equipe de TI: instalação e manutenção do sistema.</a:t>
            </a:r>
          </a:p>
          <a:p>
            <a:pPr algn="just" eaLnBrk="1" hangingPunct="1">
              <a:spcBef>
                <a:spcPct val="0"/>
              </a:spcBef>
            </a:pPr>
            <a:r>
              <a:rPr lang="pt-BR" altLang="pt-BR" dirty="0" smtClean="0"/>
              <a:t>6. Gerente de ética médica: garantir que o sistema atenda às diretrizes éticas atuais no atendimento ao paciente.</a:t>
            </a:r>
          </a:p>
          <a:p>
            <a:pPr algn="just" eaLnBrk="1" hangingPunct="1">
              <a:spcBef>
                <a:spcPct val="0"/>
              </a:spcBef>
            </a:pPr>
            <a:r>
              <a:rPr lang="pt-BR" altLang="pt-BR" dirty="0" smtClean="0"/>
              <a:t>7. Gerentes de saúde: informações de gerenciamento a partir do sistema. </a:t>
            </a:r>
          </a:p>
          <a:p>
            <a:pPr algn="just" eaLnBrk="1" hangingPunct="1">
              <a:spcBef>
                <a:spcPct val="0"/>
              </a:spcBef>
            </a:pPr>
            <a:r>
              <a:rPr lang="pt-BR" altLang="pt-BR" dirty="0" smtClean="0"/>
              <a:t>8. Equipe de registros médicos: garantir que as informações do sistema sejam mantidas e preservadas, e que os procedimentos de manutenção dos registros sejam devidamente implementados</a:t>
            </a:r>
          </a:p>
        </p:txBody>
      </p:sp>
    </p:spTree>
    <p:extLst>
      <p:ext uri="{BB962C8B-B14F-4D97-AF65-F5344CB8AC3E}">
        <p14:creationId xmlns:p14="http://schemas.microsoft.com/office/powerpoint/2010/main" val="235420308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0C2D940-D5FB-4BF5-AD1D-1039392C5DD1}" type="slidenum">
              <a:rPr lang="pt-PT" altLang="pt-BR" sz="1400"/>
              <a:pPr>
                <a:spcBef>
                  <a:spcPct val="0"/>
                </a:spcBef>
                <a:buFontTx/>
                <a:buNone/>
              </a:pPr>
              <a:t>56</a:t>
            </a:fld>
            <a:endParaRPr lang="pt-PT" altLang="pt-BR" sz="1400"/>
          </a:p>
        </p:txBody>
      </p:sp>
      <p:sp>
        <p:nvSpPr>
          <p:cNvPr id="26317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3172" name="Rectangle 3"/>
          <p:cNvSpPr>
            <a:spLocks noGrp="1" noChangeArrowheads="1"/>
          </p:cNvSpPr>
          <p:nvPr>
            <p:ph type="subTitle" idx="1"/>
          </p:nvPr>
        </p:nvSpPr>
        <p:spPr>
          <a:xfrm>
            <a:off x="120770" y="836614"/>
            <a:ext cx="11749177" cy="6264275"/>
          </a:xfrm>
        </p:spPr>
        <p:txBody>
          <a:bodyPr/>
          <a:lstStyle/>
          <a:p>
            <a:pPr algn="just" eaLnBrk="1" hangingPunct="1">
              <a:spcBef>
                <a:spcPct val="0"/>
              </a:spcBef>
            </a:pPr>
            <a:r>
              <a:rPr lang="pt-BR" altLang="pt-BR" dirty="0" smtClean="0"/>
              <a:t>Entrevistas</a:t>
            </a:r>
          </a:p>
          <a:p>
            <a:pPr algn="just" eaLnBrk="1" hangingPunct="1">
              <a:spcBef>
                <a:spcPct val="0"/>
              </a:spcBef>
            </a:pPr>
            <a:endParaRPr lang="pt-BR" altLang="pt-BR" dirty="0" smtClean="0"/>
          </a:p>
          <a:p>
            <a:pPr algn="just" eaLnBrk="1" hangingPunct="1">
              <a:spcBef>
                <a:spcPct val="0"/>
              </a:spcBef>
            </a:pPr>
            <a:r>
              <a:rPr lang="pt-BR" altLang="pt-BR" dirty="0" smtClean="0"/>
              <a:t>Formais ou informais com os </a:t>
            </a:r>
            <a:r>
              <a:rPr lang="pt-BR" altLang="pt-BR" dirty="0" err="1" smtClean="0"/>
              <a:t>stakeholders</a:t>
            </a:r>
            <a:r>
              <a:rPr lang="pt-BR" altLang="pt-BR" dirty="0" smtClean="0"/>
              <a:t> do sistema: usadas na maioria dos processos de engenharia de requisitos. </a:t>
            </a:r>
          </a:p>
          <a:p>
            <a:pPr algn="just" eaLnBrk="1" hangingPunct="1">
              <a:spcBef>
                <a:spcPct val="0"/>
              </a:spcBef>
            </a:pPr>
            <a:endParaRPr lang="pt-BR" altLang="pt-BR" dirty="0" smtClean="0"/>
          </a:p>
          <a:p>
            <a:pPr algn="just" eaLnBrk="1" hangingPunct="1">
              <a:spcBef>
                <a:spcPct val="0"/>
              </a:spcBef>
            </a:pPr>
            <a:r>
              <a:rPr lang="pt-BR" altLang="pt-BR" dirty="0" smtClean="0"/>
              <a:t>Equipe de engenharia de requisitos questiona os </a:t>
            </a:r>
            <a:r>
              <a:rPr lang="pt-BR" altLang="pt-BR" dirty="0" err="1" smtClean="0"/>
              <a:t>stakeholders</a:t>
            </a:r>
            <a:r>
              <a:rPr lang="pt-BR" altLang="pt-BR" dirty="0" smtClean="0"/>
              <a:t> sobre o sistema que usam no momento e sobre o sistema que será desenvolvido. </a:t>
            </a:r>
          </a:p>
          <a:p>
            <a:pPr algn="just" eaLnBrk="1" hangingPunct="1">
              <a:spcBef>
                <a:spcPct val="0"/>
              </a:spcBef>
            </a:pPr>
            <a:endParaRPr lang="pt-BR" altLang="pt-BR" dirty="0" smtClean="0"/>
          </a:p>
          <a:p>
            <a:pPr algn="just" eaLnBrk="1" hangingPunct="1">
              <a:spcBef>
                <a:spcPct val="0"/>
              </a:spcBef>
            </a:pPr>
            <a:endParaRPr lang="pt-BR" altLang="pt-BR" dirty="0" smtClean="0"/>
          </a:p>
          <a:p>
            <a:pPr algn="just" eaLnBrk="1" hangingPunct="1">
              <a:spcBef>
                <a:spcPct val="0"/>
              </a:spcBef>
            </a:pPr>
            <a:r>
              <a:rPr lang="pt-BR" altLang="pt-BR" dirty="0" smtClean="0"/>
              <a:t>Dois tipos: </a:t>
            </a:r>
          </a:p>
          <a:p>
            <a:pPr algn="just" eaLnBrk="1" hangingPunct="1">
              <a:spcBef>
                <a:spcPct val="0"/>
              </a:spcBef>
            </a:pPr>
            <a:r>
              <a:rPr lang="pt-BR" altLang="pt-BR" dirty="0" smtClean="0"/>
              <a:t>1.Entrevistas fechadas: </a:t>
            </a:r>
            <a:r>
              <a:rPr lang="pt-BR" altLang="pt-BR" dirty="0" err="1" smtClean="0"/>
              <a:t>stakeholder</a:t>
            </a:r>
            <a:r>
              <a:rPr lang="pt-BR" altLang="pt-BR" dirty="0" smtClean="0"/>
              <a:t> responde a um conjunto predefinido de perguntas.</a:t>
            </a:r>
          </a:p>
          <a:p>
            <a:pPr algn="just" eaLnBrk="1" hangingPunct="1">
              <a:spcBef>
                <a:spcPct val="0"/>
              </a:spcBef>
            </a:pPr>
            <a:r>
              <a:rPr lang="pt-BR" altLang="pt-BR" dirty="0" smtClean="0"/>
              <a:t>2.Entrevistas abertas: não existe uma agenda predefinida. A equipe de engenharia de requisitos explora uma série de questões com os </a:t>
            </a:r>
            <a:r>
              <a:rPr lang="pt-BR" altLang="pt-BR" dirty="0" err="1" smtClean="0"/>
              <a:t>stakeholders</a:t>
            </a:r>
            <a:r>
              <a:rPr lang="pt-BR" altLang="pt-BR" dirty="0" smtClean="0"/>
              <a:t> do sistema para desenvolver uma melhor compreensão de suas necessidades.</a:t>
            </a:r>
          </a:p>
        </p:txBody>
      </p:sp>
    </p:spTree>
    <p:extLst>
      <p:ext uri="{BB962C8B-B14F-4D97-AF65-F5344CB8AC3E}">
        <p14:creationId xmlns:p14="http://schemas.microsoft.com/office/powerpoint/2010/main" val="24607805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9A2C3A9-2F3E-4C20-96E8-6EF6DDD82201}" type="slidenum">
              <a:rPr lang="pt-PT" altLang="pt-BR" sz="1400"/>
              <a:pPr>
                <a:spcBef>
                  <a:spcPct val="0"/>
                </a:spcBef>
                <a:buFontTx/>
                <a:buNone/>
              </a:pPr>
              <a:t>57</a:t>
            </a:fld>
            <a:endParaRPr lang="pt-PT" altLang="pt-BR" sz="1400"/>
          </a:p>
        </p:txBody>
      </p:sp>
      <p:sp>
        <p:nvSpPr>
          <p:cNvPr id="26419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4196" name="Rectangle 3"/>
          <p:cNvSpPr>
            <a:spLocks noGrp="1" noChangeArrowheads="1"/>
          </p:cNvSpPr>
          <p:nvPr>
            <p:ph type="subTitle" idx="1"/>
          </p:nvPr>
        </p:nvSpPr>
        <p:spPr>
          <a:xfrm>
            <a:off x="129396" y="836614"/>
            <a:ext cx="11947585" cy="6264275"/>
          </a:xfrm>
        </p:spPr>
        <p:txBody>
          <a:bodyPr/>
          <a:lstStyle/>
          <a:p>
            <a:pPr algn="just" eaLnBrk="1" hangingPunct="1">
              <a:spcBef>
                <a:spcPct val="0"/>
              </a:spcBef>
            </a:pPr>
            <a:r>
              <a:rPr lang="pt-BR" altLang="pt-BR" dirty="0" smtClean="0"/>
              <a:t>Entrevistas</a:t>
            </a:r>
          </a:p>
          <a:p>
            <a:pPr algn="just" eaLnBrk="1" hangingPunct="1">
              <a:spcBef>
                <a:spcPct val="0"/>
              </a:spcBef>
            </a:pPr>
            <a:endParaRPr lang="pt-BR" altLang="pt-BR" dirty="0" smtClean="0"/>
          </a:p>
          <a:p>
            <a:pPr algn="just" eaLnBrk="1" hangingPunct="1">
              <a:spcBef>
                <a:spcPct val="0"/>
              </a:spcBef>
            </a:pPr>
            <a:r>
              <a:rPr lang="pt-BR" altLang="pt-BR" dirty="0" smtClean="0"/>
              <a:t>Entrevistas com os </a:t>
            </a:r>
            <a:r>
              <a:rPr lang="pt-BR" altLang="pt-BR" dirty="0" err="1" smtClean="0"/>
              <a:t>stakeholders</a:t>
            </a:r>
            <a:r>
              <a:rPr lang="pt-BR" altLang="pt-BR" dirty="0" smtClean="0"/>
              <a:t>: mistura de ambos os tipos.</a:t>
            </a:r>
          </a:p>
          <a:p>
            <a:pPr algn="just" eaLnBrk="1" hangingPunct="1">
              <a:spcBef>
                <a:spcPct val="0"/>
              </a:spcBef>
            </a:pPr>
            <a:r>
              <a:rPr lang="pt-BR" altLang="pt-BR" dirty="0" smtClean="0"/>
              <a:t>Pode-se obter a resposta a determinadas questões, mas é comum que estas levem a outras, discutidas de forma menos estruturada. </a:t>
            </a:r>
          </a:p>
          <a:p>
            <a:pPr algn="just" eaLnBrk="1" hangingPunct="1">
              <a:spcBef>
                <a:spcPct val="0"/>
              </a:spcBef>
            </a:pPr>
            <a:r>
              <a:rPr lang="pt-BR" altLang="pt-BR" dirty="0" smtClean="0"/>
              <a:t>Discussões totalmente abertas raramente funcionam bem. </a:t>
            </a:r>
          </a:p>
          <a:p>
            <a:pPr algn="just" eaLnBrk="1" hangingPunct="1">
              <a:spcBef>
                <a:spcPct val="0"/>
              </a:spcBef>
            </a:pPr>
            <a:r>
              <a:rPr lang="pt-BR" altLang="pt-BR" dirty="0" smtClean="0"/>
              <a:t>Deve-se fazer algumas perguntas para começar e manter a entrevista centrada no sistema que será desenvolvido. </a:t>
            </a:r>
          </a:p>
          <a:p>
            <a:pPr algn="just" eaLnBrk="1" hangingPunct="1">
              <a:spcBef>
                <a:spcPct val="0"/>
              </a:spcBef>
            </a:pPr>
            <a:r>
              <a:rPr lang="pt-BR" altLang="pt-BR" dirty="0" smtClean="0"/>
              <a:t>Entrevistas são boas para obter uma compreensão global sobre o que os </a:t>
            </a:r>
            <a:r>
              <a:rPr lang="pt-BR" altLang="pt-BR" dirty="0" err="1" smtClean="0"/>
              <a:t>stakeholders</a:t>
            </a:r>
            <a:r>
              <a:rPr lang="pt-BR" altLang="pt-BR" dirty="0" smtClean="0"/>
              <a:t> fazem, como eles podem interagir com o novo sistema e as dificuldades que eles enfrentam com os sistemas atuais. </a:t>
            </a:r>
          </a:p>
          <a:p>
            <a:pPr algn="just" eaLnBrk="1" hangingPunct="1">
              <a:spcBef>
                <a:spcPct val="0"/>
              </a:spcBef>
            </a:pPr>
            <a:r>
              <a:rPr lang="pt-BR" altLang="pt-BR" dirty="0" smtClean="0"/>
              <a:t>As pessoas gostam de falar sobre seus trabalhos e geralmente ficam felizes de se envolver em entrevistas. </a:t>
            </a:r>
          </a:p>
          <a:p>
            <a:pPr algn="just" eaLnBrk="1" hangingPunct="1">
              <a:spcBef>
                <a:spcPct val="0"/>
              </a:spcBef>
            </a:pPr>
            <a:r>
              <a:rPr lang="pt-BR" altLang="pt-BR" dirty="0" smtClean="0"/>
              <a:t>As entrevistas não são tão úteis na compreensão dos requisitos do domínio da aplicação.</a:t>
            </a:r>
          </a:p>
        </p:txBody>
      </p:sp>
    </p:spTree>
    <p:extLst>
      <p:ext uri="{BB962C8B-B14F-4D97-AF65-F5344CB8AC3E}">
        <p14:creationId xmlns:p14="http://schemas.microsoft.com/office/powerpoint/2010/main" val="14474461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B26D45F-CC77-4B9F-AAD8-F27FA2701B17}" type="slidenum">
              <a:rPr lang="pt-PT" altLang="pt-BR" sz="1400"/>
              <a:pPr>
                <a:spcBef>
                  <a:spcPct val="0"/>
                </a:spcBef>
                <a:buFontTx/>
                <a:buNone/>
              </a:pPr>
              <a:t>58</a:t>
            </a:fld>
            <a:endParaRPr lang="pt-PT" altLang="pt-BR" sz="1400"/>
          </a:p>
        </p:txBody>
      </p:sp>
      <p:sp>
        <p:nvSpPr>
          <p:cNvPr id="26521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5220" name="Rectangle 3"/>
          <p:cNvSpPr>
            <a:spLocks noGrp="1" noChangeArrowheads="1"/>
          </p:cNvSpPr>
          <p:nvPr>
            <p:ph type="subTitle" idx="1"/>
          </p:nvPr>
        </p:nvSpPr>
        <p:spPr>
          <a:xfrm>
            <a:off x="94892" y="992037"/>
            <a:ext cx="12007968" cy="6108851"/>
          </a:xfrm>
        </p:spPr>
        <p:txBody>
          <a:bodyPr/>
          <a:lstStyle/>
          <a:p>
            <a:pPr algn="just" eaLnBrk="1" hangingPunct="1">
              <a:spcBef>
                <a:spcPct val="0"/>
              </a:spcBef>
            </a:pPr>
            <a:r>
              <a:rPr lang="pt-BR" altLang="pt-BR" dirty="0" smtClean="0"/>
              <a:t>Entrevistas</a:t>
            </a:r>
          </a:p>
          <a:p>
            <a:pPr algn="just" eaLnBrk="1" hangingPunct="1">
              <a:spcBef>
                <a:spcPct val="0"/>
              </a:spcBef>
            </a:pPr>
            <a:endParaRPr lang="pt-BR" altLang="pt-BR" dirty="0" smtClean="0"/>
          </a:p>
          <a:p>
            <a:pPr algn="just" eaLnBrk="1" hangingPunct="1">
              <a:spcBef>
                <a:spcPct val="0"/>
              </a:spcBef>
            </a:pPr>
            <a:r>
              <a:rPr lang="pt-BR" altLang="pt-BR" dirty="0" smtClean="0"/>
              <a:t>Pode ser difícil </a:t>
            </a:r>
            <a:r>
              <a:rPr lang="pt-BR" altLang="pt-BR" dirty="0" err="1" smtClean="0"/>
              <a:t>elicitar</a:t>
            </a:r>
            <a:r>
              <a:rPr lang="pt-BR" altLang="pt-BR" dirty="0" smtClean="0"/>
              <a:t> conhecimento do domínio por meio de entrevistas por duas razões: </a:t>
            </a:r>
          </a:p>
          <a:p>
            <a:pPr algn="just" eaLnBrk="1" hangingPunct="1">
              <a:spcBef>
                <a:spcPct val="0"/>
              </a:spcBef>
            </a:pPr>
            <a:endParaRPr lang="pt-BR" altLang="pt-BR" dirty="0" smtClean="0"/>
          </a:p>
          <a:p>
            <a:pPr algn="just" eaLnBrk="1" hangingPunct="1">
              <a:spcBef>
                <a:spcPct val="0"/>
              </a:spcBef>
            </a:pPr>
            <a:r>
              <a:rPr lang="pt-BR" altLang="pt-BR" dirty="0" smtClean="0"/>
              <a:t>1.Especialistas em aplicações usam terminologias e jargões específicos. Para eles, é impossível discutir os requisitos de domínio sem essa terminologia. Usam de forma precisa e sutil, o que dificulta a compreensão dos engenheiros de requisitos. </a:t>
            </a:r>
          </a:p>
          <a:p>
            <a:pPr algn="just" eaLnBrk="1" hangingPunct="1">
              <a:spcBef>
                <a:spcPct val="0"/>
              </a:spcBef>
            </a:pPr>
            <a:endParaRPr lang="pt-BR" altLang="pt-BR" dirty="0" smtClean="0"/>
          </a:p>
          <a:p>
            <a:pPr algn="just" eaLnBrk="1" hangingPunct="1">
              <a:spcBef>
                <a:spcPct val="0"/>
              </a:spcBef>
            </a:pPr>
            <a:r>
              <a:rPr lang="pt-BR" altLang="pt-BR" dirty="0" smtClean="0"/>
              <a:t>2. O conhecimento de domínio é tão familiar aos </a:t>
            </a:r>
            <a:r>
              <a:rPr lang="pt-BR" altLang="pt-BR" dirty="0" err="1" smtClean="0"/>
              <a:t>stakeholders</a:t>
            </a:r>
            <a:r>
              <a:rPr lang="pt-BR" altLang="pt-BR" dirty="0" smtClean="0"/>
              <a:t> que eles têm dificuldade de explicá-lo, ou pensam que é tão fundamental que não vale a pena mencionar. </a:t>
            </a:r>
            <a:r>
              <a:rPr lang="pt-BR" altLang="pt-BR" dirty="0" err="1" smtClean="0"/>
              <a:t>Ex</a:t>
            </a:r>
            <a:r>
              <a:rPr lang="pt-BR" altLang="pt-BR" dirty="0" smtClean="0"/>
              <a:t>: para um bibliotecário, não é necessário dizer que todas as aquisições são catalogadas antes de serem adicionadas à biblioteca. No entanto, isso pode não ser óbvio para o entrevistador, e acaba não sendo levado em conta nos requisitos.</a:t>
            </a:r>
          </a:p>
        </p:txBody>
      </p:sp>
    </p:spTree>
    <p:extLst>
      <p:ext uri="{BB962C8B-B14F-4D97-AF65-F5344CB8AC3E}">
        <p14:creationId xmlns:p14="http://schemas.microsoft.com/office/powerpoint/2010/main" val="31771629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EA3136D-6709-4FD0-950B-119652FDE71C}" type="slidenum">
              <a:rPr lang="pt-PT" altLang="pt-BR" sz="1400"/>
              <a:pPr>
                <a:spcBef>
                  <a:spcPct val="0"/>
                </a:spcBef>
                <a:buFontTx/>
                <a:buNone/>
              </a:pPr>
              <a:t>59</a:t>
            </a:fld>
            <a:endParaRPr lang="pt-PT" altLang="pt-BR" sz="1400"/>
          </a:p>
        </p:txBody>
      </p:sp>
      <p:sp>
        <p:nvSpPr>
          <p:cNvPr id="26624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6244" name="Rectangle 3"/>
          <p:cNvSpPr>
            <a:spLocks noGrp="1" noChangeArrowheads="1"/>
          </p:cNvSpPr>
          <p:nvPr>
            <p:ph type="subTitle" idx="1"/>
          </p:nvPr>
        </p:nvSpPr>
        <p:spPr>
          <a:xfrm>
            <a:off x="69011" y="707366"/>
            <a:ext cx="12122989" cy="6367645"/>
          </a:xfrm>
        </p:spPr>
        <p:txBody>
          <a:bodyPr/>
          <a:lstStyle/>
          <a:p>
            <a:pPr algn="just" eaLnBrk="1" hangingPunct="1">
              <a:spcBef>
                <a:spcPct val="0"/>
              </a:spcBef>
            </a:pPr>
            <a:r>
              <a:rPr lang="pt-BR" altLang="pt-BR" dirty="0" smtClean="0"/>
              <a:t>Entrevistas</a:t>
            </a:r>
          </a:p>
          <a:p>
            <a:pPr algn="just" eaLnBrk="1" hangingPunct="1">
              <a:spcBef>
                <a:spcPct val="0"/>
              </a:spcBef>
            </a:pPr>
            <a:endParaRPr lang="pt-BR" altLang="pt-BR" dirty="0" smtClean="0"/>
          </a:p>
          <a:p>
            <a:pPr algn="just" eaLnBrk="1" hangingPunct="1">
              <a:spcBef>
                <a:spcPct val="0"/>
              </a:spcBef>
            </a:pPr>
            <a:r>
              <a:rPr lang="pt-BR" altLang="pt-BR" dirty="0" smtClean="0"/>
              <a:t>Não são eficazes para a </a:t>
            </a:r>
            <a:r>
              <a:rPr lang="pt-BR" altLang="pt-BR" dirty="0" err="1" smtClean="0"/>
              <a:t>elicitação</a:t>
            </a:r>
            <a:r>
              <a:rPr lang="pt-BR" altLang="pt-BR" dirty="0" smtClean="0"/>
              <a:t> do conhecimento sobre os requisitos e restrições organizacionais: entre as diferentes pessoas da organização, existem sutis relações de poder. </a:t>
            </a:r>
          </a:p>
          <a:p>
            <a:pPr algn="just" eaLnBrk="1" hangingPunct="1">
              <a:spcBef>
                <a:spcPct val="0"/>
              </a:spcBef>
            </a:pPr>
            <a:endParaRPr lang="pt-BR" altLang="pt-BR" dirty="0" smtClean="0"/>
          </a:p>
          <a:p>
            <a:pPr algn="just" eaLnBrk="1" hangingPunct="1">
              <a:spcBef>
                <a:spcPct val="0"/>
              </a:spcBef>
            </a:pPr>
            <a:r>
              <a:rPr lang="pt-BR" altLang="pt-BR" dirty="0" smtClean="0"/>
              <a:t>Estruturas organizacionais raramente correspondem à realidade do processo de tomada de decisão em uma organização, mas os entrevistados podem preferir não revelar a estrutura real, e sim a estrutura teórica. A maioria das pessoas é relutante em discutir questões políticas e organizacionais que podem afetar os requisitos. </a:t>
            </a:r>
          </a:p>
          <a:p>
            <a:pPr algn="just" eaLnBrk="1" hangingPunct="1">
              <a:spcBef>
                <a:spcPct val="0"/>
              </a:spcBef>
            </a:pPr>
            <a:endParaRPr lang="pt-BR" altLang="pt-BR" dirty="0"/>
          </a:p>
          <a:p>
            <a:pPr algn="just">
              <a:spcBef>
                <a:spcPct val="0"/>
              </a:spcBef>
            </a:pPr>
            <a:r>
              <a:rPr lang="pt-BR" altLang="pt-BR" dirty="0"/>
              <a:t>Entrevistadores eficazes têm duas características: </a:t>
            </a:r>
          </a:p>
          <a:p>
            <a:pPr algn="just">
              <a:spcBef>
                <a:spcPct val="0"/>
              </a:spcBef>
            </a:pPr>
            <a:endParaRPr lang="pt-BR" altLang="pt-BR" dirty="0"/>
          </a:p>
          <a:p>
            <a:pPr algn="just">
              <a:spcBef>
                <a:spcPct val="0"/>
              </a:spcBef>
            </a:pPr>
            <a:r>
              <a:rPr lang="pt-BR" altLang="pt-BR" dirty="0"/>
              <a:t>1.Abertos a novas ideias, evitam ideias preconcebidas sobre os requisitos e </a:t>
            </a:r>
            <a:r>
              <a:rPr lang="pt-BR" altLang="pt-BR" dirty="0" smtClean="0"/>
              <a:t>ouvem </a:t>
            </a:r>
            <a:r>
              <a:rPr lang="pt-BR" altLang="pt-BR" dirty="0"/>
              <a:t>os </a:t>
            </a:r>
            <a:r>
              <a:rPr lang="pt-BR" altLang="pt-BR" dirty="0" err="1"/>
              <a:t>stakeholders</a:t>
            </a:r>
            <a:r>
              <a:rPr lang="pt-BR" altLang="pt-BR" dirty="0"/>
              <a:t>. Mesmo que o </a:t>
            </a:r>
            <a:r>
              <a:rPr lang="pt-BR" altLang="pt-BR" dirty="0" err="1"/>
              <a:t>stakeholder</a:t>
            </a:r>
            <a:r>
              <a:rPr lang="pt-BR" altLang="pt-BR" dirty="0"/>
              <a:t> apresente requisitos-surpresa, eles estão dispostos a mudar </a:t>
            </a:r>
            <a:r>
              <a:rPr lang="pt-BR" altLang="pt-BR" dirty="0" smtClean="0"/>
              <a:t>a </a:t>
            </a:r>
            <a:r>
              <a:rPr lang="pt-BR" altLang="pt-BR" dirty="0"/>
              <a:t>ideia sobre o sistema.</a:t>
            </a:r>
          </a:p>
          <a:p>
            <a:pPr algn="just">
              <a:spcBef>
                <a:spcPct val="0"/>
              </a:spcBef>
            </a:pPr>
            <a:r>
              <a:rPr lang="pt-BR" altLang="pt-BR" dirty="0"/>
              <a:t> 2. Estimulam o entrevistado a participar de </a:t>
            </a:r>
            <a:r>
              <a:rPr lang="pt-BR" altLang="pt-BR" dirty="0" smtClean="0"/>
              <a:t>discussões, </a:t>
            </a:r>
            <a:r>
              <a:rPr lang="pt-BR" altLang="pt-BR" dirty="0"/>
              <a:t>d</a:t>
            </a:r>
            <a:r>
              <a:rPr lang="pt-BR" altLang="pt-BR" dirty="0" smtClean="0"/>
              <a:t>a </a:t>
            </a:r>
            <a:r>
              <a:rPr lang="pt-BR" altLang="pt-BR" dirty="0"/>
              <a:t>proposta de requisitos ou </a:t>
            </a:r>
            <a:r>
              <a:rPr lang="pt-BR" altLang="pt-BR" dirty="0" smtClean="0"/>
              <a:t>do trabalho </a:t>
            </a:r>
            <a:r>
              <a:rPr lang="pt-BR" altLang="pt-BR" dirty="0"/>
              <a:t>em conjunto </a:t>
            </a:r>
            <a:r>
              <a:rPr lang="pt-BR" altLang="pt-BR" dirty="0" smtClean="0"/>
              <a:t>com </a:t>
            </a:r>
            <a:r>
              <a:rPr lang="pt-BR" altLang="pt-BR" dirty="0"/>
              <a:t>protótipo do sistema. </a:t>
            </a:r>
            <a:r>
              <a:rPr lang="pt-BR" altLang="pt-BR" dirty="0" smtClean="0"/>
              <a:t>Dizer </a:t>
            </a:r>
            <a:r>
              <a:rPr lang="pt-BR" altLang="pt-BR" dirty="0"/>
              <a:t>às </a:t>
            </a:r>
            <a:r>
              <a:rPr lang="pt-BR" altLang="pt-BR" dirty="0" smtClean="0"/>
              <a:t>pessoas: </a:t>
            </a:r>
            <a:r>
              <a:rPr lang="pt-BR" altLang="pt-BR" dirty="0"/>
              <a:t>“diga-me o que quiser</a:t>
            </a:r>
            <a:r>
              <a:rPr lang="pt-BR" altLang="pt-BR" dirty="0" smtClean="0"/>
              <a:t>”, não resulta </a:t>
            </a:r>
            <a:r>
              <a:rPr lang="pt-BR" altLang="pt-BR" dirty="0"/>
              <a:t>em informações úteis. </a:t>
            </a:r>
            <a:r>
              <a:rPr lang="pt-BR" altLang="pt-BR" dirty="0" smtClean="0"/>
              <a:t>Deve-se </a:t>
            </a:r>
            <a:r>
              <a:rPr lang="pt-BR" altLang="pt-BR" dirty="0"/>
              <a:t>falar em um contexto </a:t>
            </a:r>
            <a:r>
              <a:rPr lang="pt-BR" altLang="pt-BR" dirty="0" smtClean="0"/>
              <a:t>definido e não </a:t>
            </a:r>
            <a:r>
              <a:rPr lang="pt-BR" altLang="pt-BR" dirty="0"/>
              <a:t>em termos gerais.</a:t>
            </a:r>
          </a:p>
          <a:p>
            <a:pPr algn="just" eaLnBrk="1" hangingPunct="1">
              <a:spcBef>
                <a:spcPct val="0"/>
              </a:spcBef>
            </a:pPr>
            <a:endParaRPr lang="pt-BR" altLang="pt-BR" dirty="0" smtClean="0"/>
          </a:p>
        </p:txBody>
      </p:sp>
    </p:spTree>
    <p:extLst>
      <p:ext uri="{BB962C8B-B14F-4D97-AF65-F5344CB8AC3E}">
        <p14:creationId xmlns:p14="http://schemas.microsoft.com/office/powerpoint/2010/main" val="158595243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8F629DE-7461-464D-9926-E4BF05EC3DBF}" type="slidenum">
              <a:rPr lang="pt-PT" altLang="pt-BR" sz="1400"/>
              <a:pPr>
                <a:spcBef>
                  <a:spcPct val="0"/>
                </a:spcBef>
                <a:buFontTx/>
                <a:buNone/>
              </a:pPr>
              <a:t>60</a:t>
            </a:fld>
            <a:endParaRPr lang="pt-PT" altLang="pt-BR" sz="1400"/>
          </a:p>
        </p:txBody>
      </p:sp>
      <p:sp>
        <p:nvSpPr>
          <p:cNvPr id="2682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8292" name="Rectangle 3"/>
          <p:cNvSpPr>
            <a:spLocks noGrp="1" noChangeArrowheads="1"/>
          </p:cNvSpPr>
          <p:nvPr>
            <p:ph type="subTitle" idx="1"/>
          </p:nvPr>
        </p:nvSpPr>
        <p:spPr>
          <a:xfrm>
            <a:off x="146650" y="672860"/>
            <a:ext cx="12045350" cy="6428029"/>
          </a:xfrm>
        </p:spPr>
        <p:txBody>
          <a:bodyPr/>
          <a:lstStyle/>
          <a:p>
            <a:pPr algn="just" eaLnBrk="1" hangingPunct="1">
              <a:spcBef>
                <a:spcPct val="0"/>
              </a:spcBef>
            </a:pPr>
            <a:r>
              <a:rPr lang="pt-BR" altLang="pt-BR" dirty="0" smtClean="0"/>
              <a:t>Entrevistas</a:t>
            </a:r>
          </a:p>
          <a:p>
            <a:pPr algn="just" eaLnBrk="1" hangingPunct="1">
              <a:spcBef>
                <a:spcPct val="0"/>
              </a:spcBef>
            </a:pPr>
            <a:endParaRPr lang="pt-BR" altLang="pt-BR" dirty="0" smtClean="0"/>
          </a:p>
          <a:p>
            <a:pPr algn="just" eaLnBrk="1" hangingPunct="1">
              <a:spcBef>
                <a:spcPct val="0"/>
              </a:spcBef>
            </a:pPr>
            <a:r>
              <a:rPr lang="pt-BR" altLang="pt-BR" dirty="0" smtClean="0"/>
              <a:t>Informações recolhidas em entrevistas suplementam outras informações sobre o sistema, advindas de documentos que descrevem processos de negócios ou sistemas existentes, observações do usuário etc. </a:t>
            </a:r>
          </a:p>
          <a:p>
            <a:pPr algn="just" eaLnBrk="1" hangingPunct="1">
              <a:spcBef>
                <a:spcPct val="0"/>
              </a:spcBef>
            </a:pPr>
            <a:endParaRPr lang="pt-BR" altLang="pt-BR" dirty="0" smtClean="0"/>
          </a:p>
          <a:p>
            <a:pPr algn="just">
              <a:spcBef>
                <a:spcPct val="0"/>
              </a:spcBef>
            </a:pPr>
            <a:r>
              <a:rPr lang="pt-BR" altLang="pt-BR" dirty="0" smtClean="0"/>
              <a:t>Fonte </a:t>
            </a:r>
            <a:r>
              <a:rPr lang="pt-BR" altLang="pt-BR" dirty="0"/>
              <a:t>de informação </a:t>
            </a:r>
            <a:r>
              <a:rPr lang="pt-BR" altLang="pt-BR" dirty="0" smtClean="0"/>
              <a:t>dos </a:t>
            </a:r>
            <a:r>
              <a:rPr lang="pt-BR" altLang="pt-BR" dirty="0"/>
              <a:t>requisitos do </a:t>
            </a:r>
            <a:r>
              <a:rPr lang="pt-BR" altLang="pt-BR" dirty="0" smtClean="0"/>
              <a:t>sistema: documentos do sistema e entrevistas </a:t>
            </a:r>
          </a:p>
          <a:p>
            <a:pPr algn="just" eaLnBrk="1" hangingPunct="1">
              <a:spcBef>
                <a:spcPct val="0"/>
              </a:spcBef>
            </a:pPr>
            <a:endParaRPr lang="pt-BR" altLang="pt-BR" dirty="0" smtClean="0"/>
          </a:p>
          <a:p>
            <a:pPr algn="just" eaLnBrk="1" hangingPunct="1">
              <a:spcBef>
                <a:spcPct val="0"/>
              </a:spcBef>
            </a:pPr>
            <a:r>
              <a:rPr lang="pt-BR" altLang="pt-BR" dirty="0" smtClean="0"/>
              <a:t>Entrevista pode deixar escapar informações essenciais; por isso, deve ser usada em conjunto com outras técnicas de </a:t>
            </a:r>
            <a:r>
              <a:rPr lang="pt-BR" altLang="pt-BR" dirty="0" err="1" smtClean="0"/>
              <a:t>elicitação</a:t>
            </a:r>
            <a:r>
              <a:rPr lang="pt-BR" altLang="pt-BR" dirty="0" smtClean="0"/>
              <a:t> de requisitos.</a:t>
            </a:r>
          </a:p>
        </p:txBody>
      </p:sp>
    </p:spTree>
    <p:extLst>
      <p:ext uri="{BB962C8B-B14F-4D97-AF65-F5344CB8AC3E}">
        <p14:creationId xmlns:p14="http://schemas.microsoft.com/office/powerpoint/2010/main" val="19594600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BEEA93-05AE-4349-8FCF-B076F64C9B80}" type="slidenum">
              <a:rPr lang="pt-PT" altLang="pt-BR" sz="1400"/>
              <a:pPr>
                <a:spcBef>
                  <a:spcPct val="0"/>
                </a:spcBef>
                <a:buFontTx/>
                <a:buNone/>
              </a:pPr>
              <a:t>61</a:t>
            </a:fld>
            <a:endParaRPr lang="pt-PT" altLang="pt-BR" sz="1400"/>
          </a:p>
        </p:txBody>
      </p:sp>
      <p:sp>
        <p:nvSpPr>
          <p:cNvPr id="26931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69316" name="Rectangle 3"/>
          <p:cNvSpPr>
            <a:spLocks noGrp="1" noChangeArrowheads="1"/>
          </p:cNvSpPr>
          <p:nvPr>
            <p:ph type="subTitle" idx="1"/>
          </p:nvPr>
        </p:nvSpPr>
        <p:spPr>
          <a:xfrm>
            <a:off x="60385" y="690113"/>
            <a:ext cx="12131615" cy="6410777"/>
          </a:xfrm>
        </p:spPr>
        <p:txBody>
          <a:bodyPr/>
          <a:lstStyle/>
          <a:p>
            <a:pPr algn="just" eaLnBrk="1" hangingPunct="1">
              <a:spcBef>
                <a:spcPct val="0"/>
              </a:spcBef>
            </a:pPr>
            <a:r>
              <a:rPr lang="pt-BR" altLang="pt-BR" dirty="0" smtClean="0"/>
              <a:t>Cenários</a:t>
            </a:r>
          </a:p>
          <a:p>
            <a:pPr algn="just" eaLnBrk="1" hangingPunct="1">
              <a:spcBef>
                <a:spcPct val="0"/>
              </a:spcBef>
            </a:pPr>
            <a:endParaRPr lang="pt-BR" altLang="pt-BR" dirty="0" smtClean="0"/>
          </a:p>
          <a:p>
            <a:pPr algn="just" eaLnBrk="1" hangingPunct="1">
              <a:spcBef>
                <a:spcPct val="0"/>
              </a:spcBef>
            </a:pPr>
            <a:r>
              <a:rPr lang="pt-BR" altLang="pt-BR" dirty="0" smtClean="0"/>
              <a:t>É mais fácil relacionar com exemplos da vida real do que com descrições abstratas. </a:t>
            </a:r>
          </a:p>
          <a:p>
            <a:pPr algn="just" eaLnBrk="1" hangingPunct="1">
              <a:spcBef>
                <a:spcPct val="0"/>
              </a:spcBef>
            </a:pPr>
            <a:r>
              <a:rPr lang="pt-BR" altLang="pt-BR" dirty="0" smtClean="0"/>
              <a:t>Pode-se compreender e criticar um cenário: como podem interagir com um sistema de software.</a:t>
            </a:r>
          </a:p>
          <a:p>
            <a:pPr algn="just" eaLnBrk="1" hangingPunct="1">
              <a:spcBef>
                <a:spcPct val="0"/>
              </a:spcBef>
            </a:pPr>
            <a:endParaRPr lang="pt-BR" altLang="pt-BR" dirty="0" smtClean="0"/>
          </a:p>
          <a:p>
            <a:pPr algn="just" eaLnBrk="1" hangingPunct="1">
              <a:spcBef>
                <a:spcPct val="0"/>
              </a:spcBef>
            </a:pPr>
            <a:r>
              <a:rPr lang="pt-BR" altLang="pt-BR" dirty="0" smtClean="0"/>
              <a:t>Engenheiros de requisitos usam cenário para formular os requisitos do sistema atual. </a:t>
            </a:r>
          </a:p>
          <a:p>
            <a:pPr algn="just" eaLnBrk="1" hangingPunct="1">
              <a:spcBef>
                <a:spcPct val="0"/>
              </a:spcBef>
            </a:pPr>
            <a:endParaRPr lang="pt-BR" altLang="pt-BR" dirty="0" smtClean="0"/>
          </a:p>
          <a:p>
            <a:pPr algn="just" eaLnBrk="1" hangingPunct="1">
              <a:spcBef>
                <a:spcPct val="0"/>
              </a:spcBef>
            </a:pPr>
            <a:r>
              <a:rPr lang="pt-BR" altLang="pt-BR" dirty="0" smtClean="0"/>
              <a:t>Os cenários: úteis para adicionar detalhes a uma descrição geral de requisitos. </a:t>
            </a:r>
          </a:p>
          <a:p>
            <a:pPr algn="just" eaLnBrk="1" hangingPunct="1">
              <a:spcBef>
                <a:spcPct val="0"/>
              </a:spcBef>
            </a:pPr>
            <a:endParaRPr lang="pt-BR" altLang="pt-BR" dirty="0" smtClean="0"/>
          </a:p>
          <a:p>
            <a:pPr algn="just" eaLnBrk="1" hangingPunct="1">
              <a:spcBef>
                <a:spcPct val="0"/>
              </a:spcBef>
            </a:pPr>
            <a:r>
              <a:rPr lang="pt-BR" altLang="pt-BR" dirty="0" smtClean="0"/>
              <a:t>Cada cenário geralmente cobre um pequeno número de interações possíveis. </a:t>
            </a:r>
          </a:p>
          <a:p>
            <a:pPr algn="just" eaLnBrk="1" hangingPunct="1">
              <a:spcBef>
                <a:spcPct val="0"/>
              </a:spcBef>
            </a:pPr>
            <a:r>
              <a:rPr lang="pt-BR" altLang="pt-BR" dirty="0" smtClean="0"/>
              <a:t>Diferentes cenários são desenvolvidos e oferecem diversos tipos de informação em variados níveis de detalhamento sobre o sistema. </a:t>
            </a:r>
          </a:p>
          <a:p>
            <a:pPr algn="just" eaLnBrk="1" hangingPunct="1">
              <a:spcBef>
                <a:spcPct val="0"/>
              </a:spcBef>
            </a:pPr>
            <a:r>
              <a:rPr lang="pt-BR" altLang="pt-BR" dirty="0" smtClean="0"/>
              <a:t>As estórias usadas em Extreme </a:t>
            </a:r>
            <a:r>
              <a:rPr lang="pt-BR" altLang="pt-BR" dirty="0" err="1" smtClean="0"/>
              <a:t>Programming</a:t>
            </a:r>
            <a:r>
              <a:rPr lang="pt-BR" altLang="pt-BR" dirty="0" smtClean="0"/>
              <a:t>, são um tipo de cenário de requisitos.</a:t>
            </a:r>
          </a:p>
        </p:txBody>
      </p:sp>
    </p:spTree>
    <p:extLst>
      <p:ext uri="{BB962C8B-B14F-4D97-AF65-F5344CB8AC3E}">
        <p14:creationId xmlns:p14="http://schemas.microsoft.com/office/powerpoint/2010/main" val="16284483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1E5B0BF-2533-4ECA-A767-F651CF7BFF4C}" type="slidenum">
              <a:rPr lang="pt-PT" altLang="pt-BR" sz="1400"/>
              <a:pPr>
                <a:spcBef>
                  <a:spcPct val="0"/>
                </a:spcBef>
                <a:buFontTx/>
                <a:buNone/>
              </a:pPr>
              <a:t>62</a:t>
            </a:fld>
            <a:endParaRPr lang="pt-PT" altLang="pt-BR" sz="1400"/>
          </a:p>
        </p:txBody>
      </p:sp>
      <p:sp>
        <p:nvSpPr>
          <p:cNvPr id="27033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49860" name="Rectangle 3"/>
          <p:cNvSpPr>
            <a:spLocks noGrp="1" noChangeArrowheads="1"/>
          </p:cNvSpPr>
          <p:nvPr>
            <p:ph type="subTitle" idx="1"/>
          </p:nvPr>
        </p:nvSpPr>
        <p:spPr>
          <a:xfrm>
            <a:off x="94892" y="750498"/>
            <a:ext cx="12007968" cy="6350391"/>
          </a:xfrm>
        </p:spPr>
        <p:txBody>
          <a:bodyPr/>
          <a:lstStyle/>
          <a:p>
            <a:pPr algn="just" eaLnBrk="1" hangingPunct="1">
              <a:spcBef>
                <a:spcPct val="0"/>
              </a:spcBef>
              <a:defRPr/>
            </a:pPr>
            <a:r>
              <a:rPr lang="pt-BR" dirty="0" smtClean="0"/>
              <a:t>Cenários</a:t>
            </a:r>
          </a:p>
          <a:p>
            <a:pPr algn="just" eaLnBrk="1" hangingPunct="1">
              <a:spcBef>
                <a:spcPct val="0"/>
              </a:spcBef>
              <a:defRPr/>
            </a:pPr>
            <a:endParaRPr lang="pt-BR" dirty="0"/>
          </a:p>
          <a:p>
            <a:pPr algn="just" eaLnBrk="1" hangingPunct="1">
              <a:spcBef>
                <a:spcPct val="0"/>
              </a:spcBef>
              <a:defRPr/>
            </a:pPr>
            <a:r>
              <a:rPr lang="pt-BR" dirty="0"/>
              <a:t> C</a:t>
            </a:r>
            <a:r>
              <a:rPr lang="pt-BR" dirty="0" smtClean="0"/>
              <a:t>omeça </a:t>
            </a:r>
            <a:r>
              <a:rPr lang="pt-BR" dirty="0"/>
              <a:t>com um esboço da interação. </a:t>
            </a:r>
            <a:r>
              <a:rPr lang="pt-BR" dirty="0" smtClean="0"/>
              <a:t>Na </a:t>
            </a:r>
            <a:r>
              <a:rPr lang="pt-BR" dirty="0" err="1"/>
              <a:t>elicitação</a:t>
            </a:r>
            <a:r>
              <a:rPr lang="pt-BR" dirty="0"/>
              <a:t>, são adicionados detalhes ao esboço, para criar uma descrição </a:t>
            </a:r>
            <a:r>
              <a:rPr lang="pt-BR" dirty="0" smtClean="0"/>
              <a:t>completa. </a:t>
            </a:r>
          </a:p>
          <a:p>
            <a:pPr algn="just" eaLnBrk="1" hangingPunct="1">
              <a:spcBef>
                <a:spcPct val="0"/>
              </a:spcBef>
              <a:defRPr/>
            </a:pPr>
            <a:endParaRPr lang="pt-BR" dirty="0"/>
          </a:p>
          <a:p>
            <a:pPr algn="just" eaLnBrk="1" hangingPunct="1">
              <a:spcBef>
                <a:spcPct val="0"/>
              </a:spcBef>
              <a:defRPr/>
            </a:pPr>
            <a:r>
              <a:rPr lang="pt-BR" dirty="0"/>
              <a:t>U</a:t>
            </a:r>
            <a:r>
              <a:rPr lang="pt-BR" dirty="0" smtClean="0"/>
              <a:t>m </a:t>
            </a:r>
            <a:r>
              <a:rPr lang="pt-BR" dirty="0"/>
              <a:t>cenário </a:t>
            </a:r>
            <a:r>
              <a:rPr lang="pt-BR" dirty="0" smtClean="0"/>
              <a:t>pode </a:t>
            </a:r>
            <a:r>
              <a:rPr lang="pt-BR" dirty="0"/>
              <a:t>incluir: </a:t>
            </a:r>
            <a:endParaRPr lang="pt-BR" dirty="0" smtClean="0"/>
          </a:p>
          <a:p>
            <a:pPr marL="457200" indent="-457200" algn="just">
              <a:spcBef>
                <a:spcPct val="0"/>
              </a:spcBef>
              <a:buFontTx/>
              <a:buAutoNum type="arabicPeriod"/>
              <a:defRPr/>
            </a:pPr>
            <a:r>
              <a:rPr lang="pt-BR" dirty="0"/>
              <a:t>D</a:t>
            </a:r>
            <a:r>
              <a:rPr lang="pt-BR" dirty="0" smtClean="0"/>
              <a:t>escrição </a:t>
            </a:r>
            <a:r>
              <a:rPr lang="pt-BR" dirty="0"/>
              <a:t>do que o sistema e os usuários esperam quando o cenário se iniciar</a:t>
            </a:r>
            <a:r>
              <a:rPr lang="pt-BR" dirty="0" smtClean="0"/>
              <a:t>.</a:t>
            </a:r>
          </a:p>
          <a:p>
            <a:pPr marL="457200" indent="-457200" algn="just">
              <a:spcBef>
                <a:spcPct val="0"/>
              </a:spcBef>
              <a:buFontTx/>
              <a:buAutoNum type="arabicPeriod"/>
              <a:defRPr/>
            </a:pPr>
            <a:r>
              <a:rPr lang="pt-BR" dirty="0"/>
              <a:t>D</a:t>
            </a:r>
            <a:r>
              <a:rPr lang="pt-BR" dirty="0" smtClean="0"/>
              <a:t>escrição </a:t>
            </a:r>
            <a:r>
              <a:rPr lang="pt-BR" dirty="0"/>
              <a:t>do fluxo normal de eventos no cenário. </a:t>
            </a:r>
            <a:endParaRPr lang="pt-BR" dirty="0" smtClean="0"/>
          </a:p>
          <a:p>
            <a:pPr marL="457200" indent="-457200" algn="just">
              <a:spcBef>
                <a:spcPct val="0"/>
              </a:spcBef>
              <a:buFontTx/>
              <a:buAutoNum type="arabicPeriod"/>
              <a:defRPr/>
            </a:pPr>
            <a:r>
              <a:rPr lang="pt-BR" dirty="0" smtClean="0"/>
              <a:t>Descrição </a:t>
            </a:r>
            <a:r>
              <a:rPr lang="pt-BR" dirty="0"/>
              <a:t>do que pode dar errado e como isso é tratado</a:t>
            </a:r>
            <a:r>
              <a:rPr lang="pt-BR" dirty="0" smtClean="0"/>
              <a:t>.</a:t>
            </a:r>
          </a:p>
          <a:p>
            <a:pPr marL="457200" indent="-457200" algn="just">
              <a:spcBef>
                <a:spcPct val="0"/>
              </a:spcBef>
              <a:buFontTx/>
              <a:buAutoNum type="arabicPeriod"/>
              <a:defRPr/>
            </a:pPr>
            <a:r>
              <a:rPr lang="pt-BR" dirty="0" smtClean="0"/>
              <a:t>Informações </a:t>
            </a:r>
            <a:r>
              <a:rPr lang="pt-BR" dirty="0"/>
              <a:t>sobre outras atividades que podem acontecer ao mesmo tempo. </a:t>
            </a:r>
            <a:endParaRPr lang="pt-BR" dirty="0" smtClean="0"/>
          </a:p>
          <a:p>
            <a:pPr marL="457200" indent="-457200" algn="just">
              <a:spcBef>
                <a:spcPct val="0"/>
              </a:spcBef>
              <a:buFontTx/>
              <a:buAutoNum type="arabicPeriod"/>
              <a:defRPr/>
            </a:pPr>
            <a:r>
              <a:rPr lang="pt-BR" dirty="0" smtClean="0"/>
              <a:t>Descrição </a:t>
            </a:r>
            <a:r>
              <a:rPr lang="pt-BR" dirty="0"/>
              <a:t>do estado do sistema quando o cenário acaba.</a:t>
            </a:r>
            <a:endParaRPr lang="pt-BR" altLang="pt-BR" dirty="0"/>
          </a:p>
        </p:txBody>
      </p:sp>
    </p:spTree>
    <p:extLst>
      <p:ext uri="{BB962C8B-B14F-4D97-AF65-F5344CB8AC3E}">
        <p14:creationId xmlns:p14="http://schemas.microsoft.com/office/powerpoint/2010/main" val="18193005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6230A16-5990-43E1-84A7-87CFCE0C5F14}" type="slidenum">
              <a:rPr lang="pt-PT" altLang="pt-BR" sz="1400"/>
              <a:pPr>
                <a:spcBef>
                  <a:spcPct val="0"/>
                </a:spcBef>
                <a:buFontTx/>
                <a:buNone/>
              </a:pPr>
              <a:t>63</a:t>
            </a:fld>
            <a:endParaRPr lang="pt-PT" altLang="pt-BR" sz="1400"/>
          </a:p>
        </p:txBody>
      </p:sp>
      <p:sp>
        <p:nvSpPr>
          <p:cNvPr id="27136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1364" name="Rectangle 3"/>
          <p:cNvSpPr>
            <a:spLocks noGrp="1" noChangeArrowheads="1"/>
          </p:cNvSpPr>
          <p:nvPr>
            <p:ph type="subTitle" idx="1"/>
          </p:nvPr>
        </p:nvSpPr>
        <p:spPr>
          <a:xfrm>
            <a:off x="0" y="836614"/>
            <a:ext cx="12094234" cy="6264275"/>
          </a:xfrm>
        </p:spPr>
        <p:txBody>
          <a:bodyPr/>
          <a:lstStyle/>
          <a:p>
            <a:pPr algn="just" eaLnBrk="1" hangingPunct="1">
              <a:spcBef>
                <a:spcPct val="0"/>
              </a:spcBef>
            </a:pPr>
            <a:r>
              <a:rPr lang="pt-BR" altLang="pt-BR" dirty="0" smtClean="0"/>
              <a:t>Cenários</a:t>
            </a:r>
          </a:p>
          <a:p>
            <a:pPr algn="just" eaLnBrk="1" hangingPunct="1">
              <a:spcBef>
                <a:spcPct val="0"/>
              </a:spcBef>
            </a:pPr>
            <a:endParaRPr lang="pt-BR" altLang="pt-BR" dirty="0" smtClean="0"/>
          </a:p>
          <a:p>
            <a:pPr algn="just" eaLnBrk="1" hangingPunct="1">
              <a:spcBef>
                <a:spcPct val="0"/>
              </a:spcBef>
            </a:pPr>
            <a:r>
              <a:rPr lang="pt-BR" altLang="pt-BR" dirty="0" smtClean="0"/>
              <a:t>Envolve o trabalho com os </a:t>
            </a:r>
            <a:r>
              <a:rPr lang="pt-BR" altLang="pt-BR" dirty="0" err="1" smtClean="0"/>
              <a:t>stakeholders</a:t>
            </a:r>
            <a:r>
              <a:rPr lang="pt-BR" altLang="pt-BR" dirty="0" smtClean="0"/>
              <a:t> para identificar cenários e capturar detalhes que serão incluídos nesses cenários. </a:t>
            </a:r>
          </a:p>
          <a:p>
            <a:pPr algn="just" eaLnBrk="1" hangingPunct="1">
              <a:spcBef>
                <a:spcPct val="0"/>
              </a:spcBef>
            </a:pPr>
            <a:endParaRPr lang="pt-BR" altLang="pt-BR" dirty="0" smtClean="0"/>
          </a:p>
          <a:p>
            <a:pPr algn="just" eaLnBrk="1" hangingPunct="1">
              <a:spcBef>
                <a:spcPct val="0"/>
              </a:spcBef>
            </a:pPr>
            <a:r>
              <a:rPr lang="pt-BR" altLang="pt-BR" dirty="0" smtClean="0"/>
              <a:t>Os cenários podem ser escritos como texto, suplementados por diagramas, telas etc.</a:t>
            </a:r>
          </a:p>
          <a:p>
            <a:pPr algn="just" eaLnBrk="1" hangingPunct="1">
              <a:spcBef>
                <a:spcPct val="0"/>
              </a:spcBef>
            </a:pPr>
            <a:r>
              <a:rPr lang="pt-BR" altLang="pt-BR" dirty="0" smtClean="0"/>
              <a:t> </a:t>
            </a:r>
          </a:p>
          <a:p>
            <a:pPr algn="just" eaLnBrk="1" hangingPunct="1">
              <a:spcBef>
                <a:spcPct val="0"/>
              </a:spcBef>
            </a:pPr>
            <a:r>
              <a:rPr lang="pt-BR" altLang="pt-BR" dirty="0" smtClean="0"/>
              <a:t>Abordagem mais estruturada, em que cenários de eventos ou casos de uso podem ser usados.</a:t>
            </a:r>
          </a:p>
          <a:p>
            <a:pPr algn="just" eaLnBrk="1" hangingPunct="1">
              <a:spcBef>
                <a:spcPct val="0"/>
              </a:spcBef>
            </a:pPr>
            <a:endParaRPr lang="pt-BR" altLang="pt-BR" dirty="0" smtClean="0"/>
          </a:p>
          <a:p>
            <a:pPr algn="just" eaLnBrk="1" hangingPunct="1">
              <a:spcBef>
                <a:spcPct val="0"/>
              </a:spcBef>
            </a:pPr>
            <a:r>
              <a:rPr lang="pt-BR" altLang="pt-BR" dirty="0" err="1" smtClean="0"/>
              <a:t>Ex</a:t>
            </a:r>
            <a:r>
              <a:rPr lang="pt-BR" altLang="pt-BR" dirty="0" smtClean="0"/>
              <a:t> cenário de texto - considere como o MHC-PMS pode ser usado para introduzir dados de um novo paciente: </a:t>
            </a:r>
          </a:p>
          <a:p>
            <a:pPr algn="just" eaLnBrk="1" hangingPunct="1">
              <a:spcBef>
                <a:spcPct val="0"/>
              </a:spcBef>
            </a:pPr>
            <a:r>
              <a:rPr lang="pt-BR" altLang="pt-BR" dirty="0" smtClean="0"/>
              <a:t>Quando um novo paciente vai a uma clínica, um novo registro é criado por uma recepcionista, e suas informações pessoais (nome, idade etc.) são acrescentadas nessa ficha. Em seguida, uma enfermeira entrevista o paciente e coleta seu histórico médico. Então, o paciente faz uma consulta inicial com o médico, que faz um diagnóstico e, se for o caso, recomenda um tratamento. O cenário mostra o que acontece quando o histórico médico é coletado</a:t>
            </a:r>
          </a:p>
        </p:txBody>
      </p:sp>
    </p:spTree>
    <p:extLst>
      <p:ext uri="{BB962C8B-B14F-4D97-AF65-F5344CB8AC3E}">
        <p14:creationId xmlns:p14="http://schemas.microsoft.com/office/powerpoint/2010/main" val="263971576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E891151-3277-412C-8D79-568F55D8F75C}" type="slidenum">
              <a:rPr lang="pt-PT" altLang="pt-BR" sz="1400"/>
              <a:pPr>
                <a:spcBef>
                  <a:spcPct val="0"/>
                </a:spcBef>
                <a:buFontTx/>
                <a:buNone/>
              </a:pPr>
              <a:t>64</a:t>
            </a:fld>
            <a:endParaRPr lang="pt-PT" altLang="pt-BR" sz="1400"/>
          </a:p>
        </p:txBody>
      </p:sp>
      <p:sp>
        <p:nvSpPr>
          <p:cNvPr id="27238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2388" name="Rectangle 3"/>
          <p:cNvSpPr>
            <a:spLocks noGrp="1" noChangeArrowheads="1"/>
          </p:cNvSpPr>
          <p:nvPr>
            <p:ph type="subTitle" idx="1"/>
          </p:nvPr>
        </p:nvSpPr>
        <p:spPr>
          <a:xfrm>
            <a:off x="60385" y="646981"/>
            <a:ext cx="12016595" cy="6453909"/>
          </a:xfrm>
        </p:spPr>
        <p:txBody>
          <a:bodyPr/>
          <a:lstStyle/>
          <a:p>
            <a:pPr algn="just" eaLnBrk="1" hangingPunct="1">
              <a:spcBef>
                <a:spcPct val="0"/>
              </a:spcBef>
            </a:pPr>
            <a:r>
              <a:rPr lang="pt-BR" altLang="pt-BR" dirty="0" smtClean="0"/>
              <a:t>Cenário</a:t>
            </a:r>
          </a:p>
          <a:p>
            <a:pPr algn="just" eaLnBrk="1" hangingPunct="1">
              <a:spcBef>
                <a:spcPct val="0"/>
              </a:spcBef>
            </a:pPr>
            <a:endParaRPr lang="pt-BR" altLang="pt-BR" dirty="0" smtClean="0"/>
          </a:p>
          <a:p>
            <a:pPr algn="just" eaLnBrk="1" hangingPunct="1">
              <a:spcBef>
                <a:spcPct val="0"/>
              </a:spcBef>
            </a:pPr>
            <a:r>
              <a:rPr lang="pt-BR" altLang="pt-BR" dirty="0" smtClean="0"/>
              <a:t>Suposição inicial: O paciente é atendido em uma clínica médica por uma recepcionista; ela gera um registro no sistema e coleta suas informações pessoais (nome, endereço, idade etc.). Uma enfermeira é conectada ao sistema e coleta o histórico médico do paciente. </a:t>
            </a:r>
          </a:p>
          <a:p>
            <a:pPr algn="just" eaLnBrk="1" hangingPunct="1">
              <a:spcBef>
                <a:spcPct val="0"/>
              </a:spcBef>
            </a:pPr>
            <a:endParaRPr lang="pt-BR" altLang="pt-BR" dirty="0" smtClean="0"/>
          </a:p>
          <a:p>
            <a:pPr algn="just" eaLnBrk="1" hangingPunct="1">
              <a:spcBef>
                <a:spcPct val="0"/>
              </a:spcBef>
            </a:pPr>
            <a:r>
              <a:rPr lang="pt-BR" altLang="pt-BR" dirty="0" smtClean="0"/>
              <a:t>Normal: A enfermeira busca o paciente pelo sobrenome. Se houver mais de um paciente com o mesmo sobrenome, o nome e a data de nascimento são usados para identificar o paciente. A enfermeira escolhe a opção do menu para adicionar o histórico médico. A enfermeira segue, então, uma série de </a:t>
            </a:r>
            <a:r>
              <a:rPr lang="pt-BR" altLang="pt-BR" dirty="0" err="1" smtClean="0"/>
              <a:t>prompts</a:t>
            </a:r>
            <a:r>
              <a:rPr lang="pt-BR" altLang="pt-BR" dirty="0" smtClean="0"/>
              <a:t> do sistema para inserir informações sobre consultas em outros locais, os problemas de saúde mental (entrada de texto livre), condições médicas (enfermeira seleciona condições do menu), medicação atual (selecionado no menu), alergias (texto livre) e informações da vida doméstica (formulário). </a:t>
            </a:r>
          </a:p>
        </p:txBody>
      </p:sp>
    </p:spTree>
    <p:extLst>
      <p:ext uri="{BB962C8B-B14F-4D97-AF65-F5344CB8AC3E}">
        <p14:creationId xmlns:p14="http://schemas.microsoft.com/office/powerpoint/2010/main" val="26704657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2C78BDA-5989-4B88-B986-BECEC929BF9A}" type="slidenum">
              <a:rPr lang="pt-PT" altLang="pt-BR" sz="1400"/>
              <a:pPr>
                <a:spcBef>
                  <a:spcPct val="0"/>
                </a:spcBef>
                <a:buFontTx/>
                <a:buNone/>
              </a:pPr>
              <a:t>65</a:t>
            </a:fld>
            <a:endParaRPr lang="pt-PT" altLang="pt-BR" sz="1400"/>
          </a:p>
        </p:txBody>
      </p:sp>
      <p:sp>
        <p:nvSpPr>
          <p:cNvPr id="27341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3412" name="Rectangle 3"/>
          <p:cNvSpPr>
            <a:spLocks noGrp="1" noChangeArrowheads="1"/>
          </p:cNvSpPr>
          <p:nvPr>
            <p:ph type="subTitle" idx="1"/>
          </p:nvPr>
        </p:nvSpPr>
        <p:spPr>
          <a:xfrm>
            <a:off x="0" y="681488"/>
            <a:ext cx="12094234" cy="6419402"/>
          </a:xfrm>
        </p:spPr>
        <p:txBody>
          <a:bodyPr/>
          <a:lstStyle/>
          <a:p>
            <a:pPr algn="just" eaLnBrk="1" hangingPunct="1">
              <a:spcBef>
                <a:spcPct val="0"/>
              </a:spcBef>
            </a:pPr>
            <a:r>
              <a:rPr lang="pt-BR" altLang="pt-BR" dirty="0" smtClean="0"/>
              <a:t>Cenário</a:t>
            </a:r>
          </a:p>
          <a:p>
            <a:pPr algn="just" eaLnBrk="1" hangingPunct="1">
              <a:spcBef>
                <a:spcPct val="0"/>
              </a:spcBef>
            </a:pPr>
            <a:endParaRPr lang="pt-BR" altLang="pt-BR" dirty="0" smtClean="0"/>
          </a:p>
          <a:p>
            <a:pPr algn="just" eaLnBrk="1" hangingPunct="1">
              <a:spcBef>
                <a:spcPct val="0"/>
              </a:spcBef>
            </a:pPr>
            <a:r>
              <a:rPr lang="pt-BR" altLang="pt-BR" dirty="0" smtClean="0"/>
              <a:t>O que pode dar errado: Prontuário do paciente não existe ou não foi encontrado. Enfermeira cria novo registro de informações pessoais. Condições do paciente/medicação não estão inscritas no menu. Enfermeira deve escolher opção ‘outros’ e inserir texto livre com descrição da condição/medicação. Paciente não pode ou não fornecerá informações sobre seu histórico médico. A enfermeira deve inserir um texto livre registrando a incapacidade/relutância do paciente em fornecer as informações. Sistema imprime o formulário-padrão de exclusão afirmando que a falta de informação pode significar que o tratamento será limitado ou postergado. Este deverá ser assinado e entregue ao paciente. Outras atividades: Enquanto a informação está sendo inserida, o registro pode ser consultado, mas não editado por outros agentes. </a:t>
            </a:r>
          </a:p>
          <a:p>
            <a:pPr algn="just" eaLnBrk="1" hangingPunct="1">
              <a:spcBef>
                <a:spcPct val="0"/>
              </a:spcBef>
            </a:pPr>
            <a:endParaRPr lang="pt-BR" altLang="pt-BR" dirty="0" smtClean="0"/>
          </a:p>
          <a:p>
            <a:pPr algn="just" eaLnBrk="1" hangingPunct="1">
              <a:spcBef>
                <a:spcPct val="0"/>
              </a:spcBef>
            </a:pPr>
            <a:r>
              <a:rPr lang="pt-BR" altLang="pt-BR" dirty="0" smtClean="0"/>
              <a:t>Estado do sistema na conclusão: O usuário está conectado. O prontuário do paciente e seu histórico médico é inserido no banco de dados e um registro é adicionado ao log do sistema (tempo de início e fim da sessão e a enfermeira envolvida)</a:t>
            </a:r>
          </a:p>
        </p:txBody>
      </p:sp>
    </p:spTree>
    <p:extLst>
      <p:ext uri="{BB962C8B-B14F-4D97-AF65-F5344CB8AC3E}">
        <p14:creationId xmlns:p14="http://schemas.microsoft.com/office/powerpoint/2010/main" val="14176983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71A9C7-5870-4A76-88FE-D544F0E82B8C}" type="slidenum">
              <a:rPr lang="pt-PT" altLang="pt-BR" sz="1400"/>
              <a:pPr>
                <a:spcBef>
                  <a:spcPct val="0"/>
                </a:spcBef>
                <a:buFontTx/>
                <a:buNone/>
              </a:pPr>
              <a:t>66</a:t>
            </a:fld>
            <a:endParaRPr lang="pt-PT" altLang="pt-BR" sz="1400"/>
          </a:p>
        </p:txBody>
      </p:sp>
      <p:sp>
        <p:nvSpPr>
          <p:cNvPr id="27443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4436" name="Rectangle 3"/>
          <p:cNvSpPr>
            <a:spLocks noGrp="1" noChangeArrowheads="1"/>
          </p:cNvSpPr>
          <p:nvPr>
            <p:ph type="subTitle" idx="1"/>
          </p:nvPr>
        </p:nvSpPr>
        <p:spPr>
          <a:xfrm>
            <a:off x="0" y="836614"/>
            <a:ext cx="12068355" cy="6264275"/>
          </a:xfrm>
        </p:spPr>
        <p:txBody>
          <a:bodyPr/>
          <a:lstStyle/>
          <a:p>
            <a:pPr algn="just" eaLnBrk="1" hangingPunct="1">
              <a:spcBef>
                <a:spcPct val="0"/>
              </a:spcBef>
            </a:pPr>
            <a:r>
              <a:rPr lang="pt-BR" altLang="pt-BR" dirty="0" smtClean="0"/>
              <a:t>Casos de Uso:</a:t>
            </a:r>
          </a:p>
          <a:p>
            <a:pPr algn="just" eaLnBrk="1" hangingPunct="1">
              <a:spcBef>
                <a:spcPct val="0"/>
              </a:spcBef>
            </a:pPr>
            <a:endParaRPr lang="pt-BR" altLang="pt-BR" dirty="0"/>
          </a:p>
          <a:p>
            <a:pPr algn="just" eaLnBrk="1" hangingPunct="1">
              <a:spcBef>
                <a:spcPct val="0"/>
              </a:spcBef>
            </a:pPr>
            <a:r>
              <a:rPr lang="pt-BR" altLang="pt-BR" dirty="0" smtClean="0"/>
              <a:t>Técnica de descoberta de requisitos introduzida inicialmente no método </a:t>
            </a:r>
            <a:r>
              <a:rPr lang="pt-BR" altLang="pt-BR" dirty="0" err="1" smtClean="0"/>
              <a:t>Objectory</a:t>
            </a:r>
            <a:r>
              <a:rPr lang="pt-BR" altLang="pt-BR" dirty="0" smtClean="0"/>
              <a:t> (JACOBSON et al., 1993). São características fundamentais da UML. </a:t>
            </a:r>
          </a:p>
          <a:p>
            <a:pPr algn="just" eaLnBrk="1" hangingPunct="1">
              <a:spcBef>
                <a:spcPct val="0"/>
              </a:spcBef>
            </a:pPr>
            <a:r>
              <a:rPr lang="pt-BR" altLang="pt-BR" dirty="0" smtClean="0"/>
              <a:t>Identifica os atores envolvidos em uma interação e dá nome ao tipo de interação: descrevem a interação com o sistema. </a:t>
            </a:r>
          </a:p>
          <a:p>
            <a:pPr algn="just" eaLnBrk="1" hangingPunct="1">
              <a:spcBef>
                <a:spcPct val="0"/>
              </a:spcBef>
            </a:pPr>
            <a:r>
              <a:rPr lang="pt-BR" altLang="pt-BR" dirty="0" smtClean="0"/>
              <a:t>Informação adicional: descrição textual ou um ou mais modelos gráficos (diagrama de sequência ou de estados).</a:t>
            </a:r>
          </a:p>
          <a:p>
            <a:pPr algn="just" eaLnBrk="1" hangingPunct="1">
              <a:spcBef>
                <a:spcPct val="0"/>
              </a:spcBef>
            </a:pPr>
            <a:r>
              <a:rPr lang="pt-BR" altLang="pt-BR" dirty="0" smtClean="0"/>
              <a:t>São documentados por um diagrama de casos de uso de alto nível.</a:t>
            </a:r>
          </a:p>
          <a:p>
            <a:pPr algn="just" eaLnBrk="1" hangingPunct="1">
              <a:spcBef>
                <a:spcPct val="0"/>
              </a:spcBef>
            </a:pPr>
            <a:r>
              <a:rPr lang="pt-BR" altLang="pt-BR" dirty="0" smtClean="0"/>
              <a:t>Conjunto de casos de uso representa todas as possíveis interações que serão descritas nos requisitos de sistema.</a:t>
            </a:r>
          </a:p>
          <a:p>
            <a:pPr algn="just" eaLnBrk="1" hangingPunct="1">
              <a:spcBef>
                <a:spcPct val="0"/>
              </a:spcBef>
            </a:pPr>
            <a:r>
              <a:rPr lang="pt-BR" altLang="pt-BR" dirty="0" smtClean="0"/>
              <a:t>Atores (pessoas ou outros sistemas): representados como figuras ‘palito’. </a:t>
            </a:r>
          </a:p>
          <a:p>
            <a:pPr algn="just" eaLnBrk="1" hangingPunct="1">
              <a:spcBef>
                <a:spcPct val="0"/>
              </a:spcBef>
            </a:pPr>
            <a:r>
              <a:rPr lang="pt-BR" altLang="pt-BR" dirty="0" smtClean="0"/>
              <a:t>Classe de interação: representada por uma elipse.</a:t>
            </a:r>
          </a:p>
          <a:p>
            <a:pPr algn="just" eaLnBrk="1" hangingPunct="1">
              <a:spcBef>
                <a:spcPct val="0"/>
              </a:spcBef>
            </a:pPr>
            <a:r>
              <a:rPr lang="pt-BR" altLang="pt-BR" dirty="0" smtClean="0"/>
              <a:t>Linhas: fazem a ligação entre os atores e a interação.</a:t>
            </a:r>
          </a:p>
          <a:p>
            <a:pPr algn="just" eaLnBrk="1" hangingPunct="1">
              <a:spcBef>
                <a:spcPct val="0"/>
              </a:spcBef>
            </a:pPr>
            <a:r>
              <a:rPr lang="pt-BR" altLang="pt-BR" dirty="0" smtClean="0"/>
              <a:t>Opcionalmente, pontas de flechas podem ser adicionadas às linhas para mostrar como a interação se inicia. </a:t>
            </a:r>
          </a:p>
        </p:txBody>
      </p:sp>
    </p:spTree>
    <p:extLst>
      <p:ext uri="{BB962C8B-B14F-4D97-AF65-F5344CB8AC3E}">
        <p14:creationId xmlns:p14="http://schemas.microsoft.com/office/powerpoint/2010/main" val="209446012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4178715-3592-46AB-960B-B701297C0E1A}" type="slidenum">
              <a:rPr lang="pt-PT" altLang="pt-BR" sz="1400"/>
              <a:pPr>
                <a:spcBef>
                  <a:spcPct val="0"/>
                </a:spcBef>
                <a:buFontTx/>
                <a:buNone/>
              </a:pPr>
              <a:t>67</a:t>
            </a:fld>
            <a:endParaRPr lang="pt-PT" altLang="pt-BR" sz="1400"/>
          </a:p>
        </p:txBody>
      </p:sp>
      <p:sp>
        <p:nvSpPr>
          <p:cNvPr id="27545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pic>
        <p:nvPicPr>
          <p:cNvPr id="275460"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5461" name="Rectangle 3"/>
          <p:cNvSpPr>
            <a:spLocks noGrp="1" noChangeArrowheads="1"/>
          </p:cNvSpPr>
          <p:nvPr>
            <p:ph type="subTitle" idx="1"/>
          </p:nvPr>
        </p:nvSpPr>
        <p:spPr>
          <a:xfrm>
            <a:off x="1565276" y="836614"/>
            <a:ext cx="9180513" cy="6264275"/>
          </a:xfrm>
        </p:spPr>
        <p:txBody>
          <a:bodyPr/>
          <a:lstStyle/>
          <a:p>
            <a:pPr algn="just" eaLnBrk="1" hangingPunct="1">
              <a:spcBef>
                <a:spcPct val="0"/>
              </a:spcBef>
            </a:pPr>
            <a:endParaRPr lang="pt-BR" altLang="pt-BR" smtClean="0"/>
          </a:p>
        </p:txBody>
      </p:sp>
    </p:spTree>
    <p:extLst>
      <p:ext uri="{BB962C8B-B14F-4D97-AF65-F5344CB8AC3E}">
        <p14:creationId xmlns:p14="http://schemas.microsoft.com/office/powerpoint/2010/main" val="338879327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B75D42A-CD6B-4936-8956-6F17EC6DC2CD}" type="slidenum">
              <a:rPr lang="pt-PT" altLang="pt-BR" sz="1400"/>
              <a:pPr>
                <a:spcBef>
                  <a:spcPct val="0"/>
                </a:spcBef>
                <a:buFontTx/>
                <a:buNone/>
              </a:pPr>
              <a:t>68</a:t>
            </a:fld>
            <a:endParaRPr lang="pt-PT" altLang="pt-BR" sz="1400"/>
          </a:p>
        </p:txBody>
      </p:sp>
      <p:sp>
        <p:nvSpPr>
          <p:cNvPr id="27648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6484" name="Rectangle 3"/>
          <p:cNvSpPr>
            <a:spLocks noGrp="1" noChangeArrowheads="1"/>
          </p:cNvSpPr>
          <p:nvPr>
            <p:ph type="subTitle" idx="1"/>
          </p:nvPr>
        </p:nvSpPr>
        <p:spPr>
          <a:xfrm>
            <a:off x="0" y="836614"/>
            <a:ext cx="12033849" cy="6264275"/>
          </a:xfrm>
        </p:spPr>
        <p:txBody>
          <a:bodyPr>
            <a:normAutofit lnSpcReduction="10000"/>
          </a:bodyPr>
          <a:lstStyle/>
          <a:p>
            <a:pPr algn="just" eaLnBrk="1" hangingPunct="1">
              <a:spcBef>
                <a:spcPct val="0"/>
              </a:spcBef>
            </a:pPr>
            <a:r>
              <a:rPr lang="pt-BR" altLang="pt-BR" dirty="0" smtClean="0"/>
              <a:t>Casos de Uso</a:t>
            </a:r>
          </a:p>
          <a:p>
            <a:pPr algn="just" eaLnBrk="1" hangingPunct="1">
              <a:spcBef>
                <a:spcPct val="0"/>
              </a:spcBef>
            </a:pPr>
            <a:endParaRPr lang="pt-BR" altLang="pt-BR" dirty="0" smtClean="0"/>
          </a:p>
          <a:p>
            <a:pPr algn="just" eaLnBrk="1" hangingPunct="1">
              <a:spcBef>
                <a:spcPct val="0"/>
              </a:spcBef>
            </a:pPr>
            <a:r>
              <a:rPr lang="pt-BR" altLang="pt-BR" dirty="0" smtClean="0"/>
              <a:t>Podem-se considerar cada caso de uso um cenário único; </a:t>
            </a:r>
          </a:p>
          <a:p>
            <a:pPr algn="just" eaLnBrk="1" hangingPunct="1">
              <a:spcBef>
                <a:spcPct val="0"/>
              </a:spcBef>
            </a:pPr>
            <a:r>
              <a:rPr lang="pt-BR" altLang="pt-BR" dirty="0"/>
              <a:t>C</a:t>
            </a:r>
            <a:r>
              <a:rPr lang="pt-BR" altLang="pt-BR" dirty="0" smtClean="0"/>
              <a:t>omo sugerido por Stevens e </a:t>
            </a:r>
            <a:r>
              <a:rPr lang="pt-BR" altLang="pt-BR" dirty="0" err="1" smtClean="0"/>
              <a:t>Pooley</a:t>
            </a:r>
            <a:r>
              <a:rPr lang="pt-BR" altLang="pt-BR" dirty="0" smtClean="0"/>
              <a:t> (2006), pode-se encapsular um conjunto de cenários em um único caso de uso. </a:t>
            </a:r>
          </a:p>
          <a:p>
            <a:pPr algn="just" eaLnBrk="1" hangingPunct="1">
              <a:spcBef>
                <a:spcPct val="0"/>
              </a:spcBef>
            </a:pPr>
            <a:r>
              <a:rPr lang="pt-BR" altLang="pt-BR" dirty="0" smtClean="0"/>
              <a:t>Cenário para a interação normal e cenários para cada possível exceção. </a:t>
            </a:r>
          </a:p>
          <a:p>
            <a:pPr algn="just" eaLnBrk="1" hangingPunct="1">
              <a:spcBef>
                <a:spcPct val="0"/>
              </a:spcBef>
            </a:pPr>
            <a:r>
              <a:rPr lang="pt-BR" altLang="pt-BR" dirty="0" smtClean="0"/>
              <a:t>Os casos de uso identificam as interações individuais entre o sistema e seus usuários ou outros sistemas. </a:t>
            </a:r>
          </a:p>
          <a:p>
            <a:pPr algn="just" eaLnBrk="1" hangingPunct="1">
              <a:spcBef>
                <a:spcPct val="0"/>
              </a:spcBef>
            </a:pPr>
            <a:r>
              <a:rPr lang="pt-BR" altLang="pt-BR" dirty="0" smtClean="0"/>
              <a:t>Cada caso de uso deve ser documentado com uma descrição textual, que pode ser ligada a outros modelos UML que desenvolverão o cenário com mais detalhes</a:t>
            </a:r>
          </a:p>
          <a:p>
            <a:pPr algn="just">
              <a:spcBef>
                <a:spcPct val="0"/>
              </a:spcBef>
            </a:pPr>
            <a:endParaRPr lang="pt-BR" altLang="pt-BR" dirty="0" smtClean="0"/>
          </a:p>
          <a:p>
            <a:pPr algn="just">
              <a:spcBef>
                <a:spcPct val="0"/>
              </a:spcBef>
            </a:pPr>
            <a:r>
              <a:rPr lang="pt-BR" altLang="pt-BR" dirty="0" smtClean="0"/>
              <a:t>Breve </a:t>
            </a:r>
            <a:r>
              <a:rPr lang="pt-BR" altLang="pt-BR" dirty="0"/>
              <a:t>descrição do caso de uso Agendar consulta: </a:t>
            </a:r>
          </a:p>
          <a:p>
            <a:pPr algn="just">
              <a:spcBef>
                <a:spcPct val="0"/>
              </a:spcBef>
            </a:pPr>
            <a:r>
              <a:rPr lang="pt-BR" altLang="pt-BR" dirty="0"/>
              <a:t>Agendar a consulta permite que dois ou mais médicos de consultórios diferentes possam ler o mesmo registro ao mesmo tempo. </a:t>
            </a:r>
          </a:p>
          <a:p>
            <a:pPr algn="just">
              <a:spcBef>
                <a:spcPct val="0"/>
              </a:spcBef>
            </a:pPr>
            <a:r>
              <a:rPr lang="pt-BR" altLang="pt-BR" dirty="0"/>
              <a:t>Um médico deve escolher, em um menu de lista de médicos on-line, as pessoas envolvidas. </a:t>
            </a:r>
          </a:p>
          <a:p>
            <a:pPr algn="just">
              <a:spcBef>
                <a:spcPct val="0"/>
              </a:spcBef>
            </a:pPr>
            <a:r>
              <a:rPr lang="pt-BR" altLang="pt-BR" dirty="0"/>
              <a:t>O prontuário do paciente é exibido em suas telas, mas apenas o primeiro médico pode editar o registro. </a:t>
            </a:r>
          </a:p>
          <a:p>
            <a:pPr algn="just">
              <a:spcBef>
                <a:spcPct val="0"/>
              </a:spcBef>
            </a:pPr>
            <a:r>
              <a:rPr lang="pt-BR" altLang="pt-BR" dirty="0"/>
              <a:t>U</a:t>
            </a:r>
            <a:r>
              <a:rPr lang="pt-BR" altLang="pt-BR" dirty="0" smtClean="0"/>
              <a:t>ma </a:t>
            </a:r>
            <a:r>
              <a:rPr lang="pt-BR" altLang="pt-BR" dirty="0"/>
              <a:t>janela de mensagens de texto é criada para ajudar a coordenar as ações. Supõe-se que uma conferência telefônica para comunicação por voz será estabelecida separadamente.</a:t>
            </a:r>
          </a:p>
          <a:p>
            <a:pPr algn="just" eaLnBrk="1" hangingPunct="1">
              <a:spcBef>
                <a:spcPct val="0"/>
              </a:spcBef>
            </a:pPr>
            <a:endParaRPr lang="pt-BR" altLang="pt-BR" dirty="0" smtClean="0"/>
          </a:p>
        </p:txBody>
      </p:sp>
    </p:spTree>
    <p:extLst>
      <p:ext uri="{BB962C8B-B14F-4D97-AF65-F5344CB8AC3E}">
        <p14:creationId xmlns:p14="http://schemas.microsoft.com/office/powerpoint/2010/main" val="427464545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C0C1B53-E6E5-409D-BDAA-A4DAA551216C}" type="slidenum">
              <a:rPr lang="pt-PT" altLang="pt-BR" sz="1400"/>
              <a:pPr>
                <a:spcBef>
                  <a:spcPct val="0"/>
                </a:spcBef>
                <a:buFontTx/>
                <a:buNone/>
              </a:pPr>
              <a:t>69</a:t>
            </a:fld>
            <a:endParaRPr lang="pt-PT" altLang="pt-BR" sz="1400"/>
          </a:p>
        </p:txBody>
      </p:sp>
      <p:sp>
        <p:nvSpPr>
          <p:cNvPr id="27853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8532" name="Rectangle 3"/>
          <p:cNvSpPr>
            <a:spLocks noGrp="1" noChangeArrowheads="1"/>
          </p:cNvSpPr>
          <p:nvPr>
            <p:ph type="subTitle" idx="1"/>
          </p:nvPr>
        </p:nvSpPr>
        <p:spPr>
          <a:xfrm>
            <a:off x="0" y="836614"/>
            <a:ext cx="12033849" cy="6264276"/>
          </a:xfrm>
        </p:spPr>
        <p:txBody>
          <a:bodyPr/>
          <a:lstStyle/>
          <a:p>
            <a:pPr algn="just" eaLnBrk="1" hangingPunct="1">
              <a:spcBef>
                <a:spcPct val="0"/>
              </a:spcBef>
            </a:pPr>
            <a:r>
              <a:rPr lang="pt-BR" altLang="pt-BR" dirty="0" smtClean="0"/>
              <a:t>Casos de Uso</a:t>
            </a:r>
          </a:p>
          <a:p>
            <a:pPr algn="just" eaLnBrk="1" hangingPunct="1">
              <a:spcBef>
                <a:spcPct val="0"/>
              </a:spcBef>
            </a:pPr>
            <a:endParaRPr lang="pt-BR" altLang="pt-BR" dirty="0" smtClean="0"/>
          </a:p>
          <a:p>
            <a:pPr algn="just" eaLnBrk="1" hangingPunct="1">
              <a:spcBef>
                <a:spcPct val="0"/>
              </a:spcBef>
            </a:pPr>
            <a:r>
              <a:rPr lang="pt-BR" altLang="pt-BR" dirty="0" smtClean="0"/>
              <a:t>Cenários e casos de uso são técnicas eficazes para </a:t>
            </a:r>
            <a:r>
              <a:rPr lang="pt-BR" altLang="pt-BR" dirty="0" err="1" smtClean="0"/>
              <a:t>elicitar</a:t>
            </a:r>
            <a:r>
              <a:rPr lang="pt-BR" altLang="pt-BR" dirty="0" smtClean="0"/>
              <a:t> requisitos dos </a:t>
            </a:r>
            <a:r>
              <a:rPr lang="pt-BR" altLang="pt-BR" dirty="0" err="1" smtClean="0"/>
              <a:t>stakeholders</a:t>
            </a:r>
            <a:r>
              <a:rPr lang="pt-BR" altLang="pt-BR" dirty="0" smtClean="0"/>
              <a:t> que vão interagir diretamente com o sistema. </a:t>
            </a:r>
          </a:p>
          <a:p>
            <a:pPr algn="just" eaLnBrk="1" hangingPunct="1">
              <a:spcBef>
                <a:spcPct val="0"/>
              </a:spcBef>
            </a:pPr>
            <a:r>
              <a:rPr lang="pt-BR" altLang="pt-BR" dirty="0" smtClean="0"/>
              <a:t>Cada tipo de interação pode ser representado como um caso de uso. </a:t>
            </a:r>
          </a:p>
          <a:p>
            <a:pPr algn="just" eaLnBrk="1" hangingPunct="1">
              <a:spcBef>
                <a:spcPct val="0"/>
              </a:spcBef>
            </a:pPr>
            <a:r>
              <a:rPr lang="pt-BR" altLang="pt-BR" dirty="0" smtClean="0"/>
              <a:t>Tem foco nas interações com o sistema</a:t>
            </a:r>
          </a:p>
          <a:p>
            <a:pPr algn="just" eaLnBrk="1" hangingPunct="1">
              <a:spcBef>
                <a:spcPct val="0"/>
              </a:spcBef>
            </a:pPr>
            <a:r>
              <a:rPr lang="pt-BR" altLang="pt-BR" dirty="0" smtClean="0"/>
              <a:t>Não são tão eficazes para </a:t>
            </a:r>
            <a:r>
              <a:rPr lang="pt-BR" altLang="pt-BR" dirty="0" err="1" smtClean="0"/>
              <a:t>elicitar</a:t>
            </a:r>
            <a:r>
              <a:rPr lang="pt-BR" altLang="pt-BR" dirty="0" smtClean="0"/>
              <a:t> restrições ou requisitos de negócios e não funcionais em alto nível ou para descobrir requisitos de domínio. </a:t>
            </a:r>
          </a:p>
          <a:p>
            <a:pPr algn="just" eaLnBrk="1" hangingPunct="1">
              <a:spcBef>
                <a:spcPct val="0"/>
              </a:spcBef>
            </a:pPr>
            <a:r>
              <a:rPr lang="pt-BR" altLang="pt-BR" dirty="0" smtClean="0"/>
              <a:t>UML: padrão de modelagem orientada a objetos</a:t>
            </a:r>
            <a:endParaRPr lang="pt-BR" altLang="pt-BR" dirty="0"/>
          </a:p>
          <a:p>
            <a:pPr algn="just" eaLnBrk="1" hangingPunct="1">
              <a:spcBef>
                <a:spcPct val="0"/>
              </a:spcBef>
            </a:pPr>
            <a:r>
              <a:rPr lang="pt-BR" altLang="pt-BR" dirty="0" smtClean="0"/>
              <a:t>Casos de uso e </a:t>
            </a:r>
            <a:r>
              <a:rPr lang="pt-BR" altLang="pt-BR" dirty="0" err="1" smtClean="0"/>
              <a:t>elicitação</a:t>
            </a:r>
            <a:r>
              <a:rPr lang="pt-BR" altLang="pt-BR" dirty="0" smtClean="0"/>
              <a:t> baseada em casos de uso: amplamente usados para a </a:t>
            </a:r>
            <a:r>
              <a:rPr lang="pt-BR" altLang="pt-BR" dirty="0" err="1" smtClean="0"/>
              <a:t>elicitação</a:t>
            </a:r>
            <a:r>
              <a:rPr lang="pt-BR" altLang="pt-BR" dirty="0" smtClean="0"/>
              <a:t> de requisitos. </a:t>
            </a:r>
          </a:p>
        </p:txBody>
      </p:sp>
    </p:spTree>
    <p:extLst>
      <p:ext uri="{BB962C8B-B14F-4D97-AF65-F5344CB8AC3E}">
        <p14:creationId xmlns:p14="http://schemas.microsoft.com/office/powerpoint/2010/main" val="182384092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5732B0C-C3E1-48BC-8737-F3585C3DB99D}" type="slidenum">
              <a:rPr lang="pt-PT" altLang="pt-BR" sz="1400"/>
              <a:pPr>
                <a:spcBef>
                  <a:spcPct val="0"/>
                </a:spcBef>
                <a:buFontTx/>
                <a:buNone/>
              </a:pPr>
              <a:t>70</a:t>
            </a:fld>
            <a:endParaRPr lang="pt-PT" altLang="pt-BR" sz="1400"/>
          </a:p>
        </p:txBody>
      </p:sp>
      <p:sp>
        <p:nvSpPr>
          <p:cNvPr id="27955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79556" name="Rectangle 3"/>
          <p:cNvSpPr>
            <a:spLocks noGrp="1" noChangeArrowheads="1"/>
          </p:cNvSpPr>
          <p:nvPr>
            <p:ph type="subTitle" idx="1"/>
          </p:nvPr>
        </p:nvSpPr>
        <p:spPr>
          <a:xfrm>
            <a:off x="60385" y="741872"/>
            <a:ext cx="12059727" cy="6359017"/>
          </a:xfrm>
        </p:spPr>
        <p:txBody>
          <a:bodyPr/>
          <a:lstStyle/>
          <a:p>
            <a:pPr algn="just" eaLnBrk="1" hangingPunct="1">
              <a:spcBef>
                <a:spcPct val="0"/>
              </a:spcBef>
            </a:pPr>
            <a:r>
              <a:rPr lang="pt-BR" altLang="pt-BR" dirty="0" smtClean="0"/>
              <a:t>Etnografia</a:t>
            </a:r>
          </a:p>
          <a:p>
            <a:pPr algn="just" eaLnBrk="1" hangingPunct="1">
              <a:spcBef>
                <a:spcPct val="0"/>
              </a:spcBef>
            </a:pPr>
            <a:endParaRPr lang="pt-BR" altLang="pt-BR" dirty="0" smtClean="0"/>
          </a:p>
          <a:p>
            <a:pPr algn="just" eaLnBrk="1" hangingPunct="1">
              <a:spcBef>
                <a:spcPct val="0"/>
              </a:spcBef>
            </a:pPr>
            <a:r>
              <a:rPr lang="pt-BR" altLang="pt-BR" dirty="0" smtClean="0"/>
              <a:t>Os sistemas de software não existem isoladamente. Eles são usados em um contexto social e organizacional, e requisitos de software do sistema podem ser derivados ou restringidos desse contexto. </a:t>
            </a:r>
          </a:p>
          <a:p>
            <a:pPr algn="just" eaLnBrk="1" hangingPunct="1">
              <a:spcBef>
                <a:spcPct val="0"/>
              </a:spcBef>
            </a:pPr>
            <a:r>
              <a:rPr lang="pt-BR" altLang="pt-BR" dirty="0" smtClean="0"/>
              <a:t>Fator crítico de sucesso do sistema: Satisfazer requisitos sociais e organizacionais </a:t>
            </a:r>
          </a:p>
          <a:p>
            <a:pPr algn="just" eaLnBrk="1" hangingPunct="1">
              <a:spcBef>
                <a:spcPct val="0"/>
              </a:spcBef>
            </a:pPr>
            <a:r>
              <a:rPr lang="pt-BR" altLang="pt-BR" dirty="0" smtClean="0"/>
              <a:t>Sistemas de software entregues, mas nunca são usados: requisitos fora do contexto social e organizacional,  afetando o funcionamento prático do sistema. </a:t>
            </a:r>
          </a:p>
          <a:p>
            <a:pPr algn="just" eaLnBrk="1" hangingPunct="1">
              <a:spcBef>
                <a:spcPct val="0"/>
              </a:spcBef>
            </a:pPr>
            <a:endParaRPr lang="pt-BR" altLang="pt-BR" dirty="0" smtClean="0"/>
          </a:p>
          <a:p>
            <a:pPr algn="just" eaLnBrk="1" hangingPunct="1">
              <a:spcBef>
                <a:spcPct val="0"/>
              </a:spcBef>
            </a:pPr>
            <a:r>
              <a:rPr lang="pt-BR" altLang="pt-BR" dirty="0" smtClean="0"/>
              <a:t>Etnografia: técnica de observação que pode ser usada para compreender os processos operacionais e ajudar a extrair os requisitos de apoio para esses processos. </a:t>
            </a:r>
          </a:p>
          <a:p>
            <a:pPr algn="just" eaLnBrk="1" hangingPunct="1">
              <a:spcBef>
                <a:spcPct val="0"/>
              </a:spcBef>
            </a:pPr>
            <a:r>
              <a:rPr lang="pt-BR" altLang="pt-BR" dirty="0" smtClean="0"/>
              <a:t>Analista observa o trabalho do dia a dia anotando as tarefas reais de cada participante. </a:t>
            </a:r>
          </a:p>
          <a:p>
            <a:pPr algn="just" eaLnBrk="1" hangingPunct="1">
              <a:spcBef>
                <a:spcPct val="0"/>
              </a:spcBef>
            </a:pPr>
            <a:r>
              <a:rPr lang="pt-BR" altLang="pt-BR" dirty="0" smtClean="0"/>
              <a:t>O valor da etnografia: descobre requisitos implícitos do sistema que refletem as formas reais de trabalho da pessoas, em vez de refletir processos formais definidos pela organização.</a:t>
            </a:r>
          </a:p>
        </p:txBody>
      </p:sp>
    </p:spTree>
    <p:extLst>
      <p:ext uri="{BB962C8B-B14F-4D97-AF65-F5344CB8AC3E}">
        <p14:creationId xmlns:p14="http://schemas.microsoft.com/office/powerpoint/2010/main" val="424638357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970AF74-BCAF-45C3-A2B4-0E815F48A8F8}" type="slidenum">
              <a:rPr lang="pt-PT" altLang="pt-BR" sz="1400"/>
              <a:pPr>
                <a:spcBef>
                  <a:spcPct val="0"/>
                </a:spcBef>
                <a:buFontTx/>
                <a:buNone/>
              </a:pPr>
              <a:t>71</a:t>
            </a:fld>
            <a:endParaRPr lang="pt-PT" altLang="pt-BR" sz="1400"/>
          </a:p>
        </p:txBody>
      </p:sp>
      <p:sp>
        <p:nvSpPr>
          <p:cNvPr id="28057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0580" name="Rectangle 3"/>
          <p:cNvSpPr>
            <a:spLocks noGrp="1" noChangeArrowheads="1"/>
          </p:cNvSpPr>
          <p:nvPr>
            <p:ph type="subTitle" idx="1"/>
          </p:nvPr>
        </p:nvSpPr>
        <p:spPr>
          <a:xfrm>
            <a:off x="60385" y="836614"/>
            <a:ext cx="11982089" cy="6264275"/>
          </a:xfrm>
        </p:spPr>
        <p:txBody>
          <a:bodyPr/>
          <a:lstStyle/>
          <a:p>
            <a:pPr algn="just" eaLnBrk="1" hangingPunct="1">
              <a:spcBef>
                <a:spcPct val="0"/>
              </a:spcBef>
            </a:pPr>
            <a:r>
              <a:rPr lang="pt-BR" altLang="pt-BR" dirty="0" smtClean="0"/>
              <a:t>Etnografia</a:t>
            </a:r>
          </a:p>
          <a:p>
            <a:pPr algn="just" eaLnBrk="1" hangingPunct="1">
              <a:spcBef>
                <a:spcPct val="0"/>
              </a:spcBef>
            </a:pPr>
            <a:endParaRPr lang="pt-BR" altLang="pt-BR" dirty="0" smtClean="0"/>
          </a:p>
          <a:p>
            <a:pPr algn="just" eaLnBrk="1" hangingPunct="1">
              <a:spcBef>
                <a:spcPct val="0"/>
              </a:spcBef>
            </a:pPr>
            <a:r>
              <a:rPr lang="pt-BR" altLang="pt-BR" dirty="0" smtClean="0"/>
              <a:t>Difícil expressar os detalhes de trabalho</a:t>
            </a:r>
          </a:p>
          <a:p>
            <a:pPr algn="just" eaLnBrk="1" hangingPunct="1">
              <a:spcBef>
                <a:spcPct val="0"/>
              </a:spcBef>
            </a:pPr>
            <a:r>
              <a:rPr lang="pt-BR" altLang="pt-BR" dirty="0" smtClean="0"/>
              <a:t>Profissionais entendem o próprio trabalho, mas não compreendem sua relação com outros trabalhos na organização. </a:t>
            </a:r>
          </a:p>
          <a:p>
            <a:pPr algn="just" eaLnBrk="1" hangingPunct="1">
              <a:spcBef>
                <a:spcPct val="0"/>
              </a:spcBef>
            </a:pPr>
            <a:r>
              <a:rPr lang="pt-BR" altLang="pt-BR" dirty="0" smtClean="0"/>
              <a:t>Fatores sociais e organizacionais que afetam o trabalho e não são óbvios para os indivíduos, podem ficar claros apenas quando analisados por um observador imparcial. </a:t>
            </a:r>
          </a:p>
          <a:p>
            <a:pPr algn="just" eaLnBrk="1" hangingPunct="1">
              <a:spcBef>
                <a:spcPct val="0"/>
              </a:spcBef>
            </a:pPr>
            <a:endParaRPr lang="pt-BR" altLang="pt-BR" dirty="0" smtClean="0"/>
          </a:p>
          <a:p>
            <a:pPr algn="just" eaLnBrk="1" hangingPunct="1">
              <a:spcBef>
                <a:spcPct val="0"/>
              </a:spcBef>
            </a:pPr>
            <a:r>
              <a:rPr lang="pt-BR" altLang="pt-BR" dirty="0" err="1" smtClean="0"/>
              <a:t>Ex</a:t>
            </a:r>
            <a:r>
              <a:rPr lang="pt-BR" altLang="pt-BR" dirty="0" smtClean="0"/>
              <a:t>: grupo de trabalho pode se </a:t>
            </a:r>
            <a:r>
              <a:rPr lang="pt-BR" altLang="pt-BR" dirty="0" err="1" smtClean="0"/>
              <a:t>auto-organizar</a:t>
            </a:r>
            <a:r>
              <a:rPr lang="pt-BR" altLang="pt-BR" dirty="0" smtClean="0"/>
              <a:t> para que os membros conheçam mutuamente seus trabalhos e, em caso de ausência de algum deles, possam dividir as tarefas. Essa informação pode não ser mencionada durante uma entrevista, pois o grupo não a percebe como parte integrante de seu trabalho</a:t>
            </a:r>
          </a:p>
        </p:txBody>
      </p:sp>
    </p:spTree>
    <p:extLst>
      <p:ext uri="{BB962C8B-B14F-4D97-AF65-F5344CB8AC3E}">
        <p14:creationId xmlns:p14="http://schemas.microsoft.com/office/powerpoint/2010/main" val="247663670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357A19C-F2D7-4946-B9BD-4D02D727BA66}" type="slidenum">
              <a:rPr lang="pt-PT" altLang="pt-BR" sz="1400"/>
              <a:pPr>
                <a:spcBef>
                  <a:spcPct val="0"/>
                </a:spcBef>
                <a:buFontTx/>
                <a:buNone/>
              </a:pPr>
              <a:t>72</a:t>
            </a:fld>
            <a:endParaRPr lang="pt-PT" altLang="pt-BR" sz="1400"/>
          </a:p>
        </p:txBody>
      </p:sp>
      <p:sp>
        <p:nvSpPr>
          <p:cNvPr id="28160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1604" name="Rectangle 3"/>
          <p:cNvSpPr>
            <a:spLocks noGrp="1" noChangeArrowheads="1"/>
          </p:cNvSpPr>
          <p:nvPr>
            <p:ph type="subTitle" idx="1"/>
          </p:nvPr>
        </p:nvSpPr>
        <p:spPr>
          <a:xfrm>
            <a:off x="103518" y="836614"/>
            <a:ext cx="11982090" cy="6264275"/>
          </a:xfrm>
        </p:spPr>
        <p:txBody>
          <a:bodyPr/>
          <a:lstStyle/>
          <a:p>
            <a:pPr algn="just" eaLnBrk="1" hangingPunct="1">
              <a:spcBef>
                <a:spcPct val="0"/>
              </a:spcBef>
            </a:pPr>
            <a:r>
              <a:rPr lang="pt-BR" altLang="pt-BR" dirty="0" smtClean="0"/>
              <a:t>Etnografia</a:t>
            </a:r>
          </a:p>
          <a:p>
            <a:pPr algn="just" eaLnBrk="1" hangingPunct="1">
              <a:spcBef>
                <a:spcPct val="0"/>
              </a:spcBef>
            </a:pPr>
            <a:endParaRPr lang="pt-BR" altLang="pt-BR" dirty="0" smtClean="0"/>
          </a:p>
          <a:p>
            <a:pPr algn="just" eaLnBrk="1" hangingPunct="1">
              <a:spcBef>
                <a:spcPct val="0"/>
              </a:spcBef>
            </a:pPr>
            <a:r>
              <a:rPr lang="pt-BR" altLang="pt-BR" dirty="0" err="1" smtClean="0"/>
              <a:t>Suchman</a:t>
            </a:r>
            <a:r>
              <a:rPr lang="pt-BR" altLang="pt-BR" dirty="0" smtClean="0"/>
              <a:t> (1987) foi pioneira no uso da etnografia na análise do trabalho de escritório. Ela constatou que as práticas de trabalho eram muito mais ricas, mais complexas e mais dinâmicas do que os modelos simples assumidos pelos sistemas de automação de escritório. </a:t>
            </a:r>
          </a:p>
          <a:p>
            <a:pPr algn="just" eaLnBrk="1" hangingPunct="1">
              <a:spcBef>
                <a:spcPct val="0"/>
              </a:spcBef>
            </a:pPr>
            <a:endParaRPr lang="pt-BR" altLang="pt-BR" dirty="0" smtClean="0"/>
          </a:p>
          <a:p>
            <a:pPr algn="just" eaLnBrk="1" hangingPunct="1">
              <a:spcBef>
                <a:spcPct val="0"/>
              </a:spcBef>
            </a:pPr>
            <a:r>
              <a:rPr lang="pt-BR" altLang="pt-BR" dirty="0" smtClean="0"/>
              <a:t>A diferença entre o trabalho presumido e o real foi a razão mais importante por que esses sistemas de escritório não causaram efeitos significativos sobre a produtividade. </a:t>
            </a:r>
          </a:p>
          <a:p>
            <a:pPr algn="just" eaLnBrk="1" hangingPunct="1">
              <a:spcBef>
                <a:spcPct val="0"/>
              </a:spcBef>
            </a:pPr>
            <a:r>
              <a:rPr lang="pt-BR" altLang="pt-BR" dirty="0" err="1" smtClean="0"/>
              <a:t>Crabtree</a:t>
            </a:r>
            <a:r>
              <a:rPr lang="pt-BR" altLang="pt-BR" dirty="0" smtClean="0"/>
              <a:t> (2003) discute uma ampla gama de estudos desde então e descreve o uso da etnografia em projeto de sistemas. </a:t>
            </a:r>
          </a:p>
          <a:p>
            <a:pPr algn="just" eaLnBrk="1" hangingPunct="1">
              <a:spcBef>
                <a:spcPct val="0"/>
              </a:spcBef>
            </a:pPr>
            <a:endParaRPr lang="pt-BR" altLang="pt-BR" dirty="0" smtClean="0"/>
          </a:p>
          <a:p>
            <a:pPr algn="just" eaLnBrk="1" hangingPunct="1">
              <a:spcBef>
                <a:spcPct val="0"/>
              </a:spcBef>
            </a:pPr>
            <a:r>
              <a:rPr lang="pt-BR" altLang="pt-BR" dirty="0" smtClean="0"/>
              <a:t>Métodos de integração de etnografia por meio de sua ligação com os métodos de engenharia de requisitos (VILLER e SOMMERVILLE, 1999; VILLER e SOMMERVILLE, 2000) e documentação de padrões de interação em sistemas cooperativos (MARTIN et al., 2001; MARTIN et al., 2002; MARTIN e SOMMERVILLE, 2004).</a:t>
            </a:r>
          </a:p>
        </p:txBody>
      </p:sp>
    </p:spTree>
    <p:extLst>
      <p:ext uri="{BB962C8B-B14F-4D97-AF65-F5344CB8AC3E}">
        <p14:creationId xmlns:p14="http://schemas.microsoft.com/office/powerpoint/2010/main" val="310706467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964DB80-9AF7-4399-8762-9A930F0DA7A7}" type="slidenum">
              <a:rPr lang="pt-PT" altLang="pt-BR" sz="1400"/>
              <a:pPr>
                <a:spcBef>
                  <a:spcPct val="0"/>
                </a:spcBef>
                <a:buFontTx/>
                <a:buNone/>
              </a:pPr>
              <a:t>73</a:t>
            </a:fld>
            <a:endParaRPr lang="pt-PT" altLang="pt-BR" sz="1400"/>
          </a:p>
        </p:txBody>
      </p:sp>
      <p:sp>
        <p:nvSpPr>
          <p:cNvPr id="28262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2628" name="Rectangle 3"/>
          <p:cNvSpPr>
            <a:spLocks noGrp="1" noChangeArrowheads="1"/>
          </p:cNvSpPr>
          <p:nvPr>
            <p:ph type="subTitle" idx="1"/>
          </p:nvPr>
        </p:nvSpPr>
        <p:spPr>
          <a:xfrm>
            <a:off x="0" y="836614"/>
            <a:ext cx="12192000" cy="6264275"/>
          </a:xfrm>
        </p:spPr>
        <p:txBody>
          <a:bodyPr/>
          <a:lstStyle/>
          <a:p>
            <a:pPr algn="just" eaLnBrk="1" hangingPunct="1">
              <a:spcBef>
                <a:spcPct val="0"/>
              </a:spcBef>
            </a:pPr>
            <a:r>
              <a:rPr lang="pt-BR" altLang="pt-BR" dirty="0" smtClean="0"/>
              <a:t>A etnografia é eficaz para descobrir dois tipos de requisitos derivados: </a:t>
            </a:r>
          </a:p>
          <a:p>
            <a:pPr algn="just" eaLnBrk="1" hangingPunct="1">
              <a:spcBef>
                <a:spcPct val="0"/>
              </a:spcBef>
            </a:pPr>
            <a:endParaRPr lang="pt-BR" altLang="pt-BR" dirty="0" smtClean="0"/>
          </a:p>
          <a:p>
            <a:pPr algn="just" eaLnBrk="1" hangingPunct="1">
              <a:spcBef>
                <a:spcPct val="0"/>
              </a:spcBef>
            </a:pPr>
            <a:r>
              <a:rPr lang="pt-BR" altLang="pt-BR" dirty="0" smtClean="0"/>
              <a:t>1.Como as pessoas realmente trabalham, não como as definições dos processos dizem que deveriam trabalhar. </a:t>
            </a:r>
            <a:r>
              <a:rPr lang="pt-BR" altLang="pt-BR" dirty="0" err="1" smtClean="0"/>
              <a:t>Ex</a:t>
            </a:r>
            <a:r>
              <a:rPr lang="pt-BR" altLang="pt-BR" dirty="0" smtClean="0"/>
              <a:t>: controladores de tráfego aéreo podem desligar um sistema de alerta de conflitos que detecta aeronaves com rotas em colisão, embora os procedimentos de controle normal especifiquem que ele deve ser usado. Eles colocam a aeronave em caminhos conflitantes, por um curto período, para ajudar no gerenciamento do espaço aéreo. </a:t>
            </a:r>
          </a:p>
          <a:p>
            <a:pPr algn="just" eaLnBrk="1" hangingPunct="1">
              <a:spcBef>
                <a:spcPct val="0"/>
              </a:spcBef>
            </a:pPr>
            <a:endParaRPr lang="pt-BR" altLang="pt-BR" dirty="0" smtClean="0"/>
          </a:p>
          <a:p>
            <a:pPr algn="just" eaLnBrk="1" hangingPunct="1">
              <a:spcBef>
                <a:spcPct val="0"/>
              </a:spcBef>
            </a:pPr>
            <a:r>
              <a:rPr lang="pt-BR" altLang="pt-BR" dirty="0" smtClean="0"/>
              <a:t>2. Cooperação e conhecimento das atividades de outras pessoas. </a:t>
            </a:r>
            <a:r>
              <a:rPr lang="pt-BR" altLang="pt-BR" dirty="0" err="1" smtClean="0"/>
              <a:t>Ex</a:t>
            </a:r>
            <a:r>
              <a:rPr lang="pt-BR" altLang="pt-BR" dirty="0" smtClean="0"/>
              <a:t>: controladores de tráfego aéreo podem usar conhecimento do trabalho de outros controladores para prever o número de aeronaves que entrarão em seu setor de controle. Eles modificam suas estratégias de controle, dependendo o volume de trabalho previsto. Portanto, um sistema automatizado deve permitir aos controladores de um setor, alguma visibilidade em setores adjacentes.</a:t>
            </a:r>
          </a:p>
        </p:txBody>
      </p:sp>
    </p:spTree>
    <p:extLst>
      <p:ext uri="{BB962C8B-B14F-4D97-AF65-F5344CB8AC3E}">
        <p14:creationId xmlns:p14="http://schemas.microsoft.com/office/powerpoint/2010/main" val="86796860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7E26122-0712-4BE5-942C-1C52003A6C8A}" type="slidenum">
              <a:rPr lang="pt-PT" altLang="pt-BR" sz="1400"/>
              <a:pPr>
                <a:spcBef>
                  <a:spcPct val="0"/>
                </a:spcBef>
                <a:buFontTx/>
                <a:buNone/>
              </a:pPr>
              <a:t>74</a:t>
            </a:fld>
            <a:endParaRPr lang="pt-PT" altLang="pt-BR" sz="1400"/>
          </a:p>
        </p:txBody>
      </p:sp>
      <p:sp>
        <p:nvSpPr>
          <p:cNvPr id="28365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3652" name="Rectangle 3"/>
          <p:cNvSpPr>
            <a:spLocks noGrp="1" noChangeArrowheads="1"/>
          </p:cNvSpPr>
          <p:nvPr>
            <p:ph type="subTitle" idx="1"/>
          </p:nvPr>
        </p:nvSpPr>
        <p:spPr>
          <a:xfrm>
            <a:off x="189781" y="836614"/>
            <a:ext cx="11792309" cy="6264275"/>
          </a:xfrm>
        </p:spPr>
        <p:txBody>
          <a:bodyPr/>
          <a:lstStyle/>
          <a:p>
            <a:pPr algn="just" eaLnBrk="1" hangingPunct="1">
              <a:spcBef>
                <a:spcPct val="0"/>
              </a:spcBef>
            </a:pPr>
            <a:r>
              <a:rPr lang="pt-BR" altLang="pt-BR" dirty="0" smtClean="0"/>
              <a:t>Etnografia:</a:t>
            </a:r>
          </a:p>
          <a:p>
            <a:pPr algn="just" eaLnBrk="1" hangingPunct="1">
              <a:spcBef>
                <a:spcPct val="0"/>
              </a:spcBef>
            </a:pPr>
            <a:r>
              <a:rPr lang="pt-BR" altLang="pt-BR" dirty="0" smtClean="0"/>
              <a:t>Pode ser combinada com prototipação, informando o desenvolvimento do protótipo, para que menos ciclos de refinamento do protótipo sejam necessários. </a:t>
            </a:r>
          </a:p>
          <a:p>
            <a:pPr algn="just" eaLnBrk="1" hangingPunct="1">
              <a:spcBef>
                <a:spcPct val="0"/>
              </a:spcBef>
            </a:pPr>
            <a:r>
              <a:rPr lang="pt-BR" altLang="pt-BR" dirty="0" smtClean="0"/>
              <a:t>A prototipação dá foco para a etnografia, ao identificar problemas e questões que podem ser discutidos com o etnógrafo: deve procurar as respostas para essas perguntas durante a próxima fase do estudo do sistema (SOMMER VILLE et al., 1993). </a:t>
            </a:r>
          </a:p>
          <a:p>
            <a:pPr algn="just" eaLnBrk="1" hangingPunct="1">
              <a:spcBef>
                <a:spcPct val="0"/>
              </a:spcBef>
            </a:pPr>
            <a:r>
              <a:rPr lang="pt-BR" altLang="pt-BR" dirty="0" smtClean="0"/>
              <a:t>Estudos etnográficos podem revelar detalhes críticos de processo que, muitas vezes, são ignorados por outras técnicas de </a:t>
            </a:r>
            <a:r>
              <a:rPr lang="pt-BR" altLang="pt-BR" dirty="0" err="1" smtClean="0"/>
              <a:t>elicitação</a:t>
            </a:r>
            <a:r>
              <a:rPr lang="pt-BR" altLang="pt-BR" dirty="0" smtClean="0"/>
              <a:t> de requisitos. </a:t>
            </a:r>
          </a:p>
          <a:p>
            <a:pPr algn="just" eaLnBrk="1" hangingPunct="1">
              <a:spcBef>
                <a:spcPct val="0"/>
              </a:spcBef>
            </a:pPr>
            <a:r>
              <a:rPr lang="pt-BR" altLang="pt-BR" dirty="0" smtClean="0"/>
              <a:t>O foco é o usuário final. </a:t>
            </a:r>
          </a:p>
          <a:p>
            <a:pPr algn="just" eaLnBrk="1" hangingPunct="1">
              <a:spcBef>
                <a:spcPct val="0"/>
              </a:spcBef>
            </a:pPr>
            <a:r>
              <a:rPr lang="pt-BR" altLang="pt-BR" dirty="0" smtClean="0"/>
              <a:t>Etnografia nem sempre é apropriada para descobrir requisitos organizacionais ou de domínio. </a:t>
            </a:r>
            <a:r>
              <a:rPr lang="pt-BR" altLang="pt-BR" dirty="0"/>
              <a:t>N</a:t>
            </a:r>
            <a:r>
              <a:rPr lang="pt-BR" altLang="pt-BR" dirty="0" smtClean="0"/>
              <a:t>em sempre identificam novos recursos que devem ser adicionados ao sistema. Não é uma abordagem completa para </a:t>
            </a:r>
            <a:r>
              <a:rPr lang="pt-BR" altLang="pt-BR" dirty="0" err="1" smtClean="0"/>
              <a:t>elicitação</a:t>
            </a:r>
            <a:r>
              <a:rPr lang="pt-BR" altLang="pt-BR" dirty="0" smtClean="0"/>
              <a:t> e deve ser usada para complementar outras abordagens, como análise de casos de uso.</a:t>
            </a:r>
          </a:p>
          <a:p>
            <a:pPr algn="just" eaLnBrk="1" hangingPunct="1">
              <a:spcBef>
                <a:spcPct val="0"/>
              </a:spcBef>
            </a:pPr>
            <a:endParaRPr lang="pt-BR" altLang="pt-BR" dirty="0"/>
          </a:p>
        </p:txBody>
      </p:sp>
    </p:spTree>
    <p:extLst>
      <p:ext uri="{BB962C8B-B14F-4D97-AF65-F5344CB8AC3E}">
        <p14:creationId xmlns:p14="http://schemas.microsoft.com/office/powerpoint/2010/main" val="361047501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CE887E2-5E70-4361-BC3B-AC9474DC1661}" type="slidenum">
              <a:rPr lang="pt-PT" altLang="pt-BR" sz="1400"/>
              <a:pPr>
                <a:spcBef>
                  <a:spcPct val="0"/>
                </a:spcBef>
                <a:buFontTx/>
                <a:buNone/>
              </a:pPr>
              <a:t>75</a:t>
            </a:fld>
            <a:endParaRPr lang="pt-PT" altLang="pt-BR" sz="1400"/>
          </a:p>
        </p:txBody>
      </p:sp>
      <p:sp>
        <p:nvSpPr>
          <p:cNvPr id="28467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pic>
        <p:nvPicPr>
          <p:cNvPr id="284676" name="Imagem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4677" name="Rectangle 3"/>
          <p:cNvSpPr>
            <a:spLocks noGrp="1" noChangeArrowheads="1"/>
          </p:cNvSpPr>
          <p:nvPr>
            <p:ph type="subTitle" idx="1"/>
          </p:nvPr>
        </p:nvSpPr>
        <p:spPr>
          <a:xfrm>
            <a:off x="1565276" y="836614"/>
            <a:ext cx="9180513" cy="6264275"/>
          </a:xfrm>
        </p:spPr>
        <p:txBody>
          <a:bodyPr/>
          <a:lstStyle/>
          <a:p>
            <a:pPr algn="just" eaLnBrk="1" hangingPunct="1">
              <a:spcBef>
                <a:spcPct val="0"/>
              </a:spcBef>
            </a:pPr>
            <a:endParaRPr lang="pt-BR" altLang="pt-BR" smtClean="0"/>
          </a:p>
        </p:txBody>
      </p:sp>
    </p:spTree>
    <p:extLst>
      <p:ext uri="{BB962C8B-B14F-4D97-AF65-F5344CB8AC3E}">
        <p14:creationId xmlns:p14="http://schemas.microsoft.com/office/powerpoint/2010/main" val="196328469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76</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fontScale="92500"/>
          </a:bodyPr>
          <a:lstStyle/>
          <a:p>
            <a:r>
              <a:rPr lang="pt-BR" b="1" dirty="0"/>
              <a:t>Análise de protocolo</a:t>
            </a:r>
            <a:endParaRPr lang="pt-BR" dirty="0"/>
          </a:p>
          <a:p>
            <a:pPr algn="l"/>
            <a:r>
              <a:rPr lang="pt-BR" dirty="0"/>
              <a:t>A técnica </a:t>
            </a:r>
            <a:r>
              <a:rPr lang="pt-BR" dirty="0" smtClean="0"/>
              <a:t>pede </a:t>
            </a:r>
            <a:r>
              <a:rPr lang="pt-BR" dirty="0"/>
              <a:t>ao </a:t>
            </a:r>
            <a:r>
              <a:rPr lang="pt-BR" dirty="0" err="1"/>
              <a:t>stakeholder</a:t>
            </a:r>
            <a:r>
              <a:rPr lang="pt-BR" dirty="0"/>
              <a:t> envolvido em determinado </a:t>
            </a:r>
            <a:r>
              <a:rPr lang="pt-BR" dirty="0" smtClean="0"/>
              <a:t>processo </a:t>
            </a:r>
            <a:r>
              <a:rPr lang="pt-BR" dirty="0"/>
              <a:t>para executar a tarefa e ao mesmo </a:t>
            </a:r>
            <a:r>
              <a:rPr lang="pt-BR" dirty="0" smtClean="0"/>
              <a:t>tempo descrevê-lo, inserindo </a:t>
            </a:r>
            <a:r>
              <a:rPr lang="pt-BR" dirty="0"/>
              <a:t>o que </a:t>
            </a:r>
            <a:r>
              <a:rPr lang="pt-BR" dirty="0" smtClean="0"/>
              <a:t>pensa. </a:t>
            </a:r>
          </a:p>
          <a:p>
            <a:pPr algn="l"/>
            <a:r>
              <a:rPr lang="pt-BR" dirty="0" smtClean="0"/>
              <a:t>Análise </a:t>
            </a:r>
            <a:r>
              <a:rPr lang="pt-BR" dirty="0"/>
              <a:t>de </a:t>
            </a:r>
            <a:r>
              <a:rPr lang="pt-BR" dirty="0" smtClean="0"/>
              <a:t>protocolos</a:t>
            </a:r>
            <a:r>
              <a:rPr lang="pt-BR" dirty="0"/>
              <a:t> </a:t>
            </a:r>
            <a:r>
              <a:rPr lang="pt-BR" dirty="0" smtClean="0"/>
              <a:t>e Entrevista estão sujeitas as </a:t>
            </a:r>
            <a:r>
              <a:rPr lang="pt-BR" dirty="0"/>
              <a:t>más interpretações na descrição do </a:t>
            </a:r>
            <a:r>
              <a:rPr lang="pt-BR" dirty="0" smtClean="0"/>
              <a:t>processo. </a:t>
            </a:r>
          </a:p>
          <a:p>
            <a:pPr algn="l"/>
            <a:r>
              <a:rPr lang="pt-BR" dirty="0" smtClean="0"/>
              <a:t>É </a:t>
            </a:r>
            <a:r>
              <a:rPr lang="pt-BR" dirty="0"/>
              <a:t>uma das técnicas menos recomendadas, devido ao produto final prover poucas informações confiáveis. Ou seja, o usuário envolvido no processo não tem qualquer modelo mental de como será a estrutura do sistema, restringindo muito a aplicação desta técnica.</a:t>
            </a:r>
          </a:p>
          <a:p>
            <a:pPr algn="l"/>
            <a:r>
              <a:rPr lang="pt-BR" dirty="0" smtClean="0"/>
              <a:t>Resumindo: </a:t>
            </a:r>
            <a:r>
              <a:rPr lang="pt-BR" dirty="0"/>
              <a:t>“Os clientes têm conhecimento </a:t>
            </a:r>
            <a:r>
              <a:rPr lang="pt-BR" dirty="0" smtClean="0"/>
              <a:t>dos </a:t>
            </a:r>
            <a:r>
              <a:rPr lang="pt-BR" dirty="0"/>
              <a:t>negócios e necessidades </a:t>
            </a:r>
            <a:r>
              <a:rPr lang="pt-BR" dirty="0" smtClean="0"/>
              <a:t>organizacionais. O </a:t>
            </a:r>
            <a:r>
              <a:rPr lang="pt-BR" dirty="0"/>
              <a:t>time de requisitos tem conhecimento </a:t>
            </a:r>
            <a:r>
              <a:rPr lang="pt-BR" dirty="0" smtClean="0"/>
              <a:t>das </a:t>
            </a:r>
            <a:r>
              <a:rPr lang="pt-BR" dirty="0"/>
              <a:t>possibilidades técnicas”.</a:t>
            </a:r>
          </a:p>
          <a:p>
            <a:r>
              <a:rPr lang="pt-BR" b="1" dirty="0"/>
              <a:t>JAD (Joint </a:t>
            </a:r>
            <a:r>
              <a:rPr lang="pt-BR" b="1" dirty="0" err="1"/>
              <a:t>Application</a:t>
            </a:r>
            <a:r>
              <a:rPr lang="pt-BR" b="1" dirty="0"/>
              <a:t> </a:t>
            </a:r>
            <a:r>
              <a:rPr lang="pt-BR" b="1" dirty="0" err="1"/>
              <a:t>Development</a:t>
            </a:r>
            <a:r>
              <a:rPr lang="pt-BR" b="1" dirty="0"/>
              <a:t>)</a:t>
            </a:r>
          </a:p>
          <a:p>
            <a:pPr algn="l"/>
            <a:r>
              <a:rPr lang="pt-BR" dirty="0"/>
              <a:t>T</a:t>
            </a:r>
            <a:r>
              <a:rPr lang="pt-BR" dirty="0" smtClean="0"/>
              <a:t>écnica </a:t>
            </a:r>
            <a:r>
              <a:rPr lang="pt-BR" dirty="0"/>
              <a:t>para promover cooperação, entendimento e trabalho em grupo entre os usuários desenvolvedores.</a:t>
            </a:r>
          </a:p>
          <a:p>
            <a:pPr algn="l"/>
            <a:r>
              <a:rPr lang="pt-BR" dirty="0"/>
              <a:t>D</a:t>
            </a:r>
            <a:r>
              <a:rPr lang="pt-BR" dirty="0" smtClean="0"/>
              <a:t>esenvolvida </a:t>
            </a:r>
            <a:r>
              <a:rPr lang="pt-BR" dirty="0"/>
              <a:t>pela IBM em 1977 no </a:t>
            </a:r>
            <a:r>
              <a:rPr lang="pt-BR" dirty="0" smtClean="0"/>
              <a:t>Canadá: </a:t>
            </a:r>
            <a:r>
              <a:rPr lang="pt-BR" dirty="0"/>
              <a:t>ferramenta de visão compartilhada, </a:t>
            </a:r>
            <a:r>
              <a:rPr lang="pt-BR" dirty="0" smtClean="0"/>
              <a:t>pelos usuários</a:t>
            </a:r>
            <a:r>
              <a:rPr lang="pt-BR" dirty="0"/>
              <a:t> </a:t>
            </a:r>
            <a:r>
              <a:rPr lang="pt-BR" dirty="0" smtClean="0"/>
              <a:t>e </a:t>
            </a:r>
            <a:r>
              <a:rPr lang="pt-BR" dirty="0"/>
              <a:t>desenvolvedores (fornecedores). </a:t>
            </a:r>
            <a:r>
              <a:rPr lang="pt-BR" dirty="0" smtClean="0"/>
              <a:t>Na </a:t>
            </a:r>
            <a:r>
              <a:rPr lang="pt-BR" dirty="0"/>
              <a:t>sua </a:t>
            </a:r>
            <a:r>
              <a:rPr lang="pt-BR" dirty="0" smtClean="0"/>
              <a:t>utilização, </a:t>
            </a:r>
            <a:r>
              <a:rPr lang="pt-BR" dirty="0"/>
              <a:t>os desenvolvedores ajudam os usuários a formular problemas e explorar </a:t>
            </a:r>
            <a:r>
              <a:rPr lang="pt-BR" dirty="0" smtClean="0"/>
              <a:t>soluções, com </a:t>
            </a:r>
            <a:r>
              <a:rPr lang="pt-BR" dirty="0"/>
              <a:t>sentimento de envolvimento, posse e responsabilidade com o sucesso do produto</a:t>
            </a:r>
            <a:r>
              <a:rPr lang="pt-BR" dirty="0" smtClean="0"/>
              <a:t>.</a:t>
            </a:r>
            <a:endParaRPr lang="pt-BR" dirty="0"/>
          </a:p>
        </p:txBody>
      </p:sp>
    </p:spTree>
    <p:extLst>
      <p:ext uri="{BB962C8B-B14F-4D97-AF65-F5344CB8AC3E}">
        <p14:creationId xmlns:p14="http://schemas.microsoft.com/office/powerpoint/2010/main" val="6437644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77</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l"/>
            <a:r>
              <a:rPr lang="pt-BR" b="1" dirty="0" smtClean="0"/>
              <a:t>A </a:t>
            </a:r>
            <a:r>
              <a:rPr lang="pt-BR" b="1" dirty="0"/>
              <a:t>técnica JAD possui quatro princípios básicos:</a:t>
            </a:r>
            <a:endParaRPr lang="pt-BR" dirty="0"/>
          </a:p>
          <a:p>
            <a:pPr algn="just"/>
            <a:r>
              <a:rPr lang="pt-BR" dirty="0" smtClean="0"/>
              <a:t>1)Dinâmica </a:t>
            </a:r>
            <a:r>
              <a:rPr lang="pt-BR" dirty="0"/>
              <a:t>de grupo: são realizadas reuniões com um líder experiente, analista, usuários e gerentes, para despertar a força e criatividade dos participantes. O resultado final será a determinação dos objetivos e requisitos do sistema;</a:t>
            </a:r>
          </a:p>
          <a:p>
            <a:pPr algn="just"/>
            <a:r>
              <a:rPr lang="pt-BR" dirty="0" smtClean="0"/>
              <a:t>2)Uso </a:t>
            </a:r>
            <a:r>
              <a:rPr lang="pt-BR" dirty="0"/>
              <a:t>de técnicas visuais: para aumentar a comunicação e o entendimento;</a:t>
            </a:r>
          </a:p>
          <a:p>
            <a:pPr algn="just"/>
            <a:r>
              <a:rPr lang="pt-BR" dirty="0" smtClean="0"/>
              <a:t>3)Manutenção </a:t>
            </a:r>
            <a:r>
              <a:rPr lang="pt-BR" dirty="0"/>
              <a:t>do processo organizado e racional: </a:t>
            </a:r>
            <a:r>
              <a:rPr lang="pt-BR" dirty="0" smtClean="0"/>
              <a:t> </a:t>
            </a:r>
            <a:r>
              <a:rPr lang="pt-BR" dirty="0"/>
              <a:t>JAD emprega a análise top </a:t>
            </a:r>
            <a:r>
              <a:rPr lang="pt-BR" dirty="0" err="1"/>
              <a:t>down</a:t>
            </a:r>
            <a:r>
              <a:rPr lang="pt-BR" dirty="0"/>
              <a:t> e atividades bem definidas. </a:t>
            </a:r>
            <a:r>
              <a:rPr lang="pt-BR" dirty="0" smtClean="0"/>
              <a:t>Possibilita </a:t>
            </a:r>
            <a:r>
              <a:rPr lang="pt-BR" dirty="0"/>
              <a:t>a garantia de uma análise completa reduzindo as chances de falhas ou lacunas no projeto e cada nível de detalhe recebe a devida atenção;</a:t>
            </a:r>
          </a:p>
          <a:p>
            <a:pPr algn="just"/>
            <a:r>
              <a:rPr lang="pt-BR" dirty="0" smtClean="0"/>
              <a:t>4)Utilização </a:t>
            </a:r>
            <a:r>
              <a:rPr lang="pt-BR" dirty="0"/>
              <a:t>de documentação padrão: preenchida e assinada por todos os participantes. Este documento garante a qualidade esperada do projeto e promove a confiança dos participantes</a:t>
            </a:r>
            <a:r>
              <a:rPr lang="pt-BR" dirty="0" smtClean="0"/>
              <a:t>.</a:t>
            </a:r>
            <a:endParaRPr lang="pt-BR" dirty="0"/>
          </a:p>
        </p:txBody>
      </p:sp>
    </p:spTree>
    <p:extLst>
      <p:ext uri="{BB962C8B-B14F-4D97-AF65-F5344CB8AC3E}">
        <p14:creationId xmlns:p14="http://schemas.microsoft.com/office/powerpoint/2010/main" val="288842120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78</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dirty="0" smtClean="0"/>
              <a:t>A </a:t>
            </a:r>
            <a:r>
              <a:rPr lang="pt-BR" dirty="0"/>
              <a:t>técnica JAD é composta de duas etapas principais: </a:t>
            </a:r>
            <a:endParaRPr lang="pt-BR" dirty="0" smtClean="0"/>
          </a:p>
          <a:p>
            <a:pPr algn="just"/>
            <a:r>
              <a:rPr lang="pt-BR" dirty="0" smtClean="0"/>
              <a:t>1)Planejamento: </a:t>
            </a:r>
            <a:r>
              <a:rPr lang="pt-BR" dirty="0" err="1"/>
              <a:t>elicitar</a:t>
            </a:r>
            <a:r>
              <a:rPr lang="pt-BR" dirty="0"/>
              <a:t> e especificar os requisitos</a:t>
            </a:r>
            <a:r>
              <a:rPr lang="pt-BR" dirty="0" smtClean="0"/>
              <a:t>;</a:t>
            </a:r>
          </a:p>
          <a:p>
            <a:pPr algn="just"/>
            <a:r>
              <a:rPr lang="pt-BR" dirty="0" smtClean="0"/>
              <a:t>2)Projeto</a:t>
            </a:r>
            <a:r>
              <a:rPr lang="pt-BR" dirty="0"/>
              <a:t>:</a:t>
            </a:r>
            <a:r>
              <a:rPr lang="pt-BR" dirty="0" smtClean="0"/>
              <a:t> </a:t>
            </a:r>
            <a:r>
              <a:rPr lang="pt-BR" dirty="0"/>
              <a:t>em que se lida com o projeto de software. </a:t>
            </a:r>
            <a:endParaRPr lang="pt-BR" dirty="0" smtClean="0"/>
          </a:p>
          <a:p>
            <a:pPr algn="just"/>
            <a:endParaRPr lang="pt-BR" dirty="0"/>
          </a:p>
          <a:p>
            <a:pPr algn="just"/>
            <a:r>
              <a:rPr lang="pt-BR" dirty="0" smtClean="0"/>
              <a:t>Cada </a:t>
            </a:r>
            <a:r>
              <a:rPr lang="pt-BR" dirty="0"/>
              <a:t>etapa consiste em três fases: adaptação, sessão e finalização.</a:t>
            </a:r>
          </a:p>
          <a:p>
            <a:pPr algn="just"/>
            <a:r>
              <a:rPr lang="pt-BR" dirty="0" smtClean="0"/>
              <a:t>1)Adaptação</a:t>
            </a:r>
            <a:r>
              <a:rPr lang="pt-BR" dirty="0"/>
              <a:t>: Organização da equipe, preparação do material, isto é, preparação para a sessão.</a:t>
            </a:r>
          </a:p>
          <a:p>
            <a:pPr algn="just"/>
            <a:r>
              <a:rPr lang="pt-BR" dirty="0" smtClean="0"/>
              <a:t>2) Sessão</a:t>
            </a:r>
            <a:r>
              <a:rPr lang="pt-BR" dirty="0"/>
              <a:t>: Encontros estruturados para extração e documentação dos requisitos, composto de desenvolvedores e usuários</a:t>
            </a:r>
            <a:r>
              <a:rPr lang="pt-BR" dirty="0" smtClean="0"/>
              <a:t>.</a:t>
            </a:r>
          </a:p>
          <a:p>
            <a:pPr algn="just"/>
            <a:r>
              <a:rPr lang="pt-BR" dirty="0" smtClean="0"/>
              <a:t>3)Finalização</a:t>
            </a:r>
            <a:r>
              <a:rPr lang="pt-BR" dirty="0"/>
              <a:t>: Converter os requisitos da sessão em um documento final.</a:t>
            </a:r>
          </a:p>
          <a:p>
            <a:pPr algn="just"/>
            <a:endParaRPr lang="pt-BR" dirty="0"/>
          </a:p>
        </p:txBody>
      </p:sp>
    </p:spTree>
    <p:extLst>
      <p:ext uri="{BB962C8B-B14F-4D97-AF65-F5344CB8AC3E}">
        <p14:creationId xmlns:p14="http://schemas.microsoft.com/office/powerpoint/2010/main" val="4424347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79</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endParaRPr lang="pt-BR" dirty="0"/>
          </a:p>
          <a:p>
            <a:pPr algn="just"/>
            <a:r>
              <a:rPr lang="pt-BR" b="1" dirty="0" smtClean="0"/>
              <a:t>CRC </a:t>
            </a:r>
            <a:r>
              <a:rPr lang="pt-BR" b="1" dirty="0"/>
              <a:t>(</a:t>
            </a:r>
            <a:r>
              <a:rPr lang="pt-BR" b="1" dirty="0" err="1"/>
              <a:t>Cooperative</a:t>
            </a:r>
            <a:r>
              <a:rPr lang="pt-BR" b="1" dirty="0"/>
              <a:t> </a:t>
            </a:r>
            <a:r>
              <a:rPr lang="pt-BR" b="1" dirty="0" err="1"/>
              <a:t>Requirements</a:t>
            </a:r>
            <a:r>
              <a:rPr lang="pt-BR" b="1" dirty="0"/>
              <a:t> Capture)</a:t>
            </a:r>
            <a:endParaRPr lang="pt-BR" dirty="0"/>
          </a:p>
          <a:p>
            <a:pPr algn="just"/>
            <a:r>
              <a:rPr lang="pt-BR" dirty="0" smtClean="0"/>
              <a:t>A sessão </a:t>
            </a:r>
            <a:r>
              <a:rPr lang="pt-BR" dirty="0"/>
              <a:t>de grupo, muito parecido o </a:t>
            </a:r>
            <a:r>
              <a:rPr lang="pt-BR" dirty="0" smtClean="0"/>
              <a:t>JAD</a:t>
            </a:r>
          </a:p>
          <a:p>
            <a:pPr algn="just"/>
            <a:r>
              <a:rPr lang="pt-BR" dirty="0" smtClean="0"/>
              <a:t>Papéis </a:t>
            </a:r>
            <a:r>
              <a:rPr lang="pt-BR" dirty="0"/>
              <a:t>dos participantes e do facilitador são claramente definidos. </a:t>
            </a:r>
            <a:endParaRPr lang="pt-BR" dirty="0" smtClean="0"/>
          </a:p>
          <a:p>
            <a:pPr algn="just"/>
            <a:r>
              <a:rPr lang="pt-BR" dirty="0" smtClean="0"/>
              <a:t>CRC: </a:t>
            </a:r>
            <a:r>
              <a:rPr lang="pt-BR" dirty="0"/>
              <a:t>outras pessoas se envolvem diretamente na coleta de requisitos. </a:t>
            </a:r>
            <a:endParaRPr lang="pt-BR" dirty="0" smtClean="0"/>
          </a:p>
          <a:p>
            <a:pPr algn="just"/>
            <a:r>
              <a:rPr lang="pt-BR" dirty="0" smtClean="0"/>
              <a:t>A </a:t>
            </a:r>
            <a:r>
              <a:rPr lang="pt-BR" dirty="0"/>
              <a:t>diferença básica do CRC para o </a:t>
            </a:r>
            <a:r>
              <a:rPr lang="pt-BR" dirty="0" smtClean="0"/>
              <a:t>JAD: CRC foca </a:t>
            </a:r>
            <a:r>
              <a:rPr lang="pt-BR" dirty="0"/>
              <a:t>mais no usuário operativo</a:t>
            </a:r>
            <a:r>
              <a:rPr lang="pt-BR" dirty="0" smtClean="0"/>
              <a:t>, ligado </a:t>
            </a:r>
            <a:r>
              <a:rPr lang="pt-BR" dirty="0"/>
              <a:t>diretamente com as tarefas operacionais</a:t>
            </a:r>
            <a:r>
              <a:rPr lang="pt-BR" dirty="0" smtClean="0"/>
              <a:t>.</a:t>
            </a:r>
            <a:endParaRPr lang="pt-BR" dirty="0"/>
          </a:p>
        </p:txBody>
      </p:sp>
    </p:spTree>
    <p:extLst>
      <p:ext uri="{BB962C8B-B14F-4D97-AF65-F5344CB8AC3E}">
        <p14:creationId xmlns:p14="http://schemas.microsoft.com/office/powerpoint/2010/main" val="76180608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9828F0-C811-4B3B-8A9B-51B7F50880AE}" type="slidenum">
              <a:rPr lang="pt-PT" altLang="pt-BR" sz="1400"/>
              <a:pPr>
                <a:spcBef>
                  <a:spcPct val="0"/>
                </a:spcBef>
                <a:buFontTx/>
                <a:buNone/>
              </a:pPr>
              <a:t>80</a:t>
            </a:fld>
            <a:endParaRPr lang="pt-PT" altLang="pt-BR" sz="1400"/>
          </a:p>
        </p:txBody>
      </p:sp>
      <p:sp>
        <p:nvSpPr>
          <p:cNvPr id="46083" name="Rectangle 2"/>
          <p:cNvSpPr>
            <a:spLocks noGrp="1" noChangeArrowheads="1"/>
          </p:cNvSpPr>
          <p:nvPr>
            <p:ph type="ctrTitle"/>
          </p:nvPr>
        </p:nvSpPr>
        <p:spPr>
          <a:xfrm>
            <a:off x="1343026" y="0"/>
            <a:ext cx="9217025" cy="1143000"/>
          </a:xfrm>
        </p:spPr>
        <p:txBody>
          <a:bodyPr anchor="ctr">
            <a:normAutofit fontScale="90000"/>
          </a:bodyPr>
          <a:lstStyle/>
          <a:p>
            <a:pPr eaLnBrk="1" hangingPunct="1"/>
            <a:r>
              <a:rPr lang="pt-BR" altLang="pt-BR" sz="3600" dirty="0"/>
              <a:t>2 Processos de Software Especificação de software ou engenharia de requisitos</a:t>
            </a:r>
            <a:br>
              <a:rPr lang="pt-BR" altLang="pt-BR" sz="3600" dirty="0"/>
            </a:br>
            <a:r>
              <a:rPr lang="pt-BR" altLang="pt-BR" sz="3600" dirty="0"/>
              <a:t> </a:t>
            </a:r>
            <a:endParaRPr lang="pt-PT" altLang="pt-BR" sz="3600" dirty="0"/>
          </a:p>
        </p:txBody>
      </p:sp>
      <p:sp>
        <p:nvSpPr>
          <p:cNvPr id="46084" name="Rectangle 3"/>
          <p:cNvSpPr>
            <a:spLocks noGrp="1" noChangeArrowheads="1"/>
          </p:cNvSpPr>
          <p:nvPr>
            <p:ph type="subTitle" idx="1"/>
          </p:nvPr>
        </p:nvSpPr>
        <p:spPr>
          <a:xfrm>
            <a:off x="181155" y="1026543"/>
            <a:ext cx="12010845" cy="5831457"/>
          </a:xfrm>
        </p:spPr>
        <p:txBody>
          <a:bodyPr>
            <a:normAutofit/>
          </a:bodyPr>
          <a:lstStyle/>
          <a:p>
            <a:pPr algn="just"/>
            <a:r>
              <a:rPr lang="pt-BR" b="1" dirty="0"/>
              <a:t>Prototipagem</a:t>
            </a:r>
            <a:endParaRPr lang="pt-BR" dirty="0"/>
          </a:p>
          <a:p>
            <a:pPr algn="just"/>
            <a:r>
              <a:rPr lang="pt-BR" dirty="0" smtClean="0"/>
              <a:t>Aplicada </a:t>
            </a:r>
            <a:r>
              <a:rPr lang="pt-BR" dirty="0"/>
              <a:t>principalmente durante os processos de levantamento, desenvolvimento e validação dos requisitos do sistema. </a:t>
            </a:r>
            <a:endParaRPr lang="pt-BR" dirty="0" smtClean="0"/>
          </a:p>
          <a:p>
            <a:pPr algn="just"/>
            <a:r>
              <a:rPr lang="pt-BR" dirty="0" smtClean="0"/>
              <a:t>A </a:t>
            </a:r>
            <a:r>
              <a:rPr lang="pt-BR" dirty="0"/>
              <a:t>técnica começa pelo estudo preliminar dos requisitos do usuário e conclui com vários requisitos formulados e um protótipo descartável do sistema para validação do usuário.</a:t>
            </a:r>
          </a:p>
          <a:p>
            <a:pPr algn="just"/>
            <a:r>
              <a:rPr lang="pt-BR" dirty="0"/>
              <a:t>O conjunto inicial de requisitos é usado como base para criar o Protótipo de Interface do Usuário com o sistema inicial, mais simplificado.</a:t>
            </a:r>
          </a:p>
          <a:p>
            <a:pPr algn="just"/>
            <a:r>
              <a:rPr lang="pt-BR" dirty="0"/>
              <a:t>Nessa fase inicial, devem-se mostrar todas as possibilidades dos protótipos simples para o usuário, para que ele possa validar e assim poder gastar esforços nos protótipos específicos (mais robustos), ou seja, não dispender recursos com protótipos errados.</a:t>
            </a:r>
          </a:p>
          <a:p>
            <a:pPr algn="just"/>
            <a:r>
              <a:rPr lang="pt-BR" dirty="0" smtClean="0"/>
              <a:t>Após </a:t>
            </a:r>
            <a:r>
              <a:rPr lang="pt-BR" dirty="0"/>
              <a:t>a aceitação do protótipo pelos usuários, os desenvolvedores precisam criar um documento de especificação dos requisitos paralelo ao protótipo de Interface.</a:t>
            </a:r>
          </a:p>
          <a:p>
            <a:pPr algn="just"/>
            <a:r>
              <a:rPr lang="pt-BR" dirty="0"/>
              <a:t>Depois </a:t>
            </a:r>
            <a:r>
              <a:rPr lang="pt-BR" dirty="0" smtClean="0"/>
              <a:t>da </a:t>
            </a:r>
            <a:r>
              <a:rPr lang="pt-BR" dirty="0"/>
              <a:t>aceitação e validação, é iniciado um processo de implementação incremental e iterativa entre os usuários e os desenvolvedores. Nessa fase do projeto, o cliente interage com o desenvolvedor, apresentando as funcionalidades desejadas de acordo com as necessidades</a:t>
            </a:r>
            <a:r>
              <a:rPr lang="pt-BR" dirty="0" smtClean="0"/>
              <a:t>.</a:t>
            </a:r>
            <a:endParaRPr lang="pt-BR" dirty="0"/>
          </a:p>
        </p:txBody>
      </p:sp>
    </p:spTree>
    <p:extLst>
      <p:ext uri="{BB962C8B-B14F-4D97-AF65-F5344CB8AC3E}">
        <p14:creationId xmlns:p14="http://schemas.microsoft.com/office/powerpoint/2010/main" val="272358630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DD3C67E-5ACA-4C14-B861-759A63B0E14E}" type="slidenum">
              <a:rPr lang="pt-PT" altLang="pt-BR" sz="1400"/>
              <a:pPr>
                <a:spcBef>
                  <a:spcPct val="0"/>
                </a:spcBef>
                <a:buFontTx/>
                <a:buNone/>
              </a:pPr>
              <a:t>81</a:t>
            </a:fld>
            <a:endParaRPr lang="pt-PT" altLang="pt-BR" sz="1400"/>
          </a:p>
        </p:txBody>
      </p:sp>
      <p:sp>
        <p:nvSpPr>
          <p:cNvPr id="28569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5700" name="Rectangle 3"/>
          <p:cNvSpPr>
            <a:spLocks noGrp="1" noChangeArrowheads="1"/>
          </p:cNvSpPr>
          <p:nvPr>
            <p:ph type="subTitle" idx="1"/>
          </p:nvPr>
        </p:nvSpPr>
        <p:spPr>
          <a:xfrm>
            <a:off x="0" y="836614"/>
            <a:ext cx="12111487" cy="6073775"/>
          </a:xfrm>
        </p:spPr>
        <p:txBody>
          <a:bodyPr/>
          <a:lstStyle/>
          <a:p>
            <a:pPr algn="just" eaLnBrk="1" hangingPunct="1">
              <a:spcBef>
                <a:spcPct val="0"/>
              </a:spcBef>
            </a:pPr>
            <a:r>
              <a:rPr lang="pt-BR" altLang="pt-BR" dirty="0" smtClean="0"/>
              <a:t>Validação de requisitos</a:t>
            </a:r>
          </a:p>
          <a:p>
            <a:pPr algn="just" eaLnBrk="1" hangingPunct="1">
              <a:spcBef>
                <a:spcPct val="0"/>
              </a:spcBef>
            </a:pPr>
            <a:endParaRPr lang="pt-BR" altLang="pt-BR" dirty="0" smtClean="0"/>
          </a:p>
          <a:p>
            <a:pPr algn="just" eaLnBrk="1" hangingPunct="1">
              <a:spcBef>
                <a:spcPct val="0"/>
              </a:spcBef>
            </a:pPr>
            <a:r>
              <a:rPr lang="pt-BR" altLang="pt-BR" dirty="0" smtClean="0"/>
              <a:t>Processo de verificar se os requisitos definem o sistema que o cliente realmente quer. </a:t>
            </a:r>
          </a:p>
          <a:p>
            <a:pPr algn="just" eaLnBrk="1" hangingPunct="1">
              <a:spcBef>
                <a:spcPct val="0"/>
              </a:spcBef>
            </a:pPr>
            <a:r>
              <a:rPr lang="pt-BR" altLang="pt-BR" dirty="0" smtClean="0"/>
              <a:t>Preocupa-se em encontrar problemas com os requisitos. </a:t>
            </a:r>
          </a:p>
          <a:p>
            <a:pPr algn="just" eaLnBrk="1" hangingPunct="1">
              <a:spcBef>
                <a:spcPct val="0"/>
              </a:spcBef>
            </a:pPr>
            <a:endParaRPr lang="pt-BR" altLang="pt-BR" dirty="0" smtClean="0"/>
          </a:p>
          <a:p>
            <a:pPr algn="just" eaLnBrk="1" hangingPunct="1">
              <a:spcBef>
                <a:spcPct val="0"/>
              </a:spcBef>
            </a:pPr>
            <a:r>
              <a:rPr lang="pt-BR" altLang="pt-BR" dirty="0" smtClean="0"/>
              <a:t>Importante: erros em documento de requisitos geram altos custos de retrabalho, descobertos durante o desenvolvimento ou após o sistema estar em serviço. O custo para consertar um problema de requisitos por meio de uma mudança no sistema é geralmente muito maior do que o custo de consertar erros de projeto ou de codificação.</a:t>
            </a:r>
          </a:p>
          <a:p>
            <a:pPr algn="just" eaLnBrk="1" hangingPunct="1">
              <a:spcBef>
                <a:spcPct val="0"/>
              </a:spcBef>
            </a:pPr>
            <a:r>
              <a:rPr lang="pt-BR" altLang="pt-BR" dirty="0" smtClean="0"/>
              <a:t> </a:t>
            </a:r>
          </a:p>
          <a:p>
            <a:pPr algn="just" eaLnBrk="1" hangingPunct="1">
              <a:spcBef>
                <a:spcPct val="0"/>
              </a:spcBef>
            </a:pPr>
            <a:r>
              <a:rPr lang="pt-BR" altLang="pt-BR" dirty="0" smtClean="0"/>
              <a:t>A ocorrência de mudança dos requisitos normalmente significa que o projeto e a implementação do sistema também devem ser alterados e o sistema </a:t>
            </a:r>
            <a:r>
              <a:rPr lang="pt-BR" altLang="pt-BR" dirty="0" err="1" smtClean="0"/>
              <a:t>retestado</a:t>
            </a:r>
            <a:r>
              <a:rPr lang="pt-BR" altLang="pt-BR" dirty="0" smtClean="0"/>
              <a:t>.</a:t>
            </a:r>
          </a:p>
        </p:txBody>
      </p:sp>
    </p:spTree>
    <p:extLst>
      <p:ext uri="{BB962C8B-B14F-4D97-AF65-F5344CB8AC3E}">
        <p14:creationId xmlns:p14="http://schemas.microsoft.com/office/powerpoint/2010/main" val="392450302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C6B618D-6CD5-4499-AF04-755D756A35A0}" type="slidenum">
              <a:rPr lang="pt-PT" altLang="pt-BR" sz="1400"/>
              <a:pPr>
                <a:spcBef>
                  <a:spcPct val="0"/>
                </a:spcBef>
                <a:buFontTx/>
                <a:buNone/>
              </a:pPr>
              <a:t>82</a:t>
            </a:fld>
            <a:endParaRPr lang="pt-PT" altLang="pt-BR" sz="1400"/>
          </a:p>
        </p:txBody>
      </p:sp>
      <p:sp>
        <p:nvSpPr>
          <p:cNvPr id="28774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7748" name="Rectangle 3"/>
          <p:cNvSpPr>
            <a:spLocks noGrp="1" noChangeArrowheads="1"/>
          </p:cNvSpPr>
          <p:nvPr>
            <p:ph type="subTitle" idx="1"/>
          </p:nvPr>
        </p:nvSpPr>
        <p:spPr>
          <a:xfrm>
            <a:off x="60385" y="698739"/>
            <a:ext cx="11930332" cy="6211649"/>
          </a:xfrm>
        </p:spPr>
        <p:txBody>
          <a:bodyPr/>
          <a:lstStyle/>
          <a:p>
            <a:pPr algn="just" eaLnBrk="1" hangingPunct="1">
              <a:spcBef>
                <a:spcPct val="0"/>
              </a:spcBef>
            </a:pPr>
            <a:r>
              <a:rPr lang="pt-BR" altLang="pt-BR" dirty="0" smtClean="0"/>
              <a:t>Validação de requisitos</a:t>
            </a:r>
          </a:p>
          <a:p>
            <a:pPr algn="just" eaLnBrk="1" hangingPunct="1">
              <a:spcBef>
                <a:spcPct val="0"/>
              </a:spcBef>
            </a:pPr>
            <a:endParaRPr lang="pt-BR" altLang="pt-BR" dirty="0" smtClean="0"/>
          </a:p>
          <a:p>
            <a:pPr algn="just" eaLnBrk="1" hangingPunct="1">
              <a:spcBef>
                <a:spcPct val="0"/>
              </a:spcBef>
            </a:pPr>
            <a:r>
              <a:rPr lang="pt-BR" altLang="pt-BR" dirty="0" smtClean="0"/>
              <a:t>Processo de validação inclui diferentes tipos (5) de verificação dos requisitos no documento de requisitos:</a:t>
            </a:r>
          </a:p>
          <a:p>
            <a:pPr algn="just" eaLnBrk="1" hangingPunct="1">
              <a:spcBef>
                <a:spcPct val="0"/>
              </a:spcBef>
            </a:pPr>
            <a:endParaRPr lang="pt-BR" altLang="pt-BR" dirty="0" smtClean="0"/>
          </a:p>
          <a:p>
            <a:pPr algn="just" eaLnBrk="1" hangingPunct="1">
              <a:spcBef>
                <a:spcPct val="0"/>
              </a:spcBef>
            </a:pPr>
            <a:r>
              <a:rPr lang="pt-BR" altLang="pt-BR" dirty="0" smtClean="0"/>
              <a:t>1.Verificações de validade: usuário pode pensar que é necessário um sistema para executar determinadas funções. Maior reflexão e análise podem identificar funções necessárias, adicionais ou diferentes. Os sistemas têm diversos </a:t>
            </a:r>
            <a:r>
              <a:rPr lang="pt-BR" altLang="pt-BR" dirty="0" err="1" smtClean="0"/>
              <a:t>stakeholders</a:t>
            </a:r>
            <a:r>
              <a:rPr lang="pt-BR" altLang="pt-BR" dirty="0" smtClean="0"/>
              <a:t> com diferentes necessidades, e qualquer conjunto de requisitos é um compromisso da comunidade de </a:t>
            </a:r>
            <a:r>
              <a:rPr lang="pt-BR" altLang="pt-BR" dirty="0" err="1" smtClean="0"/>
              <a:t>stakeholders</a:t>
            </a:r>
            <a:r>
              <a:rPr lang="pt-BR" altLang="pt-BR" dirty="0" smtClean="0"/>
              <a:t>.</a:t>
            </a:r>
          </a:p>
          <a:p>
            <a:pPr algn="just" eaLnBrk="1" hangingPunct="1">
              <a:spcBef>
                <a:spcPct val="0"/>
              </a:spcBef>
            </a:pPr>
            <a:endParaRPr lang="pt-BR" altLang="pt-BR" dirty="0" smtClean="0"/>
          </a:p>
          <a:p>
            <a:pPr algn="just" eaLnBrk="1" hangingPunct="1">
              <a:spcBef>
                <a:spcPct val="0"/>
              </a:spcBef>
            </a:pPr>
            <a:r>
              <a:rPr lang="pt-BR" altLang="pt-BR" dirty="0" smtClean="0"/>
              <a:t> 2. Verificações de consistência: Requisitos no documento não devem entrar em conflito. Não deve haver restrições contraditórias ou descrições diferentes da mesma função do sistema.</a:t>
            </a:r>
          </a:p>
          <a:p>
            <a:pPr algn="just" eaLnBrk="1" hangingPunct="1">
              <a:spcBef>
                <a:spcPct val="0"/>
              </a:spcBef>
            </a:pPr>
            <a:endParaRPr lang="pt-BR" altLang="pt-BR" dirty="0" smtClean="0"/>
          </a:p>
          <a:p>
            <a:pPr algn="just" eaLnBrk="1" hangingPunct="1">
              <a:spcBef>
                <a:spcPct val="0"/>
              </a:spcBef>
            </a:pPr>
            <a:r>
              <a:rPr lang="pt-BR" altLang="pt-BR" dirty="0" smtClean="0"/>
              <a:t> 3. Verificações de completude: O documento de requisitos deve incluir requisitos que definam todas as funções e as restrições pretendidas pelo usuário do sistema. </a:t>
            </a:r>
          </a:p>
        </p:txBody>
      </p:sp>
    </p:spTree>
    <p:extLst>
      <p:ext uri="{BB962C8B-B14F-4D97-AF65-F5344CB8AC3E}">
        <p14:creationId xmlns:p14="http://schemas.microsoft.com/office/powerpoint/2010/main" val="249218214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9FF7CA-3754-46E2-9E7E-FCFF16AECE01}" type="slidenum">
              <a:rPr lang="pt-PT" altLang="pt-BR" sz="1400"/>
              <a:pPr>
                <a:spcBef>
                  <a:spcPct val="0"/>
                </a:spcBef>
                <a:buFontTx/>
                <a:buNone/>
              </a:pPr>
              <a:t>83</a:t>
            </a:fld>
            <a:endParaRPr lang="pt-PT" altLang="pt-BR" sz="1400"/>
          </a:p>
        </p:txBody>
      </p:sp>
      <p:sp>
        <p:nvSpPr>
          <p:cNvPr id="28877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8772" name="Rectangle 3"/>
          <p:cNvSpPr>
            <a:spLocks noGrp="1" noChangeArrowheads="1"/>
          </p:cNvSpPr>
          <p:nvPr>
            <p:ph type="subTitle" idx="1"/>
          </p:nvPr>
        </p:nvSpPr>
        <p:spPr>
          <a:xfrm>
            <a:off x="112142" y="948905"/>
            <a:ext cx="11973465" cy="5961483"/>
          </a:xfrm>
        </p:spPr>
        <p:txBody>
          <a:bodyPr/>
          <a:lstStyle/>
          <a:p>
            <a:pPr algn="just" eaLnBrk="1" hangingPunct="1">
              <a:spcBef>
                <a:spcPct val="0"/>
              </a:spcBef>
            </a:pPr>
            <a:r>
              <a:rPr lang="pt-BR" altLang="pt-BR" dirty="0" smtClean="0"/>
              <a:t>Validação de requisitos</a:t>
            </a:r>
          </a:p>
          <a:p>
            <a:pPr algn="just" eaLnBrk="1" hangingPunct="1">
              <a:spcBef>
                <a:spcPct val="0"/>
              </a:spcBef>
            </a:pPr>
            <a:endParaRPr lang="pt-BR" altLang="pt-BR" dirty="0" smtClean="0"/>
          </a:p>
          <a:p>
            <a:pPr algn="just" eaLnBrk="1" hangingPunct="1">
              <a:spcBef>
                <a:spcPct val="0"/>
              </a:spcBef>
            </a:pPr>
            <a:r>
              <a:rPr lang="pt-BR" altLang="pt-BR" dirty="0" smtClean="0"/>
              <a:t>Processo de validação </a:t>
            </a:r>
            <a:r>
              <a:rPr lang="pt-BR" altLang="pt-BR" dirty="0" smtClean="0"/>
              <a:t>inclui </a:t>
            </a:r>
            <a:r>
              <a:rPr lang="pt-BR" altLang="pt-BR" dirty="0" smtClean="0"/>
              <a:t>diferentes tipos de verificação os requisitos no documento de requisitos:</a:t>
            </a:r>
          </a:p>
          <a:p>
            <a:pPr algn="just" eaLnBrk="1" hangingPunct="1">
              <a:spcBef>
                <a:spcPct val="0"/>
              </a:spcBef>
            </a:pPr>
            <a:endParaRPr lang="pt-BR" altLang="pt-BR" dirty="0" smtClean="0"/>
          </a:p>
          <a:p>
            <a:pPr algn="just" eaLnBrk="1" hangingPunct="1">
              <a:spcBef>
                <a:spcPct val="0"/>
              </a:spcBef>
            </a:pPr>
            <a:r>
              <a:rPr lang="pt-BR" altLang="pt-BR" dirty="0" smtClean="0"/>
              <a:t>4. Verificações de realismo: Usando o conhecimento das tecnologias existentes, os requisitos devem ser verificados para assegurar que realmente podem ser implementados. </a:t>
            </a:r>
            <a:r>
              <a:rPr lang="pt-BR" altLang="pt-BR" dirty="0"/>
              <a:t>D</a:t>
            </a:r>
            <a:r>
              <a:rPr lang="pt-BR" altLang="pt-BR" dirty="0" smtClean="0"/>
              <a:t>evem considerar o orçamento e o cronograma para o desenvolvimento do sistema. </a:t>
            </a:r>
          </a:p>
          <a:p>
            <a:pPr algn="just" eaLnBrk="1" hangingPunct="1">
              <a:spcBef>
                <a:spcPct val="0"/>
              </a:spcBef>
            </a:pPr>
            <a:endParaRPr lang="pt-BR" altLang="pt-BR" dirty="0" smtClean="0"/>
          </a:p>
          <a:p>
            <a:pPr algn="just" eaLnBrk="1" hangingPunct="1">
              <a:spcBef>
                <a:spcPct val="0"/>
              </a:spcBef>
            </a:pPr>
            <a:r>
              <a:rPr lang="pt-BR" altLang="pt-BR" dirty="0" smtClean="0"/>
              <a:t>5. </a:t>
            </a:r>
            <a:r>
              <a:rPr lang="pt-BR" altLang="pt-BR" dirty="0" err="1" smtClean="0"/>
              <a:t>Verificabilidade</a:t>
            </a:r>
            <a:r>
              <a:rPr lang="pt-BR" altLang="pt-BR" dirty="0" smtClean="0"/>
              <a:t>: Para reduzir o potencial de conflito entre o cliente e o contratante, os requisitos do sistema devem ser passíveis de verificação. Deve-se escrever um conjunto de testes que demonstrem que o sistema entregue atende a cada requisito especificado.</a:t>
            </a:r>
          </a:p>
        </p:txBody>
      </p:sp>
      <p:sp>
        <p:nvSpPr>
          <p:cNvPr id="28877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52327949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8ADA51-4769-4763-9AC0-860DE278FDC4}" type="slidenum">
              <a:rPr lang="pt-PT" altLang="pt-BR" sz="1400"/>
              <a:pPr>
                <a:spcBef>
                  <a:spcPct val="0"/>
                </a:spcBef>
                <a:buFontTx/>
                <a:buNone/>
              </a:pPr>
              <a:t>84</a:t>
            </a:fld>
            <a:endParaRPr lang="pt-PT" altLang="pt-BR" sz="1400"/>
          </a:p>
        </p:txBody>
      </p:sp>
      <p:sp>
        <p:nvSpPr>
          <p:cNvPr id="28979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9796" name="Rectangle 3"/>
          <p:cNvSpPr>
            <a:spLocks noGrp="1" noChangeArrowheads="1"/>
          </p:cNvSpPr>
          <p:nvPr>
            <p:ph type="subTitle" idx="1"/>
          </p:nvPr>
        </p:nvSpPr>
        <p:spPr>
          <a:xfrm>
            <a:off x="0" y="836614"/>
            <a:ext cx="12076981" cy="6073775"/>
          </a:xfrm>
        </p:spPr>
        <p:txBody>
          <a:bodyPr/>
          <a:lstStyle/>
          <a:p>
            <a:pPr algn="just" eaLnBrk="1" hangingPunct="1">
              <a:spcBef>
                <a:spcPct val="0"/>
              </a:spcBef>
            </a:pPr>
            <a:r>
              <a:rPr lang="pt-BR" altLang="pt-BR" dirty="0" smtClean="0"/>
              <a:t>Técnicas de Validação de requisitos, usadas individualmente ou em conjunto:</a:t>
            </a:r>
          </a:p>
          <a:p>
            <a:pPr algn="just" eaLnBrk="1" hangingPunct="1">
              <a:spcBef>
                <a:spcPct val="0"/>
              </a:spcBef>
            </a:pPr>
            <a:endParaRPr lang="pt-BR" altLang="pt-BR" dirty="0" smtClean="0"/>
          </a:p>
          <a:p>
            <a:pPr algn="just" eaLnBrk="1" hangingPunct="1">
              <a:spcBef>
                <a:spcPct val="0"/>
              </a:spcBef>
            </a:pPr>
            <a:r>
              <a:rPr lang="pt-BR" altLang="pt-BR" dirty="0" smtClean="0"/>
              <a:t>1.Revisões de requisitos: requisitos são analisados sistematicamente por uma equipe de revisores que verifica erros e inconsistências.</a:t>
            </a:r>
          </a:p>
          <a:p>
            <a:pPr algn="just" eaLnBrk="1" hangingPunct="1">
              <a:spcBef>
                <a:spcPct val="0"/>
              </a:spcBef>
            </a:pPr>
            <a:endParaRPr lang="pt-BR" altLang="pt-BR" dirty="0" smtClean="0"/>
          </a:p>
          <a:p>
            <a:pPr algn="just" eaLnBrk="1" hangingPunct="1">
              <a:spcBef>
                <a:spcPct val="0"/>
              </a:spcBef>
            </a:pPr>
            <a:r>
              <a:rPr lang="pt-BR" altLang="pt-BR" dirty="0" smtClean="0"/>
              <a:t> 2. Prototipação: modelo executável do sistema é demonstrado para os usuários finais e clientes. Estes podem experimentar o modelo para verificar se atende a suas reais necessidades. </a:t>
            </a:r>
          </a:p>
          <a:p>
            <a:pPr algn="just" eaLnBrk="1" hangingPunct="1">
              <a:spcBef>
                <a:spcPct val="0"/>
              </a:spcBef>
            </a:pPr>
            <a:endParaRPr lang="pt-BR" altLang="pt-BR" dirty="0" smtClean="0"/>
          </a:p>
          <a:p>
            <a:pPr algn="just" eaLnBrk="1" hangingPunct="1">
              <a:spcBef>
                <a:spcPct val="0"/>
              </a:spcBef>
            </a:pPr>
            <a:r>
              <a:rPr lang="pt-BR" altLang="pt-BR" dirty="0" smtClean="0"/>
              <a:t>3. Geração de casos de teste: Os requisitos devem ser testáveis. </a:t>
            </a:r>
            <a:r>
              <a:rPr lang="pt-BR" altLang="pt-BR" dirty="0"/>
              <a:t>T</a:t>
            </a:r>
            <a:r>
              <a:rPr lang="pt-BR" altLang="pt-BR" dirty="0" smtClean="0"/>
              <a:t>estes concebidos como parte do processo de validação</a:t>
            </a:r>
            <a:r>
              <a:rPr lang="pt-BR" altLang="pt-BR" dirty="0"/>
              <a:t> </a:t>
            </a:r>
            <a:r>
              <a:rPr lang="pt-BR" altLang="pt-BR" dirty="0" smtClean="0"/>
              <a:t>podem revelar problemas de requisitos. Se é difícil ou impossível projetar um teste, significa que os requisitos serão difíceis de serem implementados e devem ser reconsiderados. O desenvolvimento de testes, a partir dos requisitos do usuário, antes de qualquer código ser escrito, é parte integrante do Extreme </a:t>
            </a:r>
            <a:r>
              <a:rPr lang="pt-BR" altLang="pt-BR" dirty="0" err="1" smtClean="0"/>
              <a:t>Programming</a:t>
            </a:r>
            <a:r>
              <a:rPr lang="pt-BR" altLang="pt-BR" dirty="0" smtClean="0"/>
              <a:t>.</a:t>
            </a:r>
          </a:p>
        </p:txBody>
      </p:sp>
      <p:sp>
        <p:nvSpPr>
          <p:cNvPr id="28979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5940079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8ADA51-4769-4763-9AC0-860DE278FDC4}" type="slidenum">
              <a:rPr lang="pt-PT" altLang="pt-BR" sz="1400"/>
              <a:pPr>
                <a:spcBef>
                  <a:spcPct val="0"/>
                </a:spcBef>
                <a:buFontTx/>
                <a:buNone/>
              </a:pPr>
              <a:t>85</a:t>
            </a:fld>
            <a:endParaRPr lang="pt-PT" altLang="pt-BR" sz="1400"/>
          </a:p>
        </p:txBody>
      </p:sp>
      <p:sp>
        <p:nvSpPr>
          <p:cNvPr id="28979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9796" name="Rectangle 3"/>
          <p:cNvSpPr>
            <a:spLocks noGrp="1" noChangeArrowheads="1"/>
          </p:cNvSpPr>
          <p:nvPr>
            <p:ph type="subTitle" idx="1"/>
          </p:nvPr>
        </p:nvSpPr>
        <p:spPr>
          <a:xfrm>
            <a:off x="0" y="836614"/>
            <a:ext cx="12076981" cy="6073775"/>
          </a:xfrm>
        </p:spPr>
        <p:txBody>
          <a:bodyPr/>
          <a:lstStyle/>
          <a:p>
            <a:pPr algn="just" eaLnBrk="1" hangingPunct="1">
              <a:spcBef>
                <a:spcPct val="0"/>
              </a:spcBef>
            </a:pPr>
            <a:r>
              <a:rPr lang="pt-BR" altLang="pt-BR" dirty="0" smtClean="0"/>
              <a:t>Técnicas de Validação de requisitos, usadas individualmente ou em conjunto:</a:t>
            </a:r>
          </a:p>
          <a:p>
            <a:pPr algn="l"/>
            <a:r>
              <a:rPr lang="pt-BR" b="1" dirty="0" smtClean="0"/>
              <a:t>Exemplo de caso de teste de </a:t>
            </a:r>
            <a:r>
              <a:rPr lang="pt-BR" b="1" dirty="0" err="1" smtClean="0"/>
              <a:t>login</a:t>
            </a:r>
            <a:r>
              <a:rPr lang="pt-BR" b="1" dirty="0" smtClean="0"/>
              <a:t>:</a:t>
            </a:r>
          </a:p>
          <a:p>
            <a:pPr algn="l"/>
            <a:r>
              <a:rPr lang="pt-BR" dirty="0" smtClean="0"/>
              <a:t>Credenciais </a:t>
            </a:r>
            <a:r>
              <a:rPr lang="pt-BR" dirty="0"/>
              <a:t>válidas e inválidas</a:t>
            </a:r>
          </a:p>
          <a:p>
            <a:pPr algn="l"/>
            <a:r>
              <a:rPr lang="pt-BR" dirty="0"/>
              <a:t>Recuperação de senha</a:t>
            </a:r>
          </a:p>
          <a:p>
            <a:pPr algn="l"/>
            <a:r>
              <a:rPr lang="pt-BR" dirty="0"/>
              <a:t>Autenticação de vários fatores</a:t>
            </a:r>
          </a:p>
          <a:p>
            <a:pPr algn="l"/>
            <a:r>
              <a:rPr lang="pt-BR" dirty="0"/>
              <a:t>Capacidade de resposta durante picos de </a:t>
            </a:r>
            <a:r>
              <a:rPr lang="pt-BR" dirty="0" smtClean="0"/>
              <a:t>uso</a:t>
            </a:r>
          </a:p>
          <a:p>
            <a:pPr algn="l"/>
            <a:endParaRPr lang="pt-BR" dirty="0"/>
          </a:p>
          <a:p>
            <a:pPr algn="l"/>
            <a:r>
              <a:rPr lang="pt-BR" b="1" dirty="0" smtClean="0"/>
              <a:t>Casos de testes de upload de arquivos:</a:t>
            </a:r>
          </a:p>
          <a:p>
            <a:pPr algn="l"/>
            <a:endParaRPr lang="pt-BR" dirty="0"/>
          </a:p>
          <a:p>
            <a:pPr algn="l"/>
            <a:r>
              <a:rPr lang="pt-BR" dirty="0"/>
              <a:t>Compatibilidade de tamanho e tipo de arquivo</a:t>
            </a:r>
          </a:p>
          <a:p>
            <a:pPr algn="l"/>
            <a:r>
              <a:rPr lang="pt-BR" dirty="0"/>
              <a:t>Velocidade de upload em diferentes condições</a:t>
            </a:r>
          </a:p>
          <a:p>
            <a:pPr algn="l"/>
            <a:r>
              <a:rPr lang="pt-BR" dirty="0"/>
              <a:t>Mensagens de erro para arquivos não compatíveis</a:t>
            </a:r>
          </a:p>
          <a:p>
            <a:pPr algn="l"/>
            <a:endParaRPr lang="pt-BR" dirty="0"/>
          </a:p>
        </p:txBody>
      </p:sp>
      <p:sp>
        <p:nvSpPr>
          <p:cNvPr id="28979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11140637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8ADA51-4769-4763-9AC0-860DE278FDC4}" type="slidenum">
              <a:rPr lang="pt-PT" altLang="pt-BR" sz="1400"/>
              <a:pPr>
                <a:spcBef>
                  <a:spcPct val="0"/>
                </a:spcBef>
                <a:buFontTx/>
                <a:buNone/>
              </a:pPr>
              <a:t>86</a:t>
            </a:fld>
            <a:endParaRPr lang="pt-PT" altLang="pt-BR" sz="1400"/>
          </a:p>
        </p:txBody>
      </p:sp>
      <p:sp>
        <p:nvSpPr>
          <p:cNvPr id="28979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9796" name="Rectangle 3"/>
          <p:cNvSpPr>
            <a:spLocks noGrp="1" noChangeArrowheads="1"/>
          </p:cNvSpPr>
          <p:nvPr>
            <p:ph type="subTitle" idx="1"/>
          </p:nvPr>
        </p:nvSpPr>
        <p:spPr>
          <a:xfrm>
            <a:off x="0" y="836614"/>
            <a:ext cx="12076981" cy="6073775"/>
          </a:xfrm>
        </p:spPr>
        <p:txBody>
          <a:bodyPr>
            <a:normAutofit/>
          </a:bodyPr>
          <a:lstStyle/>
          <a:p>
            <a:pPr algn="just" eaLnBrk="1" hangingPunct="1">
              <a:spcBef>
                <a:spcPct val="0"/>
              </a:spcBef>
            </a:pPr>
            <a:r>
              <a:rPr lang="pt-BR" altLang="pt-BR" dirty="0" smtClean="0"/>
              <a:t>Técnicas de Validação de requisitos, usadas individualmente ou em conjunto:</a:t>
            </a:r>
          </a:p>
          <a:p>
            <a:pPr algn="l"/>
            <a:r>
              <a:rPr lang="pt-BR" b="1" dirty="0" smtClean="0"/>
              <a:t>Software em </a:t>
            </a:r>
            <a:r>
              <a:rPr lang="pt-BR" b="1" dirty="0"/>
              <a:t>diferentes navegadores e dispositivos. Os cenários devem incluir:</a:t>
            </a:r>
          </a:p>
          <a:p>
            <a:pPr algn="l"/>
            <a:r>
              <a:rPr lang="pt-BR" dirty="0"/>
              <a:t>Design responsivo em todos os tamanhos de tela</a:t>
            </a:r>
          </a:p>
          <a:p>
            <a:pPr algn="l"/>
            <a:r>
              <a:rPr lang="pt-BR" dirty="0"/>
              <a:t>Compatibilidade com extensões de navegador</a:t>
            </a:r>
          </a:p>
          <a:p>
            <a:pPr algn="l"/>
            <a:r>
              <a:rPr lang="pt-BR" dirty="0"/>
              <a:t>Desempenho em caso de tráfego </a:t>
            </a:r>
            <a:r>
              <a:rPr lang="pt-BR" dirty="0" smtClean="0"/>
              <a:t>intenso</a:t>
            </a:r>
          </a:p>
          <a:p>
            <a:pPr algn="l"/>
            <a:endParaRPr lang="pt-BR" dirty="0"/>
          </a:p>
          <a:p>
            <a:pPr algn="l"/>
            <a:r>
              <a:rPr lang="pt-BR" b="1" dirty="0" smtClean="0"/>
              <a:t>Teste de usabilidade:</a:t>
            </a:r>
          </a:p>
          <a:p>
            <a:pPr algn="l"/>
            <a:r>
              <a:rPr lang="pt-BR" dirty="0"/>
              <a:t>Fluxo de navegação</a:t>
            </a:r>
          </a:p>
          <a:p>
            <a:pPr algn="l"/>
            <a:r>
              <a:rPr lang="pt-BR" dirty="0"/>
              <a:t>Conformidade com as normas de acessibilidade</a:t>
            </a:r>
          </a:p>
          <a:p>
            <a:pPr algn="l"/>
            <a:r>
              <a:rPr lang="pt-BR" dirty="0"/>
              <a:t>Clareza nas mensagens de erro</a:t>
            </a:r>
          </a:p>
          <a:p>
            <a:r>
              <a:rPr lang="pt-BR" dirty="0"/>
              <a:t/>
            </a:r>
            <a:br>
              <a:rPr lang="pt-BR" dirty="0"/>
            </a:br>
            <a:endParaRPr lang="pt-BR" dirty="0"/>
          </a:p>
          <a:p>
            <a:pPr algn="l"/>
            <a:endParaRPr lang="pt-BR" b="1" dirty="0" smtClean="0"/>
          </a:p>
        </p:txBody>
      </p:sp>
      <p:sp>
        <p:nvSpPr>
          <p:cNvPr id="28979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33529768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58ADA51-4769-4763-9AC0-860DE278FDC4}" type="slidenum">
              <a:rPr lang="pt-PT" altLang="pt-BR" sz="1400"/>
              <a:pPr>
                <a:spcBef>
                  <a:spcPct val="0"/>
                </a:spcBef>
                <a:buFontTx/>
                <a:buNone/>
              </a:pPr>
              <a:t>87</a:t>
            </a:fld>
            <a:endParaRPr lang="pt-PT" altLang="pt-BR" sz="1400"/>
          </a:p>
        </p:txBody>
      </p:sp>
      <p:sp>
        <p:nvSpPr>
          <p:cNvPr id="28979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89796" name="Rectangle 3"/>
          <p:cNvSpPr>
            <a:spLocks noGrp="1" noChangeArrowheads="1"/>
          </p:cNvSpPr>
          <p:nvPr>
            <p:ph type="subTitle" idx="1"/>
          </p:nvPr>
        </p:nvSpPr>
        <p:spPr>
          <a:xfrm>
            <a:off x="0" y="836614"/>
            <a:ext cx="12076981" cy="6073775"/>
          </a:xfrm>
        </p:spPr>
        <p:txBody>
          <a:bodyPr>
            <a:normAutofit/>
          </a:bodyPr>
          <a:lstStyle/>
          <a:p>
            <a:pPr algn="just" eaLnBrk="1" hangingPunct="1">
              <a:spcBef>
                <a:spcPct val="0"/>
              </a:spcBef>
            </a:pPr>
            <a:r>
              <a:rPr lang="pt-BR" altLang="pt-BR" dirty="0" smtClean="0"/>
              <a:t>Técnicas de Validação de requisitos, usadas individualmente ou em conjunto:</a:t>
            </a:r>
          </a:p>
          <a:p>
            <a:pPr algn="l"/>
            <a:r>
              <a:rPr lang="pt-BR" b="1" dirty="0" smtClean="0"/>
              <a:t>Teste de integração</a:t>
            </a:r>
            <a:r>
              <a:rPr lang="pt-BR" dirty="0" smtClean="0"/>
              <a:t>: </a:t>
            </a:r>
          </a:p>
          <a:p>
            <a:pPr algn="l"/>
            <a:r>
              <a:rPr lang="pt-BR" dirty="0" smtClean="0"/>
              <a:t>Validação </a:t>
            </a:r>
            <a:r>
              <a:rPr lang="pt-BR" dirty="0"/>
              <a:t>da resposta da API</a:t>
            </a:r>
          </a:p>
          <a:p>
            <a:pPr algn="l"/>
            <a:r>
              <a:rPr lang="pt-BR" dirty="0"/>
              <a:t>Sincronização de dados entre plataformas</a:t>
            </a:r>
          </a:p>
          <a:p>
            <a:pPr algn="l"/>
            <a:r>
              <a:rPr lang="pt-BR" dirty="0"/>
              <a:t>Tratamento de erros quando as integrações falham</a:t>
            </a:r>
          </a:p>
          <a:p>
            <a:pPr algn="l"/>
            <a:r>
              <a:rPr lang="pt-BR" dirty="0"/>
              <a:t/>
            </a:r>
            <a:br>
              <a:rPr lang="pt-BR" dirty="0"/>
            </a:br>
            <a:endParaRPr lang="pt-BR" dirty="0"/>
          </a:p>
          <a:p>
            <a:pPr algn="l"/>
            <a:endParaRPr lang="pt-BR" b="1" dirty="0" smtClean="0"/>
          </a:p>
        </p:txBody>
      </p:sp>
      <p:sp>
        <p:nvSpPr>
          <p:cNvPr id="28979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30118611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7707497-5FAD-431A-89CB-01315CD5209A}" type="slidenum">
              <a:rPr lang="pt-PT" altLang="pt-BR" sz="1400"/>
              <a:pPr>
                <a:spcBef>
                  <a:spcPct val="0"/>
                </a:spcBef>
                <a:buFontTx/>
                <a:buNone/>
              </a:pPr>
              <a:t>88</a:t>
            </a:fld>
            <a:endParaRPr lang="pt-PT" altLang="pt-BR" sz="1400"/>
          </a:p>
        </p:txBody>
      </p:sp>
      <p:sp>
        <p:nvSpPr>
          <p:cNvPr id="29081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0820" name="Rectangle 3"/>
          <p:cNvSpPr>
            <a:spLocks noGrp="1" noChangeArrowheads="1"/>
          </p:cNvSpPr>
          <p:nvPr>
            <p:ph type="subTitle" idx="1"/>
          </p:nvPr>
        </p:nvSpPr>
        <p:spPr>
          <a:xfrm>
            <a:off x="172528" y="966158"/>
            <a:ext cx="12019472" cy="5944231"/>
          </a:xfrm>
        </p:spPr>
        <p:txBody>
          <a:bodyPr/>
          <a:lstStyle/>
          <a:p>
            <a:pPr algn="just" eaLnBrk="1" hangingPunct="1">
              <a:spcBef>
                <a:spcPct val="0"/>
              </a:spcBef>
            </a:pPr>
            <a:r>
              <a:rPr lang="pt-BR" altLang="pt-BR" dirty="0" smtClean="0"/>
              <a:t>Gerenciamento de requisitos</a:t>
            </a:r>
          </a:p>
          <a:p>
            <a:pPr algn="just" eaLnBrk="1" hangingPunct="1">
              <a:spcBef>
                <a:spcPct val="0"/>
              </a:spcBef>
            </a:pPr>
            <a:endParaRPr lang="pt-BR" altLang="pt-BR" dirty="0" smtClean="0"/>
          </a:p>
          <a:p>
            <a:pPr algn="just" eaLnBrk="1" hangingPunct="1">
              <a:spcBef>
                <a:spcPct val="0"/>
              </a:spcBef>
            </a:pPr>
            <a:r>
              <a:rPr lang="pt-BR" altLang="pt-BR" dirty="0" smtClean="0"/>
              <a:t>Os requisitos de sistemas de grande porte estão sempre mudando. </a:t>
            </a:r>
          </a:p>
          <a:p>
            <a:pPr algn="just" eaLnBrk="1" hangingPunct="1">
              <a:spcBef>
                <a:spcPct val="0"/>
              </a:spcBef>
            </a:pPr>
            <a:endParaRPr lang="pt-BR" altLang="pt-BR" dirty="0" smtClean="0"/>
          </a:p>
          <a:p>
            <a:pPr algn="just" eaLnBrk="1" hangingPunct="1">
              <a:spcBef>
                <a:spcPct val="0"/>
              </a:spcBef>
            </a:pPr>
            <a:r>
              <a:rPr lang="pt-BR" altLang="pt-BR" dirty="0" smtClean="0"/>
              <a:t>Esses sistemas são desenvolvidos para enfrentar os problemas que não podem ser completamente definidos. Assim, os requisitos de software são obrigados a ser incompletos. </a:t>
            </a:r>
          </a:p>
          <a:p>
            <a:pPr algn="just" eaLnBrk="1" hangingPunct="1">
              <a:spcBef>
                <a:spcPct val="0"/>
              </a:spcBef>
            </a:pPr>
            <a:endParaRPr lang="pt-BR" altLang="pt-BR" dirty="0" smtClean="0"/>
          </a:p>
          <a:p>
            <a:pPr algn="just" eaLnBrk="1" hangingPunct="1">
              <a:spcBef>
                <a:spcPct val="0"/>
              </a:spcBef>
            </a:pPr>
            <a:r>
              <a:rPr lang="pt-BR" altLang="pt-BR" dirty="0" smtClean="0"/>
              <a:t>O entendimento dos </a:t>
            </a:r>
            <a:r>
              <a:rPr lang="pt-BR" altLang="pt-BR" dirty="0" err="1" smtClean="0"/>
              <a:t>stakeholders</a:t>
            </a:r>
            <a:r>
              <a:rPr lang="pt-BR" altLang="pt-BR" dirty="0" smtClean="0"/>
              <a:t> a respeito do problema está em constante mutação. </a:t>
            </a:r>
          </a:p>
          <a:p>
            <a:pPr algn="just" eaLnBrk="1" hangingPunct="1">
              <a:spcBef>
                <a:spcPct val="0"/>
              </a:spcBef>
            </a:pPr>
            <a:endParaRPr lang="pt-BR" altLang="pt-BR" dirty="0" smtClean="0"/>
          </a:p>
          <a:p>
            <a:pPr algn="just" eaLnBrk="1" hangingPunct="1">
              <a:spcBef>
                <a:spcPct val="0"/>
              </a:spcBef>
            </a:pPr>
            <a:r>
              <a:rPr lang="pt-BR" altLang="pt-BR" dirty="0" smtClean="0"/>
              <a:t>Os requisitos de sistema devem evoluir para refletir as novas percepções do problema. </a:t>
            </a:r>
          </a:p>
          <a:p>
            <a:pPr algn="just" eaLnBrk="1" hangingPunct="1">
              <a:spcBef>
                <a:spcPct val="0"/>
              </a:spcBef>
            </a:pPr>
            <a:endParaRPr lang="pt-BR" altLang="pt-BR" dirty="0" smtClean="0"/>
          </a:p>
          <a:p>
            <a:pPr algn="just" eaLnBrk="1" hangingPunct="1">
              <a:spcBef>
                <a:spcPct val="0"/>
              </a:spcBef>
            </a:pPr>
            <a:r>
              <a:rPr lang="pt-BR" altLang="pt-BR" dirty="0" smtClean="0"/>
              <a:t>Sistema instalado e usado regularmente: inevitavelmente surgirão novos requisitos. É difícil para os usuários e clientes do sistema anteciparem os efeitos que o novo sistema terá sobre seus processos de negócio e sobre a forma que o trabalho é realizado. Quando os usuários finais tiverem  experiência do sistema, descobrirão novas necessidades e prioridades. .</a:t>
            </a:r>
          </a:p>
        </p:txBody>
      </p:sp>
      <p:sp>
        <p:nvSpPr>
          <p:cNvPr id="29082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51984432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278ECAF-28F4-4E16-9FEA-B48AAD82D61B}" type="slidenum">
              <a:rPr lang="pt-PT" altLang="pt-BR" sz="1400"/>
              <a:pPr>
                <a:spcBef>
                  <a:spcPct val="0"/>
                </a:spcBef>
                <a:buFontTx/>
                <a:buNone/>
              </a:pPr>
              <a:t>89</a:t>
            </a:fld>
            <a:endParaRPr lang="pt-PT" altLang="pt-BR" sz="1400"/>
          </a:p>
        </p:txBody>
      </p:sp>
      <p:sp>
        <p:nvSpPr>
          <p:cNvPr id="29184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1844" name="Rectangle 3"/>
          <p:cNvSpPr>
            <a:spLocks noGrp="1" noChangeArrowheads="1"/>
          </p:cNvSpPr>
          <p:nvPr>
            <p:ph type="subTitle" idx="1"/>
          </p:nvPr>
        </p:nvSpPr>
        <p:spPr>
          <a:xfrm>
            <a:off x="1560513" y="646114"/>
            <a:ext cx="9180512" cy="6264275"/>
          </a:xfrm>
        </p:spPr>
        <p:txBody>
          <a:bodyPr/>
          <a:lstStyle/>
          <a:p>
            <a:pPr algn="just" eaLnBrk="1" hangingPunct="1">
              <a:spcBef>
                <a:spcPct val="0"/>
              </a:spcBef>
            </a:pPr>
            <a:r>
              <a:rPr lang="pt-BR" altLang="pt-BR" smtClean="0"/>
              <a:t>Gerenciamento de requisitos</a:t>
            </a:r>
          </a:p>
        </p:txBody>
      </p:sp>
      <p:sp>
        <p:nvSpPr>
          <p:cNvPr id="291845"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pic>
        <p:nvPicPr>
          <p:cNvPr id="291846"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2726" y="1468439"/>
            <a:ext cx="627697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609592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54548B9-B6B4-41CC-A825-8C8444129969}" type="slidenum">
              <a:rPr lang="pt-PT" altLang="pt-BR" sz="1400"/>
              <a:pPr>
                <a:spcBef>
                  <a:spcPct val="0"/>
                </a:spcBef>
                <a:buFontTx/>
                <a:buNone/>
              </a:pPr>
              <a:t>90</a:t>
            </a:fld>
            <a:endParaRPr lang="pt-PT" altLang="pt-BR" sz="1400"/>
          </a:p>
        </p:txBody>
      </p:sp>
      <p:sp>
        <p:nvSpPr>
          <p:cNvPr id="29286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2868" name="Rectangle 3"/>
          <p:cNvSpPr>
            <a:spLocks noGrp="1" noChangeArrowheads="1"/>
          </p:cNvSpPr>
          <p:nvPr>
            <p:ph type="subTitle" idx="1"/>
          </p:nvPr>
        </p:nvSpPr>
        <p:spPr>
          <a:xfrm>
            <a:off x="0" y="836614"/>
            <a:ext cx="12094234" cy="6073775"/>
          </a:xfrm>
        </p:spPr>
        <p:txBody>
          <a:bodyPr/>
          <a:lstStyle/>
          <a:p>
            <a:pPr algn="just" eaLnBrk="1" hangingPunct="1">
              <a:spcBef>
                <a:spcPct val="0"/>
              </a:spcBef>
            </a:pPr>
            <a:r>
              <a:rPr lang="pt-BR" altLang="pt-BR" dirty="0" smtClean="0"/>
              <a:t>Razões das mudanças de requisitos:</a:t>
            </a:r>
          </a:p>
          <a:p>
            <a:pPr algn="just" eaLnBrk="1" hangingPunct="1">
              <a:spcBef>
                <a:spcPct val="0"/>
              </a:spcBef>
            </a:pPr>
            <a:endParaRPr lang="pt-BR" altLang="pt-BR" dirty="0" smtClean="0"/>
          </a:p>
          <a:p>
            <a:pPr marL="457200" indent="-457200" algn="just" eaLnBrk="1" hangingPunct="1">
              <a:spcBef>
                <a:spcPct val="0"/>
              </a:spcBef>
              <a:buAutoNum type="arabicPeriod"/>
            </a:pPr>
            <a:r>
              <a:rPr lang="pt-BR" altLang="pt-BR" dirty="0" smtClean="0"/>
              <a:t>Após a instalação, o ambiente técnico e de negócios sempre muda. Um novo hardware pode ser introduzido, pode ser necessário fazer a interface com outros sistemas, </a:t>
            </a:r>
            <a:r>
              <a:rPr lang="pt-BR" altLang="pt-BR" dirty="0"/>
              <a:t>m</a:t>
            </a:r>
            <a:r>
              <a:rPr lang="pt-BR" altLang="pt-BR" dirty="0" smtClean="0"/>
              <a:t>udam as prioridades do negócio, as legislações e regulamentos etc. </a:t>
            </a:r>
          </a:p>
          <a:p>
            <a:pPr algn="just" eaLnBrk="1" hangingPunct="1">
              <a:spcBef>
                <a:spcPct val="0"/>
              </a:spcBef>
            </a:pPr>
            <a:endParaRPr lang="pt-BR" altLang="pt-BR" dirty="0" smtClean="0"/>
          </a:p>
          <a:p>
            <a:pPr algn="just" eaLnBrk="1" hangingPunct="1">
              <a:spcBef>
                <a:spcPct val="0"/>
              </a:spcBef>
            </a:pPr>
            <a:r>
              <a:rPr lang="pt-BR" altLang="pt-BR" dirty="0" smtClean="0"/>
              <a:t>2.Pessoas que pagam e os usuários do sistema raramente são os mesmos. Clientes impõem requisitos devido a restrições orçamentárias e organizacionais, que podem entrar em conflito com os requisitos do usuário final. Após a entrega, novos recursos podem ser adicionados, para dar suporte ao usuário, a fim de que o sistema cumpra suas metas.</a:t>
            </a:r>
          </a:p>
          <a:p>
            <a:pPr algn="just" eaLnBrk="1" hangingPunct="1">
              <a:spcBef>
                <a:spcPct val="0"/>
              </a:spcBef>
            </a:pPr>
            <a:endParaRPr lang="pt-BR" altLang="pt-BR" dirty="0" smtClean="0"/>
          </a:p>
          <a:p>
            <a:pPr algn="just" eaLnBrk="1" hangingPunct="1">
              <a:spcBef>
                <a:spcPct val="0"/>
              </a:spcBef>
            </a:pPr>
            <a:r>
              <a:rPr lang="pt-BR" altLang="pt-BR" dirty="0" smtClean="0"/>
              <a:t>3. Sistemas de grande porte têm uma comunidade de diversos usuários, com diferentes requisitos e prioridades, que podem ser conflitantes ou contraditórios. Os requisitos do sistema final são um compromisso entre esses usuários</a:t>
            </a:r>
          </a:p>
        </p:txBody>
      </p:sp>
      <p:sp>
        <p:nvSpPr>
          <p:cNvPr id="29286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08536206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0EB67C-4B5D-4AF1-9BEA-DD82687E7DFD}" type="slidenum">
              <a:rPr lang="pt-PT" altLang="pt-BR" sz="1400"/>
              <a:pPr>
                <a:spcBef>
                  <a:spcPct val="0"/>
                </a:spcBef>
                <a:buFontTx/>
                <a:buNone/>
              </a:pPr>
              <a:t>91</a:t>
            </a:fld>
            <a:endParaRPr lang="pt-PT" altLang="pt-BR" sz="1400"/>
          </a:p>
        </p:txBody>
      </p:sp>
      <p:sp>
        <p:nvSpPr>
          <p:cNvPr id="29389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3892" name="Rectangle 3"/>
          <p:cNvSpPr>
            <a:spLocks noGrp="1" noChangeArrowheads="1"/>
          </p:cNvSpPr>
          <p:nvPr>
            <p:ph type="subTitle" idx="1"/>
          </p:nvPr>
        </p:nvSpPr>
        <p:spPr>
          <a:xfrm>
            <a:off x="86264" y="759125"/>
            <a:ext cx="12033849" cy="6197301"/>
          </a:xfrm>
        </p:spPr>
        <p:txBody>
          <a:bodyPr/>
          <a:lstStyle/>
          <a:p>
            <a:pPr algn="just" eaLnBrk="1" hangingPunct="1">
              <a:spcBef>
                <a:spcPct val="0"/>
              </a:spcBef>
            </a:pPr>
            <a:r>
              <a:rPr lang="pt-BR" altLang="pt-BR" dirty="0" smtClean="0"/>
              <a:t>Gerenciamento de requisitos:</a:t>
            </a:r>
          </a:p>
          <a:p>
            <a:pPr algn="just" eaLnBrk="1" hangingPunct="1">
              <a:spcBef>
                <a:spcPct val="0"/>
              </a:spcBef>
            </a:pPr>
            <a:endParaRPr lang="pt-BR" altLang="pt-BR" dirty="0" smtClean="0"/>
          </a:p>
          <a:p>
            <a:pPr algn="just" eaLnBrk="1" hangingPunct="1">
              <a:spcBef>
                <a:spcPct val="0"/>
              </a:spcBef>
            </a:pPr>
            <a:r>
              <a:rPr lang="pt-BR" altLang="pt-BR" dirty="0" smtClean="0"/>
              <a:t>Processo de compreensão e controle das mudanças nos requisitos do sistema.</a:t>
            </a:r>
          </a:p>
          <a:p>
            <a:pPr algn="just" eaLnBrk="1" hangingPunct="1">
              <a:spcBef>
                <a:spcPct val="0"/>
              </a:spcBef>
            </a:pPr>
            <a:endParaRPr lang="pt-BR" altLang="pt-BR" dirty="0" smtClean="0"/>
          </a:p>
          <a:p>
            <a:pPr algn="just" eaLnBrk="1" hangingPunct="1">
              <a:spcBef>
                <a:spcPct val="0"/>
              </a:spcBef>
            </a:pPr>
            <a:r>
              <a:rPr lang="pt-BR" altLang="pt-BR" dirty="0" smtClean="0"/>
              <a:t>Considere: necessidades individuais e os impactos das mudanças nos requisitos. </a:t>
            </a:r>
          </a:p>
          <a:p>
            <a:pPr algn="just" eaLnBrk="1" hangingPunct="1">
              <a:spcBef>
                <a:spcPct val="0"/>
              </a:spcBef>
            </a:pPr>
            <a:endParaRPr lang="pt-BR" altLang="pt-BR" dirty="0" smtClean="0"/>
          </a:p>
          <a:p>
            <a:pPr algn="just" eaLnBrk="1" hangingPunct="1">
              <a:spcBef>
                <a:spcPct val="0"/>
              </a:spcBef>
            </a:pPr>
            <a:r>
              <a:rPr lang="pt-BR" altLang="pt-BR" dirty="0" smtClean="0"/>
              <a:t>Estabeleça um processo formal para fazer propostas de mudanças e a ligação das exigências do sistema. </a:t>
            </a:r>
          </a:p>
          <a:p>
            <a:pPr algn="just" eaLnBrk="1" hangingPunct="1">
              <a:spcBef>
                <a:spcPct val="0"/>
              </a:spcBef>
            </a:pPr>
            <a:endParaRPr lang="pt-BR" altLang="pt-BR" dirty="0" smtClean="0"/>
          </a:p>
          <a:p>
            <a:pPr algn="just" eaLnBrk="1" hangingPunct="1">
              <a:spcBef>
                <a:spcPct val="0"/>
              </a:spcBef>
            </a:pPr>
            <a:r>
              <a:rPr lang="pt-BR" altLang="pt-BR" dirty="0"/>
              <a:t>P</a:t>
            </a:r>
            <a:r>
              <a:rPr lang="pt-BR" altLang="pt-BR" dirty="0" smtClean="0"/>
              <a:t>rocesso formal de gerenciamento de requisitos: começa assim que uma versão preliminar do documento de requisitos estiver disponível. Planeje o gerenciamento das mudanças de requisitos durante o processo de </a:t>
            </a:r>
            <a:r>
              <a:rPr lang="pt-BR" altLang="pt-BR" dirty="0" err="1" smtClean="0"/>
              <a:t>elicitação</a:t>
            </a:r>
            <a:r>
              <a:rPr lang="pt-BR" altLang="pt-BR" dirty="0" smtClean="0"/>
              <a:t> de requisitos.</a:t>
            </a:r>
          </a:p>
        </p:txBody>
      </p:sp>
      <p:sp>
        <p:nvSpPr>
          <p:cNvPr id="29389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2929985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ED90706-EF42-4318-AE91-6043DE2D5CC2}" type="slidenum">
              <a:rPr lang="pt-PT" altLang="pt-BR" sz="1400"/>
              <a:pPr>
                <a:spcBef>
                  <a:spcPct val="0"/>
                </a:spcBef>
                <a:buFontTx/>
                <a:buNone/>
              </a:pPr>
              <a:t>92</a:t>
            </a:fld>
            <a:endParaRPr lang="pt-PT" altLang="pt-BR" sz="1400"/>
          </a:p>
        </p:txBody>
      </p:sp>
      <p:sp>
        <p:nvSpPr>
          <p:cNvPr id="294915"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4916" name="Rectangle 3"/>
          <p:cNvSpPr>
            <a:spLocks noGrp="1" noChangeArrowheads="1"/>
          </p:cNvSpPr>
          <p:nvPr>
            <p:ph type="subTitle" idx="1"/>
          </p:nvPr>
        </p:nvSpPr>
        <p:spPr>
          <a:xfrm>
            <a:off x="77638" y="966158"/>
            <a:ext cx="11913079" cy="5990268"/>
          </a:xfrm>
        </p:spPr>
        <p:txBody>
          <a:bodyPr/>
          <a:lstStyle/>
          <a:p>
            <a:pPr algn="just" eaLnBrk="1" hangingPunct="1">
              <a:spcBef>
                <a:spcPct val="0"/>
              </a:spcBef>
            </a:pPr>
            <a:r>
              <a:rPr lang="pt-BR" altLang="pt-BR" dirty="0" smtClean="0"/>
              <a:t>Planejamento de gerenciamento de requisitos</a:t>
            </a:r>
          </a:p>
          <a:p>
            <a:pPr algn="just" eaLnBrk="1" hangingPunct="1">
              <a:spcBef>
                <a:spcPct val="0"/>
              </a:spcBef>
            </a:pPr>
            <a:endParaRPr lang="pt-BR" altLang="pt-BR" dirty="0" smtClean="0"/>
          </a:p>
          <a:p>
            <a:pPr algn="just" eaLnBrk="1" hangingPunct="1">
              <a:spcBef>
                <a:spcPct val="0"/>
              </a:spcBef>
            </a:pPr>
            <a:r>
              <a:rPr lang="pt-BR" altLang="pt-BR" dirty="0" smtClean="0"/>
              <a:t>Determinar o nível de detalhamento requerido no gerenciamento de requisitos:</a:t>
            </a:r>
          </a:p>
          <a:p>
            <a:pPr algn="just" eaLnBrk="1" hangingPunct="1">
              <a:spcBef>
                <a:spcPct val="0"/>
              </a:spcBef>
            </a:pPr>
            <a:endParaRPr lang="pt-BR" altLang="pt-BR" dirty="0" smtClean="0"/>
          </a:p>
          <a:p>
            <a:pPr algn="just" eaLnBrk="1" hangingPunct="1">
              <a:spcBef>
                <a:spcPct val="0"/>
              </a:spcBef>
            </a:pPr>
            <a:r>
              <a:rPr lang="pt-BR" altLang="pt-BR" dirty="0" smtClean="0"/>
              <a:t>1.Identificação de requisitos: cada requisito deve ser identificado unicamente e comparado com outros requisitos,  usados em avaliações de rastreabilidade.</a:t>
            </a:r>
          </a:p>
          <a:p>
            <a:pPr algn="just" eaLnBrk="1" hangingPunct="1">
              <a:spcBef>
                <a:spcPct val="0"/>
              </a:spcBef>
            </a:pPr>
            <a:endParaRPr lang="pt-BR" altLang="pt-BR" dirty="0" smtClean="0"/>
          </a:p>
          <a:p>
            <a:pPr algn="just" eaLnBrk="1" hangingPunct="1">
              <a:spcBef>
                <a:spcPct val="0"/>
              </a:spcBef>
            </a:pPr>
            <a:r>
              <a:rPr lang="pt-BR" altLang="pt-BR" dirty="0" smtClean="0"/>
              <a:t> 2. Processo de gerenciamento mudanças: conjunto de atividades que avaliam o impacto e o custo das mudanças. </a:t>
            </a:r>
          </a:p>
          <a:p>
            <a:pPr algn="just" eaLnBrk="1" hangingPunct="1">
              <a:spcBef>
                <a:spcPct val="0"/>
              </a:spcBef>
            </a:pPr>
            <a:endParaRPr lang="pt-BR" altLang="pt-BR" dirty="0" smtClean="0"/>
          </a:p>
          <a:p>
            <a:pPr algn="just" eaLnBrk="1" hangingPunct="1">
              <a:spcBef>
                <a:spcPct val="0"/>
              </a:spcBef>
            </a:pPr>
            <a:r>
              <a:rPr lang="pt-BR" altLang="pt-BR" dirty="0" smtClean="0"/>
              <a:t>3. Políticas de rastreabilidade: definem os relacionamentos entre cada requisito e entre os requisitos e o projeto de sistema. A política de rastreabilidade define como esses registros devem ser mantidos.</a:t>
            </a:r>
          </a:p>
          <a:p>
            <a:pPr algn="just" eaLnBrk="1" hangingPunct="1">
              <a:spcBef>
                <a:spcPct val="0"/>
              </a:spcBef>
            </a:pPr>
            <a:endParaRPr lang="pt-BR" altLang="pt-BR" dirty="0" smtClean="0"/>
          </a:p>
          <a:p>
            <a:pPr algn="just" eaLnBrk="1" hangingPunct="1">
              <a:spcBef>
                <a:spcPct val="0"/>
              </a:spcBef>
            </a:pPr>
            <a:r>
              <a:rPr lang="pt-BR" altLang="pt-BR" dirty="0" smtClean="0"/>
              <a:t> 4. Ferramenta de apoio: Gerenciamento de requisitos envolve o processamento de grandes quantidades de informações sobre os requisitos. Ferramentas: sistemas especializados em gerenciamento de requisitos, planilhas e sistemas de banco de dados.</a:t>
            </a:r>
          </a:p>
        </p:txBody>
      </p:sp>
      <p:sp>
        <p:nvSpPr>
          <p:cNvPr id="294917"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2105728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F548A06-74C2-452E-B156-651B8812F08F}" type="slidenum">
              <a:rPr lang="pt-PT" altLang="pt-BR" sz="1400"/>
              <a:pPr>
                <a:spcBef>
                  <a:spcPct val="0"/>
                </a:spcBef>
                <a:buFontTx/>
                <a:buNone/>
              </a:pPr>
              <a:t>93</a:t>
            </a:fld>
            <a:endParaRPr lang="pt-PT" altLang="pt-BR" sz="1400"/>
          </a:p>
        </p:txBody>
      </p:sp>
      <p:sp>
        <p:nvSpPr>
          <p:cNvPr id="29593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5940" name="Rectangle 3"/>
          <p:cNvSpPr>
            <a:spLocks noGrp="1" noChangeArrowheads="1"/>
          </p:cNvSpPr>
          <p:nvPr>
            <p:ph type="subTitle" idx="1"/>
          </p:nvPr>
        </p:nvSpPr>
        <p:spPr>
          <a:xfrm>
            <a:off x="112142" y="1009290"/>
            <a:ext cx="11973465" cy="5947135"/>
          </a:xfrm>
        </p:spPr>
        <p:txBody>
          <a:bodyPr/>
          <a:lstStyle/>
          <a:p>
            <a:pPr algn="just" eaLnBrk="1" hangingPunct="1">
              <a:spcBef>
                <a:spcPct val="0"/>
              </a:spcBef>
            </a:pPr>
            <a:r>
              <a:rPr lang="pt-BR" altLang="pt-BR" dirty="0" smtClean="0"/>
              <a:t>O gerenciamento de requisitos</a:t>
            </a:r>
          </a:p>
          <a:p>
            <a:pPr algn="just" eaLnBrk="1" hangingPunct="1">
              <a:spcBef>
                <a:spcPct val="0"/>
              </a:spcBef>
            </a:pPr>
            <a:endParaRPr lang="pt-BR" altLang="pt-BR" dirty="0" smtClean="0"/>
          </a:p>
          <a:p>
            <a:pPr algn="just" eaLnBrk="1" hangingPunct="1">
              <a:spcBef>
                <a:spcPct val="0"/>
              </a:spcBef>
            </a:pPr>
            <a:r>
              <a:rPr lang="pt-BR" altLang="pt-BR" dirty="0" smtClean="0"/>
              <a:t>Apoio automatizado: Ferramentas de software para gerenciamento devem ser escolhidas durante a fase de planejamento.</a:t>
            </a:r>
          </a:p>
          <a:p>
            <a:pPr algn="just" eaLnBrk="1" hangingPunct="1">
              <a:spcBef>
                <a:spcPct val="0"/>
              </a:spcBef>
            </a:pPr>
            <a:endParaRPr lang="pt-BR" altLang="pt-BR" dirty="0" smtClean="0"/>
          </a:p>
          <a:p>
            <a:pPr algn="just" eaLnBrk="1" hangingPunct="1">
              <a:spcBef>
                <a:spcPct val="0"/>
              </a:spcBef>
            </a:pPr>
            <a:r>
              <a:rPr lang="pt-BR" altLang="pt-BR" dirty="0" smtClean="0"/>
              <a:t>Ferramentas de apoio para:</a:t>
            </a:r>
          </a:p>
          <a:p>
            <a:pPr algn="just" eaLnBrk="1" hangingPunct="1">
              <a:spcBef>
                <a:spcPct val="0"/>
              </a:spcBef>
            </a:pPr>
            <a:endParaRPr lang="pt-BR" altLang="pt-BR" dirty="0" smtClean="0"/>
          </a:p>
          <a:p>
            <a:pPr algn="just" eaLnBrk="1" hangingPunct="1">
              <a:spcBef>
                <a:spcPct val="0"/>
              </a:spcBef>
            </a:pPr>
            <a:r>
              <a:rPr lang="pt-BR" altLang="pt-BR" dirty="0" smtClean="0"/>
              <a:t>1.Armazenamento de requisitos: requisitos mantidos em repositório de dados gerenciado e seguro, acessível aos envolvidos no processo de engenharia de requisitos. </a:t>
            </a:r>
          </a:p>
          <a:p>
            <a:pPr algn="just" eaLnBrk="1" hangingPunct="1">
              <a:spcBef>
                <a:spcPct val="0"/>
              </a:spcBef>
            </a:pPr>
            <a:endParaRPr lang="pt-BR" altLang="pt-BR" dirty="0" smtClean="0"/>
          </a:p>
          <a:p>
            <a:pPr algn="just" eaLnBrk="1" hangingPunct="1">
              <a:spcBef>
                <a:spcPct val="0"/>
              </a:spcBef>
            </a:pPr>
            <a:r>
              <a:rPr lang="pt-BR" altLang="pt-BR" dirty="0" smtClean="0"/>
              <a:t>2. Gerenciamento de mudanças: simplificado quando as ferramentas ativas de apoio estão disponíveis.</a:t>
            </a:r>
          </a:p>
          <a:p>
            <a:pPr algn="just" eaLnBrk="1" hangingPunct="1">
              <a:spcBef>
                <a:spcPct val="0"/>
              </a:spcBef>
            </a:pPr>
            <a:endParaRPr lang="pt-BR" altLang="pt-BR" dirty="0" smtClean="0"/>
          </a:p>
          <a:p>
            <a:pPr algn="just" eaLnBrk="1" hangingPunct="1">
              <a:spcBef>
                <a:spcPct val="0"/>
              </a:spcBef>
            </a:pPr>
            <a:r>
              <a:rPr lang="pt-BR" altLang="pt-BR" dirty="0" smtClean="0"/>
              <a:t>3. Gerenciamento de rastreabilidade: ferramentas de apoio descobrem requisitos relacionados. Algumas ferramentas usam técnicas de processamento de linguagem natural para ajudar a descobrir as possíveis relações entre os requisitos. </a:t>
            </a:r>
          </a:p>
        </p:txBody>
      </p:sp>
      <p:sp>
        <p:nvSpPr>
          <p:cNvPr id="29594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59387745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8DAFB4D-9DA0-46C6-B5F1-984B3C2826EA}" type="slidenum">
              <a:rPr lang="pt-PT" altLang="pt-BR" sz="1400"/>
              <a:pPr>
                <a:spcBef>
                  <a:spcPct val="0"/>
                </a:spcBef>
                <a:buFontTx/>
                <a:buNone/>
              </a:pPr>
              <a:t>94</a:t>
            </a:fld>
            <a:endParaRPr lang="pt-PT" altLang="pt-BR" sz="1400"/>
          </a:p>
        </p:txBody>
      </p:sp>
      <p:sp>
        <p:nvSpPr>
          <p:cNvPr id="296963"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pic>
        <p:nvPicPr>
          <p:cNvPr id="296964" name="Imagem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58926" y="1333501"/>
            <a:ext cx="9021763"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65" name="Rectangle 3"/>
          <p:cNvSpPr>
            <a:spLocks noGrp="1" noChangeArrowheads="1"/>
          </p:cNvSpPr>
          <p:nvPr>
            <p:ph type="subTitle" idx="1"/>
          </p:nvPr>
        </p:nvSpPr>
        <p:spPr>
          <a:xfrm>
            <a:off x="336430" y="3588589"/>
            <a:ext cx="11533517" cy="3367836"/>
          </a:xfrm>
        </p:spPr>
        <p:txBody>
          <a:bodyPr/>
          <a:lstStyle/>
          <a:p>
            <a:pPr algn="just" eaLnBrk="1" hangingPunct="1">
              <a:spcBef>
                <a:spcPct val="0"/>
              </a:spcBef>
            </a:pPr>
            <a:r>
              <a:rPr lang="pt-BR" altLang="pt-BR" dirty="0" smtClean="0"/>
              <a:t>Sistemas de pequeno porte: não são necessárias ferramentas especializadas no gerenciamento de requisitos. O processo pode ser apoiado por recursos disponíveis nos processadores de texto, planilhas e bancos de dados. </a:t>
            </a:r>
          </a:p>
          <a:p>
            <a:pPr algn="just" eaLnBrk="1" hangingPunct="1">
              <a:spcBef>
                <a:spcPct val="0"/>
              </a:spcBef>
            </a:pPr>
            <a:endParaRPr lang="pt-BR" altLang="pt-BR" dirty="0" smtClean="0"/>
          </a:p>
          <a:p>
            <a:pPr algn="just" eaLnBrk="1" hangingPunct="1">
              <a:spcBef>
                <a:spcPct val="0"/>
              </a:spcBef>
            </a:pPr>
            <a:r>
              <a:rPr lang="pt-BR" altLang="pt-BR" dirty="0" smtClean="0"/>
              <a:t>Sistemas maiores: ferramentas de apoio mais especializadas são necessárias. </a:t>
            </a:r>
          </a:p>
        </p:txBody>
      </p:sp>
      <p:sp>
        <p:nvSpPr>
          <p:cNvPr id="296966"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69022717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FF4FABE-914D-4C4F-8E43-FBB947599AC8}" type="slidenum">
              <a:rPr lang="pt-PT" altLang="pt-BR" sz="1400"/>
              <a:pPr>
                <a:spcBef>
                  <a:spcPct val="0"/>
                </a:spcBef>
                <a:buFontTx/>
                <a:buNone/>
              </a:pPr>
              <a:t>95</a:t>
            </a:fld>
            <a:endParaRPr lang="pt-PT" altLang="pt-BR" sz="1400"/>
          </a:p>
        </p:txBody>
      </p:sp>
      <p:sp>
        <p:nvSpPr>
          <p:cNvPr id="297987"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7988" name="Rectangle 3"/>
          <p:cNvSpPr>
            <a:spLocks noGrp="1" noChangeArrowheads="1"/>
          </p:cNvSpPr>
          <p:nvPr>
            <p:ph type="subTitle" idx="1"/>
          </p:nvPr>
        </p:nvSpPr>
        <p:spPr>
          <a:xfrm>
            <a:off x="94889" y="1135151"/>
            <a:ext cx="11947585" cy="5722849"/>
          </a:xfrm>
        </p:spPr>
        <p:txBody>
          <a:bodyPr/>
          <a:lstStyle/>
          <a:p>
            <a:pPr algn="just" eaLnBrk="1" hangingPunct="1">
              <a:spcBef>
                <a:spcPct val="0"/>
              </a:spcBef>
            </a:pPr>
            <a:r>
              <a:rPr lang="pt-BR" altLang="pt-BR" dirty="0" smtClean="0"/>
              <a:t>Gerenciamento de mudança de requisitos</a:t>
            </a:r>
          </a:p>
          <a:p>
            <a:pPr algn="just" eaLnBrk="1" hangingPunct="1">
              <a:spcBef>
                <a:spcPct val="0"/>
              </a:spcBef>
            </a:pPr>
            <a:endParaRPr lang="pt-BR" altLang="pt-BR" dirty="0" smtClean="0"/>
          </a:p>
          <a:p>
            <a:pPr algn="just" eaLnBrk="1" hangingPunct="1">
              <a:spcBef>
                <a:spcPct val="0"/>
              </a:spcBef>
            </a:pPr>
            <a:r>
              <a:rPr lang="pt-BR" altLang="pt-BR" dirty="0" smtClean="0"/>
              <a:t> Após a aprovação do documento de requisitos, o gerenciamento de mudança de requisitos deve ser aplicado </a:t>
            </a:r>
            <a:r>
              <a:rPr lang="pt-BR" altLang="pt-BR" dirty="0"/>
              <a:t>à</a:t>
            </a:r>
            <a:r>
              <a:rPr lang="pt-BR" altLang="pt-BR" dirty="0" smtClean="0"/>
              <a:t>s mudanças propostas aos requisitos de um sistema.</a:t>
            </a:r>
          </a:p>
          <a:p>
            <a:pPr algn="just" eaLnBrk="1" hangingPunct="1">
              <a:spcBef>
                <a:spcPct val="0"/>
              </a:spcBef>
            </a:pPr>
            <a:endParaRPr lang="pt-BR" altLang="pt-BR" dirty="0"/>
          </a:p>
          <a:p>
            <a:pPr algn="just" eaLnBrk="1" hangingPunct="1">
              <a:spcBef>
                <a:spcPct val="0"/>
              </a:spcBef>
            </a:pPr>
            <a:r>
              <a:rPr lang="pt-BR" altLang="pt-BR" dirty="0" smtClean="0"/>
              <a:t>Deve-se decidir se os benefícios da implementação de novos requisitos justificam os custos de implementação. </a:t>
            </a:r>
          </a:p>
          <a:p>
            <a:pPr algn="just" eaLnBrk="1" hangingPunct="1">
              <a:spcBef>
                <a:spcPct val="0"/>
              </a:spcBef>
            </a:pPr>
            <a:endParaRPr lang="pt-BR" altLang="pt-BR" dirty="0" smtClean="0"/>
          </a:p>
          <a:p>
            <a:pPr algn="just" eaLnBrk="1" hangingPunct="1">
              <a:spcBef>
                <a:spcPct val="0"/>
              </a:spcBef>
            </a:pPr>
            <a:r>
              <a:rPr lang="pt-BR" altLang="pt-BR" dirty="0" smtClean="0"/>
              <a:t>Processo formal de gerenciamento de mudanças: todas as propostas de mudanças são tratadas de forma consistente, e as alterações nos documentos de requisitos são feitas de forma controlada</a:t>
            </a:r>
          </a:p>
        </p:txBody>
      </p:sp>
      <p:sp>
        <p:nvSpPr>
          <p:cNvPr id="29798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397289044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3518F22-30B4-4479-B9A1-D490565B358E}" type="slidenum">
              <a:rPr lang="pt-PT" altLang="pt-BR" sz="1400"/>
              <a:pPr>
                <a:spcBef>
                  <a:spcPct val="0"/>
                </a:spcBef>
                <a:buFontTx/>
                <a:buNone/>
              </a:pPr>
              <a:t>96</a:t>
            </a:fld>
            <a:endParaRPr lang="pt-PT" altLang="pt-BR" sz="1400"/>
          </a:p>
        </p:txBody>
      </p:sp>
      <p:sp>
        <p:nvSpPr>
          <p:cNvPr id="299011"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299012" name="Rectangle 3"/>
          <p:cNvSpPr>
            <a:spLocks noGrp="1" noChangeArrowheads="1"/>
          </p:cNvSpPr>
          <p:nvPr>
            <p:ph type="subTitle" idx="1"/>
          </p:nvPr>
        </p:nvSpPr>
        <p:spPr>
          <a:xfrm>
            <a:off x="77638" y="1052423"/>
            <a:ext cx="12042475" cy="5904003"/>
          </a:xfrm>
        </p:spPr>
        <p:txBody>
          <a:bodyPr>
            <a:normAutofit/>
          </a:bodyPr>
          <a:lstStyle/>
          <a:p>
            <a:pPr algn="just" eaLnBrk="1" hangingPunct="1">
              <a:spcBef>
                <a:spcPct val="0"/>
              </a:spcBef>
            </a:pPr>
            <a:r>
              <a:rPr lang="pt-BR" altLang="pt-BR" dirty="0" smtClean="0"/>
              <a:t>Estágios em Processo de Gerenciamento de mudança de requisitos</a:t>
            </a:r>
          </a:p>
          <a:p>
            <a:pPr algn="just" eaLnBrk="1" hangingPunct="1">
              <a:spcBef>
                <a:spcPct val="0"/>
              </a:spcBef>
            </a:pPr>
            <a:endParaRPr lang="pt-BR" altLang="pt-BR" dirty="0" smtClean="0"/>
          </a:p>
          <a:p>
            <a:pPr algn="just" eaLnBrk="1" hangingPunct="1">
              <a:spcBef>
                <a:spcPct val="0"/>
              </a:spcBef>
            </a:pPr>
            <a:r>
              <a:rPr lang="pt-BR" altLang="pt-BR" dirty="0" smtClean="0"/>
              <a:t> 1.Análise de problema e especificação de mudanças. Novo requisitos identificados ou proposta específica de mudança. Analisa-se o problema ou a proposta de mudança a fim de se verificar sua validade. Essa análise é transmitida a quem solicitou a mudança, que pode responder com uma proposta mais específica de mudança de requisitos ou retirar a solicitação.</a:t>
            </a:r>
          </a:p>
          <a:p>
            <a:pPr algn="just" eaLnBrk="1" hangingPunct="1">
              <a:spcBef>
                <a:spcPct val="0"/>
              </a:spcBef>
            </a:pPr>
            <a:r>
              <a:rPr lang="pt-BR" altLang="pt-BR" dirty="0" smtClean="0"/>
              <a:t> 2. Análise de mudanças e custos. O efeito da mudança é avaliado por meio de informações de rastreabilidade e conhecimentos gerais dos requisitos do sistema. O custo de fazer a mudança é estimado em termos de modificações no documento de requisitos e, se apropriado, no projeto e implementação do sistema. Uma vez que essa análise é concluída, decide-se prosseguir ou não com a mudança de requisitos. </a:t>
            </a:r>
          </a:p>
          <a:p>
            <a:pPr algn="just">
              <a:spcBef>
                <a:spcPct val="0"/>
              </a:spcBef>
            </a:pPr>
            <a:r>
              <a:rPr lang="pt-BR" altLang="pt-BR" dirty="0"/>
              <a:t>3. Implementação de mudanças. O documento de </a:t>
            </a:r>
            <a:r>
              <a:rPr lang="pt-BR" altLang="pt-BR" dirty="0" smtClean="0"/>
              <a:t>requisitos e, quando necessário, </a:t>
            </a:r>
            <a:r>
              <a:rPr lang="pt-BR" altLang="pt-BR" dirty="0"/>
              <a:t>o projeto e implementação do sistema são modificados. </a:t>
            </a:r>
            <a:r>
              <a:rPr lang="pt-BR" altLang="pt-BR" dirty="0" smtClean="0"/>
              <a:t>Organiza-se </a:t>
            </a:r>
            <a:r>
              <a:rPr lang="pt-BR" altLang="pt-BR" dirty="0"/>
              <a:t>o documento de </a:t>
            </a:r>
            <a:r>
              <a:rPr lang="pt-BR" altLang="pt-BR" dirty="0" smtClean="0"/>
              <a:t>requisitos, alterando-o </a:t>
            </a:r>
            <a:r>
              <a:rPr lang="pt-BR" altLang="pt-BR" dirty="0"/>
              <a:t>sem ampla reformulação ou </a:t>
            </a:r>
            <a:r>
              <a:rPr lang="pt-BR" altLang="pt-BR" dirty="0" smtClean="0"/>
              <a:t>reorganização, minimizando-se </a:t>
            </a:r>
            <a:r>
              <a:rPr lang="pt-BR" altLang="pt-BR" dirty="0"/>
              <a:t>as referências externas e tornando as </a:t>
            </a:r>
            <a:r>
              <a:rPr lang="pt-BR" altLang="pt-BR" dirty="0" smtClean="0"/>
              <a:t>seções o </a:t>
            </a:r>
            <a:r>
              <a:rPr lang="pt-BR" altLang="pt-BR" dirty="0"/>
              <a:t>mais </a:t>
            </a:r>
            <a:r>
              <a:rPr lang="pt-BR" altLang="pt-BR" dirty="0" smtClean="0"/>
              <a:t>modulares </a:t>
            </a:r>
            <a:r>
              <a:rPr lang="pt-BR" altLang="pt-BR" dirty="0"/>
              <a:t>possível. </a:t>
            </a:r>
            <a:r>
              <a:rPr lang="pt-BR" altLang="pt-BR" dirty="0" smtClean="0"/>
              <a:t>Seções </a:t>
            </a:r>
            <a:r>
              <a:rPr lang="pt-BR" altLang="pt-BR" dirty="0"/>
              <a:t>individuais podem ser alteradas e substituídas sem afetar outras partes do documento.</a:t>
            </a:r>
          </a:p>
          <a:p>
            <a:pPr algn="just">
              <a:spcBef>
                <a:spcPct val="0"/>
              </a:spcBef>
            </a:pPr>
            <a:endParaRPr lang="pt-BR" altLang="pt-BR" dirty="0"/>
          </a:p>
        </p:txBody>
      </p:sp>
      <p:sp>
        <p:nvSpPr>
          <p:cNvPr id="299013"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64597066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66B2879-0A6C-42B5-953A-D36B44940500}" type="slidenum">
              <a:rPr lang="pt-PT" altLang="pt-BR" sz="1400"/>
              <a:pPr>
                <a:spcBef>
                  <a:spcPct val="0"/>
                </a:spcBef>
                <a:buFontTx/>
                <a:buNone/>
              </a:pPr>
              <a:t>97</a:t>
            </a:fld>
            <a:endParaRPr lang="pt-PT" altLang="pt-BR" sz="1400"/>
          </a:p>
        </p:txBody>
      </p:sp>
      <p:sp>
        <p:nvSpPr>
          <p:cNvPr id="301059" name="Rectangle 2"/>
          <p:cNvSpPr>
            <a:spLocks noGrp="1" noChangeArrowheads="1"/>
          </p:cNvSpPr>
          <p:nvPr>
            <p:ph type="ctrTitle"/>
          </p:nvPr>
        </p:nvSpPr>
        <p:spPr>
          <a:xfrm>
            <a:off x="1524001" y="1"/>
            <a:ext cx="9217025" cy="836613"/>
          </a:xfrm>
        </p:spPr>
        <p:txBody>
          <a:bodyPr anchor="ctr"/>
          <a:lstStyle/>
          <a:p>
            <a:pPr eaLnBrk="1" hangingPunct="1"/>
            <a:r>
              <a:rPr lang="pt-BR" altLang="pt-BR" sz="3600"/>
              <a:t>Descoberta de requisitos</a:t>
            </a:r>
            <a:endParaRPr lang="pt-PT" altLang="pt-BR" sz="3600"/>
          </a:p>
        </p:txBody>
      </p:sp>
      <p:sp>
        <p:nvSpPr>
          <p:cNvPr id="301060" name="Rectangle 3"/>
          <p:cNvSpPr>
            <a:spLocks noGrp="1" noChangeArrowheads="1"/>
          </p:cNvSpPr>
          <p:nvPr>
            <p:ph type="subTitle" idx="1"/>
          </p:nvPr>
        </p:nvSpPr>
        <p:spPr>
          <a:xfrm>
            <a:off x="0" y="914400"/>
            <a:ext cx="12191999" cy="6042026"/>
          </a:xfrm>
        </p:spPr>
        <p:txBody>
          <a:bodyPr/>
          <a:lstStyle/>
          <a:p>
            <a:pPr algn="just" eaLnBrk="1" hangingPunct="1">
              <a:spcBef>
                <a:spcPct val="0"/>
              </a:spcBef>
            </a:pPr>
            <a:r>
              <a:rPr lang="pt-BR" altLang="pt-BR" dirty="0" smtClean="0"/>
              <a:t>Processo de Gerenciamento de mudança de requisitos:</a:t>
            </a:r>
          </a:p>
          <a:p>
            <a:pPr algn="just" eaLnBrk="1" hangingPunct="1">
              <a:spcBef>
                <a:spcPct val="0"/>
              </a:spcBef>
            </a:pPr>
            <a:endParaRPr lang="pt-BR" altLang="pt-BR" dirty="0" smtClean="0"/>
          </a:p>
          <a:p>
            <a:pPr algn="just" eaLnBrk="1" hangingPunct="1">
              <a:spcBef>
                <a:spcPct val="0"/>
              </a:spcBef>
            </a:pPr>
            <a:r>
              <a:rPr lang="pt-BR" altLang="pt-BR" dirty="0" smtClean="0"/>
              <a:t>Novo requisito precisa ser implementado com urgência: mudar o sistema para depois modificar o documento de requisitos. Especificação de requisitos e a implementação do sistema ficam defasadas. </a:t>
            </a:r>
          </a:p>
          <a:p>
            <a:pPr algn="just" eaLnBrk="1" hangingPunct="1">
              <a:spcBef>
                <a:spcPct val="0"/>
              </a:spcBef>
            </a:pPr>
            <a:endParaRPr lang="pt-BR" altLang="pt-BR" dirty="0" smtClean="0"/>
          </a:p>
          <a:p>
            <a:pPr algn="just" eaLnBrk="1" hangingPunct="1">
              <a:spcBef>
                <a:spcPct val="0"/>
              </a:spcBef>
            </a:pPr>
            <a:r>
              <a:rPr lang="pt-BR" altLang="pt-BR" dirty="0" smtClean="0"/>
              <a:t>Mudanças feitas: fácil esquecer de incluir alterações no documento de requisitos ou acrescentar informações inconsistentes no documento de requisitos.</a:t>
            </a:r>
          </a:p>
          <a:p>
            <a:pPr algn="just" eaLnBrk="1" hangingPunct="1">
              <a:spcBef>
                <a:spcPct val="0"/>
              </a:spcBef>
            </a:pPr>
            <a:r>
              <a:rPr lang="pt-BR" altLang="pt-BR" dirty="0" smtClean="0"/>
              <a:t> </a:t>
            </a:r>
          </a:p>
          <a:p>
            <a:pPr algn="just" eaLnBrk="1" hangingPunct="1">
              <a:spcBef>
                <a:spcPct val="0"/>
              </a:spcBef>
            </a:pPr>
            <a:r>
              <a:rPr lang="pt-BR" altLang="pt-BR" dirty="0" smtClean="0"/>
              <a:t>Processos ágeis, como Extreme </a:t>
            </a:r>
            <a:r>
              <a:rPr lang="pt-BR" altLang="pt-BR" dirty="0" err="1" smtClean="0"/>
              <a:t>Programming</a:t>
            </a:r>
            <a:r>
              <a:rPr lang="pt-BR" altLang="pt-BR" dirty="0" smtClean="0"/>
              <a:t>: concebidos para lidar com requisitos mutáveis durante o processo de desenvolvimento. </a:t>
            </a:r>
          </a:p>
          <a:p>
            <a:pPr algn="just" eaLnBrk="1" hangingPunct="1">
              <a:spcBef>
                <a:spcPct val="0"/>
              </a:spcBef>
            </a:pPr>
            <a:r>
              <a:rPr lang="pt-BR" altLang="pt-BR" dirty="0" smtClean="0"/>
              <a:t>A mudança de </a:t>
            </a:r>
            <a:r>
              <a:rPr lang="pt-BR" altLang="pt-BR" dirty="0" err="1" smtClean="0"/>
              <a:t>requisistos</a:t>
            </a:r>
            <a:r>
              <a:rPr lang="pt-BR" altLang="pt-BR" dirty="0" smtClean="0"/>
              <a:t> não passa por um processo formal de gerenciamento de mudanças. </a:t>
            </a:r>
            <a:r>
              <a:rPr lang="pt-BR" altLang="pt-BR" dirty="0"/>
              <a:t>U</a:t>
            </a:r>
            <a:r>
              <a:rPr lang="pt-BR" altLang="pt-BR" dirty="0" smtClean="0"/>
              <a:t>suário prioriza a mudança e, em caso de alta prioridade, decide quais recursos do sistema  para a próxima iteração</a:t>
            </a:r>
          </a:p>
        </p:txBody>
      </p:sp>
      <p:sp>
        <p:nvSpPr>
          <p:cNvPr id="301061"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38308781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7219EBB-7563-4B70-B56F-3EF6DA993A45}" type="slidenum">
              <a:rPr lang="pt-PT" altLang="pt-BR" sz="1400"/>
              <a:pPr>
                <a:spcBef>
                  <a:spcPct val="0"/>
                </a:spcBef>
                <a:buFontTx/>
                <a:buNone/>
              </a:pPr>
              <a:t>98</a:t>
            </a:fld>
            <a:endParaRPr lang="pt-PT" altLang="pt-BR" sz="1400"/>
          </a:p>
        </p:txBody>
      </p:sp>
      <p:sp>
        <p:nvSpPr>
          <p:cNvPr id="302083" name="Rectangle 2"/>
          <p:cNvSpPr>
            <a:spLocks noGrp="1" noChangeArrowheads="1"/>
          </p:cNvSpPr>
          <p:nvPr>
            <p:ph type="ctrTitle"/>
          </p:nvPr>
        </p:nvSpPr>
        <p:spPr>
          <a:xfrm>
            <a:off x="1524001" y="1"/>
            <a:ext cx="9217025" cy="836613"/>
          </a:xfrm>
        </p:spPr>
        <p:txBody>
          <a:bodyPr anchor="ctr"/>
          <a:lstStyle/>
          <a:p>
            <a:pPr eaLnBrk="1" hangingPunct="1"/>
            <a:r>
              <a:rPr lang="pt-BR" altLang="pt-BR" sz="3600"/>
              <a:t>Pontos Importantes</a:t>
            </a:r>
            <a:endParaRPr lang="pt-PT" altLang="pt-BR" sz="3600"/>
          </a:p>
        </p:txBody>
      </p:sp>
      <p:sp>
        <p:nvSpPr>
          <p:cNvPr id="302084" name="Rectangle 3"/>
          <p:cNvSpPr>
            <a:spLocks noGrp="1" noChangeArrowheads="1"/>
          </p:cNvSpPr>
          <p:nvPr>
            <p:ph type="subTitle" idx="1"/>
          </p:nvPr>
        </p:nvSpPr>
        <p:spPr>
          <a:xfrm>
            <a:off x="0" y="966159"/>
            <a:ext cx="12059728" cy="5990268"/>
          </a:xfrm>
        </p:spPr>
        <p:txBody>
          <a:bodyPr/>
          <a:lstStyle/>
          <a:p>
            <a:pPr algn="just" eaLnBrk="1" hangingPunct="1">
              <a:spcBef>
                <a:spcPct val="0"/>
              </a:spcBef>
            </a:pPr>
            <a:r>
              <a:rPr lang="pt-BR" altLang="pt-BR" dirty="0" smtClean="0"/>
              <a:t>Os requisitos para um sistema de software estabelecem o que o sistema deve fazer e define as restrições sobre seu funcionamento e implementação.</a:t>
            </a:r>
          </a:p>
          <a:p>
            <a:pPr algn="just" eaLnBrk="1" hangingPunct="1">
              <a:spcBef>
                <a:spcPct val="0"/>
              </a:spcBef>
            </a:pPr>
            <a:r>
              <a:rPr lang="pt-BR" altLang="pt-BR" dirty="0" smtClean="0"/>
              <a:t>Os requisitos funcionais são declarações dos serviços que o sistema deve fornecer ou descrições de como alguns processamentos devem ser efetuados. </a:t>
            </a:r>
          </a:p>
          <a:p>
            <a:pPr algn="just" eaLnBrk="1" hangingPunct="1">
              <a:spcBef>
                <a:spcPct val="0"/>
              </a:spcBef>
            </a:pPr>
            <a:r>
              <a:rPr lang="pt-BR" altLang="pt-BR" dirty="0" smtClean="0"/>
              <a:t>Restringem o sistema que está sendo desenvolvido e o processo de desenvolvimento que está sendo usado. </a:t>
            </a:r>
          </a:p>
          <a:p>
            <a:pPr algn="just" eaLnBrk="1" hangingPunct="1">
              <a:spcBef>
                <a:spcPct val="0"/>
              </a:spcBef>
            </a:pPr>
            <a:r>
              <a:rPr lang="pt-BR" altLang="pt-BR" dirty="0" smtClean="0"/>
              <a:t>Podem ser os requisitos de produto, requisitos organizacionais ou requisitos externos. </a:t>
            </a:r>
          </a:p>
          <a:p>
            <a:pPr algn="just" eaLnBrk="1" hangingPunct="1">
              <a:spcBef>
                <a:spcPct val="0"/>
              </a:spcBef>
            </a:pPr>
            <a:r>
              <a:rPr lang="pt-BR" altLang="pt-BR" dirty="0" smtClean="0"/>
              <a:t>Relacionam-se com as propriedades emergentes do sistema e, portanto, aplicam-se ao sistema como um todo. </a:t>
            </a:r>
          </a:p>
          <a:p>
            <a:pPr algn="just" eaLnBrk="1" hangingPunct="1">
              <a:spcBef>
                <a:spcPct val="0"/>
              </a:spcBef>
            </a:pPr>
            <a:r>
              <a:rPr lang="pt-BR" altLang="pt-BR" dirty="0" smtClean="0"/>
              <a:t>O documento de requisitos de software é uma declaração acordada dos requisitos do sistema. Deve ser organizado para os clientes do sistema e para os desenvolvedores de software . </a:t>
            </a:r>
          </a:p>
        </p:txBody>
      </p:sp>
      <p:sp>
        <p:nvSpPr>
          <p:cNvPr id="302085"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53927446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99</a:t>
            </a:fld>
            <a:endParaRPr lang="pt-PT" altLang="pt-BR" sz="1400"/>
          </a:p>
        </p:txBody>
      </p:sp>
      <p:sp>
        <p:nvSpPr>
          <p:cNvPr id="303107" name="Rectangle 2"/>
          <p:cNvSpPr>
            <a:spLocks noGrp="1" noChangeArrowheads="1"/>
          </p:cNvSpPr>
          <p:nvPr>
            <p:ph type="ctrTitle"/>
          </p:nvPr>
        </p:nvSpPr>
        <p:spPr>
          <a:xfrm>
            <a:off x="1524001" y="1"/>
            <a:ext cx="9217025" cy="836613"/>
          </a:xfrm>
        </p:spPr>
        <p:txBody>
          <a:bodyPr anchor="ctr"/>
          <a:lstStyle/>
          <a:p>
            <a:pPr eaLnBrk="1" hangingPunct="1"/>
            <a:r>
              <a:rPr lang="pt-BR" altLang="pt-BR" sz="3600"/>
              <a:t>Pontos Importantes</a:t>
            </a:r>
            <a:endParaRPr lang="pt-PT" altLang="pt-BR" sz="3600"/>
          </a:p>
        </p:txBody>
      </p:sp>
      <p:sp>
        <p:nvSpPr>
          <p:cNvPr id="303108" name="Rectangle 3"/>
          <p:cNvSpPr>
            <a:spLocks noGrp="1" noChangeArrowheads="1"/>
          </p:cNvSpPr>
          <p:nvPr>
            <p:ph type="subTitle" idx="1"/>
          </p:nvPr>
        </p:nvSpPr>
        <p:spPr>
          <a:xfrm>
            <a:off x="77638" y="1112809"/>
            <a:ext cx="12033849" cy="5843618"/>
          </a:xfrm>
        </p:spPr>
        <p:txBody>
          <a:bodyPr/>
          <a:lstStyle/>
          <a:p>
            <a:pPr algn="just" eaLnBrk="1" hangingPunct="1">
              <a:spcBef>
                <a:spcPct val="0"/>
              </a:spcBef>
            </a:pPr>
            <a:r>
              <a:rPr lang="pt-BR" altLang="pt-BR" dirty="0" smtClean="0"/>
              <a:t>Processo de engenharia de requisitos inclui um estudo da viabilidade, </a:t>
            </a:r>
            <a:r>
              <a:rPr lang="pt-BR" altLang="pt-BR" dirty="0" err="1" smtClean="0"/>
              <a:t>elicitação</a:t>
            </a:r>
            <a:r>
              <a:rPr lang="pt-BR" altLang="pt-BR" dirty="0" smtClean="0"/>
              <a:t> e análise de requisitos, especificação de requisitos, validação e gerenciamento de requisitos. </a:t>
            </a:r>
          </a:p>
          <a:p>
            <a:pPr algn="just" eaLnBrk="1" hangingPunct="1">
              <a:spcBef>
                <a:spcPct val="0"/>
              </a:spcBef>
            </a:pPr>
            <a:endParaRPr lang="pt-BR" altLang="pt-BR" dirty="0" smtClean="0"/>
          </a:p>
          <a:p>
            <a:pPr algn="just" eaLnBrk="1" hangingPunct="1">
              <a:spcBef>
                <a:spcPct val="0"/>
              </a:spcBef>
            </a:pPr>
            <a:r>
              <a:rPr lang="pt-BR" altLang="pt-BR" dirty="0" err="1" smtClean="0"/>
              <a:t>Elicitação</a:t>
            </a:r>
            <a:r>
              <a:rPr lang="pt-BR" altLang="pt-BR" dirty="0" smtClean="0"/>
              <a:t> e análise de requisitos: processo iterativo que pode ser representado como uma espiral de atividades: descoberta de requisitos, classificação e organização de requisitos, negociação de requisitos e documentação de requisitos. </a:t>
            </a:r>
          </a:p>
          <a:p>
            <a:pPr algn="just" eaLnBrk="1" hangingPunct="1">
              <a:spcBef>
                <a:spcPct val="0"/>
              </a:spcBef>
            </a:pPr>
            <a:endParaRPr lang="pt-BR" altLang="pt-BR" dirty="0" smtClean="0"/>
          </a:p>
          <a:p>
            <a:pPr algn="just" eaLnBrk="1" hangingPunct="1">
              <a:spcBef>
                <a:spcPct val="0"/>
              </a:spcBef>
            </a:pPr>
            <a:r>
              <a:rPr lang="pt-BR" altLang="pt-BR" dirty="0" smtClean="0"/>
              <a:t>A validação de requisitos é o processo de verificação da validade, consistência, completude, realismo e </a:t>
            </a:r>
            <a:r>
              <a:rPr lang="pt-BR" altLang="pt-BR" dirty="0" err="1" smtClean="0"/>
              <a:t>verificabilidade</a:t>
            </a:r>
            <a:r>
              <a:rPr lang="pt-BR" altLang="pt-BR" dirty="0" smtClean="0"/>
              <a:t>. </a:t>
            </a:r>
          </a:p>
          <a:p>
            <a:pPr algn="just" eaLnBrk="1" hangingPunct="1">
              <a:spcBef>
                <a:spcPct val="0"/>
              </a:spcBef>
            </a:pPr>
            <a:endParaRPr lang="pt-BR" altLang="pt-BR" dirty="0"/>
          </a:p>
          <a:p>
            <a:pPr algn="just" eaLnBrk="1" hangingPunct="1">
              <a:spcBef>
                <a:spcPct val="0"/>
              </a:spcBef>
            </a:pPr>
            <a:r>
              <a:rPr lang="pt-BR" altLang="pt-BR" dirty="0" smtClean="0"/>
              <a:t>Mudanças organizacionais, mudanças nos negócios e mudanças técnicas geram mudanças </a:t>
            </a:r>
            <a:r>
              <a:rPr lang="pt-BR" altLang="pt-BR" smtClean="0"/>
              <a:t>nos requisitos. </a:t>
            </a:r>
            <a:r>
              <a:rPr lang="pt-BR" altLang="pt-BR" dirty="0" smtClean="0"/>
              <a:t>O gerenciamento de requisitos é o processo de gerenciamento e controle dessas mudanças.</a:t>
            </a:r>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18892962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100</a:t>
            </a:fld>
            <a:endParaRPr lang="pt-PT" altLang="pt-BR" sz="1400"/>
          </a:p>
        </p:txBody>
      </p:sp>
      <p:sp>
        <p:nvSpPr>
          <p:cNvPr id="303107"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smtClean="0"/>
              <a:t>Estudo de Viabilidade</a:t>
            </a:r>
            <a:endParaRPr lang="pt-PT" altLang="pt-BR" sz="3600" dirty="0"/>
          </a:p>
        </p:txBody>
      </p:sp>
      <p:sp>
        <p:nvSpPr>
          <p:cNvPr id="303108" name="Rectangle 3"/>
          <p:cNvSpPr>
            <a:spLocks noGrp="1" noChangeArrowheads="1"/>
          </p:cNvSpPr>
          <p:nvPr>
            <p:ph type="subTitle" idx="1"/>
          </p:nvPr>
        </p:nvSpPr>
        <p:spPr>
          <a:xfrm>
            <a:off x="77638" y="1112809"/>
            <a:ext cx="12033849" cy="5843618"/>
          </a:xfrm>
        </p:spPr>
        <p:txBody>
          <a:bodyPr/>
          <a:lstStyle/>
          <a:p>
            <a:pPr algn="just"/>
            <a:r>
              <a:rPr lang="pt-BR" dirty="0"/>
              <a:t>O </a:t>
            </a:r>
            <a:r>
              <a:rPr lang="pt-BR" dirty="0" smtClean="0"/>
              <a:t>objetivo: </a:t>
            </a:r>
            <a:r>
              <a:rPr lang="pt-BR" dirty="0"/>
              <a:t>avaliar sob o ponto de vista operacional, técnico, econômico e organizacional se o projeto é </a:t>
            </a:r>
            <a:r>
              <a:rPr lang="pt-BR" dirty="0" smtClean="0"/>
              <a:t>viável.</a:t>
            </a:r>
          </a:p>
          <a:p>
            <a:pPr algn="just"/>
            <a:r>
              <a:rPr lang="pt-BR" dirty="0" smtClean="0"/>
              <a:t>O </a:t>
            </a:r>
            <a:r>
              <a:rPr lang="pt-BR" dirty="0"/>
              <a:t>documento destina-se aos </a:t>
            </a:r>
            <a:r>
              <a:rPr lang="pt-BR" i="1" dirty="0" err="1"/>
              <a:t>stakeholders</a:t>
            </a:r>
            <a:r>
              <a:rPr lang="pt-BR" dirty="0"/>
              <a:t> do sistema (alguém que tenha alguma influência direta ou indireta sobre os requisitos do sistema). (SOMMERVILLE,2011, p. 70).</a:t>
            </a:r>
          </a:p>
          <a:p>
            <a:pPr algn="just"/>
            <a:r>
              <a:rPr lang="pt-BR" dirty="0"/>
              <a:t>A</a:t>
            </a:r>
            <a:r>
              <a:rPr lang="pt-BR" dirty="0" smtClean="0"/>
              <a:t>contece </a:t>
            </a:r>
            <a:r>
              <a:rPr lang="pt-BR" dirty="0"/>
              <a:t>após a especificação de requisitos de negócio, ou seja, é o segundo passo do processo de engenharia de requisitos.</a:t>
            </a:r>
          </a:p>
          <a:p>
            <a:pPr algn="just"/>
            <a:r>
              <a:rPr lang="pt-BR" dirty="0"/>
              <a:t> </a:t>
            </a:r>
          </a:p>
          <a:p>
            <a:pPr algn="just"/>
            <a:endParaRPr lang="pt-BR" dirty="0"/>
          </a:p>
          <a:p>
            <a:pPr algn="just"/>
            <a:r>
              <a:rPr lang="pt-BR" dirty="0" smtClean="0"/>
              <a:t>Justifica-se </a:t>
            </a:r>
            <a:r>
              <a:rPr lang="pt-BR" dirty="0"/>
              <a:t>a sua realização a fim de analisar e responder algumas questões do ponto de vista da viabilidade operacional, técnica, de cronograma e econômica, como:</a:t>
            </a:r>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178640385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101</a:t>
            </a:fld>
            <a:endParaRPr lang="pt-PT" altLang="pt-BR" sz="1400"/>
          </a:p>
        </p:txBody>
      </p:sp>
      <p:sp>
        <p:nvSpPr>
          <p:cNvPr id="303107"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smtClean="0"/>
              <a:t>Estudo de Viabilidade</a:t>
            </a:r>
            <a:endParaRPr lang="pt-PT" altLang="pt-BR" sz="3600" dirty="0"/>
          </a:p>
        </p:txBody>
      </p:sp>
      <p:pic>
        <p:nvPicPr>
          <p:cNvPr id="2" name="Imagem 1"/>
          <p:cNvPicPr>
            <a:picLocks noChangeAspect="1"/>
          </p:cNvPicPr>
          <p:nvPr/>
        </p:nvPicPr>
        <p:blipFill>
          <a:blip r:embed="rId2"/>
          <a:stretch>
            <a:fillRect/>
          </a:stretch>
        </p:blipFill>
        <p:spPr>
          <a:xfrm>
            <a:off x="1524001" y="879423"/>
            <a:ext cx="8387750" cy="5604456"/>
          </a:xfrm>
          <a:prstGeom prst="rect">
            <a:avLst/>
          </a:prstGeom>
        </p:spPr>
      </p:pic>
      <p:sp>
        <p:nvSpPr>
          <p:cNvPr id="303108" name="Rectangle 3"/>
          <p:cNvSpPr>
            <a:spLocks noGrp="1" noChangeArrowheads="1"/>
          </p:cNvSpPr>
          <p:nvPr>
            <p:ph type="subTitle" idx="1"/>
          </p:nvPr>
        </p:nvSpPr>
        <p:spPr>
          <a:xfrm>
            <a:off x="77638" y="1112809"/>
            <a:ext cx="12033849" cy="5843618"/>
          </a:xfrm>
        </p:spPr>
        <p:txBody>
          <a:bodyPr/>
          <a:lstStyle/>
          <a:p>
            <a:pPr algn="just"/>
            <a:endParaRPr lang="pt-BR"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Tree>
    <p:extLst>
      <p:ext uri="{BB962C8B-B14F-4D97-AF65-F5344CB8AC3E}">
        <p14:creationId xmlns:p14="http://schemas.microsoft.com/office/powerpoint/2010/main" val="218013958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102</a:t>
            </a:fld>
            <a:endParaRPr lang="pt-PT" altLang="pt-BR" sz="1400"/>
          </a:p>
        </p:txBody>
      </p:sp>
      <p:sp>
        <p:nvSpPr>
          <p:cNvPr id="303107" name="Rectangle 2"/>
          <p:cNvSpPr>
            <a:spLocks noGrp="1" noChangeArrowheads="1"/>
          </p:cNvSpPr>
          <p:nvPr>
            <p:ph type="ctrTitle"/>
          </p:nvPr>
        </p:nvSpPr>
        <p:spPr>
          <a:xfrm>
            <a:off x="1524001" y="1"/>
            <a:ext cx="9217025" cy="836613"/>
          </a:xfrm>
        </p:spPr>
        <p:txBody>
          <a:bodyPr anchor="ctr"/>
          <a:lstStyle/>
          <a:p>
            <a:pPr eaLnBrk="1" hangingPunct="1"/>
            <a:r>
              <a:rPr lang="pt-BR" altLang="pt-BR" sz="3600" dirty="0" smtClean="0"/>
              <a:t>Estudo de Viabilidade - Tipos</a:t>
            </a:r>
            <a:endParaRPr lang="pt-PT" alt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5624745"/>
          </a:xfrm>
          <a:prstGeom prst="rect">
            <a:avLst/>
          </a:prstGeom>
        </p:spPr>
        <p:txBody>
          <a:bodyPr wrap="square">
            <a:spAutoFit/>
          </a:bodyPr>
          <a:lstStyle/>
          <a:p>
            <a:pPr algn="just">
              <a:lnSpc>
                <a:spcPct val="107000"/>
              </a:lnSpc>
              <a:spcAft>
                <a:spcPts val="0"/>
              </a:spcAft>
            </a:pPr>
            <a:r>
              <a:rPr lang="pt-BR" sz="2400" u="sng" dirty="0" smtClean="0">
                <a:solidFill>
                  <a:srgbClr val="000000"/>
                </a:solidFill>
                <a:latin typeface="Calibri" panose="020F0502020204030204" pitchFamily="34" charset="0"/>
                <a:ea typeface="Times New Roman" panose="02020603050405020304" pitchFamily="18" charset="0"/>
                <a:cs typeface="Calibri" panose="020F0502020204030204" pitchFamily="34" charset="0"/>
              </a:rPr>
              <a:t>Viabilidade </a:t>
            </a:r>
            <a:r>
              <a:rPr lang="pt-BR" sz="2400" u="sng" dirty="0">
                <a:solidFill>
                  <a:srgbClr val="000000"/>
                </a:solidFill>
                <a:latin typeface="Calibri" panose="020F0502020204030204" pitchFamily="34" charset="0"/>
                <a:ea typeface="Times New Roman" panose="02020603050405020304" pitchFamily="18" charset="0"/>
                <a:cs typeface="Calibri" panose="020F0502020204030204" pitchFamily="34" charset="0"/>
              </a:rPr>
              <a:t>organizacional</a:t>
            </a: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quanto a solução beneficia a organização? Haverá aderência ao uso da solução pelos usuários devido a cultura organizacional e percepção dos envolvidos? A solução está alinhada com os objetivos estratégicos da organização? Há compreensão e suporte da alta direção da organização em relação ao projeto? etc.</a:t>
            </a:r>
            <a:endParaRPr lang="pt-BR"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pt-BR" sz="2400" u="sng" dirty="0">
                <a:solidFill>
                  <a:srgbClr val="000000"/>
                </a:solidFill>
                <a:latin typeface="Calibri" panose="020F0502020204030204" pitchFamily="34" charset="0"/>
                <a:ea typeface="Times New Roman" panose="02020603050405020304" pitchFamily="18" charset="0"/>
                <a:cs typeface="Calibri" panose="020F0502020204030204" pitchFamily="34" charset="0"/>
              </a:rPr>
              <a:t>Viabilidade operacional</a:t>
            </a: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quanto a solução se adéqua a organização? Quais são os requisitos da solução? O que o cliente espera que o sistema faça?</a:t>
            </a:r>
            <a:endParaRPr lang="pt-BR"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pt-BR" sz="2400" u="sng" dirty="0">
                <a:solidFill>
                  <a:srgbClr val="000000"/>
                </a:solidFill>
                <a:latin typeface="Calibri" panose="020F0502020204030204" pitchFamily="34" charset="0"/>
                <a:ea typeface="Times New Roman" panose="02020603050405020304" pitchFamily="18" charset="0"/>
                <a:cs typeface="Calibri" panose="020F0502020204030204" pitchFamily="34" charset="0"/>
              </a:rPr>
              <a:t>Viabilidade econômica</a:t>
            </a: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analisa entre o custo de desenvolvimento e os benefícios após implementação do projeto (custo-benefício). </a:t>
            </a:r>
            <a:endParaRPr lang="pt-BR"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pt-BR" sz="2400" u="sng" dirty="0">
                <a:solidFill>
                  <a:srgbClr val="000000"/>
                </a:solidFill>
                <a:latin typeface="Calibri" panose="020F0502020204030204" pitchFamily="34" charset="0"/>
                <a:ea typeface="Times New Roman" panose="02020603050405020304" pitchFamily="18" charset="0"/>
                <a:cs typeface="Calibri" panose="020F0502020204030204" pitchFamily="34" charset="0"/>
              </a:rPr>
              <a:t>Viabilidade técnica</a:t>
            </a: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suporte técnico que a organização oferecerá para o desenvolvimento do projeto; restrições da equipe ou da tecnologia; necessidade de se investir em pesquisas antes de realizar o projeto; etc.</a:t>
            </a:r>
            <a:endParaRPr lang="pt-BR"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pt-BR" sz="2400" u="sng" dirty="0">
                <a:solidFill>
                  <a:srgbClr val="000000"/>
                </a:solidFill>
                <a:latin typeface="Calibri" panose="020F0502020204030204" pitchFamily="34" charset="0"/>
                <a:ea typeface="Times New Roman" panose="02020603050405020304" pitchFamily="18" charset="0"/>
                <a:cs typeface="Calibri" panose="020F0502020204030204" pitchFamily="34" charset="0"/>
              </a:rPr>
              <a:t>Viabilidade de cronograma</a:t>
            </a: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cruzamento entre as atividades levantadas e o tempo estimado para realizá-las; definição de marcos do projeto; impacto de atrasos.</a:t>
            </a:r>
            <a:endParaRPr lang="pt-BR"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r>
              <a:rPr lang="pt-BR" sz="2400" dirty="0">
                <a:solidFill>
                  <a:srgbClr val="000000"/>
                </a:solidFill>
                <a:latin typeface="Calibri" panose="020F0502020204030204" pitchFamily="34" charset="0"/>
                <a:ea typeface="Times New Roman" panose="02020603050405020304" pitchFamily="18" charset="0"/>
                <a:cs typeface="Calibri" panose="020F0502020204030204" pitchFamily="34" charset="0"/>
              </a:rPr>
              <a:t>Outros: viabilidade legal, cultural, marketing, etc.</a:t>
            </a:r>
            <a:endParaRPr lang="pt-BR"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999505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103</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5262979"/>
          </a:xfrm>
          <a:prstGeom prst="rect">
            <a:avLst/>
          </a:prstGeom>
        </p:spPr>
        <p:txBody>
          <a:bodyPr wrap="square">
            <a:spAutoFit/>
          </a:bodyPr>
          <a:lstStyle/>
          <a:p>
            <a:pPr lvl="0"/>
            <a:r>
              <a:rPr lang="pt-BR" sz="2400" b="1" dirty="0" smtClean="0"/>
              <a:t>1 Introdução</a:t>
            </a:r>
            <a:endParaRPr lang="pt-BR" sz="2400" dirty="0"/>
          </a:p>
          <a:p>
            <a:r>
              <a:rPr lang="pt-BR" sz="2400" dirty="0"/>
              <a:t> </a:t>
            </a:r>
            <a:endParaRPr lang="pt-BR" sz="2400" dirty="0" smtClean="0"/>
          </a:p>
          <a:p>
            <a:r>
              <a:rPr lang="pt-BR" sz="2400" b="1" dirty="0" smtClean="0"/>
              <a:t>1.1 Finalidade</a:t>
            </a:r>
            <a:endParaRPr lang="pt-BR" sz="2400" dirty="0"/>
          </a:p>
          <a:p>
            <a:r>
              <a:rPr lang="pt-BR" sz="2400" dirty="0"/>
              <a:t> </a:t>
            </a:r>
          </a:p>
          <a:p>
            <a:r>
              <a:rPr lang="pt-BR" sz="2400" dirty="0"/>
              <a:t>Deve-se citar a finalidade do documento de Estudo de Viabilidade. Citar também </a:t>
            </a:r>
            <a:r>
              <a:rPr lang="pt-BR" sz="2400" u="sng" dirty="0"/>
              <a:t>quem</a:t>
            </a:r>
            <a:r>
              <a:rPr lang="pt-BR" sz="2400" dirty="0"/>
              <a:t> irá utilizá-lo e </a:t>
            </a:r>
            <a:r>
              <a:rPr lang="pt-BR" sz="2400" u="sng" dirty="0"/>
              <a:t>como</a:t>
            </a:r>
            <a:r>
              <a:rPr lang="pt-BR" sz="2400" dirty="0"/>
              <a:t>.</a:t>
            </a:r>
          </a:p>
          <a:p>
            <a:r>
              <a:rPr lang="pt-BR" sz="2400" dirty="0"/>
              <a:t> </a:t>
            </a:r>
          </a:p>
          <a:p>
            <a:r>
              <a:rPr lang="pt-BR" sz="2400" dirty="0"/>
              <a:t>Possíveis pessoas que poderão utilizar o documento:</a:t>
            </a:r>
          </a:p>
          <a:p>
            <a:r>
              <a:rPr lang="pt-BR" sz="2400" dirty="0"/>
              <a:t>– Clientes: argumentar ou confirmar sobre os requisitos definidos;</a:t>
            </a:r>
          </a:p>
          <a:p>
            <a:r>
              <a:rPr lang="pt-BR" sz="2400" dirty="0"/>
              <a:t>– Gestores: gerir o processo mais adequado para o desenvolvimento, a equipe, cronograma e custos;</a:t>
            </a:r>
          </a:p>
          <a:p>
            <a:r>
              <a:rPr lang="pt-BR" sz="2400" dirty="0"/>
              <a:t>– Engenheiros: analisar o sistema a desenvolver;</a:t>
            </a:r>
          </a:p>
          <a:p>
            <a:r>
              <a:rPr lang="pt-BR" sz="2400" dirty="0"/>
              <a:t>– Analistas de Testes: desenvolver e executar planos de teste do sistema;</a:t>
            </a:r>
          </a:p>
          <a:p>
            <a:r>
              <a:rPr lang="pt-BR" sz="2400" dirty="0"/>
              <a:t> </a:t>
            </a:r>
          </a:p>
        </p:txBody>
      </p:sp>
    </p:spTree>
    <p:extLst>
      <p:ext uri="{BB962C8B-B14F-4D97-AF65-F5344CB8AC3E}">
        <p14:creationId xmlns:p14="http://schemas.microsoft.com/office/powerpoint/2010/main" val="1207979896"/>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104</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893647"/>
          </a:xfrm>
          <a:prstGeom prst="rect">
            <a:avLst/>
          </a:prstGeom>
        </p:spPr>
        <p:txBody>
          <a:bodyPr wrap="square">
            <a:spAutoFit/>
          </a:bodyPr>
          <a:lstStyle/>
          <a:p>
            <a:pPr lvl="0"/>
            <a:r>
              <a:rPr lang="pt-BR" sz="2400" b="1" dirty="0" smtClean="0"/>
              <a:t>1 Introdução</a:t>
            </a:r>
            <a:endParaRPr lang="pt-BR" sz="2400" dirty="0"/>
          </a:p>
          <a:p>
            <a:r>
              <a:rPr lang="pt-BR" sz="2400" dirty="0"/>
              <a:t> </a:t>
            </a:r>
            <a:endParaRPr lang="pt-BR" sz="2400" dirty="0" smtClean="0"/>
          </a:p>
          <a:p>
            <a:r>
              <a:rPr lang="pt-BR" sz="2400" b="1" dirty="0" smtClean="0"/>
              <a:t>1.1 Finalidade</a:t>
            </a:r>
            <a:endParaRPr lang="pt-BR" sz="2400" dirty="0"/>
          </a:p>
          <a:p>
            <a:r>
              <a:rPr lang="pt-BR" sz="2400" dirty="0"/>
              <a:t> </a:t>
            </a:r>
          </a:p>
          <a:p>
            <a:r>
              <a:rPr lang="pt-BR" sz="2400" dirty="0"/>
              <a:t>Ex.: “O objetivo de um estudo de viabilidade é avaliar um projeto de software do ponto de vista técnico, econômico e organizacional. Destina-se ao cliente e aos desenvolvedores de software. O estudo de viabilidade atende os </a:t>
            </a:r>
            <a:r>
              <a:rPr lang="pt-BR" sz="2400" dirty="0" err="1"/>
              <a:t>stakeholders</a:t>
            </a:r>
            <a:r>
              <a:rPr lang="pt-BR" sz="2400" dirty="0"/>
              <a:t> pois se dá pela interação entre as partes interessadas, com a finalidade de saber se o sistema irá contribuir para os objetivos da organização, considerando restrições, bem como analisar se o sistema poderá ser implementado e também saber se a integração entre outros sistemas será possível, caso necessário. O documento deve ser utilizado para consulta referente a confirmação ou não da viabilidade do projeto. Caso se determine viável, será estabelecido um cronograma de trabalho, tendo como base as etapas de trabalho da abordagem de desenvolvimento a ser utilizada.</a:t>
            </a:r>
          </a:p>
        </p:txBody>
      </p:sp>
    </p:spTree>
    <p:extLst>
      <p:ext uri="{BB962C8B-B14F-4D97-AF65-F5344CB8AC3E}">
        <p14:creationId xmlns:p14="http://schemas.microsoft.com/office/powerpoint/2010/main" val="4794195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105</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6001643"/>
          </a:xfrm>
          <a:prstGeom prst="rect">
            <a:avLst/>
          </a:prstGeom>
        </p:spPr>
        <p:txBody>
          <a:bodyPr wrap="square">
            <a:spAutoFit/>
          </a:bodyPr>
          <a:lstStyle/>
          <a:p>
            <a:pPr lvl="0"/>
            <a:r>
              <a:rPr lang="pt-BR" sz="2400" b="1" dirty="0" smtClean="0"/>
              <a:t>1 Introdução</a:t>
            </a:r>
            <a:endParaRPr lang="pt-BR" sz="2400" dirty="0"/>
          </a:p>
          <a:p>
            <a:r>
              <a:rPr lang="pt-BR" sz="2400" dirty="0"/>
              <a:t> </a:t>
            </a:r>
            <a:endParaRPr lang="pt-BR" sz="2400" dirty="0" smtClean="0"/>
          </a:p>
          <a:p>
            <a:r>
              <a:rPr lang="pt-BR" sz="2400" b="1" dirty="0"/>
              <a:t> </a:t>
            </a:r>
            <a:r>
              <a:rPr lang="pt-BR" sz="2400" b="1" dirty="0" smtClean="0"/>
              <a:t>1.2</a:t>
            </a:r>
            <a:r>
              <a:rPr lang="pt-BR" sz="2400" b="1" dirty="0"/>
              <a:t> Definições, Acrônimos e Abreviações</a:t>
            </a:r>
            <a:endParaRPr lang="pt-BR" sz="2400" dirty="0"/>
          </a:p>
          <a:p>
            <a:r>
              <a:rPr lang="pt-BR" sz="2400" dirty="0"/>
              <a:t>    </a:t>
            </a:r>
          </a:p>
          <a:p>
            <a:pPr algn="just"/>
            <a:r>
              <a:rPr lang="pt-BR" sz="2400" dirty="0"/>
              <a:t>Esta seção deve conter breve explicação sobre possíveis definições, acrônimos e abreviações que aparecerão e estarão ligadas ao negócio e naturalmente ao documento de Estudo de Viabilidade, possibilitando a interpretação correta do documento, descrita em ordem alfabética. Caso não possua, explicitar que não se aplica. </a:t>
            </a:r>
          </a:p>
          <a:p>
            <a:r>
              <a:rPr lang="pt-BR" sz="2400" dirty="0"/>
              <a:t> </a:t>
            </a:r>
          </a:p>
          <a:p>
            <a:r>
              <a:rPr lang="pt-BR" sz="2400" dirty="0"/>
              <a:t> Ex.:</a:t>
            </a:r>
          </a:p>
          <a:p>
            <a:r>
              <a:rPr lang="pt-BR" sz="2400" dirty="0"/>
              <a:t>ANVISA    Agência Nacional de Vigilância Sanitária</a:t>
            </a:r>
          </a:p>
          <a:p>
            <a:r>
              <a:rPr lang="pt-BR" sz="2400" dirty="0"/>
              <a:t>ATM         </a:t>
            </a:r>
            <a:r>
              <a:rPr lang="pt-BR" sz="2400" dirty="0" err="1"/>
              <a:t>Automated</a:t>
            </a:r>
            <a:r>
              <a:rPr lang="pt-BR" sz="2400" dirty="0"/>
              <a:t> </a:t>
            </a:r>
            <a:r>
              <a:rPr lang="pt-BR" sz="2400" dirty="0" err="1"/>
              <a:t>Teller</a:t>
            </a:r>
            <a:r>
              <a:rPr lang="pt-BR" sz="2400" dirty="0"/>
              <a:t> </a:t>
            </a:r>
            <a:r>
              <a:rPr lang="pt-BR" sz="2400" dirty="0" err="1"/>
              <a:t>Machine</a:t>
            </a:r>
            <a:endParaRPr lang="pt-BR" sz="2400" dirty="0"/>
          </a:p>
          <a:p>
            <a:r>
              <a:rPr lang="pt-BR" sz="2400" dirty="0"/>
              <a:t>CEP           Código de Endereçamento Postal</a:t>
            </a:r>
          </a:p>
          <a:p>
            <a:r>
              <a:rPr lang="pt-BR" sz="2400" dirty="0"/>
              <a:t>FUNAI      Fundação Nacional do Índio</a:t>
            </a:r>
          </a:p>
          <a:p>
            <a:r>
              <a:rPr lang="pt-BR" sz="2400" dirty="0"/>
              <a:t>NASDAQ   </a:t>
            </a:r>
            <a:r>
              <a:rPr lang="pt-BR" sz="2400" dirty="0" err="1"/>
              <a:t>National</a:t>
            </a:r>
            <a:r>
              <a:rPr lang="pt-BR" sz="2400" dirty="0"/>
              <a:t> </a:t>
            </a:r>
            <a:r>
              <a:rPr lang="pt-BR" sz="2400" dirty="0" err="1"/>
              <a:t>Association</a:t>
            </a:r>
            <a:r>
              <a:rPr lang="pt-BR" sz="2400" dirty="0"/>
              <a:t> </a:t>
            </a:r>
            <a:r>
              <a:rPr lang="pt-BR" sz="2400" dirty="0" err="1"/>
              <a:t>of</a:t>
            </a:r>
            <a:r>
              <a:rPr lang="pt-BR" sz="2400" dirty="0"/>
              <a:t> </a:t>
            </a:r>
            <a:r>
              <a:rPr lang="pt-BR" sz="2400" dirty="0" err="1"/>
              <a:t>Securities</a:t>
            </a:r>
            <a:r>
              <a:rPr lang="pt-BR" sz="2400" dirty="0"/>
              <a:t> </a:t>
            </a:r>
            <a:r>
              <a:rPr lang="pt-BR" sz="2400" dirty="0" err="1"/>
              <a:t>Dealers</a:t>
            </a:r>
            <a:r>
              <a:rPr lang="pt-BR" sz="2400" dirty="0"/>
              <a:t> </a:t>
            </a:r>
            <a:r>
              <a:rPr lang="pt-BR" sz="2400" dirty="0" err="1"/>
              <a:t>Automated</a:t>
            </a:r>
            <a:r>
              <a:rPr lang="pt-BR" sz="2400" dirty="0"/>
              <a:t>  </a:t>
            </a:r>
            <a:r>
              <a:rPr lang="pt-BR" sz="2400" dirty="0" err="1"/>
              <a:t>Quotations</a:t>
            </a:r>
            <a:endParaRPr lang="pt-BR" sz="2400" dirty="0"/>
          </a:p>
          <a:p>
            <a:r>
              <a:rPr lang="pt-BR" sz="2400" dirty="0"/>
              <a:t>PR             Paraná</a:t>
            </a:r>
          </a:p>
        </p:txBody>
      </p:sp>
    </p:spTree>
    <p:extLst>
      <p:ext uri="{BB962C8B-B14F-4D97-AF65-F5344CB8AC3E}">
        <p14:creationId xmlns:p14="http://schemas.microsoft.com/office/powerpoint/2010/main" val="319606692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106</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6370975"/>
          </a:xfrm>
          <a:prstGeom prst="rect">
            <a:avLst/>
          </a:prstGeom>
        </p:spPr>
        <p:txBody>
          <a:bodyPr wrap="square">
            <a:spAutoFit/>
          </a:bodyPr>
          <a:lstStyle/>
          <a:p>
            <a:pPr lvl="0"/>
            <a:r>
              <a:rPr lang="pt-BR" sz="2400" b="1" dirty="0" smtClean="0"/>
              <a:t>1 Introdução</a:t>
            </a:r>
            <a:endParaRPr lang="pt-BR" sz="2400" dirty="0"/>
          </a:p>
          <a:p>
            <a:pPr lvl="0"/>
            <a:r>
              <a:rPr lang="pt-BR" sz="2400" b="1" dirty="0" smtClean="0"/>
              <a:t>1.3 </a:t>
            </a:r>
            <a:r>
              <a:rPr lang="pt-BR" sz="2400" b="1" dirty="0"/>
              <a:t>Visão Geral</a:t>
            </a:r>
            <a:endParaRPr lang="pt-BR" sz="2400" dirty="0"/>
          </a:p>
          <a:p>
            <a:r>
              <a:rPr lang="pt-BR" sz="2400" dirty="0" smtClean="0"/>
              <a:t>Explicar </a:t>
            </a:r>
            <a:r>
              <a:rPr lang="pt-BR" sz="2400" dirty="0"/>
              <a:t>nesta seção o que o restante do documento de Estudo de Viabilidade contém. Similar ao final da seção de Introdução de um artigo científico!!!</a:t>
            </a:r>
          </a:p>
          <a:p>
            <a:r>
              <a:rPr lang="pt-BR" sz="2400" dirty="0"/>
              <a:t> </a:t>
            </a:r>
          </a:p>
          <a:p>
            <a:r>
              <a:rPr lang="pt-BR" sz="2400" dirty="0"/>
              <a:t>Ex.: Neste estudo de viabilidade serão descritos o objetivo do projeto do Software X. Aspectos que serão executados e também os que não serão cobertos encontram-se na seção do Escopo. O projeto baseia-se na situação de um problema existente, descrito como o diagnóstico atual do cliente. Também serão descritos os requisitos funcionais e não funcionais do sistema. Pesquisou-se outros softwares que atendam o mesmo domínio e ele estão descritos na seção de Alternativas Propostas. Após a análise entre as vantagens e desvantagens das soluções propostas, seus custos e riscos, chegou-se à conclusão em relação à alternativa é mais adequada, descrito na seção Alternativa Recomendada. O prazo do projeto encontra-se descrito na seção de Cronograma, no qual consideraram-se as atividades para o desenvolvimento e os recursos disponíveis. A conclusão e responsáveis do projeto encontram-se no final do documento respectivamente.</a:t>
            </a:r>
          </a:p>
          <a:p>
            <a:r>
              <a:rPr lang="pt-BR" sz="2400" dirty="0"/>
              <a:t> </a:t>
            </a:r>
          </a:p>
        </p:txBody>
      </p:sp>
    </p:spTree>
    <p:extLst>
      <p:ext uri="{BB962C8B-B14F-4D97-AF65-F5344CB8AC3E}">
        <p14:creationId xmlns:p14="http://schemas.microsoft.com/office/powerpoint/2010/main" val="401318968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107</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smtClean="0"/>
              <a:t> </a:t>
            </a:r>
            <a:r>
              <a:rPr lang="pt-BR" sz="3600" b="1" dirty="0" err="1" smtClean="0"/>
              <a:t>gProcess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154984"/>
          </a:xfrm>
          <a:prstGeom prst="rect">
            <a:avLst/>
          </a:prstGeom>
        </p:spPr>
        <p:txBody>
          <a:bodyPr wrap="square">
            <a:spAutoFit/>
          </a:bodyPr>
          <a:lstStyle/>
          <a:p>
            <a:r>
              <a:rPr lang="pt-BR" sz="2400" b="1" dirty="0"/>
              <a:t>2. Objetivo</a:t>
            </a:r>
            <a:endParaRPr lang="pt-BR" sz="2400" dirty="0"/>
          </a:p>
          <a:p>
            <a:r>
              <a:rPr lang="pt-BR" sz="2400" dirty="0"/>
              <a:t>    </a:t>
            </a:r>
          </a:p>
          <a:p>
            <a:r>
              <a:rPr lang="pt-BR" sz="2400" dirty="0"/>
              <a:t>Descrever de forma clara e sucinta o objetivo do projeto. Característica de escrita voltada a nível executivo. Utilizar frases no infinitivo.</a:t>
            </a:r>
          </a:p>
          <a:p>
            <a:r>
              <a:rPr lang="pt-BR" sz="2400" dirty="0"/>
              <a:t> </a:t>
            </a:r>
          </a:p>
          <a:p>
            <a:r>
              <a:rPr lang="pt-BR" sz="2400" dirty="0"/>
              <a:t>Ex.: O propósito do projeto é desenvolver um sistema que forneça para o cliente x a possibilidade de administrar a sua instituição de forma automatizada, baseado em seu perfil e realidade. O projeto seguirá a metodologia x, contará com uma equipe de x desenvolvedores, estimando-se x dias para a conclusão do desenvolvimento.</a:t>
            </a:r>
          </a:p>
          <a:p>
            <a:endParaRPr lang="pt-BR" sz="2400" dirty="0"/>
          </a:p>
          <a:p>
            <a:r>
              <a:rPr lang="pt-BR" sz="2400" dirty="0"/>
              <a:t> </a:t>
            </a:r>
          </a:p>
        </p:txBody>
      </p:sp>
    </p:spTree>
    <p:extLst>
      <p:ext uri="{BB962C8B-B14F-4D97-AF65-F5344CB8AC3E}">
        <p14:creationId xmlns:p14="http://schemas.microsoft.com/office/powerpoint/2010/main" val="354395333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108</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893647"/>
          </a:xfrm>
          <a:prstGeom prst="rect">
            <a:avLst/>
          </a:prstGeom>
        </p:spPr>
        <p:txBody>
          <a:bodyPr wrap="square">
            <a:spAutoFit/>
          </a:bodyPr>
          <a:lstStyle/>
          <a:p>
            <a:r>
              <a:rPr lang="pt-BR" sz="2400" b="1" dirty="0"/>
              <a:t>3. Escopo</a:t>
            </a:r>
            <a:endParaRPr lang="pt-BR" sz="2400" dirty="0"/>
          </a:p>
          <a:p>
            <a:r>
              <a:rPr lang="pt-BR" sz="2400" dirty="0"/>
              <a:t> </a:t>
            </a:r>
          </a:p>
          <a:p>
            <a:r>
              <a:rPr lang="pt-BR" sz="2400" dirty="0"/>
              <a:t>Descrever o escopo do projeto, ressaltando os aspectos que serão ou não cobertos. Delimitar a fronteira de atuação. Para os aspectos não cobertos, justificar o por que não serão atendidos. As informações declaradas podem ser mais de alto nível.</a:t>
            </a:r>
          </a:p>
          <a:p>
            <a:r>
              <a:rPr lang="pt-BR" sz="2400" dirty="0"/>
              <a:t> </a:t>
            </a:r>
          </a:p>
          <a:p>
            <a:r>
              <a:rPr lang="pt-BR" sz="2400" dirty="0"/>
              <a:t>Ex.: O escopo do projeto cobre o design do software, ou seja, a transformação da análise de requisitos em um documento ou conjunto de documentos capazes de serem interpretados pelos programadores, através da modelagem de negócio, </a:t>
            </a:r>
            <a:r>
              <a:rPr lang="pt-BR" sz="2400" dirty="0" err="1"/>
              <a:t>elicitação</a:t>
            </a:r>
            <a:r>
              <a:rPr lang="pt-BR" sz="2400" dirty="0"/>
              <a:t> de requisitos, elaboração de diagramas, e prototipação. Por indisponibilidade de tempo, o escopo do projeto não cobre a implementação do sistema, ou seja, a codificação. Consequentemente não havendo a codificação, o projeto também não contemplará os últimos estágios do desenvolvimento que seriam o teste, a homologação e a efetiva implantação do software.</a:t>
            </a:r>
          </a:p>
        </p:txBody>
      </p:sp>
    </p:spTree>
    <p:extLst>
      <p:ext uri="{BB962C8B-B14F-4D97-AF65-F5344CB8AC3E}">
        <p14:creationId xmlns:p14="http://schemas.microsoft.com/office/powerpoint/2010/main" val="311225896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109</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6001643"/>
          </a:xfrm>
          <a:prstGeom prst="rect">
            <a:avLst/>
          </a:prstGeom>
        </p:spPr>
        <p:txBody>
          <a:bodyPr wrap="square">
            <a:spAutoFit/>
          </a:bodyPr>
          <a:lstStyle/>
          <a:p>
            <a:r>
              <a:rPr lang="pt-BR" sz="2400" b="1" dirty="0"/>
              <a:t>4. Diagnóstico Atual</a:t>
            </a:r>
            <a:endParaRPr lang="pt-BR" sz="2400" dirty="0"/>
          </a:p>
          <a:p>
            <a:r>
              <a:rPr lang="pt-BR" sz="2400" dirty="0"/>
              <a:t>  Descrever a situação atual do cliente. Informar se no ambiente atual já existe algum </a:t>
            </a:r>
            <a:r>
              <a:rPr lang="pt-BR" sz="2400" dirty="0" smtClean="0"/>
              <a:t>software </a:t>
            </a:r>
            <a:r>
              <a:rPr lang="pt-BR" sz="2400" dirty="0"/>
              <a:t>em execução que será substituído ou integrado à nova solução. Neste caso, descrever o software, sua versão, fornecedor, uma breve descrição de suas características e como ele é utilizado. Salientar o ambiente atual e as dificuldades desse ambiente.</a:t>
            </a:r>
          </a:p>
          <a:p>
            <a:r>
              <a:rPr lang="pt-BR" sz="2400" dirty="0" smtClean="0"/>
              <a:t>Caso </a:t>
            </a:r>
            <a:r>
              <a:rPr lang="pt-BR" sz="2400" dirty="0"/>
              <a:t>ele não possua algum software, indicar como ele controla seu negócio de forma manual. Anexar documentos como recibos, contratos, planilhas, relatórios e até tirar fotos se possível.</a:t>
            </a:r>
          </a:p>
          <a:p>
            <a:r>
              <a:rPr lang="pt-BR" sz="2400" dirty="0"/>
              <a:t> </a:t>
            </a:r>
          </a:p>
          <a:p>
            <a:r>
              <a:rPr lang="pt-BR" sz="2400" dirty="0"/>
              <a:t>Ex.: </a:t>
            </a:r>
            <a:r>
              <a:rPr lang="pt-BR" sz="2400" dirty="0" smtClean="0"/>
              <a:t>O cliente </a:t>
            </a:r>
            <a:r>
              <a:rPr lang="pt-BR" sz="2400" dirty="0"/>
              <a:t>não utiliza nenhum software em seu negócio. O levantamento de requisitos e o design do sistema se basearão em formulários existentes </a:t>
            </a:r>
            <a:r>
              <a:rPr lang="pt-BR" sz="2400" dirty="0" smtClean="0"/>
              <a:t>que são </a:t>
            </a:r>
            <a:r>
              <a:rPr lang="pt-BR" sz="2400" dirty="0"/>
              <a:t>preenchidos </a:t>
            </a:r>
            <a:r>
              <a:rPr lang="pt-BR" sz="2400" dirty="0" smtClean="0"/>
              <a:t>manualmente ( </a:t>
            </a:r>
            <a:r>
              <a:rPr lang="pt-BR" sz="2400" dirty="0" err="1" smtClean="0"/>
              <a:t>Ex</a:t>
            </a:r>
            <a:r>
              <a:rPr lang="pt-BR" sz="2400" dirty="0" smtClean="0"/>
              <a:t>: </a:t>
            </a:r>
            <a:r>
              <a:rPr lang="pt-BR" sz="2400" dirty="0"/>
              <a:t>recibo de papel, relatório impresso a partir de uma intranet da filial, contrato </a:t>
            </a:r>
            <a:r>
              <a:rPr lang="pt-BR" sz="2400" dirty="0" err="1"/>
              <a:t>pré</a:t>
            </a:r>
            <a:r>
              <a:rPr lang="pt-BR" sz="2400" dirty="0"/>
              <a:t>-digitado com campos em branco para edição, fichas de cadastro, quadro de horário de funcionários e </a:t>
            </a:r>
            <a:r>
              <a:rPr lang="pt-BR" sz="2400" dirty="0" err="1" smtClean="0"/>
              <a:t>etc</a:t>
            </a:r>
            <a:r>
              <a:rPr lang="pt-BR" sz="2400" dirty="0" smtClean="0"/>
              <a:t>). </a:t>
            </a:r>
            <a:r>
              <a:rPr lang="pt-BR" sz="2400" dirty="0"/>
              <a:t>A partir de análises, haverá modificações em relação a situação atual, como a eliminação de campos requeridos pelos formulários sem utilidade e/ou </a:t>
            </a:r>
            <a:r>
              <a:rPr lang="pt-BR" sz="2400" dirty="0" err="1"/>
              <a:t>funcionaliddade</a:t>
            </a:r>
            <a:r>
              <a:rPr lang="pt-BR" sz="2400" dirty="0"/>
              <a:t> ao administrador. No mercado atual, já existem  softwares para a área, porém não há um que atenda as particularidades deste negócio, pois possui sua própria cultura e métodos.</a:t>
            </a:r>
          </a:p>
        </p:txBody>
      </p:sp>
    </p:spTree>
    <p:extLst>
      <p:ext uri="{BB962C8B-B14F-4D97-AF65-F5344CB8AC3E}">
        <p14:creationId xmlns:p14="http://schemas.microsoft.com/office/powerpoint/2010/main" val="3321958202"/>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110</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524315"/>
          </a:xfrm>
          <a:prstGeom prst="rect">
            <a:avLst/>
          </a:prstGeom>
        </p:spPr>
        <p:txBody>
          <a:bodyPr wrap="square">
            <a:spAutoFit/>
          </a:bodyPr>
          <a:lstStyle/>
          <a:p>
            <a:r>
              <a:rPr lang="pt-BR" sz="2400" b="1" dirty="0"/>
              <a:t>5. Requisitos</a:t>
            </a:r>
            <a:endParaRPr lang="pt-BR" sz="2400" dirty="0"/>
          </a:p>
          <a:p>
            <a:r>
              <a:rPr lang="pt-BR" sz="2400" dirty="0"/>
              <a:t> </a:t>
            </a:r>
          </a:p>
          <a:p>
            <a:r>
              <a:rPr lang="pt-BR" sz="2400" dirty="0"/>
              <a:t> Os requisitos que são inseridos na viabilidade de software são os que avaliam a viabilidade técnica, econômica, legal, operacional e de cronograma. </a:t>
            </a:r>
          </a:p>
          <a:p>
            <a:r>
              <a:rPr lang="pt-BR" sz="2400" dirty="0"/>
              <a:t>Viabilidade técnica: Analisar dados, Prever resultados, Tomar decisões de tarefas, Criar vários designs de tecnologia, Estudar cada alternativa tecnológica para todos os tipos de viabilidade. </a:t>
            </a:r>
          </a:p>
          <a:p>
            <a:r>
              <a:rPr lang="pt-BR" sz="2400" dirty="0"/>
              <a:t>Viabilidade econômica: Considerar dados financeiros e obrigações fiscais, o tempo e orçamento disponíveis. </a:t>
            </a:r>
          </a:p>
          <a:p>
            <a:r>
              <a:rPr lang="pt-BR" sz="2400" dirty="0"/>
              <a:t>Viabilidade legal: Considerar requerimentos legais. </a:t>
            </a:r>
          </a:p>
          <a:p>
            <a:r>
              <a:rPr lang="pt-BR" sz="2400" dirty="0"/>
              <a:t>Viabilidade operacional: Considerar detalhes de operação e gerenciamento. </a:t>
            </a:r>
          </a:p>
          <a:p>
            <a:r>
              <a:rPr lang="pt-BR" sz="2400" dirty="0"/>
              <a:t>Viabilidade de cronograma: Considerar o cronograma e a entrega. </a:t>
            </a:r>
          </a:p>
          <a:p>
            <a:r>
              <a:rPr lang="pt-BR" sz="2400" dirty="0"/>
              <a:t> </a:t>
            </a:r>
          </a:p>
        </p:txBody>
      </p:sp>
    </p:spTree>
    <p:extLst>
      <p:ext uri="{BB962C8B-B14F-4D97-AF65-F5344CB8AC3E}">
        <p14:creationId xmlns:p14="http://schemas.microsoft.com/office/powerpoint/2010/main" val="333249968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111</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6370975"/>
          </a:xfrm>
          <a:prstGeom prst="rect">
            <a:avLst/>
          </a:prstGeom>
        </p:spPr>
        <p:txBody>
          <a:bodyPr wrap="square">
            <a:spAutoFit/>
          </a:bodyPr>
          <a:lstStyle/>
          <a:p>
            <a:r>
              <a:rPr lang="pt-BR" sz="2400" b="1" dirty="0"/>
              <a:t>6. Alternativas Propostas</a:t>
            </a:r>
            <a:endParaRPr lang="pt-BR" sz="2400" dirty="0"/>
          </a:p>
          <a:p>
            <a:r>
              <a:rPr lang="pt-BR" sz="2400" dirty="0"/>
              <a:t>  </a:t>
            </a:r>
          </a:p>
          <a:p>
            <a:r>
              <a:rPr lang="pt-BR" sz="2400" dirty="0"/>
              <a:t> Listar todas as alternativas propostas para a solução do problema. Pesquisar soluções similares que já existem no mercado, ou pesquisas acadêmicas na área, etc. Considerar o tempo de análise da ferramenta proposta, tempo de implementação e treinamento;</a:t>
            </a:r>
          </a:p>
          <a:p>
            <a:r>
              <a:rPr lang="pt-BR" sz="2400" dirty="0"/>
              <a:t>Para cada alternativa, deve-se levantar as seguintes informações:</a:t>
            </a:r>
          </a:p>
          <a:p>
            <a:r>
              <a:rPr lang="pt-BR" sz="2400" dirty="0"/>
              <a:t>     6.1 Alternativa 1</a:t>
            </a:r>
          </a:p>
          <a:p>
            <a:r>
              <a:rPr lang="pt-BR" sz="2400" dirty="0"/>
              <a:t>            O que é?</a:t>
            </a:r>
          </a:p>
          <a:p>
            <a:r>
              <a:rPr lang="pt-BR" sz="2400" dirty="0"/>
              <a:t>            O que faz?</a:t>
            </a:r>
          </a:p>
          <a:p>
            <a:r>
              <a:rPr lang="pt-BR" sz="2400" dirty="0"/>
              <a:t>            Vantagens?</a:t>
            </a:r>
          </a:p>
          <a:p>
            <a:r>
              <a:rPr lang="pt-BR" sz="2400" dirty="0"/>
              <a:t>            Desvantagens?</a:t>
            </a:r>
          </a:p>
          <a:p>
            <a:r>
              <a:rPr lang="pt-BR" sz="2400" dirty="0"/>
              <a:t>            Custo?</a:t>
            </a:r>
          </a:p>
          <a:p>
            <a:r>
              <a:rPr lang="pt-BR" sz="2400" dirty="0"/>
              <a:t>            Tempo para análise e implementação?</a:t>
            </a:r>
          </a:p>
          <a:p>
            <a:r>
              <a:rPr lang="pt-BR" sz="2400" dirty="0"/>
              <a:t>      6.2 Alternativa 2</a:t>
            </a:r>
          </a:p>
          <a:p>
            <a:r>
              <a:rPr lang="pt-BR" sz="2400" dirty="0"/>
              <a:t>      …</a:t>
            </a:r>
          </a:p>
          <a:p>
            <a:r>
              <a:rPr lang="pt-BR" sz="2400" dirty="0"/>
              <a:t>      6.n Alternativa n</a:t>
            </a:r>
          </a:p>
          <a:p>
            <a:r>
              <a:rPr lang="pt-BR" sz="2400" b="1" dirty="0"/>
              <a:t> </a:t>
            </a:r>
            <a:endParaRPr lang="pt-BR" sz="2400" dirty="0"/>
          </a:p>
        </p:txBody>
      </p:sp>
    </p:spTree>
    <p:extLst>
      <p:ext uri="{BB962C8B-B14F-4D97-AF65-F5344CB8AC3E}">
        <p14:creationId xmlns:p14="http://schemas.microsoft.com/office/powerpoint/2010/main" val="2746410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112</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5262979"/>
          </a:xfrm>
          <a:prstGeom prst="rect">
            <a:avLst/>
          </a:prstGeom>
        </p:spPr>
        <p:txBody>
          <a:bodyPr wrap="square">
            <a:spAutoFit/>
          </a:bodyPr>
          <a:lstStyle/>
          <a:p>
            <a:r>
              <a:rPr lang="pt-BR" sz="2400" b="1" dirty="0"/>
              <a:t>7. Alternativa Recomendada</a:t>
            </a:r>
            <a:endParaRPr lang="pt-BR" sz="2400" dirty="0"/>
          </a:p>
          <a:p>
            <a:r>
              <a:rPr lang="pt-BR" sz="2400" dirty="0"/>
              <a:t>    </a:t>
            </a:r>
          </a:p>
          <a:p>
            <a:r>
              <a:rPr lang="pt-BR" sz="2400" dirty="0"/>
              <a:t>Dentre as alternativas apontadas no item anterior, citar a recomendada pelos autores do projeto, descrevendo os motivos. Detalhar nas subseções benefícios da alternativa escolhida, seus custos para a implantação e os riscos envolvidos durante o desenvolvimento.</a:t>
            </a:r>
          </a:p>
          <a:p>
            <a:r>
              <a:rPr lang="pt-BR" sz="2400" dirty="0"/>
              <a:t> </a:t>
            </a:r>
          </a:p>
          <a:p>
            <a:r>
              <a:rPr lang="pt-BR" sz="2400" b="1" dirty="0"/>
              <a:t>  7.1 Benefícios</a:t>
            </a:r>
            <a:endParaRPr lang="pt-BR" sz="2400" dirty="0"/>
          </a:p>
          <a:p>
            <a:r>
              <a:rPr lang="pt-BR" sz="2400" dirty="0"/>
              <a:t>    </a:t>
            </a:r>
          </a:p>
          <a:p>
            <a:r>
              <a:rPr lang="pt-BR" sz="2400" dirty="0"/>
              <a:t>Citar os benefícios que se espera alcançar através da implantação do sistema. Benefícios tangíveis e intangíveis.</a:t>
            </a:r>
          </a:p>
          <a:p>
            <a:r>
              <a:rPr lang="pt-BR" sz="2400" dirty="0"/>
              <a:t> </a:t>
            </a:r>
          </a:p>
          <a:p>
            <a:r>
              <a:rPr lang="pt-BR" sz="2400" dirty="0"/>
              <a:t>Ex.: Redução de custos, redução de erros, economia de tempo, melhoria de aspectos de gerenciamento e controle, etc.</a:t>
            </a:r>
          </a:p>
          <a:p>
            <a:r>
              <a:rPr lang="pt-BR" sz="2400" b="1" dirty="0"/>
              <a:t> </a:t>
            </a:r>
            <a:endParaRPr lang="pt-BR" sz="2400" dirty="0"/>
          </a:p>
        </p:txBody>
      </p:sp>
    </p:spTree>
    <p:extLst>
      <p:ext uri="{BB962C8B-B14F-4D97-AF65-F5344CB8AC3E}">
        <p14:creationId xmlns:p14="http://schemas.microsoft.com/office/powerpoint/2010/main" val="145888333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113</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3785652"/>
          </a:xfrm>
          <a:prstGeom prst="rect">
            <a:avLst/>
          </a:prstGeom>
        </p:spPr>
        <p:txBody>
          <a:bodyPr wrap="square">
            <a:spAutoFit/>
          </a:bodyPr>
          <a:lstStyle/>
          <a:p>
            <a:r>
              <a:rPr lang="pt-BR" sz="2400" b="1" dirty="0"/>
              <a:t>7. Alternativa Recomendada</a:t>
            </a:r>
            <a:endParaRPr lang="pt-BR" sz="2400" dirty="0"/>
          </a:p>
          <a:p>
            <a:r>
              <a:rPr lang="pt-BR" sz="2400" dirty="0"/>
              <a:t>    </a:t>
            </a:r>
          </a:p>
          <a:p>
            <a:r>
              <a:rPr lang="pt-BR" sz="2400" b="1" dirty="0"/>
              <a:t>7.2 Custos</a:t>
            </a:r>
            <a:endParaRPr lang="pt-BR" sz="2400" dirty="0"/>
          </a:p>
          <a:p>
            <a:r>
              <a:rPr lang="pt-BR" sz="2400" dirty="0"/>
              <a:t>    </a:t>
            </a:r>
          </a:p>
          <a:p>
            <a:r>
              <a:rPr lang="pt-BR" sz="2400" dirty="0"/>
              <a:t>Relacionar os custos para a implantação da alternativa, com o maior grau de precisão possível. Citar a fonte de consulta dos custos.</a:t>
            </a:r>
          </a:p>
          <a:p>
            <a:r>
              <a:rPr lang="pt-BR" sz="2400" dirty="0"/>
              <a:t>    Existem técnicas para estimar custos de projeto de software. Uma imagem do Guia PMBOK® ilustra, de forma geral, o fluxo de estimar os custos de um projeto:</a:t>
            </a:r>
          </a:p>
          <a:p>
            <a:r>
              <a:rPr lang="pt-BR" sz="2400" dirty="0"/>
              <a:t> </a:t>
            </a:r>
          </a:p>
          <a:p>
            <a:r>
              <a:rPr lang="pt-BR" sz="2400" b="1" dirty="0"/>
              <a:t> </a:t>
            </a:r>
            <a:endParaRPr lang="pt-BR" sz="2400" dirty="0"/>
          </a:p>
        </p:txBody>
      </p:sp>
      <p:pic>
        <p:nvPicPr>
          <p:cNvPr id="2" name="Imagem 1"/>
          <p:cNvPicPr>
            <a:picLocks noChangeAspect="1"/>
          </p:cNvPicPr>
          <p:nvPr/>
        </p:nvPicPr>
        <p:blipFill>
          <a:blip r:embed="rId2"/>
          <a:stretch>
            <a:fillRect/>
          </a:stretch>
        </p:blipFill>
        <p:spPr>
          <a:xfrm>
            <a:off x="345057" y="3873260"/>
            <a:ext cx="11197086" cy="2984740"/>
          </a:xfrm>
          <a:prstGeom prst="rect">
            <a:avLst/>
          </a:prstGeom>
        </p:spPr>
      </p:pic>
    </p:spTree>
    <p:extLst>
      <p:ext uri="{BB962C8B-B14F-4D97-AF65-F5344CB8AC3E}">
        <p14:creationId xmlns:p14="http://schemas.microsoft.com/office/powerpoint/2010/main" val="208143007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114</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2308324"/>
          </a:xfrm>
          <a:prstGeom prst="rect">
            <a:avLst/>
          </a:prstGeom>
        </p:spPr>
        <p:txBody>
          <a:bodyPr wrap="square">
            <a:spAutoFit/>
          </a:bodyPr>
          <a:lstStyle/>
          <a:p>
            <a:r>
              <a:rPr lang="pt-BR" sz="2400" b="1" dirty="0"/>
              <a:t>7. Alternativa Recomendada</a:t>
            </a:r>
            <a:endParaRPr lang="pt-BR" sz="2400" dirty="0"/>
          </a:p>
          <a:p>
            <a:r>
              <a:rPr lang="pt-BR" sz="2400" dirty="0"/>
              <a:t>    </a:t>
            </a:r>
          </a:p>
          <a:p>
            <a:pPr algn="just">
              <a:spcAft>
                <a:spcPts val="0"/>
              </a:spcAft>
            </a:pPr>
            <a:r>
              <a:rPr lang="pt-BR" sz="2400" b="1" dirty="0"/>
              <a:t>7.2 </a:t>
            </a:r>
            <a:r>
              <a:rPr lang="pt-BR" sz="2400" b="1" dirty="0" smtClean="0"/>
              <a:t>Custos - </a:t>
            </a:r>
            <a:r>
              <a:rPr lang="pt-BR" sz="2400" dirty="0">
                <a:solidFill>
                  <a:srgbClr val="000000"/>
                </a:solidFill>
                <a:latin typeface="Calibri" panose="020F0502020204030204" pitchFamily="34" charset="0"/>
                <a:ea typeface="Times New Roman" panose="02020603050405020304" pitchFamily="18" charset="0"/>
              </a:rPr>
              <a:t>Estudo de viabilidade pode resumir itens de custos, citando minimamente, o que deve constar no documento:</a:t>
            </a:r>
            <a:endParaRPr lang="pt-BR" sz="2400" dirty="0">
              <a:latin typeface="Times New Roman" panose="02020603050405020304" pitchFamily="18" charset="0"/>
              <a:ea typeface="Times New Roman" panose="02020603050405020304" pitchFamily="18" charset="0"/>
            </a:endParaRPr>
          </a:p>
          <a:p>
            <a:pPr algn="just">
              <a:spcAft>
                <a:spcPts val="0"/>
              </a:spcAft>
            </a:pPr>
            <a:r>
              <a:rPr lang="pt-BR" sz="2400" b="1" dirty="0">
                <a:solidFill>
                  <a:srgbClr val="000000"/>
                </a:solidFill>
                <a:latin typeface="Calibri" panose="020F0502020204030204" pitchFamily="34" charset="0"/>
                <a:ea typeface="Times New Roman" panose="02020603050405020304" pitchFamily="18" charset="0"/>
              </a:rPr>
              <a:t> </a:t>
            </a:r>
            <a:endParaRPr lang="pt-BR" sz="2400" dirty="0"/>
          </a:p>
          <a:p>
            <a:r>
              <a:rPr lang="pt-BR" sz="2400" dirty="0"/>
              <a:t>    </a:t>
            </a:r>
          </a:p>
        </p:txBody>
      </p:sp>
      <p:sp>
        <p:nvSpPr>
          <p:cNvPr id="4" name="Retângulo 3"/>
          <p:cNvSpPr/>
          <p:nvPr/>
        </p:nvSpPr>
        <p:spPr>
          <a:xfrm>
            <a:off x="258792" y="2406274"/>
            <a:ext cx="11835442" cy="3693319"/>
          </a:xfrm>
          <a:prstGeom prst="rect">
            <a:avLst/>
          </a:prstGeom>
        </p:spPr>
        <p:txBody>
          <a:bodyPr wrap="square">
            <a:spAutoFit/>
          </a:bodyPr>
          <a:lstStyle/>
          <a:p>
            <a:r>
              <a:rPr lang="pt-BR" b="1" dirty="0"/>
              <a:t>Custos Operacionais (Custos contínuos)</a:t>
            </a:r>
            <a:endParaRPr lang="pt-BR" dirty="0"/>
          </a:p>
          <a:p>
            <a:r>
              <a:rPr lang="pt-BR" dirty="0"/>
              <a:t>                </a:t>
            </a:r>
            <a:r>
              <a:rPr lang="pt-BR" u="sng" dirty="0"/>
              <a:t>Custos Fixos</a:t>
            </a:r>
            <a:endParaRPr lang="pt-BR" dirty="0"/>
          </a:p>
          <a:p>
            <a:r>
              <a:rPr lang="pt-BR" dirty="0"/>
              <a:t>                </a:t>
            </a:r>
            <a:r>
              <a:rPr lang="pt-BR" u="sng" dirty="0"/>
              <a:t>Pessoal</a:t>
            </a:r>
            <a:endParaRPr lang="pt-BR" dirty="0"/>
          </a:p>
          <a:p>
            <a:r>
              <a:rPr lang="pt-BR" dirty="0" smtClean="0"/>
              <a:t>	Salário </a:t>
            </a:r>
            <a:r>
              <a:rPr lang="pt-BR" dirty="0"/>
              <a:t>dos desenvolvedores do Sistema (programadores, analista de sistemas, gerente de projeto, etc.);</a:t>
            </a:r>
          </a:p>
          <a:p>
            <a:r>
              <a:rPr lang="pt-BR" dirty="0"/>
              <a:t>              </a:t>
            </a:r>
            <a:r>
              <a:rPr lang="pt-BR" dirty="0" smtClean="0"/>
              <a:t>	Salário </a:t>
            </a:r>
            <a:r>
              <a:rPr lang="pt-BR" dirty="0"/>
              <a:t>do pessoal do suporte;</a:t>
            </a:r>
          </a:p>
          <a:p>
            <a:r>
              <a:rPr lang="pt-BR" dirty="0"/>
              <a:t>               </a:t>
            </a:r>
            <a:r>
              <a:rPr lang="pt-BR" u="sng" dirty="0"/>
              <a:t>Manutenção</a:t>
            </a:r>
            <a:endParaRPr lang="pt-BR" dirty="0"/>
          </a:p>
          <a:p>
            <a:r>
              <a:rPr lang="pt-BR" dirty="0"/>
              <a:t>               </a:t>
            </a:r>
            <a:r>
              <a:rPr lang="pt-BR" dirty="0" smtClean="0"/>
              <a:t>	Pagamento </a:t>
            </a:r>
            <a:r>
              <a:rPr lang="pt-BR" dirty="0"/>
              <a:t>de aluguel;</a:t>
            </a:r>
          </a:p>
          <a:p>
            <a:r>
              <a:rPr lang="pt-BR" dirty="0"/>
              <a:t>               </a:t>
            </a:r>
            <a:r>
              <a:rPr lang="pt-BR" dirty="0" smtClean="0"/>
              <a:t>	Pagamento </a:t>
            </a:r>
            <a:r>
              <a:rPr lang="pt-BR" dirty="0"/>
              <a:t>de energia;</a:t>
            </a:r>
          </a:p>
          <a:p>
            <a:r>
              <a:rPr lang="pt-BR" dirty="0"/>
              <a:t>                   Pagamento de água;</a:t>
            </a:r>
          </a:p>
          <a:p>
            <a:r>
              <a:rPr lang="pt-BR" dirty="0"/>
              <a:t>                   Pagamento internet;</a:t>
            </a:r>
          </a:p>
          <a:p>
            <a:r>
              <a:rPr lang="pt-BR" dirty="0"/>
              <a:t>    </a:t>
            </a:r>
            <a:r>
              <a:rPr lang="pt-BR" dirty="0" smtClean="0"/>
              <a:t>	Pagamento </a:t>
            </a:r>
            <a:r>
              <a:rPr lang="pt-BR" dirty="0"/>
              <a:t>telefone;</a:t>
            </a:r>
          </a:p>
          <a:p>
            <a:r>
              <a:rPr lang="pt-BR" dirty="0"/>
              <a:t>                 Pagamento material de escritório;</a:t>
            </a:r>
          </a:p>
          <a:p>
            <a:r>
              <a:rPr lang="pt-BR" dirty="0"/>
              <a:t>                  </a:t>
            </a:r>
            <a:endParaRPr lang="pt-BR"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0388550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115</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2677656"/>
          </a:xfrm>
          <a:prstGeom prst="rect">
            <a:avLst/>
          </a:prstGeom>
        </p:spPr>
        <p:txBody>
          <a:bodyPr wrap="square">
            <a:spAutoFit/>
          </a:bodyPr>
          <a:lstStyle/>
          <a:p>
            <a:r>
              <a:rPr lang="pt-BR" sz="2400" b="1" dirty="0"/>
              <a:t>7. Alternativa Recomendada</a:t>
            </a:r>
            <a:endParaRPr lang="pt-BR" sz="2400" dirty="0"/>
          </a:p>
          <a:p>
            <a:r>
              <a:rPr lang="pt-BR" sz="2400" dirty="0"/>
              <a:t>    </a:t>
            </a:r>
          </a:p>
          <a:p>
            <a:pPr algn="just">
              <a:spcAft>
                <a:spcPts val="0"/>
              </a:spcAft>
            </a:pPr>
            <a:r>
              <a:rPr lang="pt-BR" sz="2400" b="1" dirty="0"/>
              <a:t>7.2 </a:t>
            </a:r>
            <a:r>
              <a:rPr lang="pt-BR" sz="2400" b="1" dirty="0" smtClean="0"/>
              <a:t>Custos -  </a:t>
            </a:r>
            <a:r>
              <a:rPr lang="pt-BR" sz="2400" dirty="0">
                <a:solidFill>
                  <a:srgbClr val="000000"/>
                </a:solidFill>
                <a:latin typeface="Calibri" panose="020F0502020204030204" pitchFamily="34" charset="0"/>
                <a:ea typeface="Times New Roman" panose="02020603050405020304" pitchFamily="18" charset="0"/>
              </a:rPr>
              <a:t>Estudo de viabilidade pode resumir itens de custos, citando minimamente, o que deve constar no documento:</a:t>
            </a:r>
            <a:endParaRPr lang="pt-BR" sz="2400" dirty="0">
              <a:latin typeface="Times New Roman" panose="02020603050405020304" pitchFamily="18" charset="0"/>
              <a:ea typeface="Times New Roman" panose="02020603050405020304" pitchFamily="18" charset="0"/>
            </a:endParaRPr>
          </a:p>
          <a:p>
            <a:pPr algn="just">
              <a:spcAft>
                <a:spcPts val="0"/>
              </a:spcAft>
            </a:pPr>
            <a:r>
              <a:rPr lang="pt-BR" sz="2400" b="1" dirty="0">
                <a:solidFill>
                  <a:srgbClr val="000000"/>
                </a:solidFill>
                <a:latin typeface="Calibri" panose="020F0502020204030204" pitchFamily="34" charset="0"/>
                <a:ea typeface="Times New Roman" panose="02020603050405020304" pitchFamily="18" charset="0"/>
              </a:rPr>
              <a:t> </a:t>
            </a:r>
            <a:endParaRPr lang="pt-BR" sz="2400" dirty="0">
              <a:latin typeface="Times New Roman" panose="02020603050405020304" pitchFamily="18" charset="0"/>
              <a:ea typeface="Times New Roman" panose="02020603050405020304" pitchFamily="18" charset="0"/>
            </a:endParaRPr>
          </a:p>
          <a:p>
            <a:endParaRPr lang="pt-BR" sz="2400" dirty="0"/>
          </a:p>
          <a:p>
            <a:r>
              <a:rPr lang="pt-BR" sz="2400" dirty="0"/>
              <a:t>    </a:t>
            </a:r>
          </a:p>
        </p:txBody>
      </p:sp>
      <p:sp>
        <p:nvSpPr>
          <p:cNvPr id="4" name="Retângulo 3"/>
          <p:cNvSpPr/>
          <p:nvPr/>
        </p:nvSpPr>
        <p:spPr>
          <a:xfrm>
            <a:off x="232913" y="2406770"/>
            <a:ext cx="11861321" cy="3969822"/>
          </a:xfrm>
          <a:prstGeom prst="rect">
            <a:avLst/>
          </a:prstGeom>
        </p:spPr>
        <p:txBody>
          <a:bodyPr wrap="square">
            <a:spAutoFit/>
          </a:bodyPr>
          <a:lstStyle/>
          <a:p>
            <a:pPr algn="just">
              <a:spcAft>
                <a:spcPts val="0"/>
              </a:spcAft>
            </a:pPr>
            <a:r>
              <a:rPr lang="pt-BR" b="1" dirty="0" smtClean="0">
                <a:solidFill>
                  <a:srgbClr val="000000"/>
                </a:solidFill>
                <a:latin typeface="Calibri" panose="020F0502020204030204" pitchFamily="34" charset="0"/>
                <a:ea typeface="Times New Roman" panose="02020603050405020304" pitchFamily="18" charset="0"/>
              </a:rPr>
              <a:t>Viabilidade </a:t>
            </a:r>
            <a:r>
              <a:rPr lang="pt-BR" b="1" dirty="0">
                <a:solidFill>
                  <a:srgbClr val="000000"/>
                </a:solidFill>
                <a:latin typeface="Calibri" panose="020F0502020204030204" pitchFamily="34" charset="0"/>
                <a:ea typeface="Times New Roman" panose="02020603050405020304" pitchFamily="18" charset="0"/>
              </a:rPr>
              <a:t>Econômica</a:t>
            </a:r>
            <a:endParaRPr lang="pt-BR" dirty="0">
              <a:latin typeface="Times New Roman" panose="02020603050405020304" pitchFamily="18" charset="0"/>
              <a:ea typeface="Times New Roman" panose="02020603050405020304" pitchFamily="18" charset="0"/>
            </a:endParaRPr>
          </a:p>
          <a:p>
            <a:pPr>
              <a:spcAft>
                <a:spcPts val="0"/>
              </a:spcAft>
            </a:pPr>
            <a:r>
              <a:rPr lang="pt-BR" u="sng" dirty="0">
                <a:solidFill>
                  <a:srgbClr val="000000"/>
                </a:solidFill>
                <a:latin typeface="Calibri" panose="020F0502020204030204" pitchFamily="34" charset="0"/>
                <a:ea typeface="Times New Roman" panose="02020603050405020304" pitchFamily="18" charset="0"/>
              </a:rPr>
              <a:t>Custo de desenvolvimento (Ocorre somente uma vez)</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a:t>
            </a:r>
            <a:r>
              <a:rPr lang="pt-BR" u="sng" dirty="0">
                <a:solidFill>
                  <a:srgbClr val="000000"/>
                </a:solidFill>
                <a:latin typeface="Calibri" panose="020F0502020204030204" pitchFamily="34" charset="0"/>
                <a:ea typeface="Times New Roman" panose="02020603050405020304" pitchFamily="18" charset="0"/>
              </a:rPr>
              <a:t>Custo de desenvolvimento e aquisição</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Quem desenvolverá o sistema? Nossa equipe, ou iremos contratar?</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Qual hardware alugar/comprar?</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Custo de compra de novos equipamentos.</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Custo de treinamentos;</a:t>
            </a:r>
            <a:endParaRPr lang="pt-BR" dirty="0">
              <a:latin typeface="Times New Roman" panose="02020603050405020304" pitchFamily="18" charset="0"/>
              <a:ea typeface="Times New Roman" panose="02020603050405020304" pitchFamily="18" charset="0"/>
            </a:endParaRPr>
          </a:p>
          <a:p>
            <a:pPr>
              <a:spcAft>
                <a:spcPts val="0"/>
              </a:spcAft>
            </a:pPr>
            <a:r>
              <a:rPr lang="pt-BR" dirty="0">
                <a:solidFill>
                  <a:srgbClr val="000000"/>
                </a:solidFill>
                <a:latin typeface="Calibri" panose="020F0502020204030204" pitchFamily="34" charset="0"/>
                <a:ea typeface="Times New Roman" panose="02020603050405020304" pitchFamily="18" charset="0"/>
              </a:rPr>
              <a:t> </a:t>
            </a:r>
            <a:r>
              <a:rPr lang="pt-BR" u="sng" dirty="0">
                <a:solidFill>
                  <a:srgbClr val="000000"/>
                </a:solidFill>
                <a:latin typeface="Calibri" panose="020F0502020204030204" pitchFamily="34" charset="0"/>
                <a:ea typeface="Times New Roman" panose="02020603050405020304" pitchFamily="18" charset="0"/>
              </a:rPr>
              <a:t>Custo de instalação e de </a:t>
            </a:r>
            <a:r>
              <a:rPr lang="pt-BR" u="sng" dirty="0" smtClean="0">
                <a:solidFill>
                  <a:srgbClr val="000000"/>
                </a:solidFill>
                <a:latin typeface="Calibri" panose="020F0502020204030204" pitchFamily="34" charset="0"/>
                <a:ea typeface="Times New Roman" panose="02020603050405020304" pitchFamily="18" charset="0"/>
              </a:rPr>
              <a:t>conversão</a:t>
            </a:r>
          </a:p>
          <a:p>
            <a:r>
              <a:rPr lang="pt-BR" dirty="0"/>
              <a:t> </a:t>
            </a:r>
            <a:r>
              <a:rPr lang="pt-BR" dirty="0" smtClean="0"/>
              <a:t>            Aquisição </a:t>
            </a:r>
            <a:r>
              <a:rPr lang="pt-BR" dirty="0"/>
              <a:t>de softwares para o período de desenvolvimento (sistema operacional, ferramentas de modelagem, etc.);</a:t>
            </a:r>
          </a:p>
          <a:p>
            <a:r>
              <a:rPr lang="pt-BR" dirty="0"/>
              <a:t>              Necessitará de treinamento para equipe?</a:t>
            </a:r>
          </a:p>
          <a:p>
            <a:r>
              <a:rPr lang="pt-BR" dirty="0"/>
              <a:t>               Quanto custa os softwares utilizados para desenvolvimento?</a:t>
            </a:r>
          </a:p>
          <a:p>
            <a:r>
              <a:rPr lang="pt-BR" dirty="0"/>
              <a:t>                Custo das ferramentas de modelagem?</a:t>
            </a:r>
          </a:p>
          <a:p>
            <a:r>
              <a:rPr lang="pt-BR" dirty="0"/>
              <a:t>                Custo da ferramenta para fazer carga de dados do sistema legado.</a:t>
            </a:r>
          </a:p>
          <a:p>
            <a:pPr>
              <a:spcAft>
                <a:spcPts val="0"/>
              </a:spcAft>
            </a:pPr>
            <a:endParaRPr lang="pt-BR"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2024756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116</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2677656"/>
          </a:xfrm>
          <a:prstGeom prst="rect">
            <a:avLst/>
          </a:prstGeom>
        </p:spPr>
        <p:txBody>
          <a:bodyPr wrap="square">
            <a:spAutoFit/>
          </a:bodyPr>
          <a:lstStyle/>
          <a:p>
            <a:r>
              <a:rPr lang="pt-BR" sz="2400" b="1" dirty="0"/>
              <a:t>7. Alternativa Recomendada</a:t>
            </a:r>
            <a:endParaRPr lang="pt-BR" sz="2400" dirty="0"/>
          </a:p>
          <a:p>
            <a:r>
              <a:rPr lang="pt-BR" sz="2400" dirty="0"/>
              <a:t>    </a:t>
            </a:r>
          </a:p>
          <a:p>
            <a:pPr algn="just">
              <a:spcAft>
                <a:spcPts val="0"/>
              </a:spcAft>
            </a:pPr>
            <a:r>
              <a:rPr lang="pt-BR" sz="2400" b="1" dirty="0"/>
              <a:t>7.2 </a:t>
            </a:r>
            <a:r>
              <a:rPr lang="pt-BR" sz="2400" b="1" dirty="0" smtClean="0"/>
              <a:t>Custos -  </a:t>
            </a:r>
            <a:r>
              <a:rPr lang="pt-BR" sz="2400" dirty="0">
                <a:solidFill>
                  <a:srgbClr val="000000"/>
                </a:solidFill>
                <a:latin typeface="Calibri" panose="020F0502020204030204" pitchFamily="34" charset="0"/>
                <a:ea typeface="Times New Roman" panose="02020603050405020304" pitchFamily="18" charset="0"/>
              </a:rPr>
              <a:t>Estudo de viabilidade pode resumir itens de custos, citando minimamente, o que deve constar no documento:</a:t>
            </a:r>
            <a:endParaRPr lang="pt-BR" sz="2400" dirty="0">
              <a:latin typeface="Times New Roman" panose="02020603050405020304" pitchFamily="18" charset="0"/>
              <a:ea typeface="Times New Roman" panose="02020603050405020304" pitchFamily="18" charset="0"/>
            </a:endParaRPr>
          </a:p>
          <a:p>
            <a:pPr algn="just">
              <a:spcAft>
                <a:spcPts val="0"/>
              </a:spcAft>
            </a:pPr>
            <a:r>
              <a:rPr lang="pt-BR" sz="2400" b="1" dirty="0">
                <a:solidFill>
                  <a:srgbClr val="000000"/>
                </a:solidFill>
                <a:latin typeface="Calibri" panose="020F0502020204030204" pitchFamily="34" charset="0"/>
                <a:ea typeface="Times New Roman" panose="02020603050405020304" pitchFamily="18" charset="0"/>
              </a:rPr>
              <a:t> </a:t>
            </a:r>
            <a:endParaRPr lang="pt-BR" sz="2400" dirty="0">
              <a:latin typeface="Times New Roman" panose="02020603050405020304" pitchFamily="18" charset="0"/>
              <a:ea typeface="Times New Roman" panose="02020603050405020304" pitchFamily="18" charset="0"/>
            </a:endParaRPr>
          </a:p>
          <a:p>
            <a:endParaRPr lang="pt-BR" sz="2400" dirty="0"/>
          </a:p>
          <a:p>
            <a:r>
              <a:rPr lang="pt-BR" sz="2400" dirty="0"/>
              <a:t>    </a:t>
            </a:r>
          </a:p>
        </p:txBody>
      </p:sp>
      <p:sp>
        <p:nvSpPr>
          <p:cNvPr id="4" name="Retângulo 3"/>
          <p:cNvSpPr/>
          <p:nvPr/>
        </p:nvSpPr>
        <p:spPr>
          <a:xfrm>
            <a:off x="232913" y="2406770"/>
            <a:ext cx="11861321" cy="2862322"/>
          </a:xfrm>
          <a:prstGeom prst="rect">
            <a:avLst/>
          </a:prstGeom>
        </p:spPr>
        <p:txBody>
          <a:bodyPr wrap="square">
            <a:spAutoFit/>
          </a:bodyPr>
          <a:lstStyle/>
          <a:p>
            <a:pPr algn="just">
              <a:spcAft>
                <a:spcPts val="0"/>
              </a:spcAft>
            </a:pPr>
            <a:r>
              <a:rPr lang="pt-BR" b="1" dirty="0" smtClean="0">
                <a:solidFill>
                  <a:srgbClr val="000000"/>
                </a:solidFill>
                <a:latin typeface="Calibri" panose="020F0502020204030204" pitchFamily="34" charset="0"/>
                <a:ea typeface="Times New Roman" panose="02020603050405020304" pitchFamily="18" charset="0"/>
              </a:rPr>
              <a:t>Viabilidade </a:t>
            </a:r>
            <a:r>
              <a:rPr lang="pt-BR" b="1" dirty="0">
                <a:solidFill>
                  <a:srgbClr val="000000"/>
                </a:solidFill>
                <a:latin typeface="Calibri" panose="020F0502020204030204" pitchFamily="34" charset="0"/>
                <a:ea typeface="Times New Roman" panose="02020603050405020304" pitchFamily="18" charset="0"/>
              </a:rPr>
              <a:t>Econômica</a:t>
            </a:r>
            <a:endParaRPr lang="pt-BR" dirty="0">
              <a:latin typeface="Times New Roman" panose="02020603050405020304" pitchFamily="18" charset="0"/>
              <a:ea typeface="Times New Roman" panose="02020603050405020304" pitchFamily="18" charset="0"/>
            </a:endParaRPr>
          </a:p>
          <a:p>
            <a:r>
              <a:rPr lang="pt-BR" u="sng" dirty="0"/>
              <a:t>Custos Variáveis</a:t>
            </a:r>
            <a:endParaRPr lang="pt-BR" dirty="0"/>
          </a:p>
          <a:p>
            <a:r>
              <a:rPr lang="pt-BR" dirty="0"/>
              <a:t>                           </a:t>
            </a:r>
            <a:r>
              <a:rPr lang="pt-BR" u="sng" dirty="0"/>
              <a:t>Pessoal</a:t>
            </a:r>
            <a:endParaRPr lang="pt-BR" dirty="0"/>
          </a:p>
          <a:p>
            <a:r>
              <a:rPr lang="pt-BR" dirty="0"/>
              <a:t>                                               Treinamento;</a:t>
            </a:r>
          </a:p>
          <a:p>
            <a:r>
              <a:rPr lang="pt-BR" dirty="0"/>
              <a:t>                                               Workshop;</a:t>
            </a:r>
          </a:p>
          <a:p>
            <a:r>
              <a:rPr lang="pt-BR" dirty="0"/>
              <a:t>                                               Consultoria especialista;</a:t>
            </a:r>
          </a:p>
          <a:p>
            <a:r>
              <a:rPr lang="pt-BR" dirty="0"/>
              <a:t>                           </a:t>
            </a:r>
            <a:r>
              <a:rPr lang="pt-BR" u="sng" dirty="0"/>
              <a:t>Manutenção</a:t>
            </a:r>
            <a:endParaRPr lang="pt-BR" dirty="0"/>
          </a:p>
          <a:p>
            <a:r>
              <a:rPr lang="pt-BR" dirty="0"/>
              <a:t>                                               Manutenção de Hardware/Software;</a:t>
            </a:r>
          </a:p>
          <a:p>
            <a:r>
              <a:rPr lang="pt-BR" dirty="0"/>
              <a:t>                                               Custo de licença dos softwares utilizados;</a:t>
            </a:r>
          </a:p>
          <a:p>
            <a:r>
              <a:rPr lang="pt-BR" dirty="0"/>
              <a:t> </a:t>
            </a:r>
          </a:p>
        </p:txBody>
      </p:sp>
    </p:spTree>
    <p:extLst>
      <p:ext uri="{BB962C8B-B14F-4D97-AF65-F5344CB8AC3E}">
        <p14:creationId xmlns:p14="http://schemas.microsoft.com/office/powerpoint/2010/main" val="88682931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117</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2677656"/>
          </a:xfrm>
          <a:prstGeom prst="rect">
            <a:avLst/>
          </a:prstGeom>
        </p:spPr>
        <p:txBody>
          <a:bodyPr wrap="square">
            <a:spAutoFit/>
          </a:bodyPr>
          <a:lstStyle/>
          <a:p>
            <a:r>
              <a:rPr lang="pt-BR" sz="2400" b="1" dirty="0"/>
              <a:t>7. Alternativa Recomendada</a:t>
            </a:r>
            <a:endParaRPr lang="pt-BR" sz="2400" dirty="0"/>
          </a:p>
          <a:p>
            <a:r>
              <a:rPr lang="pt-BR" sz="2400" dirty="0"/>
              <a:t>    </a:t>
            </a:r>
          </a:p>
          <a:p>
            <a:pPr algn="just">
              <a:spcAft>
                <a:spcPts val="0"/>
              </a:spcAft>
            </a:pPr>
            <a:r>
              <a:rPr lang="pt-BR" sz="2400" b="1" dirty="0"/>
              <a:t>7.2 </a:t>
            </a:r>
            <a:r>
              <a:rPr lang="pt-BR" sz="2400" b="1" dirty="0" smtClean="0"/>
              <a:t>Custos -  </a:t>
            </a:r>
            <a:r>
              <a:rPr lang="pt-BR" sz="2400" dirty="0">
                <a:solidFill>
                  <a:srgbClr val="000000"/>
                </a:solidFill>
                <a:latin typeface="Calibri" panose="020F0502020204030204" pitchFamily="34" charset="0"/>
                <a:ea typeface="Times New Roman" panose="02020603050405020304" pitchFamily="18" charset="0"/>
              </a:rPr>
              <a:t>Estudo de viabilidade pode resumir itens de custos, citando minimamente, o que deve constar no documento:</a:t>
            </a:r>
            <a:endParaRPr lang="pt-BR" sz="2400" dirty="0">
              <a:latin typeface="Times New Roman" panose="02020603050405020304" pitchFamily="18" charset="0"/>
              <a:ea typeface="Times New Roman" panose="02020603050405020304" pitchFamily="18" charset="0"/>
            </a:endParaRPr>
          </a:p>
          <a:p>
            <a:pPr algn="just">
              <a:spcAft>
                <a:spcPts val="0"/>
              </a:spcAft>
            </a:pPr>
            <a:r>
              <a:rPr lang="pt-BR" sz="2400" b="1" dirty="0">
                <a:solidFill>
                  <a:srgbClr val="000000"/>
                </a:solidFill>
                <a:latin typeface="Calibri" panose="020F0502020204030204" pitchFamily="34" charset="0"/>
                <a:ea typeface="Times New Roman" panose="02020603050405020304" pitchFamily="18" charset="0"/>
              </a:rPr>
              <a:t> </a:t>
            </a:r>
            <a:endParaRPr lang="pt-BR" sz="2400" dirty="0">
              <a:latin typeface="Times New Roman" panose="02020603050405020304" pitchFamily="18" charset="0"/>
              <a:ea typeface="Times New Roman" panose="02020603050405020304" pitchFamily="18" charset="0"/>
            </a:endParaRPr>
          </a:p>
          <a:p>
            <a:endParaRPr lang="pt-BR" sz="2400" dirty="0"/>
          </a:p>
          <a:p>
            <a:r>
              <a:rPr lang="pt-BR" sz="2400" dirty="0"/>
              <a:t>    </a:t>
            </a:r>
          </a:p>
        </p:txBody>
      </p:sp>
      <p:sp>
        <p:nvSpPr>
          <p:cNvPr id="4" name="Retângulo 3"/>
          <p:cNvSpPr/>
          <p:nvPr/>
        </p:nvSpPr>
        <p:spPr>
          <a:xfrm>
            <a:off x="135146" y="2290585"/>
            <a:ext cx="11861321" cy="1200329"/>
          </a:xfrm>
          <a:prstGeom prst="rect">
            <a:avLst/>
          </a:prstGeom>
        </p:spPr>
        <p:txBody>
          <a:bodyPr wrap="square">
            <a:spAutoFit/>
          </a:bodyPr>
          <a:lstStyle/>
          <a:p>
            <a:r>
              <a:rPr lang="pt-BR" dirty="0"/>
              <a:t> </a:t>
            </a:r>
          </a:p>
          <a:p>
            <a:r>
              <a:rPr lang="pt-BR" dirty="0"/>
              <a:t>As estimativas de custos devem ser refinadas e atualizadas durante o curso do projeto. </a:t>
            </a:r>
            <a:r>
              <a:rPr lang="pt-BR" dirty="0" smtClean="0"/>
              <a:t>Algumas </a:t>
            </a:r>
            <a:r>
              <a:rPr lang="pt-BR" dirty="0"/>
              <a:t>sugestões de itens que podem constar em um estudo de viabilidade econômica:</a:t>
            </a:r>
          </a:p>
          <a:p>
            <a:pPr>
              <a:spcAft>
                <a:spcPts val="0"/>
              </a:spcAft>
            </a:pPr>
            <a:endParaRPr lang="pt-BR" dirty="0">
              <a:effectLst/>
              <a:latin typeface="Times New Roman" panose="02020603050405020304" pitchFamily="18" charset="0"/>
              <a:ea typeface="Times New Roman" panose="02020603050405020304" pitchFamily="18" charset="0"/>
            </a:endParaRPr>
          </a:p>
        </p:txBody>
      </p:sp>
      <p:pic>
        <p:nvPicPr>
          <p:cNvPr id="2" name="Imagem 1"/>
          <p:cNvPicPr>
            <a:picLocks noChangeAspect="1"/>
          </p:cNvPicPr>
          <p:nvPr/>
        </p:nvPicPr>
        <p:blipFill>
          <a:blip r:embed="rId2"/>
          <a:stretch>
            <a:fillRect/>
          </a:stretch>
        </p:blipFill>
        <p:spPr>
          <a:xfrm>
            <a:off x="2277374" y="3029879"/>
            <a:ext cx="7280693" cy="3542100"/>
          </a:xfrm>
          <a:prstGeom prst="rect">
            <a:avLst/>
          </a:prstGeom>
        </p:spPr>
      </p:pic>
    </p:spTree>
    <p:extLst>
      <p:ext uri="{BB962C8B-B14F-4D97-AF65-F5344CB8AC3E}">
        <p14:creationId xmlns:p14="http://schemas.microsoft.com/office/powerpoint/2010/main" val="389119685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118</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1569660"/>
          </a:xfrm>
          <a:prstGeom prst="rect">
            <a:avLst/>
          </a:prstGeom>
        </p:spPr>
        <p:txBody>
          <a:bodyPr wrap="square">
            <a:spAutoFit/>
          </a:bodyPr>
          <a:lstStyle/>
          <a:p>
            <a:r>
              <a:rPr lang="pt-BR" sz="2400" b="1" dirty="0"/>
              <a:t>  7.3 Riscos</a:t>
            </a:r>
            <a:endParaRPr lang="pt-BR" sz="2400" dirty="0"/>
          </a:p>
          <a:p>
            <a:r>
              <a:rPr lang="pt-BR" sz="2400" dirty="0"/>
              <a:t>   </a:t>
            </a:r>
          </a:p>
          <a:p>
            <a:r>
              <a:rPr lang="pt-BR" sz="2400" dirty="0"/>
              <a:t> Identificar possíveis riscos associados à alternativa. Também identificar ações de prevenção e </a:t>
            </a:r>
            <a:r>
              <a:rPr lang="pt-BR" sz="2400" dirty="0" smtClean="0"/>
              <a:t>contingência, podendo-se utilizar  os principais itens:.</a:t>
            </a:r>
            <a:endParaRPr lang="pt-BR" sz="2400" dirty="0"/>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pic>
        <p:nvPicPr>
          <p:cNvPr id="5" name="Imagem 4"/>
          <p:cNvPicPr>
            <a:picLocks noChangeAspect="1"/>
          </p:cNvPicPr>
          <p:nvPr/>
        </p:nvPicPr>
        <p:blipFill>
          <a:blip r:embed="rId2"/>
          <a:stretch>
            <a:fillRect/>
          </a:stretch>
        </p:blipFill>
        <p:spPr>
          <a:xfrm>
            <a:off x="0" y="3030539"/>
            <a:ext cx="12186209" cy="2565518"/>
          </a:xfrm>
          <a:prstGeom prst="rect">
            <a:avLst/>
          </a:prstGeom>
        </p:spPr>
      </p:pic>
    </p:spTree>
    <p:extLst>
      <p:ext uri="{BB962C8B-B14F-4D97-AF65-F5344CB8AC3E}">
        <p14:creationId xmlns:p14="http://schemas.microsoft.com/office/powerpoint/2010/main" val="276180149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119</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5262979"/>
          </a:xfrm>
          <a:prstGeom prst="rect">
            <a:avLst/>
          </a:prstGeom>
        </p:spPr>
        <p:txBody>
          <a:bodyPr wrap="square">
            <a:spAutoFit/>
          </a:bodyPr>
          <a:lstStyle/>
          <a:p>
            <a:r>
              <a:rPr lang="pt-BR" sz="2400" b="1" dirty="0"/>
              <a:t>  7.3 Riscos</a:t>
            </a:r>
            <a:endParaRPr lang="pt-BR" sz="2400" dirty="0"/>
          </a:p>
          <a:p>
            <a:r>
              <a:rPr lang="pt-BR" sz="2400" dirty="0"/>
              <a:t>   </a:t>
            </a:r>
          </a:p>
          <a:p>
            <a:r>
              <a:rPr lang="pt-BR" sz="2400" dirty="0"/>
              <a:t>Considerar os diferentes tipos de riscos envolvendo</a:t>
            </a:r>
            <a:r>
              <a:rPr lang="pt-BR" sz="2400" dirty="0" smtClean="0"/>
              <a:t>: Tecnologia; Pessoas; Organização</a:t>
            </a:r>
            <a:r>
              <a:rPr lang="pt-BR" sz="2400" dirty="0"/>
              <a:t>;</a:t>
            </a:r>
          </a:p>
          <a:p>
            <a:pPr lvl="0"/>
            <a:r>
              <a:rPr lang="pt-BR" sz="2400" dirty="0"/>
              <a:t>Ferramentas</a:t>
            </a:r>
            <a:r>
              <a:rPr lang="pt-BR" sz="2400" dirty="0" smtClean="0"/>
              <a:t>; Requisitos; Estimativa</a:t>
            </a:r>
            <a:r>
              <a:rPr lang="pt-BR" sz="2400" dirty="0"/>
              <a:t>;</a:t>
            </a:r>
          </a:p>
          <a:p>
            <a:r>
              <a:rPr lang="pt-BR" sz="2400" dirty="0"/>
              <a:t> </a:t>
            </a:r>
          </a:p>
          <a:p>
            <a:r>
              <a:rPr lang="pt-BR" sz="2400" dirty="0"/>
              <a:t>Exemplo de tipos de riscos:</a:t>
            </a:r>
          </a:p>
          <a:p>
            <a:pPr lvl="0"/>
            <a:r>
              <a:rPr lang="pt-BR" sz="2400" dirty="0"/>
              <a:t>Inaptidão dos recursos alocados no projeto;</a:t>
            </a:r>
          </a:p>
          <a:p>
            <a:pPr lvl="0"/>
            <a:r>
              <a:rPr lang="pt-BR" sz="2400" dirty="0"/>
              <a:t>Ausência de recursos importantes no projeto;</a:t>
            </a:r>
          </a:p>
          <a:p>
            <a:pPr lvl="0"/>
            <a:r>
              <a:rPr lang="pt-BR" sz="2400" dirty="0"/>
              <a:t>Mudanças de requisitos que impactem diretamente nos marcos do projeto;</a:t>
            </a:r>
          </a:p>
          <a:p>
            <a:pPr lvl="0"/>
            <a:r>
              <a:rPr lang="pt-BR" sz="2400" dirty="0"/>
              <a:t>Mudanças que requerem retrabalho;</a:t>
            </a:r>
          </a:p>
          <a:p>
            <a:pPr lvl="0"/>
            <a:r>
              <a:rPr lang="pt-BR" sz="2400" dirty="0"/>
              <a:t>Tamanho do software é subestimado;</a:t>
            </a:r>
          </a:p>
          <a:p>
            <a:pPr lvl="0"/>
            <a:r>
              <a:rPr lang="pt-BR" sz="2400" dirty="0"/>
              <a:t>O cliente não sabe o que quer;</a:t>
            </a:r>
          </a:p>
          <a:p>
            <a:pPr lvl="0"/>
            <a:r>
              <a:rPr lang="pt-BR" sz="2400" dirty="0"/>
              <a:t>Reestruturação da organização durante a execução do projeto;</a:t>
            </a:r>
          </a:p>
          <a:p>
            <a:pPr lvl="0"/>
            <a:r>
              <a:rPr lang="pt-BR" sz="2400" dirty="0"/>
              <a:t>O cliente ficar indisponível;</a:t>
            </a:r>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spTree>
    <p:extLst>
      <p:ext uri="{BB962C8B-B14F-4D97-AF65-F5344CB8AC3E}">
        <p14:creationId xmlns:p14="http://schemas.microsoft.com/office/powerpoint/2010/main" val="46334515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120</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893647"/>
          </a:xfrm>
          <a:prstGeom prst="rect">
            <a:avLst/>
          </a:prstGeom>
        </p:spPr>
        <p:txBody>
          <a:bodyPr wrap="square">
            <a:spAutoFit/>
          </a:bodyPr>
          <a:lstStyle/>
          <a:p>
            <a:r>
              <a:rPr lang="pt-BR" sz="2400" b="1" dirty="0"/>
              <a:t>  7.3 Riscos</a:t>
            </a:r>
            <a:endParaRPr lang="pt-BR" sz="2400" dirty="0"/>
          </a:p>
          <a:p>
            <a:r>
              <a:rPr lang="pt-BR" sz="2400" dirty="0"/>
              <a:t>   </a:t>
            </a:r>
          </a:p>
          <a:p>
            <a:r>
              <a:rPr lang="pt-BR" sz="2400" dirty="0"/>
              <a:t>Considerar os diferentes tipos de riscos envolvendo</a:t>
            </a:r>
            <a:r>
              <a:rPr lang="pt-BR" sz="2400" dirty="0" smtClean="0"/>
              <a:t>: Tecnologia; Pessoas; Organização</a:t>
            </a:r>
            <a:r>
              <a:rPr lang="pt-BR" sz="2400" dirty="0"/>
              <a:t>;</a:t>
            </a:r>
          </a:p>
          <a:p>
            <a:pPr lvl="0"/>
            <a:r>
              <a:rPr lang="pt-BR" sz="2400" dirty="0"/>
              <a:t>Ferramentas</a:t>
            </a:r>
            <a:r>
              <a:rPr lang="pt-BR" sz="2400" dirty="0" smtClean="0"/>
              <a:t>; Requisitos; Estimativa</a:t>
            </a:r>
            <a:r>
              <a:rPr lang="pt-BR" sz="2400" dirty="0"/>
              <a:t>;</a:t>
            </a:r>
          </a:p>
          <a:p>
            <a:r>
              <a:rPr lang="pt-BR" sz="2400" dirty="0"/>
              <a:t> </a:t>
            </a:r>
          </a:p>
          <a:p>
            <a:r>
              <a:rPr lang="pt-BR" sz="2400" dirty="0"/>
              <a:t>Exemplo de tipos de riscos:</a:t>
            </a:r>
          </a:p>
          <a:p>
            <a:pPr lvl="0"/>
            <a:r>
              <a:rPr lang="pt-BR" sz="2400" dirty="0"/>
              <a:t>Rotatividade de pessoal;</a:t>
            </a:r>
          </a:p>
          <a:p>
            <a:pPr lvl="0"/>
            <a:r>
              <a:rPr lang="pt-BR" sz="2400" dirty="0"/>
              <a:t>Atrasos de especificações;</a:t>
            </a:r>
          </a:p>
          <a:p>
            <a:pPr lvl="0"/>
            <a:r>
              <a:rPr lang="pt-BR" sz="2400" dirty="0"/>
              <a:t>Não prever necessidades do projeto;</a:t>
            </a:r>
          </a:p>
          <a:p>
            <a:pPr lvl="0"/>
            <a:r>
              <a:rPr lang="pt-BR" sz="2400" dirty="0"/>
              <a:t>Projetos paralelos que interfiram no desenvolvimento do projeto;</a:t>
            </a:r>
          </a:p>
          <a:p>
            <a:pPr lvl="0"/>
            <a:r>
              <a:rPr lang="pt-BR" sz="2400" dirty="0"/>
              <a:t>Participação dos integrantes da equipe de desenvolvimento não definidas;</a:t>
            </a:r>
          </a:p>
          <a:p>
            <a:pPr lvl="0"/>
            <a:r>
              <a:rPr lang="pt-BR" sz="2400" dirty="0"/>
              <a:t>O tempo necessário para desenvolver o software é subestimado. [PRAZO]</a:t>
            </a:r>
          </a:p>
          <a:p>
            <a:r>
              <a:rPr lang="pt-BR" sz="2400" dirty="0"/>
              <a:t>_</a:t>
            </a:r>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spTree>
    <p:extLst>
      <p:ext uri="{BB962C8B-B14F-4D97-AF65-F5344CB8AC3E}">
        <p14:creationId xmlns:p14="http://schemas.microsoft.com/office/powerpoint/2010/main" val="22256578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121</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4154984"/>
          </a:xfrm>
          <a:prstGeom prst="rect">
            <a:avLst/>
          </a:prstGeom>
        </p:spPr>
        <p:txBody>
          <a:bodyPr wrap="square">
            <a:spAutoFit/>
          </a:bodyPr>
          <a:lstStyle/>
          <a:p>
            <a:r>
              <a:rPr lang="pt-BR" sz="2400" b="1" dirty="0"/>
              <a:t>    8. Cronograma</a:t>
            </a:r>
            <a:endParaRPr lang="pt-BR" sz="2400" dirty="0"/>
          </a:p>
          <a:p>
            <a:r>
              <a:rPr lang="pt-BR" sz="2400" dirty="0"/>
              <a:t>    </a:t>
            </a:r>
          </a:p>
          <a:p>
            <a:r>
              <a:rPr lang="pt-BR" sz="2400" dirty="0"/>
              <a:t>Apresentação das atividades preliminares, com datas e recursos envolvidos. Basear-se nas etapas do desenvolvimento.</a:t>
            </a:r>
          </a:p>
          <a:p>
            <a:r>
              <a:rPr lang="pt-BR" sz="2400" dirty="0"/>
              <a:t> </a:t>
            </a:r>
          </a:p>
          <a:p>
            <a:r>
              <a:rPr lang="pt-BR" sz="2400" dirty="0"/>
              <a:t>Concepção -&gt; Elaboração -&gt; Construção -&gt; Transição</a:t>
            </a:r>
          </a:p>
          <a:p>
            <a:r>
              <a:rPr lang="pt-BR" sz="2400" dirty="0"/>
              <a:t> </a:t>
            </a:r>
          </a:p>
          <a:p>
            <a:r>
              <a:rPr lang="pt-BR" sz="2400" dirty="0"/>
              <a:t>Exemplo de atividades: Modelagem de Negócios, Requisitos, Análise e Projeto, Implementação, Teste e Implantação</a:t>
            </a:r>
            <a:r>
              <a:rPr lang="pt-BR" sz="2400" dirty="0" smtClean="0"/>
              <a:t>.</a:t>
            </a:r>
          </a:p>
          <a:p>
            <a:endParaRPr lang="pt-BR" sz="2400" dirty="0" smtClean="0"/>
          </a:p>
          <a:p>
            <a:r>
              <a:rPr lang="pt-BR" sz="2400" dirty="0"/>
              <a:t> </a:t>
            </a:r>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spTree>
    <p:extLst>
      <p:ext uri="{BB962C8B-B14F-4D97-AF65-F5344CB8AC3E}">
        <p14:creationId xmlns:p14="http://schemas.microsoft.com/office/powerpoint/2010/main" val="371736374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122</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3416320"/>
          </a:xfrm>
          <a:prstGeom prst="rect">
            <a:avLst/>
          </a:prstGeom>
        </p:spPr>
        <p:txBody>
          <a:bodyPr wrap="square">
            <a:spAutoFit/>
          </a:bodyPr>
          <a:lstStyle/>
          <a:p>
            <a:r>
              <a:rPr lang="pt-BR" sz="2400" b="1" dirty="0"/>
              <a:t>    8. Cronograma</a:t>
            </a:r>
            <a:endParaRPr lang="pt-BR" sz="2400" dirty="0"/>
          </a:p>
          <a:p>
            <a:r>
              <a:rPr lang="pt-BR" sz="2400" dirty="0"/>
              <a:t>    </a:t>
            </a:r>
          </a:p>
          <a:p>
            <a:r>
              <a:rPr lang="pt-BR" sz="2400" dirty="0" smtClean="0"/>
              <a:t>Opções </a:t>
            </a:r>
            <a:r>
              <a:rPr lang="pt-BR" sz="2400" dirty="0"/>
              <a:t>de apresentação:</a:t>
            </a:r>
          </a:p>
          <a:p>
            <a:pPr lvl="0"/>
            <a:r>
              <a:rPr lang="pt-BR" sz="2400" dirty="0"/>
              <a:t>Lista de atividades;</a:t>
            </a:r>
          </a:p>
          <a:p>
            <a:pPr lvl="0"/>
            <a:r>
              <a:rPr lang="pt-BR" sz="2400" dirty="0"/>
              <a:t>Diagrama de Rede do Cronograma;</a:t>
            </a:r>
          </a:p>
          <a:p>
            <a:pPr lvl="0"/>
            <a:r>
              <a:rPr lang="pt-BR" sz="2400" dirty="0"/>
              <a:t>Gráfico de Barras;</a:t>
            </a:r>
          </a:p>
          <a:p>
            <a:pPr lvl="0"/>
            <a:r>
              <a:rPr lang="pt-BR" sz="2400" dirty="0"/>
              <a:t>Gráfico de marcos do projeto;</a:t>
            </a:r>
          </a:p>
          <a:p>
            <a:pPr lvl="0"/>
            <a:r>
              <a:rPr lang="pt-BR" sz="2400" dirty="0"/>
              <a:t>…</a:t>
            </a:r>
          </a:p>
          <a:p>
            <a:r>
              <a:rPr lang="pt-BR" sz="2400" b="1" dirty="0"/>
              <a:t> </a:t>
            </a:r>
            <a:endParaRPr lang="pt-BR" sz="2400" dirty="0"/>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spTree>
    <p:extLst>
      <p:ext uri="{BB962C8B-B14F-4D97-AF65-F5344CB8AC3E}">
        <p14:creationId xmlns:p14="http://schemas.microsoft.com/office/powerpoint/2010/main" val="231617557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Espaço Reservado para Número de Slide 5"/>
          <p:cNvSpPr>
            <a:spLocks noGrp="1"/>
          </p:cNvSpPr>
          <p:nvPr>
            <p:ph type="sldNum"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5A7BF0F-EADC-4193-9452-93D6BE053D81}" type="slidenum">
              <a:rPr lang="pt-PT" altLang="pt-BR" sz="1400"/>
              <a:pPr>
                <a:spcBef>
                  <a:spcPct val="0"/>
                </a:spcBef>
                <a:buFontTx/>
                <a:buNone/>
              </a:pPr>
              <a:t>123</a:t>
            </a:fld>
            <a:endParaRPr lang="pt-PT" altLang="pt-BR" sz="1400"/>
          </a:p>
        </p:txBody>
      </p:sp>
      <p:sp>
        <p:nvSpPr>
          <p:cNvPr id="303107" name="Rectangle 2"/>
          <p:cNvSpPr>
            <a:spLocks noGrp="1" noChangeArrowheads="1"/>
          </p:cNvSpPr>
          <p:nvPr>
            <p:ph type="ctrTitle"/>
          </p:nvPr>
        </p:nvSpPr>
        <p:spPr>
          <a:xfrm>
            <a:off x="-60385" y="1"/>
            <a:ext cx="12252385" cy="836613"/>
          </a:xfrm>
        </p:spPr>
        <p:txBody>
          <a:bodyPr anchor="ctr">
            <a:normAutofit fontScale="90000"/>
          </a:bodyPr>
          <a:lstStyle/>
          <a:p>
            <a:r>
              <a:rPr lang="pt-BR" sz="3600" b="1" dirty="0" smtClean="0"/>
              <a:t>Estudo </a:t>
            </a:r>
            <a:r>
              <a:rPr lang="pt-BR" sz="3600" b="1" dirty="0"/>
              <a:t>de viabilidade baseado no </a:t>
            </a:r>
            <a:r>
              <a:rPr lang="pt-BR" sz="3600" b="1" dirty="0" err="1"/>
              <a:t>template</a:t>
            </a:r>
            <a:r>
              <a:rPr lang="pt-BR" sz="3600" b="1" dirty="0"/>
              <a:t> do RUP – </a:t>
            </a:r>
            <a:r>
              <a:rPr lang="pt-BR" sz="3600" b="1" dirty="0" err="1"/>
              <a:t>Rational</a:t>
            </a:r>
            <a:r>
              <a:rPr lang="pt-BR" sz="3600" b="1" dirty="0"/>
              <a:t> </a:t>
            </a:r>
            <a:r>
              <a:rPr lang="pt-BR" sz="3600" b="1" dirty="0" err="1"/>
              <a:t>Unified</a:t>
            </a:r>
            <a:r>
              <a:rPr lang="pt-BR" sz="3600" b="1" dirty="0"/>
              <a:t> </a:t>
            </a:r>
            <a:r>
              <a:rPr lang="pt-BR" sz="3600" b="1" dirty="0" err="1"/>
              <a:t>Process</a:t>
            </a:r>
            <a:endParaRPr lang="pt-BR" sz="3600" dirty="0"/>
          </a:p>
        </p:txBody>
      </p:sp>
      <p:sp>
        <p:nvSpPr>
          <p:cNvPr id="303109" name="Retângulo 1"/>
          <p:cNvSpPr>
            <a:spLocks noChangeArrowheads="1"/>
          </p:cNvSpPr>
          <p:nvPr/>
        </p:nvSpPr>
        <p:spPr bwMode="auto">
          <a:xfrm>
            <a:off x="-1212850" y="3030539"/>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spcBef>
                <a:spcPct val="0"/>
              </a:spcBef>
              <a:buFontTx/>
              <a:buNone/>
            </a:pPr>
            <a:r>
              <a:rPr lang="pt-BR" altLang="pt-BR" sz="2400"/>
              <a:t>. </a:t>
            </a:r>
          </a:p>
        </p:txBody>
      </p:sp>
      <p:sp>
        <p:nvSpPr>
          <p:cNvPr id="3" name="Retângulo 2"/>
          <p:cNvSpPr/>
          <p:nvPr/>
        </p:nvSpPr>
        <p:spPr>
          <a:xfrm>
            <a:off x="69011" y="836614"/>
            <a:ext cx="12025223" cy="5262979"/>
          </a:xfrm>
          <a:prstGeom prst="rect">
            <a:avLst/>
          </a:prstGeom>
        </p:spPr>
        <p:txBody>
          <a:bodyPr wrap="square">
            <a:spAutoFit/>
          </a:bodyPr>
          <a:lstStyle/>
          <a:p>
            <a:r>
              <a:rPr lang="pt-BR" sz="2400" b="1" dirty="0" smtClean="0"/>
              <a:t>   </a:t>
            </a:r>
            <a:r>
              <a:rPr lang="pt-BR" sz="2400" b="1" dirty="0"/>
              <a:t> 9. Conclusões</a:t>
            </a:r>
            <a:endParaRPr lang="pt-BR" sz="2400" dirty="0"/>
          </a:p>
          <a:p>
            <a:r>
              <a:rPr lang="pt-BR" sz="2400" dirty="0"/>
              <a:t>   </a:t>
            </a:r>
          </a:p>
          <a:p>
            <a:r>
              <a:rPr lang="pt-BR" sz="2400" dirty="0"/>
              <a:t> Identificar se o projeto é viável ou não, apresentando os motivos que o levaram a tal constatação, resgatando sumariamente os tópicos anteriores do documento.</a:t>
            </a:r>
          </a:p>
          <a:p>
            <a:r>
              <a:rPr lang="pt-BR" sz="2400" dirty="0"/>
              <a:t> </a:t>
            </a:r>
          </a:p>
          <a:p>
            <a:r>
              <a:rPr lang="pt-BR" sz="2400" b="1" dirty="0"/>
              <a:t>Referências Bibliográficas:</a:t>
            </a:r>
            <a:endParaRPr lang="pt-BR" sz="2400" dirty="0"/>
          </a:p>
          <a:p>
            <a:r>
              <a:rPr lang="pt-BR" sz="2400" dirty="0" err="1"/>
              <a:t>Sommerville</a:t>
            </a:r>
            <a:r>
              <a:rPr lang="pt-BR" sz="2400" dirty="0"/>
              <a:t>, Ian. </a:t>
            </a:r>
            <a:r>
              <a:rPr lang="pt-BR" sz="2400" b="1" dirty="0"/>
              <a:t>Engenharia de Software</a:t>
            </a:r>
            <a:r>
              <a:rPr lang="pt-BR" sz="2400" dirty="0"/>
              <a:t> - 9. ed. São Paulo, 2011, p 70;</a:t>
            </a:r>
          </a:p>
          <a:p>
            <a:r>
              <a:rPr lang="pt-BR" sz="2400" b="1" dirty="0"/>
              <a:t>Guia PMBOK</a:t>
            </a:r>
            <a:r>
              <a:rPr lang="pt-BR" sz="2400" dirty="0"/>
              <a:t> 4a Ed. - EUA : Project Management </a:t>
            </a:r>
            <a:r>
              <a:rPr lang="pt-BR" sz="2400" dirty="0" err="1"/>
              <a:t>Institute</a:t>
            </a:r>
            <a:r>
              <a:rPr lang="pt-BR" sz="2400" dirty="0"/>
              <a:t>, 2008;</a:t>
            </a:r>
          </a:p>
          <a:p>
            <a:r>
              <a:rPr lang="pt-BR" sz="2400" b="1" dirty="0" err="1"/>
              <a:t>Rational</a:t>
            </a:r>
            <a:r>
              <a:rPr lang="pt-BR" sz="2400" b="1" dirty="0"/>
              <a:t> </a:t>
            </a:r>
            <a:r>
              <a:rPr lang="pt-BR" sz="2400" b="1" dirty="0" err="1"/>
              <a:t>Unified</a:t>
            </a:r>
            <a:r>
              <a:rPr lang="pt-BR" sz="2400" b="1" dirty="0"/>
              <a:t> </a:t>
            </a:r>
            <a:r>
              <a:rPr lang="pt-BR" sz="2400" b="1" dirty="0" err="1"/>
              <a:t>Process</a:t>
            </a:r>
            <a:r>
              <a:rPr lang="pt-BR" sz="2400" dirty="0"/>
              <a:t> (RUP) </a:t>
            </a:r>
            <a:r>
              <a:rPr lang="pt-BR" sz="2400" dirty="0" err="1"/>
              <a:t>document</a:t>
            </a:r>
            <a:r>
              <a:rPr lang="pt-BR" sz="2400" dirty="0"/>
              <a:t> </a:t>
            </a:r>
            <a:r>
              <a:rPr lang="pt-BR" sz="2400" dirty="0" err="1"/>
              <a:t>templates</a:t>
            </a:r>
            <a:r>
              <a:rPr lang="pt-BR" sz="2400" dirty="0"/>
              <a:t>;</a:t>
            </a:r>
          </a:p>
          <a:p>
            <a:r>
              <a:rPr lang="pt-BR" sz="2400" dirty="0" err="1"/>
              <a:t>Chung</a:t>
            </a:r>
            <a:r>
              <a:rPr lang="pt-BR" sz="2400" dirty="0"/>
              <a:t>, W., C. e R. Y. Wang, </a:t>
            </a:r>
            <a:r>
              <a:rPr lang="pt-BR" sz="2400" b="1" dirty="0" err="1"/>
              <a:t>Introducion</a:t>
            </a:r>
            <a:r>
              <a:rPr lang="pt-BR" sz="2400" b="1" dirty="0"/>
              <a:t> </a:t>
            </a:r>
            <a:r>
              <a:rPr lang="pt-BR" sz="2400" b="1" dirty="0" err="1"/>
              <a:t>to</a:t>
            </a:r>
            <a:r>
              <a:rPr lang="pt-BR" sz="2400" b="1" dirty="0"/>
              <a:t> </a:t>
            </a:r>
            <a:r>
              <a:rPr lang="pt-BR" sz="2400" b="1" dirty="0" err="1"/>
              <a:t>Information</a:t>
            </a:r>
            <a:r>
              <a:rPr lang="pt-BR" sz="2400" b="1" dirty="0"/>
              <a:t> </a:t>
            </a:r>
            <a:r>
              <a:rPr lang="pt-BR" sz="2400" b="1" dirty="0" err="1"/>
              <a:t>Quality</a:t>
            </a:r>
            <a:r>
              <a:rPr lang="pt-BR" sz="2400" dirty="0"/>
              <a:t>, 2011;</a:t>
            </a:r>
          </a:p>
          <a:p>
            <a:pPr fontAlgn="ctr"/>
            <a:r>
              <a:rPr lang="pt-BR" sz="2400" dirty="0"/>
              <a:t> </a:t>
            </a:r>
          </a:p>
          <a:p>
            <a:r>
              <a:rPr lang="pt-BR" sz="2400" b="1" dirty="0"/>
              <a:t> </a:t>
            </a:r>
            <a:endParaRPr lang="pt-BR" sz="2400" b="1" dirty="0" smtClean="0"/>
          </a:p>
          <a:p>
            <a:endParaRPr lang="pt-BR" sz="2400" b="1" dirty="0"/>
          </a:p>
          <a:p>
            <a:r>
              <a:rPr lang="pt-BR" sz="2400" b="1" dirty="0" smtClean="0"/>
              <a:t>Der – analise de dados - </a:t>
            </a:r>
            <a:r>
              <a:rPr lang="pt-BR" sz="2400" b="1" smtClean="0"/>
              <a:t>exercicios</a:t>
            </a:r>
            <a:endParaRPr lang="pt-BR" sz="2400" dirty="0"/>
          </a:p>
        </p:txBody>
      </p:sp>
      <p:sp>
        <p:nvSpPr>
          <p:cNvPr id="4" name="Retângulo 3"/>
          <p:cNvSpPr/>
          <p:nvPr/>
        </p:nvSpPr>
        <p:spPr>
          <a:xfrm>
            <a:off x="135146" y="2290585"/>
            <a:ext cx="11861321" cy="369332"/>
          </a:xfrm>
          <a:prstGeom prst="rect">
            <a:avLst/>
          </a:prstGeom>
        </p:spPr>
        <p:txBody>
          <a:bodyPr wrap="square">
            <a:spAutoFit/>
          </a:bodyPr>
          <a:lstStyle/>
          <a:p>
            <a:r>
              <a:rPr lang="pt-BR" dirty="0"/>
              <a:t> </a:t>
            </a:r>
          </a:p>
        </p:txBody>
      </p:sp>
    </p:spTree>
    <p:extLst>
      <p:ext uri="{BB962C8B-B14F-4D97-AF65-F5344CB8AC3E}">
        <p14:creationId xmlns:p14="http://schemas.microsoft.com/office/powerpoint/2010/main" val="3114041349"/>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5533</TotalTime>
  <Words>12205</Words>
  <Application>Microsoft Office PowerPoint</Application>
  <PresentationFormat>Widescreen</PresentationFormat>
  <Paragraphs>1248</Paragraphs>
  <Slides>123</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123</vt:i4>
      </vt:variant>
    </vt:vector>
  </HeadingPairs>
  <TitlesOfParts>
    <vt:vector size="128" baseType="lpstr">
      <vt:lpstr>Arial</vt:lpstr>
      <vt:lpstr>Calibri</vt:lpstr>
      <vt:lpstr>Calibri Light</vt:lpstr>
      <vt:lpstr>Times New Roman</vt:lpstr>
      <vt:lpstr>Tema do Office</vt:lpstr>
      <vt:lpstr>4 Engenharia de Requisitos</vt:lpstr>
      <vt:lpstr>4 Engenharia de Requisitos</vt:lpstr>
      <vt:lpstr>4 Engenharia de Requisitos</vt:lpstr>
      <vt:lpstr>4 Engenharia de Requisitos</vt:lpstr>
      <vt:lpstr>4 Engenharia de Requisitos</vt:lpstr>
      <vt:lpstr>4 Engenharia de Requisitos</vt:lpstr>
      <vt:lpstr>4 Engenharia de Requisitos</vt:lpstr>
      <vt:lpstr>4 Requisitos funcionais e não funcionais</vt:lpstr>
      <vt:lpstr>4 Requisitos funcionais e não funcionais</vt:lpstr>
      <vt:lpstr>4 Requisitos funcionais</vt:lpstr>
      <vt:lpstr>4 Requisitos funcionais</vt:lpstr>
      <vt:lpstr>4 Requisitos funcionais</vt:lpstr>
      <vt:lpstr>4 Requisitos funcionais</vt:lpstr>
      <vt:lpstr>4 Requisitos funcionais</vt:lpstr>
      <vt:lpstr>4 Requisitos não funcionais</vt:lpstr>
      <vt:lpstr>4 Requisitos não funcionais</vt:lpstr>
      <vt:lpstr>4 Requisitos não funcionais</vt:lpstr>
      <vt:lpstr>4 Requisitos não funcionais</vt:lpstr>
      <vt:lpstr>4 Requisitos não funcionais</vt:lpstr>
      <vt:lpstr>4 Requisitos não funcionais</vt:lpstr>
      <vt:lpstr>4 Requisitos não funcionais</vt:lpstr>
      <vt:lpstr>4 Requisitos não funcionais</vt:lpstr>
      <vt:lpstr>4 Requisitos não funcionais</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4 O documento de requisitos de software</vt:lpstr>
      <vt:lpstr>Processos de Engenharia de requisitos </vt:lpstr>
      <vt:lpstr>Processos de Engenharia de requisitos </vt:lpstr>
      <vt:lpstr>Processos de Engenharia de requisitos </vt:lpstr>
      <vt:lpstr>Elicitação e análise de requisitos </vt:lpstr>
      <vt:lpstr>Elicitação e análise de requisitos </vt:lpstr>
      <vt:lpstr>Elicitação e análise de requisitos </vt:lpstr>
      <vt:lpstr>Elicitação e análise de requisitos </vt:lpstr>
      <vt:lpstr>Elicitação e análise de requisitos </vt:lpstr>
      <vt:lpstr>Elicitação e análise de requisitos </vt:lpstr>
      <vt:lpstr>Elicitação e análise de requisitos </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2 Processos de Software Especificação de software ou engenharia de requisitos  </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Descoberta de requisitos</vt:lpstr>
      <vt:lpstr>Pontos Importantes</vt:lpstr>
      <vt:lpstr>Pontos Importantes</vt:lpstr>
      <vt:lpstr>Estudo de Viabilidade</vt:lpstr>
      <vt:lpstr>Estudo de Viabilidade</vt:lpstr>
      <vt:lpstr>Estudo de Viabilidade - Tipos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gProcess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lpstr>Estudo de viabilidade baseado no template do RUP – Rational Unified Process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Marilee</dc:creator>
  <cp:lastModifiedBy>Marilee</cp:lastModifiedBy>
  <cp:revision>59</cp:revision>
  <dcterms:created xsi:type="dcterms:W3CDTF">2024-11-19T11:41:48Z</dcterms:created>
  <dcterms:modified xsi:type="dcterms:W3CDTF">2025-10-17T11:36:51Z</dcterms:modified>
</cp:coreProperties>
</file>