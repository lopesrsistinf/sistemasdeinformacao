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3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7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332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9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26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27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417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655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02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9792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36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870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4187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126C2-1154-40E2-9425-4C496CEA5D82}" type="datetimeFigureOut">
              <a:rPr lang="pt-BR" smtClean="0"/>
              <a:t>06/08/2025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41D2CD-3DAF-4CFB-B992-8ED67354EF8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74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9858BE-0A83-49D0-BCE5-C89B1DDF7A0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pt-PT" altLang="pt-BR" sz="1400"/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09800" y="2286000"/>
            <a:ext cx="7772400" cy="1143000"/>
          </a:xfrm>
        </p:spPr>
        <p:txBody>
          <a:bodyPr anchor="ctr">
            <a:normAutofit fontScale="90000"/>
          </a:bodyPr>
          <a:lstStyle/>
          <a:p>
            <a:pPr eaLnBrk="1" hangingPunct="1"/>
            <a:r>
              <a:rPr lang="pt-BR" altLang="pt-BR" sz="4400"/>
              <a:t>Engenharia de Software I</a:t>
            </a:r>
            <a:br>
              <a:rPr lang="pt-BR" altLang="pt-BR" sz="4400"/>
            </a:br>
            <a:endParaRPr lang="pt-PT" altLang="pt-BR" sz="440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388620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eaLnBrk="1" hangingPunct="1"/>
            <a:endParaRPr lang="pt-BR" altLang="pt-BR" sz="3200" dirty="0"/>
          </a:p>
          <a:p>
            <a:pPr eaLnBrk="1" hangingPunct="1"/>
            <a:r>
              <a:rPr lang="pt-BR" altLang="pt-BR" sz="3200" dirty="0"/>
              <a:t>Curso de Sistemas de Informação</a:t>
            </a:r>
          </a:p>
          <a:p>
            <a:pPr eaLnBrk="1" hangingPunct="1"/>
            <a:r>
              <a:rPr lang="pt-BR" altLang="pt-BR" sz="3200" dirty="0"/>
              <a:t>Profa. Dra. </a:t>
            </a:r>
            <a:r>
              <a:rPr lang="pt-BR" altLang="pt-BR" sz="3200" dirty="0" err="1"/>
              <a:t>Marilée</a:t>
            </a:r>
            <a:r>
              <a:rPr lang="pt-BR" altLang="pt-BR" sz="3200" dirty="0"/>
              <a:t> </a:t>
            </a:r>
            <a:r>
              <a:rPr lang="pt-BR" altLang="pt-BR" sz="3200" dirty="0" err="1" smtClean="0"/>
              <a:t>Patta</a:t>
            </a:r>
            <a:endParaRPr lang="pt-BR" altLang="pt-BR" sz="3200" dirty="0" smtClean="0"/>
          </a:p>
          <a:p>
            <a:r>
              <a:rPr lang="pt-BR" sz="3200" dirty="0" smtClean="0"/>
              <a:t>Pszfuro7</a:t>
            </a:r>
          </a:p>
          <a:p>
            <a:endParaRPr lang="pt-PT" altLang="pt-BR" sz="3200" dirty="0"/>
          </a:p>
        </p:txBody>
      </p:sp>
    </p:spTree>
    <p:extLst>
      <p:ext uri="{BB962C8B-B14F-4D97-AF65-F5344CB8AC3E}">
        <p14:creationId xmlns:p14="http://schemas.microsoft.com/office/powerpoint/2010/main" val="3018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BE26CA-7744-494B-9F02-C15AB847B7F5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pt-PT" altLang="pt-BR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81200" y="5334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1 Introdução Engenharia de Software</a:t>
            </a:r>
            <a:endParaRPr lang="pt-PT" altLang="pt-BR" sz="360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1828800"/>
            <a:ext cx="8229600" cy="3810000"/>
          </a:xfrm>
        </p:spPr>
        <p:txBody>
          <a:bodyPr/>
          <a:lstStyle/>
          <a:p>
            <a:pPr algn="just"/>
            <a:r>
              <a:rPr lang="pt-BR" sz="2800" dirty="0"/>
              <a:t>Ementa: Conceituação de Engenharia de Software. A crise do software e os requisitos dos produtos de software. Ciclo de vida e paradigmas de desenvolvimento de software. Qualidade de Software. Processos de Software. UML – </a:t>
            </a:r>
            <a:r>
              <a:rPr lang="pt-BR" sz="2800" dirty="0" err="1"/>
              <a:t>Unified</a:t>
            </a:r>
            <a:r>
              <a:rPr lang="pt-BR" sz="2800" dirty="0"/>
              <a:t> </a:t>
            </a:r>
            <a:r>
              <a:rPr lang="pt-BR" sz="2800" dirty="0" err="1"/>
              <a:t>Modeling</a:t>
            </a:r>
            <a:r>
              <a:rPr lang="pt-BR" sz="2800" dirty="0"/>
              <a:t> </a:t>
            </a:r>
            <a:r>
              <a:rPr lang="pt-BR" sz="2800" dirty="0" err="1"/>
              <a:t>Language</a:t>
            </a:r>
            <a:r>
              <a:rPr lang="pt-BR" sz="2800" dirty="0"/>
              <a:t>. Requisitos. Análise. Projeto inicial.</a:t>
            </a:r>
            <a:endParaRPr lang="pt-PT" altLang="pt-BR" sz="2800" dirty="0"/>
          </a:p>
        </p:txBody>
      </p:sp>
    </p:spTree>
    <p:extLst>
      <p:ext uri="{BB962C8B-B14F-4D97-AF65-F5344CB8AC3E}">
        <p14:creationId xmlns:p14="http://schemas.microsoft.com/office/powerpoint/2010/main" val="153692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BE26CA-7744-494B-9F02-C15AB847B7F5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pt-PT" altLang="pt-BR" sz="140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81200" y="53340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1 Introdução Engenharia de Software</a:t>
            </a:r>
            <a:endParaRPr lang="pt-PT" altLang="pt-BR" sz="3600"/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057400" y="1828800"/>
            <a:ext cx="8229600" cy="3810000"/>
          </a:xfrm>
        </p:spPr>
        <p:txBody>
          <a:bodyPr/>
          <a:lstStyle/>
          <a:p>
            <a:pPr marL="457200" indent="-457200" algn="just">
              <a:buFontTx/>
              <a:buChar char="•"/>
            </a:pPr>
            <a:r>
              <a:rPr lang="pt-BR" altLang="pt-BR" sz="2800"/>
              <a:t>Entender o que é engenharia de software</a:t>
            </a:r>
          </a:p>
          <a:p>
            <a:pPr marL="457200" indent="-457200" algn="just">
              <a:buFontTx/>
              <a:buChar char="•"/>
            </a:pPr>
            <a:r>
              <a:rPr lang="pt-BR" altLang="pt-BR" sz="2800"/>
              <a:t>Entender que diferentes sistemas requerem diferentes técnicas de engenharia de software</a:t>
            </a:r>
          </a:p>
          <a:p>
            <a:pPr marL="457200" indent="-457200" algn="just">
              <a:buFontTx/>
              <a:buChar char="•"/>
            </a:pPr>
            <a:r>
              <a:rPr lang="pt-BR" altLang="pt-BR" sz="2800"/>
              <a:t>Entender questões éticas profissionais para o engenheiro de software</a:t>
            </a:r>
            <a:endParaRPr lang="pt-PT" altLang="pt-BR" sz="2800"/>
          </a:p>
        </p:txBody>
      </p:sp>
    </p:spTree>
    <p:extLst>
      <p:ext uri="{BB962C8B-B14F-4D97-AF65-F5344CB8AC3E}">
        <p14:creationId xmlns:p14="http://schemas.microsoft.com/office/powerpoint/2010/main" val="11333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45C467-5A9A-4D58-85D6-E6007402E578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pt-PT" altLang="pt-BR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</a:t>
            </a:r>
            <a:endParaRPr lang="pt-PT" altLang="pt-BR" sz="360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BR" altLang="pt-BR" sz="2800"/>
              <a:t>Mundo não existe sem software, infraestrutura e serviços controlados por sistemas computacionais</a:t>
            </a:r>
          </a:p>
          <a:p>
            <a:pPr algn="just" eaLnBrk="1" hangingPunct="1"/>
            <a:r>
              <a:rPr lang="pt-BR" altLang="pt-BR" sz="2800"/>
              <a:t>Manufatura, indústria, distribuição e logística, sistema financeiro, entretenimento (musica, jogos, cinema, tv) etc, são totalmente informatizados</a:t>
            </a:r>
          </a:p>
          <a:p>
            <a:pPr algn="just" eaLnBrk="1" hangingPunct="1"/>
            <a:r>
              <a:rPr lang="pt-BR" altLang="pt-BR" sz="2800"/>
              <a:t>Engenharia de software é essencial para o funcionamento das sociedades e do mundo</a:t>
            </a:r>
            <a:endParaRPr lang="pt-PT" altLang="pt-BR" sz="2800"/>
          </a:p>
        </p:txBody>
      </p:sp>
    </p:spTree>
    <p:extLst>
      <p:ext uri="{BB962C8B-B14F-4D97-AF65-F5344CB8AC3E}">
        <p14:creationId xmlns:p14="http://schemas.microsoft.com/office/powerpoint/2010/main" val="4015520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1B4F8A8-E679-42D8-B675-0F4AB2EFB51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pt-PT" altLang="pt-BR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</a:t>
            </a:r>
            <a:endParaRPr lang="pt-PT" altLang="pt-BR" sz="3600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BR" altLang="pt-BR" sz="2800"/>
              <a:t>Sistemas de softwares: abstratos e intangíveis, não restritos pela propriedade dos materiais e governados pela lei da física ou ainda pelos processos de manufatura: Não existem limites naturais para o potencial software, podendo se tornar extremamente complexos, difíceis de entender e caros para desenvolver e alterar</a:t>
            </a:r>
            <a:r>
              <a:rPr lang="pt-BR" altLang="pt-BR" sz="3200"/>
              <a:t>.</a:t>
            </a:r>
            <a:endParaRPr lang="pt-PT" altLang="pt-BR" sz="3200"/>
          </a:p>
        </p:txBody>
      </p:sp>
    </p:spTree>
    <p:extLst>
      <p:ext uri="{BB962C8B-B14F-4D97-AF65-F5344CB8AC3E}">
        <p14:creationId xmlns:p14="http://schemas.microsoft.com/office/powerpoint/2010/main" val="3584543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077D67-AC00-4C8E-BA6E-F762E3E4B63E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PT" altLang="pt-BR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</a:t>
            </a:r>
            <a:endParaRPr lang="pt-PT" altLang="pt-BR" sz="3600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Tipos de sistemas de softwares vão desde Sistemas embutidos até Sistemas de informação complexos de alcance mundial</a:t>
            </a:r>
          </a:p>
          <a:p>
            <a:pPr algn="just" eaLnBrk="1" hangingPunct="1"/>
            <a:r>
              <a:rPr lang="pt-PT" altLang="pt-BR" sz="2800"/>
              <a:t>Não faz sentido procurar notações, métodos ou técnicas universais para a Engenharia de software</a:t>
            </a:r>
          </a:p>
          <a:p>
            <a:pPr algn="just" eaLnBrk="1" hangingPunct="1"/>
            <a:r>
              <a:rPr lang="pt-PT" altLang="pt-BR" sz="2800"/>
              <a:t>São diferentes: Sistema de informação corporativo, sistema controlador de instrumento cientifico, jogos de computador com gráficos</a:t>
            </a:r>
          </a:p>
          <a:p>
            <a:pPr algn="just" eaLnBrk="1" hangingPunct="1"/>
            <a:r>
              <a:rPr lang="pt-PT" altLang="pt-BR" sz="2800"/>
              <a:t>Todas essas aplicações necessitam da engenharia de software, porém não das mesmas técnicas</a:t>
            </a:r>
          </a:p>
        </p:txBody>
      </p:sp>
    </p:spTree>
    <p:extLst>
      <p:ext uri="{BB962C8B-B14F-4D97-AF65-F5344CB8AC3E}">
        <p14:creationId xmlns:p14="http://schemas.microsoft.com/office/powerpoint/2010/main" val="338483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BACF5A-32C8-48EB-9C6D-FA89E019279F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PT" altLang="pt-BR" sz="1400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</a:t>
            </a:r>
            <a:endParaRPr lang="pt-PT" altLang="pt-BR" sz="3600"/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PT" altLang="pt-BR" sz="2800" dirty="0"/>
              <a:t>Apesar da Engenharia de software, existem relatos de softwares que </a:t>
            </a:r>
            <a:r>
              <a:rPr lang="pt-PT" altLang="pt-BR" sz="2800" dirty="0" smtClean="0"/>
              <a:t>deram </a:t>
            </a:r>
            <a:r>
              <a:rPr lang="pt-PT" altLang="pt-BR" sz="2800" dirty="0"/>
              <a:t>errado e falharam.</a:t>
            </a:r>
          </a:p>
          <a:p>
            <a:pPr algn="just" eaLnBrk="1" hangingPunct="1"/>
            <a:r>
              <a:rPr lang="pt-PT" altLang="pt-BR" sz="2800" dirty="0"/>
              <a:t>Fatores das falhas:</a:t>
            </a:r>
          </a:p>
          <a:p>
            <a:pPr lvl="1" algn="just" eaLnBrk="1" hangingPunct="1"/>
            <a:r>
              <a:rPr lang="pt-PT" altLang="pt-BR" sz="2800" dirty="0"/>
              <a:t>Aumento da demanda: sistemas devem ser construidos rapidamente e ter novas capacidades que eram consideradas impossíveis</a:t>
            </a:r>
          </a:p>
          <a:p>
            <a:pPr lvl="1" algn="just" eaLnBrk="1" hangingPunct="1"/>
            <a:r>
              <a:rPr lang="pt-PT" altLang="pt-BR" sz="2800" dirty="0"/>
              <a:t>Expectativas baixas: é facil escrever programas sem aplicar técnicas de engenharia de software. Muitas empresas desenvolveram seus produtos conforme a necessidade, sem o uso de métodos no dia-a-dia, criando softwares mais caros e menos confiáveis</a:t>
            </a:r>
          </a:p>
          <a:p>
            <a:pPr lvl="2" algn="just" eaLnBrk="1" hangingPunct="1"/>
            <a:endParaRPr lang="pt-PT" altLang="pt-BR" sz="2600" dirty="0"/>
          </a:p>
          <a:p>
            <a:pPr lvl="2" algn="just" eaLnBrk="1" hangingPunct="1"/>
            <a:endParaRPr lang="pt-PT" altLang="pt-BR" sz="2600" dirty="0"/>
          </a:p>
        </p:txBody>
      </p:sp>
    </p:spTree>
    <p:extLst>
      <p:ext uri="{BB962C8B-B14F-4D97-AF65-F5344CB8AC3E}">
        <p14:creationId xmlns:p14="http://schemas.microsoft.com/office/powerpoint/2010/main" val="1195613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1E18F6D-B9D5-4D95-989C-4DC00640D106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pt-PT" altLang="pt-BR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</a:t>
            </a:r>
            <a:endParaRPr lang="pt-PT" altLang="pt-BR" sz="3600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PT" altLang="pt-BR" sz="2800" dirty="0"/>
              <a:t>Desenvolvimento não profissional: Planilhas, programas para empresas ou por hobby são escritos por diversas </a:t>
            </a:r>
            <a:r>
              <a:rPr lang="pt-PT" altLang="pt-BR" sz="2800" dirty="0" smtClean="0"/>
              <a:t>pessoas.</a:t>
            </a:r>
            <a:endParaRPr lang="pt-PT" altLang="pt-BR" sz="2800" dirty="0"/>
          </a:p>
          <a:p>
            <a:pPr algn="just" eaLnBrk="1" hangingPunct="1"/>
            <a:r>
              <a:rPr lang="pt-PT" altLang="pt-BR" sz="2800" dirty="0"/>
              <a:t>Desenvolvimento de software é uma atividade profissional: software tem propósito, tem interface com outros dispositivos ou produtos de software (ex: CAD)</a:t>
            </a:r>
          </a:p>
          <a:p>
            <a:pPr algn="just" eaLnBrk="1" hangingPunct="1"/>
            <a:r>
              <a:rPr lang="pt-PT" altLang="pt-BR" sz="2800" dirty="0"/>
              <a:t>É criado por equipes, mantido e alterado.</a:t>
            </a:r>
          </a:p>
          <a:p>
            <a:pPr algn="just" eaLnBrk="1" hangingPunct="1"/>
            <a:r>
              <a:rPr lang="pt-PT" altLang="pt-BR" sz="2800" dirty="0"/>
              <a:t>Engenharia de software: apoia o desenvolvimento profissional do software, incluindo técnicas de especificação, projeto e evolução</a:t>
            </a:r>
          </a:p>
          <a:p>
            <a:pPr lvl="2" algn="just" eaLnBrk="1" hangingPunct="1"/>
            <a:r>
              <a:rPr lang="pt-PT" altLang="pt-BR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9186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AC5516-FBD5-402E-8CC2-6283C54E5E3D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pt-PT" altLang="pt-BR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</a:t>
            </a:r>
            <a:endParaRPr lang="pt-PT" altLang="pt-BR" sz="3600"/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PT" altLang="pt-BR" sz="2800" dirty="0"/>
              <a:t>Software não é sinônimo de programa de computador. </a:t>
            </a:r>
          </a:p>
          <a:p>
            <a:pPr algn="just" eaLnBrk="1" hangingPunct="1"/>
            <a:r>
              <a:rPr lang="pt-PT" altLang="pt-BR" sz="2800" dirty="0"/>
              <a:t>Engenharia de software: programa, documentação de dados, documentação do sistema, estrutura do sistema, documentação de </a:t>
            </a:r>
            <a:r>
              <a:rPr lang="pt-PT" altLang="pt-BR" sz="2800" dirty="0" smtClean="0"/>
              <a:t>configurações </a:t>
            </a:r>
            <a:r>
              <a:rPr lang="pt-PT" altLang="pt-BR" sz="2800" dirty="0"/>
              <a:t>para fazer o sistema operar.</a:t>
            </a:r>
          </a:p>
          <a:p>
            <a:pPr algn="just" eaLnBrk="1" hangingPunct="1"/>
            <a:endParaRPr lang="pt-PT" altLang="pt-BR" sz="2600" dirty="0"/>
          </a:p>
          <a:p>
            <a:pPr lvl="2" algn="just" eaLnBrk="1" hangingPunct="1"/>
            <a:r>
              <a:rPr lang="pt-PT" altLang="pt-BR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42807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84F15C-08A6-4E9B-94B0-82962BD0568A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PT" altLang="pt-BR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</a:t>
            </a:r>
            <a:endParaRPr lang="pt-PT" altLang="pt-BR" sz="3600"/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PT" altLang="pt-BR" sz="2800" dirty="0"/>
              <a:t>Engenheiros de software desenvolvem tipos de produtos de software:</a:t>
            </a:r>
          </a:p>
          <a:p>
            <a:pPr algn="just" eaLnBrk="1" hangingPunct="1"/>
            <a:r>
              <a:rPr lang="pt-PT" altLang="pt-BR" sz="2800" dirty="0"/>
              <a:t>Genéricos: sistemas stand-alone produzidos para serem vendidos (ferramentas de banco de dados, processadores de texto, pacotes gráficos, gerenciamento de projetos), </a:t>
            </a:r>
            <a:r>
              <a:rPr lang="pt-PT" altLang="pt-BR" sz="2800" dirty="0" smtClean="0"/>
              <a:t>aplicações </a:t>
            </a:r>
            <a:r>
              <a:rPr lang="pt-PT" altLang="pt-BR" sz="2800" dirty="0"/>
              <a:t>verticais (sistemas de informação para bibliotecas, de contabilidade, de manutenção de registros </a:t>
            </a:r>
            <a:r>
              <a:rPr lang="pt-PT" altLang="pt-BR" sz="2800" dirty="0" smtClean="0"/>
              <a:t>odontológicos). </a:t>
            </a:r>
            <a:r>
              <a:rPr lang="pt-PT" altLang="pt-BR" sz="2800" dirty="0"/>
              <a:t>Desenvolvedores controlam sua especificação</a:t>
            </a:r>
          </a:p>
          <a:p>
            <a:pPr algn="just" eaLnBrk="1" hangingPunct="1"/>
            <a:endParaRPr lang="pt-PT" altLang="pt-BR" sz="2600" dirty="0"/>
          </a:p>
          <a:p>
            <a:pPr lvl="2" algn="just" eaLnBrk="1" hangingPunct="1"/>
            <a:r>
              <a:rPr lang="pt-PT" altLang="pt-BR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8819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C8977A-57D1-4A61-A5D1-2233E51D657F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pt-PT" altLang="pt-BR" sz="1400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19288" y="0"/>
            <a:ext cx="7772400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</a:t>
            </a:r>
            <a:endParaRPr lang="pt-PT" altLang="pt-BR" sz="3600"/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Engenheiros de software desenvolvem produtos de software. Tipos de Produtos:</a:t>
            </a:r>
          </a:p>
          <a:p>
            <a:pPr algn="just" eaLnBrk="1" hangingPunct="1"/>
            <a:r>
              <a:rPr lang="pt-PT" altLang="pt-BR" sz="2800"/>
              <a:t>Sob encomenda: cliente encomenda um sistema específico (sistema de controle de dispositivos eletronicos, sistema para apoio ao processo de negócio, sistema de controle de tráfego aéreo)</a:t>
            </a:r>
          </a:p>
          <a:p>
            <a:pPr algn="just" eaLnBrk="1" hangingPunct="1"/>
            <a:r>
              <a:rPr lang="pt-PT" altLang="pt-BR" sz="2800"/>
              <a:t>Empresa cliente controla a sua especificação</a:t>
            </a:r>
          </a:p>
          <a:p>
            <a:pPr lvl="2" algn="just" eaLnBrk="1" hangingPunct="1"/>
            <a:r>
              <a:rPr lang="pt-PT" altLang="pt-BR" sz="2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02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22788B-4C5B-4231-8BA7-685B011439C7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PT" altLang="pt-BR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 – ES - Conceitos</a:t>
            </a:r>
            <a:endParaRPr lang="pt-PT" altLang="pt-BR" sz="3600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Software: Programa de computador e documentação associada.</a:t>
            </a:r>
          </a:p>
          <a:p>
            <a:pPr algn="just" eaLnBrk="1" hangingPunct="1"/>
            <a:r>
              <a:rPr lang="pt-PT" altLang="pt-BR" sz="2800"/>
              <a:t>Atributos de um bom software: funcionalidades e desempenho requeridos pelo usuário, confiável e fácil de manter e de usar</a:t>
            </a:r>
          </a:p>
          <a:p>
            <a:pPr algn="just" eaLnBrk="1" hangingPunct="1"/>
            <a:r>
              <a:rPr lang="pt-PT" altLang="pt-BR" sz="2800"/>
              <a:t>ES: area da engenharia que se preocupa com a produção do software</a:t>
            </a:r>
          </a:p>
          <a:p>
            <a:pPr algn="just" eaLnBrk="1" hangingPunct="1"/>
            <a:r>
              <a:rPr lang="pt-PT" altLang="pt-BR" sz="2800"/>
              <a:t>Atividade ES: Especificação, desenvolvimento, validação e evolução do software</a:t>
            </a:r>
          </a:p>
          <a:p>
            <a:pPr lvl="2" algn="just" eaLnBrk="1" hangingPunct="1"/>
            <a:r>
              <a:rPr lang="pt-PT" altLang="pt-BR" sz="2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37984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605396-150E-4FD4-99EB-B2841732C98D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pt-PT" altLang="pt-BR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 - Conceitos</a:t>
            </a:r>
            <a:endParaRPr lang="pt-PT" altLang="pt-BR" sz="360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pt-PT" altLang="pt-BR" sz="2800" dirty="0"/>
              <a:t>Ciência da computação: teoria e fundamentos.</a:t>
            </a:r>
          </a:p>
          <a:p>
            <a:pPr algn="just" eaLnBrk="1" hangingPunct="1"/>
            <a:r>
              <a:rPr lang="pt-PT" altLang="pt-BR" sz="2800" dirty="0"/>
              <a:t>Engenharia de software: práticas de desenvolvimento e entrega de softwares úteis</a:t>
            </a:r>
          </a:p>
          <a:p>
            <a:pPr algn="just" eaLnBrk="1" hangingPunct="1"/>
            <a:r>
              <a:rPr lang="pt-PT" altLang="pt-BR" sz="2800" dirty="0"/>
              <a:t>Engenharia de sistemas: aspectos do desenvolvimento de </a:t>
            </a:r>
            <a:r>
              <a:rPr lang="pt-PT" altLang="pt-BR" sz="2800" dirty="0" smtClean="0"/>
              <a:t>sistemas </a:t>
            </a:r>
            <a:r>
              <a:rPr lang="pt-PT" altLang="pt-BR" sz="2800" dirty="0"/>
              <a:t>computacionais, incluindo a ES</a:t>
            </a:r>
          </a:p>
          <a:p>
            <a:pPr algn="just" eaLnBrk="1" hangingPunct="1"/>
            <a:r>
              <a:rPr lang="pt-PT" altLang="pt-BR" sz="2800" dirty="0"/>
              <a:t>Desafios da ES: aumento da diversidade, diminuição de tempo para entrega, desenvolvimento de software confiável</a:t>
            </a:r>
          </a:p>
          <a:p>
            <a:pPr algn="just" eaLnBrk="1" hangingPunct="1"/>
            <a:r>
              <a:rPr lang="pt-PT" altLang="pt-BR" sz="2800" dirty="0"/>
              <a:t>Custos ES: 60% (desenvolvimento), 40% (testes). </a:t>
            </a:r>
            <a:endParaRPr lang="pt-PT" altLang="pt-BR" sz="2800" dirty="0" smtClean="0"/>
          </a:p>
          <a:p>
            <a:pPr algn="just" eaLnBrk="1" hangingPunct="1"/>
            <a:r>
              <a:rPr lang="pt-PT" altLang="pt-BR" sz="2800" dirty="0" smtClean="0"/>
              <a:t>Custos </a:t>
            </a:r>
            <a:r>
              <a:rPr lang="pt-PT" altLang="pt-BR" sz="2800" dirty="0"/>
              <a:t>da evolução em software customizados superam os custos de desenvolvimento.</a:t>
            </a:r>
          </a:p>
          <a:p>
            <a:pPr lvl="2" algn="just" eaLnBrk="1" hangingPunct="1"/>
            <a:r>
              <a:rPr lang="pt-PT" altLang="pt-BR" sz="2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72103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4C7546-B000-4163-B8E1-A20CBF68057B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PT" altLang="pt-BR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 - Conceitos</a:t>
            </a:r>
            <a:endParaRPr lang="pt-PT" altLang="pt-BR" sz="3600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1143000"/>
            <a:ext cx="8820150" cy="5105400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Melhores técnicas de desenvolvimento:</a:t>
            </a:r>
          </a:p>
          <a:p>
            <a:pPr algn="just" eaLnBrk="1" hangingPunct="1"/>
            <a:r>
              <a:rPr lang="pt-PT" altLang="pt-BR" sz="2800"/>
              <a:t>Jogos: série de protótipos</a:t>
            </a:r>
          </a:p>
          <a:p>
            <a:pPr algn="just" eaLnBrk="1" hangingPunct="1"/>
            <a:r>
              <a:rPr lang="pt-PT" altLang="pt-BR" sz="2800"/>
              <a:t>Sistemas de controle críticos de segurança: especificação analisável completa.</a:t>
            </a:r>
          </a:p>
          <a:p>
            <a:pPr algn="just" eaLnBrk="1" hangingPunct="1"/>
            <a:r>
              <a:rPr lang="pt-PT" altLang="pt-BR" sz="2800"/>
              <a:t> Técnicas diferentes são adequadas</a:t>
            </a:r>
          </a:p>
          <a:p>
            <a:pPr algn="just" eaLnBrk="1" hangingPunct="1"/>
            <a:endParaRPr lang="pt-PT" altLang="pt-BR" sz="2800"/>
          </a:p>
          <a:p>
            <a:pPr algn="just" eaLnBrk="1" hangingPunct="1"/>
            <a:r>
              <a:rPr lang="pt-PT" altLang="pt-BR" sz="2800"/>
              <a:t>Internet: serviços disponíveis e altamente distribuídos. Sistemas web: geraram avanços nas linguagens de programação e no reuso de software</a:t>
            </a:r>
          </a:p>
          <a:p>
            <a:pPr lvl="2" algn="just" eaLnBrk="1" hangingPunct="1"/>
            <a:r>
              <a:rPr lang="pt-PT" altLang="pt-BR" sz="2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41806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180093-51AA-4E90-A216-0AB7044021C3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pt-PT" altLang="pt-BR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Engenharia de Software – Atributos do Software</a:t>
            </a:r>
            <a:endParaRPr lang="pt-PT" altLang="pt-BR" sz="3600"/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Manutenibilidade: software deve evoluir para atender as demandas. É um atributo crítico, pois mudanças em processos de negócios são inevitáveis</a:t>
            </a:r>
          </a:p>
          <a:p>
            <a:pPr algn="just" eaLnBrk="1" hangingPunct="1"/>
            <a:r>
              <a:rPr lang="pt-PT" altLang="pt-BR" sz="2800"/>
              <a:t>Confiabilidade, segurança e proteção: Software confiável não deve causar prejuízos, físicos ou econômicos no caso de falha. Usuários maliciosos não devem ser capazes de acessar ou prejudicar o sistema</a:t>
            </a:r>
          </a:p>
          <a:p>
            <a:pPr algn="just" eaLnBrk="1" hangingPunct="1"/>
            <a:r>
              <a:rPr lang="pt-PT" altLang="pt-BR" sz="2800"/>
              <a:t>Eficiência: Capacidade de resposta, tempo de processamento, uso de memória. Software não deve desperdiçar recursos como memória e ciclos de processador</a:t>
            </a:r>
          </a:p>
          <a:p>
            <a:pPr algn="just" eaLnBrk="1" hangingPunct="1"/>
            <a:r>
              <a:rPr lang="pt-PT" altLang="pt-BR" sz="2800"/>
              <a:t>Aceitabilidade: Compreensivel, usável e compatível com demais sistemas. Usuário deve aceitar o software</a:t>
            </a:r>
            <a:endParaRPr lang="pt-PT" altLang="pt-BR" sz="2600"/>
          </a:p>
        </p:txBody>
      </p:sp>
    </p:spTree>
    <p:extLst>
      <p:ext uri="{BB962C8B-B14F-4D97-AF65-F5344CB8AC3E}">
        <p14:creationId xmlns:p14="http://schemas.microsoft.com/office/powerpoint/2010/main" val="123015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9AF1FC-DE47-415B-BD07-F7F00ABA89CA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pt-PT" altLang="pt-BR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Ética na Engenharia de Software </a:t>
            </a:r>
            <a:endParaRPr lang="pt-PT" altLang="pt-BR" sz="360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Padrões de comportamento do engenheiro de software guiados por leis e a noção de responsabilidade profissional:</a:t>
            </a:r>
          </a:p>
          <a:p>
            <a:pPr algn="just" eaLnBrk="1" hangingPunct="1"/>
            <a:r>
              <a:rPr lang="pt-PT" altLang="pt-BR" sz="2800"/>
              <a:t>Respeito a Confidencialidade de empregados e clientes independente de se ter acordo de confidencialidade</a:t>
            </a:r>
          </a:p>
          <a:p>
            <a:pPr algn="just" eaLnBrk="1" hangingPunct="1"/>
            <a:r>
              <a:rPr lang="pt-PT" altLang="pt-BR" sz="2800"/>
              <a:t>Nao aceite trabalho que foge as suas competências</a:t>
            </a:r>
          </a:p>
          <a:p>
            <a:pPr algn="just" eaLnBrk="1" hangingPunct="1"/>
            <a:r>
              <a:rPr lang="pt-PT" altLang="pt-BR" sz="2800"/>
              <a:t>Considerar lei de propriedade intelectual, patentes e copyrigt. Cuidar da propriedade intelectual de empregados e clientes</a:t>
            </a:r>
          </a:p>
          <a:p>
            <a:pPr algn="just" eaLnBrk="1" hangingPunct="1"/>
            <a:r>
              <a:rPr lang="pt-PT" altLang="pt-BR" sz="2800"/>
              <a:t>Não faça mau uso de computadores de outras pessoas (jogar videogames, disseminar virus, malwares)</a:t>
            </a:r>
            <a:endParaRPr lang="pt-PT" altLang="pt-BR" sz="2600"/>
          </a:p>
        </p:txBody>
      </p:sp>
    </p:spTree>
    <p:extLst>
      <p:ext uri="{BB962C8B-B14F-4D97-AF65-F5344CB8AC3E}">
        <p14:creationId xmlns:p14="http://schemas.microsoft.com/office/powerpoint/2010/main" val="899242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Número de Slide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F9FEDF-E291-4EFA-9D12-DF873F190F2E}" type="slidenum">
              <a:rPr lang="pt-PT" altLang="pt-BR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pt-PT" altLang="pt-BR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43026" y="0"/>
            <a:ext cx="9217025" cy="1143000"/>
          </a:xfrm>
        </p:spPr>
        <p:txBody>
          <a:bodyPr anchor="ctr"/>
          <a:lstStyle/>
          <a:p>
            <a:pPr eaLnBrk="1" hangingPunct="1"/>
            <a:r>
              <a:rPr lang="pt-BR" altLang="pt-BR" sz="3600"/>
              <a:t>Ética na Engenharia de Software </a:t>
            </a:r>
            <a:endParaRPr lang="pt-PT" altLang="pt-BR" sz="360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1" y="981076"/>
            <a:ext cx="9180513" cy="5267325"/>
          </a:xfrm>
        </p:spPr>
        <p:txBody>
          <a:bodyPr/>
          <a:lstStyle/>
          <a:p>
            <a:pPr algn="just" eaLnBrk="1" hangingPunct="1"/>
            <a:r>
              <a:rPr lang="pt-PT" altLang="pt-BR" sz="2800"/>
              <a:t>ES desenvolvida em um framework social e legal: limita a liberdade das pessoas</a:t>
            </a:r>
          </a:p>
          <a:p>
            <a:pPr algn="just" eaLnBrk="1" hangingPunct="1"/>
            <a:r>
              <a:rPr lang="pt-PT" altLang="pt-BR" sz="2800"/>
              <a:t>Trabalho do Engenheiro de software envolve responsabilidades e habilidades técnicas.</a:t>
            </a:r>
          </a:p>
          <a:p>
            <a:pPr algn="just" eaLnBrk="1" hangingPunct="1"/>
            <a:r>
              <a:rPr lang="pt-PT" altLang="pt-BR" sz="2800"/>
              <a:t>ES deve se comportar de forma ética e moralmente responsável</a:t>
            </a:r>
          </a:p>
          <a:p>
            <a:pPr algn="just" eaLnBrk="1" hangingPunct="1"/>
            <a:r>
              <a:rPr lang="pt-PT" altLang="pt-BR" sz="2800"/>
              <a:t>ES: padrões de honestidade e integridade</a:t>
            </a:r>
            <a:endParaRPr lang="pt-PT" altLang="pt-BR" sz="2600"/>
          </a:p>
        </p:txBody>
      </p:sp>
    </p:spTree>
    <p:extLst>
      <p:ext uri="{BB962C8B-B14F-4D97-AF65-F5344CB8AC3E}">
        <p14:creationId xmlns:p14="http://schemas.microsoft.com/office/powerpoint/2010/main" val="11158808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1040</Words>
  <Application>Microsoft Office PowerPoint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Tema do Office</vt:lpstr>
      <vt:lpstr>Engenharia de Software I </vt:lpstr>
      <vt:lpstr>1 Introdução Engenharia de Software</vt:lpstr>
      <vt:lpstr>1 Introdução Engenharia de Software</vt:lpstr>
      <vt:lpstr>Engenharia de Software</vt:lpstr>
      <vt:lpstr>Engenharia de Software</vt:lpstr>
      <vt:lpstr>Engenharia de Software</vt:lpstr>
      <vt:lpstr>Engenharia de Software</vt:lpstr>
      <vt:lpstr>Engenharia de Software</vt:lpstr>
      <vt:lpstr>Engenharia de Software</vt:lpstr>
      <vt:lpstr>Engenharia de Software</vt:lpstr>
      <vt:lpstr>Engenharia de Software</vt:lpstr>
      <vt:lpstr>Engenharia de Software – ES - Conceitos</vt:lpstr>
      <vt:lpstr>Engenharia de Software - Conceitos</vt:lpstr>
      <vt:lpstr>Engenharia de Software - Conceitos</vt:lpstr>
      <vt:lpstr>Engenharia de Software – Atributos do Software</vt:lpstr>
      <vt:lpstr>Ética na Engenharia de Software </vt:lpstr>
      <vt:lpstr>Ética na Engenharia de Software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Software I </dc:title>
  <dc:creator>Marilee</dc:creator>
  <cp:lastModifiedBy>Marilee</cp:lastModifiedBy>
  <cp:revision>4</cp:revision>
  <dcterms:created xsi:type="dcterms:W3CDTF">2024-11-19T11:34:18Z</dcterms:created>
  <dcterms:modified xsi:type="dcterms:W3CDTF">2025-08-06T19:15:54Z</dcterms:modified>
</cp:coreProperties>
</file>