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303"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3" r:id="rId37"/>
    <p:sldId id="294" r:id="rId38"/>
    <p:sldId id="295" r:id="rId39"/>
    <p:sldId id="296" r:id="rId40"/>
    <p:sldId id="297" r:id="rId41"/>
    <p:sldId id="298" r:id="rId42"/>
    <p:sldId id="299" r:id="rId43"/>
    <p:sldId id="300" r:id="rId44"/>
    <p:sldId id="301" r:id="rId45"/>
    <p:sldId id="302" r:id="rId4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364038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404437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3375664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615D27E2-4720-41AE-96EC-6A4BD457970E}" type="datetimeFigureOut">
              <a:rPr lang="pt-BR" smtClean="0"/>
              <a:t>24/03/2025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411700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615D27E2-4720-41AE-96EC-6A4BD457970E}" type="datetimeFigureOut">
              <a:rPr lang="pt-BR" smtClean="0"/>
              <a:t>24/03/2025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396174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615D27E2-4720-41AE-96EC-6A4BD457970E}" type="datetimeFigureOut">
              <a:rPr lang="pt-BR" smtClean="0"/>
              <a:t>24/03/2025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3446461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15D27E2-4720-41AE-96EC-6A4BD457970E}" type="datetimeFigureOut">
              <a:rPr lang="pt-BR" smtClean="0"/>
              <a:t>24/03/2025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1581328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615D27E2-4720-41AE-96EC-6A4BD457970E}" type="datetimeFigureOut">
              <a:rPr lang="pt-BR" smtClean="0"/>
              <a:t>24/03/2025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4215701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615D27E2-4720-41AE-96EC-6A4BD457970E}" type="datetimeFigureOut">
              <a:rPr lang="pt-BR" smtClean="0"/>
              <a:t>24/03/2025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4192016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3998857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4C1D741F-5B7A-456D-A715-F8C1D8BEC315}" type="slidenum">
              <a:rPr lang="pt-BR" smtClean="0"/>
              <a:t>‹nº›</a:t>
            </a:fld>
            <a:endParaRPr lang="pt-BR"/>
          </a:p>
        </p:txBody>
      </p:sp>
    </p:spTree>
    <p:extLst>
      <p:ext uri="{BB962C8B-B14F-4D97-AF65-F5344CB8AC3E}">
        <p14:creationId xmlns:p14="http://schemas.microsoft.com/office/powerpoint/2010/main" val="1253215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D27E2-4720-41AE-96EC-6A4BD457970E}" type="datetimeFigureOut">
              <a:rPr lang="pt-BR" smtClean="0"/>
              <a:t>24/03/2025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1D741F-5B7A-456D-A715-F8C1D8BEC315}" type="slidenum">
              <a:rPr lang="pt-BR" smtClean="0"/>
              <a:t>‹nº›</a:t>
            </a:fld>
            <a:endParaRPr lang="pt-BR"/>
          </a:p>
        </p:txBody>
      </p:sp>
    </p:spTree>
    <p:extLst>
      <p:ext uri="{BB962C8B-B14F-4D97-AF65-F5344CB8AC3E}">
        <p14:creationId xmlns:p14="http://schemas.microsoft.com/office/powerpoint/2010/main" val="2489479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pt-BR"/>
          </a:p>
        </p:txBody>
      </p:sp>
      <p:sp>
        <p:nvSpPr>
          <p:cNvPr id="3" name="Subtítulo 2"/>
          <p:cNvSpPr>
            <a:spLocks noGrp="1"/>
          </p:cNvSpPr>
          <p:nvPr>
            <p:ph type="subTitle" idx="1"/>
          </p:nvPr>
        </p:nvSpPr>
        <p:spPr/>
        <p:txBody>
          <a:bodyPr/>
          <a:lstStyle/>
          <a:p>
            <a:endParaRPr lang="pt-BR"/>
          </a:p>
        </p:txBody>
      </p:sp>
    </p:spTree>
    <p:extLst>
      <p:ext uri="{BB962C8B-B14F-4D97-AF65-F5344CB8AC3E}">
        <p14:creationId xmlns:p14="http://schemas.microsoft.com/office/powerpoint/2010/main" val="2280356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94891" y="983411"/>
            <a:ext cx="11792309" cy="5323278"/>
          </a:xfrm>
        </p:spPr>
        <p:txBody>
          <a:bodyPr>
            <a:normAutofit/>
          </a:bodyPr>
          <a:lstStyle/>
          <a:p>
            <a:pPr algn="just"/>
            <a:r>
              <a:rPr lang="pt-BR" dirty="0"/>
              <a:t>Análise de </a:t>
            </a:r>
            <a:r>
              <a:rPr lang="pt-BR" dirty="0" smtClean="0"/>
              <a:t>Requisitos</a:t>
            </a:r>
          </a:p>
          <a:p>
            <a:pPr algn="just"/>
            <a:r>
              <a:rPr lang="pt-BR" dirty="0" smtClean="0"/>
              <a:t>A </a:t>
            </a:r>
            <a:r>
              <a:rPr lang="pt-BR" dirty="0"/>
              <a:t>investigação do domínio do problema e do negócio a ser apoiado nos leva a perceber que o desenvolvimento de um novo sistema de informação é um agente de mudanças no negócio e na prática dos profissionais envolvidos. </a:t>
            </a:r>
          </a:p>
          <a:p>
            <a:pPr algn="just"/>
            <a:r>
              <a:rPr lang="pt-BR" dirty="0" smtClean="0"/>
              <a:t>Há duas </a:t>
            </a:r>
            <a:r>
              <a:rPr lang="pt-BR" dirty="0"/>
              <a:t>versões de um sistema: o sistema como ele é (</a:t>
            </a:r>
            <a:r>
              <a:rPr lang="pt-BR" dirty="0" err="1"/>
              <a:t>as-is</a:t>
            </a:r>
            <a:r>
              <a:rPr lang="pt-BR" dirty="0"/>
              <a:t>) e o sistema que se pretende obter (</a:t>
            </a:r>
            <a:r>
              <a:rPr lang="pt-BR" dirty="0" err="1"/>
              <a:t>to-be</a:t>
            </a:r>
            <a:r>
              <a:rPr lang="pt-BR" dirty="0"/>
              <a:t>). </a:t>
            </a:r>
          </a:p>
          <a:p>
            <a:pPr algn="just"/>
            <a:r>
              <a:rPr lang="pt-BR" dirty="0" smtClean="0"/>
              <a:t>O </a:t>
            </a:r>
            <a:r>
              <a:rPr lang="pt-BR" dirty="0"/>
              <a:t>sistema </a:t>
            </a:r>
            <a:r>
              <a:rPr lang="pt-BR" dirty="0" err="1"/>
              <a:t>as-is</a:t>
            </a:r>
            <a:r>
              <a:rPr lang="pt-BR" dirty="0"/>
              <a:t> apresenta problemas, limitações e deficiências. O sistema </a:t>
            </a:r>
            <a:r>
              <a:rPr lang="pt-BR" dirty="0" err="1" smtClean="0"/>
              <a:t>to-be</a:t>
            </a:r>
            <a:r>
              <a:rPr lang="pt-BR" dirty="0" smtClean="0"/>
              <a:t> </a:t>
            </a:r>
            <a:r>
              <a:rPr lang="pt-BR" dirty="0"/>
              <a:t>tem a intenção de tratar esses problemas usando oportunidades oferecidas pela tecnologia. </a:t>
            </a:r>
          </a:p>
          <a:p>
            <a:pPr algn="just"/>
            <a:r>
              <a:rPr lang="pt-BR" dirty="0"/>
              <a:t>P</a:t>
            </a:r>
            <a:r>
              <a:rPr lang="pt-BR" dirty="0" smtClean="0"/>
              <a:t>ara </a:t>
            </a:r>
            <a:r>
              <a:rPr lang="pt-BR" dirty="0"/>
              <a:t>que o sistema </a:t>
            </a:r>
            <a:r>
              <a:rPr lang="pt-BR" dirty="0" err="1"/>
              <a:t>to-be</a:t>
            </a:r>
            <a:r>
              <a:rPr lang="pt-BR" dirty="0"/>
              <a:t> seja </a:t>
            </a:r>
            <a:r>
              <a:rPr lang="pt-BR" dirty="0" smtClean="0"/>
              <a:t>bem-sucedido precisa </a:t>
            </a:r>
            <a:r>
              <a:rPr lang="pt-BR" dirty="0"/>
              <a:t>cooperar efetivamente com seu ambiente (pessoas, dispositivos e outros sistemas de software existentes)</a:t>
            </a:r>
            <a:endParaRPr lang="pt-PT" altLang="pt-BR" dirty="0" smtClean="0"/>
          </a:p>
        </p:txBody>
      </p:sp>
    </p:spTree>
    <p:extLst>
      <p:ext uri="{BB962C8B-B14F-4D97-AF65-F5344CB8AC3E}">
        <p14:creationId xmlns:p14="http://schemas.microsoft.com/office/powerpoint/2010/main" val="26172190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143000"/>
            <a:ext cx="10523359" cy="5715000"/>
          </a:xfrm>
        </p:spPr>
        <p:txBody>
          <a:bodyPr>
            <a:normAutofit/>
          </a:bodyPr>
          <a:lstStyle/>
          <a:p>
            <a:pPr algn="just"/>
            <a:r>
              <a:rPr lang="pt-BR" dirty="0"/>
              <a:t>Análise de </a:t>
            </a:r>
            <a:r>
              <a:rPr lang="pt-BR" dirty="0" smtClean="0"/>
              <a:t>Requisitos</a:t>
            </a:r>
          </a:p>
          <a:p>
            <a:pPr algn="just"/>
            <a:r>
              <a:rPr lang="pt-BR" dirty="0" smtClean="0"/>
              <a:t>• </a:t>
            </a:r>
            <a:r>
              <a:rPr lang="pt-BR" dirty="0"/>
              <a:t>Por quê? </a:t>
            </a:r>
            <a:endParaRPr lang="pt-BR" dirty="0" smtClean="0"/>
          </a:p>
          <a:p>
            <a:pPr algn="just"/>
            <a:r>
              <a:rPr lang="pt-BR" dirty="0" smtClean="0"/>
              <a:t>As </a:t>
            </a:r>
            <a:r>
              <a:rPr lang="pt-BR" dirty="0"/>
              <a:t>razões para se desenvolver um novo sistema computacional (software </a:t>
            </a:r>
            <a:r>
              <a:rPr lang="pt-BR" dirty="0" err="1"/>
              <a:t>to-be</a:t>
            </a:r>
            <a:r>
              <a:rPr lang="pt-BR" dirty="0"/>
              <a:t>) devem ser explicitadas em termos de objetivos a serem satisfeitos. </a:t>
            </a:r>
            <a:endParaRPr lang="pt-BR" dirty="0" smtClean="0"/>
          </a:p>
          <a:p>
            <a:pPr algn="just"/>
            <a:r>
              <a:rPr lang="pt-BR" dirty="0" smtClean="0"/>
              <a:t>• </a:t>
            </a:r>
            <a:r>
              <a:rPr lang="pt-BR" dirty="0"/>
              <a:t>O que? Esta dimensão preocupa-se com os serviços (requisitos funcionais) que o novo sistema computacional deve prover para satisfazer os objetivos. Esses serviços devem satisfazer restrições (requisitos não funcionais), garantir regras de negócio e apoiam-se em suposições</a:t>
            </a:r>
            <a:r>
              <a:rPr lang="pt-BR" dirty="0" smtClean="0"/>
              <a:t>.</a:t>
            </a:r>
          </a:p>
          <a:p>
            <a:pPr algn="just"/>
            <a:r>
              <a:rPr lang="pt-BR" dirty="0" smtClean="0"/>
              <a:t>Quem</a:t>
            </a:r>
            <a:r>
              <a:rPr lang="pt-BR" dirty="0"/>
              <a:t>? Alguns serviços serão implementados pelo software </a:t>
            </a:r>
            <a:r>
              <a:rPr lang="pt-BR" dirty="0" err="1"/>
              <a:t>to-be</a:t>
            </a:r>
            <a:r>
              <a:rPr lang="pt-BR" dirty="0"/>
              <a:t>, enquanto outros serão realizados por procedimentos manuais, operações de dispositivos ou por outros produtos de software já </a:t>
            </a:r>
            <a:r>
              <a:rPr lang="pt-BR" dirty="0" smtClean="0"/>
              <a:t>existentes</a:t>
            </a:r>
          </a:p>
          <a:p>
            <a:pPr algn="just"/>
            <a:r>
              <a:rPr lang="pt-BR" dirty="0" smtClean="0"/>
              <a:t>.</a:t>
            </a:r>
            <a:endParaRPr lang="pt-PT" altLang="pt-BR" dirty="0" smtClean="0"/>
          </a:p>
        </p:txBody>
      </p:sp>
    </p:spTree>
    <p:extLst>
      <p:ext uri="{BB962C8B-B14F-4D97-AF65-F5344CB8AC3E}">
        <p14:creationId xmlns:p14="http://schemas.microsoft.com/office/powerpoint/2010/main" val="27750117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143000"/>
            <a:ext cx="10523359" cy="5715000"/>
          </a:xfrm>
        </p:spPr>
        <p:txBody>
          <a:bodyPr>
            <a:normAutofit/>
          </a:bodyPr>
          <a:lstStyle/>
          <a:p>
            <a:pPr algn="just"/>
            <a:r>
              <a:rPr lang="pt-BR" dirty="0"/>
              <a:t>Análise de </a:t>
            </a:r>
            <a:r>
              <a:rPr lang="pt-BR" dirty="0" smtClean="0"/>
              <a:t>Requisitos</a:t>
            </a:r>
          </a:p>
          <a:p>
            <a:pPr algn="just"/>
            <a:r>
              <a:rPr lang="pt-BR" dirty="0" smtClean="0"/>
              <a:t>Para </a:t>
            </a:r>
            <a:r>
              <a:rPr lang="pt-BR" dirty="0"/>
              <a:t>responder a essas perguntas, é necessário um entendimento mais profundo do domínio do problema, do negócio a ser apoiado, das limitações do sistema atual e dos requisitos para o novo sistema. </a:t>
            </a:r>
            <a:endParaRPr lang="pt-BR" dirty="0" smtClean="0"/>
          </a:p>
          <a:p>
            <a:pPr algn="just"/>
            <a:r>
              <a:rPr lang="pt-BR" dirty="0" smtClean="0"/>
              <a:t>Requisitos </a:t>
            </a:r>
            <a:r>
              <a:rPr lang="pt-BR" dirty="0"/>
              <a:t>de cliente são insuficientes para isso. Eles resultam diretamente da atividade de levantamento de requisitos, sendo tipicamente descritos em linguagem natural, em um baixo nível de detalhes</a:t>
            </a:r>
            <a:r>
              <a:rPr lang="pt-BR" dirty="0" smtClean="0"/>
              <a:t>.</a:t>
            </a:r>
          </a:p>
          <a:p>
            <a:pPr algn="just"/>
            <a:r>
              <a:rPr lang="pt-BR" dirty="0" smtClean="0"/>
              <a:t>Assim</a:t>
            </a:r>
            <a:r>
              <a:rPr lang="pt-BR" dirty="0"/>
              <a:t>, uma vez identificados os requisitos de cliente, é necessário </a:t>
            </a:r>
            <a:r>
              <a:rPr lang="pt-BR" dirty="0" smtClean="0"/>
              <a:t>detalhá-los</a:t>
            </a:r>
            <a:r>
              <a:rPr lang="pt-BR" dirty="0"/>
              <a:t>, colocando-os no nível de descrição de requisitos de sistema. </a:t>
            </a:r>
            <a:endParaRPr lang="pt-BR" dirty="0" smtClean="0"/>
          </a:p>
          <a:p>
            <a:pPr algn="just"/>
            <a:endParaRPr lang="pt-BR" dirty="0" smtClean="0"/>
          </a:p>
          <a:p>
            <a:pPr algn="just"/>
            <a:r>
              <a:rPr lang="pt-BR" dirty="0" smtClean="0"/>
              <a:t> </a:t>
            </a:r>
            <a:r>
              <a:rPr lang="pt-BR" dirty="0"/>
              <a:t>Este é o propósito da Análise de Requisitos.</a:t>
            </a:r>
            <a:endParaRPr lang="pt-PT" altLang="pt-BR" dirty="0" smtClean="0"/>
          </a:p>
        </p:txBody>
      </p:sp>
    </p:spTree>
    <p:extLst>
      <p:ext uri="{BB962C8B-B14F-4D97-AF65-F5344CB8AC3E}">
        <p14:creationId xmlns:p14="http://schemas.microsoft.com/office/powerpoint/2010/main" val="1940655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5</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lnSpcReduction="10000"/>
          </a:bodyPr>
          <a:lstStyle/>
          <a:p>
            <a:pPr algn="just"/>
            <a:r>
              <a:rPr lang="pt-BR" dirty="0"/>
              <a:t>Análise de </a:t>
            </a:r>
            <a:r>
              <a:rPr lang="pt-BR" dirty="0" smtClean="0"/>
              <a:t>Requisitos</a:t>
            </a:r>
          </a:p>
          <a:p>
            <a:pPr algn="just"/>
            <a:r>
              <a:rPr lang="pt-BR" dirty="0"/>
              <a:t>A correta derivação de requisitos de sistema a partir de requisitos de cliente é fundamental para assegurar que equívocos não </a:t>
            </a:r>
            <a:r>
              <a:rPr lang="pt-BR" dirty="0" smtClean="0"/>
              <a:t>serão </a:t>
            </a:r>
            <a:r>
              <a:rPr lang="pt-BR" dirty="0"/>
              <a:t>introduzidos pelos engenheiros de requisitos na especificação de requisitos</a:t>
            </a:r>
            <a:r>
              <a:rPr lang="pt-BR" dirty="0" smtClean="0"/>
              <a:t>.</a:t>
            </a:r>
          </a:p>
          <a:p>
            <a:pPr algn="just"/>
            <a:r>
              <a:rPr lang="pt-BR" dirty="0"/>
              <a:t>R</a:t>
            </a:r>
            <a:r>
              <a:rPr lang="pt-BR" dirty="0" smtClean="0"/>
              <a:t>equisitos </a:t>
            </a:r>
            <a:r>
              <a:rPr lang="pt-BR" dirty="0"/>
              <a:t>funcionais e não funcionais devem ser expressos em um nível de detalhes que permita guiar as etapas subsequentes do desenvolvimento de software (projeto, implementação e testes). </a:t>
            </a:r>
            <a:endParaRPr lang="pt-BR" dirty="0" smtClean="0"/>
          </a:p>
          <a:p>
            <a:pPr algn="just"/>
            <a:r>
              <a:rPr lang="pt-BR" dirty="0" smtClean="0"/>
              <a:t>Atenção especial </a:t>
            </a:r>
            <a:r>
              <a:rPr lang="pt-BR" dirty="0"/>
              <a:t>às regras de negócio. Elas têm </a:t>
            </a:r>
            <a:r>
              <a:rPr lang="pt-BR" dirty="0" smtClean="0"/>
              <a:t>ser </a:t>
            </a:r>
            <a:r>
              <a:rPr lang="pt-BR" dirty="0"/>
              <a:t>capturadas e incorporadas às funcionalidades do sistema</a:t>
            </a:r>
            <a:r>
              <a:rPr lang="pt-BR" dirty="0" smtClean="0"/>
              <a:t>.</a:t>
            </a:r>
            <a:endParaRPr lang="pt-PT" dirty="0"/>
          </a:p>
          <a:p>
            <a:pPr algn="just"/>
            <a:r>
              <a:rPr lang="pt-BR" dirty="0"/>
              <a:t>D</a:t>
            </a:r>
            <a:r>
              <a:rPr lang="pt-BR" dirty="0" smtClean="0"/>
              <a:t>escrição dos </a:t>
            </a:r>
            <a:r>
              <a:rPr lang="pt-BR" dirty="0"/>
              <a:t>requisitos funcionais </a:t>
            </a:r>
            <a:r>
              <a:rPr lang="pt-BR" dirty="0" smtClean="0"/>
              <a:t>detalhados: </a:t>
            </a:r>
            <a:r>
              <a:rPr lang="pt-BR" dirty="0"/>
              <a:t>necessário produzir modelos, cada um deles capturando uma perspectiva diferente do sistema</a:t>
            </a:r>
            <a:r>
              <a:rPr lang="pt-BR" dirty="0" smtClean="0"/>
              <a:t>.</a:t>
            </a:r>
          </a:p>
          <a:p>
            <a:pPr algn="just"/>
            <a:r>
              <a:rPr lang="pt-BR" dirty="0" smtClean="0"/>
              <a:t>A </a:t>
            </a:r>
            <a:r>
              <a:rPr lang="pt-BR" dirty="0"/>
              <a:t>linguagem natural ainda é utilizada, mas em uma escala reduzida, circunscrita a descrições de certos modelos ou às definições em glossários ou dicionários de dados. </a:t>
            </a:r>
            <a:endParaRPr lang="pt-BR" dirty="0" smtClean="0"/>
          </a:p>
          <a:p>
            <a:pPr algn="just"/>
            <a:r>
              <a:rPr lang="pt-BR" dirty="0" smtClean="0"/>
              <a:t>Grande </a:t>
            </a:r>
            <a:r>
              <a:rPr lang="pt-BR" dirty="0"/>
              <a:t>parte das informações tratadas na análise de requisitos funcionais é melhor comunicada por meio de diagramas do que por meio de texto. </a:t>
            </a:r>
            <a:endParaRPr lang="pt-BR" dirty="0" smtClean="0"/>
          </a:p>
          <a:p>
            <a:pPr algn="just"/>
            <a:r>
              <a:rPr lang="pt-BR" dirty="0"/>
              <a:t>M</a:t>
            </a:r>
            <a:r>
              <a:rPr lang="pt-BR" dirty="0" smtClean="0"/>
              <a:t>odelagem </a:t>
            </a:r>
            <a:r>
              <a:rPr lang="pt-BR" dirty="0"/>
              <a:t>é uma atividade essencial da análise de requisitos.</a:t>
            </a:r>
            <a:endParaRPr lang="pt-PT" altLang="pt-BR" dirty="0" smtClean="0"/>
          </a:p>
        </p:txBody>
      </p:sp>
    </p:spTree>
    <p:extLst>
      <p:ext uri="{BB962C8B-B14F-4D97-AF65-F5344CB8AC3E}">
        <p14:creationId xmlns:p14="http://schemas.microsoft.com/office/powerpoint/2010/main" val="924825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6</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 y="983411"/>
            <a:ext cx="12192000" cy="5874589"/>
          </a:xfrm>
        </p:spPr>
        <p:txBody>
          <a:bodyPr>
            <a:normAutofit/>
          </a:bodyPr>
          <a:lstStyle/>
          <a:p>
            <a:pPr algn="just"/>
            <a:r>
              <a:rPr lang="pt-BR" dirty="0"/>
              <a:t>Análise de </a:t>
            </a:r>
            <a:r>
              <a:rPr lang="pt-BR" dirty="0" smtClean="0"/>
              <a:t>Requisitos</a:t>
            </a:r>
          </a:p>
          <a:p>
            <a:pPr algn="just"/>
            <a:r>
              <a:rPr lang="pt-BR" dirty="0"/>
              <a:t>A modelagem de objetivos pode ser empregada para tratar a dimensão “Por quê</a:t>
            </a:r>
            <a:r>
              <a:rPr lang="pt-BR" dirty="0" smtClean="0"/>
              <a:t>?”.</a:t>
            </a:r>
          </a:p>
          <a:p>
            <a:pPr algn="just"/>
            <a:r>
              <a:rPr lang="pt-BR" dirty="0"/>
              <a:t>M</a:t>
            </a:r>
            <a:r>
              <a:rPr lang="pt-BR" dirty="0" smtClean="0"/>
              <a:t>odelo </a:t>
            </a:r>
            <a:r>
              <a:rPr lang="pt-BR" dirty="0"/>
              <a:t>de </a:t>
            </a:r>
            <a:r>
              <a:rPr lang="pt-BR" dirty="0" smtClean="0"/>
              <a:t>objetivo: </a:t>
            </a:r>
            <a:r>
              <a:rPr lang="pt-BR" dirty="0"/>
              <a:t>procura capturar precisamente os objetivos a serem satisfeitos pelo sistema </a:t>
            </a:r>
            <a:r>
              <a:rPr lang="pt-BR" dirty="0" err="1"/>
              <a:t>to-be</a:t>
            </a:r>
            <a:r>
              <a:rPr lang="pt-BR" dirty="0"/>
              <a:t>, suas ramificações em termos de </a:t>
            </a:r>
            <a:r>
              <a:rPr lang="pt-BR" dirty="0" err="1"/>
              <a:t>subobjetivos</a:t>
            </a:r>
            <a:r>
              <a:rPr lang="pt-BR" dirty="0"/>
              <a:t>, como esses objetivos interagem (conflitos e sinergias) e como eles estão alinhados a objetivos de negócio. </a:t>
            </a:r>
            <a:endParaRPr lang="pt-BR" dirty="0" smtClean="0"/>
          </a:p>
          <a:p>
            <a:pPr algn="just"/>
            <a:r>
              <a:rPr lang="pt-BR" dirty="0"/>
              <a:t>M</a:t>
            </a:r>
            <a:r>
              <a:rPr lang="pt-BR" dirty="0" smtClean="0"/>
              <a:t>odelagem conceitual: define </a:t>
            </a:r>
            <a:r>
              <a:rPr lang="pt-BR" dirty="0"/>
              <a:t>em detalhes as funções requeridas pelo sistema e o conhecimento necessário para realizá-las. </a:t>
            </a:r>
            <a:r>
              <a:rPr lang="pt-BR" dirty="0" smtClean="0"/>
              <a:t>Gera o modelo </a:t>
            </a:r>
            <a:r>
              <a:rPr lang="pt-BR" dirty="0"/>
              <a:t>conceitual do sistema</a:t>
            </a:r>
            <a:r>
              <a:rPr lang="pt-BR" dirty="0" smtClean="0"/>
              <a:t>.</a:t>
            </a:r>
          </a:p>
          <a:p>
            <a:pPr algn="just"/>
            <a:r>
              <a:rPr lang="pt-BR" dirty="0"/>
              <a:t>E</a:t>
            </a:r>
            <a:r>
              <a:rPr lang="pt-BR" dirty="0" smtClean="0"/>
              <a:t>squema </a:t>
            </a:r>
            <a:r>
              <a:rPr lang="pt-BR" dirty="0"/>
              <a:t>ou modelo conceitual de um </a:t>
            </a:r>
            <a:r>
              <a:rPr lang="pt-BR" dirty="0" smtClean="0"/>
              <a:t>sistema: captura </a:t>
            </a:r>
            <a:r>
              <a:rPr lang="pt-BR" dirty="0"/>
              <a:t>funções e informações que o sistema deve prover e gerenciar. </a:t>
            </a:r>
            <a:endParaRPr lang="pt-BR" dirty="0" smtClean="0"/>
          </a:p>
          <a:p>
            <a:pPr algn="just"/>
            <a:r>
              <a:rPr lang="pt-BR" dirty="0"/>
              <a:t>C</a:t>
            </a:r>
            <a:r>
              <a:rPr lang="pt-BR" dirty="0" smtClean="0"/>
              <a:t>oncebido </a:t>
            </a:r>
            <a:r>
              <a:rPr lang="pt-BR" dirty="0"/>
              <a:t>com foco no domínio do problema e não no domínio da </a:t>
            </a:r>
            <a:r>
              <a:rPr lang="pt-BR" dirty="0" smtClean="0"/>
              <a:t>solução.</a:t>
            </a:r>
          </a:p>
          <a:p>
            <a:pPr algn="just"/>
            <a:r>
              <a:rPr lang="pt-BR" dirty="0" smtClean="0"/>
              <a:t>Deve </a:t>
            </a:r>
            <a:r>
              <a:rPr lang="pt-BR" dirty="0"/>
              <a:t>tratar tanto </a:t>
            </a:r>
            <a:r>
              <a:rPr lang="pt-BR" dirty="0" smtClean="0"/>
              <a:t>a </a:t>
            </a:r>
            <a:r>
              <a:rPr lang="pt-BR" dirty="0"/>
              <a:t>visão externa do sistema (como o sistema é percebido pelos usuários) quanto </a:t>
            </a:r>
            <a:r>
              <a:rPr lang="pt-BR" dirty="0" smtClean="0"/>
              <a:t>a </a:t>
            </a:r>
            <a:r>
              <a:rPr lang="pt-BR" dirty="0"/>
              <a:t>visão </a:t>
            </a:r>
            <a:r>
              <a:rPr lang="pt-BR" dirty="0" smtClean="0"/>
              <a:t>interna </a:t>
            </a:r>
            <a:r>
              <a:rPr lang="pt-BR" dirty="0"/>
              <a:t>(como as abstrações do domínio são representadas e relacionadas). </a:t>
            </a:r>
            <a:endParaRPr lang="pt-BR" dirty="0" smtClean="0"/>
          </a:p>
          <a:p>
            <a:pPr algn="just"/>
            <a:r>
              <a:rPr lang="pt-BR" dirty="0" smtClean="0"/>
              <a:t>O </a:t>
            </a:r>
            <a:r>
              <a:rPr lang="pt-BR" dirty="0"/>
              <a:t>produto </a:t>
            </a:r>
            <a:r>
              <a:rPr lang="pt-BR" dirty="0" smtClean="0"/>
              <a:t>do trabalho da </a:t>
            </a:r>
            <a:r>
              <a:rPr lang="pt-BR" dirty="0"/>
              <a:t>análise de </a:t>
            </a:r>
            <a:r>
              <a:rPr lang="pt-BR" dirty="0" smtClean="0"/>
              <a:t>requisitos: </a:t>
            </a:r>
            <a:r>
              <a:rPr lang="pt-BR" dirty="0"/>
              <a:t>Documento de Especificação de Requisitos. </a:t>
            </a:r>
            <a:r>
              <a:rPr lang="pt-BR" dirty="0" smtClean="0"/>
              <a:t>Contém </a:t>
            </a:r>
            <a:r>
              <a:rPr lang="pt-BR" dirty="0"/>
              <a:t>requisitos funcionais e não </a:t>
            </a:r>
            <a:r>
              <a:rPr lang="pt-BR" dirty="0" smtClean="0"/>
              <a:t>funcionais.</a:t>
            </a:r>
            <a:endParaRPr lang="pt-PT" altLang="pt-BR" dirty="0" smtClean="0"/>
          </a:p>
        </p:txBody>
      </p:sp>
    </p:spTree>
    <p:extLst>
      <p:ext uri="{BB962C8B-B14F-4D97-AF65-F5344CB8AC3E}">
        <p14:creationId xmlns:p14="http://schemas.microsoft.com/office/powerpoint/2010/main" val="17070911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7</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Análise de </a:t>
            </a:r>
            <a:r>
              <a:rPr lang="pt-BR" dirty="0" smtClean="0"/>
              <a:t>Requisitos</a:t>
            </a:r>
          </a:p>
          <a:p>
            <a:pPr algn="just"/>
            <a:r>
              <a:rPr lang="pt-BR" dirty="0"/>
              <a:t>R</a:t>
            </a:r>
            <a:r>
              <a:rPr lang="pt-BR" dirty="0" smtClean="0"/>
              <a:t>equisitos </a:t>
            </a:r>
            <a:r>
              <a:rPr lang="pt-BR" dirty="0"/>
              <a:t>funcionais de </a:t>
            </a:r>
            <a:r>
              <a:rPr lang="pt-BR" dirty="0" smtClean="0"/>
              <a:t>sistema: </a:t>
            </a:r>
            <a:r>
              <a:rPr lang="pt-BR" dirty="0"/>
              <a:t>descritos por um conjunto de modelos inter-relacionados. </a:t>
            </a:r>
            <a:endParaRPr lang="pt-BR" dirty="0" smtClean="0"/>
          </a:p>
          <a:p>
            <a:pPr algn="just"/>
            <a:r>
              <a:rPr lang="pt-BR" dirty="0" smtClean="0"/>
              <a:t>Requisitos </a:t>
            </a:r>
            <a:r>
              <a:rPr lang="pt-BR" dirty="0"/>
              <a:t>não funcionais de </a:t>
            </a:r>
            <a:r>
              <a:rPr lang="pt-BR" dirty="0" smtClean="0"/>
              <a:t>sistema: </a:t>
            </a:r>
            <a:r>
              <a:rPr lang="pt-BR" dirty="0"/>
              <a:t>detalham os requisitos não funcionais de usuário, adicionando </a:t>
            </a:r>
            <a:r>
              <a:rPr lang="pt-BR" dirty="0" smtClean="0"/>
              <a:t>critérios </a:t>
            </a:r>
            <a:r>
              <a:rPr lang="pt-BR" dirty="0"/>
              <a:t>de aceitação</a:t>
            </a:r>
            <a:r>
              <a:rPr lang="pt-BR" dirty="0" smtClean="0"/>
              <a:t>.</a:t>
            </a:r>
          </a:p>
          <a:p>
            <a:pPr algn="just"/>
            <a:r>
              <a:rPr lang="pt-BR" dirty="0" smtClean="0"/>
              <a:t>**Há </a:t>
            </a:r>
            <a:r>
              <a:rPr lang="pt-BR" dirty="0"/>
              <a:t>forte dependência entre os métodos e técnicas usados na modelagem conceitual e o paradigma de desenvolvimento adotado. </a:t>
            </a:r>
            <a:endParaRPr lang="pt-BR" dirty="0" smtClean="0"/>
          </a:p>
          <a:p>
            <a:pPr algn="just"/>
            <a:r>
              <a:rPr lang="pt-BR" dirty="0" smtClean="0"/>
              <a:t>Para </a:t>
            </a:r>
            <a:r>
              <a:rPr lang="pt-BR" dirty="0"/>
              <a:t>a modelagem conceitual de requisitos funcionais é necessário escolher um paradigma de desenvolvimento a partir do qual os modelos serão construídos</a:t>
            </a:r>
            <a:r>
              <a:rPr lang="pt-BR" dirty="0" smtClean="0"/>
              <a:t>.</a:t>
            </a:r>
          </a:p>
          <a:p>
            <a:pPr algn="just"/>
            <a:r>
              <a:rPr lang="pt-BR" dirty="0" err="1" smtClean="0"/>
              <a:t>Ex</a:t>
            </a:r>
            <a:r>
              <a:rPr lang="pt-BR" dirty="0" smtClean="0"/>
              <a:t>: paradigma </a:t>
            </a:r>
            <a:r>
              <a:rPr lang="pt-BR" dirty="0"/>
              <a:t>orientado a </a:t>
            </a:r>
            <a:r>
              <a:rPr lang="pt-BR" dirty="0" smtClean="0"/>
              <a:t>objetos: fornece </a:t>
            </a:r>
            <a:r>
              <a:rPr lang="pt-BR" dirty="0"/>
              <a:t>um conjunto de elementos de modelagem que permite modelar um sistema como sendo composto de objetos organizados em classes que se comunicam entre si por meio de troca de mensagens. Uma classe define as propriedades (atributos, relacionamentos e operações) que todos os objetos dela podem possuir.</a:t>
            </a:r>
            <a:endParaRPr lang="pt-PT" altLang="pt-BR" dirty="0" smtClean="0"/>
          </a:p>
        </p:txBody>
      </p:sp>
    </p:spTree>
    <p:extLst>
      <p:ext uri="{BB962C8B-B14F-4D97-AF65-F5344CB8AC3E}">
        <p14:creationId xmlns:p14="http://schemas.microsoft.com/office/powerpoint/2010/main" val="4765603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Análise de </a:t>
            </a:r>
            <a:r>
              <a:rPr lang="pt-BR" dirty="0" smtClean="0"/>
              <a:t>Objetivos</a:t>
            </a:r>
          </a:p>
          <a:p>
            <a:pPr algn="just"/>
            <a:r>
              <a:rPr lang="pt-BR" dirty="0" smtClean="0"/>
              <a:t>Os </a:t>
            </a:r>
            <a:r>
              <a:rPr lang="pt-BR" dirty="0"/>
              <a:t>requisitos funcionais descrevem o que um sistema deve fazer. Os objetivos explicam o porquê. </a:t>
            </a:r>
            <a:endParaRPr lang="pt-BR" dirty="0" smtClean="0"/>
          </a:p>
          <a:p>
            <a:pPr algn="just"/>
            <a:r>
              <a:rPr lang="pt-BR" dirty="0" smtClean="0"/>
              <a:t>Ao </a:t>
            </a:r>
            <a:r>
              <a:rPr lang="pt-BR" dirty="0"/>
              <a:t>se deixar claros os objetivos subjacentes aos requisitos </a:t>
            </a:r>
            <a:r>
              <a:rPr lang="pt-BR" dirty="0" smtClean="0"/>
              <a:t>(funcionais e </a:t>
            </a:r>
            <a:r>
              <a:rPr lang="pt-BR" dirty="0"/>
              <a:t>não funcionais), ganha-se um critério de completude/pertinência dos requisitos, abre-se espaço para exploração de alternativas e detecção de conflitos entre </a:t>
            </a:r>
            <a:r>
              <a:rPr lang="pt-BR" dirty="0" err="1"/>
              <a:t>stakeholders</a:t>
            </a:r>
            <a:r>
              <a:rPr lang="pt-BR" dirty="0"/>
              <a:t>, garantindo maior estabilidade. </a:t>
            </a:r>
            <a:endParaRPr lang="pt-BR" dirty="0" smtClean="0"/>
          </a:p>
          <a:p>
            <a:pPr algn="just"/>
            <a:r>
              <a:rPr lang="pt-BR" dirty="0" smtClean="0"/>
              <a:t>Um </a:t>
            </a:r>
            <a:r>
              <a:rPr lang="pt-BR" dirty="0"/>
              <a:t>objetivo é uma declaração de uma intenção que o sistema </a:t>
            </a:r>
            <a:r>
              <a:rPr lang="pt-BR" dirty="0" err="1"/>
              <a:t>to-be</a:t>
            </a:r>
            <a:r>
              <a:rPr lang="pt-BR" dirty="0"/>
              <a:t> como um todo deve satisfazer por meio de cooperação entre seus agentes (pessoas desempenhando papéis específicos, dispositivos, outros sistemas de software existentes e o novo software </a:t>
            </a:r>
            <a:r>
              <a:rPr lang="pt-BR" dirty="0" err="1"/>
              <a:t>to-be</a:t>
            </a:r>
            <a:r>
              <a:rPr lang="pt-BR" dirty="0"/>
              <a:t>). </a:t>
            </a:r>
            <a:endParaRPr lang="pt-BR" dirty="0" smtClean="0"/>
          </a:p>
          <a:p>
            <a:pPr algn="just"/>
            <a:r>
              <a:rPr lang="pt-BR" dirty="0" err="1" smtClean="0"/>
              <a:t>Ex</a:t>
            </a:r>
            <a:r>
              <a:rPr lang="pt-BR" dirty="0" smtClean="0"/>
              <a:t>: </a:t>
            </a:r>
            <a:r>
              <a:rPr lang="pt-BR" dirty="0"/>
              <a:t>objetivo a ser satisfeito por um sistema de biblioteca: “Exemplares de livros devem ser devolvidos dentro do prazo previsto”. Ele envolve os usuários (que devem devolver os exemplares) e o sistema de informação da biblioteca (que deve acompanhar os empréstimos e emitir</a:t>
            </a:r>
            <a:endParaRPr lang="pt-PT" altLang="pt-BR" dirty="0" smtClean="0"/>
          </a:p>
        </p:txBody>
      </p:sp>
    </p:spTree>
    <p:extLst>
      <p:ext uri="{BB962C8B-B14F-4D97-AF65-F5344CB8AC3E}">
        <p14:creationId xmlns:p14="http://schemas.microsoft.com/office/powerpoint/2010/main" val="17545505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9</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Análise de </a:t>
            </a:r>
            <a:r>
              <a:rPr lang="pt-BR" dirty="0" smtClean="0"/>
              <a:t>Objetivos</a:t>
            </a:r>
          </a:p>
          <a:p>
            <a:pPr algn="just"/>
            <a:r>
              <a:rPr lang="pt-BR" dirty="0"/>
              <a:t>Objetivos podem ser descritos em diferentes níveis de abstração. </a:t>
            </a:r>
            <a:endParaRPr lang="pt-BR" dirty="0" smtClean="0"/>
          </a:p>
          <a:p>
            <a:pPr algn="just"/>
            <a:r>
              <a:rPr lang="pt-BR" dirty="0"/>
              <a:t>N</a:t>
            </a:r>
            <a:r>
              <a:rPr lang="pt-BR" dirty="0" smtClean="0"/>
              <a:t>íveis </a:t>
            </a:r>
            <a:r>
              <a:rPr lang="pt-BR" dirty="0"/>
              <a:t>mais altos, ditos objetivos </a:t>
            </a:r>
            <a:r>
              <a:rPr lang="pt-BR" dirty="0" smtClean="0"/>
              <a:t>estratégicos: </a:t>
            </a:r>
            <a:r>
              <a:rPr lang="pt-BR" dirty="0"/>
              <a:t>são mais gerais e relacionados ao negócio ou à organização. </a:t>
            </a:r>
            <a:endParaRPr lang="pt-BR" dirty="0" smtClean="0"/>
          </a:p>
          <a:p>
            <a:pPr algn="just"/>
            <a:r>
              <a:rPr lang="pt-BR" dirty="0"/>
              <a:t>N</a:t>
            </a:r>
            <a:r>
              <a:rPr lang="pt-BR" dirty="0" smtClean="0"/>
              <a:t>íveis </a:t>
            </a:r>
            <a:r>
              <a:rPr lang="pt-BR" dirty="0"/>
              <a:t>mais baixos, ditos objetivos táticos ou </a:t>
            </a:r>
            <a:r>
              <a:rPr lang="pt-BR" dirty="0" smtClean="0"/>
              <a:t>técnicos: </a:t>
            </a:r>
            <a:r>
              <a:rPr lang="pt-BR" dirty="0"/>
              <a:t>são mais específicos e relacionados ao sistema ou a opções de projeto do sistema</a:t>
            </a:r>
            <a:r>
              <a:rPr lang="pt-BR" dirty="0" smtClean="0"/>
              <a:t>.</a:t>
            </a:r>
          </a:p>
          <a:p>
            <a:pPr algn="just"/>
            <a:r>
              <a:rPr lang="pt-BR" dirty="0" smtClean="0"/>
              <a:t>A </a:t>
            </a:r>
            <a:r>
              <a:rPr lang="pt-BR" dirty="0"/>
              <a:t>diferença entre níveis de objetivos sugere o uso de um mecanismo de estruturação de objetivos baseado em ligações de contribuição entre objetivos: </a:t>
            </a:r>
            <a:endParaRPr lang="pt-BR" dirty="0" smtClean="0"/>
          </a:p>
          <a:p>
            <a:pPr algn="just"/>
            <a:r>
              <a:rPr lang="pt-BR" dirty="0"/>
              <a:t>	</a:t>
            </a:r>
            <a:r>
              <a:rPr lang="pt-BR" dirty="0" smtClean="0"/>
              <a:t>um </a:t>
            </a:r>
            <a:r>
              <a:rPr lang="pt-BR" dirty="0"/>
              <a:t>objetivo mais geral pode ser refinado em objetivos mais específicos (</a:t>
            </a:r>
            <a:r>
              <a:rPr lang="pt-BR" dirty="0" err="1"/>
              <a:t>subobjetivos</a:t>
            </a:r>
            <a:r>
              <a:rPr lang="pt-BR" dirty="0"/>
              <a:t>) contribuindo para a satisfação do primeiro. </a:t>
            </a:r>
            <a:endParaRPr lang="pt-PT" altLang="pt-BR" dirty="0" smtClean="0"/>
          </a:p>
        </p:txBody>
      </p:sp>
    </p:spTree>
    <p:extLst>
      <p:ext uri="{BB962C8B-B14F-4D97-AF65-F5344CB8AC3E}">
        <p14:creationId xmlns:p14="http://schemas.microsoft.com/office/powerpoint/2010/main" val="17523973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10</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Análise de </a:t>
            </a:r>
            <a:r>
              <a:rPr lang="pt-BR" dirty="0" smtClean="0"/>
              <a:t>Objetivos</a:t>
            </a:r>
          </a:p>
          <a:p>
            <a:pPr algn="just"/>
            <a:r>
              <a:rPr lang="pt-BR" dirty="0" smtClean="0"/>
              <a:t>1) Identifica os </a:t>
            </a:r>
            <a:r>
              <a:rPr lang="pt-BR" dirty="0"/>
              <a:t>interessados e seus objetivos. </a:t>
            </a:r>
            <a:endParaRPr lang="pt-BR" dirty="0" smtClean="0"/>
          </a:p>
          <a:p>
            <a:pPr algn="just"/>
            <a:r>
              <a:rPr lang="pt-BR" dirty="0" smtClean="0"/>
              <a:t>2) Objetivos </a:t>
            </a:r>
            <a:r>
              <a:rPr lang="pt-BR" dirty="0"/>
              <a:t>estratégicos são obtidos junto aos interessados e refinados em objetivos táticos. Esse refinamento é capturado em um modelo de objetivos. </a:t>
            </a:r>
            <a:endParaRPr lang="pt-BR" dirty="0" smtClean="0"/>
          </a:p>
          <a:p>
            <a:pPr algn="just"/>
            <a:r>
              <a:rPr lang="pt-BR" dirty="0" smtClean="0"/>
              <a:t>3)O modelo de objetivos produzido pode ser usado como insumo para a descrição </a:t>
            </a:r>
            <a:r>
              <a:rPr lang="pt-BR" dirty="0"/>
              <a:t>da funcionalidade do sistema por meio de modelos de casos de uso. </a:t>
            </a:r>
            <a:endParaRPr lang="pt-BR" dirty="0" smtClean="0"/>
          </a:p>
          <a:p>
            <a:pPr algn="just"/>
            <a:r>
              <a:rPr lang="pt-BR" dirty="0" smtClean="0"/>
              <a:t>4)Abordagens </a:t>
            </a:r>
            <a:r>
              <a:rPr lang="pt-BR" dirty="0"/>
              <a:t>de ER </a:t>
            </a:r>
            <a:r>
              <a:rPr lang="pt-BR" dirty="0" smtClean="0"/>
              <a:t>com objetivos: abordagens </a:t>
            </a:r>
            <a:r>
              <a:rPr lang="pt-BR" dirty="0"/>
              <a:t>de Engenharia de Requisitos Orientadas a Objetivos (</a:t>
            </a:r>
            <a:r>
              <a:rPr lang="pt-BR" dirty="0" err="1"/>
              <a:t>GoalOriented</a:t>
            </a:r>
            <a:r>
              <a:rPr lang="pt-BR" dirty="0"/>
              <a:t> </a:t>
            </a:r>
            <a:r>
              <a:rPr lang="pt-BR" dirty="0" err="1"/>
              <a:t>Requirements</a:t>
            </a:r>
            <a:r>
              <a:rPr lang="pt-BR" dirty="0"/>
              <a:t> </a:t>
            </a:r>
            <a:r>
              <a:rPr lang="pt-BR" dirty="0" err="1"/>
              <a:t>Engineering</a:t>
            </a:r>
            <a:r>
              <a:rPr lang="pt-BR" dirty="0"/>
              <a:t> – GORE).</a:t>
            </a:r>
            <a:endParaRPr lang="pt-PT" altLang="pt-BR" dirty="0" smtClean="0"/>
          </a:p>
        </p:txBody>
      </p:sp>
    </p:spTree>
    <p:extLst>
      <p:ext uri="{BB962C8B-B14F-4D97-AF65-F5344CB8AC3E}">
        <p14:creationId xmlns:p14="http://schemas.microsoft.com/office/powerpoint/2010/main" val="32507008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11</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Modelagem </a:t>
            </a:r>
            <a:r>
              <a:rPr lang="pt-BR" dirty="0" smtClean="0"/>
              <a:t>Conceitual</a:t>
            </a:r>
          </a:p>
          <a:p>
            <a:pPr algn="just"/>
            <a:r>
              <a:rPr lang="pt-BR" dirty="0" smtClean="0"/>
              <a:t>Todo </a:t>
            </a:r>
            <a:r>
              <a:rPr lang="pt-BR" dirty="0"/>
              <a:t>sistema incorpora um esquema conceitual. Assim, para que o desenvolvimento de um sistema seja bem-sucedido, é necessário explicitar esse esquema. Esse é o propósito da modelagem conceitual. </a:t>
            </a:r>
            <a:endParaRPr lang="pt-BR" dirty="0" smtClean="0"/>
          </a:p>
          <a:p>
            <a:pPr algn="just"/>
            <a:r>
              <a:rPr lang="pt-BR" dirty="0"/>
              <a:t>E</a:t>
            </a:r>
            <a:r>
              <a:rPr lang="pt-BR" dirty="0" smtClean="0"/>
              <a:t>squema conceitual: </a:t>
            </a:r>
            <a:r>
              <a:rPr lang="pt-BR" dirty="0"/>
              <a:t>especificação de seus requisitos funcionais. </a:t>
            </a:r>
            <a:endParaRPr lang="pt-BR" dirty="0" smtClean="0"/>
          </a:p>
          <a:p>
            <a:pPr algn="just"/>
            <a:r>
              <a:rPr lang="pt-BR" dirty="0"/>
              <a:t>S</a:t>
            </a:r>
            <a:r>
              <a:rPr lang="pt-BR" dirty="0" smtClean="0"/>
              <a:t>istema </a:t>
            </a:r>
            <a:r>
              <a:rPr lang="pt-BR" dirty="0"/>
              <a:t>de informação é </a:t>
            </a:r>
            <a:r>
              <a:rPr lang="pt-BR" dirty="0" smtClean="0"/>
              <a:t>projetado </a:t>
            </a:r>
            <a:r>
              <a:rPr lang="pt-BR" dirty="0"/>
              <a:t>para coletar, armazenar, processar e distribuir informação sobre o estado de um </a:t>
            </a:r>
            <a:r>
              <a:rPr lang="pt-BR" dirty="0" smtClean="0"/>
              <a:t>domínio e tem </a:t>
            </a:r>
            <a:r>
              <a:rPr lang="pt-BR" dirty="0"/>
              <a:t>três propósitos ou funções principais</a:t>
            </a:r>
            <a:r>
              <a:rPr lang="pt-BR" dirty="0" smtClean="0"/>
              <a:t>:</a:t>
            </a:r>
          </a:p>
          <a:p>
            <a:pPr algn="just"/>
            <a:r>
              <a:rPr lang="pt-BR" dirty="0" smtClean="0"/>
              <a:t>1) Função </a:t>
            </a:r>
            <a:r>
              <a:rPr lang="pt-BR" dirty="0"/>
              <a:t>de Memória: </a:t>
            </a:r>
            <a:r>
              <a:rPr lang="pt-BR" dirty="0" smtClean="0"/>
              <a:t>objetivo do </a:t>
            </a:r>
            <a:r>
              <a:rPr lang="pt-BR" dirty="0"/>
              <a:t>sistema de informação é manter uma representação interna do estado do </a:t>
            </a:r>
            <a:r>
              <a:rPr lang="pt-BR" dirty="0" smtClean="0"/>
              <a:t>domínio que é alterado </a:t>
            </a:r>
            <a:r>
              <a:rPr lang="pt-BR" dirty="0"/>
              <a:t>com frequência e de muitas maneiras. O sistema precisa acompanhar essas alterações e atualizar sua representação interna adequadamente. </a:t>
            </a:r>
          </a:p>
          <a:p>
            <a:pPr algn="just"/>
            <a:r>
              <a:rPr lang="pt-BR" dirty="0" smtClean="0"/>
              <a:t>2)Função </a:t>
            </a:r>
            <a:r>
              <a:rPr lang="pt-BR" dirty="0"/>
              <a:t>Informativa: </a:t>
            </a:r>
            <a:r>
              <a:rPr lang="pt-BR" dirty="0" smtClean="0"/>
              <a:t>deve </a:t>
            </a:r>
            <a:r>
              <a:rPr lang="pt-BR" dirty="0"/>
              <a:t>prover aos usuários informações sobre o estado do domínio. A função informativa não altera o estado do domínio</a:t>
            </a:r>
            <a:r>
              <a:rPr lang="pt-BR" dirty="0" smtClean="0"/>
              <a:t>; </a:t>
            </a:r>
            <a:r>
              <a:rPr lang="pt-BR" dirty="0"/>
              <a:t>provê a informação </a:t>
            </a:r>
            <a:r>
              <a:rPr lang="pt-BR" dirty="0" smtClean="0"/>
              <a:t>solicitada. </a:t>
            </a:r>
            <a:endParaRPr lang="pt-BR" dirty="0"/>
          </a:p>
          <a:p>
            <a:pPr algn="just"/>
            <a:r>
              <a:rPr lang="pt-BR" dirty="0" smtClean="0"/>
              <a:t>3)Função </a:t>
            </a:r>
            <a:r>
              <a:rPr lang="pt-BR" dirty="0"/>
              <a:t>Ativa: </a:t>
            </a:r>
            <a:r>
              <a:rPr lang="pt-BR" dirty="0" smtClean="0"/>
              <a:t>realiza </a:t>
            </a:r>
            <a:r>
              <a:rPr lang="pt-BR" dirty="0"/>
              <a:t>ações que modificam o estado do domínio. Para </a:t>
            </a:r>
            <a:r>
              <a:rPr lang="pt-BR" dirty="0" smtClean="0"/>
              <a:t>isso, o </a:t>
            </a:r>
            <a:r>
              <a:rPr lang="pt-BR" dirty="0"/>
              <a:t>sistema precisa conhecer as ações que ele pode tomar, quando elas devem ser tomadas e como elas vão afetar o estado do domínio.</a:t>
            </a:r>
            <a:endParaRPr lang="pt-PT" altLang="pt-BR" dirty="0"/>
          </a:p>
          <a:p>
            <a:pPr algn="just"/>
            <a:endParaRPr lang="pt-PT" altLang="pt-BR" dirty="0" smtClean="0"/>
          </a:p>
        </p:txBody>
      </p:sp>
    </p:spTree>
    <p:extLst>
      <p:ext uri="{BB962C8B-B14F-4D97-AF65-F5344CB8AC3E}">
        <p14:creationId xmlns:p14="http://schemas.microsoft.com/office/powerpoint/2010/main" val="30337193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12</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Modelagem </a:t>
            </a:r>
            <a:r>
              <a:rPr lang="pt-BR" dirty="0" smtClean="0"/>
              <a:t>Conceitual</a:t>
            </a:r>
          </a:p>
          <a:p>
            <a:pPr algn="just"/>
            <a:r>
              <a:rPr lang="pt-BR" dirty="0" smtClean="0"/>
              <a:t>Para </a:t>
            </a:r>
            <a:r>
              <a:rPr lang="pt-BR" dirty="0"/>
              <a:t>realizar suas funções, um sistema tem de ter um conhecimento geral sobre o domínio da aplicação e sobre as funcionalidades que ele deve executar. Esse conhecimento é denominado de esquema conceitual. </a:t>
            </a:r>
            <a:endParaRPr lang="pt-BR" dirty="0" smtClean="0"/>
          </a:p>
          <a:p>
            <a:pPr algn="just"/>
            <a:r>
              <a:rPr lang="pt-BR" dirty="0" smtClean="0"/>
              <a:t>Modelo </a:t>
            </a:r>
            <a:r>
              <a:rPr lang="pt-BR" dirty="0"/>
              <a:t>conceitual de um sistema é </a:t>
            </a:r>
            <a:r>
              <a:rPr lang="pt-BR" dirty="0" smtClean="0"/>
              <a:t>composto </a:t>
            </a:r>
            <a:r>
              <a:rPr lang="pt-BR" dirty="0"/>
              <a:t>de vários modelos, cada um deles enfocando uma perspectiva diferente, mas guardando alguma relação com outros modelos. </a:t>
            </a:r>
            <a:r>
              <a:rPr lang="pt-BR" dirty="0" smtClean="0"/>
              <a:t>Podem </a:t>
            </a:r>
            <a:r>
              <a:rPr lang="pt-BR" dirty="0"/>
              <a:t>ser agrupados em duas grandes categorias</a:t>
            </a:r>
            <a:r>
              <a:rPr lang="pt-BR" dirty="0" smtClean="0"/>
              <a:t>:</a:t>
            </a:r>
          </a:p>
          <a:p>
            <a:pPr algn="just"/>
            <a:r>
              <a:rPr lang="pt-BR" dirty="0" smtClean="0"/>
              <a:t>1)Modelos Estruturais: </a:t>
            </a:r>
            <a:r>
              <a:rPr lang="pt-BR" dirty="0"/>
              <a:t>procuram capturar os principais conceitos do domínio, suas relações e propriedades, que são relevantes para o </a:t>
            </a:r>
            <a:r>
              <a:rPr lang="pt-BR" dirty="0" smtClean="0"/>
              <a:t>sistema. </a:t>
            </a:r>
            <a:r>
              <a:rPr lang="pt-BR" dirty="0"/>
              <a:t>Abstração é um mecanismo chave e a definição do que é relevante é definido com base no propósito do sistema. </a:t>
            </a:r>
            <a:r>
              <a:rPr lang="pt-BR" dirty="0" smtClean="0"/>
              <a:t>Destacam-se: </a:t>
            </a:r>
            <a:r>
              <a:rPr lang="pt-BR" dirty="0"/>
              <a:t>Modelo de Entidades e Relacionamentos e o Diagrama de Classes na Orientação a Objetos.</a:t>
            </a:r>
            <a:endParaRPr lang="pt-BR" dirty="0" smtClean="0"/>
          </a:p>
          <a:p>
            <a:pPr algn="just"/>
            <a:r>
              <a:rPr lang="pt-BR" dirty="0" smtClean="0"/>
              <a:t>2)Modelos Comportamentais: </a:t>
            </a:r>
            <a:r>
              <a:rPr lang="pt-BR" dirty="0"/>
              <a:t>especificam as ações que o sistema pode realizar e as mudanças válidas no estado do domínio. </a:t>
            </a:r>
            <a:r>
              <a:rPr lang="pt-BR" dirty="0" smtClean="0"/>
              <a:t>São: </a:t>
            </a:r>
            <a:r>
              <a:rPr lang="pt-BR" dirty="0"/>
              <a:t>Modelos de Casos de Uso e Modelos </a:t>
            </a:r>
            <a:r>
              <a:rPr lang="pt-BR" dirty="0" smtClean="0"/>
              <a:t>Dinâmicos (Diagramas </a:t>
            </a:r>
            <a:r>
              <a:rPr lang="pt-BR" dirty="0"/>
              <a:t>de Transição de Estados e Diagramas de </a:t>
            </a:r>
            <a:r>
              <a:rPr lang="pt-BR" dirty="0" smtClean="0"/>
              <a:t>Interação)</a:t>
            </a:r>
            <a:endParaRPr lang="pt-PT" altLang="pt-BR" dirty="0" smtClean="0"/>
          </a:p>
        </p:txBody>
      </p:sp>
    </p:spTree>
    <p:extLst>
      <p:ext uri="{BB962C8B-B14F-4D97-AF65-F5344CB8AC3E}">
        <p14:creationId xmlns:p14="http://schemas.microsoft.com/office/powerpoint/2010/main" val="37280177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13</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r>
              <a:rPr lang="pt-BR" dirty="0" smtClean="0"/>
              <a:t>Técnica de levantamento de Requisitos - Observação</a:t>
            </a:r>
          </a:p>
          <a:p>
            <a:pPr algn="l"/>
            <a:r>
              <a:rPr lang="pt-BR" dirty="0" smtClean="0"/>
              <a:t>O engenheiro </a:t>
            </a:r>
            <a:r>
              <a:rPr lang="pt-BR" dirty="0"/>
              <a:t>de </a:t>
            </a:r>
            <a:r>
              <a:rPr lang="pt-BR" dirty="0" smtClean="0"/>
              <a:t>requisitos, </a:t>
            </a:r>
            <a:r>
              <a:rPr lang="pt-BR" dirty="0"/>
              <a:t>responsável pela </a:t>
            </a:r>
            <a:r>
              <a:rPr lang="pt-BR" dirty="0" err="1"/>
              <a:t>elicitação</a:t>
            </a:r>
            <a:r>
              <a:rPr lang="pt-BR" dirty="0"/>
              <a:t> dos </a:t>
            </a:r>
            <a:r>
              <a:rPr lang="pt-BR" dirty="0" smtClean="0"/>
              <a:t>dados, deve </a:t>
            </a:r>
            <a:r>
              <a:rPr lang="pt-BR" dirty="0"/>
              <a:t>ser inserido no contexto da organização </a:t>
            </a:r>
            <a:r>
              <a:rPr lang="pt-BR" dirty="0" smtClean="0"/>
              <a:t>estudada, especificamente </a:t>
            </a:r>
            <a:r>
              <a:rPr lang="pt-BR" dirty="0"/>
              <a:t>nos setores e departamentos que utilizarão o serviço ou produto a ser desenvolvido. O analista deverá estar atento a todas as atividades dos envolvidos e </a:t>
            </a:r>
            <a:r>
              <a:rPr lang="pt-BR" dirty="0" smtClean="0"/>
              <a:t>deve inseri-las na </a:t>
            </a:r>
            <a:r>
              <a:rPr lang="pt-BR" dirty="0"/>
              <a:t>descrição do requisito.</a:t>
            </a:r>
          </a:p>
          <a:p>
            <a:pPr algn="l"/>
            <a:r>
              <a:rPr lang="pt-BR" dirty="0"/>
              <a:t>Em alguns casos essa técnica é extremamente eficiente, pois acontece alguns casos em que os </a:t>
            </a:r>
            <a:r>
              <a:rPr lang="pt-BR" dirty="0" err="1"/>
              <a:t>stakeholders</a:t>
            </a:r>
            <a:r>
              <a:rPr lang="pt-BR" dirty="0"/>
              <a:t> não conseguem expressar e/ou descreverem determinadas ações. Essas ações podem ser visualizadas pelos analistas e inseridas na descrição do requisito.</a:t>
            </a:r>
          </a:p>
          <a:p>
            <a:pPr algn="l"/>
            <a:r>
              <a:rPr lang="pt-BR" dirty="0" smtClean="0"/>
              <a:t>De certa forma, não existe nenhuma técnica auxiliar. Basicamente consiste na observação </a:t>
            </a:r>
            <a:r>
              <a:rPr lang="pt-BR" dirty="0"/>
              <a:t>e detalhamento dos processos. </a:t>
            </a:r>
          </a:p>
          <a:p>
            <a:pPr algn="l"/>
            <a:r>
              <a:rPr lang="pt-BR" dirty="0" smtClean="0"/>
              <a:t>Críticas da </a:t>
            </a:r>
            <a:r>
              <a:rPr lang="pt-BR" dirty="0"/>
              <a:t>técnica </a:t>
            </a:r>
            <a:r>
              <a:rPr lang="pt-BR" dirty="0" smtClean="0"/>
              <a:t>Observação: </a:t>
            </a:r>
          </a:p>
          <a:p>
            <a:pPr algn="l"/>
            <a:r>
              <a:rPr lang="pt-BR" dirty="0" smtClean="0"/>
              <a:t>	pessoas </a:t>
            </a:r>
            <a:r>
              <a:rPr lang="pt-BR" dirty="0"/>
              <a:t>podem alterar seus comportamentos ao saberem que o ambiente está em observação. </a:t>
            </a:r>
            <a:endParaRPr lang="pt-BR" dirty="0" smtClean="0"/>
          </a:p>
          <a:p>
            <a:pPr algn="l"/>
            <a:r>
              <a:rPr lang="pt-BR" dirty="0"/>
              <a:t>	</a:t>
            </a:r>
            <a:r>
              <a:rPr lang="pt-BR" dirty="0" smtClean="0"/>
              <a:t>analista </a:t>
            </a:r>
            <a:r>
              <a:rPr lang="pt-BR" dirty="0"/>
              <a:t>observador pode se envolver no contexto da empresa e prover uma observação distorcida do ambiente</a:t>
            </a:r>
            <a:r>
              <a:rPr lang="pt-BR" dirty="0" smtClean="0"/>
              <a:t>.</a:t>
            </a:r>
            <a:endParaRPr lang="pt-BR" dirty="0"/>
          </a:p>
        </p:txBody>
      </p:sp>
    </p:spTree>
    <p:extLst>
      <p:ext uri="{BB962C8B-B14F-4D97-AF65-F5344CB8AC3E}">
        <p14:creationId xmlns:p14="http://schemas.microsoft.com/office/powerpoint/2010/main" val="18020844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14</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 y="1143000"/>
            <a:ext cx="12192000" cy="5715000"/>
          </a:xfrm>
        </p:spPr>
        <p:txBody>
          <a:bodyPr>
            <a:normAutofit fontScale="92500" lnSpcReduction="10000"/>
          </a:bodyPr>
          <a:lstStyle/>
          <a:p>
            <a:r>
              <a:rPr lang="pt-BR" b="1" dirty="0" smtClean="0"/>
              <a:t>Entrevista</a:t>
            </a:r>
            <a:endParaRPr lang="pt-BR" dirty="0"/>
          </a:p>
          <a:p>
            <a:pPr algn="l"/>
            <a:r>
              <a:rPr lang="pt-BR" dirty="0"/>
              <a:t>C</a:t>
            </a:r>
            <a:r>
              <a:rPr lang="pt-BR" dirty="0" smtClean="0"/>
              <a:t>onsiste </a:t>
            </a:r>
            <a:r>
              <a:rPr lang="pt-BR" dirty="0"/>
              <a:t>em reuniões com os </a:t>
            </a:r>
            <a:r>
              <a:rPr lang="pt-BR" dirty="0" err="1"/>
              <a:t>stakeholders</a:t>
            </a:r>
            <a:r>
              <a:rPr lang="pt-BR" dirty="0"/>
              <a:t>, formais ou informais, </a:t>
            </a:r>
            <a:r>
              <a:rPr lang="pt-BR" dirty="0" smtClean="0"/>
              <a:t>colocando </a:t>
            </a:r>
            <a:r>
              <a:rPr lang="pt-BR" dirty="0"/>
              <a:t>questões formuladas pela equipe de engenharia de requisitos sobre o processo de trabalho atual do cliente e sobre o sistema que será desenvolvido. </a:t>
            </a:r>
            <a:endParaRPr lang="pt-BR" dirty="0" smtClean="0"/>
          </a:p>
          <a:p>
            <a:pPr algn="l"/>
            <a:r>
              <a:rPr lang="pt-BR" dirty="0" smtClean="0"/>
              <a:t>A </a:t>
            </a:r>
            <a:r>
              <a:rPr lang="pt-BR" dirty="0"/>
              <a:t>Entrevista está presente na maioria dos processos de elaboração de </a:t>
            </a:r>
            <a:r>
              <a:rPr lang="pt-BR" dirty="0" smtClean="0"/>
              <a:t>requisitos. A </a:t>
            </a:r>
            <a:r>
              <a:rPr lang="pt-BR" dirty="0"/>
              <a:t>partir </a:t>
            </a:r>
            <a:r>
              <a:rPr lang="pt-BR" dirty="0" smtClean="0"/>
              <a:t>dela </a:t>
            </a:r>
            <a:r>
              <a:rPr lang="pt-BR" dirty="0"/>
              <a:t>poderá surgir a necessidade da utilização de outras técnicas.</a:t>
            </a:r>
          </a:p>
          <a:p>
            <a:pPr algn="l"/>
            <a:r>
              <a:rPr lang="pt-BR" dirty="0" smtClean="0"/>
              <a:t>Torna </a:t>
            </a:r>
            <a:r>
              <a:rPr lang="pt-BR" dirty="0"/>
              <a:t>possível a elaboração de um esboço de prova e confirmação por parte do </a:t>
            </a:r>
            <a:r>
              <a:rPr lang="pt-BR" dirty="0" err="1"/>
              <a:t>stakeholder</a:t>
            </a:r>
            <a:r>
              <a:rPr lang="pt-BR" dirty="0"/>
              <a:t> para </a:t>
            </a:r>
            <a:r>
              <a:rPr lang="pt-BR" dirty="0" smtClean="0"/>
              <a:t>que o </a:t>
            </a:r>
            <a:r>
              <a:rPr lang="pt-BR" dirty="0"/>
              <a:t>processo de </a:t>
            </a:r>
            <a:r>
              <a:rPr lang="pt-BR" dirty="0" err="1"/>
              <a:t>elicitação</a:t>
            </a:r>
            <a:r>
              <a:rPr lang="pt-BR" dirty="0"/>
              <a:t> de requisitos seja continuado.</a:t>
            </a:r>
          </a:p>
          <a:p>
            <a:pPr algn="l"/>
            <a:endParaRPr lang="pt-BR" dirty="0" smtClean="0"/>
          </a:p>
          <a:p>
            <a:pPr algn="l"/>
            <a:r>
              <a:rPr lang="pt-BR" dirty="0" smtClean="0"/>
              <a:t>Existem </a:t>
            </a:r>
            <a:r>
              <a:rPr lang="pt-BR" dirty="0"/>
              <a:t>basicamente dois tipos de Entrevistas:</a:t>
            </a:r>
          </a:p>
          <a:p>
            <a:pPr algn="l"/>
            <a:r>
              <a:rPr lang="pt-BR" dirty="0"/>
              <a:t>F</a:t>
            </a:r>
            <a:r>
              <a:rPr lang="pt-BR" dirty="0" smtClean="0"/>
              <a:t>echadas: </a:t>
            </a:r>
            <a:r>
              <a:rPr lang="pt-BR" dirty="0" err="1"/>
              <a:t>stakeholder</a:t>
            </a:r>
            <a:r>
              <a:rPr lang="pt-BR" dirty="0"/>
              <a:t> responde um conjunto predefinido </a:t>
            </a:r>
            <a:r>
              <a:rPr lang="pt-BR" dirty="0" smtClean="0"/>
              <a:t>de perguntas.</a:t>
            </a:r>
            <a:endParaRPr lang="pt-BR" dirty="0"/>
          </a:p>
          <a:p>
            <a:pPr algn="l"/>
            <a:r>
              <a:rPr lang="pt-BR" dirty="0" smtClean="0"/>
              <a:t>Abertas: </a:t>
            </a:r>
            <a:r>
              <a:rPr lang="pt-BR" dirty="0"/>
              <a:t>exploração de vários tópicos com os </a:t>
            </a:r>
            <a:r>
              <a:rPr lang="pt-BR" dirty="0" err="1"/>
              <a:t>stakeholders</a:t>
            </a:r>
            <a:r>
              <a:rPr lang="pt-BR" dirty="0"/>
              <a:t>, podendo ser entendidos outros assuntos que uma Entrevista fechada não </a:t>
            </a:r>
            <a:r>
              <a:rPr lang="pt-BR" dirty="0" smtClean="0"/>
              <a:t>abordaria. Não </a:t>
            </a:r>
            <a:r>
              <a:rPr lang="pt-BR" dirty="0"/>
              <a:t>existe um conjunto de perguntas predefinido.</a:t>
            </a:r>
          </a:p>
          <a:p>
            <a:pPr algn="l"/>
            <a:r>
              <a:rPr lang="pt-BR" dirty="0" smtClean="0"/>
              <a:t>Entrevistas: são </a:t>
            </a:r>
            <a:r>
              <a:rPr lang="pt-BR" dirty="0"/>
              <a:t>mistura </a:t>
            </a:r>
            <a:r>
              <a:rPr lang="pt-BR" dirty="0" smtClean="0"/>
              <a:t>de </a:t>
            </a:r>
            <a:r>
              <a:rPr lang="pt-BR" dirty="0"/>
              <a:t>Entrevistas Fechadas e</a:t>
            </a:r>
            <a:r>
              <a:rPr lang="pt-BR" dirty="0" smtClean="0"/>
              <a:t> Abertas. Aplicam-se </a:t>
            </a:r>
            <a:r>
              <a:rPr lang="pt-BR" dirty="0"/>
              <a:t>algumas questões fechadas para os </a:t>
            </a:r>
            <a:r>
              <a:rPr lang="pt-BR" dirty="0" err="1"/>
              <a:t>stakeholderss</a:t>
            </a:r>
            <a:r>
              <a:rPr lang="pt-BR" dirty="0"/>
              <a:t> como ponto de partida para discussões sobre outros </a:t>
            </a:r>
            <a:r>
              <a:rPr lang="pt-BR" dirty="0" smtClean="0"/>
              <a:t>pontos. Discussões </a:t>
            </a:r>
            <a:r>
              <a:rPr lang="pt-BR" dirty="0"/>
              <a:t>somente abertas tem a tendência de não funcionar bem, por isso a necessidade de se começar com uma entrevista fechada e posteriormente partir para demais discussões nas entrevistas abertas</a:t>
            </a:r>
            <a:r>
              <a:rPr lang="pt-BR" dirty="0" smtClean="0"/>
              <a:t>.</a:t>
            </a:r>
            <a:endParaRPr lang="pt-BR" dirty="0"/>
          </a:p>
        </p:txBody>
      </p:sp>
    </p:spTree>
    <p:extLst>
      <p:ext uri="{BB962C8B-B14F-4D97-AF65-F5344CB8AC3E}">
        <p14:creationId xmlns:p14="http://schemas.microsoft.com/office/powerpoint/2010/main" val="35624304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15</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fontScale="92500"/>
          </a:bodyPr>
          <a:lstStyle/>
          <a:p>
            <a:r>
              <a:rPr lang="pt-BR" b="1" dirty="0"/>
              <a:t>Análise de protocolo</a:t>
            </a:r>
            <a:endParaRPr lang="pt-BR" dirty="0"/>
          </a:p>
          <a:p>
            <a:pPr algn="l"/>
            <a:r>
              <a:rPr lang="pt-BR" dirty="0"/>
              <a:t>A técnica </a:t>
            </a:r>
            <a:r>
              <a:rPr lang="pt-BR" dirty="0" smtClean="0"/>
              <a:t>pede </a:t>
            </a:r>
            <a:r>
              <a:rPr lang="pt-BR" dirty="0"/>
              <a:t>ao </a:t>
            </a:r>
            <a:r>
              <a:rPr lang="pt-BR" dirty="0" err="1"/>
              <a:t>stakeholder</a:t>
            </a:r>
            <a:r>
              <a:rPr lang="pt-BR" dirty="0"/>
              <a:t> envolvido em determinado </a:t>
            </a:r>
            <a:r>
              <a:rPr lang="pt-BR" dirty="0" smtClean="0"/>
              <a:t>processo </a:t>
            </a:r>
            <a:r>
              <a:rPr lang="pt-BR" dirty="0"/>
              <a:t>para executar a tarefa e ao mesmo </a:t>
            </a:r>
            <a:r>
              <a:rPr lang="pt-BR" dirty="0" smtClean="0"/>
              <a:t>tempo descrevê-lo, inserindo </a:t>
            </a:r>
            <a:r>
              <a:rPr lang="pt-BR" dirty="0"/>
              <a:t>o que </a:t>
            </a:r>
            <a:r>
              <a:rPr lang="pt-BR" dirty="0" smtClean="0"/>
              <a:t>pensa. </a:t>
            </a:r>
          </a:p>
          <a:p>
            <a:pPr algn="l"/>
            <a:r>
              <a:rPr lang="pt-BR" dirty="0" smtClean="0"/>
              <a:t>Análise </a:t>
            </a:r>
            <a:r>
              <a:rPr lang="pt-BR" dirty="0"/>
              <a:t>de </a:t>
            </a:r>
            <a:r>
              <a:rPr lang="pt-BR" dirty="0" smtClean="0"/>
              <a:t>protocolos</a:t>
            </a:r>
            <a:r>
              <a:rPr lang="pt-BR" dirty="0"/>
              <a:t> </a:t>
            </a:r>
            <a:r>
              <a:rPr lang="pt-BR" dirty="0" smtClean="0"/>
              <a:t>e Entrevista estão sujeitas as </a:t>
            </a:r>
            <a:r>
              <a:rPr lang="pt-BR" dirty="0"/>
              <a:t>más interpretações na descrição do </a:t>
            </a:r>
            <a:r>
              <a:rPr lang="pt-BR" dirty="0" smtClean="0"/>
              <a:t>processo. </a:t>
            </a:r>
          </a:p>
          <a:p>
            <a:pPr algn="l"/>
            <a:r>
              <a:rPr lang="pt-BR" dirty="0" smtClean="0"/>
              <a:t>É </a:t>
            </a:r>
            <a:r>
              <a:rPr lang="pt-BR" dirty="0"/>
              <a:t>uma das técnicas menos recomendadas, devido ao produto final prover poucas informações confiáveis. Ou seja, o usuário envolvido no processo não tem qualquer modelo mental de como será a estrutura do sistema, restringindo muito a aplicação desta técnica.</a:t>
            </a:r>
          </a:p>
          <a:p>
            <a:pPr algn="l"/>
            <a:r>
              <a:rPr lang="pt-BR" dirty="0" smtClean="0"/>
              <a:t>Resumindo: </a:t>
            </a:r>
            <a:r>
              <a:rPr lang="pt-BR" dirty="0"/>
              <a:t>“Os clientes têm conhecimento </a:t>
            </a:r>
            <a:r>
              <a:rPr lang="pt-BR" dirty="0" smtClean="0"/>
              <a:t>dos </a:t>
            </a:r>
            <a:r>
              <a:rPr lang="pt-BR" dirty="0"/>
              <a:t>negócios e necessidades </a:t>
            </a:r>
            <a:r>
              <a:rPr lang="pt-BR" dirty="0" smtClean="0"/>
              <a:t>organizacionais. O </a:t>
            </a:r>
            <a:r>
              <a:rPr lang="pt-BR" dirty="0"/>
              <a:t>time de requisitos tem conhecimento </a:t>
            </a:r>
            <a:r>
              <a:rPr lang="pt-BR" dirty="0" smtClean="0"/>
              <a:t>das </a:t>
            </a:r>
            <a:r>
              <a:rPr lang="pt-BR" dirty="0"/>
              <a:t>possibilidades técnicas”.</a:t>
            </a:r>
          </a:p>
          <a:p>
            <a:r>
              <a:rPr lang="pt-BR" b="1" dirty="0"/>
              <a:t>JAD (Joint </a:t>
            </a:r>
            <a:r>
              <a:rPr lang="pt-BR" b="1" dirty="0" err="1"/>
              <a:t>Application</a:t>
            </a:r>
            <a:r>
              <a:rPr lang="pt-BR" b="1" dirty="0"/>
              <a:t> </a:t>
            </a:r>
            <a:r>
              <a:rPr lang="pt-BR" b="1" dirty="0" err="1"/>
              <a:t>Development</a:t>
            </a:r>
            <a:r>
              <a:rPr lang="pt-BR" b="1" dirty="0"/>
              <a:t>)</a:t>
            </a:r>
          </a:p>
          <a:p>
            <a:pPr algn="l"/>
            <a:r>
              <a:rPr lang="pt-BR" dirty="0"/>
              <a:t>T</a:t>
            </a:r>
            <a:r>
              <a:rPr lang="pt-BR" dirty="0" smtClean="0"/>
              <a:t>écnica </a:t>
            </a:r>
            <a:r>
              <a:rPr lang="pt-BR" dirty="0"/>
              <a:t>para promover cooperação, entendimento e trabalho em grupo entre os usuários desenvolvedores.</a:t>
            </a:r>
          </a:p>
          <a:p>
            <a:pPr algn="l"/>
            <a:r>
              <a:rPr lang="pt-BR" dirty="0"/>
              <a:t>D</a:t>
            </a:r>
            <a:r>
              <a:rPr lang="pt-BR" dirty="0" smtClean="0"/>
              <a:t>esenvolvida </a:t>
            </a:r>
            <a:r>
              <a:rPr lang="pt-BR" dirty="0"/>
              <a:t>pela IBM em 1977 no </a:t>
            </a:r>
            <a:r>
              <a:rPr lang="pt-BR" dirty="0" smtClean="0"/>
              <a:t>Canadá: </a:t>
            </a:r>
            <a:r>
              <a:rPr lang="pt-BR" dirty="0"/>
              <a:t>ferramenta de visão compartilhada, </a:t>
            </a:r>
            <a:r>
              <a:rPr lang="pt-BR" dirty="0" smtClean="0"/>
              <a:t>pelos usuários</a:t>
            </a:r>
            <a:r>
              <a:rPr lang="pt-BR" dirty="0"/>
              <a:t> </a:t>
            </a:r>
            <a:r>
              <a:rPr lang="pt-BR" dirty="0" smtClean="0"/>
              <a:t>e </a:t>
            </a:r>
            <a:r>
              <a:rPr lang="pt-BR" dirty="0"/>
              <a:t>desenvolvedores (fornecedores). </a:t>
            </a:r>
            <a:r>
              <a:rPr lang="pt-BR" dirty="0" smtClean="0"/>
              <a:t>Na </a:t>
            </a:r>
            <a:r>
              <a:rPr lang="pt-BR" dirty="0"/>
              <a:t>sua </a:t>
            </a:r>
            <a:r>
              <a:rPr lang="pt-BR" dirty="0" smtClean="0"/>
              <a:t>utilização, </a:t>
            </a:r>
            <a:r>
              <a:rPr lang="pt-BR" dirty="0"/>
              <a:t>os desenvolvedores ajudam os usuários a formular problemas e explorar </a:t>
            </a:r>
            <a:r>
              <a:rPr lang="pt-BR" dirty="0" smtClean="0"/>
              <a:t>soluções, com </a:t>
            </a:r>
            <a:r>
              <a:rPr lang="pt-BR" dirty="0"/>
              <a:t>sentimento de envolvimento, posse e responsabilidade com o sucesso do produto</a:t>
            </a:r>
            <a:r>
              <a:rPr lang="pt-BR" dirty="0" smtClean="0"/>
              <a:t>.</a:t>
            </a:r>
            <a:endParaRPr lang="pt-BR" dirty="0"/>
          </a:p>
        </p:txBody>
      </p:sp>
    </p:spTree>
    <p:extLst>
      <p:ext uri="{BB962C8B-B14F-4D97-AF65-F5344CB8AC3E}">
        <p14:creationId xmlns:p14="http://schemas.microsoft.com/office/powerpoint/2010/main" val="3908521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16</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l"/>
            <a:r>
              <a:rPr lang="pt-BR" b="1" dirty="0" smtClean="0"/>
              <a:t>A </a:t>
            </a:r>
            <a:r>
              <a:rPr lang="pt-BR" b="1" dirty="0"/>
              <a:t>técnica JAD possui quatro princípios básicos:</a:t>
            </a:r>
            <a:endParaRPr lang="pt-BR" dirty="0"/>
          </a:p>
          <a:p>
            <a:pPr algn="just"/>
            <a:r>
              <a:rPr lang="pt-BR" dirty="0" smtClean="0"/>
              <a:t>1)Dinâmica </a:t>
            </a:r>
            <a:r>
              <a:rPr lang="pt-BR" dirty="0"/>
              <a:t>de grupo: são realizadas reuniões com um líder experiente, analista, usuários e gerentes, para despertar a força e criatividade dos participantes. O resultado final será a determinação dos objetivos e requisitos do sistema;</a:t>
            </a:r>
          </a:p>
          <a:p>
            <a:pPr algn="just"/>
            <a:r>
              <a:rPr lang="pt-BR" dirty="0" smtClean="0"/>
              <a:t>2)Uso </a:t>
            </a:r>
            <a:r>
              <a:rPr lang="pt-BR" dirty="0"/>
              <a:t>de técnicas visuais: para aumentar a comunicação e o entendimento;</a:t>
            </a:r>
          </a:p>
          <a:p>
            <a:pPr algn="just"/>
            <a:r>
              <a:rPr lang="pt-BR" dirty="0" smtClean="0"/>
              <a:t>3)Manutenção </a:t>
            </a:r>
            <a:r>
              <a:rPr lang="pt-BR" dirty="0"/>
              <a:t>do processo organizado e racional: </a:t>
            </a:r>
            <a:r>
              <a:rPr lang="pt-BR" dirty="0" smtClean="0"/>
              <a:t> </a:t>
            </a:r>
            <a:r>
              <a:rPr lang="pt-BR" dirty="0"/>
              <a:t>JAD emprega a análise top </a:t>
            </a:r>
            <a:r>
              <a:rPr lang="pt-BR" dirty="0" err="1"/>
              <a:t>down</a:t>
            </a:r>
            <a:r>
              <a:rPr lang="pt-BR" dirty="0"/>
              <a:t> e atividades bem definidas. </a:t>
            </a:r>
            <a:r>
              <a:rPr lang="pt-BR" dirty="0" smtClean="0"/>
              <a:t>Possibilita </a:t>
            </a:r>
            <a:r>
              <a:rPr lang="pt-BR" dirty="0"/>
              <a:t>a garantia de uma análise completa reduzindo as chances de falhas ou lacunas no projeto e cada nível de detalhe recebe a devida atenção;</a:t>
            </a:r>
          </a:p>
          <a:p>
            <a:pPr algn="just"/>
            <a:r>
              <a:rPr lang="pt-BR" dirty="0" smtClean="0"/>
              <a:t>4)Utilização </a:t>
            </a:r>
            <a:r>
              <a:rPr lang="pt-BR" dirty="0"/>
              <a:t>de documentação padrão: preenchida e assinada por todos os participantes. Este documento garante a qualidade esperada do projeto e promove a confiança dos participantes</a:t>
            </a:r>
            <a:r>
              <a:rPr lang="pt-BR" dirty="0" smtClean="0"/>
              <a:t>.</a:t>
            </a:r>
            <a:endParaRPr lang="pt-BR" dirty="0"/>
          </a:p>
        </p:txBody>
      </p:sp>
    </p:spTree>
    <p:extLst>
      <p:ext uri="{BB962C8B-B14F-4D97-AF65-F5344CB8AC3E}">
        <p14:creationId xmlns:p14="http://schemas.microsoft.com/office/powerpoint/2010/main" val="35462941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17</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smtClean="0"/>
              <a:t>A </a:t>
            </a:r>
            <a:r>
              <a:rPr lang="pt-BR" dirty="0"/>
              <a:t>técnica JAD é composta de duas etapas principais: </a:t>
            </a:r>
            <a:endParaRPr lang="pt-BR" dirty="0" smtClean="0"/>
          </a:p>
          <a:p>
            <a:pPr algn="just"/>
            <a:r>
              <a:rPr lang="pt-BR" dirty="0" smtClean="0"/>
              <a:t>1)Planejamento: </a:t>
            </a:r>
            <a:r>
              <a:rPr lang="pt-BR" dirty="0" err="1"/>
              <a:t>elicitar</a:t>
            </a:r>
            <a:r>
              <a:rPr lang="pt-BR" dirty="0"/>
              <a:t> e especificar os requisitos</a:t>
            </a:r>
            <a:r>
              <a:rPr lang="pt-BR" dirty="0" smtClean="0"/>
              <a:t>;</a:t>
            </a:r>
          </a:p>
          <a:p>
            <a:pPr algn="just"/>
            <a:r>
              <a:rPr lang="pt-BR" dirty="0" smtClean="0"/>
              <a:t>2)Projeto</a:t>
            </a:r>
            <a:r>
              <a:rPr lang="pt-BR" dirty="0"/>
              <a:t>:</a:t>
            </a:r>
            <a:r>
              <a:rPr lang="pt-BR" dirty="0" smtClean="0"/>
              <a:t> </a:t>
            </a:r>
            <a:r>
              <a:rPr lang="pt-BR" dirty="0"/>
              <a:t>em que se lida com o projeto de software. </a:t>
            </a:r>
            <a:endParaRPr lang="pt-BR" dirty="0" smtClean="0"/>
          </a:p>
          <a:p>
            <a:pPr algn="just"/>
            <a:endParaRPr lang="pt-BR" dirty="0"/>
          </a:p>
          <a:p>
            <a:pPr algn="just"/>
            <a:r>
              <a:rPr lang="pt-BR" dirty="0" smtClean="0"/>
              <a:t>Cada </a:t>
            </a:r>
            <a:r>
              <a:rPr lang="pt-BR" dirty="0"/>
              <a:t>etapa consiste em três fases: adaptação, sessão e finalização.</a:t>
            </a:r>
          </a:p>
          <a:p>
            <a:pPr algn="just"/>
            <a:r>
              <a:rPr lang="pt-BR" dirty="0" smtClean="0"/>
              <a:t>1)Adaptação</a:t>
            </a:r>
            <a:r>
              <a:rPr lang="pt-BR" dirty="0"/>
              <a:t>: Organização da equipe, preparação do material, isto é, preparação para a sessão.</a:t>
            </a:r>
          </a:p>
          <a:p>
            <a:pPr algn="just"/>
            <a:r>
              <a:rPr lang="pt-BR" dirty="0" smtClean="0"/>
              <a:t>2) Sessão</a:t>
            </a:r>
            <a:r>
              <a:rPr lang="pt-BR" dirty="0"/>
              <a:t>: Encontros estruturados para extração e documentação dos requisitos, composto de desenvolvedores e usuários</a:t>
            </a:r>
            <a:r>
              <a:rPr lang="pt-BR" dirty="0" smtClean="0"/>
              <a:t>.</a:t>
            </a:r>
          </a:p>
          <a:p>
            <a:pPr algn="just"/>
            <a:r>
              <a:rPr lang="pt-BR" dirty="0" smtClean="0"/>
              <a:t>3)Finalização</a:t>
            </a:r>
            <a:r>
              <a:rPr lang="pt-BR" dirty="0"/>
              <a:t>: Converter os requisitos da sessão em um documento final.</a:t>
            </a:r>
          </a:p>
          <a:p>
            <a:pPr algn="just"/>
            <a:endParaRPr lang="pt-BR" dirty="0"/>
          </a:p>
        </p:txBody>
      </p:sp>
    </p:spTree>
    <p:extLst>
      <p:ext uri="{BB962C8B-B14F-4D97-AF65-F5344CB8AC3E}">
        <p14:creationId xmlns:p14="http://schemas.microsoft.com/office/powerpoint/2010/main" val="204119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fontScale="92500"/>
          </a:bodyPr>
          <a:lstStyle/>
          <a:p>
            <a:pPr algn="just"/>
            <a:r>
              <a:rPr lang="pt-BR" dirty="0" smtClean="0"/>
              <a:t>Participantes (nem </a:t>
            </a:r>
            <a:r>
              <a:rPr lang="pt-BR" dirty="0"/>
              <a:t>todos participem de todas as </a:t>
            </a:r>
            <a:r>
              <a:rPr lang="pt-BR" dirty="0" smtClean="0"/>
              <a:t>fases):</a:t>
            </a:r>
            <a:endParaRPr lang="pt-BR" dirty="0"/>
          </a:p>
          <a:p>
            <a:pPr algn="just"/>
            <a:r>
              <a:rPr lang="pt-BR" dirty="0" smtClean="0"/>
              <a:t>1)Líder </a:t>
            </a:r>
            <a:r>
              <a:rPr lang="pt-BR" dirty="0"/>
              <a:t>da sessão: </a:t>
            </a:r>
            <a:r>
              <a:rPr lang="pt-BR" dirty="0" smtClean="0"/>
              <a:t>responsável </a:t>
            </a:r>
            <a:r>
              <a:rPr lang="pt-BR" dirty="0"/>
              <a:t>pelo sucesso do esforço</a:t>
            </a:r>
            <a:r>
              <a:rPr lang="pt-BR" dirty="0" smtClean="0"/>
              <a:t>, </a:t>
            </a:r>
            <a:r>
              <a:rPr lang="pt-BR" dirty="0"/>
              <a:t>o facilitador dos encontros. Deve ser competente</a:t>
            </a:r>
            <a:r>
              <a:rPr lang="pt-BR" dirty="0" smtClean="0"/>
              <a:t>, </a:t>
            </a:r>
            <a:r>
              <a:rPr lang="pt-BR" dirty="0"/>
              <a:t>bom relacionamento pessoal e qualidades gerenciais de liderança;</a:t>
            </a:r>
          </a:p>
          <a:p>
            <a:pPr algn="just"/>
            <a:r>
              <a:rPr lang="pt-BR" dirty="0" smtClean="0"/>
              <a:t>2)Engenheiro </a:t>
            </a:r>
            <a:r>
              <a:rPr lang="pt-BR" dirty="0"/>
              <a:t>de requisitos: </a:t>
            </a:r>
            <a:r>
              <a:rPr lang="pt-BR" dirty="0" smtClean="0"/>
              <a:t>participante responsável </a:t>
            </a:r>
            <a:r>
              <a:rPr lang="pt-BR" dirty="0"/>
              <a:t>pela produção dos documentos de saída das sessões JAD. </a:t>
            </a:r>
            <a:r>
              <a:rPr lang="pt-BR" dirty="0" smtClean="0"/>
              <a:t>Desenvolvedor </a:t>
            </a:r>
            <a:r>
              <a:rPr lang="pt-BR" dirty="0"/>
              <a:t>experiente para entender as questões técnicas e detalhes que são discutidos durante as sessões e ter habilidade de organizar ideias e expressá-las com clareza;</a:t>
            </a:r>
          </a:p>
          <a:p>
            <a:pPr algn="just"/>
            <a:r>
              <a:rPr lang="pt-BR" dirty="0" smtClean="0"/>
              <a:t>3)Executor</a:t>
            </a:r>
            <a:r>
              <a:rPr lang="pt-BR" dirty="0"/>
              <a:t>: </a:t>
            </a:r>
            <a:r>
              <a:rPr lang="pt-BR" dirty="0" smtClean="0"/>
              <a:t>responsável pela construção do produto. Fornece </a:t>
            </a:r>
            <a:r>
              <a:rPr lang="pt-BR" dirty="0"/>
              <a:t>aos </a:t>
            </a:r>
            <a:r>
              <a:rPr lang="pt-BR" dirty="0" smtClean="0"/>
              <a:t>participantes </a:t>
            </a:r>
            <a:r>
              <a:rPr lang="pt-BR" dirty="0"/>
              <a:t>visão geral dos pontos estratégicos do produto de software a ser construído e </a:t>
            </a:r>
            <a:r>
              <a:rPr lang="pt-BR" dirty="0" smtClean="0"/>
              <a:t>toma </a:t>
            </a:r>
            <a:r>
              <a:rPr lang="pt-BR" dirty="0"/>
              <a:t>decisões </a:t>
            </a:r>
            <a:r>
              <a:rPr lang="pt-BR" dirty="0" smtClean="0"/>
              <a:t>executivas (alocação </a:t>
            </a:r>
            <a:r>
              <a:rPr lang="pt-BR" dirty="0"/>
              <a:t>de recursos, que podem afetar os requisitos e o projeto do novo </a:t>
            </a:r>
            <a:r>
              <a:rPr lang="pt-BR" dirty="0" smtClean="0"/>
              <a:t>produto);</a:t>
            </a:r>
            <a:endParaRPr lang="pt-BR" dirty="0"/>
          </a:p>
          <a:p>
            <a:pPr algn="just"/>
            <a:r>
              <a:rPr lang="pt-BR" dirty="0" smtClean="0"/>
              <a:t>4)Representantes </a:t>
            </a:r>
            <a:r>
              <a:rPr lang="pt-BR" dirty="0"/>
              <a:t>dos usuários: </a:t>
            </a:r>
            <a:r>
              <a:rPr lang="pt-BR" dirty="0" smtClean="0"/>
              <a:t>pessoas </a:t>
            </a:r>
            <a:r>
              <a:rPr lang="pt-BR" dirty="0"/>
              <a:t>na empresa que irão utilizar o produto de software. </a:t>
            </a:r>
            <a:r>
              <a:rPr lang="pt-BR" dirty="0" smtClean="0"/>
              <a:t>Na </a:t>
            </a:r>
            <a:r>
              <a:rPr lang="pt-BR" dirty="0"/>
              <a:t>extração de requisitos, </a:t>
            </a:r>
            <a:r>
              <a:rPr lang="pt-BR" dirty="0" smtClean="0"/>
              <a:t>são gerentes </a:t>
            </a:r>
            <a:r>
              <a:rPr lang="pt-BR" dirty="0"/>
              <a:t>ou </a:t>
            </a:r>
            <a:r>
              <a:rPr lang="pt-BR" dirty="0" err="1"/>
              <a:t>pessoas-chave</a:t>
            </a:r>
            <a:r>
              <a:rPr lang="pt-BR" dirty="0"/>
              <a:t> </a:t>
            </a:r>
            <a:r>
              <a:rPr lang="pt-BR" dirty="0" smtClean="0"/>
              <a:t>da </a:t>
            </a:r>
            <a:r>
              <a:rPr lang="pt-BR" dirty="0"/>
              <a:t>empresa </a:t>
            </a:r>
            <a:r>
              <a:rPr lang="pt-BR" dirty="0" smtClean="0"/>
              <a:t>com visão </a:t>
            </a:r>
            <a:r>
              <a:rPr lang="pt-BR" dirty="0"/>
              <a:t>do todo e de como ele será usado;</a:t>
            </a:r>
          </a:p>
          <a:p>
            <a:pPr algn="just"/>
            <a:r>
              <a:rPr lang="pt-BR" dirty="0" smtClean="0"/>
              <a:t>5)Representantes </a:t>
            </a:r>
            <a:r>
              <a:rPr lang="pt-BR" dirty="0"/>
              <a:t>de produtos de software: </a:t>
            </a:r>
            <a:r>
              <a:rPr lang="pt-BR" dirty="0" smtClean="0"/>
              <a:t>pessoas familiarizadas </a:t>
            </a:r>
            <a:r>
              <a:rPr lang="pt-BR" dirty="0"/>
              <a:t>com as capacidades dos produtos de software. </a:t>
            </a:r>
            <a:r>
              <a:rPr lang="pt-BR" dirty="0" smtClean="0"/>
              <a:t>Ajudam </a:t>
            </a:r>
            <a:r>
              <a:rPr lang="pt-BR" dirty="0"/>
              <a:t>os usuários a entender o que é razoável ou possível que o novo produto faça;</a:t>
            </a:r>
          </a:p>
          <a:p>
            <a:pPr algn="just"/>
            <a:r>
              <a:rPr lang="pt-BR" dirty="0" smtClean="0"/>
              <a:t>6)Especialista</a:t>
            </a:r>
            <a:r>
              <a:rPr lang="pt-BR" dirty="0"/>
              <a:t>: </a:t>
            </a:r>
            <a:r>
              <a:rPr lang="pt-BR" dirty="0" smtClean="0"/>
              <a:t>pessoa </a:t>
            </a:r>
            <a:r>
              <a:rPr lang="pt-BR" dirty="0"/>
              <a:t>que </a:t>
            </a:r>
            <a:r>
              <a:rPr lang="pt-BR" dirty="0" smtClean="0"/>
              <a:t>fornece </a:t>
            </a:r>
            <a:r>
              <a:rPr lang="pt-BR" dirty="0"/>
              <a:t>informações detalhadas sobre um tópico específico.</a:t>
            </a:r>
          </a:p>
          <a:p>
            <a:pPr algn="just"/>
            <a:r>
              <a:rPr lang="pt-BR" dirty="0"/>
              <a:t>T</a:t>
            </a:r>
            <a:r>
              <a:rPr lang="pt-BR" dirty="0" smtClean="0"/>
              <a:t>écnicas JAD: funcionam </a:t>
            </a:r>
            <a:r>
              <a:rPr lang="pt-BR" dirty="0"/>
              <a:t>melhor em projetos pequenos ou médios. </a:t>
            </a:r>
            <a:r>
              <a:rPr lang="pt-BR" dirty="0" smtClean="0"/>
              <a:t>Sistema </a:t>
            </a:r>
            <a:r>
              <a:rPr lang="pt-BR" dirty="0"/>
              <a:t>grande e </a:t>
            </a:r>
            <a:r>
              <a:rPr lang="pt-BR" dirty="0" smtClean="0"/>
              <a:t>complexo: </a:t>
            </a:r>
            <a:r>
              <a:rPr lang="pt-BR" dirty="0"/>
              <a:t>múltiplas sessões </a:t>
            </a:r>
            <a:r>
              <a:rPr lang="pt-BR" dirty="0" smtClean="0"/>
              <a:t>JAD aceleram </a:t>
            </a:r>
            <a:r>
              <a:rPr lang="pt-BR" dirty="0"/>
              <a:t>a definição dos requisitos do sistema.</a:t>
            </a:r>
          </a:p>
          <a:p>
            <a:pPr algn="just"/>
            <a:endParaRPr lang="pt-BR" dirty="0"/>
          </a:p>
        </p:txBody>
      </p:sp>
    </p:spTree>
    <p:extLst>
      <p:ext uri="{BB962C8B-B14F-4D97-AF65-F5344CB8AC3E}">
        <p14:creationId xmlns:p14="http://schemas.microsoft.com/office/powerpoint/2010/main" val="13980498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19</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b="1" dirty="0" smtClean="0"/>
              <a:t>PD </a:t>
            </a:r>
            <a:r>
              <a:rPr lang="pt-BR" b="1" dirty="0"/>
              <a:t>(</a:t>
            </a:r>
            <a:r>
              <a:rPr lang="pt-BR" b="1" dirty="0" err="1"/>
              <a:t>Participatory</a:t>
            </a:r>
            <a:r>
              <a:rPr lang="pt-BR" b="1" dirty="0"/>
              <a:t> Design) ou Design Participativo</a:t>
            </a:r>
            <a:endParaRPr lang="pt-BR" dirty="0"/>
          </a:p>
          <a:p>
            <a:pPr algn="just"/>
            <a:r>
              <a:rPr lang="pt-BR" dirty="0"/>
              <a:t>U</a:t>
            </a:r>
            <a:r>
              <a:rPr lang="pt-BR" dirty="0" smtClean="0"/>
              <a:t>suários </a:t>
            </a:r>
            <a:r>
              <a:rPr lang="pt-BR" dirty="0"/>
              <a:t>são </a:t>
            </a:r>
            <a:r>
              <a:rPr lang="pt-BR" dirty="0" smtClean="0"/>
              <a:t>envolvidos </a:t>
            </a:r>
            <a:r>
              <a:rPr lang="pt-BR" dirty="0"/>
              <a:t>no processo de desenvolvimento, tornando-se parceiros dos demais membros da equipe de design. Esta técnica possui uma abordagem mais voltada para projeto de interfaces.</a:t>
            </a:r>
          </a:p>
          <a:p>
            <a:pPr algn="just"/>
            <a:r>
              <a:rPr lang="pt-BR" dirty="0"/>
              <a:t>P</a:t>
            </a:r>
            <a:r>
              <a:rPr lang="pt-BR" dirty="0" smtClean="0"/>
              <a:t>rojeto </a:t>
            </a:r>
            <a:r>
              <a:rPr lang="pt-BR" dirty="0"/>
              <a:t>de </a:t>
            </a:r>
            <a:r>
              <a:rPr lang="pt-BR" dirty="0" smtClean="0"/>
              <a:t>interfaces: </a:t>
            </a:r>
            <a:r>
              <a:rPr lang="pt-BR" dirty="0"/>
              <a:t>realizado </a:t>
            </a:r>
            <a:r>
              <a:rPr lang="pt-BR" dirty="0" smtClean="0"/>
              <a:t>por </a:t>
            </a:r>
            <a:r>
              <a:rPr lang="pt-BR" dirty="0"/>
              <a:t>equipe </a:t>
            </a:r>
            <a:r>
              <a:rPr lang="pt-BR" dirty="0" err="1"/>
              <a:t>unidisciplinar</a:t>
            </a:r>
            <a:r>
              <a:rPr lang="pt-BR" dirty="0"/>
              <a:t>, que geralmente possui uma ótica limitada a um escopo definido. </a:t>
            </a:r>
            <a:r>
              <a:rPr lang="pt-BR" dirty="0" smtClean="0"/>
              <a:t>Com </a:t>
            </a:r>
            <a:r>
              <a:rPr lang="pt-BR" dirty="0"/>
              <a:t>a técnica Design Participativo</a:t>
            </a:r>
            <a:r>
              <a:rPr lang="pt-BR" dirty="0" smtClean="0"/>
              <a:t>, </a:t>
            </a:r>
            <a:r>
              <a:rPr lang="pt-BR" dirty="0"/>
              <a:t>equipe multidisciplinar é envolvida, </a:t>
            </a:r>
            <a:r>
              <a:rPr lang="pt-BR" dirty="0" smtClean="0"/>
              <a:t>com </a:t>
            </a:r>
            <a:r>
              <a:rPr lang="pt-BR" dirty="0"/>
              <a:t>questionamentos sob diferentes pontos de </a:t>
            </a:r>
            <a:r>
              <a:rPr lang="pt-BR" dirty="0" smtClean="0"/>
              <a:t>vista </a:t>
            </a:r>
            <a:r>
              <a:rPr lang="pt-BR" dirty="0"/>
              <a:t>e competências de diferentes áreas se complementam.</a:t>
            </a:r>
          </a:p>
          <a:p>
            <a:pPr algn="just"/>
            <a:r>
              <a:rPr lang="pt-BR" dirty="0" smtClean="0"/>
              <a:t>Abordagem complexa: </a:t>
            </a:r>
            <a:r>
              <a:rPr lang="pt-BR" dirty="0"/>
              <a:t>envolver usuários em decisões de design é uma tarefa extremamente árdua, sendo imprescindível uma boa comunicação entre os usuários e os desenvolvedores</a:t>
            </a:r>
            <a:r>
              <a:rPr lang="pt-BR" dirty="0" smtClean="0"/>
              <a:t>.</a:t>
            </a:r>
            <a:endParaRPr lang="pt-BR" dirty="0"/>
          </a:p>
        </p:txBody>
      </p:sp>
    </p:spTree>
    <p:extLst>
      <p:ext uri="{BB962C8B-B14F-4D97-AF65-F5344CB8AC3E}">
        <p14:creationId xmlns:p14="http://schemas.microsoft.com/office/powerpoint/2010/main" val="20536307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20</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smtClean="0"/>
              <a:t>A </a:t>
            </a:r>
            <a:r>
              <a:rPr lang="pt-BR" dirty="0"/>
              <a:t>técnica JAD é composta de duas etapas principais: </a:t>
            </a:r>
            <a:endParaRPr lang="pt-BR" dirty="0" smtClean="0"/>
          </a:p>
          <a:p>
            <a:pPr algn="just"/>
            <a:r>
              <a:rPr lang="pt-BR" dirty="0" smtClean="0"/>
              <a:t>1)Planejamento: </a:t>
            </a:r>
            <a:r>
              <a:rPr lang="pt-BR" dirty="0" err="1"/>
              <a:t>elicitar</a:t>
            </a:r>
            <a:r>
              <a:rPr lang="pt-BR" dirty="0"/>
              <a:t> e especificar os requisitos</a:t>
            </a:r>
            <a:r>
              <a:rPr lang="pt-BR" dirty="0" smtClean="0"/>
              <a:t>;</a:t>
            </a:r>
          </a:p>
          <a:p>
            <a:pPr algn="just"/>
            <a:r>
              <a:rPr lang="pt-BR" dirty="0" smtClean="0"/>
              <a:t>2)Projeto</a:t>
            </a:r>
            <a:r>
              <a:rPr lang="pt-BR" dirty="0"/>
              <a:t>:</a:t>
            </a:r>
            <a:r>
              <a:rPr lang="pt-BR" dirty="0" smtClean="0"/>
              <a:t> </a:t>
            </a:r>
            <a:r>
              <a:rPr lang="pt-BR" dirty="0"/>
              <a:t>em que se lida com o projeto de software. </a:t>
            </a:r>
            <a:endParaRPr lang="pt-BR" dirty="0" smtClean="0"/>
          </a:p>
          <a:p>
            <a:pPr algn="just"/>
            <a:endParaRPr lang="pt-BR" dirty="0"/>
          </a:p>
          <a:p>
            <a:pPr algn="just"/>
            <a:r>
              <a:rPr lang="pt-BR" dirty="0" smtClean="0"/>
              <a:t>Cada </a:t>
            </a:r>
            <a:r>
              <a:rPr lang="pt-BR" dirty="0"/>
              <a:t>etapa consiste em três fases: adaptação, sessão e finalização.</a:t>
            </a:r>
          </a:p>
          <a:p>
            <a:pPr algn="just"/>
            <a:r>
              <a:rPr lang="pt-BR" dirty="0" smtClean="0"/>
              <a:t>1)Adaptação</a:t>
            </a:r>
            <a:r>
              <a:rPr lang="pt-BR" dirty="0"/>
              <a:t>: Organização da equipe, preparação do material, isto é, preparação para a sessão.</a:t>
            </a:r>
          </a:p>
          <a:p>
            <a:pPr algn="just"/>
            <a:r>
              <a:rPr lang="pt-BR" dirty="0" smtClean="0"/>
              <a:t>2) Sessão</a:t>
            </a:r>
            <a:r>
              <a:rPr lang="pt-BR" dirty="0"/>
              <a:t>: Encontros estruturados para extração e documentação dos requisitos, composto de desenvolvedores e usuários</a:t>
            </a:r>
            <a:r>
              <a:rPr lang="pt-BR" dirty="0" smtClean="0"/>
              <a:t>.</a:t>
            </a:r>
          </a:p>
          <a:p>
            <a:pPr algn="just"/>
            <a:r>
              <a:rPr lang="pt-BR" dirty="0" smtClean="0"/>
              <a:t>3)Finalização</a:t>
            </a:r>
            <a:r>
              <a:rPr lang="pt-BR" dirty="0"/>
              <a:t>: Converter os requisitos da sessão em um documento final.</a:t>
            </a:r>
          </a:p>
          <a:p>
            <a:pPr algn="just"/>
            <a:endParaRPr lang="pt-BR" dirty="0"/>
          </a:p>
        </p:txBody>
      </p:sp>
    </p:spTree>
    <p:extLst>
      <p:ext uri="{BB962C8B-B14F-4D97-AF65-F5344CB8AC3E}">
        <p14:creationId xmlns:p14="http://schemas.microsoft.com/office/powerpoint/2010/main" val="33991006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21</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b="1" dirty="0" smtClean="0"/>
              <a:t>QFD </a:t>
            </a:r>
            <a:r>
              <a:rPr lang="pt-BR" b="1" dirty="0"/>
              <a:t>(</a:t>
            </a:r>
            <a:r>
              <a:rPr lang="pt-BR" b="1" dirty="0" err="1"/>
              <a:t>Quality</a:t>
            </a:r>
            <a:r>
              <a:rPr lang="pt-BR" b="1" dirty="0"/>
              <a:t> </a:t>
            </a:r>
            <a:r>
              <a:rPr lang="pt-BR" b="1" dirty="0" err="1"/>
              <a:t>Function</a:t>
            </a:r>
            <a:r>
              <a:rPr lang="pt-BR" b="1" dirty="0"/>
              <a:t> Deployment</a:t>
            </a:r>
            <a:r>
              <a:rPr lang="pt-BR" b="1" dirty="0" smtClean="0"/>
              <a:t>) – Implantação da função de qualidade</a:t>
            </a:r>
            <a:endParaRPr lang="pt-BR" dirty="0"/>
          </a:p>
          <a:p>
            <a:pPr algn="just"/>
            <a:r>
              <a:rPr lang="pt-BR" dirty="0" smtClean="0"/>
              <a:t>Tradução </a:t>
            </a:r>
            <a:r>
              <a:rPr lang="pt-BR" dirty="0"/>
              <a:t>dos requisitos do cliente em requisitos técnicos. As fases </a:t>
            </a:r>
            <a:r>
              <a:rPr lang="pt-BR" dirty="0" smtClean="0"/>
              <a:t>iniciais </a:t>
            </a:r>
            <a:r>
              <a:rPr lang="pt-BR" dirty="0"/>
              <a:t>podem ser descritas como sendo “simplesmente um sistema de identificação e priorização das necessidades do cliente obtidas de cada recurso avaliado”.</a:t>
            </a:r>
          </a:p>
          <a:p>
            <a:pPr algn="just"/>
            <a:r>
              <a:rPr lang="pt-BR" dirty="0"/>
              <a:t>As principais atividades realizadas durante a aplicação dessa ferramenta são:</a:t>
            </a:r>
          </a:p>
          <a:p>
            <a:pPr algn="just"/>
            <a:r>
              <a:rPr lang="pt-BR" dirty="0"/>
              <a:t>a) Apontar os requisitos dos clientes do produto;</a:t>
            </a:r>
          </a:p>
          <a:p>
            <a:pPr algn="just"/>
            <a:r>
              <a:rPr lang="pt-BR" dirty="0"/>
              <a:t>b) Detalhar os requisitos do produto;</a:t>
            </a:r>
          </a:p>
          <a:p>
            <a:pPr algn="just"/>
            <a:r>
              <a:rPr lang="pt-BR" dirty="0"/>
              <a:t>c) Determinarem as especificações meta do produto.</a:t>
            </a:r>
          </a:p>
          <a:p>
            <a:pPr algn="just"/>
            <a:r>
              <a:rPr lang="pt-BR" dirty="0"/>
              <a:t>Essas atividades são inseridas dentro da matriz QFD e as informações geradas são distribuídas.</a:t>
            </a:r>
          </a:p>
          <a:p>
            <a:pPr algn="just"/>
            <a:r>
              <a:rPr lang="pt-BR" dirty="0"/>
              <a:t>QFD é um conceito que se aplica bem para a </a:t>
            </a:r>
            <a:r>
              <a:rPr lang="pt-BR" dirty="0" err="1"/>
              <a:t>elicitação</a:t>
            </a:r>
            <a:r>
              <a:rPr lang="pt-BR" dirty="0"/>
              <a:t> de requisitos, </a:t>
            </a:r>
            <a:r>
              <a:rPr lang="pt-BR" dirty="0" smtClean="0"/>
              <a:t>especialmente, um modelo no qual a </a:t>
            </a:r>
            <a:r>
              <a:rPr lang="pt-BR" dirty="0"/>
              <a:t>voz do cliente é o guia para a criação de requisitos</a:t>
            </a:r>
            <a:r>
              <a:rPr lang="pt-BR" dirty="0" smtClean="0"/>
              <a:t>.</a:t>
            </a:r>
            <a:endParaRPr lang="pt-BR" dirty="0"/>
          </a:p>
        </p:txBody>
      </p:sp>
    </p:spTree>
    <p:extLst>
      <p:ext uri="{BB962C8B-B14F-4D97-AF65-F5344CB8AC3E}">
        <p14:creationId xmlns:p14="http://schemas.microsoft.com/office/powerpoint/2010/main" val="8256637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22</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endParaRPr lang="pt-BR" dirty="0"/>
          </a:p>
          <a:p>
            <a:pPr algn="just"/>
            <a:r>
              <a:rPr lang="pt-BR" b="1" dirty="0" smtClean="0"/>
              <a:t>CRC </a:t>
            </a:r>
            <a:r>
              <a:rPr lang="pt-BR" b="1" dirty="0"/>
              <a:t>(</a:t>
            </a:r>
            <a:r>
              <a:rPr lang="pt-BR" b="1" dirty="0" err="1"/>
              <a:t>Cooperative</a:t>
            </a:r>
            <a:r>
              <a:rPr lang="pt-BR" b="1" dirty="0"/>
              <a:t> </a:t>
            </a:r>
            <a:r>
              <a:rPr lang="pt-BR" b="1" dirty="0" err="1"/>
              <a:t>Requirements</a:t>
            </a:r>
            <a:r>
              <a:rPr lang="pt-BR" b="1" dirty="0"/>
              <a:t> Capture)</a:t>
            </a:r>
            <a:endParaRPr lang="pt-BR" dirty="0"/>
          </a:p>
          <a:p>
            <a:pPr algn="just"/>
            <a:r>
              <a:rPr lang="pt-BR" dirty="0" smtClean="0"/>
              <a:t>A sessão </a:t>
            </a:r>
            <a:r>
              <a:rPr lang="pt-BR" dirty="0"/>
              <a:t>de grupo, muito parecido o </a:t>
            </a:r>
            <a:r>
              <a:rPr lang="pt-BR" dirty="0" smtClean="0"/>
              <a:t>JAD</a:t>
            </a:r>
          </a:p>
          <a:p>
            <a:pPr algn="just"/>
            <a:r>
              <a:rPr lang="pt-BR" dirty="0" smtClean="0"/>
              <a:t>Papéis </a:t>
            </a:r>
            <a:r>
              <a:rPr lang="pt-BR" dirty="0"/>
              <a:t>dos participantes e do facilitador são claramente definidos. </a:t>
            </a:r>
            <a:endParaRPr lang="pt-BR" dirty="0" smtClean="0"/>
          </a:p>
          <a:p>
            <a:pPr algn="just"/>
            <a:r>
              <a:rPr lang="pt-BR" dirty="0" smtClean="0"/>
              <a:t>CRC: </a:t>
            </a:r>
            <a:r>
              <a:rPr lang="pt-BR" dirty="0"/>
              <a:t>outras pessoas se envolvem diretamente na coleta de requisitos. </a:t>
            </a:r>
            <a:endParaRPr lang="pt-BR" dirty="0" smtClean="0"/>
          </a:p>
          <a:p>
            <a:pPr algn="just"/>
            <a:r>
              <a:rPr lang="pt-BR" dirty="0" smtClean="0"/>
              <a:t>A </a:t>
            </a:r>
            <a:r>
              <a:rPr lang="pt-BR" dirty="0"/>
              <a:t>diferença básica do CRC para o JAD e do </a:t>
            </a:r>
            <a:r>
              <a:rPr lang="pt-BR" dirty="0" smtClean="0"/>
              <a:t>QFQ: CRC foca </a:t>
            </a:r>
            <a:r>
              <a:rPr lang="pt-BR" dirty="0"/>
              <a:t>mais no usuário operativo</a:t>
            </a:r>
            <a:r>
              <a:rPr lang="pt-BR" dirty="0" smtClean="0"/>
              <a:t>, ligado </a:t>
            </a:r>
            <a:r>
              <a:rPr lang="pt-BR" dirty="0"/>
              <a:t>diretamente com as tarefas operacionais</a:t>
            </a:r>
            <a:r>
              <a:rPr lang="pt-BR" dirty="0" smtClean="0"/>
              <a:t>.</a:t>
            </a:r>
            <a:endParaRPr lang="pt-BR" dirty="0"/>
          </a:p>
        </p:txBody>
      </p:sp>
    </p:spTree>
    <p:extLst>
      <p:ext uri="{BB962C8B-B14F-4D97-AF65-F5344CB8AC3E}">
        <p14:creationId xmlns:p14="http://schemas.microsoft.com/office/powerpoint/2010/main" val="40080350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23</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b="1" dirty="0"/>
              <a:t>Prototipagem</a:t>
            </a:r>
            <a:endParaRPr lang="pt-BR" dirty="0"/>
          </a:p>
          <a:p>
            <a:pPr algn="just"/>
            <a:r>
              <a:rPr lang="pt-BR" dirty="0" smtClean="0"/>
              <a:t>Aplicada </a:t>
            </a:r>
            <a:r>
              <a:rPr lang="pt-BR" dirty="0"/>
              <a:t>principalmente durante os processos de levantamento, desenvolvimento e validação dos requisitos do sistema. </a:t>
            </a:r>
            <a:endParaRPr lang="pt-BR" dirty="0" smtClean="0"/>
          </a:p>
          <a:p>
            <a:pPr algn="just"/>
            <a:r>
              <a:rPr lang="pt-BR" dirty="0" smtClean="0"/>
              <a:t>A </a:t>
            </a:r>
            <a:r>
              <a:rPr lang="pt-BR" dirty="0"/>
              <a:t>técnica começa pelo estudo preliminar dos requisitos do usuário e conclui com vários requisitos formulados e um protótipo descartável do sistema para validação do usuário.</a:t>
            </a:r>
          </a:p>
          <a:p>
            <a:pPr algn="just"/>
            <a:r>
              <a:rPr lang="pt-BR" dirty="0"/>
              <a:t>O conjunto inicial de requisitos é usado como base para criar o Protótipo de Interface do Usuário com o sistema inicial, mais simplificado.</a:t>
            </a:r>
          </a:p>
          <a:p>
            <a:pPr algn="just"/>
            <a:r>
              <a:rPr lang="pt-BR" dirty="0"/>
              <a:t>Nessa fase inicial, devem-se mostrar todas as possibilidades dos protótipos simples para o usuário, para que ele possa validar e assim poder gastar esforços nos protótipos específicos (mais robustos), ou seja, não dispender recursos com protótipos errados.</a:t>
            </a:r>
          </a:p>
          <a:p>
            <a:pPr algn="just"/>
            <a:r>
              <a:rPr lang="pt-BR" dirty="0" smtClean="0"/>
              <a:t>Após </a:t>
            </a:r>
            <a:r>
              <a:rPr lang="pt-BR" dirty="0"/>
              <a:t>a aceitação do protótipo pelos usuários, os desenvolvedores precisam criar um documento de especificação dos requisitos paralelo ao protótipo de Interface.</a:t>
            </a:r>
          </a:p>
          <a:p>
            <a:pPr algn="just"/>
            <a:r>
              <a:rPr lang="pt-BR" dirty="0"/>
              <a:t>Depois </a:t>
            </a:r>
            <a:r>
              <a:rPr lang="pt-BR" dirty="0" smtClean="0"/>
              <a:t>da </a:t>
            </a:r>
            <a:r>
              <a:rPr lang="pt-BR" dirty="0"/>
              <a:t>aceitação e validação, é iniciado um processo de implementação incremental e iterativa entre os usuários e os desenvolvedores. Nessa fase do projeto, o cliente interage com o desenvolvedor, apresentando as funcionalidades desejadas de acordo com as necessidades</a:t>
            </a:r>
            <a:r>
              <a:rPr lang="pt-BR" dirty="0" smtClean="0"/>
              <a:t>.</a:t>
            </a:r>
            <a:endParaRPr lang="pt-BR" dirty="0"/>
          </a:p>
        </p:txBody>
      </p:sp>
    </p:spTree>
    <p:extLst>
      <p:ext uri="{BB962C8B-B14F-4D97-AF65-F5344CB8AC3E}">
        <p14:creationId xmlns:p14="http://schemas.microsoft.com/office/powerpoint/2010/main" val="31708570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24</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fontScale="92500" lnSpcReduction="20000"/>
          </a:bodyPr>
          <a:lstStyle/>
          <a:p>
            <a:pPr algn="just"/>
            <a:r>
              <a:rPr lang="pt-BR" b="1" dirty="0" smtClean="0"/>
              <a:t>Cenários</a:t>
            </a:r>
            <a:endParaRPr lang="pt-BR" dirty="0"/>
          </a:p>
          <a:p>
            <a:pPr algn="just"/>
            <a:r>
              <a:rPr lang="pt-BR" dirty="0" err="1" smtClean="0"/>
              <a:t>Sommerville</a:t>
            </a:r>
            <a:r>
              <a:rPr lang="pt-BR" dirty="0" smtClean="0"/>
              <a:t> </a:t>
            </a:r>
            <a:r>
              <a:rPr lang="pt-BR" dirty="0"/>
              <a:t>(2007</a:t>
            </a:r>
            <a:r>
              <a:rPr lang="pt-BR" dirty="0" smtClean="0"/>
              <a:t>): pessoas </a:t>
            </a:r>
            <a:r>
              <a:rPr lang="pt-BR" dirty="0"/>
              <a:t>consideram mais fácil relatar exemplos da vida real do que abstrair descrições abstratas de suas tarefas. </a:t>
            </a:r>
            <a:r>
              <a:rPr lang="pt-BR" dirty="0" smtClean="0"/>
              <a:t>É mais fácil para </a:t>
            </a:r>
            <a:r>
              <a:rPr lang="pt-BR" dirty="0"/>
              <a:t>os usuários </a:t>
            </a:r>
            <a:r>
              <a:rPr lang="pt-BR" dirty="0" smtClean="0"/>
              <a:t>compreenderem </a:t>
            </a:r>
            <a:r>
              <a:rPr lang="pt-BR" dirty="0"/>
              <a:t>e </a:t>
            </a:r>
            <a:r>
              <a:rPr lang="pt-BR" dirty="0" smtClean="0"/>
              <a:t>criticarem </a:t>
            </a:r>
            <a:r>
              <a:rPr lang="pt-BR" dirty="0"/>
              <a:t>um cenário pré-definido de suas possíveis interações com o sistema </a:t>
            </a:r>
            <a:r>
              <a:rPr lang="pt-BR" dirty="0" smtClean="0"/>
              <a:t>do </a:t>
            </a:r>
            <a:r>
              <a:rPr lang="pt-BR" dirty="0"/>
              <a:t>que defini-las em palavras e </a:t>
            </a:r>
            <a:r>
              <a:rPr lang="pt-BR" dirty="0" err="1"/>
              <a:t>idéias</a:t>
            </a:r>
            <a:r>
              <a:rPr lang="pt-BR" dirty="0"/>
              <a:t> do começo ao fim.</a:t>
            </a:r>
          </a:p>
          <a:p>
            <a:pPr algn="just"/>
            <a:r>
              <a:rPr lang="pt-BR" dirty="0"/>
              <a:t>C</a:t>
            </a:r>
            <a:r>
              <a:rPr lang="pt-BR" dirty="0" smtClean="0"/>
              <a:t>omum </a:t>
            </a:r>
            <a:r>
              <a:rPr lang="pt-BR" dirty="0"/>
              <a:t>o desenvolvimento de um conjunto de interação dos cenários, e usá-los para </a:t>
            </a:r>
            <a:r>
              <a:rPr lang="pt-BR" dirty="0" err="1"/>
              <a:t>elicitar</a:t>
            </a:r>
            <a:r>
              <a:rPr lang="pt-BR" dirty="0"/>
              <a:t> e clarear os requisitos do sistema. Usuários finais simulam suas interações usando cenários.</a:t>
            </a:r>
          </a:p>
          <a:p>
            <a:pPr algn="just"/>
            <a:r>
              <a:rPr lang="pt-BR" dirty="0"/>
              <a:t>O cenário começa com um esboço da interação e, durante a </a:t>
            </a:r>
            <a:r>
              <a:rPr lang="pt-BR" dirty="0" err="1"/>
              <a:t>elicitação</a:t>
            </a:r>
            <a:r>
              <a:rPr lang="pt-BR" dirty="0"/>
              <a:t>, os detalhes são adicionados para criar uma descrição completa dessa interação. </a:t>
            </a:r>
            <a:endParaRPr lang="pt-BR" dirty="0" smtClean="0"/>
          </a:p>
          <a:p>
            <a:pPr marL="342900" indent="-342900" algn="just">
              <a:buFont typeface="Arial" panose="020B0604020202020204" pitchFamily="34" charset="0"/>
              <a:buChar char="•"/>
            </a:pPr>
            <a:r>
              <a:rPr lang="pt-BR" dirty="0" smtClean="0"/>
              <a:t>Um </a:t>
            </a:r>
            <a:r>
              <a:rPr lang="pt-BR" dirty="0"/>
              <a:t>cenário deve incluir:</a:t>
            </a:r>
          </a:p>
          <a:p>
            <a:pPr marL="342900" indent="-342900" algn="just">
              <a:buFont typeface="Arial" panose="020B0604020202020204" pitchFamily="34" charset="0"/>
              <a:buChar char="•"/>
            </a:pPr>
            <a:r>
              <a:rPr lang="pt-BR" dirty="0"/>
              <a:t>Uma descrição do que os usuários esperam do sistema no início do cenário.</a:t>
            </a:r>
          </a:p>
          <a:p>
            <a:pPr marL="342900" indent="-342900" algn="just">
              <a:buFont typeface="Arial" panose="020B0604020202020204" pitchFamily="34" charset="0"/>
              <a:buChar char="•"/>
            </a:pPr>
            <a:r>
              <a:rPr lang="pt-BR" dirty="0"/>
              <a:t>Uma descrição do fluxo normal de eventos no cenário.</a:t>
            </a:r>
          </a:p>
          <a:p>
            <a:pPr marL="342900" indent="-342900" algn="just">
              <a:buFont typeface="Arial" panose="020B0604020202020204" pitchFamily="34" charset="0"/>
              <a:buChar char="•"/>
            </a:pPr>
            <a:r>
              <a:rPr lang="pt-BR" dirty="0"/>
              <a:t>Uma descrição do que pode dar errado e como isso é tratado.</a:t>
            </a:r>
          </a:p>
          <a:p>
            <a:pPr marL="342900" indent="-342900" algn="just">
              <a:buFont typeface="Arial" panose="020B0604020202020204" pitchFamily="34" charset="0"/>
              <a:buChar char="•"/>
            </a:pPr>
            <a:r>
              <a:rPr lang="pt-BR" dirty="0"/>
              <a:t>Informações sobre outras atividades que pode ocorrer simultaneamente.</a:t>
            </a:r>
          </a:p>
          <a:p>
            <a:pPr marL="342900" indent="-342900" algn="just">
              <a:buFont typeface="Arial" panose="020B0604020202020204" pitchFamily="34" charset="0"/>
              <a:buChar char="•"/>
            </a:pPr>
            <a:r>
              <a:rPr lang="pt-BR" dirty="0"/>
              <a:t>Uma descrição do estado de sistema no fim do cenário.</a:t>
            </a:r>
          </a:p>
          <a:p>
            <a:pPr algn="just"/>
            <a:r>
              <a:rPr lang="pt-BR" dirty="0" smtClean="0"/>
              <a:t>Pode-se utilizar </a:t>
            </a:r>
            <a:r>
              <a:rPr lang="pt-BR" dirty="0"/>
              <a:t>de maneira </a:t>
            </a:r>
            <a:r>
              <a:rPr lang="pt-BR" dirty="0" smtClean="0"/>
              <a:t>informal. Os </a:t>
            </a:r>
            <a:r>
              <a:rPr lang="pt-BR" dirty="0"/>
              <a:t>engenheiros de requisitos podem se reunir com os </a:t>
            </a:r>
            <a:r>
              <a:rPr lang="pt-BR" dirty="0" err="1"/>
              <a:t>stakeholders</a:t>
            </a:r>
            <a:r>
              <a:rPr lang="pt-BR" dirty="0"/>
              <a:t> e definir através de texto, diagramas, imagens de computador, </a:t>
            </a:r>
            <a:r>
              <a:rPr lang="pt-BR" dirty="0" err="1" smtClean="0"/>
              <a:t>etc</a:t>
            </a:r>
            <a:r>
              <a:rPr lang="pt-BR" dirty="0" smtClean="0"/>
              <a:t>, ou optar </a:t>
            </a:r>
            <a:r>
              <a:rPr lang="pt-BR" dirty="0"/>
              <a:t>pela utilização de alguns recursos como cenários de eventos ou casos de uso</a:t>
            </a:r>
            <a:r>
              <a:rPr lang="pt-BR" dirty="0" smtClean="0"/>
              <a:t>.</a:t>
            </a:r>
            <a:endParaRPr lang="pt-BR" dirty="0"/>
          </a:p>
        </p:txBody>
      </p:sp>
    </p:spTree>
    <p:extLst>
      <p:ext uri="{BB962C8B-B14F-4D97-AF65-F5344CB8AC3E}">
        <p14:creationId xmlns:p14="http://schemas.microsoft.com/office/powerpoint/2010/main" val="850128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25</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69011" y="1000665"/>
            <a:ext cx="12122989" cy="5857336"/>
          </a:xfrm>
        </p:spPr>
        <p:txBody>
          <a:bodyPr>
            <a:normAutofit/>
          </a:bodyPr>
          <a:lstStyle/>
          <a:p>
            <a:pPr algn="just"/>
            <a:r>
              <a:rPr lang="pt-BR" b="1" dirty="0" smtClean="0"/>
              <a:t>Brainstorming</a:t>
            </a:r>
            <a:endParaRPr lang="pt-BR" dirty="0"/>
          </a:p>
          <a:p>
            <a:pPr algn="just"/>
            <a:r>
              <a:rPr lang="pt-BR" dirty="0"/>
              <a:t>C</a:t>
            </a:r>
            <a:r>
              <a:rPr lang="pt-BR" dirty="0" smtClean="0"/>
              <a:t>onsiste </a:t>
            </a:r>
            <a:r>
              <a:rPr lang="pt-BR" dirty="0"/>
              <a:t>em uma ou várias reuniões que permitem que as pessoas sugiram e explorem ideias. T</a:t>
            </a:r>
            <a:r>
              <a:rPr lang="pt-BR" dirty="0" smtClean="0"/>
              <a:t>écnica </a:t>
            </a:r>
            <a:r>
              <a:rPr lang="pt-BR" dirty="0"/>
              <a:t>para geração de </a:t>
            </a:r>
            <a:r>
              <a:rPr lang="pt-BR" dirty="0" err="1"/>
              <a:t>idéias</a:t>
            </a:r>
            <a:r>
              <a:rPr lang="pt-BR" dirty="0"/>
              <a:t>. </a:t>
            </a:r>
            <a:r>
              <a:rPr lang="pt-BR" dirty="0" smtClean="0"/>
              <a:t>É </a:t>
            </a:r>
            <a:r>
              <a:rPr lang="pt-BR" dirty="0"/>
              <a:t>uma reunião de várias pessoas que fazem sugestões de ideias sem que sejam criticadas ou </a:t>
            </a:r>
            <a:r>
              <a:rPr lang="pt-BR" dirty="0" smtClean="0"/>
              <a:t>julgadas. Técnica </a:t>
            </a:r>
            <a:r>
              <a:rPr lang="pt-BR" dirty="0"/>
              <a:t>sugere a exploração de toda e qualquer ideia, fruto da </a:t>
            </a:r>
            <a:r>
              <a:rPr lang="pt-BR" dirty="0" smtClean="0"/>
              <a:t>reunião.</a:t>
            </a:r>
          </a:p>
          <a:p>
            <a:pPr algn="just"/>
            <a:r>
              <a:rPr lang="pt-BR" b="1" dirty="0"/>
              <a:t>Questionários</a:t>
            </a:r>
            <a:endParaRPr lang="pt-BR" dirty="0"/>
          </a:p>
          <a:p>
            <a:pPr algn="just"/>
            <a:r>
              <a:rPr lang="pt-BR" dirty="0"/>
              <a:t>Questionários são usados em diversas áreas científicas, como para censo, pesquisas de opiniões, entre </a:t>
            </a:r>
            <a:r>
              <a:rPr lang="pt-BR" dirty="0" smtClean="0"/>
              <a:t>outros. </a:t>
            </a:r>
          </a:p>
          <a:p>
            <a:pPr algn="just"/>
            <a:r>
              <a:rPr lang="pt-BR" dirty="0" smtClean="0"/>
              <a:t>Consiste na </a:t>
            </a:r>
            <a:r>
              <a:rPr lang="pt-BR" dirty="0"/>
              <a:t>elaboração de um conjunto de perguntas que irão guiar um </a:t>
            </a:r>
            <a:r>
              <a:rPr lang="pt-BR" dirty="0" err="1"/>
              <a:t>stakeholder</a:t>
            </a:r>
            <a:r>
              <a:rPr lang="pt-BR" dirty="0"/>
              <a:t> ou um grupo deles à respondê-las. Essa técnica não possui diretrizes bem definidas, mas existem </a:t>
            </a:r>
            <a:r>
              <a:rPr lang="pt-BR" dirty="0" smtClean="0"/>
              <a:t>recomendações </a:t>
            </a:r>
            <a:r>
              <a:rPr lang="pt-BR" dirty="0"/>
              <a:t>feitas por vários autores sobre como utilizar essa técnica para fazer o levantamento de requisitos.</a:t>
            </a:r>
          </a:p>
          <a:p>
            <a:pPr algn="just"/>
            <a:r>
              <a:rPr lang="pt-BR" dirty="0"/>
              <a:t>C</a:t>
            </a:r>
            <a:r>
              <a:rPr lang="pt-BR" dirty="0" smtClean="0"/>
              <a:t>uidados que potencializam </a:t>
            </a:r>
            <a:r>
              <a:rPr lang="pt-BR" dirty="0"/>
              <a:t>o resultado de um </a:t>
            </a:r>
            <a:r>
              <a:rPr lang="pt-BR" dirty="0" smtClean="0"/>
              <a:t>questionário: utilizar </a:t>
            </a:r>
            <a:r>
              <a:rPr lang="pt-BR" dirty="0"/>
              <a:t>perguntas claras e objetivas. A maneira como as perguntas são dispostas também podem fazer a diferença nos resultados</a:t>
            </a:r>
            <a:r>
              <a:rPr lang="pt-BR" dirty="0" smtClean="0"/>
              <a:t>.</a:t>
            </a:r>
            <a:endParaRPr lang="pt-BR" dirty="0"/>
          </a:p>
        </p:txBody>
      </p:sp>
    </p:spTree>
    <p:extLst>
      <p:ext uri="{BB962C8B-B14F-4D97-AF65-F5344CB8AC3E}">
        <p14:creationId xmlns:p14="http://schemas.microsoft.com/office/powerpoint/2010/main" val="30529269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26</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fontScale="70000" lnSpcReduction="20000"/>
          </a:bodyPr>
          <a:lstStyle/>
          <a:p>
            <a:r>
              <a:rPr lang="pt-BR" b="1" dirty="0" smtClean="0"/>
              <a:t>REFERÊNCIAS</a:t>
            </a:r>
            <a:endParaRPr lang="pt-BR" dirty="0"/>
          </a:p>
          <a:p>
            <a:r>
              <a:rPr lang="pt-BR" dirty="0"/>
              <a:t>BELGAMO, Anderson; MARTINS, Luiz E. G.. Estudo Comparativo sobre as Técnicas de </a:t>
            </a:r>
            <a:r>
              <a:rPr lang="pt-BR" dirty="0" err="1"/>
              <a:t>Elicitação</a:t>
            </a:r>
            <a:r>
              <a:rPr lang="pt-BR" dirty="0"/>
              <a:t> de Requisitos do Software. São Paulo, 2000.</a:t>
            </a:r>
          </a:p>
          <a:p>
            <a:r>
              <a:rPr lang="pt-BR" dirty="0"/>
              <a:t>BASTOS JR., Paulo Roberto O. </a:t>
            </a:r>
            <a:r>
              <a:rPr lang="pt-BR" dirty="0" err="1"/>
              <a:t>Elicitação</a:t>
            </a:r>
            <a:r>
              <a:rPr lang="pt-BR" dirty="0"/>
              <a:t> de requisitos de software através da utilização de questionários. Dissertação de Mestrado. Rio de Janeiro, Abril de 2005.</a:t>
            </a:r>
          </a:p>
          <a:p>
            <a:r>
              <a:rPr lang="pt-BR" dirty="0"/>
              <a:t>ESPÍNDOLA, Rafael Senti. Um Estudo das Técnicas de </a:t>
            </a:r>
            <a:r>
              <a:rPr lang="pt-BR" dirty="0" err="1"/>
              <a:t>Elicitação</a:t>
            </a:r>
            <a:r>
              <a:rPr lang="pt-BR" dirty="0"/>
              <a:t> de Requisitos de Software. Trabalho De Conclusão De Curso. São Paulo, Junho de 2008.</a:t>
            </a:r>
          </a:p>
          <a:p>
            <a:r>
              <a:rPr lang="pt-BR" dirty="0"/>
              <a:t>MORAES, Janaína </a:t>
            </a:r>
            <a:r>
              <a:rPr lang="pt-BR" dirty="0" err="1"/>
              <a:t>Bedani</a:t>
            </a:r>
            <a:r>
              <a:rPr lang="pt-BR" dirty="0"/>
              <a:t> </a:t>
            </a:r>
            <a:r>
              <a:rPr lang="pt-BR" dirty="0" err="1"/>
              <a:t>Dixon</a:t>
            </a:r>
            <a:r>
              <a:rPr lang="pt-BR" dirty="0"/>
              <a:t>. Engenharia de Software 2 – Técnicas para levantamento de Requisitos. Disponível em http://www.devmedia.com.br/engenharia-de-software-2-tecnicas-para-levantamento-de-requisitos/9151</a:t>
            </a:r>
          </a:p>
          <a:p>
            <a:r>
              <a:rPr lang="pt-BR" dirty="0"/>
              <a:t>PEREIRA, Thiago. </a:t>
            </a:r>
            <a:r>
              <a:rPr lang="pt-BR" dirty="0" err="1"/>
              <a:t>Elicitação</a:t>
            </a:r>
            <a:r>
              <a:rPr lang="pt-BR" dirty="0"/>
              <a:t> de requisitos e suas técnicas – Parte 02, 2010. Disponível em http://imasters.com.br/artigo/18365/gerencia-de-projetos/elicitacao-de-requisitos-e-suas-tecnicas-parte-02/</a:t>
            </a:r>
          </a:p>
          <a:p>
            <a:r>
              <a:rPr lang="pt-BR" dirty="0"/>
              <a:t>PINTO, </a:t>
            </a:r>
            <a:r>
              <a:rPr lang="pt-BR" dirty="0" err="1"/>
              <a:t>Rochelly</a:t>
            </a:r>
            <a:r>
              <a:rPr lang="pt-BR" dirty="0"/>
              <a:t> </a:t>
            </a:r>
            <a:r>
              <a:rPr lang="pt-BR" dirty="0" err="1"/>
              <a:t>Sirremes</a:t>
            </a:r>
            <a:r>
              <a:rPr lang="pt-BR" dirty="0"/>
              <a:t>; FONTENELLE, Maria </a:t>
            </a:r>
            <a:r>
              <a:rPr lang="pt-BR" dirty="0" err="1"/>
              <a:t>Aridenise</a:t>
            </a:r>
            <a:r>
              <a:rPr lang="pt-BR" dirty="0"/>
              <a:t> Macena. Desdobramento Da Função Qualidade – </a:t>
            </a:r>
            <a:r>
              <a:rPr lang="pt-BR" dirty="0" err="1"/>
              <a:t>Qfd</a:t>
            </a:r>
            <a:r>
              <a:rPr lang="pt-BR" dirty="0"/>
              <a:t> No Processo De Desenvolvimento De Produtos: Uma Aplicação Prática, 2013. Disponível em http://www.abepro.org.br/biblioteca/enegep2013_TN_STP_181_033_22774.pdf</a:t>
            </a:r>
          </a:p>
          <a:p>
            <a:r>
              <a:rPr lang="pt-BR" dirty="0"/>
              <a:t>PRESSMAN, Roger S. Engenharia de Software – Uma abordagem Profissional, 7ª edição. </a:t>
            </a:r>
            <a:r>
              <a:rPr lang="pt-BR" dirty="0" err="1"/>
              <a:t>Amgh</a:t>
            </a:r>
            <a:r>
              <a:rPr lang="pt-BR" dirty="0"/>
              <a:t> Editora, 2011.</a:t>
            </a:r>
          </a:p>
          <a:p>
            <a:r>
              <a:rPr lang="pt-BR" dirty="0"/>
              <a:t>QUINTANS, Maria </a:t>
            </a:r>
            <a:r>
              <a:rPr lang="pt-BR" dirty="0" err="1"/>
              <a:t>Ludovina</a:t>
            </a:r>
            <a:r>
              <a:rPr lang="pt-BR" dirty="0"/>
              <a:t>. Um Estudo Exploratório Sobre O Conhecimento E Utilização De Técnicas De </a:t>
            </a:r>
            <a:r>
              <a:rPr lang="pt-BR" dirty="0" err="1"/>
              <a:t>Elicitação</a:t>
            </a:r>
            <a:r>
              <a:rPr lang="pt-BR" dirty="0"/>
              <a:t> De Requisitos Em Empresas De Software. Dissertação de Mestrado (Qualificação), 2009, 2010.</a:t>
            </a:r>
          </a:p>
          <a:p>
            <a:r>
              <a:rPr lang="pt-BR" dirty="0"/>
              <a:t>ROSEMBERG, Carlos; SCHILLING, Albert; BASTOS, </a:t>
            </a:r>
            <a:r>
              <a:rPr lang="pt-BR" dirty="0" err="1"/>
              <a:t>Cristianne</a:t>
            </a:r>
            <a:r>
              <a:rPr lang="pt-BR" dirty="0"/>
              <a:t>; ARARIPE, Rodrigo. </a:t>
            </a:r>
            <a:r>
              <a:rPr lang="pt-BR" dirty="0" err="1"/>
              <a:t>Elicitação</a:t>
            </a:r>
            <a:r>
              <a:rPr lang="pt-BR" dirty="0"/>
              <a:t> de Requisitos e Design Participativo através de Protótipos de Baixa Fidelidade – um Estudo de Caso. Disponível em http://www.infobrasil.inf.br/userfiles/Elicita%C3%A7%C3%A3o_de_Requisitos_e_Design_Participativo_atrav%C3%A9s_de_Prot%C3%B3tipos_de_baixa_Fidelidade.pdf</a:t>
            </a:r>
          </a:p>
          <a:p>
            <a:r>
              <a:rPr lang="pt-BR" dirty="0"/>
              <a:t>SOMMERVILLE. Ian. Engenharia de Software, 8ª edição. </a:t>
            </a:r>
            <a:r>
              <a:rPr lang="pt-BR" dirty="0" err="1"/>
              <a:t>Addison</a:t>
            </a:r>
            <a:r>
              <a:rPr lang="pt-BR" dirty="0"/>
              <a:t> Wesley, 2007.</a:t>
            </a:r>
          </a:p>
          <a:p>
            <a:r>
              <a:rPr lang="pt-BR" dirty="0"/>
              <a:t> </a:t>
            </a:r>
          </a:p>
        </p:txBody>
      </p:sp>
    </p:spTree>
    <p:extLst>
      <p:ext uri="{BB962C8B-B14F-4D97-AF65-F5344CB8AC3E}">
        <p14:creationId xmlns:p14="http://schemas.microsoft.com/office/powerpoint/2010/main" val="17653973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27</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PT" altLang="pt-BR" dirty="0" smtClean="0"/>
              <a:t>DER – slides – analise de dados</a:t>
            </a:r>
          </a:p>
          <a:p>
            <a:pPr algn="just"/>
            <a:r>
              <a:rPr lang="pt-PT" altLang="pt-BR" dirty="0" smtClean="0"/>
              <a:t>Lista de exercícios</a:t>
            </a:r>
          </a:p>
        </p:txBody>
      </p:sp>
    </p:spTree>
    <p:extLst>
      <p:ext uri="{BB962C8B-B14F-4D97-AF65-F5344CB8AC3E}">
        <p14:creationId xmlns:p14="http://schemas.microsoft.com/office/powerpoint/2010/main" val="41153429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Linguagem de Modelagem </a:t>
            </a:r>
            <a:r>
              <a:rPr lang="pt-BR" dirty="0" smtClean="0"/>
              <a:t>Unificada  - (</a:t>
            </a:r>
            <a:r>
              <a:rPr lang="pt-BR" dirty="0" err="1" smtClean="0"/>
              <a:t>Unified</a:t>
            </a:r>
            <a:r>
              <a:rPr lang="pt-BR" dirty="0" smtClean="0"/>
              <a:t> </a:t>
            </a:r>
            <a:r>
              <a:rPr lang="pt-BR" dirty="0" err="1"/>
              <a:t>Modeling</a:t>
            </a:r>
            <a:r>
              <a:rPr lang="pt-BR" dirty="0"/>
              <a:t> </a:t>
            </a:r>
            <a:r>
              <a:rPr lang="pt-BR" dirty="0" err="1"/>
              <a:t>Language</a:t>
            </a:r>
            <a:r>
              <a:rPr lang="pt-BR" dirty="0"/>
              <a:t> – UML) </a:t>
            </a:r>
            <a:endParaRPr lang="pt-BR" dirty="0" smtClean="0"/>
          </a:p>
          <a:p>
            <a:pPr algn="just"/>
            <a:r>
              <a:rPr lang="pt-BR" dirty="0"/>
              <a:t>L</a:t>
            </a:r>
            <a:r>
              <a:rPr lang="pt-BR" dirty="0" smtClean="0"/>
              <a:t>inguagem </a:t>
            </a:r>
            <a:r>
              <a:rPr lang="pt-BR" dirty="0"/>
              <a:t>gráfica padrão para especificar, visualizar, documentar e construir artefatos de sistemas de software. </a:t>
            </a:r>
            <a:endParaRPr lang="pt-BR" dirty="0" smtClean="0"/>
          </a:p>
          <a:p>
            <a:pPr algn="just"/>
            <a:r>
              <a:rPr lang="pt-BR" dirty="0"/>
              <a:t>I</a:t>
            </a:r>
            <a:r>
              <a:rPr lang="pt-BR" dirty="0" smtClean="0"/>
              <a:t>ndependente </a:t>
            </a:r>
            <a:r>
              <a:rPr lang="pt-BR" dirty="0"/>
              <a:t>do processo de </a:t>
            </a:r>
            <a:r>
              <a:rPr lang="pt-BR" dirty="0" smtClean="0"/>
              <a:t>software: </a:t>
            </a:r>
            <a:r>
              <a:rPr lang="pt-BR" dirty="0"/>
              <a:t>mais adequada a processos de desenvolvimento orientados a objetos. </a:t>
            </a:r>
            <a:endParaRPr lang="pt-BR" dirty="0" smtClean="0"/>
          </a:p>
          <a:p>
            <a:pPr algn="just"/>
            <a:r>
              <a:rPr lang="pt-BR" dirty="0" smtClean="0"/>
              <a:t>Diagramas: podem </a:t>
            </a:r>
            <a:r>
              <a:rPr lang="pt-BR" dirty="0"/>
              <a:t>ser usados na modelagem de </a:t>
            </a:r>
            <a:r>
              <a:rPr lang="pt-BR" dirty="0" smtClean="0"/>
              <a:t>requisitos: </a:t>
            </a:r>
            <a:r>
              <a:rPr lang="pt-BR" dirty="0"/>
              <a:t>perspectiva estrutural </a:t>
            </a:r>
            <a:r>
              <a:rPr lang="pt-BR" dirty="0" smtClean="0"/>
              <a:t>e a comportamental</a:t>
            </a:r>
            <a:r>
              <a:rPr lang="pt-BR" dirty="0"/>
              <a:t>: </a:t>
            </a:r>
            <a:endParaRPr lang="pt-BR" dirty="0" smtClean="0"/>
          </a:p>
          <a:p>
            <a:pPr algn="just"/>
            <a:r>
              <a:rPr lang="pt-BR" b="1" dirty="0" smtClean="0"/>
              <a:t>Diagrama </a:t>
            </a:r>
            <a:r>
              <a:rPr lang="pt-BR" b="1" dirty="0"/>
              <a:t>de Classes</a:t>
            </a:r>
            <a:r>
              <a:rPr lang="pt-BR" dirty="0"/>
              <a:t>: usados na modelagem </a:t>
            </a:r>
            <a:r>
              <a:rPr lang="pt-BR" dirty="0" smtClean="0"/>
              <a:t>conceitual, modela </a:t>
            </a:r>
            <a:r>
              <a:rPr lang="pt-BR" dirty="0"/>
              <a:t>um conjunto de classes e seus </a:t>
            </a:r>
            <a:r>
              <a:rPr lang="pt-BR" dirty="0" smtClean="0"/>
              <a:t>relacionamentos definindo </a:t>
            </a:r>
            <a:r>
              <a:rPr lang="pt-BR" dirty="0"/>
              <a:t>visão estática da </a:t>
            </a:r>
            <a:r>
              <a:rPr lang="pt-BR" b="1" dirty="0"/>
              <a:t>estrutura</a:t>
            </a:r>
            <a:r>
              <a:rPr lang="pt-BR" dirty="0"/>
              <a:t> de um </a:t>
            </a:r>
            <a:r>
              <a:rPr lang="pt-BR" dirty="0" smtClean="0"/>
              <a:t>sistema.</a:t>
            </a:r>
          </a:p>
          <a:p>
            <a:pPr algn="just"/>
            <a:r>
              <a:rPr lang="pt-BR" b="1" dirty="0"/>
              <a:t>Diagrama de Casos de Uso</a:t>
            </a:r>
            <a:r>
              <a:rPr lang="pt-BR" dirty="0"/>
              <a:t>: </a:t>
            </a:r>
            <a:r>
              <a:rPr lang="pt-BR" dirty="0" smtClean="0"/>
              <a:t>mostra os </a:t>
            </a:r>
            <a:r>
              <a:rPr lang="pt-BR" dirty="0"/>
              <a:t>casos de </a:t>
            </a:r>
            <a:r>
              <a:rPr lang="pt-BR" dirty="0" smtClean="0"/>
              <a:t>uso, seus </a:t>
            </a:r>
            <a:r>
              <a:rPr lang="pt-BR" dirty="0"/>
              <a:t>atores </a:t>
            </a:r>
            <a:r>
              <a:rPr lang="pt-BR" dirty="0" smtClean="0"/>
              <a:t>e </a:t>
            </a:r>
            <a:r>
              <a:rPr lang="pt-BR" dirty="0"/>
              <a:t>relacionamentos. D</a:t>
            </a:r>
            <a:r>
              <a:rPr lang="pt-BR" dirty="0" smtClean="0"/>
              <a:t>escrevem </a:t>
            </a:r>
            <a:r>
              <a:rPr lang="pt-BR" dirty="0"/>
              <a:t>a funcionalidade do sistema percebida pelos atores externos. </a:t>
            </a:r>
            <a:r>
              <a:rPr lang="pt-BR" dirty="0" smtClean="0"/>
              <a:t>É uma perspectiva externa do sistema. Apresenta o </a:t>
            </a:r>
            <a:r>
              <a:rPr lang="pt-BR" b="1" dirty="0" smtClean="0"/>
              <a:t>comportamento </a:t>
            </a:r>
            <a:r>
              <a:rPr lang="pt-BR" dirty="0" smtClean="0"/>
              <a:t>do sistema</a:t>
            </a:r>
          </a:p>
          <a:p>
            <a:pPr algn="just"/>
            <a:r>
              <a:rPr lang="pt-BR" dirty="0" smtClean="0"/>
              <a:t>Ator </a:t>
            </a:r>
            <a:r>
              <a:rPr lang="pt-BR" dirty="0"/>
              <a:t>interage com o </a:t>
            </a:r>
            <a:r>
              <a:rPr lang="pt-BR" dirty="0" smtClean="0"/>
              <a:t>sistema: usuário </a:t>
            </a:r>
            <a:r>
              <a:rPr lang="pt-BR" dirty="0"/>
              <a:t>humano, dispositivo de hardware ou outro sistema. Diagramas de casos de uso proveem uma visão das funcionalidades do sistema.</a:t>
            </a:r>
            <a:endParaRPr lang="pt-PT" altLang="pt-BR" dirty="0" smtClean="0"/>
          </a:p>
        </p:txBody>
      </p:sp>
    </p:spTree>
    <p:extLst>
      <p:ext uri="{BB962C8B-B14F-4D97-AF65-F5344CB8AC3E}">
        <p14:creationId xmlns:p14="http://schemas.microsoft.com/office/powerpoint/2010/main" val="13869268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29</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Linguagem de Modelagem </a:t>
            </a:r>
            <a:r>
              <a:rPr lang="pt-BR" dirty="0" smtClean="0"/>
              <a:t>Unificada  - (</a:t>
            </a:r>
            <a:r>
              <a:rPr lang="pt-BR" dirty="0" err="1" smtClean="0"/>
              <a:t>Unified</a:t>
            </a:r>
            <a:r>
              <a:rPr lang="pt-BR" dirty="0" smtClean="0"/>
              <a:t> </a:t>
            </a:r>
            <a:r>
              <a:rPr lang="pt-BR" dirty="0" err="1"/>
              <a:t>Modeling</a:t>
            </a:r>
            <a:r>
              <a:rPr lang="pt-BR" dirty="0"/>
              <a:t> </a:t>
            </a:r>
            <a:r>
              <a:rPr lang="pt-BR" dirty="0" err="1"/>
              <a:t>Language</a:t>
            </a:r>
            <a:r>
              <a:rPr lang="pt-BR" dirty="0"/>
              <a:t> – UML) </a:t>
            </a:r>
            <a:endParaRPr lang="pt-BR" dirty="0" smtClean="0"/>
          </a:p>
          <a:p>
            <a:pPr algn="just"/>
            <a:r>
              <a:rPr lang="pt-BR" b="1" dirty="0"/>
              <a:t>Diagrama </a:t>
            </a:r>
            <a:r>
              <a:rPr lang="pt-BR" b="1" dirty="0" smtClean="0"/>
              <a:t>de Estados</a:t>
            </a:r>
            <a:r>
              <a:rPr lang="pt-BR" dirty="0" smtClean="0"/>
              <a:t>: </a:t>
            </a:r>
            <a:r>
              <a:rPr lang="pt-BR" dirty="0"/>
              <a:t>mostra os </a:t>
            </a:r>
            <a:r>
              <a:rPr lang="pt-BR" dirty="0" smtClean="0"/>
              <a:t>estados que </a:t>
            </a:r>
            <a:r>
              <a:rPr lang="pt-BR" dirty="0"/>
              <a:t>os objetos de uma </a:t>
            </a:r>
            <a:r>
              <a:rPr lang="pt-BR" dirty="0" smtClean="0"/>
              <a:t>classe </a:t>
            </a:r>
            <a:r>
              <a:rPr lang="pt-BR" dirty="0"/>
              <a:t>podem passar ao longo de suas vidas, em resposta a estímulos recebidos, juntamente com suas ações. </a:t>
            </a:r>
            <a:endParaRPr lang="pt-BR" dirty="0" smtClean="0"/>
          </a:p>
          <a:p>
            <a:pPr algn="just"/>
            <a:r>
              <a:rPr lang="pt-BR" dirty="0" smtClean="0"/>
              <a:t>Visão </a:t>
            </a:r>
            <a:r>
              <a:rPr lang="pt-BR" dirty="0"/>
              <a:t>dinâmica dos objetos de uma </a:t>
            </a:r>
            <a:r>
              <a:rPr lang="pt-BR" dirty="0" smtClean="0"/>
              <a:t>classe: </a:t>
            </a:r>
            <a:r>
              <a:rPr lang="pt-BR" dirty="0"/>
              <a:t>importantes para modelar o c</a:t>
            </a:r>
            <a:r>
              <a:rPr lang="pt-BR" b="1" dirty="0"/>
              <a:t>omportamento</a:t>
            </a:r>
            <a:r>
              <a:rPr lang="pt-BR" dirty="0"/>
              <a:t> de objetos de uma classe em </a:t>
            </a:r>
            <a:r>
              <a:rPr lang="pt-BR" dirty="0" smtClean="0"/>
              <a:t>resposta a ocorrência de eventos.</a:t>
            </a:r>
          </a:p>
          <a:p>
            <a:pPr algn="just"/>
            <a:r>
              <a:rPr lang="pt-BR" b="1" dirty="0" smtClean="0"/>
              <a:t>Diagrama </a:t>
            </a:r>
            <a:r>
              <a:rPr lang="pt-BR" b="1" dirty="0"/>
              <a:t>de Atividades</a:t>
            </a:r>
            <a:r>
              <a:rPr lang="pt-BR" dirty="0"/>
              <a:t>: mostra a estrutura de um processo. Provê uma visão dinâmica do sistema (ou </a:t>
            </a:r>
            <a:r>
              <a:rPr lang="pt-BR" dirty="0" smtClean="0"/>
              <a:t>parte) </a:t>
            </a:r>
            <a:r>
              <a:rPr lang="pt-BR" dirty="0"/>
              <a:t>e pode ser usado </a:t>
            </a:r>
            <a:r>
              <a:rPr lang="pt-BR" dirty="0" smtClean="0"/>
              <a:t>para </a:t>
            </a:r>
            <a:r>
              <a:rPr lang="pt-BR" dirty="0"/>
              <a:t>modelar processos de negócio </a:t>
            </a:r>
            <a:r>
              <a:rPr lang="pt-BR" dirty="0" smtClean="0"/>
              <a:t>e </a:t>
            </a:r>
            <a:r>
              <a:rPr lang="pt-BR" dirty="0"/>
              <a:t>funções do sistema. Um diagrama de atividades dá ênfase ao fluxo de controle entre objetos. </a:t>
            </a:r>
            <a:endParaRPr lang="pt-BR" dirty="0" smtClean="0"/>
          </a:p>
          <a:p>
            <a:pPr algn="just"/>
            <a:r>
              <a:rPr lang="pt-BR" b="1" dirty="0" smtClean="0"/>
              <a:t>Diagrama </a:t>
            </a:r>
            <a:r>
              <a:rPr lang="pt-BR" b="1" dirty="0"/>
              <a:t>de Interação</a:t>
            </a:r>
            <a:r>
              <a:rPr lang="pt-BR" dirty="0"/>
              <a:t>: mostra um conjunto de objetos interagindo, incluindo as mensagens que podem ser trocadas entre eles. Provê </a:t>
            </a:r>
            <a:r>
              <a:rPr lang="pt-BR" dirty="0" smtClean="0"/>
              <a:t>visão </a:t>
            </a:r>
            <a:r>
              <a:rPr lang="pt-BR" dirty="0"/>
              <a:t>dinâmica do </a:t>
            </a:r>
            <a:r>
              <a:rPr lang="pt-BR" b="1" dirty="0"/>
              <a:t>comportamento</a:t>
            </a:r>
            <a:r>
              <a:rPr lang="pt-BR" dirty="0"/>
              <a:t> de um sistema ou </a:t>
            </a:r>
            <a:r>
              <a:rPr lang="pt-BR" dirty="0" smtClean="0"/>
              <a:t>parte dele:</a:t>
            </a:r>
          </a:p>
          <a:p>
            <a:pPr algn="just"/>
            <a:r>
              <a:rPr lang="pt-BR" dirty="0" smtClean="0"/>
              <a:t>	Diagrama </a:t>
            </a:r>
            <a:r>
              <a:rPr lang="pt-BR" dirty="0"/>
              <a:t>de Sequência: dá ênfase à ordenação temporal das mensagens. </a:t>
            </a:r>
            <a:endParaRPr lang="pt-BR" dirty="0" smtClean="0"/>
          </a:p>
          <a:p>
            <a:pPr algn="just"/>
            <a:r>
              <a:rPr lang="pt-BR" dirty="0" smtClean="0"/>
              <a:t>	Diagrama </a:t>
            </a:r>
            <a:r>
              <a:rPr lang="pt-BR" dirty="0"/>
              <a:t>de Comunicação: </a:t>
            </a:r>
            <a:r>
              <a:rPr lang="pt-BR" dirty="0" smtClean="0"/>
              <a:t>propósito </a:t>
            </a:r>
            <a:r>
              <a:rPr lang="pt-BR" dirty="0"/>
              <a:t>do diagrama de sequência, </a:t>
            </a:r>
            <a:r>
              <a:rPr lang="pt-BR" dirty="0" smtClean="0"/>
              <a:t>com ênfase </a:t>
            </a:r>
            <a:r>
              <a:rPr lang="pt-BR" dirty="0"/>
              <a:t>na organização estrutural dos objetos que enviam ou recebem mensagens.</a:t>
            </a:r>
            <a:endParaRPr lang="pt-PT" altLang="pt-BR" dirty="0" smtClean="0"/>
          </a:p>
        </p:txBody>
      </p:sp>
    </p:spTree>
    <p:extLst>
      <p:ext uri="{BB962C8B-B14F-4D97-AF65-F5344CB8AC3E}">
        <p14:creationId xmlns:p14="http://schemas.microsoft.com/office/powerpoint/2010/main" val="31028589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30</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Linguagem de Modelagem </a:t>
            </a:r>
            <a:r>
              <a:rPr lang="pt-BR" dirty="0" smtClean="0"/>
              <a:t>Unificada  - (</a:t>
            </a:r>
            <a:r>
              <a:rPr lang="pt-BR" dirty="0" err="1" smtClean="0"/>
              <a:t>Unified</a:t>
            </a:r>
            <a:r>
              <a:rPr lang="pt-BR" dirty="0" smtClean="0"/>
              <a:t> </a:t>
            </a:r>
            <a:r>
              <a:rPr lang="pt-BR" dirty="0" err="1"/>
              <a:t>Modeling</a:t>
            </a:r>
            <a:r>
              <a:rPr lang="pt-BR" dirty="0"/>
              <a:t> </a:t>
            </a:r>
            <a:r>
              <a:rPr lang="pt-BR" dirty="0" err="1"/>
              <a:t>Language</a:t>
            </a:r>
            <a:r>
              <a:rPr lang="pt-BR" dirty="0"/>
              <a:t> – UML) </a:t>
            </a:r>
            <a:endParaRPr lang="pt-BR" dirty="0" smtClean="0"/>
          </a:p>
          <a:p>
            <a:pPr algn="just"/>
            <a:r>
              <a:rPr lang="pt-BR" dirty="0" smtClean="0"/>
              <a:t>Diagramas de </a:t>
            </a:r>
            <a:r>
              <a:rPr lang="pt-BR" dirty="0"/>
              <a:t>pacotes</a:t>
            </a:r>
            <a:r>
              <a:rPr lang="pt-BR" dirty="0" smtClean="0"/>
              <a:t>.</a:t>
            </a:r>
          </a:p>
          <a:p>
            <a:pPr algn="just"/>
            <a:r>
              <a:rPr lang="pt-BR" dirty="0"/>
              <a:t>P</a:t>
            </a:r>
            <a:r>
              <a:rPr lang="pt-BR" dirty="0" smtClean="0"/>
              <a:t>acote </a:t>
            </a:r>
            <a:r>
              <a:rPr lang="pt-BR" dirty="0"/>
              <a:t>é um mecanismo de propósito geral usado para organizar elementos de modelagem em grupos. </a:t>
            </a:r>
            <a:endParaRPr lang="pt-BR" dirty="0" smtClean="0"/>
          </a:p>
          <a:p>
            <a:pPr algn="just"/>
            <a:r>
              <a:rPr lang="pt-BR" dirty="0" smtClean="0"/>
              <a:t>Diagrama </a:t>
            </a:r>
            <a:r>
              <a:rPr lang="pt-BR" dirty="0"/>
              <a:t>de pacotes mostra a decomposição de um modelo em unidades menores e suas dependência</a:t>
            </a:r>
            <a:endParaRPr lang="pt-PT" altLang="pt-BR" dirty="0" smtClean="0"/>
          </a:p>
        </p:txBody>
      </p:sp>
      <p:sp>
        <p:nvSpPr>
          <p:cNvPr id="2" name="Retângulo 1"/>
          <p:cNvSpPr/>
          <p:nvPr/>
        </p:nvSpPr>
        <p:spPr>
          <a:xfrm>
            <a:off x="2708694" y="4054415"/>
            <a:ext cx="2415397" cy="1138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Atendimento ao cliente</a:t>
            </a:r>
            <a:endParaRPr lang="pt-BR" dirty="0"/>
          </a:p>
        </p:txBody>
      </p:sp>
      <p:sp>
        <p:nvSpPr>
          <p:cNvPr id="6" name="Retângulo 5"/>
          <p:cNvSpPr/>
          <p:nvPr/>
        </p:nvSpPr>
        <p:spPr>
          <a:xfrm>
            <a:off x="6087374" y="4054414"/>
            <a:ext cx="2415397" cy="1138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Controle de acervo</a:t>
            </a:r>
            <a:endParaRPr lang="pt-BR" dirty="0"/>
          </a:p>
        </p:txBody>
      </p:sp>
      <p:sp>
        <p:nvSpPr>
          <p:cNvPr id="3" name="Retângulo 2"/>
          <p:cNvSpPr/>
          <p:nvPr/>
        </p:nvSpPr>
        <p:spPr>
          <a:xfrm>
            <a:off x="2708694" y="3821502"/>
            <a:ext cx="983412" cy="232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p:cNvSpPr/>
          <p:nvPr/>
        </p:nvSpPr>
        <p:spPr>
          <a:xfrm>
            <a:off x="6087374" y="3761117"/>
            <a:ext cx="1081177" cy="293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p:cNvCxnSpPr>
            <a:stCxn id="2" idx="3"/>
            <a:endCxn id="6" idx="1"/>
          </p:cNvCxnSpPr>
          <p:nvPr/>
        </p:nvCxnSpPr>
        <p:spPr>
          <a:xfrm flipV="1">
            <a:off x="5124091" y="4623758"/>
            <a:ext cx="96328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4274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31</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34506" y="795128"/>
            <a:ext cx="12010845" cy="5831457"/>
          </a:xfrm>
        </p:spPr>
        <p:txBody>
          <a:bodyPr>
            <a:normAutofit/>
          </a:bodyPr>
          <a:lstStyle/>
          <a:p>
            <a:pPr algn="just"/>
            <a:r>
              <a:rPr lang="pt-BR" dirty="0"/>
              <a:t>Um Método de Análise de Requisitos Funcionais </a:t>
            </a:r>
            <a:endParaRPr lang="pt-BR" dirty="0" smtClean="0"/>
          </a:p>
          <a:p>
            <a:pPr algn="just"/>
            <a:endParaRPr lang="pt-BR" dirty="0"/>
          </a:p>
          <a:p>
            <a:pPr algn="just"/>
            <a:r>
              <a:rPr lang="pt-BR" dirty="0" smtClean="0"/>
              <a:t>Importantes </a:t>
            </a:r>
            <a:r>
              <a:rPr lang="pt-BR" dirty="0"/>
              <a:t>questões: </a:t>
            </a:r>
            <a:endParaRPr lang="pt-BR" dirty="0" smtClean="0"/>
          </a:p>
          <a:p>
            <a:pPr algn="just"/>
            <a:r>
              <a:rPr lang="pt-BR" dirty="0" smtClean="0"/>
              <a:t>Que </a:t>
            </a:r>
            <a:r>
              <a:rPr lang="pt-BR" dirty="0"/>
              <a:t>modelos produzir? Em que sequência? Quais as relações existentes entre esses modelos? </a:t>
            </a:r>
            <a:endParaRPr lang="pt-BR" dirty="0" smtClean="0"/>
          </a:p>
          <a:p>
            <a:pPr algn="just"/>
            <a:r>
              <a:rPr lang="pt-BR" dirty="0" smtClean="0"/>
              <a:t>Estas </a:t>
            </a:r>
            <a:r>
              <a:rPr lang="pt-BR" dirty="0"/>
              <a:t>questões podem ser parcialmente respondidas pela adoção de um método de análise. </a:t>
            </a:r>
            <a:endParaRPr lang="pt-BR" dirty="0" smtClean="0"/>
          </a:p>
          <a:p>
            <a:pPr algn="just"/>
            <a:r>
              <a:rPr lang="pt-BR" dirty="0" smtClean="0"/>
              <a:t>Um </a:t>
            </a:r>
            <a:r>
              <a:rPr lang="pt-BR" dirty="0"/>
              <a:t>método é composto por uma linguagem estabelecendo a notação a ser usada na elaboração dos artefatos a serem produzidos e de um processo descrevendo que artefatos construir e como construí-los. </a:t>
            </a:r>
            <a:endParaRPr lang="pt-BR" dirty="0" smtClean="0"/>
          </a:p>
          <a:p>
            <a:pPr algn="just"/>
            <a:r>
              <a:rPr lang="pt-BR" dirty="0" smtClean="0"/>
              <a:t>O </a:t>
            </a:r>
            <a:r>
              <a:rPr lang="pt-BR" dirty="0"/>
              <a:t>método utilizado </a:t>
            </a:r>
            <a:r>
              <a:rPr lang="pt-BR" dirty="0" smtClean="0"/>
              <a:t>adota </a:t>
            </a:r>
            <a:r>
              <a:rPr lang="pt-BR" dirty="0"/>
              <a:t>a Linguagem de Modelagem Unificada (</a:t>
            </a:r>
            <a:r>
              <a:rPr lang="pt-BR" dirty="0" err="1"/>
              <a:t>Unified</a:t>
            </a:r>
            <a:r>
              <a:rPr lang="pt-BR" dirty="0"/>
              <a:t> </a:t>
            </a:r>
            <a:r>
              <a:rPr lang="pt-BR" dirty="0" err="1"/>
              <a:t>Modeling</a:t>
            </a:r>
            <a:r>
              <a:rPr lang="pt-BR" dirty="0"/>
              <a:t> </a:t>
            </a:r>
            <a:r>
              <a:rPr lang="pt-BR" dirty="0" err="1"/>
              <a:t>Language</a:t>
            </a:r>
            <a:r>
              <a:rPr lang="pt-BR" dirty="0"/>
              <a:t> – UML) como linguagem de modelagem e prescreve o seguinte processo:</a:t>
            </a:r>
            <a:endParaRPr lang="pt-PT" altLang="pt-BR" dirty="0" smtClean="0"/>
          </a:p>
        </p:txBody>
      </p:sp>
    </p:spTree>
    <p:extLst>
      <p:ext uri="{BB962C8B-B14F-4D97-AF65-F5344CB8AC3E}">
        <p14:creationId xmlns:p14="http://schemas.microsoft.com/office/powerpoint/2010/main" val="23242675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32</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34506" y="795128"/>
            <a:ext cx="12010845" cy="5831457"/>
          </a:xfrm>
        </p:spPr>
        <p:txBody>
          <a:bodyPr>
            <a:normAutofit/>
          </a:bodyPr>
          <a:lstStyle/>
          <a:p>
            <a:pPr algn="just"/>
            <a:r>
              <a:rPr lang="pt-BR" dirty="0"/>
              <a:t>Um Método de Análise de Requisitos Funcionais </a:t>
            </a:r>
            <a:endParaRPr lang="pt-BR" dirty="0" smtClean="0"/>
          </a:p>
        </p:txBody>
      </p:sp>
      <p:sp>
        <p:nvSpPr>
          <p:cNvPr id="2" name="Retângulo 1"/>
          <p:cNvSpPr/>
          <p:nvPr/>
        </p:nvSpPr>
        <p:spPr>
          <a:xfrm>
            <a:off x="1992702" y="1854679"/>
            <a:ext cx="1630392" cy="638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Modelagem de casos de uso</a:t>
            </a:r>
            <a:endParaRPr lang="pt-BR" dirty="0"/>
          </a:p>
        </p:txBody>
      </p:sp>
      <p:sp>
        <p:nvSpPr>
          <p:cNvPr id="3" name="Retângulo 2"/>
          <p:cNvSpPr/>
          <p:nvPr/>
        </p:nvSpPr>
        <p:spPr>
          <a:xfrm>
            <a:off x="2027208" y="3079630"/>
            <a:ext cx="1699403" cy="7936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Modelagem estrutural</a:t>
            </a:r>
            <a:endParaRPr lang="pt-BR" dirty="0"/>
          </a:p>
        </p:txBody>
      </p:sp>
      <p:sp>
        <p:nvSpPr>
          <p:cNvPr id="4" name="Retângulo 3"/>
          <p:cNvSpPr/>
          <p:nvPr/>
        </p:nvSpPr>
        <p:spPr>
          <a:xfrm>
            <a:off x="2096219" y="4408098"/>
            <a:ext cx="1860430" cy="733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Modelagem comportamental e  </a:t>
            </a:r>
            <a:r>
              <a:rPr lang="pt-BR" dirty="0" err="1" smtClean="0"/>
              <a:t>dinamica</a:t>
            </a:r>
            <a:endParaRPr lang="pt-BR" dirty="0"/>
          </a:p>
        </p:txBody>
      </p:sp>
      <p:sp>
        <p:nvSpPr>
          <p:cNvPr id="5" name="Retângulo 4"/>
          <p:cNvSpPr/>
          <p:nvPr/>
        </p:nvSpPr>
        <p:spPr>
          <a:xfrm>
            <a:off x="4382219" y="1431985"/>
            <a:ext cx="2484407" cy="6728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err="1" smtClean="0"/>
              <a:t>Dcumento</a:t>
            </a:r>
            <a:r>
              <a:rPr lang="pt-BR" dirty="0" smtClean="0"/>
              <a:t> de definição requisitos (funcionais do cliente</a:t>
            </a:r>
            <a:endParaRPr lang="pt-BR" dirty="0"/>
          </a:p>
        </p:txBody>
      </p:sp>
      <p:cxnSp>
        <p:nvCxnSpPr>
          <p:cNvPr id="7" name="Conector de seta reta 6"/>
          <p:cNvCxnSpPr>
            <a:endCxn id="2" idx="3"/>
          </p:cNvCxnSpPr>
          <p:nvPr/>
        </p:nvCxnSpPr>
        <p:spPr>
          <a:xfrm flipH="1">
            <a:off x="3623094" y="1794294"/>
            <a:ext cx="698740" cy="379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tângulo 7"/>
          <p:cNvSpPr/>
          <p:nvPr/>
        </p:nvSpPr>
        <p:spPr>
          <a:xfrm>
            <a:off x="4485736" y="2493034"/>
            <a:ext cx="2380890" cy="707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Diagrama de casos de uso e descrições de casos de uso</a:t>
            </a:r>
            <a:endParaRPr lang="pt-BR" dirty="0"/>
          </a:p>
        </p:txBody>
      </p:sp>
      <p:cxnSp>
        <p:nvCxnSpPr>
          <p:cNvPr id="10" name="Conector de seta reta 9"/>
          <p:cNvCxnSpPr>
            <a:stCxn id="8" idx="1"/>
          </p:cNvCxnSpPr>
          <p:nvPr/>
        </p:nvCxnSpPr>
        <p:spPr>
          <a:xfrm flipH="1">
            <a:off x="3623094" y="2846717"/>
            <a:ext cx="862642" cy="526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tângulo 10"/>
          <p:cNvSpPr/>
          <p:nvPr/>
        </p:nvSpPr>
        <p:spPr>
          <a:xfrm>
            <a:off x="4485736" y="4149306"/>
            <a:ext cx="2380890" cy="724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Modelo de classes: diagrama de classes e dicionário de dados</a:t>
            </a:r>
            <a:endParaRPr lang="pt-BR" dirty="0"/>
          </a:p>
        </p:txBody>
      </p:sp>
      <p:cxnSp>
        <p:nvCxnSpPr>
          <p:cNvPr id="13" name="Conector de seta reta 12"/>
          <p:cNvCxnSpPr>
            <a:endCxn id="11" idx="1"/>
          </p:cNvCxnSpPr>
          <p:nvPr/>
        </p:nvCxnSpPr>
        <p:spPr>
          <a:xfrm>
            <a:off x="3726611" y="3657600"/>
            <a:ext cx="759125" cy="85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tângulo 13"/>
          <p:cNvSpPr/>
          <p:nvPr/>
        </p:nvSpPr>
        <p:spPr>
          <a:xfrm>
            <a:off x="4382219" y="5365630"/>
            <a:ext cx="2484407" cy="10783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Modelo dinâmico diagrama de estado, atividade, interação</a:t>
            </a:r>
            <a:endParaRPr lang="pt-BR" dirty="0"/>
          </a:p>
        </p:txBody>
      </p:sp>
      <p:cxnSp>
        <p:nvCxnSpPr>
          <p:cNvPr id="16" name="Conector de seta reta 15"/>
          <p:cNvCxnSpPr/>
          <p:nvPr/>
        </p:nvCxnSpPr>
        <p:spPr>
          <a:xfrm>
            <a:off x="3726611" y="5141343"/>
            <a:ext cx="595223" cy="759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a:off x="3623094" y="2329132"/>
            <a:ext cx="923027" cy="414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p:cNvCxnSpPr/>
          <p:nvPr/>
        </p:nvCxnSpPr>
        <p:spPr>
          <a:xfrm flipH="1">
            <a:off x="3786996" y="3200400"/>
            <a:ext cx="854015" cy="1207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tângulo 20"/>
          <p:cNvSpPr/>
          <p:nvPr/>
        </p:nvSpPr>
        <p:spPr>
          <a:xfrm>
            <a:off x="7453223" y="3873260"/>
            <a:ext cx="1595886" cy="1000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Elaboração especificação de requisitos</a:t>
            </a:r>
            <a:endParaRPr lang="pt-BR" dirty="0"/>
          </a:p>
        </p:txBody>
      </p:sp>
      <p:cxnSp>
        <p:nvCxnSpPr>
          <p:cNvPr id="23" name="Conector de seta reta 22"/>
          <p:cNvCxnSpPr/>
          <p:nvPr/>
        </p:nvCxnSpPr>
        <p:spPr>
          <a:xfrm>
            <a:off x="6952891" y="4511616"/>
            <a:ext cx="526210" cy="6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tângulo 23"/>
          <p:cNvSpPr/>
          <p:nvPr/>
        </p:nvSpPr>
        <p:spPr>
          <a:xfrm>
            <a:off x="9678838" y="3657600"/>
            <a:ext cx="2018581" cy="1112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Verificação e validação da especificação de requisitos</a:t>
            </a:r>
            <a:endParaRPr lang="pt-BR" dirty="0"/>
          </a:p>
        </p:txBody>
      </p:sp>
      <p:cxnSp>
        <p:nvCxnSpPr>
          <p:cNvPr id="26" name="Conector de seta reta 25"/>
          <p:cNvCxnSpPr/>
          <p:nvPr/>
        </p:nvCxnSpPr>
        <p:spPr>
          <a:xfrm flipV="1">
            <a:off x="9083615" y="4410256"/>
            <a:ext cx="629729" cy="159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do 27"/>
          <p:cNvCxnSpPr/>
          <p:nvPr/>
        </p:nvCxnSpPr>
        <p:spPr>
          <a:xfrm>
            <a:off x="6728604" y="3010619"/>
            <a:ext cx="1181819" cy="76775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tângulo 28"/>
          <p:cNvSpPr/>
          <p:nvPr/>
        </p:nvSpPr>
        <p:spPr>
          <a:xfrm>
            <a:off x="8540151" y="2493034"/>
            <a:ext cx="1561381" cy="7073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Documento de </a:t>
            </a:r>
            <a:r>
              <a:rPr lang="pt-BR" dirty="0" err="1" smtClean="0"/>
              <a:t>espeficicação</a:t>
            </a:r>
            <a:r>
              <a:rPr lang="pt-BR" dirty="0" smtClean="0"/>
              <a:t> de </a:t>
            </a:r>
            <a:r>
              <a:rPr lang="pt-BR" dirty="0" err="1" smtClean="0"/>
              <a:t>requsitos</a:t>
            </a:r>
            <a:endParaRPr lang="pt-BR" dirty="0"/>
          </a:p>
        </p:txBody>
      </p:sp>
      <p:cxnSp>
        <p:nvCxnSpPr>
          <p:cNvPr id="31" name="Conector de seta reta 30"/>
          <p:cNvCxnSpPr>
            <a:stCxn id="21" idx="0"/>
          </p:cNvCxnSpPr>
          <p:nvPr/>
        </p:nvCxnSpPr>
        <p:spPr>
          <a:xfrm flipV="1">
            <a:off x="8251166" y="3260785"/>
            <a:ext cx="797943" cy="612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p:cNvCxnSpPr/>
          <p:nvPr/>
        </p:nvCxnSpPr>
        <p:spPr>
          <a:xfrm>
            <a:off x="10114471" y="2943106"/>
            <a:ext cx="698739" cy="700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ector de seta reta 34"/>
          <p:cNvCxnSpPr/>
          <p:nvPr/>
        </p:nvCxnSpPr>
        <p:spPr>
          <a:xfrm flipV="1">
            <a:off x="1190445" y="6159260"/>
            <a:ext cx="8307238" cy="458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reto 36"/>
          <p:cNvCxnSpPr/>
          <p:nvPr/>
        </p:nvCxnSpPr>
        <p:spPr>
          <a:xfrm>
            <a:off x="1130060" y="2199735"/>
            <a:ext cx="120770" cy="44411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de seta reta 38"/>
          <p:cNvCxnSpPr>
            <a:endCxn id="2" idx="1"/>
          </p:cNvCxnSpPr>
          <p:nvPr/>
        </p:nvCxnSpPr>
        <p:spPr>
          <a:xfrm flipV="1">
            <a:off x="1155940" y="2173857"/>
            <a:ext cx="836762" cy="603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p:cNvCxnSpPr/>
          <p:nvPr/>
        </p:nvCxnSpPr>
        <p:spPr>
          <a:xfrm>
            <a:off x="1250830" y="3562709"/>
            <a:ext cx="595223" cy="17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p:cNvCxnSpPr>
            <a:endCxn id="4" idx="1"/>
          </p:cNvCxnSpPr>
          <p:nvPr/>
        </p:nvCxnSpPr>
        <p:spPr>
          <a:xfrm>
            <a:off x="1250830" y="4770408"/>
            <a:ext cx="845389" cy="4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tângulo 43"/>
          <p:cNvSpPr/>
          <p:nvPr/>
        </p:nvSpPr>
        <p:spPr>
          <a:xfrm>
            <a:off x="7660257" y="5805577"/>
            <a:ext cx="1639018" cy="821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Der não aprovação ou </a:t>
            </a:r>
            <a:r>
              <a:rPr lang="pt-BR" dirty="0" err="1" smtClean="0"/>
              <a:t>nãofinalizado</a:t>
            </a:r>
            <a:endParaRPr lang="pt-BR" dirty="0"/>
          </a:p>
        </p:txBody>
      </p:sp>
      <p:sp>
        <p:nvSpPr>
          <p:cNvPr id="45" name="Retângulo 44"/>
          <p:cNvSpPr/>
          <p:nvPr/>
        </p:nvSpPr>
        <p:spPr>
          <a:xfrm>
            <a:off x="9575322" y="5715001"/>
            <a:ext cx="2470030" cy="7289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Der completo a provado</a:t>
            </a:r>
            <a:endParaRPr lang="pt-BR" dirty="0"/>
          </a:p>
        </p:txBody>
      </p:sp>
      <p:sp>
        <p:nvSpPr>
          <p:cNvPr id="46" name="Elipse 45"/>
          <p:cNvSpPr/>
          <p:nvPr/>
        </p:nvSpPr>
        <p:spPr>
          <a:xfrm>
            <a:off x="2760453" y="1237891"/>
            <a:ext cx="94890" cy="194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8" name="Conector de seta reta 47"/>
          <p:cNvCxnSpPr>
            <a:stCxn id="46" idx="4"/>
          </p:cNvCxnSpPr>
          <p:nvPr/>
        </p:nvCxnSpPr>
        <p:spPr>
          <a:xfrm>
            <a:off x="2807898" y="1431985"/>
            <a:ext cx="21566" cy="327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Elipse 48"/>
          <p:cNvSpPr/>
          <p:nvPr/>
        </p:nvSpPr>
        <p:spPr>
          <a:xfrm>
            <a:off x="11602528" y="6524566"/>
            <a:ext cx="94891" cy="1969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975354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33</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34506" y="795128"/>
            <a:ext cx="12010845" cy="5831457"/>
          </a:xfrm>
        </p:spPr>
        <p:txBody>
          <a:bodyPr>
            <a:normAutofit/>
          </a:bodyPr>
          <a:lstStyle/>
          <a:p>
            <a:pPr algn="just"/>
            <a:r>
              <a:rPr lang="pt-BR" dirty="0"/>
              <a:t>Um Método de Análise de Requisitos Funcionais </a:t>
            </a:r>
            <a:endParaRPr lang="pt-BR" dirty="0" smtClean="0"/>
          </a:p>
          <a:p>
            <a:pPr algn="just"/>
            <a:endParaRPr lang="pt-BR" dirty="0"/>
          </a:p>
          <a:p>
            <a:pPr algn="just"/>
            <a:r>
              <a:rPr lang="pt-BR" dirty="0"/>
              <a:t>A</a:t>
            </a:r>
            <a:r>
              <a:rPr lang="pt-BR" dirty="0" smtClean="0"/>
              <a:t>bordagem </a:t>
            </a:r>
            <a:r>
              <a:rPr lang="pt-BR" dirty="0"/>
              <a:t>baseada em objetivos (</a:t>
            </a:r>
            <a:r>
              <a:rPr lang="pt-BR" dirty="0" err="1"/>
              <a:t>Goal-Oriented</a:t>
            </a:r>
            <a:r>
              <a:rPr lang="pt-BR" dirty="0"/>
              <a:t> </a:t>
            </a:r>
            <a:r>
              <a:rPr lang="pt-BR" dirty="0" err="1"/>
              <a:t>Requirements</a:t>
            </a:r>
            <a:r>
              <a:rPr lang="pt-BR" dirty="0"/>
              <a:t> </a:t>
            </a:r>
            <a:r>
              <a:rPr lang="pt-BR" dirty="0" err="1"/>
              <a:t>Engineering</a:t>
            </a:r>
            <a:r>
              <a:rPr lang="pt-BR" dirty="0"/>
              <a:t> – GORE) for </a:t>
            </a:r>
            <a:r>
              <a:rPr lang="pt-BR" dirty="0" smtClean="0"/>
              <a:t>adotada: nova </a:t>
            </a:r>
            <a:r>
              <a:rPr lang="pt-BR" dirty="0"/>
              <a:t>atividade deve ser inserida no início do processo: a Análise de Objetivos. </a:t>
            </a:r>
          </a:p>
          <a:p>
            <a:pPr algn="just"/>
            <a:r>
              <a:rPr lang="pt-BR" dirty="0"/>
              <a:t>A</a:t>
            </a:r>
            <a:r>
              <a:rPr lang="pt-BR" dirty="0" smtClean="0"/>
              <a:t>bordagem convencional: </a:t>
            </a:r>
            <a:r>
              <a:rPr lang="pt-BR" dirty="0"/>
              <a:t>o primeiro modelo a ser construído é </a:t>
            </a:r>
            <a:r>
              <a:rPr lang="pt-BR" dirty="0" smtClean="0"/>
              <a:t>o modelo </a:t>
            </a:r>
            <a:r>
              <a:rPr lang="pt-BR" dirty="0"/>
              <a:t>de casos de </a:t>
            </a:r>
            <a:r>
              <a:rPr lang="pt-BR" dirty="0" smtClean="0"/>
              <a:t>uso que são simples, </a:t>
            </a:r>
            <a:r>
              <a:rPr lang="pt-BR" dirty="0"/>
              <a:t>passível de </a:t>
            </a:r>
            <a:r>
              <a:rPr lang="pt-BR" dirty="0" smtClean="0"/>
              <a:t>compreensão </a:t>
            </a:r>
            <a:r>
              <a:rPr lang="pt-BR" dirty="0"/>
              <a:t>por </a:t>
            </a:r>
            <a:r>
              <a:rPr lang="pt-BR" dirty="0" smtClean="0"/>
              <a:t>desenvolvedores (analistas</a:t>
            </a:r>
            <a:r>
              <a:rPr lang="pt-BR" dirty="0"/>
              <a:t>, projetistas, programadores e </a:t>
            </a:r>
            <a:r>
              <a:rPr lang="pt-BR" dirty="0" smtClean="0"/>
              <a:t>testadores) e pela </a:t>
            </a:r>
            <a:r>
              <a:rPr lang="pt-BR" dirty="0"/>
              <a:t>comunidade </a:t>
            </a:r>
            <a:r>
              <a:rPr lang="pt-BR" dirty="0" smtClean="0"/>
              <a:t>usuária (clientes</a:t>
            </a:r>
            <a:r>
              <a:rPr lang="pt-BR" dirty="0"/>
              <a:t>, usuários e demais </a:t>
            </a:r>
            <a:r>
              <a:rPr lang="pt-BR" dirty="0" smtClean="0"/>
              <a:t>interessados). </a:t>
            </a:r>
          </a:p>
          <a:p>
            <a:pPr algn="just"/>
            <a:r>
              <a:rPr lang="pt-BR" dirty="0" smtClean="0"/>
              <a:t> </a:t>
            </a:r>
            <a:r>
              <a:rPr lang="pt-BR" dirty="0"/>
              <a:t>M</a:t>
            </a:r>
            <a:r>
              <a:rPr lang="pt-BR" dirty="0" smtClean="0"/>
              <a:t>odelo </a:t>
            </a:r>
            <a:r>
              <a:rPr lang="pt-BR" dirty="0"/>
              <a:t>de casos de uso é </a:t>
            </a:r>
            <a:r>
              <a:rPr lang="pt-BR" dirty="0" smtClean="0"/>
              <a:t>comportamental: mostra </a:t>
            </a:r>
            <a:r>
              <a:rPr lang="pt-BR" dirty="0"/>
              <a:t>funções do sistema de maneira estática. C</a:t>
            </a:r>
            <a:r>
              <a:rPr lang="pt-BR" dirty="0" smtClean="0"/>
              <a:t>omposto </a:t>
            </a:r>
            <a:r>
              <a:rPr lang="pt-BR" dirty="0"/>
              <a:t>de dois artefatos: os diagramas de casos de uso e as descrições de casos de uso.</a:t>
            </a:r>
            <a:endParaRPr lang="pt-PT" altLang="pt-BR" dirty="0" smtClean="0"/>
          </a:p>
        </p:txBody>
      </p:sp>
    </p:spTree>
    <p:extLst>
      <p:ext uri="{BB962C8B-B14F-4D97-AF65-F5344CB8AC3E}">
        <p14:creationId xmlns:p14="http://schemas.microsoft.com/office/powerpoint/2010/main" val="22801886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34</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a:t>
            </a:r>
            <a:r>
              <a:rPr lang="pt-BR" altLang="pt-BR" sz="3600" dirty="0" smtClean="0"/>
              <a:t>requisitos </a:t>
            </a:r>
            <a:r>
              <a:rPr lang="pt-BR" altLang="pt-BR" sz="3600" dirty="0" err="1" smtClean="0"/>
              <a:t>Requisitos</a:t>
            </a:r>
            <a:r>
              <a:rPr lang="pt-BR" altLang="pt-BR" sz="3600" dirty="0" smtClean="0"/>
              <a:t> funcionais</a:t>
            </a:r>
            <a:r>
              <a:rPr lang="pt-BR" altLang="pt-BR" sz="3600" dirty="0"/>
              <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34506" y="795128"/>
            <a:ext cx="12010845" cy="5831457"/>
          </a:xfrm>
        </p:spPr>
        <p:txBody>
          <a:bodyPr>
            <a:normAutofit lnSpcReduction="10000"/>
          </a:bodyPr>
          <a:lstStyle/>
          <a:p>
            <a:pPr algn="just"/>
            <a:r>
              <a:rPr lang="pt-BR" dirty="0" smtClean="0"/>
              <a:t>Casos de uso</a:t>
            </a:r>
          </a:p>
          <a:p>
            <a:pPr algn="just"/>
            <a:r>
              <a:rPr lang="pt-BR" dirty="0" smtClean="0"/>
              <a:t> As </a:t>
            </a:r>
            <a:r>
              <a:rPr lang="pt-BR" dirty="0"/>
              <a:t>descrições </a:t>
            </a:r>
            <a:r>
              <a:rPr lang="pt-BR" dirty="0" smtClean="0"/>
              <a:t>do </a:t>
            </a:r>
            <a:r>
              <a:rPr lang="pt-BR" dirty="0"/>
              <a:t>passo a passo para a realização </a:t>
            </a:r>
            <a:r>
              <a:rPr lang="pt-BR" dirty="0" smtClean="0"/>
              <a:t>das funcionalidades são textuais mostrando como  </a:t>
            </a:r>
            <a:r>
              <a:rPr lang="pt-BR" dirty="0"/>
              <a:t>são realizados internamente, complementando os diagramas</a:t>
            </a:r>
            <a:r>
              <a:rPr lang="pt-BR" dirty="0" smtClean="0"/>
              <a:t>.</a:t>
            </a:r>
          </a:p>
          <a:p>
            <a:pPr algn="just"/>
            <a:r>
              <a:rPr lang="pt-BR" dirty="0" smtClean="0"/>
              <a:t>O  diagrama de casos de uso e suas </a:t>
            </a:r>
            <a:r>
              <a:rPr lang="pt-BR" dirty="0"/>
              <a:t>descrições, </a:t>
            </a:r>
            <a:r>
              <a:rPr lang="pt-BR" dirty="0" smtClean="0"/>
              <a:t>alimentam a </a:t>
            </a:r>
            <a:r>
              <a:rPr lang="pt-BR" dirty="0"/>
              <a:t>modelagem conceitual </a:t>
            </a:r>
            <a:r>
              <a:rPr lang="pt-BR" dirty="0" smtClean="0"/>
              <a:t>estrutural. Capturam-se </a:t>
            </a:r>
            <a:r>
              <a:rPr lang="pt-BR" dirty="0"/>
              <a:t>conceitos e relacionamentos envolvidos no </a:t>
            </a:r>
            <a:r>
              <a:rPr lang="pt-BR" dirty="0" smtClean="0"/>
              <a:t>domínio criando-se um </a:t>
            </a:r>
            <a:r>
              <a:rPr lang="pt-BR" dirty="0"/>
              <a:t>conjunto de diagramas de classes. </a:t>
            </a:r>
            <a:endParaRPr lang="pt-BR" dirty="0" smtClean="0"/>
          </a:p>
          <a:p>
            <a:pPr algn="just"/>
            <a:r>
              <a:rPr lang="pt-BR" dirty="0" smtClean="0"/>
              <a:t>Dicionário </a:t>
            </a:r>
            <a:r>
              <a:rPr lang="pt-BR" dirty="0"/>
              <a:t>de </a:t>
            </a:r>
            <a:r>
              <a:rPr lang="pt-BR" dirty="0" smtClean="0"/>
              <a:t>dados: definem-se </a:t>
            </a:r>
            <a:r>
              <a:rPr lang="pt-BR" dirty="0"/>
              <a:t>significado dos </a:t>
            </a:r>
            <a:r>
              <a:rPr lang="pt-BR" dirty="0" smtClean="0"/>
              <a:t>conceitos, propriedades e restrições, documentadas</a:t>
            </a:r>
          </a:p>
          <a:p>
            <a:pPr algn="just"/>
            <a:r>
              <a:rPr lang="pt-BR" dirty="0"/>
              <a:t>Algumas classes do modelo estrutural apresentam um comportamento dependente de seu </a:t>
            </a:r>
            <a:r>
              <a:rPr lang="pt-BR" dirty="0" smtClean="0"/>
              <a:t>estado: </a:t>
            </a:r>
            <a:r>
              <a:rPr lang="pt-BR" dirty="0"/>
              <a:t>útil elaborar diagramas de estados, mostrando os estados pelos quais um objeto da classe pode passar ao longo de sua existência e os eventos que provocam transições de estados. </a:t>
            </a:r>
          </a:p>
          <a:p>
            <a:pPr algn="just"/>
            <a:r>
              <a:rPr lang="pt-BR" dirty="0"/>
              <a:t>C</a:t>
            </a:r>
            <a:r>
              <a:rPr lang="pt-BR" dirty="0" smtClean="0"/>
              <a:t>asos </a:t>
            </a:r>
            <a:r>
              <a:rPr lang="pt-BR" dirty="0"/>
              <a:t>de uso são representados </a:t>
            </a:r>
            <a:r>
              <a:rPr lang="pt-BR" dirty="0" smtClean="0"/>
              <a:t>de </a:t>
            </a:r>
            <a:r>
              <a:rPr lang="pt-BR" dirty="0"/>
              <a:t>maneira </a:t>
            </a:r>
            <a:r>
              <a:rPr lang="pt-BR" dirty="0" smtClean="0"/>
              <a:t>estática: útil mostrar sua dinâmica, </a:t>
            </a:r>
            <a:r>
              <a:rPr lang="pt-BR" dirty="0"/>
              <a:t>representando como objetos do diagrama de classes interagem para realizar um caso de uso. Os diagramas de </a:t>
            </a:r>
            <a:r>
              <a:rPr lang="pt-BR" b="1" dirty="0"/>
              <a:t>interação</a:t>
            </a:r>
            <a:r>
              <a:rPr lang="pt-BR" dirty="0"/>
              <a:t> são elaborados com este propósito</a:t>
            </a:r>
            <a:r>
              <a:rPr lang="pt-BR" dirty="0" smtClean="0"/>
              <a:t>.</a:t>
            </a:r>
          </a:p>
          <a:p>
            <a:pPr algn="just"/>
            <a:r>
              <a:rPr lang="pt-BR" dirty="0"/>
              <a:t>Diagrama de atividade: útil para representar os passos do caso de uso </a:t>
            </a:r>
            <a:r>
              <a:rPr lang="pt-BR" dirty="0" smtClean="0"/>
              <a:t>mostrando </a:t>
            </a:r>
            <a:r>
              <a:rPr lang="pt-BR" dirty="0"/>
              <a:t>objetos gerados e os atores envolvidos em cada passo. </a:t>
            </a:r>
          </a:p>
          <a:p>
            <a:pPr algn="just"/>
            <a:endParaRPr lang="pt-PT" altLang="pt-BR" dirty="0" smtClean="0"/>
          </a:p>
        </p:txBody>
      </p:sp>
    </p:spTree>
    <p:extLst>
      <p:ext uri="{BB962C8B-B14F-4D97-AF65-F5344CB8AC3E}">
        <p14:creationId xmlns:p14="http://schemas.microsoft.com/office/powerpoint/2010/main" val="22586897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35</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a:t>
            </a:r>
            <a:r>
              <a:rPr lang="pt-BR" altLang="pt-BR" sz="3600" dirty="0" smtClean="0"/>
              <a:t>requisitos - Funcionais</a:t>
            </a:r>
            <a:r>
              <a:rPr lang="pt-BR" altLang="pt-BR" sz="3600" dirty="0"/>
              <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smtClean="0"/>
              <a:t>Paralelamente </a:t>
            </a:r>
            <a:r>
              <a:rPr lang="pt-BR" dirty="0"/>
              <a:t>à modelagem de casos de uso, pode-se iniciar a modelagem conceitual estrutural. </a:t>
            </a:r>
            <a:endParaRPr lang="pt-BR" dirty="0" smtClean="0"/>
          </a:p>
          <a:p>
            <a:pPr algn="just"/>
            <a:r>
              <a:rPr lang="pt-BR" dirty="0" smtClean="0"/>
              <a:t>Diagramas </a:t>
            </a:r>
            <a:r>
              <a:rPr lang="pt-BR" dirty="0"/>
              <a:t>de atividade podem também ser elaborados em conjunto com a definição dos casos de uso, de maneira a complementar a descrição de casos de uso específicos. Diagramas de estado e de interação requerem a definição preliminar de casos de uso e classes. Contudo, podem ter sido definidos apenas alguns casos de uso e classes (e não todos eles) para já iniciar a elaboração desses diagramas</a:t>
            </a:r>
            <a:r>
              <a:rPr lang="pt-BR" dirty="0" smtClean="0"/>
              <a:t>.</a:t>
            </a:r>
          </a:p>
          <a:p>
            <a:pPr algn="just"/>
            <a:r>
              <a:rPr lang="pt-BR" dirty="0" smtClean="0"/>
              <a:t>Documento </a:t>
            </a:r>
            <a:r>
              <a:rPr lang="pt-BR" dirty="0"/>
              <a:t>de especificação de </a:t>
            </a:r>
            <a:r>
              <a:rPr lang="pt-BR" dirty="0" smtClean="0"/>
              <a:t>requisitos:  já deve iniciar sua elaboração. </a:t>
            </a:r>
            <a:endParaRPr lang="pt-BR" dirty="0"/>
          </a:p>
          <a:p>
            <a:pPr algn="just"/>
            <a:r>
              <a:rPr lang="pt-BR" dirty="0"/>
              <a:t>V</a:t>
            </a:r>
            <a:r>
              <a:rPr lang="pt-BR" dirty="0" smtClean="0"/>
              <a:t>erificação </a:t>
            </a:r>
            <a:r>
              <a:rPr lang="pt-BR" dirty="0"/>
              <a:t>e </a:t>
            </a:r>
            <a:r>
              <a:rPr lang="pt-BR" dirty="0" smtClean="0"/>
              <a:t>Validação podem </a:t>
            </a:r>
            <a:r>
              <a:rPr lang="pt-BR" dirty="0"/>
              <a:t>ser feitas por partes e não para o documento como um todo. </a:t>
            </a:r>
            <a:endParaRPr lang="pt-BR" dirty="0" smtClean="0"/>
          </a:p>
          <a:p>
            <a:pPr algn="just"/>
            <a:r>
              <a:rPr lang="pt-BR" dirty="0" err="1" smtClean="0"/>
              <a:t>Ex</a:t>
            </a:r>
            <a:r>
              <a:rPr lang="pt-BR" dirty="0" smtClean="0"/>
              <a:t>: </a:t>
            </a:r>
            <a:r>
              <a:rPr lang="pt-BR" dirty="0"/>
              <a:t>é c</a:t>
            </a:r>
            <a:r>
              <a:rPr lang="pt-BR" dirty="0" smtClean="0"/>
              <a:t>omum </a:t>
            </a:r>
            <a:r>
              <a:rPr lang="pt-BR" dirty="0"/>
              <a:t>validar primeiro somente os casos de uso. </a:t>
            </a:r>
            <a:r>
              <a:rPr lang="pt-BR" dirty="0" smtClean="0"/>
              <a:t> </a:t>
            </a:r>
            <a:r>
              <a:rPr lang="pt-BR" dirty="0"/>
              <a:t>Verificações de </a:t>
            </a:r>
            <a:r>
              <a:rPr lang="pt-BR" dirty="0" smtClean="0"/>
              <a:t>consistência (entre </a:t>
            </a:r>
            <a:r>
              <a:rPr lang="pt-BR" dirty="0"/>
              <a:t>casos de uso e classes, ou casos de uso, diagramas de interação e diagramas de </a:t>
            </a:r>
            <a:r>
              <a:rPr lang="pt-BR" dirty="0" smtClean="0"/>
              <a:t>classes) </a:t>
            </a:r>
            <a:r>
              <a:rPr lang="pt-BR" dirty="0"/>
              <a:t>podem ser feitas separadamente uma das outras. </a:t>
            </a:r>
          </a:p>
          <a:p>
            <a:pPr algn="just"/>
            <a:r>
              <a:rPr lang="pt-BR" dirty="0" smtClean="0"/>
              <a:t>Atividades </a:t>
            </a:r>
            <a:r>
              <a:rPr lang="pt-BR" dirty="0"/>
              <a:t>de documentação, verificação e validação são atividades contínuas que ocorrem paralelamente à modelagem conceitual.</a:t>
            </a:r>
            <a:endParaRPr lang="pt-PT" altLang="pt-BR" dirty="0"/>
          </a:p>
          <a:p>
            <a:pPr algn="just"/>
            <a:endParaRPr lang="pt-PT" altLang="pt-BR" dirty="0" smtClean="0"/>
          </a:p>
        </p:txBody>
      </p:sp>
    </p:spTree>
    <p:extLst>
      <p:ext uri="{BB962C8B-B14F-4D97-AF65-F5344CB8AC3E}">
        <p14:creationId xmlns:p14="http://schemas.microsoft.com/office/powerpoint/2010/main" val="3682504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36</a:t>
            </a:fld>
            <a:endParaRPr lang="pt-PT" altLang="pt-BR" sz="1400"/>
          </a:p>
        </p:txBody>
      </p:sp>
      <p:sp>
        <p:nvSpPr>
          <p:cNvPr id="46083" name="Rectangle 2"/>
          <p:cNvSpPr>
            <a:spLocks noGrp="1" noChangeArrowheads="1"/>
          </p:cNvSpPr>
          <p:nvPr>
            <p:ph type="ctrTitle"/>
          </p:nvPr>
        </p:nvSpPr>
        <p:spPr>
          <a:xfrm>
            <a:off x="-129396" y="0"/>
            <a:ext cx="12321396" cy="1143000"/>
          </a:xfrm>
        </p:spPr>
        <p:txBody>
          <a:bodyPr anchor="ctr">
            <a:normAutofit fontScale="90000"/>
          </a:bodyPr>
          <a:lstStyle/>
          <a:p>
            <a:pPr eaLnBrk="1" hangingPunct="1"/>
            <a:r>
              <a:rPr lang="pt-BR" altLang="pt-BR" sz="3600" dirty="0"/>
              <a:t>2 Processos de Software Especificação de software ou engenharia de </a:t>
            </a:r>
            <a:r>
              <a:rPr lang="pt-BR" altLang="pt-BR" sz="3600" dirty="0" smtClean="0"/>
              <a:t>requisitos – Não Funcionais</a:t>
            </a:r>
            <a:r>
              <a:rPr lang="pt-BR" altLang="pt-BR" sz="3600" dirty="0"/>
              <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smtClean="0"/>
              <a:t>Requisito </a:t>
            </a:r>
            <a:r>
              <a:rPr lang="pt-BR" dirty="0"/>
              <a:t>mensurável e bem </a:t>
            </a:r>
            <a:r>
              <a:rPr lang="pt-BR" dirty="0" smtClean="0"/>
              <a:t>formado: deve-se estabelecer </a:t>
            </a:r>
            <a:r>
              <a:rPr lang="pt-BR" dirty="0"/>
              <a:t>escala de medição e os valores </a:t>
            </a:r>
            <a:r>
              <a:rPr lang="pt-BR" dirty="0" smtClean="0"/>
              <a:t>aceitáveis. Requisito não pode ser </a:t>
            </a:r>
            <a:r>
              <a:rPr lang="pt-BR" dirty="0"/>
              <a:t>uma intenção vaga, e até certo ponto </a:t>
            </a:r>
            <a:r>
              <a:rPr lang="pt-BR" dirty="0" smtClean="0"/>
              <a:t>ambígua. </a:t>
            </a:r>
          </a:p>
          <a:p>
            <a:pPr algn="just"/>
            <a:r>
              <a:rPr lang="pt-BR" dirty="0" smtClean="0"/>
              <a:t>Pergunta-se </a:t>
            </a:r>
            <a:r>
              <a:rPr lang="pt-BR" dirty="0"/>
              <a:t>ao </a:t>
            </a:r>
            <a:r>
              <a:rPr lang="pt-BR" dirty="0" smtClean="0"/>
              <a:t>usuário: </a:t>
            </a:r>
            <a:r>
              <a:rPr lang="pt-BR" dirty="0"/>
              <a:t>o que é considerado uma falha em atender ao requisito, de modo a definir o critério de </a:t>
            </a:r>
            <a:r>
              <a:rPr lang="pt-BR" dirty="0" smtClean="0"/>
              <a:t>sua aceitação? </a:t>
            </a:r>
          </a:p>
          <a:p>
            <a:pPr algn="just"/>
            <a:r>
              <a:rPr lang="pt-BR" dirty="0" smtClean="0"/>
              <a:t>Deve-se transformar um </a:t>
            </a:r>
            <a:r>
              <a:rPr lang="pt-BR" dirty="0"/>
              <a:t>requisito de usuário em um requisito mensurável, adicionando a ele um critério de aceitação</a:t>
            </a:r>
            <a:r>
              <a:rPr lang="pt-BR" dirty="0" smtClean="0"/>
              <a:t>.</a:t>
            </a:r>
          </a:p>
          <a:p>
            <a:pPr algn="just"/>
            <a:r>
              <a:rPr lang="pt-BR" dirty="0" smtClean="0"/>
              <a:t>Fonte de medidas: ISO/IEC </a:t>
            </a:r>
            <a:r>
              <a:rPr lang="pt-BR" dirty="0"/>
              <a:t>25023 – Medidas de Qualidade de Produtos de Software e Sistemas (ISO/IEC, 2016), ou a sua antecessora, a ISO/IEC </a:t>
            </a:r>
            <a:r>
              <a:rPr lang="pt-BR" dirty="0" smtClean="0"/>
              <a:t>9126.</a:t>
            </a:r>
            <a:endParaRPr lang="pt-PT" altLang="pt-BR" dirty="0" smtClean="0"/>
          </a:p>
        </p:txBody>
      </p:sp>
    </p:spTree>
    <p:extLst>
      <p:ext uri="{BB962C8B-B14F-4D97-AF65-F5344CB8AC3E}">
        <p14:creationId xmlns:p14="http://schemas.microsoft.com/office/powerpoint/2010/main" val="260552370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37</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a:t>Um Método de Análise de Requisitos </a:t>
            </a:r>
            <a:r>
              <a:rPr lang="pt-BR" dirty="0" smtClean="0"/>
              <a:t>não Funcionais </a:t>
            </a:r>
          </a:p>
          <a:p>
            <a:pPr algn="just"/>
            <a:endParaRPr lang="pt-BR" dirty="0"/>
          </a:p>
        </p:txBody>
      </p:sp>
      <p:graphicFrame>
        <p:nvGraphicFramePr>
          <p:cNvPr id="2" name="Tabela 1"/>
          <p:cNvGraphicFramePr>
            <a:graphicFrameLocks noGrp="1"/>
          </p:cNvGraphicFramePr>
          <p:nvPr>
            <p:extLst>
              <p:ext uri="{D42A27DB-BD31-4B8C-83A1-F6EECF244321}">
                <p14:modId xmlns:p14="http://schemas.microsoft.com/office/powerpoint/2010/main" val="3534474671"/>
              </p:ext>
            </p:extLst>
          </p:nvPr>
        </p:nvGraphicFramePr>
        <p:xfrm>
          <a:off x="1343028" y="1457862"/>
          <a:ext cx="9491750" cy="5353268"/>
        </p:xfrm>
        <a:graphic>
          <a:graphicData uri="http://schemas.openxmlformats.org/drawingml/2006/table">
            <a:tbl>
              <a:tblPr firstRow="1" bandRow="1">
                <a:tableStyleId>{5C22544A-7EE6-4342-B048-85BDC9FD1C3A}</a:tableStyleId>
              </a:tblPr>
              <a:tblGrid>
                <a:gridCol w="1898350"/>
                <a:gridCol w="1898350"/>
                <a:gridCol w="1898350"/>
                <a:gridCol w="1898350"/>
                <a:gridCol w="1898350"/>
              </a:tblGrid>
              <a:tr h="509393">
                <a:tc gridSpan="5">
                  <a:txBody>
                    <a:bodyPr/>
                    <a:lstStyle/>
                    <a:p>
                      <a:r>
                        <a:rPr lang="pt-BR" dirty="0" smtClean="0"/>
                        <a:t>A</a:t>
                      </a:r>
                      <a:r>
                        <a:rPr lang="pt-BR" baseline="0" dirty="0" smtClean="0"/>
                        <a:t> funcionalidade “</a:t>
                      </a:r>
                      <a:r>
                        <a:rPr lang="pt-BR" dirty="0" smtClean="0"/>
                        <a:t>Efetuar locação de item” deve ser fácil de aprender</a:t>
                      </a:r>
                      <a:endParaRPr lang="pt-BR" dirty="0"/>
                    </a:p>
                  </a:txBody>
                  <a:tcPr/>
                </a:tc>
                <a:tc hMerge="1">
                  <a:txBody>
                    <a:bodyPr/>
                    <a:lstStyle/>
                    <a:p>
                      <a:endParaRPr lang="pt-BR" dirty="0"/>
                    </a:p>
                  </a:txBody>
                  <a:tcPr/>
                </a:tc>
                <a:tc hMerge="1">
                  <a:txBody>
                    <a:bodyPr/>
                    <a:lstStyle/>
                    <a:p>
                      <a:endParaRPr lang="pt-BR" dirty="0"/>
                    </a:p>
                  </a:txBody>
                  <a:tcPr/>
                </a:tc>
                <a:tc hMerge="1">
                  <a:txBody>
                    <a:bodyPr/>
                    <a:lstStyle/>
                    <a:p>
                      <a:endParaRPr lang="pt-BR" dirty="0"/>
                    </a:p>
                  </a:txBody>
                  <a:tcPr/>
                </a:tc>
                <a:tc hMerge="1">
                  <a:txBody>
                    <a:bodyPr/>
                    <a:lstStyle/>
                    <a:p>
                      <a:endParaRPr lang="pt-BR" dirty="0"/>
                    </a:p>
                  </a:txBody>
                  <a:tcPr/>
                </a:tc>
              </a:tr>
              <a:tr h="455088">
                <a:tc rowSpan="4">
                  <a:txBody>
                    <a:bodyPr/>
                    <a:lstStyle/>
                    <a:p>
                      <a:r>
                        <a:rPr lang="pt-BR" dirty="0" smtClean="0"/>
                        <a:t>Medida:</a:t>
                      </a:r>
                      <a:r>
                        <a:rPr lang="pt-BR" baseline="0" dirty="0" smtClean="0"/>
                        <a:t> facilidade de aprendizagem da função isso/IEC  2003a</a:t>
                      </a:r>
                      <a:endParaRPr lang="pt-BR" dirty="0"/>
                    </a:p>
                  </a:txBody>
                  <a:tcPr/>
                </a:tc>
                <a:tc>
                  <a:txBody>
                    <a:bodyPr/>
                    <a:lstStyle/>
                    <a:p>
                      <a:r>
                        <a:rPr lang="pt-BR" dirty="0" smtClean="0"/>
                        <a:t>Descrição:</a:t>
                      </a:r>
                      <a:endParaRPr lang="pt-BR" dirty="0"/>
                    </a:p>
                  </a:txBody>
                  <a:tcPr/>
                </a:tc>
                <a:tc gridSpan="3">
                  <a:txBody>
                    <a:bodyPr/>
                    <a:lstStyle/>
                    <a:p>
                      <a:r>
                        <a:rPr lang="pt-BR" dirty="0" smtClean="0"/>
                        <a:t>Facilidade de aprender</a:t>
                      </a:r>
                      <a:r>
                        <a:rPr lang="pt-BR" baseline="0" dirty="0" smtClean="0"/>
                        <a:t> a realizar tarefa em uso</a:t>
                      </a:r>
                      <a:endParaRPr lang="pt-BR" dirty="0"/>
                    </a:p>
                  </a:txBody>
                  <a:tcPr/>
                </a:tc>
                <a:tc hMerge="1">
                  <a:txBody>
                    <a:bodyPr/>
                    <a:lstStyle/>
                    <a:p>
                      <a:endParaRPr lang="pt-BR" dirty="0"/>
                    </a:p>
                  </a:txBody>
                  <a:tcPr/>
                </a:tc>
                <a:tc hMerge="1">
                  <a:txBody>
                    <a:bodyPr/>
                    <a:lstStyle/>
                    <a:p>
                      <a:endParaRPr lang="pt-BR" dirty="0"/>
                    </a:p>
                  </a:txBody>
                  <a:tcPr/>
                </a:tc>
              </a:tr>
              <a:tr h="785493">
                <a:tc vMerge="1">
                  <a:txBody>
                    <a:bodyPr/>
                    <a:lstStyle/>
                    <a:p>
                      <a:endParaRPr lang="pt-BR" dirty="0"/>
                    </a:p>
                  </a:txBody>
                  <a:tcPr/>
                </a:tc>
                <a:tc>
                  <a:txBody>
                    <a:bodyPr/>
                    <a:lstStyle/>
                    <a:p>
                      <a:r>
                        <a:rPr lang="pt-BR" dirty="0" smtClean="0"/>
                        <a:t>Propósito:</a:t>
                      </a:r>
                      <a:endParaRPr lang="pt-BR" dirty="0"/>
                    </a:p>
                  </a:txBody>
                  <a:tcPr/>
                </a:tc>
                <a:tc gridSpan="3">
                  <a:txBody>
                    <a:bodyPr/>
                    <a:lstStyle/>
                    <a:p>
                      <a:r>
                        <a:rPr lang="pt-BR" dirty="0" smtClean="0"/>
                        <a:t>Quanto tempo o usuário leva para aprender realizar a tarefa eficientemente?</a:t>
                      </a:r>
                      <a:endParaRPr lang="pt-BR" dirty="0"/>
                    </a:p>
                  </a:txBody>
                  <a:tcPr/>
                </a:tc>
                <a:tc hMerge="1">
                  <a:txBody>
                    <a:bodyPr/>
                    <a:lstStyle/>
                    <a:p>
                      <a:endParaRPr lang="pt-BR"/>
                    </a:p>
                  </a:txBody>
                  <a:tcPr/>
                </a:tc>
                <a:tc hMerge="1">
                  <a:txBody>
                    <a:bodyPr/>
                    <a:lstStyle/>
                    <a:p>
                      <a:endParaRPr lang="pt-BR" dirty="0"/>
                    </a:p>
                  </a:txBody>
                  <a:tcPr/>
                </a:tc>
              </a:tr>
              <a:tr h="785493">
                <a:tc vMerge="1">
                  <a:txBody>
                    <a:bodyPr/>
                    <a:lstStyle/>
                    <a:p>
                      <a:endParaRPr lang="pt-BR" dirty="0"/>
                    </a:p>
                  </a:txBody>
                  <a:tcPr/>
                </a:tc>
                <a:tc>
                  <a:txBody>
                    <a:bodyPr/>
                    <a:lstStyle/>
                    <a:p>
                      <a:r>
                        <a:rPr lang="pt-BR" dirty="0" smtClean="0"/>
                        <a:t>Método</a:t>
                      </a:r>
                      <a:r>
                        <a:rPr lang="pt-BR" baseline="0" dirty="0" smtClean="0"/>
                        <a:t> de aplicação</a:t>
                      </a:r>
                      <a:endParaRPr lang="pt-BR" dirty="0"/>
                    </a:p>
                  </a:txBody>
                  <a:tcPr/>
                </a:tc>
                <a:tc gridSpan="3">
                  <a:txBody>
                    <a:bodyPr/>
                    <a:lstStyle/>
                    <a:p>
                      <a:r>
                        <a:rPr lang="pt-BR" dirty="0" smtClean="0"/>
                        <a:t>Observar o comportamento do usuário desde o aprendizado até a operação eficiente da tarefa</a:t>
                      </a:r>
                      <a:endParaRPr lang="pt-BR" dirty="0"/>
                    </a:p>
                  </a:txBody>
                  <a:tcPr/>
                </a:tc>
                <a:tc hMerge="1">
                  <a:txBody>
                    <a:bodyPr/>
                    <a:lstStyle/>
                    <a:p>
                      <a:endParaRPr lang="pt-BR"/>
                    </a:p>
                  </a:txBody>
                  <a:tcPr/>
                </a:tc>
                <a:tc hMerge="1">
                  <a:txBody>
                    <a:bodyPr/>
                    <a:lstStyle/>
                    <a:p>
                      <a:endParaRPr lang="pt-BR" dirty="0"/>
                    </a:p>
                  </a:txBody>
                  <a:tcPr/>
                </a:tc>
              </a:tr>
              <a:tr h="785493">
                <a:tc vMerge="1">
                  <a:txBody>
                    <a:bodyPr/>
                    <a:lstStyle/>
                    <a:p>
                      <a:endParaRPr lang="pt-BR" dirty="0"/>
                    </a:p>
                  </a:txBody>
                  <a:tcPr/>
                </a:tc>
                <a:tc>
                  <a:txBody>
                    <a:bodyPr/>
                    <a:lstStyle/>
                    <a:p>
                      <a:r>
                        <a:rPr lang="pt-BR" dirty="0" smtClean="0"/>
                        <a:t>Medição</a:t>
                      </a:r>
                      <a:endParaRPr lang="pt-BR" dirty="0"/>
                    </a:p>
                  </a:txBody>
                  <a:tcPr/>
                </a:tc>
                <a:tc gridSpan="3">
                  <a:txBody>
                    <a:bodyPr/>
                    <a:lstStyle/>
                    <a:p>
                      <a:r>
                        <a:rPr lang="pt-BR" dirty="0" smtClean="0"/>
                        <a:t>T soma do tempo do usuário para realizar a tarefa (aprender e fazer)</a:t>
                      </a:r>
                      <a:endParaRPr lang="pt-BR" dirty="0"/>
                    </a:p>
                  </a:txBody>
                  <a:tcPr/>
                </a:tc>
                <a:tc hMerge="1">
                  <a:txBody>
                    <a:bodyPr/>
                    <a:lstStyle/>
                    <a:p>
                      <a:endParaRPr lang="pt-BR"/>
                    </a:p>
                  </a:txBody>
                  <a:tcPr/>
                </a:tc>
                <a:tc hMerge="1">
                  <a:txBody>
                    <a:bodyPr/>
                    <a:lstStyle/>
                    <a:p>
                      <a:endParaRPr lang="pt-BR" dirty="0"/>
                    </a:p>
                  </a:txBody>
                  <a:tcPr/>
                </a:tc>
              </a:tr>
              <a:tr h="1122132">
                <a:tc>
                  <a:txBody>
                    <a:bodyPr/>
                    <a:lstStyle/>
                    <a:p>
                      <a:r>
                        <a:rPr lang="pt-BR" dirty="0" smtClean="0"/>
                        <a:t>Critério de aceitação</a:t>
                      </a:r>
                      <a:endParaRPr lang="pt-BR" dirty="0"/>
                    </a:p>
                  </a:txBody>
                  <a:tcPr/>
                </a:tc>
                <a:tc gridSpan="4">
                  <a:txBody>
                    <a:bodyPr/>
                    <a:lstStyle/>
                    <a:p>
                      <a:r>
                        <a:rPr lang="pt-BR" dirty="0" smtClean="0"/>
                        <a:t>T&lt;= 15 minutos</a:t>
                      </a:r>
                      <a:r>
                        <a:rPr lang="pt-BR" baseline="0" dirty="0" smtClean="0"/>
                        <a:t> considerando que o usuário está operando a tarefa eficientemente quando o tempo da tarefa “efetuar Locação” seja inferior a 2 minutos</a:t>
                      </a:r>
                      <a:endParaRPr lang="pt-BR" dirty="0"/>
                    </a:p>
                  </a:txBody>
                  <a:tcPr/>
                </a:tc>
                <a:tc hMerge="1">
                  <a:txBody>
                    <a:bodyPr/>
                    <a:lstStyle/>
                    <a:p>
                      <a:endParaRPr lang="pt-BR"/>
                    </a:p>
                  </a:txBody>
                  <a:tcPr/>
                </a:tc>
                <a:tc hMerge="1">
                  <a:txBody>
                    <a:bodyPr/>
                    <a:lstStyle/>
                    <a:p>
                      <a:endParaRPr lang="pt-BR"/>
                    </a:p>
                  </a:txBody>
                  <a:tcPr/>
                </a:tc>
                <a:tc hMerge="1">
                  <a:txBody>
                    <a:bodyPr/>
                    <a:lstStyle/>
                    <a:p>
                      <a:endParaRPr lang="pt-BR" dirty="0"/>
                    </a:p>
                  </a:txBody>
                  <a:tcPr/>
                </a:tc>
              </a:tr>
              <a:tr h="455088">
                <a:tc>
                  <a:txBody>
                    <a:bodyPr/>
                    <a:lstStyle/>
                    <a:p>
                      <a:endParaRPr lang="pt-BR"/>
                    </a:p>
                  </a:txBody>
                  <a:tcPr/>
                </a:tc>
                <a:tc>
                  <a:txBody>
                    <a:bodyPr/>
                    <a:lstStyle/>
                    <a:p>
                      <a:endParaRPr lang="pt-BR"/>
                    </a:p>
                  </a:txBody>
                  <a:tcPr/>
                </a:tc>
                <a:tc>
                  <a:txBody>
                    <a:bodyPr/>
                    <a:lstStyle/>
                    <a:p>
                      <a:endParaRPr lang="pt-BR"/>
                    </a:p>
                  </a:txBody>
                  <a:tcPr/>
                </a:tc>
                <a:tc>
                  <a:txBody>
                    <a:bodyPr/>
                    <a:lstStyle/>
                    <a:p>
                      <a:endParaRPr lang="pt-BR"/>
                    </a:p>
                  </a:txBody>
                  <a:tcPr/>
                </a:tc>
                <a:tc>
                  <a:txBody>
                    <a:bodyPr/>
                    <a:lstStyle/>
                    <a:p>
                      <a:endParaRPr lang="pt-BR"/>
                    </a:p>
                  </a:txBody>
                  <a:tcPr/>
                </a:tc>
              </a:tr>
              <a:tr h="455088">
                <a:tc>
                  <a:txBody>
                    <a:bodyPr/>
                    <a:lstStyle/>
                    <a:p>
                      <a:endParaRPr lang="pt-BR"/>
                    </a:p>
                  </a:txBody>
                  <a:tcPr/>
                </a:tc>
                <a:tc>
                  <a:txBody>
                    <a:bodyPr/>
                    <a:lstStyle/>
                    <a:p>
                      <a:endParaRPr lang="pt-BR"/>
                    </a:p>
                  </a:txBody>
                  <a:tcPr/>
                </a:tc>
                <a:tc>
                  <a:txBody>
                    <a:bodyPr/>
                    <a:lstStyle/>
                    <a:p>
                      <a:endParaRPr lang="pt-BR"/>
                    </a:p>
                  </a:txBody>
                  <a:tcPr/>
                </a:tc>
                <a:tc>
                  <a:txBody>
                    <a:bodyPr/>
                    <a:lstStyle/>
                    <a:p>
                      <a:endParaRPr lang="pt-BR"/>
                    </a:p>
                  </a:txBody>
                  <a:tcPr/>
                </a:tc>
                <a:tc>
                  <a:txBody>
                    <a:bodyPr/>
                    <a:lstStyle/>
                    <a:p>
                      <a:endParaRPr lang="pt-BR" dirty="0"/>
                    </a:p>
                  </a:txBody>
                  <a:tcPr/>
                </a:tc>
              </a:tr>
            </a:tbl>
          </a:graphicData>
        </a:graphic>
      </p:graphicFrame>
    </p:spTree>
    <p:extLst>
      <p:ext uri="{BB962C8B-B14F-4D97-AF65-F5344CB8AC3E}">
        <p14:creationId xmlns:p14="http://schemas.microsoft.com/office/powerpoint/2010/main" val="15838515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a:t>O Documento de Especificação de </a:t>
            </a:r>
            <a:r>
              <a:rPr lang="pt-BR" dirty="0" smtClean="0"/>
              <a:t>Requisitos</a:t>
            </a:r>
          </a:p>
          <a:p>
            <a:pPr algn="just"/>
            <a:r>
              <a:rPr lang="pt-BR" dirty="0" smtClean="0"/>
              <a:t>Os </a:t>
            </a:r>
            <a:r>
              <a:rPr lang="pt-BR" dirty="0"/>
              <a:t>requisitos de </a:t>
            </a:r>
            <a:r>
              <a:rPr lang="pt-BR" dirty="0" smtClean="0"/>
              <a:t>sistema e os </a:t>
            </a:r>
            <a:r>
              <a:rPr lang="pt-BR" dirty="0"/>
              <a:t>requisitos de </a:t>
            </a:r>
            <a:r>
              <a:rPr lang="pt-BR" dirty="0" smtClean="0"/>
              <a:t>cliente devem </a:t>
            </a:r>
            <a:r>
              <a:rPr lang="pt-BR" dirty="0"/>
              <a:t>ser especificados em um </a:t>
            </a:r>
            <a:r>
              <a:rPr lang="pt-BR" dirty="0" smtClean="0"/>
              <a:t>documento. Assim, podem </a:t>
            </a:r>
            <a:r>
              <a:rPr lang="pt-BR" dirty="0"/>
              <a:t>ser verificados e validados e posteriormente usados como base para as atividades subsequentes do desenvolvimento de software. </a:t>
            </a:r>
            <a:endParaRPr lang="pt-BR" dirty="0" smtClean="0"/>
          </a:p>
          <a:p>
            <a:pPr algn="just"/>
            <a:r>
              <a:rPr lang="pt-BR" dirty="0" smtClean="0"/>
              <a:t>Documento </a:t>
            </a:r>
            <a:r>
              <a:rPr lang="pt-BR" dirty="0"/>
              <a:t>de Especificação de </a:t>
            </a:r>
            <a:r>
              <a:rPr lang="pt-BR" dirty="0" smtClean="0"/>
              <a:t>Requisitos: </a:t>
            </a:r>
            <a:r>
              <a:rPr lang="pt-BR" dirty="0"/>
              <a:t>registrar os requisitos escritos a partir da perspectiva do </a:t>
            </a:r>
            <a:r>
              <a:rPr lang="pt-BR" dirty="0" smtClean="0"/>
              <a:t>desenvolvedor, incluindo </a:t>
            </a:r>
            <a:r>
              <a:rPr lang="pt-BR" dirty="0"/>
              <a:t>vários modelos </a:t>
            </a:r>
            <a:r>
              <a:rPr lang="pt-BR" dirty="0" smtClean="0"/>
              <a:t>conceituais e especificação </a:t>
            </a:r>
            <a:r>
              <a:rPr lang="pt-BR" dirty="0"/>
              <a:t>dos requisitos não funcionais detalhados. </a:t>
            </a:r>
            <a:endParaRPr lang="pt-BR" dirty="0" smtClean="0"/>
          </a:p>
          <a:p>
            <a:pPr algn="just"/>
            <a:r>
              <a:rPr lang="pt-BR" dirty="0" smtClean="0"/>
              <a:t>Diferentes </a:t>
            </a:r>
            <a:r>
              <a:rPr lang="pt-BR" dirty="0"/>
              <a:t>formatos podem ser propostos para documentos de especificação requisitos, bem como mais de um documento pode ser usado para documentar os requisitos de sistema.</a:t>
            </a:r>
          </a:p>
        </p:txBody>
      </p:sp>
    </p:spTree>
    <p:extLst>
      <p:ext uri="{BB962C8B-B14F-4D97-AF65-F5344CB8AC3E}">
        <p14:creationId xmlns:p14="http://schemas.microsoft.com/office/powerpoint/2010/main" val="26973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39</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a:t>O Documento de Especificação de </a:t>
            </a:r>
            <a:r>
              <a:rPr lang="pt-BR" dirty="0" smtClean="0"/>
              <a:t>Requisitos:</a:t>
            </a:r>
          </a:p>
          <a:p>
            <a:pPr algn="just"/>
            <a:r>
              <a:rPr lang="pt-BR" dirty="0" smtClean="0"/>
              <a:t>• </a:t>
            </a:r>
            <a:r>
              <a:rPr lang="pt-BR" dirty="0"/>
              <a:t>Introdução: breve introdução ao documento, descrevendo seu propósito e estrutura</a:t>
            </a:r>
            <a:r>
              <a:rPr lang="pt-BR" dirty="0" smtClean="0"/>
              <a:t>.</a:t>
            </a:r>
          </a:p>
          <a:p>
            <a:pPr algn="just"/>
            <a:r>
              <a:rPr lang="pt-BR" dirty="0" smtClean="0"/>
              <a:t> </a:t>
            </a:r>
            <a:r>
              <a:rPr lang="pt-BR" dirty="0"/>
              <a:t>• Modelo de Casos de Uso: apresenta </a:t>
            </a:r>
            <a:r>
              <a:rPr lang="pt-BR" dirty="0" smtClean="0"/>
              <a:t>o </a:t>
            </a:r>
            <a:r>
              <a:rPr lang="pt-BR" dirty="0"/>
              <a:t>modelo de casos de uso do sistema, incluindo os diagramas de casos de uso e as descrições de casos de uso associadas. </a:t>
            </a:r>
            <a:endParaRPr lang="pt-BR" dirty="0" smtClean="0"/>
          </a:p>
          <a:p>
            <a:pPr algn="just"/>
            <a:r>
              <a:rPr lang="pt-BR" dirty="0" smtClean="0"/>
              <a:t>• </a:t>
            </a:r>
            <a:r>
              <a:rPr lang="pt-BR" dirty="0"/>
              <a:t>Modelo Estrutural: apresenta o modelo conceitual estrutural do sistema, incluindo os diagramas de classes do sistema. </a:t>
            </a:r>
            <a:endParaRPr lang="pt-BR" dirty="0" smtClean="0"/>
          </a:p>
          <a:p>
            <a:pPr algn="just"/>
            <a:r>
              <a:rPr lang="pt-BR" dirty="0" smtClean="0"/>
              <a:t>• </a:t>
            </a:r>
            <a:r>
              <a:rPr lang="pt-BR" dirty="0"/>
              <a:t>Modelo Dinâmico: apresenta os modelos comportamentais dinâmicos do sistema, incluindo os diagramas de estados, diagramas de interação e diagramas de atividades</a:t>
            </a:r>
            <a:r>
              <a:rPr lang="pt-BR" dirty="0" smtClean="0"/>
              <a:t>.</a:t>
            </a:r>
          </a:p>
          <a:p>
            <a:pPr algn="just"/>
            <a:r>
              <a:rPr lang="pt-BR" dirty="0" smtClean="0"/>
              <a:t>• </a:t>
            </a:r>
            <a:r>
              <a:rPr lang="pt-BR" dirty="0"/>
              <a:t>Dicionário do Projeto: apresenta as definições dos principais conceitos capturados pelos diversos modelos e restrições de integridade a serem consideradas, servindo como um glossário do projeto. </a:t>
            </a:r>
          </a:p>
          <a:p>
            <a:pPr algn="just"/>
            <a:r>
              <a:rPr lang="pt-BR" dirty="0" smtClean="0"/>
              <a:t>• </a:t>
            </a:r>
            <a:r>
              <a:rPr lang="pt-BR" dirty="0"/>
              <a:t>Especificação dos Requisitos Não Funcionais: apresenta os requisitos não funcionais descritos no nível de sistema, o que inclui critérios de aceitação.</a:t>
            </a:r>
          </a:p>
        </p:txBody>
      </p:sp>
    </p:spTree>
    <p:extLst>
      <p:ext uri="{BB962C8B-B14F-4D97-AF65-F5344CB8AC3E}">
        <p14:creationId xmlns:p14="http://schemas.microsoft.com/office/powerpoint/2010/main" val="34547911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40</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9782" y="890018"/>
            <a:ext cx="12010845" cy="5831457"/>
          </a:xfrm>
        </p:spPr>
        <p:txBody>
          <a:bodyPr>
            <a:normAutofit/>
          </a:bodyPr>
          <a:lstStyle/>
          <a:p>
            <a:pPr algn="just"/>
            <a:r>
              <a:rPr lang="pt-BR" dirty="0"/>
              <a:t>O Documento de Especificação de </a:t>
            </a:r>
            <a:r>
              <a:rPr lang="pt-BR" dirty="0" smtClean="0"/>
              <a:t>Requisitos</a:t>
            </a:r>
          </a:p>
          <a:p>
            <a:pPr algn="just"/>
            <a:r>
              <a:rPr lang="pt-BR" dirty="0"/>
              <a:t>D</a:t>
            </a:r>
            <a:r>
              <a:rPr lang="pt-BR" dirty="0" smtClean="0"/>
              <a:t>ificilmente </a:t>
            </a:r>
            <a:r>
              <a:rPr lang="pt-BR" dirty="0"/>
              <a:t>um sistema é simples o bastante para ser modelado como um todo. Quase sempre é útil dividir um sistema em unidades menores, mais fáceis de serem gerenciáveis, ditas subsistemas</a:t>
            </a:r>
            <a:r>
              <a:rPr lang="pt-BR" dirty="0" smtClean="0"/>
              <a:t>.</a:t>
            </a:r>
          </a:p>
          <a:p>
            <a:pPr algn="just"/>
            <a:r>
              <a:rPr lang="pt-BR" dirty="0" smtClean="0"/>
              <a:t>É </a:t>
            </a:r>
            <a:r>
              <a:rPr lang="pt-BR" dirty="0"/>
              <a:t>útil organizar a especificação de requisitos por subsistemas e, portanto, cada uma das seções propostas </a:t>
            </a:r>
            <a:r>
              <a:rPr lang="pt-BR" dirty="0" smtClean="0"/>
              <a:t>na documentação </a:t>
            </a:r>
            <a:r>
              <a:rPr lang="pt-BR" dirty="0"/>
              <a:t>pode ser subdividida por subsistemas. </a:t>
            </a:r>
            <a:endParaRPr lang="pt-BR" dirty="0" smtClean="0"/>
          </a:p>
          <a:p>
            <a:pPr algn="just"/>
            <a:r>
              <a:rPr lang="pt-BR" dirty="0" smtClean="0"/>
              <a:t>O </a:t>
            </a:r>
            <a:r>
              <a:rPr lang="pt-BR" dirty="0"/>
              <a:t>agrupamento de elementos de modelo em subsistemas serve basicamente para definir uma representação concisa capaz de orientar o leitor na leitura dos modelos estruturais, podendo ser útil também para a organização de grupos de trabalho em projetos extensos</a:t>
            </a:r>
            <a:r>
              <a:rPr lang="pt-BR" dirty="0" smtClean="0"/>
              <a:t>.</a:t>
            </a:r>
          </a:p>
          <a:p>
            <a:pPr algn="just"/>
            <a:r>
              <a:rPr lang="pt-BR" dirty="0"/>
              <a:t>A base principal para a identificação de subsistemas é a complexidade do domínio do problema. Através da identificação e agrupamento de elementos de modelo em subsistemas, é possível controlar a visibilidade do leitor e, assim, tornar os modelos mais compreensíveis</a:t>
            </a:r>
            <a:r>
              <a:rPr lang="pt-BR" dirty="0" smtClean="0"/>
              <a:t>.</a:t>
            </a:r>
          </a:p>
        </p:txBody>
      </p:sp>
    </p:spTree>
    <p:extLst>
      <p:ext uri="{BB962C8B-B14F-4D97-AF65-F5344CB8AC3E}">
        <p14:creationId xmlns:p14="http://schemas.microsoft.com/office/powerpoint/2010/main" val="13441705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41</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a:t>O Documento de Especificação de Requisitos</a:t>
            </a:r>
          </a:p>
          <a:p>
            <a:pPr algn="just"/>
            <a:r>
              <a:rPr lang="pt-BR" dirty="0" smtClean="0"/>
              <a:t>A </a:t>
            </a:r>
            <a:r>
              <a:rPr lang="pt-BR" dirty="0"/>
              <a:t>UML provê um tipo principal de item de agrupamento, denominado </a:t>
            </a:r>
            <a:r>
              <a:rPr lang="pt-BR" b="1" dirty="0"/>
              <a:t>pacote</a:t>
            </a:r>
            <a:r>
              <a:rPr lang="pt-BR" dirty="0"/>
              <a:t>, que é um mecanismo de propósito geral para a organização de elementos da modelagem em grupos.</a:t>
            </a:r>
          </a:p>
        </p:txBody>
      </p:sp>
      <p:sp>
        <p:nvSpPr>
          <p:cNvPr id="2" name="Retângulo 1"/>
          <p:cNvSpPr/>
          <p:nvPr/>
        </p:nvSpPr>
        <p:spPr>
          <a:xfrm>
            <a:off x="2708694" y="4054415"/>
            <a:ext cx="2415397" cy="1138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Atendimento ao cliente</a:t>
            </a:r>
            <a:endParaRPr lang="pt-BR" dirty="0"/>
          </a:p>
        </p:txBody>
      </p:sp>
      <p:sp>
        <p:nvSpPr>
          <p:cNvPr id="6" name="Retângulo 5"/>
          <p:cNvSpPr/>
          <p:nvPr/>
        </p:nvSpPr>
        <p:spPr>
          <a:xfrm>
            <a:off x="6087374" y="4054414"/>
            <a:ext cx="2415397" cy="11386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Controle de acervo</a:t>
            </a:r>
            <a:endParaRPr lang="pt-BR" dirty="0"/>
          </a:p>
        </p:txBody>
      </p:sp>
      <p:sp>
        <p:nvSpPr>
          <p:cNvPr id="3" name="Retângulo 2"/>
          <p:cNvSpPr/>
          <p:nvPr/>
        </p:nvSpPr>
        <p:spPr>
          <a:xfrm>
            <a:off x="2708694" y="3821502"/>
            <a:ext cx="983412" cy="232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p:cNvSpPr/>
          <p:nvPr/>
        </p:nvSpPr>
        <p:spPr>
          <a:xfrm>
            <a:off x="6087374" y="3761117"/>
            <a:ext cx="1081177" cy="293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p:cNvCxnSpPr>
            <a:stCxn id="2" idx="3"/>
            <a:endCxn id="6" idx="1"/>
          </p:cNvCxnSpPr>
          <p:nvPr/>
        </p:nvCxnSpPr>
        <p:spPr>
          <a:xfrm flipV="1">
            <a:off x="5124091" y="4623758"/>
            <a:ext cx="96328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62063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42</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86265" y="1017918"/>
            <a:ext cx="12105736" cy="5451894"/>
          </a:xfrm>
        </p:spPr>
        <p:txBody>
          <a:bodyPr>
            <a:normAutofit fontScale="92500" lnSpcReduction="10000"/>
          </a:bodyPr>
          <a:lstStyle/>
          <a:p>
            <a:pPr algn="just"/>
            <a:r>
              <a:rPr lang="pt-BR" dirty="0" smtClean="0"/>
              <a:t>O </a:t>
            </a:r>
            <a:r>
              <a:rPr lang="pt-BR" dirty="0"/>
              <a:t>“</a:t>
            </a:r>
            <a:r>
              <a:rPr lang="pt-BR" dirty="0" err="1"/>
              <a:t>template</a:t>
            </a:r>
            <a:r>
              <a:rPr lang="pt-BR" dirty="0"/>
              <a:t>” de documento de especificação de </a:t>
            </a:r>
            <a:r>
              <a:rPr lang="pt-BR" dirty="0" smtClean="0"/>
              <a:t>requisitos:</a:t>
            </a:r>
          </a:p>
          <a:p>
            <a:pPr marL="457200" indent="-457200" algn="just">
              <a:buAutoNum type="arabicPeriod"/>
            </a:pPr>
            <a:r>
              <a:rPr lang="pt-BR" dirty="0" smtClean="0"/>
              <a:t>Introdução</a:t>
            </a:r>
          </a:p>
          <a:p>
            <a:pPr algn="just"/>
            <a:r>
              <a:rPr lang="pt-BR" dirty="0" smtClean="0"/>
              <a:t> </a:t>
            </a:r>
            <a:r>
              <a:rPr lang="pt-BR" dirty="0"/>
              <a:t>1.1. </a:t>
            </a:r>
            <a:r>
              <a:rPr lang="pt-BR" dirty="0" smtClean="0"/>
              <a:t>Objetivo: </a:t>
            </a:r>
            <a:r>
              <a:rPr lang="pt-BR" dirty="0"/>
              <a:t>Delinear o objetivo da especificação de requisitos e especificar os leitores deste documento. </a:t>
            </a:r>
            <a:endParaRPr lang="pt-BR" dirty="0" smtClean="0"/>
          </a:p>
          <a:p>
            <a:pPr algn="just"/>
            <a:r>
              <a:rPr lang="pt-BR" dirty="0" smtClean="0"/>
              <a:t>1.2</a:t>
            </a:r>
            <a:r>
              <a:rPr lang="pt-BR" dirty="0"/>
              <a:t>. </a:t>
            </a:r>
            <a:r>
              <a:rPr lang="pt-BR" dirty="0" smtClean="0"/>
              <a:t>Escopo: </a:t>
            </a:r>
            <a:r>
              <a:rPr lang="pt-BR" dirty="0"/>
              <a:t>Identificar pelo nome o produto de software a ser produzido (e.g. Gerenciador Eletrônico de Documentos – GED</a:t>
            </a:r>
            <a:r>
              <a:rPr lang="pt-BR" dirty="0" smtClean="0"/>
              <a:t>); </a:t>
            </a:r>
            <a:r>
              <a:rPr lang="pt-BR" dirty="0"/>
              <a:t>Explicar o que o produto </a:t>
            </a:r>
            <a:r>
              <a:rPr lang="pt-BR" dirty="0" smtClean="0"/>
              <a:t>vai fazer e o que não faz; </a:t>
            </a:r>
            <a:r>
              <a:rPr lang="pt-BR" dirty="0"/>
              <a:t>Descrever a aplicação de software que está sendo especificada, incluindo seus benefícios, objetivos e </a:t>
            </a:r>
            <a:r>
              <a:rPr lang="pt-BR" dirty="0" smtClean="0"/>
              <a:t>metas; </a:t>
            </a:r>
            <a:r>
              <a:rPr lang="pt-BR" dirty="0"/>
              <a:t>Ser consistente com outras especificações de alto nível do sistema, se elas existirem. </a:t>
            </a:r>
            <a:endParaRPr lang="pt-BR" dirty="0" smtClean="0"/>
          </a:p>
          <a:p>
            <a:pPr algn="just"/>
            <a:r>
              <a:rPr lang="pt-BR" dirty="0" smtClean="0"/>
              <a:t>1.3</a:t>
            </a:r>
            <a:r>
              <a:rPr lang="pt-BR" dirty="0"/>
              <a:t>. Definições, acrônimos e </a:t>
            </a:r>
            <a:r>
              <a:rPr lang="pt-BR" dirty="0" smtClean="0"/>
              <a:t>abreviações: Deve </a:t>
            </a:r>
            <a:r>
              <a:rPr lang="pt-BR" dirty="0"/>
              <a:t>conter todas as definições de termos, acrônimos e abreviações necessárias para corretamente entender </a:t>
            </a:r>
            <a:r>
              <a:rPr lang="pt-BR" dirty="0" smtClean="0"/>
              <a:t>a </a:t>
            </a:r>
            <a:r>
              <a:rPr lang="pt-BR" dirty="0"/>
              <a:t>especificação. Esta informação pode ser apresentada em apêndice ou em referências à outros documentos. </a:t>
            </a:r>
            <a:endParaRPr lang="pt-BR" dirty="0" smtClean="0"/>
          </a:p>
          <a:p>
            <a:pPr algn="just"/>
            <a:r>
              <a:rPr lang="pt-BR" dirty="0" smtClean="0"/>
              <a:t>1.4</a:t>
            </a:r>
            <a:r>
              <a:rPr lang="pt-BR" dirty="0"/>
              <a:t>. </a:t>
            </a:r>
            <a:r>
              <a:rPr lang="pt-BR" dirty="0" smtClean="0"/>
              <a:t>Referências: </a:t>
            </a:r>
            <a:r>
              <a:rPr lang="pt-BR" dirty="0"/>
              <a:t>lista completa de todos os documentos referenciados na </a:t>
            </a:r>
            <a:r>
              <a:rPr lang="pt-BR" dirty="0" smtClean="0"/>
              <a:t>especificação; Identificar </a:t>
            </a:r>
            <a:r>
              <a:rPr lang="pt-BR" dirty="0"/>
              <a:t>cada documento adequadamente com título, autores, data, editor etc</a:t>
            </a:r>
            <a:r>
              <a:rPr lang="pt-BR" dirty="0" smtClean="0"/>
              <a:t>.; Especificar </a:t>
            </a:r>
            <a:r>
              <a:rPr lang="pt-BR" dirty="0"/>
              <a:t>as fontes de onde as referências foram </a:t>
            </a:r>
            <a:r>
              <a:rPr lang="pt-BR" dirty="0" smtClean="0"/>
              <a:t>obtidas</a:t>
            </a:r>
          </a:p>
          <a:p>
            <a:pPr algn="just"/>
            <a:r>
              <a:rPr lang="pt-BR" dirty="0"/>
              <a:t>1.5. Visão </a:t>
            </a:r>
            <a:r>
              <a:rPr lang="pt-BR" dirty="0" smtClean="0"/>
              <a:t>geral: </a:t>
            </a:r>
            <a:r>
              <a:rPr lang="pt-BR" dirty="0"/>
              <a:t>Descrever resumidamente o conteúdo do restante da </a:t>
            </a:r>
            <a:r>
              <a:rPr lang="pt-BR" dirty="0" smtClean="0"/>
              <a:t>especificação; Explicar </a:t>
            </a:r>
            <a:r>
              <a:rPr lang="pt-BR" dirty="0"/>
              <a:t>como a especificação está organizada</a:t>
            </a:r>
            <a:endParaRPr lang="pt-PT" altLang="pt-BR" dirty="0" smtClean="0"/>
          </a:p>
        </p:txBody>
      </p:sp>
    </p:spTree>
    <p:extLst>
      <p:ext uri="{BB962C8B-B14F-4D97-AF65-F5344CB8AC3E}">
        <p14:creationId xmlns:p14="http://schemas.microsoft.com/office/powerpoint/2010/main" val="14840536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43</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143000"/>
            <a:ext cx="10523359" cy="5105401"/>
          </a:xfrm>
        </p:spPr>
        <p:txBody>
          <a:bodyPr>
            <a:normAutofit fontScale="92500" lnSpcReduction="10000"/>
          </a:bodyPr>
          <a:lstStyle/>
          <a:p>
            <a:pPr algn="just"/>
            <a:r>
              <a:rPr lang="pt-BR" dirty="0"/>
              <a:t>O “</a:t>
            </a:r>
            <a:r>
              <a:rPr lang="pt-BR" dirty="0" err="1"/>
              <a:t>template</a:t>
            </a:r>
            <a:r>
              <a:rPr lang="pt-BR" dirty="0"/>
              <a:t>” de documento de especificação de requisitos:</a:t>
            </a:r>
          </a:p>
          <a:p>
            <a:pPr algn="just"/>
            <a:r>
              <a:rPr lang="pt-BR" dirty="0" smtClean="0"/>
              <a:t> </a:t>
            </a:r>
            <a:r>
              <a:rPr lang="pt-BR" dirty="0"/>
              <a:t>2. Descrição </a:t>
            </a:r>
            <a:r>
              <a:rPr lang="pt-BR" dirty="0" smtClean="0"/>
              <a:t>Geral</a:t>
            </a:r>
          </a:p>
          <a:p>
            <a:pPr algn="just"/>
            <a:r>
              <a:rPr lang="pt-BR" dirty="0" smtClean="0"/>
              <a:t> </a:t>
            </a:r>
            <a:r>
              <a:rPr lang="pt-BR" dirty="0"/>
              <a:t>2.1. Requisitos </a:t>
            </a:r>
            <a:r>
              <a:rPr lang="pt-BR" dirty="0" smtClean="0"/>
              <a:t>funcionais: descrever </a:t>
            </a:r>
            <a:r>
              <a:rPr lang="pt-BR" dirty="0"/>
              <a:t>as funcionalidades do software – produzir uma lista de todos os requisitos funcionais e classificá-los como obrigatórios, desejáveis ou </a:t>
            </a:r>
            <a:r>
              <a:rPr lang="pt-BR" dirty="0" smtClean="0"/>
              <a:t>opcionais;</a:t>
            </a:r>
          </a:p>
          <a:p>
            <a:pPr algn="just"/>
            <a:r>
              <a:rPr lang="pt-BR" dirty="0" smtClean="0"/>
              <a:t>2.2</a:t>
            </a:r>
            <a:r>
              <a:rPr lang="pt-BR" dirty="0"/>
              <a:t>. Requisitos de </a:t>
            </a:r>
            <a:r>
              <a:rPr lang="pt-BR" dirty="0" smtClean="0"/>
              <a:t>interface: </a:t>
            </a:r>
            <a:r>
              <a:rPr lang="pt-BR" dirty="0"/>
              <a:t>Definir como o software interage com as pessoas, com o hardware do sistema, com outros sistemas e com outros produtos. Detalhar os aspectos das interfaces do produto </a:t>
            </a:r>
            <a:r>
              <a:rPr lang="pt-BR" dirty="0" smtClean="0"/>
              <a:t>(é </a:t>
            </a:r>
            <a:r>
              <a:rPr lang="pt-BR" dirty="0"/>
              <a:t>feito um esboço das interfaces, levantado através de um protótipo ou de estudos em papel; são também detalhadas as interfaces com outros sistemas e componentes de sistemas). É obrigatório o desenho das telas referentes às principais funcionalidades do produto. </a:t>
            </a:r>
            <a:endParaRPr lang="pt-BR" dirty="0" smtClean="0"/>
          </a:p>
          <a:p>
            <a:pPr algn="just"/>
            <a:r>
              <a:rPr lang="pt-BR" dirty="0" smtClean="0"/>
              <a:t>2.3</a:t>
            </a:r>
            <a:r>
              <a:rPr lang="pt-BR" dirty="0"/>
              <a:t>. Atributos de </a:t>
            </a:r>
            <a:r>
              <a:rPr lang="pt-BR" dirty="0" smtClean="0"/>
              <a:t>qualidade: </a:t>
            </a:r>
            <a:r>
              <a:rPr lang="pt-BR" dirty="0"/>
              <a:t>Descrever os requisitos de desempenho (velocidade a de processamento, tempo de resposta, etc.) e outros aspectos considerados </a:t>
            </a:r>
            <a:r>
              <a:rPr lang="pt-BR" dirty="0" smtClean="0"/>
              <a:t>necessários </a:t>
            </a:r>
            <a:r>
              <a:rPr lang="pt-BR" dirty="0"/>
              <a:t>para que o produto atinja a qualidade desejada </a:t>
            </a:r>
            <a:r>
              <a:rPr lang="pt-BR" dirty="0" smtClean="0"/>
              <a:t>(portabilidade</a:t>
            </a:r>
            <a:r>
              <a:rPr lang="pt-BR" dirty="0"/>
              <a:t>, </a:t>
            </a:r>
            <a:r>
              <a:rPr lang="pt-BR" dirty="0" err="1"/>
              <a:t>manutenibilidade</a:t>
            </a:r>
            <a:r>
              <a:rPr lang="pt-BR" dirty="0"/>
              <a:t>, confiabilidade, etc.). C</a:t>
            </a:r>
            <a:r>
              <a:rPr lang="pt-BR" dirty="0" smtClean="0"/>
              <a:t>lassificar </a:t>
            </a:r>
            <a:r>
              <a:rPr lang="pt-BR" dirty="0"/>
              <a:t>e rever os requisitos, estabelecendo prioridades (obrigatório, desejável ou opcional). </a:t>
            </a:r>
            <a:endParaRPr lang="pt-PT" altLang="pt-BR" dirty="0" smtClean="0"/>
          </a:p>
        </p:txBody>
      </p:sp>
    </p:spTree>
    <p:extLst>
      <p:ext uri="{BB962C8B-B14F-4D97-AF65-F5344CB8AC3E}">
        <p14:creationId xmlns:p14="http://schemas.microsoft.com/office/powerpoint/2010/main" val="11660665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44</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69675"/>
            <a:ext cx="11740551" cy="5486399"/>
          </a:xfrm>
        </p:spPr>
        <p:txBody>
          <a:bodyPr>
            <a:normAutofit/>
          </a:bodyPr>
          <a:lstStyle/>
          <a:p>
            <a:pPr algn="just"/>
            <a:r>
              <a:rPr lang="pt-BR" dirty="0"/>
              <a:t>O “</a:t>
            </a:r>
            <a:r>
              <a:rPr lang="pt-BR" dirty="0" err="1"/>
              <a:t>template</a:t>
            </a:r>
            <a:r>
              <a:rPr lang="pt-BR" dirty="0"/>
              <a:t>” de documento de especificação de requisitos:</a:t>
            </a:r>
          </a:p>
          <a:p>
            <a:pPr algn="just"/>
            <a:r>
              <a:rPr lang="pt-BR" dirty="0" smtClean="0"/>
              <a:t> </a:t>
            </a:r>
            <a:r>
              <a:rPr lang="pt-BR" dirty="0"/>
              <a:t>2. Descrição </a:t>
            </a:r>
            <a:r>
              <a:rPr lang="pt-BR" dirty="0" smtClean="0"/>
              <a:t>Geral</a:t>
            </a:r>
          </a:p>
          <a:p>
            <a:pPr algn="just"/>
            <a:r>
              <a:rPr lang="pt-BR" dirty="0"/>
              <a:t> 2.4. Características dos </a:t>
            </a:r>
            <a:r>
              <a:rPr lang="pt-BR" dirty="0" smtClean="0"/>
              <a:t>usuários: </a:t>
            </a:r>
            <a:r>
              <a:rPr lang="pt-BR" dirty="0"/>
              <a:t>Descrever as características gerais dos usuários do produto, incluindo o nível educacional, a experiência e os conhecimentos técnicos</a:t>
            </a:r>
            <a:r>
              <a:rPr lang="pt-BR" dirty="0" smtClean="0"/>
              <a:t>.</a:t>
            </a:r>
          </a:p>
          <a:p>
            <a:pPr algn="just"/>
            <a:r>
              <a:rPr lang="pt-BR" dirty="0" smtClean="0"/>
              <a:t> </a:t>
            </a:r>
            <a:r>
              <a:rPr lang="pt-BR" dirty="0"/>
              <a:t>2.5. </a:t>
            </a:r>
            <a:r>
              <a:rPr lang="pt-BR" dirty="0" smtClean="0"/>
              <a:t>Restrições: </a:t>
            </a:r>
            <a:r>
              <a:rPr lang="pt-BR" dirty="0"/>
              <a:t>Enumerar as restrições impostas pela aplicação, tais como padrões, linguagem de implementação, ambientes operacionais e limites de recursos</a:t>
            </a:r>
            <a:r>
              <a:rPr lang="pt-BR" dirty="0" smtClean="0"/>
              <a:t>.</a:t>
            </a:r>
          </a:p>
          <a:p>
            <a:pPr algn="just"/>
            <a:r>
              <a:rPr lang="pt-BR" dirty="0" smtClean="0"/>
              <a:t>2.5</a:t>
            </a:r>
            <a:r>
              <a:rPr lang="pt-BR" dirty="0"/>
              <a:t>. Suposições e </a:t>
            </a:r>
            <a:r>
              <a:rPr lang="pt-BR" dirty="0" smtClean="0"/>
              <a:t>dependências: </a:t>
            </a:r>
            <a:r>
              <a:rPr lang="pt-BR" dirty="0"/>
              <a:t>Listar </a:t>
            </a:r>
            <a:r>
              <a:rPr lang="pt-BR" dirty="0" smtClean="0"/>
              <a:t>os </a:t>
            </a:r>
            <a:r>
              <a:rPr lang="pt-BR" dirty="0"/>
              <a:t>fatores que afetam os requisitos da especificação. Esses fatores não são restrições ao projeto do sistema, mas sim mudanças que podem afetar os requisitos. </a:t>
            </a:r>
            <a:r>
              <a:rPr lang="pt-BR" dirty="0" err="1" smtClean="0"/>
              <a:t>Ex</a:t>
            </a:r>
            <a:r>
              <a:rPr lang="pt-BR" dirty="0" smtClean="0"/>
              <a:t>: </a:t>
            </a:r>
            <a:r>
              <a:rPr lang="pt-BR" dirty="0"/>
              <a:t>suposição pode ser que a aplicação será instalada em um sistema operacional específico. Se, este sistema operacional não for disponível, isso poderia afetar os requisitos. </a:t>
            </a:r>
            <a:endParaRPr lang="pt-BR" dirty="0" smtClean="0"/>
          </a:p>
          <a:p>
            <a:pPr algn="just"/>
            <a:r>
              <a:rPr lang="pt-BR" dirty="0"/>
              <a:t>3. Anexo: Citar os recursos e técnicas utilizados para a extração de requisitos, assim como as questões feitas, o nome das pessoas, empresas, telefones e datas de contato. </a:t>
            </a:r>
          </a:p>
          <a:p>
            <a:pPr algn="just"/>
            <a:endParaRPr lang="pt-PT" altLang="pt-BR" dirty="0" smtClean="0"/>
          </a:p>
        </p:txBody>
      </p:sp>
    </p:spTree>
    <p:extLst>
      <p:ext uri="{BB962C8B-B14F-4D97-AF65-F5344CB8AC3E}">
        <p14:creationId xmlns:p14="http://schemas.microsoft.com/office/powerpoint/2010/main" val="9733891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45</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69675"/>
            <a:ext cx="11740551" cy="5486399"/>
          </a:xfrm>
        </p:spPr>
        <p:txBody>
          <a:bodyPr>
            <a:normAutofit/>
          </a:bodyPr>
          <a:lstStyle/>
          <a:p>
            <a:pPr algn="just"/>
            <a:r>
              <a:rPr lang="pt-PT" altLang="pt-BR" dirty="0" smtClean="0"/>
              <a:t>UML</a:t>
            </a:r>
          </a:p>
          <a:p>
            <a:pPr algn="just"/>
            <a:r>
              <a:rPr lang="pt-PT" altLang="pt-BR" smtClean="0"/>
              <a:t>Apostila UML - exemplos</a:t>
            </a:r>
            <a:endParaRPr lang="pt-PT" altLang="pt-BR" dirty="0" smtClean="0"/>
          </a:p>
        </p:txBody>
      </p:sp>
    </p:spTree>
    <p:extLst>
      <p:ext uri="{BB962C8B-B14F-4D97-AF65-F5344CB8AC3E}">
        <p14:creationId xmlns:p14="http://schemas.microsoft.com/office/powerpoint/2010/main" val="142301352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1077</TotalTime>
  <Words>6327</Words>
  <Application>Microsoft Office PowerPoint</Application>
  <PresentationFormat>Widescreen</PresentationFormat>
  <Paragraphs>379</Paragraphs>
  <Slides>45</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45</vt:i4>
      </vt:variant>
    </vt:vector>
  </HeadingPairs>
  <TitlesOfParts>
    <vt:vector size="50" baseType="lpstr">
      <vt:lpstr>Arial</vt:lpstr>
      <vt:lpstr>Calibri</vt:lpstr>
      <vt:lpstr>Calibri Light</vt:lpstr>
      <vt:lpstr>Times New Roman</vt:lpstr>
      <vt:lpstr>Tema do Office</vt:lpstr>
      <vt:lpstr>Apresentação do PowerPoint</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Requisitos funcionais  </vt:lpstr>
      <vt:lpstr>2 Processos de Software Especificação de software ou engenharia de requisitos - Funcionais  </vt:lpstr>
      <vt:lpstr>2 Processos de Software Especificação de software ou engenharia de requisitos – Não Funcionais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Marilee</dc:creator>
  <cp:lastModifiedBy>Marilee</cp:lastModifiedBy>
  <cp:revision>21</cp:revision>
  <dcterms:created xsi:type="dcterms:W3CDTF">2024-12-20T18:50:36Z</dcterms:created>
  <dcterms:modified xsi:type="dcterms:W3CDTF">2025-03-24T18:58:05Z</dcterms:modified>
</cp:coreProperties>
</file>