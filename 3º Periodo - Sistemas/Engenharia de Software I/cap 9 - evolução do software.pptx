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4" r:id="rId58"/>
    <p:sldId id="312" r:id="rId59"/>
    <p:sldId id="315" r:id="rId60"/>
    <p:sldId id="316" r:id="rId61"/>
    <p:sldId id="317" r:id="rId62"/>
    <p:sldId id="318" r:id="rId63"/>
    <p:sldId id="319" r:id="rId64"/>
    <p:sldId id="321" r:id="rId65"/>
    <p:sldId id="322" r:id="rId66"/>
    <p:sldId id="320" r:id="rId67"/>
    <p:sldId id="323" r:id="rId68"/>
  </p:sldIdLst>
  <p:sldSz cx="12192000" cy="6858000"/>
  <p:notesSz cx="6858000" cy="9144000"/>
  <p:defaultText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9" d="100"/>
          <a:sy n="89" d="100"/>
        </p:scale>
        <p:origin x="466"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7" Type="http://schemas.openxmlformats.org/officeDocument/2006/relationships/slide" Target="slides/slide6.xml"/><Relationship Id="rId71"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Slide de título">
    <p:spTree>
      <p:nvGrpSpPr>
        <p:cNvPr id="1" name=""/>
        <p:cNvGrpSpPr/>
        <p:nvPr/>
      </p:nvGrpSpPr>
      <p:grpSpPr>
        <a:xfrm>
          <a:off x="0" y="0"/>
          <a:ext cx="0" cy="0"/>
          <a:chOff x="0" y="0"/>
          <a:chExt cx="0" cy="0"/>
        </a:xfrm>
      </p:grpSpPr>
      <p:sp>
        <p:nvSpPr>
          <p:cNvPr id="2" name="Título 1"/>
          <p:cNvSpPr>
            <a:spLocks noGrp="1"/>
          </p:cNvSpPr>
          <p:nvPr>
            <p:ph type="ctrTitle"/>
          </p:nvPr>
        </p:nvSpPr>
        <p:spPr>
          <a:xfrm>
            <a:off x="1524000" y="1122363"/>
            <a:ext cx="9144000" cy="2387600"/>
          </a:xfrm>
        </p:spPr>
        <p:txBody>
          <a:bodyPr anchor="b"/>
          <a:lstStyle>
            <a:lvl1pPr algn="ctr">
              <a:defRPr sz="6000"/>
            </a:lvl1pPr>
          </a:lstStyle>
          <a:p>
            <a:r>
              <a:rPr lang="pt-BR" smtClean="0"/>
              <a:t>Clique para editar o título mestre</a:t>
            </a:r>
            <a:endParaRPr lang="pt-BR"/>
          </a:p>
        </p:txBody>
      </p:sp>
      <p:sp>
        <p:nvSpPr>
          <p:cNvPr id="3" name="Subtítulo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pt-BR" smtClean="0"/>
              <a:t>Clique para editar o estilo do subtítulo mestre</a:t>
            </a:r>
            <a:endParaRPr lang="pt-BR"/>
          </a:p>
        </p:txBody>
      </p:sp>
      <p:sp>
        <p:nvSpPr>
          <p:cNvPr id="4" name="Espaço Reservado para Data 3"/>
          <p:cNvSpPr>
            <a:spLocks noGrp="1"/>
          </p:cNvSpPr>
          <p:nvPr>
            <p:ph type="dt" sz="half" idx="10"/>
          </p:nvPr>
        </p:nvSpPr>
        <p:spPr/>
        <p:txBody>
          <a:bodyPr/>
          <a:lstStyle/>
          <a:p>
            <a:fld id="{79F57B0A-CC23-408B-BDBA-42E940BAE8BD}" type="datetimeFigureOut">
              <a:rPr lang="pt-BR" smtClean="0"/>
              <a:t>17/03/2025</a:t>
            </a:fld>
            <a:endParaRPr lang="pt-BR"/>
          </a:p>
        </p:txBody>
      </p:sp>
      <p:sp>
        <p:nvSpPr>
          <p:cNvPr id="5" name="Espaço Reservado para Rodapé 4"/>
          <p:cNvSpPr>
            <a:spLocks noGrp="1"/>
          </p:cNvSpPr>
          <p:nvPr>
            <p:ph type="ftr" sz="quarter" idx="11"/>
          </p:nvPr>
        </p:nvSpPr>
        <p:spPr/>
        <p:txBody>
          <a:bodyPr/>
          <a:lstStyle/>
          <a:p>
            <a:endParaRPr lang="pt-BR"/>
          </a:p>
        </p:txBody>
      </p:sp>
      <p:sp>
        <p:nvSpPr>
          <p:cNvPr id="6" name="Espaço Reservado para Número de Slide 5"/>
          <p:cNvSpPr>
            <a:spLocks noGrp="1"/>
          </p:cNvSpPr>
          <p:nvPr>
            <p:ph type="sldNum" sz="quarter" idx="12"/>
          </p:nvPr>
        </p:nvSpPr>
        <p:spPr/>
        <p:txBody>
          <a:bodyPr/>
          <a:lstStyle/>
          <a:p>
            <a:fld id="{59AD7108-BEF5-4962-8E74-F3638E5AAF31}" type="slidenum">
              <a:rPr lang="pt-BR" smtClean="0"/>
              <a:t>‹nº›</a:t>
            </a:fld>
            <a:endParaRPr lang="pt-BR"/>
          </a:p>
        </p:txBody>
      </p:sp>
    </p:spTree>
    <p:extLst>
      <p:ext uri="{BB962C8B-B14F-4D97-AF65-F5344CB8AC3E}">
        <p14:creationId xmlns:p14="http://schemas.microsoft.com/office/powerpoint/2010/main" val="41311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e conteúd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smtClean="0"/>
              <a:t>Clique para editar o título mestre</a:t>
            </a:r>
            <a:endParaRPr lang="pt-BR"/>
          </a:p>
        </p:txBody>
      </p:sp>
      <p:sp>
        <p:nvSpPr>
          <p:cNvPr id="3" name="Espaço Reservado para Conteúdo 2"/>
          <p:cNvSpPr>
            <a:spLocks noGrp="1"/>
          </p:cNvSpPr>
          <p:nvPr>
            <p:ph idx="1"/>
          </p:nvPr>
        </p:nvSpPr>
        <p:spPr/>
        <p:txBody>
          <a:bodyPr/>
          <a:lstStyle/>
          <a:p>
            <a:pPr lvl="0"/>
            <a:r>
              <a:rPr lang="pt-BR" smtClean="0"/>
              <a:t>Clique para editar o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pt-BR"/>
          </a:p>
        </p:txBody>
      </p:sp>
      <p:sp>
        <p:nvSpPr>
          <p:cNvPr id="4" name="Espaço Reservado para Data 3"/>
          <p:cNvSpPr>
            <a:spLocks noGrp="1"/>
          </p:cNvSpPr>
          <p:nvPr>
            <p:ph type="dt" sz="half" idx="10"/>
          </p:nvPr>
        </p:nvSpPr>
        <p:spPr/>
        <p:txBody>
          <a:bodyPr/>
          <a:lstStyle/>
          <a:p>
            <a:fld id="{79F57B0A-CC23-408B-BDBA-42E940BAE8BD}" type="datetimeFigureOut">
              <a:rPr lang="pt-BR" smtClean="0"/>
              <a:t>17/03/2025</a:t>
            </a:fld>
            <a:endParaRPr lang="pt-BR"/>
          </a:p>
        </p:txBody>
      </p:sp>
      <p:sp>
        <p:nvSpPr>
          <p:cNvPr id="5" name="Espaço Reservado para Rodapé 4"/>
          <p:cNvSpPr>
            <a:spLocks noGrp="1"/>
          </p:cNvSpPr>
          <p:nvPr>
            <p:ph type="ftr" sz="quarter" idx="11"/>
          </p:nvPr>
        </p:nvSpPr>
        <p:spPr/>
        <p:txBody>
          <a:bodyPr/>
          <a:lstStyle/>
          <a:p>
            <a:endParaRPr lang="pt-BR"/>
          </a:p>
        </p:txBody>
      </p:sp>
      <p:sp>
        <p:nvSpPr>
          <p:cNvPr id="6" name="Espaço Reservado para Número de Slide 5"/>
          <p:cNvSpPr>
            <a:spLocks noGrp="1"/>
          </p:cNvSpPr>
          <p:nvPr>
            <p:ph type="sldNum" sz="quarter" idx="12"/>
          </p:nvPr>
        </p:nvSpPr>
        <p:spPr/>
        <p:txBody>
          <a:bodyPr/>
          <a:lstStyle/>
          <a:p>
            <a:fld id="{59AD7108-BEF5-4962-8E74-F3638E5AAF31}" type="slidenum">
              <a:rPr lang="pt-BR" smtClean="0"/>
              <a:t>‹nº›</a:t>
            </a:fld>
            <a:endParaRPr lang="pt-BR"/>
          </a:p>
        </p:txBody>
      </p:sp>
    </p:spTree>
    <p:extLst>
      <p:ext uri="{BB962C8B-B14F-4D97-AF65-F5344CB8AC3E}">
        <p14:creationId xmlns:p14="http://schemas.microsoft.com/office/powerpoint/2010/main" val="10706512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Cabeçalho da Seção">
    <p:spTree>
      <p:nvGrpSpPr>
        <p:cNvPr id="1" name=""/>
        <p:cNvGrpSpPr/>
        <p:nvPr/>
      </p:nvGrpSpPr>
      <p:grpSpPr>
        <a:xfrm>
          <a:off x="0" y="0"/>
          <a:ext cx="0" cy="0"/>
          <a:chOff x="0" y="0"/>
          <a:chExt cx="0" cy="0"/>
        </a:xfrm>
      </p:grpSpPr>
      <p:sp>
        <p:nvSpPr>
          <p:cNvPr id="2" name="Título 1"/>
          <p:cNvSpPr>
            <a:spLocks noGrp="1"/>
          </p:cNvSpPr>
          <p:nvPr>
            <p:ph type="title"/>
          </p:nvPr>
        </p:nvSpPr>
        <p:spPr>
          <a:xfrm>
            <a:off x="831850" y="1709738"/>
            <a:ext cx="10515600" cy="2852737"/>
          </a:xfrm>
        </p:spPr>
        <p:txBody>
          <a:bodyPr anchor="b"/>
          <a:lstStyle>
            <a:lvl1pPr>
              <a:defRPr sz="6000"/>
            </a:lvl1pPr>
          </a:lstStyle>
          <a:p>
            <a:r>
              <a:rPr lang="pt-BR" smtClean="0"/>
              <a:t>Clique para editar o título mestre</a:t>
            </a:r>
            <a:endParaRPr lang="pt-BR"/>
          </a:p>
        </p:txBody>
      </p:sp>
      <p:sp>
        <p:nvSpPr>
          <p:cNvPr id="3" name="Espaço Reservado para Texto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pt-BR" smtClean="0"/>
              <a:t>Clique para editar o texto mestre</a:t>
            </a:r>
          </a:p>
        </p:txBody>
      </p:sp>
      <p:sp>
        <p:nvSpPr>
          <p:cNvPr id="4" name="Espaço Reservado para Data 3"/>
          <p:cNvSpPr>
            <a:spLocks noGrp="1"/>
          </p:cNvSpPr>
          <p:nvPr>
            <p:ph type="dt" sz="half" idx="10"/>
          </p:nvPr>
        </p:nvSpPr>
        <p:spPr/>
        <p:txBody>
          <a:bodyPr/>
          <a:lstStyle/>
          <a:p>
            <a:fld id="{79F57B0A-CC23-408B-BDBA-42E940BAE8BD}" type="datetimeFigureOut">
              <a:rPr lang="pt-BR" smtClean="0"/>
              <a:t>17/03/2025</a:t>
            </a:fld>
            <a:endParaRPr lang="pt-BR"/>
          </a:p>
        </p:txBody>
      </p:sp>
      <p:sp>
        <p:nvSpPr>
          <p:cNvPr id="5" name="Espaço Reservado para Rodapé 4"/>
          <p:cNvSpPr>
            <a:spLocks noGrp="1"/>
          </p:cNvSpPr>
          <p:nvPr>
            <p:ph type="ftr" sz="quarter" idx="11"/>
          </p:nvPr>
        </p:nvSpPr>
        <p:spPr/>
        <p:txBody>
          <a:bodyPr/>
          <a:lstStyle/>
          <a:p>
            <a:endParaRPr lang="pt-BR"/>
          </a:p>
        </p:txBody>
      </p:sp>
      <p:sp>
        <p:nvSpPr>
          <p:cNvPr id="6" name="Espaço Reservado para Número de Slide 5"/>
          <p:cNvSpPr>
            <a:spLocks noGrp="1"/>
          </p:cNvSpPr>
          <p:nvPr>
            <p:ph type="sldNum" sz="quarter" idx="12"/>
          </p:nvPr>
        </p:nvSpPr>
        <p:spPr/>
        <p:txBody>
          <a:bodyPr/>
          <a:lstStyle/>
          <a:p>
            <a:fld id="{59AD7108-BEF5-4962-8E74-F3638E5AAF31}" type="slidenum">
              <a:rPr lang="pt-BR" smtClean="0"/>
              <a:t>‹nº›</a:t>
            </a:fld>
            <a:endParaRPr lang="pt-BR"/>
          </a:p>
        </p:txBody>
      </p:sp>
    </p:spTree>
    <p:extLst>
      <p:ext uri="{BB962C8B-B14F-4D97-AF65-F5344CB8AC3E}">
        <p14:creationId xmlns:p14="http://schemas.microsoft.com/office/powerpoint/2010/main" val="3684378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as Partes de Conteúd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smtClean="0"/>
              <a:t>Clique para editar o título mestre</a:t>
            </a:r>
            <a:endParaRPr lang="pt-BR"/>
          </a:p>
        </p:txBody>
      </p:sp>
      <p:sp>
        <p:nvSpPr>
          <p:cNvPr id="3" name="Espaço Reservado para Conteúdo 2"/>
          <p:cNvSpPr>
            <a:spLocks noGrp="1"/>
          </p:cNvSpPr>
          <p:nvPr>
            <p:ph sz="half" idx="1"/>
          </p:nvPr>
        </p:nvSpPr>
        <p:spPr>
          <a:xfrm>
            <a:off x="838200" y="1825625"/>
            <a:ext cx="5181600" cy="4351338"/>
          </a:xfrm>
        </p:spPr>
        <p:txBody>
          <a:bodyPr/>
          <a:lstStyle/>
          <a:p>
            <a:pPr lvl="0"/>
            <a:r>
              <a:rPr lang="pt-BR" smtClean="0"/>
              <a:t>Clique para editar o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pt-BR"/>
          </a:p>
        </p:txBody>
      </p:sp>
      <p:sp>
        <p:nvSpPr>
          <p:cNvPr id="4" name="Espaço Reservado para Conteúdo 3"/>
          <p:cNvSpPr>
            <a:spLocks noGrp="1"/>
          </p:cNvSpPr>
          <p:nvPr>
            <p:ph sz="half" idx="2"/>
          </p:nvPr>
        </p:nvSpPr>
        <p:spPr>
          <a:xfrm>
            <a:off x="6172200" y="1825625"/>
            <a:ext cx="5181600" cy="4351338"/>
          </a:xfrm>
        </p:spPr>
        <p:txBody>
          <a:bodyPr/>
          <a:lstStyle/>
          <a:p>
            <a:pPr lvl="0"/>
            <a:r>
              <a:rPr lang="pt-BR" smtClean="0"/>
              <a:t>Clique para editar o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pt-BR"/>
          </a:p>
        </p:txBody>
      </p:sp>
      <p:sp>
        <p:nvSpPr>
          <p:cNvPr id="5" name="Espaço Reservado para Data 4"/>
          <p:cNvSpPr>
            <a:spLocks noGrp="1"/>
          </p:cNvSpPr>
          <p:nvPr>
            <p:ph type="dt" sz="half" idx="10"/>
          </p:nvPr>
        </p:nvSpPr>
        <p:spPr/>
        <p:txBody>
          <a:bodyPr/>
          <a:lstStyle/>
          <a:p>
            <a:fld id="{79F57B0A-CC23-408B-BDBA-42E940BAE8BD}" type="datetimeFigureOut">
              <a:rPr lang="pt-BR" smtClean="0"/>
              <a:t>17/03/2025</a:t>
            </a:fld>
            <a:endParaRPr lang="pt-BR"/>
          </a:p>
        </p:txBody>
      </p:sp>
      <p:sp>
        <p:nvSpPr>
          <p:cNvPr id="6" name="Espaço Reservado para Rodapé 5"/>
          <p:cNvSpPr>
            <a:spLocks noGrp="1"/>
          </p:cNvSpPr>
          <p:nvPr>
            <p:ph type="ftr" sz="quarter" idx="11"/>
          </p:nvPr>
        </p:nvSpPr>
        <p:spPr/>
        <p:txBody>
          <a:bodyPr/>
          <a:lstStyle/>
          <a:p>
            <a:endParaRPr lang="pt-BR"/>
          </a:p>
        </p:txBody>
      </p:sp>
      <p:sp>
        <p:nvSpPr>
          <p:cNvPr id="7" name="Espaço Reservado para Número de Slide 6"/>
          <p:cNvSpPr>
            <a:spLocks noGrp="1"/>
          </p:cNvSpPr>
          <p:nvPr>
            <p:ph type="sldNum" sz="quarter" idx="12"/>
          </p:nvPr>
        </p:nvSpPr>
        <p:spPr/>
        <p:txBody>
          <a:bodyPr/>
          <a:lstStyle/>
          <a:p>
            <a:fld id="{59AD7108-BEF5-4962-8E74-F3638E5AAF31}" type="slidenum">
              <a:rPr lang="pt-BR" smtClean="0"/>
              <a:t>‹nº›</a:t>
            </a:fld>
            <a:endParaRPr lang="pt-BR"/>
          </a:p>
        </p:txBody>
      </p:sp>
    </p:spTree>
    <p:extLst>
      <p:ext uri="{BB962C8B-B14F-4D97-AF65-F5344CB8AC3E}">
        <p14:creationId xmlns:p14="http://schemas.microsoft.com/office/powerpoint/2010/main" val="27837508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ção">
    <p:spTree>
      <p:nvGrpSpPr>
        <p:cNvPr id="1" name=""/>
        <p:cNvGrpSpPr/>
        <p:nvPr/>
      </p:nvGrpSpPr>
      <p:grpSpPr>
        <a:xfrm>
          <a:off x="0" y="0"/>
          <a:ext cx="0" cy="0"/>
          <a:chOff x="0" y="0"/>
          <a:chExt cx="0" cy="0"/>
        </a:xfrm>
      </p:grpSpPr>
      <p:sp>
        <p:nvSpPr>
          <p:cNvPr id="2" name="Título 1"/>
          <p:cNvSpPr>
            <a:spLocks noGrp="1"/>
          </p:cNvSpPr>
          <p:nvPr>
            <p:ph type="title"/>
          </p:nvPr>
        </p:nvSpPr>
        <p:spPr>
          <a:xfrm>
            <a:off x="839788" y="365125"/>
            <a:ext cx="10515600" cy="1325563"/>
          </a:xfrm>
        </p:spPr>
        <p:txBody>
          <a:bodyPr/>
          <a:lstStyle/>
          <a:p>
            <a:r>
              <a:rPr lang="pt-BR" smtClean="0"/>
              <a:t>Clique para editar o título mestre</a:t>
            </a:r>
            <a:endParaRPr lang="pt-BR"/>
          </a:p>
        </p:txBody>
      </p:sp>
      <p:sp>
        <p:nvSpPr>
          <p:cNvPr id="3" name="Espaço Reservado para Texto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smtClean="0"/>
              <a:t>Clique para editar o texto mestre</a:t>
            </a:r>
          </a:p>
        </p:txBody>
      </p:sp>
      <p:sp>
        <p:nvSpPr>
          <p:cNvPr id="4" name="Espaço Reservado para Conteúdo 3"/>
          <p:cNvSpPr>
            <a:spLocks noGrp="1"/>
          </p:cNvSpPr>
          <p:nvPr>
            <p:ph sz="half" idx="2"/>
          </p:nvPr>
        </p:nvSpPr>
        <p:spPr>
          <a:xfrm>
            <a:off x="839788" y="2505075"/>
            <a:ext cx="5157787" cy="3684588"/>
          </a:xfrm>
        </p:spPr>
        <p:txBody>
          <a:bodyPr/>
          <a:lstStyle/>
          <a:p>
            <a:pPr lvl="0"/>
            <a:r>
              <a:rPr lang="pt-BR" smtClean="0"/>
              <a:t>Clique para editar o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pt-BR"/>
          </a:p>
        </p:txBody>
      </p:sp>
      <p:sp>
        <p:nvSpPr>
          <p:cNvPr id="5" name="Espaço Reservado para Texto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smtClean="0"/>
              <a:t>Clique para editar o texto mestre</a:t>
            </a:r>
          </a:p>
        </p:txBody>
      </p:sp>
      <p:sp>
        <p:nvSpPr>
          <p:cNvPr id="6" name="Espaço Reservado para Conteúdo 5"/>
          <p:cNvSpPr>
            <a:spLocks noGrp="1"/>
          </p:cNvSpPr>
          <p:nvPr>
            <p:ph sz="quarter" idx="4"/>
          </p:nvPr>
        </p:nvSpPr>
        <p:spPr>
          <a:xfrm>
            <a:off x="6172200" y="2505075"/>
            <a:ext cx="5183188" cy="3684588"/>
          </a:xfrm>
        </p:spPr>
        <p:txBody>
          <a:bodyPr/>
          <a:lstStyle/>
          <a:p>
            <a:pPr lvl="0"/>
            <a:r>
              <a:rPr lang="pt-BR" smtClean="0"/>
              <a:t>Clique para editar o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pt-BR"/>
          </a:p>
        </p:txBody>
      </p:sp>
      <p:sp>
        <p:nvSpPr>
          <p:cNvPr id="7" name="Espaço Reservado para Data 6"/>
          <p:cNvSpPr>
            <a:spLocks noGrp="1"/>
          </p:cNvSpPr>
          <p:nvPr>
            <p:ph type="dt" sz="half" idx="10"/>
          </p:nvPr>
        </p:nvSpPr>
        <p:spPr/>
        <p:txBody>
          <a:bodyPr/>
          <a:lstStyle/>
          <a:p>
            <a:fld id="{79F57B0A-CC23-408B-BDBA-42E940BAE8BD}" type="datetimeFigureOut">
              <a:rPr lang="pt-BR" smtClean="0"/>
              <a:t>17/03/2025</a:t>
            </a:fld>
            <a:endParaRPr lang="pt-BR"/>
          </a:p>
        </p:txBody>
      </p:sp>
      <p:sp>
        <p:nvSpPr>
          <p:cNvPr id="8" name="Espaço Reservado para Rodapé 7"/>
          <p:cNvSpPr>
            <a:spLocks noGrp="1"/>
          </p:cNvSpPr>
          <p:nvPr>
            <p:ph type="ftr" sz="quarter" idx="11"/>
          </p:nvPr>
        </p:nvSpPr>
        <p:spPr/>
        <p:txBody>
          <a:bodyPr/>
          <a:lstStyle/>
          <a:p>
            <a:endParaRPr lang="pt-BR"/>
          </a:p>
        </p:txBody>
      </p:sp>
      <p:sp>
        <p:nvSpPr>
          <p:cNvPr id="9" name="Espaço Reservado para Número de Slide 8"/>
          <p:cNvSpPr>
            <a:spLocks noGrp="1"/>
          </p:cNvSpPr>
          <p:nvPr>
            <p:ph type="sldNum" sz="quarter" idx="12"/>
          </p:nvPr>
        </p:nvSpPr>
        <p:spPr/>
        <p:txBody>
          <a:bodyPr/>
          <a:lstStyle/>
          <a:p>
            <a:fld id="{59AD7108-BEF5-4962-8E74-F3638E5AAF31}" type="slidenum">
              <a:rPr lang="pt-BR" smtClean="0"/>
              <a:t>‹nº›</a:t>
            </a:fld>
            <a:endParaRPr lang="pt-BR"/>
          </a:p>
        </p:txBody>
      </p:sp>
    </p:spTree>
    <p:extLst>
      <p:ext uri="{BB962C8B-B14F-4D97-AF65-F5344CB8AC3E}">
        <p14:creationId xmlns:p14="http://schemas.microsoft.com/office/powerpoint/2010/main" val="391867157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mente títul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smtClean="0"/>
              <a:t>Clique para editar o título mestre</a:t>
            </a:r>
            <a:endParaRPr lang="pt-BR"/>
          </a:p>
        </p:txBody>
      </p:sp>
      <p:sp>
        <p:nvSpPr>
          <p:cNvPr id="3" name="Espaço Reservado para Data 2"/>
          <p:cNvSpPr>
            <a:spLocks noGrp="1"/>
          </p:cNvSpPr>
          <p:nvPr>
            <p:ph type="dt" sz="half" idx="10"/>
          </p:nvPr>
        </p:nvSpPr>
        <p:spPr/>
        <p:txBody>
          <a:bodyPr/>
          <a:lstStyle/>
          <a:p>
            <a:fld id="{79F57B0A-CC23-408B-BDBA-42E940BAE8BD}" type="datetimeFigureOut">
              <a:rPr lang="pt-BR" smtClean="0"/>
              <a:t>17/03/2025</a:t>
            </a:fld>
            <a:endParaRPr lang="pt-BR"/>
          </a:p>
        </p:txBody>
      </p:sp>
      <p:sp>
        <p:nvSpPr>
          <p:cNvPr id="4" name="Espaço Reservado para Rodapé 3"/>
          <p:cNvSpPr>
            <a:spLocks noGrp="1"/>
          </p:cNvSpPr>
          <p:nvPr>
            <p:ph type="ftr" sz="quarter" idx="11"/>
          </p:nvPr>
        </p:nvSpPr>
        <p:spPr/>
        <p:txBody>
          <a:bodyPr/>
          <a:lstStyle/>
          <a:p>
            <a:endParaRPr lang="pt-BR"/>
          </a:p>
        </p:txBody>
      </p:sp>
      <p:sp>
        <p:nvSpPr>
          <p:cNvPr id="5" name="Espaço Reservado para Número de Slide 4"/>
          <p:cNvSpPr>
            <a:spLocks noGrp="1"/>
          </p:cNvSpPr>
          <p:nvPr>
            <p:ph type="sldNum" sz="quarter" idx="12"/>
          </p:nvPr>
        </p:nvSpPr>
        <p:spPr/>
        <p:txBody>
          <a:bodyPr/>
          <a:lstStyle/>
          <a:p>
            <a:fld id="{59AD7108-BEF5-4962-8E74-F3638E5AAF31}" type="slidenum">
              <a:rPr lang="pt-BR" smtClean="0"/>
              <a:t>‹nº›</a:t>
            </a:fld>
            <a:endParaRPr lang="pt-BR"/>
          </a:p>
        </p:txBody>
      </p:sp>
    </p:spTree>
    <p:extLst>
      <p:ext uri="{BB962C8B-B14F-4D97-AF65-F5344CB8AC3E}">
        <p14:creationId xmlns:p14="http://schemas.microsoft.com/office/powerpoint/2010/main" val="4299866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m branco">
    <p:spTree>
      <p:nvGrpSpPr>
        <p:cNvPr id="1" name=""/>
        <p:cNvGrpSpPr/>
        <p:nvPr/>
      </p:nvGrpSpPr>
      <p:grpSpPr>
        <a:xfrm>
          <a:off x="0" y="0"/>
          <a:ext cx="0" cy="0"/>
          <a:chOff x="0" y="0"/>
          <a:chExt cx="0" cy="0"/>
        </a:xfrm>
      </p:grpSpPr>
      <p:sp>
        <p:nvSpPr>
          <p:cNvPr id="2" name="Espaço Reservado para Data 1"/>
          <p:cNvSpPr>
            <a:spLocks noGrp="1"/>
          </p:cNvSpPr>
          <p:nvPr>
            <p:ph type="dt" sz="half" idx="10"/>
          </p:nvPr>
        </p:nvSpPr>
        <p:spPr/>
        <p:txBody>
          <a:bodyPr/>
          <a:lstStyle/>
          <a:p>
            <a:fld id="{79F57B0A-CC23-408B-BDBA-42E940BAE8BD}" type="datetimeFigureOut">
              <a:rPr lang="pt-BR" smtClean="0"/>
              <a:t>17/03/2025</a:t>
            </a:fld>
            <a:endParaRPr lang="pt-BR"/>
          </a:p>
        </p:txBody>
      </p:sp>
      <p:sp>
        <p:nvSpPr>
          <p:cNvPr id="3" name="Espaço Reservado para Rodapé 2"/>
          <p:cNvSpPr>
            <a:spLocks noGrp="1"/>
          </p:cNvSpPr>
          <p:nvPr>
            <p:ph type="ftr" sz="quarter" idx="11"/>
          </p:nvPr>
        </p:nvSpPr>
        <p:spPr/>
        <p:txBody>
          <a:bodyPr/>
          <a:lstStyle/>
          <a:p>
            <a:endParaRPr lang="pt-BR"/>
          </a:p>
        </p:txBody>
      </p:sp>
      <p:sp>
        <p:nvSpPr>
          <p:cNvPr id="4" name="Espaço Reservado para Número de Slide 3"/>
          <p:cNvSpPr>
            <a:spLocks noGrp="1"/>
          </p:cNvSpPr>
          <p:nvPr>
            <p:ph type="sldNum" sz="quarter" idx="12"/>
          </p:nvPr>
        </p:nvSpPr>
        <p:spPr/>
        <p:txBody>
          <a:bodyPr/>
          <a:lstStyle/>
          <a:p>
            <a:fld id="{59AD7108-BEF5-4962-8E74-F3638E5AAF31}" type="slidenum">
              <a:rPr lang="pt-BR" smtClean="0"/>
              <a:t>‹nº›</a:t>
            </a:fld>
            <a:endParaRPr lang="pt-BR"/>
          </a:p>
        </p:txBody>
      </p:sp>
    </p:spTree>
    <p:extLst>
      <p:ext uri="{BB962C8B-B14F-4D97-AF65-F5344CB8AC3E}">
        <p14:creationId xmlns:p14="http://schemas.microsoft.com/office/powerpoint/2010/main" val="6094687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údo com Legenda">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pt-BR" smtClean="0"/>
              <a:t>Clique para editar o título mestre</a:t>
            </a:r>
            <a:endParaRPr lang="pt-BR"/>
          </a:p>
        </p:txBody>
      </p:sp>
      <p:sp>
        <p:nvSpPr>
          <p:cNvPr id="3" name="Espaço Reservado para Conteúdo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pt-BR" smtClean="0"/>
              <a:t>Clique para editar o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pt-BR"/>
          </a:p>
        </p:txBody>
      </p:sp>
      <p:sp>
        <p:nvSpPr>
          <p:cNvPr id="4" name="Espaço Reservado para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smtClean="0"/>
              <a:t>Clique para editar o texto mestre</a:t>
            </a:r>
          </a:p>
        </p:txBody>
      </p:sp>
      <p:sp>
        <p:nvSpPr>
          <p:cNvPr id="5" name="Espaço Reservado para Data 4"/>
          <p:cNvSpPr>
            <a:spLocks noGrp="1"/>
          </p:cNvSpPr>
          <p:nvPr>
            <p:ph type="dt" sz="half" idx="10"/>
          </p:nvPr>
        </p:nvSpPr>
        <p:spPr/>
        <p:txBody>
          <a:bodyPr/>
          <a:lstStyle/>
          <a:p>
            <a:fld id="{79F57B0A-CC23-408B-BDBA-42E940BAE8BD}" type="datetimeFigureOut">
              <a:rPr lang="pt-BR" smtClean="0"/>
              <a:t>17/03/2025</a:t>
            </a:fld>
            <a:endParaRPr lang="pt-BR"/>
          </a:p>
        </p:txBody>
      </p:sp>
      <p:sp>
        <p:nvSpPr>
          <p:cNvPr id="6" name="Espaço Reservado para Rodapé 5"/>
          <p:cNvSpPr>
            <a:spLocks noGrp="1"/>
          </p:cNvSpPr>
          <p:nvPr>
            <p:ph type="ftr" sz="quarter" idx="11"/>
          </p:nvPr>
        </p:nvSpPr>
        <p:spPr/>
        <p:txBody>
          <a:bodyPr/>
          <a:lstStyle/>
          <a:p>
            <a:endParaRPr lang="pt-BR"/>
          </a:p>
        </p:txBody>
      </p:sp>
      <p:sp>
        <p:nvSpPr>
          <p:cNvPr id="7" name="Espaço Reservado para Número de Slide 6"/>
          <p:cNvSpPr>
            <a:spLocks noGrp="1"/>
          </p:cNvSpPr>
          <p:nvPr>
            <p:ph type="sldNum" sz="quarter" idx="12"/>
          </p:nvPr>
        </p:nvSpPr>
        <p:spPr/>
        <p:txBody>
          <a:bodyPr/>
          <a:lstStyle/>
          <a:p>
            <a:fld id="{59AD7108-BEF5-4962-8E74-F3638E5AAF31}" type="slidenum">
              <a:rPr lang="pt-BR" smtClean="0"/>
              <a:t>‹nº›</a:t>
            </a:fld>
            <a:endParaRPr lang="pt-BR"/>
          </a:p>
        </p:txBody>
      </p:sp>
    </p:spTree>
    <p:extLst>
      <p:ext uri="{BB962C8B-B14F-4D97-AF65-F5344CB8AC3E}">
        <p14:creationId xmlns:p14="http://schemas.microsoft.com/office/powerpoint/2010/main" val="37038550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m com Legenda">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pt-BR" smtClean="0"/>
              <a:t>Clique para editar o título mestre</a:t>
            </a:r>
            <a:endParaRPr lang="pt-BR"/>
          </a:p>
        </p:txBody>
      </p:sp>
      <p:sp>
        <p:nvSpPr>
          <p:cNvPr id="3" name="Espaço Reservado para Imagem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pt-BR"/>
          </a:p>
        </p:txBody>
      </p:sp>
      <p:sp>
        <p:nvSpPr>
          <p:cNvPr id="4" name="Espaço Reservado para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smtClean="0"/>
              <a:t>Clique para editar o texto mestre</a:t>
            </a:r>
          </a:p>
        </p:txBody>
      </p:sp>
      <p:sp>
        <p:nvSpPr>
          <p:cNvPr id="5" name="Espaço Reservado para Data 4"/>
          <p:cNvSpPr>
            <a:spLocks noGrp="1"/>
          </p:cNvSpPr>
          <p:nvPr>
            <p:ph type="dt" sz="half" idx="10"/>
          </p:nvPr>
        </p:nvSpPr>
        <p:spPr/>
        <p:txBody>
          <a:bodyPr/>
          <a:lstStyle/>
          <a:p>
            <a:fld id="{79F57B0A-CC23-408B-BDBA-42E940BAE8BD}" type="datetimeFigureOut">
              <a:rPr lang="pt-BR" smtClean="0"/>
              <a:t>17/03/2025</a:t>
            </a:fld>
            <a:endParaRPr lang="pt-BR"/>
          </a:p>
        </p:txBody>
      </p:sp>
      <p:sp>
        <p:nvSpPr>
          <p:cNvPr id="6" name="Espaço Reservado para Rodapé 5"/>
          <p:cNvSpPr>
            <a:spLocks noGrp="1"/>
          </p:cNvSpPr>
          <p:nvPr>
            <p:ph type="ftr" sz="quarter" idx="11"/>
          </p:nvPr>
        </p:nvSpPr>
        <p:spPr/>
        <p:txBody>
          <a:bodyPr/>
          <a:lstStyle/>
          <a:p>
            <a:endParaRPr lang="pt-BR"/>
          </a:p>
        </p:txBody>
      </p:sp>
      <p:sp>
        <p:nvSpPr>
          <p:cNvPr id="7" name="Espaço Reservado para Número de Slide 6"/>
          <p:cNvSpPr>
            <a:spLocks noGrp="1"/>
          </p:cNvSpPr>
          <p:nvPr>
            <p:ph type="sldNum" sz="quarter" idx="12"/>
          </p:nvPr>
        </p:nvSpPr>
        <p:spPr/>
        <p:txBody>
          <a:bodyPr/>
          <a:lstStyle/>
          <a:p>
            <a:fld id="{59AD7108-BEF5-4962-8E74-F3638E5AAF31}" type="slidenum">
              <a:rPr lang="pt-BR" smtClean="0"/>
              <a:t>‹nº›</a:t>
            </a:fld>
            <a:endParaRPr lang="pt-BR"/>
          </a:p>
        </p:txBody>
      </p:sp>
    </p:spTree>
    <p:extLst>
      <p:ext uri="{BB962C8B-B14F-4D97-AF65-F5344CB8AC3E}">
        <p14:creationId xmlns:p14="http://schemas.microsoft.com/office/powerpoint/2010/main" val="59831506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e texto vertical">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smtClean="0"/>
              <a:t>Clique para editar o título mestre</a:t>
            </a:r>
            <a:endParaRPr lang="pt-BR"/>
          </a:p>
        </p:txBody>
      </p:sp>
      <p:sp>
        <p:nvSpPr>
          <p:cNvPr id="3" name="Espaço Reservado para Texto Vertical 2"/>
          <p:cNvSpPr>
            <a:spLocks noGrp="1"/>
          </p:cNvSpPr>
          <p:nvPr>
            <p:ph type="body" orient="vert" idx="1"/>
          </p:nvPr>
        </p:nvSpPr>
        <p:spPr/>
        <p:txBody>
          <a:bodyPr vert="eaVert"/>
          <a:lstStyle/>
          <a:p>
            <a:pPr lvl="0"/>
            <a:r>
              <a:rPr lang="pt-BR" smtClean="0"/>
              <a:t>Clique para editar o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pt-BR"/>
          </a:p>
        </p:txBody>
      </p:sp>
      <p:sp>
        <p:nvSpPr>
          <p:cNvPr id="4" name="Espaço Reservado para Data 3"/>
          <p:cNvSpPr>
            <a:spLocks noGrp="1"/>
          </p:cNvSpPr>
          <p:nvPr>
            <p:ph type="dt" sz="half" idx="10"/>
          </p:nvPr>
        </p:nvSpPr>
        <p:spPr/>
        <p:txBody>
          <a:bodyPr/>
          <a:lstStyle/>
          <a:p>
            <a:fld id="{79F57B0A-CC23-408B-BDBA-42E940BAE8BD}" type="datetimeFigureOut">
              <a:rPr lang="pt-BR" smtClean="0"/>
              <a:t>17/03/2025</a:t>
            </a:fld>
            <a:endParaRPr lang="pt-BR"/>
          </a:p>
        </p:txBody>
      </p:sp>
      <p:sp>
        <p:nvSpPr>
          <p:cNvPr id="5" name="Espaço Reservado para Rodapé 4"/>
          <p:cNvSpPr>
            <a:spLocks noGrp="1"/>
          </p:cNvSpPr>
          <p:nvPr>
            <p:ph type="ftr" sz="quarter" idx="11"/>
          </p:nvPr>
        </p:nvSpPr>
        <p:spPr/>
        <p:txBody>
          <a:bodyPr/>
          <a:lstStyle/>
          <a:p>
            <a:endParaRPr lang="pt-BR"/>
          </a:p>
        </p:txBody>
      </p:sp>
      <p:sp>
        <p:nvSpPr>
          <p:cNvPr id="6" name="Espaço Reservado para Número de Slide 5"/>
          <p:cNvSpPr>
            <a:spLocks noGrp="1"/>
          </p:cNvSpPr>
          <p:nvPr>
            <p:ph type="sldNum" sz="quarter" idx="12"/>
          </p:nvPr>
        </p:nvSpPr>
        <p:spPr/>
        <p:txBody>
          <a:bodyPr/>
          <a:lstStyle/>
          <a:p>
            <a:fld id="{59AD7108-BEF5-4962-8E74-F3638E5AAF31}" type="slidenum">
              <a:rPr lang="pt-BR" smtClean="0"/>
              <a:t>‹nº›</a:t>
            </a:fld>
            <a:endParaRPr lang="pt-BR"/>
          </a:p>
        </p:txBody>
      </p:sp>
    </p:spTree>
    <p:extLst>
      <p:ext uri="{BB962C8B-B14F-4D97-AF65-F5344CB8AC3E}">
        <p14:creationId xmlns:p14="http://schemas.microsoft.com/office/powerpoint/2010/main" val="286833299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e texto verticais">
    <p:spTree>
      <p:nvGrpSpPr>
        <p:cNvPr id="1" name=""/>
        <p:cNvGrpSpPr/>
        <p:nvPr/>
      </p:nvGrpSpPr>
      <p:grpSpPr>
        <a:xfrm>
          <a:off x="0" y="0"/>
          <a:ext cx="0" cy="0"/>
          <a:chOff x="0" y="0"/>
          <a:chExt cx="0" cy="0"/>
        </a:xfrm>
      </p:grpSpPr>
      <p:sp>
        <p:nvSpPr>
          <p:cNvPr id="2" name="Título Vertical 1"/>
          <p:cNvSpPr>
            <a:spLocks noGrp="1"/>
          </p:cNvSpPr>
          <p:nvPr>
            <p:ph type="title" orient="vert"/>
          </p:nvPr>
        </p:nvSpPr>
        <p:spPr>
          <a:xfrm>
            <a:off x="8724900" y="365125"/>
            <a:ext cx="2628900" cy="5811838"/>
          </a:xfrm>
        </p:spPr>
        <p:txBody>
          <a:bodyPr vert="eaVert"/>
          <a:lstStyle/>
          <a:p>
            <a:r>
              <a:rPr lang="pt-BR" smtClean="0"/>
              <a:t>Clique para editar o título mestre</a:t>
            </a:r>
            <a:endParaRPr lang="pt-BR"/>
          </a:p>
        </p:txBody>
      </p:sp>
      <p:sp>
        <p:nvSpPr>
          <p:cNvPr id="3" name="Espaço Reservado para Texto Vertical 2"/>
          <p:cNvSpPr>
            <a:spLocks noGrp="1"/>
          </p:cNvSpPr>
          <p:nvPr>
            <p:ph type="body" orient="vert" idx="1"/>
          </p:nvPr>
        </p:nvSpPr>
        <p:spPr>
          <a:xfrm>
            <a:off x="838200" y="365125"/>
            <a:ext cx="7734300" cy="5811838"/>
          </a:xfrm>
        </p:spPr>
        <p:txBody>
          <a:bodyPr vert="eaVert"/>
          <a:lstStyle/>
          <a:p>
            <a:pPr lvl="0"/>
            <a:r>
              <a:rPr lang="pt-BR" smtClean="0"/>
              <a:t>Clique para editar o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pt-BR"/>
          </a:p>
        </p:txBody>
      </p:sp>
      <p:sp>
        <p:nvSpPr>
          <p:cNvPr id="4" name="Espaço Reservado para Data 3"/>
          <p:cNvSpPr>
            <a:spLocks noGrp="1"/>
          </p:cNvSpPr>
          <p:nvPr>
            <p:ph type="dt" sz="half" idx="10"/>
          </p:nvPr>
        </p:nvSpPr>
        <p:spPr/>
        <p:txBody>
          <a:bodyPr/>
          <a:lstStyle/>
          <a:p>
            <a:fld id="{79F57B0A-CC23-408B-BDBA-42E940BAE8BD}" type="datetimeFigureOut">
              <a:rPr lang="pt-BR" smtClean="0"/>
              <a:t>17/03/2025</a:t>
            </a:fld>
            <a:endParaRPr lang="pt-BR"/>
          </a:p>
        </p:txBody>
      </p:sp>
      <p:sp>
        <p:nvSpPr>
          <p:cNvPr id="5" name="Espaço Reservado para Rodapé 4"/>
          <p:cNvSpPr>
            <a:spLocks noGrp="1"/>
          </p:cNvSpPr>
          <p:nvPr>
            <p:ph type="ftr" sz="quarter" idx="11"/>
          </p:nvPr>
        </p:nvSpPr>
        <p:spPr/>
        <p:txBody>
          <a:bodyPr/>
          <a:lstStyle/>
          <a:p>
            <a:endParaRPr lang="pt-BR"/>
          </a:p>
        </p:txBody>
      </p:sp>
      <p:sp>
        <p:nvSpPr>
          <p:cNvPr id="6" name="Espaço Reservado para Número de Slide 5"/>
          <p:cNvSpPr>
            <a:spLocks noGrp="1"/>
          </p:cNvSpPr>
          <p:nvPr>
            <p:ph type="sldNum" sz="quarter" idx="12"/>
          </p:nvPr>
        </p:nvSpPr>
        <p:spPr/>
        <p:txBody>
          <a:bodyPr/>
          <a:lstStyle/>
          <a:p>
            <a:fld id="{59AD7108-BEF5-4962-8E74-F3638E5AAF31}" type="slidenum">
              <a:rPr lang="pt-BR" smtClean="0"/>
              <a:t>‹nº›</a:t>
            </a:fld>
            <a:endParaRPr lang="pt-BR"/>
          </a:p>
        </p:txBody>
      </p:sp>
    </p:spTree>
    <p:extLst>
      <p:ext uri="{BB962C8B-B14F-4D97-AF65-F5344CB8AC3E}">
        <p14:creationId xmlns:p14="http://schemas.microsoft.com/office/powerpoint/2010/main" val="17802815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Título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pt-BR" smtClean="0"/>
              <a:t>Clique para editar o título mestre</a:t>
            </a:r>
            <a:endParaRPr lang="pt-BR"/>
          </a:p>
        </p:txBody>
      </p:sp>
      <p:sp>
        <p:nvSpPr>
          <p:cNvPr id="3" name="Espaço Reservado para Texto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pt-BR" smtClean="0"/>
              <a:t>Clique para editar o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pt-BR"/>
          </a:p>
        </p:txBody>
      </p:sp>
      <p:sp>
        <p:nvSpPr>
          <p:cNvPr id="4" name="Espaço Reservado para Data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9F57B0A-CC23-408B-BDBA-42E940BAE8BD}" type="datetimeFigureOut">
              <a:rPr lang="pt-BR" smtClean="0"/>
              <a:t>17/03/2025</a:t>
            </a:fld>
            <a:endParaRPr lang="pt-BR"/>
          </a:p>
        </p:txBody>
      </p:sp>
      <p:sp>
        <p:nvSpPr>
          <p:cNvPr id="5" name="Espaço Reservado para Rodapé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pt-BR"/>
          </a:p>
        </p:txBody>
      </p:sp>
      <p:sp>
        <p:nvSpPr>
          <p:cNvPr id="6" name="Espaço Reservado para Número de Slide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9AD7108-BEF5-4962-8E74-F3638E5AAF31}" type="slidenum">
              <a:rPr lang="pt-BR" smtClean="0"/>
              <a:t>‹nº›</a:t>
            </a:fld>
            <a:endParaRPr lang="pt-BR"/>
          </a:p>
        </p:txBody>
      </p:sp>
    </p:spTree>
    <p:extLst>
      <p:ext uri="{BB962C8B-B14F-4D97-AF65-F5344CB8AC3E}">
        <p14:creationId xmlns:p14="http://schemas.microsoft.com/office/powerpoint/2010/main" val="116893113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p:txBody>
          <a:bodyPr/>
          <a:lstStyle/>
          <a:p>
            <a:r>
              <a:rPr lang="pt-BR" dirty="0" smtClean="0"/>
              <a:t>Capitulo 9 –Evolução do Software</a:t>
            </a:r>
            <a:endParaRPr lang="pt-BR" dirty="0"/>
          </a:p>
        </p:txBody>
      </p:sp>
      <p:sp>
        <p:nvSpPr>
          <p:cNvPr id="3" name="Subtítulo 2"/>
          <p:cNvSpPr>
            <a:spLocks noGrp="1"/>
          </p:cNvSpPr>
          <p:nvPr>
            <p:ph type="subTitle" idx="1"/>
          </p:nvPr>
        </p:nvSpPr>
        <p:spPr/>
        <p:txBody>
          <a:bodyPr/>
          <a:lstStyle/>
          <a:p>
            <a:endParaRPr lang="pt-BR"/>
          </a:p>
        </p:txBody>
      </p:sp>
    </p:spTree>
    <p:extLst>
      <p:ext uri="{BB962C8B-B14F-4D97-AF65-F5344CB8AC3E}">
        <p14:creationId xmlns:p14="http://schemas.microsoft.com/office/powerpoint/2010/main" val="30683277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smtClean="0"/>
              <a:t>Capitulo 9 – Evolução do software</a:t>
            </a:r>
            <a:endParaRPr lang="pt-BR" dirty="0"/>
          </a:p>
        </p:txBody>
      </p:sp>
      <p:sp>
        <p:nvSpPr>
          <p:cNvPr id="3" name="Espaço Reservado para Conteúdo 2"/>
          <p:cNvSpPr>
            <a:spLocks noGrp="1"/>
          </p:cNvSpPr>
          <p:nvPr>
            <p:ph idx="1"/>
          </p:nvPr>
        </p:nvSpPr>
        <p:spPr/>
        <p:txBody>
          <a:bodyPr>
            <a:normAutofit fontScale="92500" lnSpcReduction="20000"/>
          </a:bodyPr>
          <a:lstStyle/>
          <a:p>
            <a:pPr marL="0" indent="0">
              <a:buNone/>
            </a:pPr>
            <a:r>
              <a:rPr lang="pt-BR" dirty="0" smtClean="0"/>
              <a:t>Objetivos:</a:t>
            </a:r>
          </a:p>
          <a:p>
            <a:pPr marL="0" indent="0">
              <a:buNone/>
            </a:pPr>
            <a:r>
              <a:rPr lang="pt-BR" dirty="0"/>
              <a:t>E</a:t>
            </a:r>
            <a:r>
              <a:rPr lang="pt-BR" dirty="0" smtClean="0"/>
              <a:t>xplicar </a:t>
            </a:r>
            <a:r>
              <a:rPr lang="pt-BR" dirty="0"/>
              <a:t>por que a evolução é uma parte importante da engenharia de software e descrever os processos de evolução de software. </a:t>
            </a:r>
            <a:endParaRPr lang="pt-BR" dirty="0" smtClean="0"/>
          </a:p>
          <a:p>
            <a:pPr marL="0" indent="0">
              <a:buNone/>
            </a:pPr>
            <a:r>
              <a:rPr lang="pt-BR" dirty="0" smtClean="0"/>
              <a:t>Compreender </a:t>
            </a:r>
            <a:r>
              <a:rPr lang="pt-BR" dirty="0"/>
              <a:t>que a mudança é inevitável caso os sistemas de software devam permanecer úteis, e que o desenvolvimento e a evolução de software podem ser integrados em um modelo em espiral; </a:t>
            </a:r>
            <a:endParaRPr lang="pt-BR" dirty="0" smtClean="0"/>
          </a:p>
          <a:p>
            <a:pPr marL="0" indent="0">
              <a:buNone/>
            </a:pPr>
            <a:r>
              <a:rPr lang="pt-BR" dirty="0" smtClean="0"/>
              <a:t>Compreender </a:t>
            </a:r>
            <a:r>
              <a:rPr lang="pt-BR" dirty="0"/>
              <a:t>os processos de evolução de software e as </a:t>
            </a:r>
            <a:r>
              <a:rPr lang="pt-BR" dirty="0" smtClean="0"/>
              <a:t>influências </a:t>
            </a:r>
            <a:r>
              <a:rPr lang="pt-BR" dirty="0"/>
              <a:t>sobre esses processos; </a:t>
            </a:r>
            <a:endParaRPr lang="pt-BR" dirty="0" smtClean="0"/>
          </a:p>
          <a:p>
            <a:pPr marL="0" indent="0">
              <a:buNone/>
            </a:pPr>
            <a:r>
              <a:rPr lang="pt-BR" dirty="0" smtClean="0"/>
              <a:t>Aprender </a:t>
            </a:r>
            <a:r>
              <a:rPr lang="pt-BR" dirty="0"/>
              <a:t>os diferentes tipos de manutenção de </a:t>
            </a:r>
            <a:r>
              <a:rPr lang="pt-BR" dirty="0" smtClean="0"/>
              <a:t>software </a:t>
            </a:r>
            <a:r>
              <a:rPr lang="pt-BR" dirty="0"/>
              <a:t>e os fatores que afetam seus custos; </a:t>
            </a:r>
            <a:endParaRPr lang="pt-BR" dirty="0" smtClean="0"/>
          </a:p>
          <a:p>
            <a:pPr marL="0" indent="0">
              <a:buNone/>
            </a:pPr>
            <a:r>
              <a:rPr lang="pt-BR" dirty="0" smtClean="0"/>
              <a:t>Entender </a:t>
            </a:r>
            <a:r>
              <a:rPr lang="pt-BR" dirty="0"/>
              <a:t>como os sistemas legados podem ser avaliados para decidir se devem ser descartados, mantidos, passar por </a:t>
            </a:r>
            <a:r>
              <a:rPr lang="pt-BR" dirty="0" smtClean="0"/>
              <a:t>reengenharia </a:t>
            </a:r>
            <a:r>
              <a:rPr lang="pt-BR" dirty="0"/>
              <a:t>ou substituídos</a:t>
            </a:r>
          </a:p>
        </p:txBody>
      </p:sp>
    </p:spTree>
    <p:extLst>
      <p:ext uri="{BB962C8B-B14F-4D97-AF65-F5344CB8AC3E}">
        <p14:creationId xmlns:p14="http://schemas.microsoft.com/office/powerpoint/2010/main" val="36981182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05287" y="0"/>
            <a:ext cx="10515600" cy="1325563"/>
          </a:xfrm>
        </p:spPr>
        <p:txBody>
          <a:bodyPr/>
          <a:lstStyle/>
          <a:p>
            <a:r>
              <a:rPr lang="pt-BR" dirty="0" smtClean="0"/>
              <a:t>Capitulo 9 – Evolução do software</a:t>
            </a:r>
            <a:endParaRPr lang="pt-BR" dirty="0"/>
          </a:p>
        </p:txBody>
      </p:sp>
      <p:sp>
        <p:nvSpPr>
          <p:cNvPr id="3" name="Espaço Reservado para Conteúdo 2"/>
          <p:cNvSpPr>
            <a:spLocks noGrp="1"/>
          </p:cNvSpPr>
          <p:nvPr>
            <p:ph idx="1"/>
          </p:nvPr>
        </p:nvSpPr>
        <p:spPr>
          <a:xfrm>
            <a:off x="0" y="974785"/>
            <a:ext cx="12085609" cy="5149970"/>
          </a:xfrm>
        </p:spPr>
        <p:txBody>
          <a:bodyPr>
            <a:noAutofit/>
          </a:bodyPr>
          <a:lstStyle/>
          <a:p>
            <a:pPr marL="0" indent="0">
              <a:buNone/>
            </a:pPr>
            <a:r>
              <a:rPr lang="pt-BR" sz="2400" dirty="0"/>
              <a:t>D</a:t>
            </a:r>
            <a:r>
              <a:rPr lang="pt-BR" sz="2400" dirty="0" smtClean="0"/>
              <a:t>esenvolvimento </a:t>
            </a:r>
            <a:r>
              <a:rPr lang="pt-BR" sz="2400" dirty="0"/>
              <a:t>de software </a:t>
            </a:r>
            <a:r>
              <a:rPr lang="pt-BR" sz="2400" dirty="0" smtClean="0"/>
              <a:t>continua pela </a:t>
            </a:r>
            <a:r>
              <a:rPr lang="pt-BR" sz="2400" dirty="0"/>
              <a:t>vida útil do sistema. </a:t>
            </a:r>
            <a:endParaRPr lang="pt-BR" sz="2400" dirty="0" smtClean="0"/>
          </a:p>
          <a:p>
            <a:pPr marL="0" indent="0">
              <a:buNone/>
            </a:pPr>
            <a:r>
              <a:rPr lang="pt-BR" sz="2400" dirty="0" smtClean="0"/>
              <a:t>Sistema útil: inevitável </a:t>
            </a:r>
            <a:r>
              <a:rPr lang="pt-BR" sz="2400" dirty="0"/>
              <a:t>que ocorram </a:t>
            </a:r>
            <a:r>
              <a:rPr lang="pt-BR" sz="2400" dirty="0" smtClean="0"/>
              <a:t>mudanças (nos </a:t>
            </a:r>
            <a:r>
              <a:rPr lang="pt-BR" sz="2400" dirty="0"/>
              <a:t>negócios e nas expectativas dos usuários, que geram novos requisitos para o </a:t>
            </a:r>
            <a:r>
              <a:rPr lang="pt-BR" sz="2400" dirty="0" smtClean="0"/>
              <a:t>software). </a:t>
            </a:r>
          </a:p>
          <a:p>
            <a:pPr marL="0" indent="0">
              <a:buNone/>
            </a:pPr>
            <a:r>
              <a:rPr lang="pt-BR" sz="2400" dirty="0" smtClean="0"/>
              <a:t>Partes </a:t>
            </a:r>
            <a:r>
              <a:rPr lang="pt-BR" sz="2400" dirty="0"/>
              <a:t>do </a:t>
            </a:r>
            <a:r>
              <a:rPr lang="pt-BR" sz="2400" dirty="0" smtClean="0"/>
              <a:t>software precisam </a:t>
            </a:r>
            <a:r>
              <a:rPr lang="pt-BR" sz="2400" dirty="0"/>
              <a:t>ser </a:t>
            </a:r>
            <a:r>
              <a:rPr lang="pt-BR" sz="2400" dirty="0" smtClean="0"/>
              <a:t>modificadas: </a:t>
            </a:r>
            <a:r>
              <a:rPr lang="pt-BR" sz="2400" dirty="0" smtClean="0"/>
              <a:t>correção de erros, adaptação </a:t>
            </a:r>
            <a:r>
              <a:rPr lang="pt-BR" sz="2400" dirty="0"/>
              <a:t>às alterações </a:t>
            </a:r>
            <a:r>
              <a:rPr lang="pt-BR" sz="2400" dirty="0" smtClean="0"/>
              <a:t>da </a:t>
            </a:r>
            <a:r>
              <a:rPr lang="pt-BR" sz="2400" dirty="0"/>
              <a:t>plataforma de hardware e software, </a:t>
            </a:r>
            <a:r>
              <a:rPr lang="pt-BR" sz="2400" dirty="0" smtClean="0"/>
              <a:t> </a:t>
            </a:r>
            <a:r>
              <a:rPr lang="pt-BR" sz="2400" dirty="0" smtClean="0"/>
              <a:t>melhorar </a:t>
            </a:r>
            <a:r>
              <a:rPr lang="pt-BR" sz="2400" dirty="0"/>
              <a:t>desempenho ou outras características não funcionais. </a:t>
            </a:r>
            <a:endParaRPr lang="pt-BR" sz="2400" dirty="0" smtClean="0"/>
          </a:p>
          <a:p>
            <a:pPr marL="0" indent="0">
              <a:buNone/>
            </a:pPr>
            <a:r>
              <a:rPr lang="pt-BR" sz="2400" dirty="0"/>
              <a:t>E</a:t>
            </a:r>
            <a:r>
              <a:rPr lang="pt-BR" sz="2400" dirty="0" smtClean="0"/>
              <a:t>volução </a:t>
            </a:r>
            <a:r>
              <a:rPr lang="pt-BR" sz="2400" dirty="0"/>
              <a:t>do software é </a:t>
            </a:r>
            <a:r>
              <a:rPr lang="pt-BR" sz="2400" dirty="0" smtClean="0"/>
              <a:t>importante: organizações </a:t>
            </a:r>
            <a:r>
              <a:rPr lang="pt-BR" sz="2400" dirty="0"/>
              <a:t>investem </a:t>
            </a:r>
            <a:r>
              <a:rPr lang="pt-BR" sz="2400" dirty="0" smtClean="0"/>
              <a:t>em </a:t>
            </a:r>
            <a:r>
              <a:rPr lang="pt-BR" sz="2400" dirty="0"/>
              <a:t>seus softwares e </a:t>
            </a:r>
            <a:r>
              <a:rPr lang="pt-BR" sz="2400" dirty="0" smtClean="0"/>
              <a:t>dependem deles. Sistemas </a:t>
            </a:r>
            <a:r>
              <a:rPr lang="pt-BR" sz="2400" dirty="0"/>
              <a:t>são ativos críticos de </a:t>
            </a:r>
            <a:r>
              <a:rPr lang="pt-BR" sz="2400" dirty="0" smtClean="0"/>
              <a:t>negócios: mudanças mantem </a:t>
            </a:r>
            <a:r>
              <a:rPr lang="pt-BR" sz="2400" dirty="0"/>
              <a:t>o valor desses ativos. </a:t>
            </a:r>
            <a:endParaRPr lang="pt-BR" sz="2400" dirty="0" smtClean="0"/>
          </a:p>
          <a:p>
            <a:pPr marL="0" indent="0">
              <a:buNone/>
            </a:pPr>
            <a:r>
              <a:rPr lang="pt-BR" sz="2400" dirty="0"/>
              <a:t>G</a:t>
            </a:r>
            <a:r>
              <a:rPr lang="pt-BR" sz="2400" dirty="0" smtClean="0"/>
              <a:t>randes </a:t>
            </a:r>
            <a:r>
              <a:rPr lang="pt-BR" sz="2400" dirty="0" smtClean="0"/>
              <a:t>empresas </a:t>
            </a:r>
            <a:r>
              <a:rPr lang="pt-BR" sz="2400" dirty="0" smtClean="0"/>
              <a:t>gastam </a:t>
            </a:r>
            <a:r>
              <a:rPr lang="pt-BR" sz="2400" dirty="0"/>
              <a:t>mais na </a:t>
            </a:r>
            <a:r>
              <a:rPr lang="pt-BR" sz="2400" dirty="0" smtClean="0"/>
              <a:t>manutenção </a:t>
            </a:r>
            <a:r>
              <a:rPr lang="pt-BR" sz="2400" dirty="0"/>
              <a:t>do que no desenvolvimento de novos sistemas. </a:t>
            </a:r>
            <a:endParaRPr lang="pt-BR" sz="2400" dirty="0" smtClean="0"/>
          </a:p>
          <a:p>
            <a:pPr marL="0" indent="0">
              <a:buNone/>
            </a:pPr>
            <a:r>
              <a:rPr lang="pt-BR" sz="2400" dirty="0" smtClean="0"/>
              <a:t>Pesquisa </a:t>
            </a:r>
            <a:r>
              <a:rPr lang="pt-BR" sz="2400" dirty="0"/>
              <a:t>informal da indústria, </a:t>
            </a:r>
            <a:r>
              <a:rPr lang="pt-BR" sz="2400" dirty="0" err="1"/>
              <a:t>Erlikh</a:t>
            </a:r>
            <a:r>
              <a:rPr lang="pt-BR" sz="2400" dirty="0"/>
              <a:t> (2000</a:t>
            </a:r>
            <a:r>
              <a:rPr lang="pt-BR" sz="2400" dirty="0" smtClean="0"/>
              <a:t>): </a:t>
            </a:r>
            <a:r>
              <a:rPr lang="pt-BR" sz="2400" dirty="0" smtClean="0"/>
              <a:t>evolução: 85</a:t>
            </a:r>
            <a:r>
              <a:rPr lang="pt-BR" sz="2400" dirty="0"/>
              <a:t>% a 90% dos custos organizacionais de </a:t>
            </a:r>
            <a:r>
              <a:rPr lang="pt-BR" sz="2400" dirty="0" smtClean="0"/>
              <a:t>software. </a:t>
            </a:r>
            <a:endParaRPr lang="pt-BR" sz="2400" dirty="0" smtClean="0"/>
          </a:p>
          <a:p>
            <a:pPr marL="0" indent="0">
              <a:buNone/>
            </a:pPr>
            <a:r>
              <a:rPr lang="pt-BR" sz="2400" dirty="0" smtClean="0"/>
              <a:t>Outras pesquisas: </a:t>
            </a:r>
            <a:r>
              <a:rPr lang="pt-BR" sz="2400" dirty="0"/>
              <a:t>cerca de dois terços de custos de software são de evolução. </a:t>
            </a:r>
            <a:endParaRPr lang="pt-BR" sz="2400" dirty="0" smtClean="0"/>
          </a:p>
          <a:p>
            <a:pPr marL="0" indent="0">
              <a:buNone/>
            </a:pPr>
            <a:r>
              <a:rPr lang="pt-BR" sz="2400" dirty="0" smtClean="0"/>
              <a:t>Custos </a:t>
            </a:r>
            <a:r>
              <a:rPr lang="pt-BR" sz="2400" dirty="0"/>
              <a:t>para mudança de software requerem grande parte do orçamento de TI </a:t>
            </a:r>
          </a:p>
        </p:txBody>
      </p:sp>
    </p:spTree>
    <p:extLst>
      <p:ext uri="{BB962C8B-B14F-4D97-AF65-F5344CB8AC3E}">
        <p14:creationId xmlns:p14="http://schemas.microsoft.com/office/powerpoint/2010/main" val="865054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smtClean="0"/>
              <a:t>Capitulo 9 – Evolução do software</a:t>
            </a:r>
            <a:endParaRPr lang="pt-BR" dirty="0"/>
          </a:p>
        </p:txBody>
      </p:sp>
      <p:sp>
        <p:nvSpPr>
          <p:cNvPr id="3" name="Espaço Reservado para Conteúdo 2"/>
          <p:cNvSpPr>
            <a:spLocks noGrp="1"/>
          </p:cNvSpPr>
          <p:nvPr>
            <p:ph idx="1"/>
          </p:nvPr>
        </p:nvSpPr>
        <p:spPr>
          <a:xfrm>
            <a:off x="-1" y="1371600"/>
            <a:ext cx="12085609" cy="5149970"/>
          </a:xfrm>
        </p:spPr>
        <p:txBody>
          <a:bodyPr>
            <a:normAutofit/>
          </a:bodyPr>
          <a:lstStyle/>
          <a:p>
            <a:pPr marL="0" indent="0">
              <a:buNone/>
            </a:pPr>
            <a:r>
              <a:rPr lang="pt-BR" dirty="0"/>
              <a:t>E</a:t>
            </a:r>
            <a:r>
              <a:rPr lang="pt-BR" dirty="0" smtClean="0"/>
              <a:t>volução </a:t>
            </a:r>
            <a:r>
              <a:rPr lang="pt-BR" dirty="0"/>
              <a:t>de </a:t>
            </a:r>
            <a:r>
              <a:rPr lang="pt-BR" dirty="0" smtClean="0"/>
              <a:t>software: necessidades </a:t>
            </a:r>
            <a:r>
              <a:rPr lang="pt-BR" dirty="0"/>
              <a:t>empresariais em constante mudança, </a:t>
            </a:r>
            <a:r>
              <a:rPr lang="pt-BR" dirty="0" smtClean="0"/>
              <a:t>relatos </a:t>
            </a:r>
            <a:r>
              <a:rPr lang="pt-BR" dirty="0"/>
              <a:t>de defeitos de software ou </a:t>
            </a:r>
            <a:r>
              <a:rPr lang="pt-BR" dirty="0" smtClean="0"/>
              <a:t>alterações </a:t>
            </a:r>
            <a:r>
              <a:rPr lang="pt-BR" dirty="0"/>
              <a:t>de outros sistemas em um ambiente de software. </a:t>
            </a:r>
            <a:endParaRPr lang="pt-BR" dirty="0" smtClean="0"/>
          </a:p>
          <a:p>
            <a:pPr marL="0" indent="0">
              <a:buNone/>
            </a:pPr>
            <a:r>
              <a:rPr lang="pt-BR" dirty="0" smtClean="0"/>
              <a:t>Hopkins </a:t>
            </a:r>
            <a:r>
              <a:rPr lang="pt-BR" dirty="0"/>
              <a:t>e </a:t>
            </a:r>
            <a:r>
              <a:rPr lang="pt-BR" dirty="0" err="1"/>
              <a:t>Jenkins</a:t>
            </a:r>
            <a:r>
              <a:rPr lang="pt-BR" dirty="0"/>
              <a:t> (2008) cunharam o termo ‘desenvolvimento de software </a:t>
            </a:r>
            <a:r>
              <a:rPr lang="pt-BR" dirty="0" err="1"/>
              <a:t>brownfield</a:t>
            </a:r>
            <a:r>
              <a:rPr lang="pt-BR" dirty="0" smtClean="0"/>
              <a:t>’: sistemas </a:t>
            </a:r>
            <a:r>
              <a:rPr lang="pt-BR" dirty="0"/>
              <a:t>de </a:t>
            </a:r>
            <a:r>
              <a:rPr lang="pt-BR" dirty="0" smtClean="0"/>
              <a:t>software </a:t>
            </a:r>
            <a:r>
              <a:rPr lang="pt-BR" dirty="0"/>
              <a:t>precisam ser desenvolvidos e gerenciados em um ambiente em que dependem de vários outros sistemas de software. </a:t>
            </a:r>
            <a:endParaRPr lang="pt-BR" dirty="0" smtClean="0"/>
          </a:p>
          <a:p>
            <a:pPr marL="0" indent="0">
              <a:buNone/>
            </a:pPr>
            <a:r>
              <a:rPr lang="pt-BR" dirty="0" smtClean="0"/>
              <a:t>E</a:t>
            </a:r>
            <a:r>
              <a:rPr lang="pt-BR" dirty="0" smtClean="0"/>
              <a:t>volução </a:t>
            </a:r>
            <a:r>
              <a:rPr lang="pt-BR" dirty="0"/>
              <a:t>raramente pode ser considerada de forma isolada. Alterações no ambiente levam a mudanças nos sistemas que </a:t>
            </a:r>
            <a:r>
              <a:rPr lang="pt-BR" dirty="0" smtClean="0"/>
              <a:t>podem </a:t>
            </a:r>
            <a:r>
              <a:rPr lang="pt-BR" dirty="0"/>
              <a:t>provocar mais mudanças ambientais. </a:t>
            </a:r>
            <a:endParaRPr lang="pt-BR" dirty="0" smtClean="0"/>
          </a:p>
          <a:p>
            <a:pPr marL="0" indent="0">
              <a:buNone/>
            </a:pPr>
            <a:r>
              <a:rPr lang="pt-BR" dirty="0" smtClean="0"/>
              <a:t>Sistemas evoluem </a:t>
            </a:r>
            <a:r>
              <a:rPr lang="pt-BR" dirty="0"/>
              <a:t>em um ‘ambiente rico</a:t>
            </a:r>
            <a:r>
              <a:rPr lang="pt-BR" dirty="0" smtClean="0"/>
              <a:t>’: aumenta </a:t>
            </a:r>
            <a:r>
              <a:rPr lang="pt-BR" dirty="0"/>
              <a:t>as dificuldades e os custos de evolução. </a:t>
            </a:r>
            <a:r>
              <a:rPr lang="pt-BR" dirty="0" smtClean="0"/>
              <a:t>Deve-se  analisar o </a:t>
            </a:r>
            <a:r>
              <a:rPr lang="pt-BR" dirty="0"/>
              <a:t>impacto </a:t>
            </a:r>
            <a:r>
              <a:rPr lang="pt-BR" dirty="0" smtClean="0"/>
              <a:t>de </a:t>
            </a:r>
            <a:r>
              <a:rPr lang="pt-BR" dirty="0"/>
              <a:t>mudança </a:t>
            </a:r>
            <a:r>
              <a:rPr lang="pt-BR" dirty="0" smtClean="0"/>
              <a:t>no </a:t>
            </a:r>
            <a:r>
              <a:rPr lang="pt-BR" dirty="0" smtClean="0"/>
              <a:t>sistema, </a:t>
            </a:r>
            <a:r>
              <a:rPr lang="pt-BR" dirty="0" smtClean="0"/>
              <a:t>e como </a:t>
            </a:r>
            <a:r>
              <a:rPr lang="pt-BR" dirty="0"/>
              <a:t>isso pode afetar outros sistemas operacionais do ambiente.</a:t>
            </a:r>
          </a:p>
        </p:txBody>
      </p:sp>
    </p:spTree>
    <p:extLst>
      <p:ext uri="{BB962C8B-B14F-4D97-AF65-F5344CB8AC3E}">
        <p14:creationId xmlns:p14="http://schemas.microsoft.com/office/powerpoint/2010/main" val="331869631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smtClean="0"/>
              <a:t>Capitulo 9 – Evolução do software</a:t>
            </a:r>
            <a:endParaRPr lang="pt-BR" dirty="0"/>
          </a:p>
        </p:txBody>
      </p:sp>
      <p:sp>
        <p:nvSpPr>
          <p:cNvPr id="3" name="Espaço Reservado para Conteúdo 2"/>
          <p:cNvSpPr>
            <a:spLocks noGrp="1"/>
          </p:cNvSpPr>
          <p:nvPr>
            <p:ph idx="1"/>
          </p:nvPr>
        </p:nvSpPr>
        <p:spPr>
          <a:xfrm>
            <a:off x="-1" y="1371600"/>
            <a:ext cx="12085609" cy="5149970"/>
          </a:xfrm>
        </p:spPr>
        <p:txBody>
          <a:bodyPr>
            <a:normAutofit fontScale="85000" lnSpcReduction="20000"/>
          </a:bodyPr>
          <a:lstStyle/>
          <a:p>
            <a:pPr marL="0" indent="0">
              <a:buNone/>
            </a:pPr>
            <a:r>
              <a:rPr lang="pt-BR" dirty="0"/>
              <a:t>Sistemas de software </a:t>
            </a:r>
            <a:r>
              <a:rPr lang="pt-BR" dirty="0" smtClean="0"/>
              <a:t>úteis: </a:t>
            </a:r>
            <a:r>
              <a:rPr lang="pt-BR" dirty="0"/>
              <a:t>vida útil muito longa. </a:t>
            </a:r>
            <a:endParaRPr lang="pt-BR" dirty="0" smtClean="0"/>
          </a:p>
          <a:p>
            <a:pPr marL="0" indent="0">
              <a:buNone/>
            </a:pPr>
            <a:r>
              <a:rPr lang="pt-BR" dirty="0" err="1" smtClean="0"/>
              <a:t>Ex</a:t>
            </a:r>
            <a:r>
              <a:rPr lang="pt-BR" dirty="0" smtClean="0"/>
              <a:t>: </a:t>
            </a:r>
            <a:r>
              <a:rPr lang="pt-BR" dirty="0"/>
              <a:t>sistemas militares ou de </a:t>
            </a:r>
            <a:r>
              <a:rPr lang="pt-BR" dirty="0" smtClean="0"/>
              <a:t>infraestrutura </a:t>
            </a:r>
            <a:r>
              <a:rPr lang="pt-BR" dirty="0"/>
              <a:t>de grande </a:t>
            </a:r>
            <a:r>
              <a:rPr lang="pt-BR" dirty="0" smtClean="0"/>
              <a:t>porte (controle </a:t>
            </a:r>
            <a:r>
              <a:rPr lang="pt-BR" dirty="0"/>
              <a:t>de tráfego </a:t>
            </a:r>
            <a:r>
              <a:rPr lang="pt-BR" dirty="0" smtClean="0"/>
              <a:t>aéreo), </a:t>
            </a:r>
            <a:r>
              <a:rPr lang="pt-BR" dirty="0"/>
              <a:t>podem ter uma vida de 30 anos ou mais. </a:t>
            </a:r>
            <a:endParaRPr lang="pt-BR" dirty="0" smtClean="0"/>
          </a:p>
          <a:p>
            <a:pPr marL="0" indent="0">
              <a:buNone/>
            </a:pPr>
            <a:r>
              <a:rPr lang="pt-BR" dirty="0" smtClean="0"/>
              <a:t>Sistemas </a:t>
            </a:r>
            <a:r>
              <a:rPr lang="pt-BR" dirty="0"/>
              <a:t>de </a:t>
            </a:r>
            <a:r>
              <a:rPr lang="pt-BR" dirty="0" smtClean="0"/>
              <a:t>negócios: </a:t>
            </a:r>
            <a:r>
              <a:rPr lang="pt-BR" dirty="0"/>
              <a:t>mais de dez </a:t>
            </a:r>
            <a:r>
              <a:rPr lang="pt-BR" dirty="0" smtClean="0"/>
              <a:t>anos. </a:t>
            </a:r>
            <a:endParaRPr lang="pt-BR" dirty="0" smtClean="0"/>
          </a:p>
          <a:p>
            <a:pPr marL="0" indent="0">
              <a:buNone/>
            </a:pPr>
            <a:r>
              <a:rPr lang="pt-BR" dirty="0"/>
              <a:t>S</a:t>
            </a:r>
            <a:r>
              <a:rPr lang="pt-BR" dirty="0" smtClean="0"/>
              <a:t>oftwares </a:t>
            </a:r>
            <a:r>
              <a:rPr lang="pt-BR" dirty="0"/>
              <a:t>custam muito </a:t>
            </a:r>
            <a:r>
              <a:rPr lang="pt-BR" dirty="0" smtClean="0"/>
              <a:t>dinheiro: </a:t>
            </a:r>
            <a:r>
              <a:rPr lang="pt-BR" dirty="0"/>
              <a:t>empresa pode usar um sistema por muitos anos para ter retorno de seu investimento. </a:t>
            </a:r>
            <a:endParaRPr lang="pt-BR" dirty="0" smtClean="0"/>
          </a:p>
          <a:p>
            <a:pPr marL="0" indent="0">
              <a:buNone/>
            </a:pPr>
            <a:r>
              <a:rPr lang="pt-BR" dirty="0"/>
              <a:t>R</a:t>
            </a:r>
            <a:r>
              <a:rPr lang="pt-BR" dirty="0" smtClean="0"/>
              <a:t>equisitos </a:t>
            </a:r>
            <a:r>
              <a:rPr lang="pt-BR" dirty="0"/>
              <a:t>dos sistemas instalados mudam de acordo com os negócios e </a:t>
            </a:r>
            <a:r>
              <a:rPr lang="pt-BR" dirty="0" smtClean="0"/>
              <a:t>o ambiente.</a:t>
            </a:r>
          </a:p>
          <a:p>
            <a:pPr marL="0" indent="0">
              <a:buNone/>
            </a:pPr>
            <a:r>
              <a:rPr lang="pt-BR" dirty="0" smtClean="0"/>
              <a:t>Novos </a:t>
            </a:r>
            <a:r>
              <a:rPr lang="pt-BR" dirty="0" smtClean="0"/>
              <a:t>releases </a:t>
            </a:r>
            <a:r>
              <a:rPr lang="pt-BR" dirty="0"/>
              <a:t>incorporam as alterações e </a:t>
            </a:r>
            <a:r>
              <a:rPr lang="pt-BR" dirty="0" smtClean="0"/>
              <a:t>atualizações: </a:t>
            </a:r>
            <a:r>
              <a:rPr lang="pt-BR" dirty="0"/>
              <a:t>criados em intervalos regulares. </a:t>
            </a:r>
            <a:endParaRPr lang="pt-BR" dirty="0" smtClean="0"/>
          </a:p>
          <a:p>
            <a:pPr marL="0" indent="0">
              <a:buNone/>
            </a:pPr>
            <a:r>
              <a:rPr lang="pt-BR" dirty="0"/>
              <a:t>E</a:t>
            </a:r>
            <a:r>
              <a:rPr lang="pt-BR" dirty="0" smtClean="0"/>
              <a:t>ngenharia </a:t>
            </a:r>
            <a:r>
              <a:rPr lang="pt-BR" dirty="0"/>
              <a:t>de </a:t>
            </a:r>
            <a:r>
              <a:rPr lang="pt-BR" dirty="0" smtClean="0"/>
              <a:t>software: processo </a:t>
            </a:r>
            <a:r>
              <a:rPr lang="pt-BR" dirty="0"/>
              <a:t>em espiral com requisitos, projeto, </a:t>
            </a:r>
            <a:r>
              <a:rPr lang="pt-BR" dirty="0" smtClean="0"/>
              <a:t>implementação </a:t>
            </a:r>
            <a:r>
              <a:rPr lang="pt-BR" dirty="0"/>
              <a:t>e testes que dura toda a vida útil do sistema (Figura 9.1). </a:t>
            </a:r>
            <a:endParaRPr lang="pt-BR" dirty="0" smtClean="0"/>
          </a:p>
          <a:p>
            <a:pPr marL="0" indent="0">
              <a:buNone/>
            </a:pPr>
            <a:r>
              <a:rPr lang="pt-BR" dirty="0" smtClean="0"/>
              <a:t>Cria-se </a:t>
            </a:r>
            <a:r>
              <a:rPr lang="pt-BR" dirty="0"/>
              <a:t>o release 1 do sistema. Uma vez entregue, alterações são propostas, e o desenvolvimento do release 2 começa imediatamente. </a:t>
            </a:r>
            <a:endParaRPr lang="pt-BR" dirty="0" smtClean="0"/>
          </a:p>
          <a:p>
            <a:pPr marL="0" indent="0">
              <a:buNone/>
            </a:pPr>
            <a:r>
              <a:rPr lang="pt-BR" dirty="0" smtClean="0"/>
              <a:t>A </a:t>
            </a:r>
            <a:r>
              <a:rPr lang="pt-BR" dirty="0"/>
              <a:t>necessidade de evolução pode se tornar óbvia mesmo antes de o sistema ser </a:t>
            </a:r>
            <a:r>
              <a:rPr lang="pt-BR" dirty="0" smtClean="0"/>
              <a:t>implantado</a:t>
            </a:r>
          </a:p>
          <a:p>
            <a:pPr marL="0" indent="0">
              <a:buNone/>
            </a:pPr>
            <a:r>
              <a:rPr lang="pt-BR" dirty="0" smtClean="0"/>
              <a:t>Releases </a:t>
            </a:r>
            <a:r>
              <a:rPr lang="pt-BR" dirty="0"/>
              <a:t>posteriores do software </a:t>
            </a:r>
            <a:r>
              <a:rPr lang="pt-BR" dirty="0" smtClean="0"/>
              <a:t>podem </a:t>
            </a:r>
            <a:r>
              <a:rPr lang="pt-BR" dirty="0"/>
              <a:t>ser desenvolvidos antes de </a:t>
            </a:r>
            <a:r>
              <a:rPr lang="pt-BR" dirty="0" smtClean="0"/>
              <a:t>lançar o </a:t>
            </a:r>
            <a:r>
              <a:rPr lang="pt-BR" dirty="0"/>
              <a:t>release atual </a:t>
            </a:r>
          </a:p>
        </p:txBody>
      </p:sp>
    </p:spTree>
    <p:extLst>
      <p:ext uri="{BB962C8B-B14F-4D97-AF65-F5344CB8AC3E}">
        <p14:creationId xmlns:p14="http://schemas.microsoft.com/office/powerpoint/2010/main" val="37373988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smtClean="0"/>
              <a:t>Capitulo 9 – Evolução do software</a:t>
            </a:r>
            <a:endParaRPr lang="pt-BR" dirty="0"/>
          </a:p>
        </p:txBody>
      </p:sp>
      <p:sp>
        <p:nvSpPr>
          <p:cNvPr id="3" name="Espaço Reservado para Conteúdo 2"/>
          <p:cNvSpPr>
            <a:spLocks noGrp="1"/>
          </p:cNvSpPr>
          <p:nvPr>
            <p:ph idx="1"/>
          </p:nvPr>
        </p:nvSpPr>
        <p:spPr>
          <a:xfrm>
            <a:off x="-1" y="1371600"/>
            <a:ext cx="12085609" cy="5149970"/>
          </a:xfrm>
        </p:spPr>
        <p:txBody>
          <a:bodyPr>
            <a:normAutofit fontScale="92500" lnSpcReduction="20000"/>
          </a:bodyPr>
          <a:lstStyle/>
          <a:p>
            <a:pPr marL="0" indent="0">
              <a:buNone/>
            </a:pPr>
            <a:r>
              <a:rPr lang="pt-BR" dirty="0"/>
              <a:t>M</a:t>
            </a:r>
            <a:r>
              <a:rPr lang="pt-BR" dirty="0" smtClean="0"/>
              <a:t>odelo </a:t>
            </a:r>
            <a:r>
              <a:rPr lang="pt-BR" dirty="0"/>
              <a:t>de evolução do </a:t>
            </a:r>
            <a:r>
              <a:rPr lang="pt-BR" dirty="0" smtClean="0"/>
              <a:t>software: única </a:t>
            </a:r>
            <a:r>
              <a:rPr lang="pt-BR" dirty="0"/>
              <a:t>organização é </a:t>
            </a:r>
            <a:r>
              <a:rPr lang="pt-BR" dirty="0" smtClean="0"/>
              <a:t>responsável </a:t>
            </a:r>
            <a:r>
              <a:rPr lang="pt-BR" dirty="0"/>
              <a:t>pelo desenvolvimento de software inicial </a:t>
            </a:r>
            <a:r>
              <a:rPr lang="pt-BR" dirty="0" smtClean="0"/>
              <a:t>e </a:t>
            </a:r>
            <a:r>
              <a:rPr lang="pt-BR" dirty="0"/>
              <a:t>por sua evolução. </a:t>
            </a:r>
            <a:endParaRPr lang="pt-BR" dirty="0" smtClean="0"/>
          </a:p>
          <a:p>
            <a:pPr marL="0" indent="0">
              <a:buNone/>
            </a:pPr>
            <a:r>
              <a:rPr lang="pt-BR" dirty="0"/>
              <a:t>P</a:t>
            </a:r>
            <a:r>
              <a:rPr lang="pt-BR" dirty="0" smtClean="0"/>
              <a:t>acotes </a:t>
            </a:r>
            <a:r>
              <a:rPr lang="pt-BR" dirty="0"/>
              <a:t>de </a:t>
            </a:r>
            <a:r>
              <a:rPr lang="pt-BR" dirty="0" smtClean="0"/>
              <a:t>software: desenvolvidos </a:t>
            </a:r>
            <a:r>
              <a:rPr lang="pt-BR" dirty="0"/>
              <a:t>com essa abordagem. </a:t>
            </a:r>
          </a:p>
          <a:p>
            <a:pPr marL="0" indent="0">
              <a:buNone/>
            </a:pPr>
            <a:r>
              <a:rPr lang="pt-BR" dirty="0" smtClean="0"/>
              <a:t>Softwares </a:t>
            </a:r>
            <a:r>
              <a:rPr lang="pt-BR" dirty="0" smtClean="0"/>
              <a:t>customizados: </a:t>
            </a:r>
            <a:r>
              <a:rPr lang="pt-BR" dirty="0" smtClean="0"/>
              <a:t>E</a:t>
            </a:r>
            <a:r>
              <a:rPr lang="pt-BR" dirty="0" smtClean="0"/>
              <a:t>mpresa </a:t>
            </a:r>
            <a:r>
              <a:rPr lang="pt-BR" dirty="0"/>
              <a:t>desenvolve softwares para um cliente, </a:t>
            </a:r>
            <a:r>
              <a:rPr lang="pt-BR" dirty="0" smtClean="0"/>
              <a:t>com </a:t>
            </a:r>
            <a:r>
              <a:rPr lang="pt-BR" b="1" dirty="0" smtClean="0"/>
              <a:t>equipe</a:t>
            </a:r>
            <a:r>
              <a:rPr lang="pt-BR" dirty="0" smtClean="0"/>
              <a:t> </a:t>
            </a:r>
            <a:r>
              <a:rPr lang="pt-BR" dirty="0" smtClean="0"/>
              <a:t>própria que </a:t>
            </a:r>
            <a:r>
              <a:rPr lang="pt-BR" dirty="0"/>
              <a:t>assume o sistema. Ela é responsável pela </a:t>
            </a:r>
            <a:r>
              <a:rPr lang="pt-BR" dirty="0" smtClean="0"/>
              <a:t>evolução </a:t>
            </a:r>
            <a:r>
              <a:rPr lang="pt-BR" dirty="0"/>
              <a:t>do software. </a:t>
            </a:r>
            <a:endParaRPr lang="pt-BR" dirty="0" smtClean="0"/>
          </a:p>
          <a:p>
            <a:pPr marL="0" indent="0">
              <a:buNone/>
            </a:pPr>
            <a:r>
              <a:rPr lang="pt-BR" dirty="0"/>
              <a:t>C</a:t>
            </a:r>
            <a:r>
              <a:rPr lang="pt-BR" dirty="0" smtClean="0"/>
              <a:t>liente contrata </a:t>
            </a:r>
            <a:r>
              <a:rPr lang="pt-BR" dirty="0"/>
              <a:t>outra empresa </a:t>
            </a:r>
            <a:r>
              <a:rPr lang="pt-BR" dirty="0" smtClean="0"/>
              <a:t>para cuidar </a:t>
            </a:r>
            <a:r>
              <a:rPr lang="pt-BR" dirty="0"/>
              <a:t>do suporte e da evolução do </a:t>
            </a:r>
            <a:r>
              <a:rPr lang="pt-BR" dirty="0" smtClean="0"/>
              <a:t>sistema: pode gerar </a:t>
            </a:r>
            <a:r>
              <a:rPr lang="pt-BR" dirty="0"/>
              <a:t>descontinuidades no processo em </a:t>
            </a:r>
            <a:r>
              <a:rPr lang="pt-BR" dirty="0" smtClean="0"/>
              <a:t>espiral. </a:t>
            </a:r>
          </a:p>
          <a:p>
            <a:pPr marL="0" indent="0">
              <a:buNone/>
            </a:pPr>
            <a:r>
              <a:rPr lang="pt-BR" dirty="0" smtClean="0"/>
              <a:t>Documentos </a:t>
            </a:r>
            <a:r>
              <a:rPr lang="pt-BR" dirty="0"/>
              <a:t>de requisitos e de projeto não podem ser passados de uma empresa para outra. Empresas podem fundir-se ou reorganizar-se e herdar software de outras </a:t>
            </a:r>
            <a:r>
              <a:rPr lang="pt-BR" dirty="0" smtClean="0"/>
              <a:t>empresas: percebem </a:t>
            </a:r>
            <a:r>
              <a:rPr lang="pt-BR" dirty="0"/>
              <a:t>que o software deve ser mudado. </a:t>
            </a:r>
            <a:endParaRPr lang="pt-BR" dirty="0" smtClean="0"/>
          </a:p>
          <a:p>
            <a:pPr marL="0" indent="0">
              <a:buNone/>
            </a:pPr>
            <a:r>
              <a:rPr lang="pt-BR" dirty="0" smtClean="0"/>
              <a:t>Quando </a:t>
            </a:r>
            <a:r>
              <a:rPr lang="pt-BR" dirty="0"/>
              <a:t>a transição do desenvolvimento para a evolução é imperceptível, o processo de mudança do </a:t>
            </a:r>
            <a:r>
              <a:rPr lang="pt-BR" dirty="0" smtClean="0"/>
              <a:t>software, </a:t>
            </a:r>
            <a:r>
              <a:rPr lang="pt-BR" dirty="0"/>
              <a:t>após a entrega é, muitas vezes, chamado ‘manutenção de </a:t>
            </a:r>
            <a:r>
              <a:rPr lang="pt-BR" dirty="0" smtClean="0"/>
              <a:t>software’ ( </a:t>
            </a:r>
            <a:r>
              <a:rPr lang="pt-BR" dirty="0"/>
              <a:t>envolve atividades adicionais de processo, como o entendimento </a:t>
            </a:r>
            <a:r>
              <a:rPr lang="pt-BR" dirty="0" smtClean="0"/>
              <a:t>e </a:t>
            </a:r>
            <a:r>
              <a:rPr lang="pt-BR" dirty="0"/>
              <a:t>atividades normais de desenvolvimento de </a:t>
            </a:r>
            <a:r>
              <a:rPr lang="pt-BR" dirty="0" smtClean="0"/>
              <a:t>software)</a:t>
            </a:r>
            <a:endParaRPr lang="pt-BR" dirty="0"/>
          </a:p>
        </p:txBody>
      </p:sp>
    </p:spTree>
    <p:extLst>
      <p:ext uri="{BB962C8B-B14F-4D97-AF65-F5344CB8AC3E}">
        <p14:creationId xmlns:p14="http://schemas.microsoft.com/office/powerpoint/2010/main" val="3356671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smtClean="0"/>
              <a:t>Capitulo 9 – Evolução do software</a:t>
            </a:r>
            <a:endParaRPr lang="pt-BR" dirty="0"/>
          </a:p>
        </p:txBody>
      </p:sp>
      <p:sp>
        <p:nvSpPr>
          <p:cNvPr id="3" name="Espaço Reservado para Conteúdo 2"/>
          <p:cNvSpPr>
            <a:spLocks noGrp="1"/>
          </p:cNvSpPr>
          <p:nvPr>
            <p:ph idx="1"/>
          </p:nvPr>
        </p:nvSpPr>
        <p:spPr>
          <a:xfrm>
            <a:off x="-1" y="1371600"/>
            <a:ext cx="12085609" cy="5149970"/>
          </a:xfrm>
        </p:spPr>
        <p:txBody>
          <a:bodyPr>
            <a:normAutofit/>
          </a:bodyPr>
          <a:lstStyle/>
          <a:p>
            <a:pPr marL="0" indent="0">
              <a:buNone/>
            </a:pPr>
            <a:r>
              <a:rPr lang="pt-BR" dirty="0" smtClean="0"/>
              <a:t>Figura 9.1 – </a:t>
            </a:r>
            <a:r>
              <a:rPr lang="pt-BR" dirty="0" err="1" smtClean="0"/>
              <a:t>pag</a:t>
            </a:r>
            <a:r>
              <a:rPr lang="pt-BR" dirty="0" smtClean="0"/>
              <a:t> 179  </a:t>
            </a:r>
            <a:endParaRPr lang="pt-BR" dirty="0"/>
          </a:p>
        </p:txBody>
      </p:sp>
    </p:spTree>
    <p:extLst>
      <p:ext uri="{BB962C8B-B14F-4D97-AF65-F5344CB8AC3E}">
        <p14:creationId xmlns:p14="http://schemas.microsoft.com/office/powerpoint/2010/main" val="142096821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smtClean="0"/>
              <a:t>Capitulo 9 – Evolução do software</a:t>
            </a:r>
            <a:endParaRPr lang="pt-BR" dirty="0"/>
          </a:p>
        </p:txBody>
      </p:sp>
      <p:sp>
        <p:nvSpPr>
          <p:cNvPr id="3" name="Espaço Reservado para Conteúdo 2"/>
          <p:cNvSpPr>
            <a:spLocks noGrp="1"/>
          </p:cNvSpPr>
          <p:nvPr>
            <p:ph idx="1"/>
          </p:nvPr>
        </p:nvSpPr>
        <p:spPr>
          <a:xfrm>
            <a:off x="-1" y="1371600"/>
            <a:ext cx="12085609" cy="5149970"/>
          </a:xfrm>
        </p:spPr>
        <p:txBody>
          <a:bodyPr>
            <a:normAutofit/>
          </a:bodyPr>
          <a:lstStyle/>
          <a:p>
            <a:pPr marL="0" indent="0">
              <a:buNone/>
            </a:pPr>
            <a:r>
              <a:rPr lang="pt-BR" dirty="0" smtClean="0"/>
              <a:t>Figura 9.2 </a:t>
            </a:r>
            <a:r>
              <a:rPr lang="pt-BR" dirty="0" err="1" smtClean="0"/>
              <a:t>Pag</a:t>
            </a:r>
            <a:r>
              <a:rPr lang="pt-BR" dirty="0" smtClean="0"/>
              <a:t>  180-  </a:t>
            </a:r>
            <a:endParaRPr lang="pt-BR" dirty="0" smtClean="0"/>
          </a:p>
          <a:p>
            <a:pPr marL="0" indent="0">
              <a:buNone/>
            </a:pPr>
            <a:r>
              <a:rPr lang="pt-BR" dirty="0" err="1" smtClean="0"/>
              <a:t>Rajlich</a:t>
            </a:r>
            <a:r>
              <a:rPr lang="pt-BR" dirty="0" smtClean="0"/>
              <a:t> </a:t>
            </a:r>
            <a:r>
              <a:rPr lang="pt-BR" dirty="0"/>
              <a:t>e Bennett (2000) propuseram uma visão alternativa do ciclo de vida de evolução do software. </a:t>
            </a:r>
            <a:endParaRPr lang="pt-BR" dirty="0" smtClean="0"/>
          </a:p>
          <a:p>
            <a:pPr marL="0" indent="0">
              <a:buNone/>
            </a:pPr>
            <a:r>
              <a:rPr lang="pt-BR" dirty="0"/>
              <a:t>D</a:t>
            </a:r>
            <a:r>
              <a:rPr lang="pt-BR" dirty="0" smtClean="0"/>
              <a:t>istinguem </a:t>
            </a:r>
            <a:r>
              <a:rPr lang="pt-BR" dirty="0"/>
              <a:t>‘evolução’ e ‘em serviço’. </a:t>
            </a:r>
            <a:endParaRPr lang="pt-BR" dirty="0" smtClean="0"/>
          </a:p>
          <a:p>
            <a:pPr marL="0" indent="0">
              <a:buNone/>
            </a:pPr>
            <a:r>
              <a:rPr lang="pt-BR" dirty="0" smtClean="0"/>
              <a:t>Evolução: mudanças </a:t>
            </a:r>
            <a:r>
              <a:rPr lang="pt-BR" dirty="0"/>
              <a:t>significativas na arquitetura e funcionalidade do software podem ser feitas. </a:t>
            </a:r>
            <a:endParaRPr lang="pt-BR" dirty="0" smtClean="0"/>
          </a:p>
          <a:p>
            <a:pPr marL="0" indent="0">
              <a:buNone/>
            </a:pPr>
            <a:r>
              <a:rPr lang="pt-BR" dirty="0" smtClean="0"/>
              <a:t>Serviço: as mudanças </a:t>
            </a:r>
            <a:r>
              <a:rPr lang="pt-BR" dirty="0"/>
              <a:t>feitas são </a:t>
            </a:r>
            <a:r>
              <a:rPr lang="pt-BR" dirty="0" smtClean="0"/>
              <a:t>relativamente </a:t>
            </a:r>
            <a:r>
              <a:rPr lang="pt-BR" dirty="0"/>
              <a:t>pequenas, essenciais.</a:t>
            </a:r>
          </a:p>
        </p:txBody>
      </p:sp>
    </p:spTree>
    <p:extLst>
      <p:ext uri="{BB962C8B-B14F-4D97-AF65-F5344CB8AC3E}">
        <p14:creationId xmlns:p14="http://schemas.microsoft.com/office/powerpoint/2010/main" val="17698747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smtClean="0"/>
              <a:t>Capitulo 9 – Evolução do software</a:t>
            </a:r>
            <a:endParaRPr lang="pt-BR" dirty="0"/>
          </a:p>
        </p:txBody>
      </p:sp>
      <p:sp>
        <p:nvSpPr>
          <p:cNvPr id="3" name="Espaço Reservado para Conteúdo 2"/>
          <p:cNvSpPr>
            <a:spLocks noGrp="1"/>
          </p:cNvSpPr>
          <p:nvPr>
            <p:ph idx="1"/>
          </p:nvPr>
        </p:nvSpPr>
        <p:spPr>
          <a:xfrm>
            <a:off x="-1" y="1371600"/>
            <a:ext cx="12085609" cy="5149970"/>
          </a:xfrm>
        </p:spPr>
        <p:txBody>
          <a:bodyPr>
            <a:normAutofit fontScale="92500" lnSpcReduction="20000"/>
          </a:bodyPr>
          <a:lstStyle/>
          <a:p>
            <a:pPr marL="0" indent="0">
              <a:buNone/>
            </a:pPr>
            <a:r>
              <a:rPr lang="pt-BR" dirty="0" smtClean="0"/>
              <a:t>Evolução: </a:t>
            </a:r>
          </a:p>
          <a:p>
            <a:pPr marL="0" indent="0">
              <a:buNone/>
            </a:pPr>
            <a:r>
              <a:rPr lang="pt-BR" dirty="0" smtClean="0"/>
              <a:t>o </a:t>
            </a:r>
            <a:r>
              <a:rPr lang="pt-BR" dirty="0"/>
              <a:t>software é usado com sucesso, e existe um fluxo constante de propostas de alterações de </a:t>
            </a:r>
            <a:r>
              <a:rPr lang="pt-BR" dirty="0" smtClean="0"/>
              <a:t>requisitos</a:t>
            </a:r>
            <a:r>
              <a:rPr lang="pt-BR" dirty="0"/>
              <a:t>. </a:t>
            </a:r>
            <a:endParaRPr lang="pt-BR" dirty="0" smtClean="0"/>
          </a:p>
          <a:p>
            <a:pPr marL="0" indent="0">
              <a:buNone/>
            </a:pPr>
            <a:r>
              <a:rPr lang="pt-BR" dirty="0"/>
              <a:t>S</a:t>
            </a:r>
            <a:r>
              <a:rPr lang="pt-BR" dirty="0" smtClean="0"/>
              <a:t>oftware </a:t>
            </a:r>
            <a:r>
              <a:rPr lang="pt-BR" dirty="0"/>
              <a:t>é </a:t>
            </a:r>
            <a:r>
              <a:rPr lang="pt-BR" dirty="0" smtClean="0"/>
              <a:t>modificado: </a:t>
            </a:r>
            <a:r>
              <a:rPr lang="pt-BR" dirty="0"/>
              <a:t>estrutura tende a degradar e as mudanças ficam </a:t>
            </a:r>
            <a:r>
              <a:rPr lang="pt-BR" dirty="0" smtClean="0"/>
              <a:t>mais caras. (Isso </a:t>
            </a:r>
            <a:r>
              <a:rPr lang="pt-BR" dirty="0"/>
              <a:t>ocorre </a:t>
            </a:r>
            <a:r>
              <a:rPr lang="pt-BR" dirty="0" smtClean="0"/>
              <a:t> </a:t>
            </a:r>
            <a:r>
              <a:rPr lang="pt-BR" dirty="0"/>
              <a:t>depois de alguns anos de uso, quando outras mudanças ambientais, como o hardware e </a:t>
            </a:r>
            <a:r>
              <a:rPr lang="pt-BR" dirty="0" smtClean="0"/>
              <a:t>sistemas </a:t>
            </a:r>
            <a:r>
              <a:rPr lang="pt-BR" dirty="0"/>
              <a:t>operacionais, também são necessárias. </a:t>
            </a:r>
            <a:endParaRPr lang="pt-BR" dirty="0" smtClean="0"/>
          </a:p>
          <a:p>
            <a:pPr marL="0" indent="0">
              <a:buNone/>
            </a:pPr>
            <a:r>
              <a:rPr lang="pt-BR" dirty="0"/>
              <a:t>E</a:t>
            </a:r>
            <a:r>
              <a:rPr lang="pt-BR" dirty="0" smtClean="0"/>
              <a:t>stágio </a:t>
            </a:r>
            <a:r>
              <a:rPr lang="pt-BR" dirty="0"/>
              <a:t>do ciclo de </a:t>
            </a:r>
            <a:r>
              <a:rPr lang="pt-BR" dirty="0" smtClean="0"/>
              <a:t>vida em que </a:t>
            </a:r>
            <a:r>
              <a:rPr lang="pt-BR" dirty="0"/>
              <a:t>o software chega a um ponto de transição em que mudanças significativas e implementação de novos requisitos se tornam menos </a:t>
            </a:r>
            <a:r>
              <a:rPr lang="pt-BR" dirty="0" smtClean="0"/>
              <a:t>rentáveis: </a:t>
            </a:r>
            <a:r>
              <a:rPr lang="pt-BR" dirty="0"/>
              <a:t>o software passa da evolução para o serviço. </a:t>
            </a:r>
            <a:endParaRPr lang="pt-BR" dirty="0" smtClean="0"/>
          </a:p>
          <a:p>
            <a:pPr marL="0" indent="0">
              <a:buNone/>
            </a:pPr>
            <a:r>
              <a:rPr lang="pt-BR" dirty="0" smtClean="0"/>
              <a:t>Durante </a:t>
            </a:r>
            <a:r>
              <a:rPr lang="pt-BR" dirty="0"/>
              <a:t>o </a:t>
            </a:r>
            <a:r>
              <a:rPr lang="pt-BR" dirty="0" smtClean="0"/>
              <a:t>serviço: </a:t>
            </a:r>
            <a:r>
              <a:rPr lang="pt-BR" dirty="0"/>
              <a:t>software ainda é útil e usado, mas apenas pequenas mudanças táticas são feitas. </a:t>
            </a:r>
            <a:r>
              <a:rPr lang="pt-BR" dirty="0" smtClean="0"/>
              <a:t>A  </a:t>
            </a:r>
            <a:r>
              <a:rPr lang="pt-BR" dirty="0" smtClean="0"/>
              <a:t>empresa considera como </a:t>
            </a:r>
            <a:r>
              <a:rPr lang="pt-BR" dirty="0"/>
              <a:t>o software pode ser substituído. </a:t>
            </a:r>
            <a:endParaRPr lang="pt-BR" dirty="0" smtClean="0"/>
          </a:p>
          <a:p>
            <a:pPr marL="0" indent="0">
              <a:buNone/>
            </a:pPr>
            <a:r>
              <a:rPr lang="pt-BR" dirty="0"/>
              <a:t>F</a:t>
            </a:r>
            <a:r>
              <a:rPr lang="pt-BR" dirty="0" smtClean="0"/>
              <a:t>ase </a:t>
            </a:r>
            <a:r>
              <a:rPr lang="pt-BR" dirty="0"/>
              <a:t>final, na interrupção </a:t>
            </a:r>
            <a:r>
              <a:rPr lang="pt-BR" dirty="0" smtClean="0"/>
              <a:t>gradual: </a:t>
            </a:r>
            <a:r>
              <a:rPr lang="pt-BR" dirty="0"/>
              <a:t>o software ainda pode ser usado, mas não são implementadas novas mudanças. Os usuários precisam contornar qualquer problema que descubram.</a:t>
            </a:r>
          </a:p>
        </p:txBody>
      </p:sp>
    </p:spTree>
    <p:extLst>
      <p:ext uri="{BB962C8B-B14F-4D97-AF65-F5344CB8AC3E}">
        <p14:creationId xmlns:p14="http://schemas.microsoft.com/office/powerpoint/2010/main" val="201936559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881332" y="0"/>
            <a:ext cx="10515600" cy="1325563"/>
          </a:xfrm>
        </p:spPr>
        <p:txBody>
          <a:bodyPr/>
          <a:lstStyle/>
          <a:p>
            <a:r>
              <a:rPr lang="pt-BR" dirty="0" smtClean="0"/>
              <a:t>Capitulo 9 – Evolução do software – 9.1 PROCESSO DE EVOLUÇÃO</a:t>
            </a:r>
            <a:endParaRPr lang="pt-BR" dirty="0"/>
          </a:p>
        </p:txBody>
      </p:sp>
      <p:sp>
        <p:nvSpPr>
          <p:cNvPr id="3" name="Espaço Reservado para Conteúdo 2"/>
          <p:cNvSpPr>
            <a:spLocks noGrp="1"/>
          </p:cNvSpPr>
          <p:nvPr>
            <p:ph idx="1"/>
          </p:nvPr>
        </p:nvSpPr>
        <p:spPr>
          <a:xfrm>
            <a:off x="-1" y="1371600"/>
            <a:ext cx="12085609" cy="5149970"/>
          </a:xfrm>
        </p:spPr>
        <p:txBody>
          <a:bodyPr>
            <a:normAutofit fontScale="92500"/>
          </a:bodyPr>
          <a:lstStyle/>
          <a:p>
            <a:pPr marL="0" indent="0">
              <a:buNone/>
            </a:pPr>
            <a:r>
              <a:rPr lang="pt-BR" dirty="0"/>
              <a:t>E</a:t>
            </a:r>
            <a:r>
              <a:rPr lang="pt-BR" dirty="0" smtClean="0"/>
              <a:t>volução </a:t>
            </a:r>
            <a:r>
              <a:rPr lang="pt-BR" dirty="0"/>
              <a:t>dos processos de </a:t>
            </a:r>
            <a:r>
              <a:rPr lang="pt-BR" dirty="0" smtClean="0"/>
              <a:t>software: depende </a:t>
            </a:r>
            <a:r>
              <a:rPr lang="pt-BR" dirty="0"/>
              <a:t>do tipo de software </a:t>
            </a:r>
            <a:r>
              <a:rPr lang="pt-BR" dirty="0" smtClean="0"/>
              <a:t>mantido</a:t>
            </a:r>
            <a:r>
              <a:rPr lang="pt-BR" dirty="0"/>
              <a:t>, dos processos de desenvolvimento </a:t>
            </a:r>
            <a:r>
              <a:rPr lang="pt-BR" dirty="0" smtClean="0"/>
              <a:t>usados </a:t>
            </a:r>
            <a:r>
              <a:rPr lang="pt-BR" dirty="0"/>
              <a:t>e das habilidades das pessoas envolvidas. </a:t>
            </a:r>
            <a:endParaRPr lang="pt-BR" dirty="0" smtClean="0"/>
          </a:p>
          <a:p>
            <a:pPr marL="0" indent="0">
              <a:buNone/>
            </a:pPr>
            <a:r>
              <a:rPr lang="pt-BR" dirty="0"/>
              <a:t>P</a:t>
            </a:r>
            <a:r>
              <a:rPr lang="pt-BR" dirty="0" smtClean="0"/>
              <a:t>rocesso informal: </a:t>
            </a:r>
            <a:r>
              <a:rPr lang="pt-BR" dirty="0"/>
              <a:t>solicitações de mudança </a:t>
            </a:r>
            <a:r>
              <a:rPr lang="pt-BR" dirty="0" smtClean="0"/>
              <a:t>resultam </a:t>
            </a:r>
            <a:r>
              <a:rPr lang="pt-BR" dirty="0"/>
              <a:t>das conversas entre os usuários do sistema e desenvolvedores. </a:t>
            </a:r>
            <a:endParaRPr lang="pt-BR" dirty="0" smtClean="0"/>
          </a:p>
          <a:p>
            <a:pPr marL="0" indent="0">
              <a:buNone/>
            </a:pPr>
            <a:r>
              <a:rPr lang="pt-BR" dirty="0" smtClean="0"/>
              <a:t>Processo formal: documentação </a:t>
            </a:r>
            <a:r>
              <a:rPr lang="pt-BR" dirty="0"/>
              <a:t>estruturada produzida em cada estágio do processo. </a:t>
            </a:r>
            <a:endParaRPr lang="pt-BR" dirty="0" smtClean="0"/>
          </a:p>
          <a:p>
            <a:pPr marL="0" indent="0">
              <a:buNone/>
            </a:pPr>
            <a:r>
              <a:rPr lang="pt-BR" dirty="0"/>
              <a:t>P</a:t>
            </a:r>
            <a:r>
              <a:rPr lang="pt-BR" dirty="0" smtClean="0"/>
              <a:t>ropostas </a:t>
            </a:r>
            <a:r>
              <a:rPr lang="pt-BR" dirty="0"/>
              <a:t>de mudança no sistema são os acionadores para a evolução. </a:t>
            </a:r>
            <a:endParaRPr lang="pt-BR" dirty="0" smtClean="0"/>
          </a:p>
          <a:p>
            <a:pPr marL="0" indent="0">
              <a:buNone/>
            </a:pPr>
            <a:r>
              <a:rPr lang="pt-BR" dirty="0" smtClean="0"/>
              <a:t>Podem</a:t>
            </a:r>
            <a:r>
              <a:rPr lang="pt-BR" dirty="0" smtClean="0"/>
              <a:t> </a:t>
            </a:r>
            <a:r>
              <a:rPr lang="pt-BR" dirty="0"/>
              <a:t>vir de requisitos já existentes que não tenham sido implementados no release de sistema, solicitações de novos requisitos, relatórios de bugs do sistema apontados pelos </a:t>
            </a:r>
            <a:r>
              <a:rPr lang="pt-BR" dirty="0" err="1"/>
              <a:t>stakeholders</a:t>
            </a:r>
            <a:r>
              <a:rPr lang="pt-BR" dirty="0"/>
              <a:t> e novas ideias para melhoria do software vindas da equipe de desenvolvimento. </a:t>
            </a:r>
            <a:endParaRPr lang="pt-BR" dirty="0" smtClean="0"/>
          </a:p>
          <a:p>
            <a:pPr marL="0" indent="0">
              <a:buNone/>
            </a:pPr>
            <a:r>
              <a:rPr lang="pt-BR" dirty="0" smtClean="0"/>
              <a:t>Os </a:t>
            </a:r>
            <a:r>
              <a:rPr lang="pt-BR" dirty="0"/>
              <a:t>processos de identificação de mudanças e de evolução de sistema são cíclicos e continuam durante toda a vida de um sistema (Figura 9.3</a:t>
            </a:r>
            <a:r>
              <a:rPr lang="pt-BR" dirty="0" smtClean="0"/>
              <a:t>). – </a:t>
            </a:r>
            <a:r>
              <a:rPr lang="pt-BR" dirty="0" err="1" smtClean="0"/>
              <a:t>pag</a:t>
            </a:r>
            <a:r>
              <a:rPr lang="pt-BR" dirty="0" smtClean="0"/>
              <a:t> 180</a:t>
            </a:r>
            <a:endParaRPr lang="pt-BR" dirty="0"/>
          </a:p>
        </p:txBody>
      </p:sp>
    </p:spTree>
    <p:extLst>
      <p:ext uri="{BB962C8B-B14F-4D97-AF65-F5344CB8AC3E}">
        <p14:creationId xmlns:p14="http://schemas.microsoft.com/office/powerpoint/2010/main" val="32755548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881332" y="0"/>
            <a:ext cx="10515600" cy="1325563"/>
          </a:xfrm>
        </p:spPr>
        <p:txBody>
          <a:bodyPr/>
          <a:lstStyle/>
          <a:p>
            <a:r>
              <a:rPr lang="pt-BR" dirty="0" smtClean="0"/>
              <a:t>Capitulo 9 – Evolução do software – 9.1 PROCESSO DE EVOLUÇÃO</a:t>
            </a:r>
            <a:endParaRPr lang="pt-BR" dirty="0"/>
          </a:p>
        </p:txBody>
      </p:sp>
      <p:sp>
        <p:nvSpPr>
          <p:cNvPr id="3" name="Espaço Reservado para Conteúdo 2"/>
          <p:cNvSpPr>
            <a:spLocks noGrp="1"/>
          </p:cNvSpPr>
          <p:nvPr>
            <p:ph idx="1"/>
          </p:nvPr>
        </p:nvSpPr>
        <p:spPr>
          <a:xfrm>
            <a:off x="-1" y="1371600"/>
            <a:ext cx="12085609" cy="5149970"/>
          </a:xfrm>
        </p:spPr>
        <p:txBody>
          <a:bodyPr>
            <a:normAutofit/>
          </a:bodyPr>
          <a:lstStyle/>
          <a:p>
            <a:pPr marL="0" indent="0">
              <a:buNone/>
            </a:pPr>
            <a:r>
              <a:rPr lang="pt-BR" dirty="0"/>
              <a:t>P</a:t>
            </a:r>
            <a:r>
              <a:rPr lang="pt-BR" dirty="0" smtClean="0"/>
              <a:t>ropostas </a:t>
            </a:r>
            <a:r>
              <a:rPr lang="pt-BR" dirty="0"/>
              <a:t>de mudança </a:t>
            </a:r>
            <a:r>
              <a:rPr lang="pt-BR" dirty="0" smtClean="0"/>
              <a:t>relacionam-se </a:t>
            </a:r>
            <a:r>
              <a:rPr lang="pt-BR" dirty="0"/>
              <a:t>aos componentes do sistema que necessitam ser </a:t>
            </a:r>
            <a:r>
              <a:rPr lang="pt-BR" dirty="0" smtClean="0"/>
              <a:t>modificados, </a:t>
            </a:r>
            <a:r>
              <a:rPr lang="pt-BR" dirty="0"/>
              <a:t>o que permite que o custo e o impacto da alteração sejam avaliados. </a:t>
            </a:r>
            <a:endParaRPr lang="pt-BR" dirty="0" smtClean="0"/>
          </a:p>
          <a:p>
            <a:pPr marL="0" indent="0">
              <a:buNone/>
            </a:pPr>
            <a:r>
              <a:rPr lang="pt-BR" dirty="0" smtClean="0"/>
              <a:t>Isso </a:t>
            </a:r>
            <a:r>
              <a:rPr lang="pt-BR" dirty="0"/>
              <a:t>faz parte do processo geral de gerenciamento de mudanças, que também deve assegurar que as versões corretas dos componentes estejam incluídas em cada release do sistema</a:t>
            </a:r>
            <a:r>
              <a:rPr lang="pt-BR" dirty="0" smtClean="0"/>
              <a:t>.</a:t>
            </a:r>
            <a:endParaRPr lang="pt-BR" dirty="0"/>
          </a:p>
        </p:txBody>
      </p:sp>
    </p:spTree>
    <p:extLst>
      <p:ext uri="{BB962C8B-B14F-4D97-AF65-F5344CB8AC3E}">
        <p14:creationId xmlns:p14="http://schemas.microsoft.com/office/powerpoint/2010/main" val="117394602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881332" y="0"/>
            <a:ext cx="10515600" cy="1325563"/>
          </a:xfrm>
        </p:spPr>
        <p:txBody>
          <a:bodyPr/>
          <a:lstStyle/>
          <a:p>
            <a:r>
              <a:rPr lang="pt-BR" dirty="0" smtClean="0"/>
              <a:t>Capitulo 9 – Evolução do software – 9.1 PROCESSO DE EVOLUÇÃO </a:t>
            </a:r>
            <a:r>
              <a:rPr lang="pt-BR" dirty="0" err="1" smtClean="0"/>
              <a:t>Fig</a:t>
            </a:r>
            <a:r>
              <a:rPr lang="pt-BR" dirty="0" smtClean="0"/>
              <a:t> 9.3</a:t>
            </a:r>
            <a:endParaRPr lang="pt-BR" dirty="0"/>
          </a:p>
        </p:txBody>
      </p:sp>
      <p:sp>
        <p:nvSpPr>
          <p:cNvPr id="3" name="Espaço Reservado para Conteúdo 2"/>
          <p:cNvSpPr>
            <a:spLocks noGrp="1"/>
          </p:cNvSpPr>
          <p:nvPr>
            <p:ph idx="1"/>
          </p:nvPr>
        </p:nvSpPr>
        <p:spPr>
          <a:xfrm>
            <a:off x="-1" y="1371600"/>
            <a:ext cx="12085609" cy="5149970"/>
          </a:xfrm>
        </p:spPr>
        <p:txBody>
          <a:bodyPr>
            <a:normAutofit/>
          </a:bodyPr>
          <a:lstStyle/>
          <a:p>
            <a:pPr marL="0" indent="0">
              <a:buNone/>
            </a:pPr>
            <a:r>
              <a:rPr lang="pt-BR" dirty="0" smtClean="0"/>
              <a:t>.</a:t>
            </a:r>
            <a:endParaRPr lang="pt-BR" dirty="0"/>
          </a:p>
        </p:txBody>
      </p:sp>
      <p:pic>
        <p:nvPicPr>
          <p:cNvPr id="4" name="Imagem 3"/>
          <p:cNvPicPr>
            <a:picLocks noChangeAspect="1"/>
          </p:cNvPicPr>
          <p:nvPr/>
        </p:nvPicPr>
        <p:blipFill>
          <a:blip r:embed="rId2"/>
          <a:stretch>
            <a:fillRect/>
          </a:stretch>
        </p:blipFill>
        <p:spPr>
          <a:xfrm>
            <a:off x="1929541" y="1802921"/>
            <a:ext cx="7902872" cy="4655116"/>
          </a:xfrm>
          <a:prstGeom prst="rect">
            <a:avLst/>
          </a:prstGeom>
        </p:spPr>
      </p:pic>
    </p:spTree>
    <p:extLst>
      <p:ext uri="{BB962C8B-B14F-4D97-AF65-F5344CB8AC3E}">
        <p14:creationId xmlns:p14="http://schemas.microsoft.com/office/powerpoint/2010/main" val="72368225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881332" y="0"/>
            <a:ext cx="10515600" cy="1325563"/>
          </a:xfrm>
        </p:spPr>
        <p:txBody>
          <a:bodyPr/>
          <a:lstStyle/>
          <a:p>
            <a:r>
              <a:rPr lang="pt-BR" dirty="0" smtClean="0"/>
              <a:t>Capitulo 9 – Evolução do software – 9.1 PROCESSO DE EVOLUÇÃO </a:t>
            </a:r>
            <a:r>
              <a:rPr lang="pt-BR" dirty="0" err="1" smtClean="0"/>
              <a:t>Fig</a:t>
            </a:r>
            <a:r>
              <a:rPr lang="pt-BR" dirty="0" smtClean="0"/>
              <a:t> 9.3</a:t>
            </a:r>
            <a:endParaRPr lang="pt-BR" dirty="0"/>
          </a:p>
        </p:txBody>
      </p:sp>
      <p:sp>
        <p:nvSpPr>
          <p:cNvPr id="3" name="Espaço Reservado para Conteúdo 2"/>
          <p:cNvSpPr>
            <a:spLocks noGrp="1"/>
          </p:cNvSpPr>
          <p:nvPr>
            <p:ph idx="1"/>
          </p:nvPr>
        </p:nvSpPr>
        <p:spPr>
          <a:xfrm>
            <a:off x="-1" y="1371600"/>
            <a:ext cx="12085609" cy="5149970"/>
          </a:xfrm>
        </p:spPr>
        <p:txBody>
          <a:bodyPr>
            <a:normAutofit/>
          </a:bodyPr>
          <a:lstStyle/>
          <a:p>
            <a:pPr marL="0" indent="0">
              <a:buNone/>
            </a:pPr>
            <a:r>
              <a:rPr lang="pt-BR" dirty="0" smtClean="0"/>
              <a:t>.</a:t>
            </a:r>
            <a:endParaRPr lang="pt-BR" dirty="0"/>
          </a:p>
        </p:txBody>
      </p:sp>
      <p:sp>
        <p:nvSpPr>
          <p:cNvPr id="5" name="Retângulo 4"/>
          <p:cNvSpPr/>
          <p:nvPr/>
        </p:nvSpPr>
        <p:spPr>
          <a:xfrm>
            <a:off x="77638" y="1259457"/>
            <a:ext cx="12114362" cy="4893647"/>
          </a:xfrm>
          <a:prstGeom prst="rect">
            <a:avLst/>
          </a:prstGeom>
        </p:spPr>
        <p:txBody>
          <a:bodyPr wrap="square">
            <a:spAutoFit/>
          </a:bodyPr>
          <a:lstStyle/>
          <a:p>
            <a:r>
              <a:rPr lang="pt-BR" sz="2400" dirty="0" smtClean="0"/>
              <a:t>Figura 9.4: adaptada </a:t>
            </a:r>
            <a:r>
              <a:rPr lang="pt-BR" sz="2400" dirty="0"/>
              <a:t>de Arthur (1988</a:t>
            </a:r>
            <a:r>
              <a:rPr lang="pt-BR" sz="2400" dirty="0" smtClean="0"/>
              <a:t>):  </a:t>
            </a:r>
            <a:r>
              <a:rPr lang="pt-BR" sz="2400" dirty="0"/>
              <a:t>visão geral do processo de evolução. </a:t>
            </a:r>
            <a:endParaRPr lang="pt-BR" sz="2400" dirty="0" smtClean="0"/>
          </a:p>
          <a:p>
            <a:r>
              <a:rPr lang="pt-BR" sz="2400" dirty="0" smtClean="0"/>
              <a:t>O </a:t>
            </a:r>
            <a:r>
              <a:rPr lang="pt-BR" sz="2400" dirty="0"/>
              <a:t>processo </a:t>
            </a:r>
            <a:r>
              <a:rPr lang="pt-BR" sz="2400" dirty="0" smtClean="0"/>
              <a:t>inclui:</a:t>
            </a:r>
          </a:p>
          <a:p>
            <a:pPr marL="342900" indent="-342900">
              <a:buAutoNum type="arabicParenR"/>
            </a:pPr>
            <a:r>
              <a:rPr lang="pt-BR" sz="2400" dirty="0" smtClean="0"/>
              <a:t>atividades </a:t>
            </a:r>
            <a:r>
              <a:rPr lang="pt-BR" sz="2400" dirty="0"/>
              <a:t>fundamentais de análise de </a:t>
            </a:r>
            <a:r>
              <a:rPr lang="pt-BR" sz="2400" dirty="0" smtClean="0"/>
              <a:t>impacto</a:t>
            </a:r>
          </a:p>
          <a:p>
            <a:pPr marL="342900" indent="-342900">
              <a:buAutoNum type="arabicParenR"/>
            </a:pPr>
            <a:r>
              <a:rPr lang="pt-BR" sz="2400" dirty="0" smtClean="0"/>
              <a:t>Planejamento </a:t>
            </a:r>
            <a:r>
              <a:rPr lang="pt-BR" sz="2400" dirty="0"/>
              <a:t>de </a:t>
            </a:r>
            <a:r>
              <a:rPr lang="pt-BR" sz="2400" dirty="0" smtClean="0"/>
              <a:t>release</a:t>
            </a:r>
          </a:p>
          <a:p>
            <a:pPr marL="342900" indent="-342900">
              <a:buAutoNum type="arabicParenR"/>
            </a:pPr>
            <a:r>
              <a:rPr lang="pt-BR" sz="2400" dirty="0" smtClean="0"/>
              <a:t>Implementação </a:t>
            </a:r>
            <a:r>
              <a:rPr lang="pt-BR" sz="2400" dirty="0"/>
              <a:t>de sistema e liberação de um sistema para os clientes. </a:t>
            </a:r>
            <a:endParaRPr lang="pt-BR" sz="2400" dirty="0" smtClean="0"/>
          </a:p>
          <a:p>
            <a:endParaRPr lang="pt-BR" sz="2400" dirty="0"/>
          </a:p>
          <a:p>
            <a:r>
              <a:rPr lang="pt-BR" sz="2400" dirty="0"/>
              <a:t>C</a:t>
            </a:r>
            <a:r>
              <a:rPr lang="pt-BR" sz="2400" dirty="0" smtClean="0"/>
              <a:t>usto e </a:t>
            </a:r>
            <a:r>
              <a:rPr lang="pt-BR" sz="2400" dirty="0"/>
              <a:t>impacto </a:t>
            </a:r>
            <a:r>
              <a:rPr lang="pt-BR" sz="2400" dirty="0" smtClean="0"/>
              <a:t>das mudanças: quanto o </a:t>
            </a:r>
            <a:r>
              <a:rPr lang="pt-BR" sz="2400" dirty="0"/>
              <a:t>sistema é </a:t>
            </a:r>
            <a:r>
              <a:rPr lang="pt-BR" sz="2400" dirty="0" smtClean="0"/>
              <a:t>afetado </a:t>
            </a:r>
            <a:r>
              <a:rPr lang="pt-BR" sz="2400" dirty="0"/>
              <a:t>e </a:t>
            </a:r>
            <a:r>
              <a:rPr lang="pt-BR" sz="2400" dirty="0" smtClean="0"/>
              <a:t>quanto custa </a:t>
            </a:r>
            <a:r>
              <a:rPr lang="pt-BR" sz="2400" dirty="0"/>
              <a:t>para implementá-las. </a:t>
            </a:r>
            <a:endParaRPr lang="pt-BR" sz="2400" dirty="0" smtClean="0"/>
          </a:p>
          <a:p>
            <a:r>
              <a:rPr lang="pt-BR" sz="2400" dirty="0" smtClean="0"/>
              <a:t>Mudanças aceitas: novo </a:t>
            </a:r>
            <a:r>
              <a:rPr lang="pt-BR" sz="2400" dirty="0"/>
              <a:t>release do sistema é </a:t>
            </a:r>
            <a:r>
              <a:rPr lang="pt-BR" sz="2400" dirty="0" smtClean="0"/>
              <a:t>planejado. </a:t>
            </a:r>
            <a:endParaRPr lang="pt-BR" sz="2400" dirty="0"/>
          </a:p>
          <a:p>
            <a:r>
              <a:rPr lang="pt-BR" sz="2400" dirty="0" smtClean="0"/>
              <a:t>Planejamento </a:t>
            </a:r>
            <a:r>
              <a:rPr lang="pt-BR" sz="2400" dirty="0"/>
              <a:t>de </a:t>
            </a:r>
            <a:r>
              <a:rPr lang="pt-BR" sz="2400" dirty="0" smtClean="0"/>
              <a:t>release: todas </a:t>
            </a:r>
            <a:r>
              <a:rPr lang="pt-BR" sz="2400" dirty="0"/>
              <a:t>as mudanças propostas (</a:t>
            </a:r>
            <a:r>
              <a:rPr lang="pt-BR" sz="2400" dirty="0" smtClean="0"/>
              <a:t>correção </a:t>
            </a:r>
            <a:r>
              <a:rPr lang="pt-BR" sz="2400" dirty="0"/>
              <a:t>de defeitos, adaptação e nova funcionalidade) são consideradas. </a:t>
            </a:r>
            <a:endParaRPr lang="pt-BR" sz="2400" dirty="0" smtClean="0"/>
          </a:p>
          <a:p>
            <a:r>
              <a:rPr lang="pt-BR" sz="2400" dirty="0" smtClean="0"/>
              <a:t>Decisão </a:t>
            </a:r>
            <a:r>
              <a:rPr lang="pt-BR" sz="2400" dirty="0"/>
              <a:t>é tomada de acordo com as mudanças a serem implementadas na próxima </a:t>
            </a:r>
            <a:r>
              <a:rPr lang="pt-BR" sz="2400" dirty="0" smtClean="0"/>
              <a:t>verso. </a:t>
            </a:r>
          </a:p>
          <a:p>
            <a:r>
              <a:rPr lang="pt-BR" sz="2400" dirty="0" smtClean="0"/>
              <a:t>As </a:t>
            </a:r>
            <a:r>
              <a:rPr lang="pt-BR" sz="2400" dirty="0"/>
              <a:t>mudanças são implementadas e validadas, e uma nova versão do sistema é liberada. </a:t>
            </a:r>
            <a:endParaRPr lang="pt-BR" sz="2400" dirty="0" smtClean="0"/>
          </a:p>
          <a:p>
            <a:r>
              <a:rPr lang="pt-BR" sz="2400" dirty="0" smtClean="0"/>
              <a:t>O </a:t>
            </a:r>
            <a:r>
              <a:rPr lang="pt-BR" sz="2400" dirty="0"/>
              <a:t>processo itera com um novo conjunto de mudanças propostas para o próximo release. </a:t>
            </a:r>
          </a:p>
        </p:txBody>
      </p:sp>
    </p:spTree>
    <p:extLst>
      <p:ext uri="{BB962C8B-B14F-4D97-AF65-F5344CB8AC3E}">
        <p14:creationId xmlns:p14="http://schemas.microsoft.com/office/powerpoint/2010/main" val="327104216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881332" y="0"/>
            <a:ext cx="10515600" cy="1325563"/>
          </a:xfrm>
        </p:spPr>
        <p:txBody>
          <a:bodyPr/>
          <a:lstStyle/>
          <a:p>
            <a:r>
              <a:rPr lang="pt-BR" dirty="0" smtClean="0"/>
              <a:t>Capitulo 9 – Evolução do software – 9.1 PROCESSO DE EVOLUÇÃO </a:t>
            </a:r>
            <a:r>
              <a:rPr lang="pt-BR" dirty="0" err="1" smtClean="0"/>
              <a:t>Fig</a:t>
            </a:r>
            <a:r>
              <a:rPr lang="pt-BR" dirty="0" smtClean="0"/>
              <a:t> 9.3</a:t>
            </a:r>
            <a:endParaRPr lang="pt-BR" dirty="0"/>
          </a:p>
        </p:txBody>
      </p:sp>
      <p:sp>
        <p:nvSpPr>
          <p:cNvPr id="3" name="Espaço Reservado para Conteúdo 2"/>
          <p:cNvSpPr>
            <a:spLocks noGrp="1"/>
          </p:cNvSpPr>
          <p:nvPr>
            <p:ph idx="1"/>
          </p:nvPr>
        </p:nvSpPr>
        <p:spPr>
          <a:xfrm>
            <a:off x="-1" y="1371600"/>
            <a:ext cx="12085609" cy="5149970"/>
          </a:xfrm>
        </p:spPr>
        <p:txBody>
          <a:bodyPr>
            <a:normAutofit/>
          </a:bodyPr>
          <a:lstStyle/>
          <a:p>
            <a:pPr marL="0" indent="0">
              <a:buNone/>
            </a:pPr>
            <a:r>
              <a:rPr lang="pt-BR" dirty="0" smtClean="0"/>
              <a:t>.</a:t>
            </a:r>
            <a:endParaRPr lang="pt-BR" dirty="0"/>
          </a:p>
        </p:txBody>
      </p:sp>
      <p:sp>
        <p:nvSpPr>
          <p:cNvPr id="5" name="Retângulo 4"/>
          <p:cNvSpPr/>
          <p:nvPr/>
        </p:nvSpPr>
        <p:spPr>
          <a:xfrm>
            <a:off x="336430" y="1305342"/>
            <a:ext cx="11749178" cy="461665"/>
          </a:xfrm>
          <a:prstGeom prst="rect">
            <a:avLst/>
          </a:prstGeom>
        </p:spPr>
        <p:txBody>
          <a:bodyPr wrap="square">
            <a:spAutoFit/>
          </a:bodyPr>
          <a:lstStyle/>
          <a:p>
            <a:r>
              <a:rPr lang="pt-BR" sz="2400" dirty="0" smtClean="0"/>
              <a:t>Figura 9.4:</a:t>
            </a:r>
            <a:endParaRPr lang="pt-BR" sz="2400" dirty="0"/>
          </a:p>
        </p:txBody>
      </p:sp>
      <p:pic>
        <p:nvPicPr>
          <p:cNvPr id="4" name="Imagem 3"/>
          <p:cNvPicPr>
            <a:picLocks noChangeAspect="1"/>
          </p:cNvPicPr>
          <p:nvPr/>
        </p:nvPicPr>
        <p:blipFill>
          <a:blip r:embed="rId2"/>
          <a:stretch>
            <a:fillRect/>
          </a:stretch>
        </p:blipFill>
        <p:spPr>
          <a:xfrm>
            <a:off x="525" y="1811916"/>
            <a:ext cx="11472608" cy="3450197"/>
          </a:xfrm>
          <a:prstGeom prst="rect">
            <a:avLst/>
          </a:prstGeom>
        </p:spPr>
      </p:pic>
    </p:spTree>
    <p:extLst>
      <p:ext uri="{BB962C8B-B14F-4D97-AF65-F5344CB8AC3E}">
        <p14:creationId xmlns:p14="http://schemas.microsoft.com/office/powerpoint/2010/main" val="50586137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881332" y="0"/>
            <a:ext cx="10515600" cy="1325563"/>
          </a:xfrm>
        </p:spPr>
        <p:txBody>
          <a:bodyPr/>
          <a:lstStyle/>
          <a:p>
            <a:r>
              <a:rPr lang="pt-BR" dirty="0" smtClean="0"/>
              <a:t>Capitulo 9 – Evolução do software – 9.1 PROCESSO DE EVOLUÇÃO </a:t>
            </a:r>
            <a:endParaRPr lang="pt-BR" dirty="0"/>
          </a:p>
        </p:txBody>
      </p:sp>
      <p:sp>
        <p:nvSpPr>
          <p:cNvPr id="3" name="Espaço Reservado para Conteúdo 2"/>
          <p:cNvSpPr>
            <a:spLocks noGrp="1"/>
          </p:cNvSpPr>
          <p:nvPr>
            <p:ph idx="1"/>
          </p:nvPr>
        </p:nvSpPr>
        <p:spPr>
          <a:xfrm>
            <a:off x="-1" y="1371600"/>
            <a:ext cx="12085609" cy="5149970"/>
          </a:xfrm>
        </p:spPr>
        <p:txBody>
          <a:bodyPr>
            <a:normAutofit/>
          </a:bodyPr>
          <a:lstStyle/>
          <a:p>
            <a:pPr marL="0" indent="0">
              <a:buNone/>
            </a:pPr>
            <a:r>
              <a:rPr lang="pt-BR" dirty="0" smtClean="0"/>
              <a:t>.</a:t>
            </a:r>
            <a:endParaRPr lang="pt-BR" dirty="0"/>
          </a:p>
        </p:txBody>
      </p:sp>
      <p:sp>
        <p:nvSpPr>
          <p:cNvPr id="5" name="Retângulo 4"/>
          <p:cNvSpPr/>
          <p:nvPr/>
        </p:nvSpPr>
        <p:spPr>
          <a:xfrm>
            <a:off x="86264" y="1216326"/>
            <a:ext cx="11999344" cy="5262979"/>
          </a:xfrm>
          <a:prstGeom prst="rect">
            <a:avLst/>
          </a:prstGeom>
        </p:spPr>
        <p:txBody>
          <a:bodyPr wrap="square">
            <a:spAutoFit/>
          </a:bodyPr>
          <a:lstStyle/>
          <a:p>
            <a:r>
              <a:rPr lang="pt-BR" sz="2400" dirty="0"/>
              <a:t>I</a:t>
            </a:r>
            <a:r>
              <a:rPr lang="pt-BR" sz="2400" dirty="0" smtClean="0"/>
              <a:t>mplementação </a:t>
            </a:r>
            <a:r>
              <a:rPr lang="pt-BR" sz="2400" dirty="0"/>
              <a:t>de </a:t>
            </a:r>
            <a:r>
              <a:rPr lang="pt-BR" sz="2400" dirty="0" smtClean="0"/>
              <a:t>mudanças: </a:t>
            </a:r>
            <a:r>
              <a:rPr lang="pt-BR" sz="2400" dirty="0"/>
              <a:t>iteração do </a:t>
            </a:r>
            <a:r>
              <a:rPr lang="pt-BR" sz="2400" dirty="0" smtClean="0"/>
              <a:t>desenvolvimento com revisões </a:t>
            </a:r>
            <a:r>
              <a:rPr lang="pt-BR" sz="2400" dirty="0"/>
              <a:t>do </a:t>
            </a:r>
            <a:r>
              <a:rPr lang="pt-BR" sz="2400" dirty="0" smtClean="0"/>
              <a:t>sistema projetadas</a:t>
            </a:r>
            <a:r>
              <a:rPr lang="pt-BR" sz="2400" dirty="0"/>
              <a:t>, implementadas e testadas. </a:t>
            </a:r>
            <a:endParaRPr lang="pt-BR" sz="2400" dirty="0" smtClean="0"/>
          </a:p>
          <a:p>
            <a:endParaRPr lang="pt-BR" sz="2400" dirty="0" smtClean="0"/>
          </a:p>
          <a:p>
            <a:r>
              <a:rPr lang="pt-BR" sz="2400" dirty="0" smtClean="0"/>
              <a:t>1º </a:t>
            </a:r>
            <a:r>
              <a:rPr lang="pt-BR" sz="2400" dirty="0"/>
              <a:t>estágio da implementação da </a:t>
            </a:r>
            <a:r>
              <a:rPr lang="pt-BR" sz="2400" dirty="0" smtClean="0"/>
              <a:t>mudança: </a:t>
            </a:r>
            <a:r>
              <a:rPr lang="pt-BR" sz="2400" dirty="0"/>
              <a:t>compreensão do </a:t>
            </a:r>
            <a:r>
              <a:rPr lang="pt-BR" sz="2400" dirty="0" smtClean="0"/>
              <a:t>programa (especialmente </a:t>
            </a:r>
            <a:r>
              <a:rPr lang="pt-BR" sz="2400" dirty="0"/>
              <a:t>se os desenvolvedores do sistema original não forem responsáveis pela implementação de </a:t>
            </a:r>
            <a:r>
              <a:rPr lang="pt-BR" sz="2400" dirty="0" smtClean="0"/>
              <a:t>mudanças), como </a:t>
            </a:r>
            <a:r>
              <a:rPr lang="pt-BR" sz="2400" dirty="0"/>
              <a:t>o programa está estruturado, como implementa a </a:t>
            </a:r>
            <a:r>
              <a:rPr lang="pt-BR" sz="2400" dirty="0" smtClean="0"/>
              <a:t>funcionalidade, </a:t>
            </a:r>
            <a:r>
              <a:rPr lang="pt-BR" sz="2400" dirty="0"/>
              <a:t>e como a mudança proposta pode </a:t>
            </a:r>
            <a:r>
              <a:rPr lang="pt-BR" sz="2400" dirty="0" smtClean="0"/>
              <a:t>afetá-la. </a:t>
            </a:r>
            <a:endParaRPr lang="pt-BR" sz="2400" dirty="0" smtClean="0"/>
          </a:p>
          <a:p>
            <a:r>
              <a:rPr lang="pt-BR" sz="2400" dirty="0" smtClean="0"/>
              <a:t>Deve-se c</a:t>
            </a:r>
            <a:r>
              <a:rPr lang="pt-BR" sz="2400" dirty="0" smtClean="0"/>
              <a:t>ertificar </a:t>
            </a:r>
            <a:r>
              <a:rPr lang="pt-BR" sz="2400" dirty="0"/>
              <a:t>de que as </a:t>
            </a:r>
            <a:r>
              <a:rPr lang="pt-BR" sz="2400" dirty="0" smtClean="0"/>
              <a:t>mudanças </a:t>
            </a:r>
            <a:r>
              <a:rPr lang="pt-BR" sz="2400" dirty="0"/>
              <a:t>não causarão novos </a:t>
            </a:r>
            <a:r>
              <a:rPr lang="pt-BR" sz="2400" dirty="0" smtClean="0"/>
              <a:t>problemas</a:t>
            </a:r>
          </a:p>
          <a:p>
            <a:r>
              <a:rPr lang="pt-BR" sz="2400" dirty="0" smtClean="0"/>
              <a:t>Implementação: modifica </a:t>
            </a:r>
            <a:r>
              <a:rPr lang="pt-BR" sz="2400" dirty="0"/>
              <a:t>a especificação, o projeto e a </a:t>
            </a:r>
            <a:r>
              <a:rPr lang="pt-BR" sz="2400" dirty="0" smtClean="0"/>
              <a:t>implementação </a:t>
            </a:r>
            <a:r>
              <a:rPr lang="pt-BR" sz="2400" dirty="0"/>
              <a:t>do sistema para refletir as alterações do sistema (Figura </a:t>
            </a:r>
            <a:r>
              <a:rPr lang="pt-BR" sz="2400" dirty="0" smtClean="0"/>
              <a:t>9.5 – </a:t>
            </a:r>
            <a:r>
              <a:rPr lang="pt-BR" sz="2400" dirty="0" err="1" smtClean="0"/>
              <a:t>pag</a:t>
            </a:r>
            <a:r>
              <a:rPr lang="pt-BR" sz="2400" dirty="0" smtClean="0"/>
              <a:t> 181). </a:t>
            </a:r>
          </a:p>
          <a:p>
            <a:r>
              <a:rPr lang="pt-BR" sz="2400" dirty="0" smtClean="0"/>
              <a:t>Novos </a:t>
            </a:r>
            <a:r>
              <a:rPr lang="pt-BR" sz="2400" dirty="0"/>
              <a:t>requisitos que refletem as mudanças do sistema são propostos, analisados e validados. Componentes do sistema são </a:t>
            </a:r>
            <a:r>
              <a:rPr lang="pt-BR" sz="2400" dirty="0" err="1"/>
              <a:t>reprojetados</a:t>
            </a:r>
            <a:r>
              <a:rPr lang="pt-BR" sz="2400" dirty="0"/>
              <a:t> e implementados, e o sistema é testado novamente. </a:t>
            </a:r>
            <a:endParaRPr lang="pt-BR" sz="2400" dirty="0" smtClean="0"/>
          </a:p>
          <a:p>
            <a:r>
              <a:rPr lang="pt-BR" sz="2400" dirty="0" smtClean="0"/>
              <a:t>A </a:t>
            </a:r>
            <a:r>
              <a:rPr lang="pt-BR" sz="2400" dirty="0"/>
              <a:t>prototipação das </a:t>
            </a:r>
            <a:r>
              <a:rPr lang="pt-BR" sz="2400" dirty="0" smtClean="0"/>
              <a:t>alterações </a:t>
            </a:r>
            <a:r>
              <a:rPr lang="pt-BR" sz="2400" dirty="0"/>
              <a:t>pode ser realizada como parte do processo de análise de mudanças.</a:t>
            </a:r>
          </a:p>
        </p:txBody>
      </p:sp>
    </p:spTree>
    <p:extLst>
      <p:ext uri="{BB962C8B-B14F-4D97-AF65-F5344CB8AC3E}">
        <p14:creationId xmlns:p14="http://schemas.microsoft.com/office/powerpoint/2010/main" val="147188104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881332" y="0"/>
            <a:ext cx="10515600" cy="1325563"/>
          </a:xfrm>
        </p:spPr>
        <p:txBody>
          <a:bodyPr/>
          <a:lstStyle/>
          <a:p>
            <a:r>
              <a:rPr lang="pt-BR" dirty="0" smtClean="0"/>
              <a:t>Capitulo 9 – Evolução do software – 9.1 PROCESSO DE EVOLUÇÃO </a:t>
            </a:r>
            <a:endParaRPr lang="pt-BR" dirty="0"/>
          </a:p>
        </p:txBody>
      </p:sp>
      <p:sp>
        <p:nvSpPr>
          <p:cNvPr id="5" name="Retângulo 4"/>
          <p:cNvSpPr/>
          <p:nvPr/>
        </p:nvSpPr>
        <p:spPr>
          <a:xfrm>
            <a:off x="181156" y="1242204"/>
            <a:ext cx="11904452" cy="4524315"/>
          </a:xfrm>
          <a:prstGeom prst="rect">
            <a:avLst/>
          </a:prstGeom>
        </p:spPr>
        <p:txBody>
          <a:bodyPr wrap="square">
            <a:spAutoFit/>
          </a:bodyPr>
          <a:lstStyle/>
          <a:p>
            <a:r>
              <a:rPr lang="pt-BR" sz="2400" dirty="0"/>
              <a:t>P</a:t>
            </a:r>
            <a:r>
              <a:rPr lang="pt-BR" sz="2400" dirty="0" smtClean="0"/>
              <a:t>rocesso </a:t>
            </a:r>
            <a:r>
              <a:rPr lang="pt-BR" sz="2400" dirty="0"/>
              <a:t>de </a:t>
            </a:r>
            <a:r>
              <a:rPr lang="pt-BR" sz="2400" dirty="0" smtClean="0"/>
              <a:t>evolução:</a:t>
            </a:r>
          </a:p>
          <a:p>
            <a:r>
              <a:rPr lang="pt-BR" sz="2400" dirty="0" smtClean="0"/>
              <a:t>Requisitos </a:t>
            </a:r>
            <a:r>
              <a:rPr lang="pt-BR" sz="2400" dirty="0"/>
              <a:t>são analisados detalhadamente, e as implicações das mudanças surgem onde não eram aparentes no processo anterior de análise. </a:t>
            </a:r>
            <a:endParaRPr lang="pt-BR" sz="2400" dirty="0" smtClean="0"/>
          </a:p>
          <a:p>
            <a:r>
              <a:rPr lang="pt-BR" sz="2400" dirty="0"/>
              <a:t>A</a:t>
            </a:r>
            <a:r>
              <a:rPr lang="pt-BR" sz="2400" dirty="0" smtClean="0"/>
              <a:t>lterações </a:t>
            </a:r>
            <a:r>
              <a:rPr lang="pt-BR" sz="2400" dirty="0"/>
              <a:t>propostas podem ser modificadas e mais discussões com os clientes podem ser </a:t>
            </a:r>
            <a:r>
              <a:rPr lang="pt-BR" sz="2400" dirty="0" smtClean="0"/>
              <a:t>necessárias. </a:t>
            </a:r>
          </a:p>
          <a:p>
            <a:r>
              <a:rPr lang="pt-BR" sz="2400" dirty="0"/>
              <a:t>S</a:t>
            </a:r>
            <a:r>
              <a:rPr lang="pt-BR" sz="2400" dirty="0" smtClean="0"/>
              <a:t>olicitações </a:t>
            </a:r>
            <a:r>
              <a:rPr lang="pt-BR" sz="2400" dirty="0"/>
              <a:t>de mudança </a:t>
            </a:r>
            <a:r>
              <a:rPr lang="pt-BR" sz="2400" dirty="0" smtClean="0"/>
              <a:t>podem ser </a:t>
            </a:r>
            <a:r>
              <a:rPr lang="pt-BR" sz="2400" dirty="0"/>
              <a:t>relacionadas a problemas do sistema que devem ser resolvidos com </a:t>
            </a:r>
            <a:r>
              <a:rPr lang="pt-BR" sz="2400" dirty="0" smtClean="0"/>
              <a:t>urgência:</a:t>
            </a:r>
          </a:p>
          <a:p>
            <a:pPr marL="457200" indent="-457200">
              <a:buAutoNum type="arabicPeriod"/>
            </a:pPr>
            <a:r>
              <a:rPr lang="pt-BR" sz="2400" dirty="0" smtClean="0"/>
              <a:t>defeito grave </a:t>
            </a:r>
            <a:r>
              <a:rPr lang="pt-BR" sz="2400" dirty="0"/>
              <a:t>que precisa ser corrigido para permitir a continuidade do </a:t>
            </a:r>
            <a:r>
              <a:rPr lang="pt-BR" sz="2400" dirty="0" smtClean="0"/>
              <a:t>funcionamento.</a:t>
            </a:r>
            <a:endParaRPr lang="pt-BR" sz="2400" dirty="0" smtClean="0"/>
          </a:p>
          <a:p>
            <a:pPr marL="457200" indent="-457200">
              <a:buAutoNum type="arabicPeriod"/>
            </a:pPr>
            <a:r>
              <a:rPr lang="pt-BR" sz="2400" dirty="0" smtClean="0"/>
              <a:t>alterações </a:t>
            </a:r>
            <a:r>
              <a:rPr lang="pt-BR" sz="2400" dirty="0"/>
              <a:t>no ambiente operacional dos sistemas tiverem efeitos inesperados que </a:t>
            </a:r>
            <a:r>
              <a:rPr lang="pt-BR" sz="2400" dirty="0" smtClean="0"/>
              <a:t>interromperam </a:t>
            </a:r>
            <a:r>
              <a:rPr lang="pt-BR" sz="2400" dirty="0"/>
              <a:t>o </a:t>
            </a:r>
            <a:r>
              <a:rPr lang="pt-BR" sz="2400" dirty="0" smtClean="0"/>
              <a:t>funcionamento </a:t>
            </a:r>
            <a:r>
              <a:rPr lang="pt-BR" sz="2400" dirty="0"/>
              <a:t>normal. </a:t>
            </a:r>
            <a:endParaRPr lang="pt-BR" sz="2400" dirty="0" smtClean="0"/>
          </a:p>
          <a:p>
            <a:pPr marL="457200" indent="-457200">
              <a:buAutoNum type="arabicPeriod"/>
            </a:pPr>
            <a:r>
              <a:rPr lang="pt-BR" sz="2400" dirty="0" smtClean="0"/>
              <a:t>mudanças </a:t>
            </a:r>
            <a:r>
              <a:rPr lang="pt-BR" sz="2400" dirty="0"/>
              <a:t>inesperadas no funcionamento do </a:t>
            </a:r>
            <a:r>
              <a:rPr lang="pt-BR" sz="2400" dirty="0" smtClean="0"/>
              <a:t>negócio, </a:t>
            </a:r>
            <a:r>
              <a:rPr lang="pt-BR" sz="2400" dirty="0"/>
              <a:t>como o surgimento de novos concorrentes ou a introdução de nova legislação que afete o sistema.</a:t>
            </a:r>
          </a:p>
        </p:txBody>
      </p:sp>
    </p:spTree>
    <p:extLst>
      <p:ext uri="{BB962C8B-B14F-4D97-AF65-F5344CB8AC3E}">
        <p14:creationId xmlns:p14="http://schemas.microsoft.com/office/powerpoint/2010/main" val="29124421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881332" y="0"/>
            <a:ext cx="10515600" cy="1325563"/>
          </a:xfrm>
        </p:spPr>
        <p:txBody>
          <a:bodyPr/>
          <a:lstStyle/>
          <a:p>
            <a:r>
              <a:rPr lang="pt-BR" dirty="0" smtClean="0"/>
              <a:t>Capitulo 9 – Evolução do software – 9.1 PROCESSO DE EVOLUÇÃO </a:t>
            </a:r>
            <a:endParaRPr lang="pt-BR" dirty="0"/>
          </a:p>
        </p:txBody>
      </p:sp>
      <p:sp>
        <p:nvSpPr>
          <p:cNvPr id="5" name="Retângulo 4"/>
          <p:cNvSpPr/>
          <p:nvPr/>
        </p:nvSpPr>
        <p:spPr>
          <a:xfrm>
            <a:off x="181156" y="1242204"/>
            <a:ext cx="11904452" cy="4893647"/>
          </a:xfrm>
          <a:prstGeom prst="rect">
            <a:avLst/>
          </a:prstGeom>
        </p:spPr>
        <p:txBody>
          <a:bodyPr wrap="square">
            <a:spAutoFit/>
          </a:bodyPr>
          <a:lstStyle/>
          <a:p>
            <a:r>
              <a:rPr lang="pt-BR" sz="2400" dirty="0"/>
              <a:t>M</a:t>
            </a:r>
            <a:r>
              <a:rPr lang="pt-BR" sz="2400" dirty="0" smtClean="0"/>
              <a:t>udança rápidas: difícil acompanhar </a:t>
            </a:r>
            <a:r>
              <a:rPr lang="pt-BR" sz="2400" dirty="0"/>
              <a:t>o processo de análise formal da mudança. </a:t>
            </a:r>
            <a:endParaRPr lang="pt-BR" sz="2400" dirty="0" smtClean="0"/>
          </a:p>
          <a:p>
            <a:r>
              <a:rPr lang="pt-BR" sz="2400" dirty="0" smtClean="0"/>
              <a:t>Em </a:t>
            </a:r>
            <a:r>
              <a:rPr lang="pt-BR" sz="2400" dirty="0"/>
              <a:t>vez de modificar os requisitos e o projeto, para resolver o problema </a:t>
            </a:r>
            <a:r>
              <a:rPr lang="pt-BR" sz="2400" dirty="0" smtClean="0"/>
              <a:t>imediatamente, faz-se correção </a:t>
            </a:r>
            <a:r>
              <a:rPr lang="pt-BR" sz="2400" dirty="0"/>
              <a:t>de emergência no programa (Figura 9.6). </a:t>
            </a:r>
            <a:endParaRPr lang="pt-BR" sz="2400" dirty="0" smtClean="0"/>
          </a:p>
          <a:p>
            <a:r>
              <a:rPr lang="pt-BR" sz="2400" dirty="0" smtClean="0"/>
              <a:t>Perigo: requisitos, </a:t>
            </a:r>
            <a:r>
              <a:rPr lang="pt-BR" sz="2400" dirty="0"/>
              <a:t>projeto do software e </a:t>
            </a:r>
            <a:r>
              <a:rPr lang="pt-BR" sz="2400" dirty="0" smtClean="0"/>
              <a:t>código </a:t>
            </a:r>
            <a:r>
              <a:rPr lang="pt-BR" sz="2400" dirty="0"/>
              <a:t>podem tornar-se inconsistentes. </a:t>
            </a:r>
            <a:endParaRPr lang="pt-BR" sz="2400" dirty="0" smtClean="0"/>
          </a:p>
          <a:p>
            <a:r>
              <a:rPr lang="pt-BR" sz="2400" dirty="0" smtClean="0"/>
              <a:t> Necessário: Documentar </a:t>
            </a:r>
            <a:r>
              <a:rPr lang="pt-BR" sz="2400" dirty="0"/>
              <a:t>a mudança nos requisitos e no projeto, correções adicionais de emergência para o </a:t>
            </a:r>
            <a:r>
              <a:rPr lang="pt-BR" sz="2400" dirty="0" smtClean="0"/>
              <a:t>software. </a:t>
            </a:r>
            <a:endParaRPr lang="pt-BR" sz="2400" dirty="0" smtClean="0"/>
          </a:p>
          <a:p>
            <a:r>
              <a:rPr lang="pt-BR" sz="2400" dirty="0" smtClean="0"/>
              <a:t>Eventualmente</a:t>
            </a:r>
            <a:r>
              <a:rPr lang="pt-BR" sz="2400" dirty="0"/>
              <a:t>, a mudança original é esquecida e a documentação e o código do sistema nunca são realinhados. </a:t>
            </a:r>
            <a:endParaRPr lang="pt-BR" sz="2400" dirty="0" smtClean="0"/>
          </a:p>
          <a:p>
            <a:r>
              <a:rPr lang="pt-BR" sz="2400" dirty="0" smtClean="0"/>
              <a:t>Correções </a:t>
            </a:r>
            <a:r>
              <a:rPr lang="pt-BR" sz="2400" dirty="0"/>
              <a:t>de emergência no </a:t>
            </a:r>
            <a:r>
              <a:rPr lang="pt-BR" sz="2400" dirty="0" smtClean="0"/>
              <a:t>sistema: </a:t>
            </a:r>
            <a:r>
              <a:rPr lang="pt-BR" sz="2400" dirty="0"/>
              <a:t>concluídas o mais rapidamente possível. </a:t>
            </a:r>
            <a:endParaRPr lang="pt-BR" sz="2400" dirty="0" smtClean="0"/>
          </a:p>
          <a:p>
            <a:r>
              <a:rPr lang="pt-BR" sz="2400" dirty="0" smtClean="0"/>
              <a:t>Considerando </a:t>
            </a:r>
            <a:r>
              <a:rPr lang="pt-BR" sz="2400" dirty="0"/>
              <a:t>a estrutura do </a:t>
            </a:r>
            <a:r>
              <a:rPr lang="pt-BR" sz="2400" dirty="0" smtClean="0"/>
              <a:t>sistema: </a:t>
            </a:r>
            <a:r>
              <a:rPr lang="pt-BR" sz="2400" dirty="0" smtClean="0"/>
              <a:t>optou </a:t>
            </a:r>
            <a:r>
              <a:rPr lang="pt-BR" sz="2400" dirty="0" smtClean="0"/>
              <a:t>por </a:t>
            </a:r>
            <a:r>
              <a:rPr lang="pt-BR" sz="2400" dirty="0"/>
              <a:t>solução rápida e viável, e não a melhor solução. </a:t>
            </a:r>
            <a:endParaRPr lang="pt-BR" sz="2400" dirty="0" smtClean="0"/>
          </a:p>
          <a:p>
            <a:r>
              <a:rPr lang="pt-BR" sz="2400" dirty="0" smtClean="0"/>
              <a:t>Isso </a:t>
            </a:r>
            <a:r>
              <a:rPr lang="pt-BR" sz="2400" dirty="0"/>
              <a:t>acelera o processo de envelhecimento de software, faz que futuras alterações se tornem progressivamente mais difíceis, e os custos de manutenção, mais altos.</a:t>
            </a:r>
          </a:p>
        </p:txBody>
      </p:sp>
    </p:spTree>
    <p:extLst>
      <p:ext uri="{BB962C8B-B14F-4D97-AF65-F5344CB8AC3E}">
        <p14:creationId xmlns:p14="http://schemas.microsoft.com/office/powerpoint/2010/main" val="77269999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881332" y="0"/>
            <a:ext cx="10515600" cy="1325563"/>
          </a:xfrm>
        </p:spPr>
        <p:txBody>
          <a:bodyPr/>
          <a:lstStyle/>
          <a:p>
            <a:r>
              <a:rPr lang="pt-BR" dirty="0" smtClean="0"/>
              <a:t>Capitulo 9 – Evolução do software – 9.1 PROCESSO DE EVOLUÇÃO </a:t>
            </a:r>
            <a:endParaRPr lang="pt-BR" dirty="0"/>
          </a:p>
        </p:txBody>
      </p:sp>
      <p:sp>
        <p:nvSpPr>
          <p:cNvPr id="5" name="Retângulo 4"/>
          <p:cNvSpPr/>
          <p:nvPr/>
        </p:nvSpPr>
        <p:spPr>
          <a:xfrm>
            <a:off x="181156" y="1242204"/>
            <a:ext cx="11904452" cy="5632311"/>
          </a:xfrm>
          <a:prstGeom prst="rect">
            <a:avLst/>
          </a:prstGeom>
        </p:spPr>
        <p:txBody>
          <a:bodyPr wrap="square">
            <a:spAutoFit/>
          </a:bodyPr>
          <a:lstStyle/>
          <a:p>
            <a:r>
              <a:rPr lang="pt-BR" sz="2400" dirty="0"/>
              <a:t>F</a:t>
            </a:r>
            <a:r>
              <a:rPr lang="pt-BR" sz="2400" dirty="0" smtClean="0"/>
              <a:t>eitas </a:t>
            </a:r>
            <a:r>
              <a:rPr lang="pt-BR" sz="2400" dirty="0"/>
              <a:t>correções de emergência no código, após os defeitos serem corrigidos, a </a:t>
            </a:r>
            <a:r>
              <a:rPr lang="pt-BR" sz="2400" dirty="0" smtClean="0"/>
              <a:t>solicitação </a:t>
            </a:r>
            <a:r>
              <a:rPr lang="pt-BR" sz="2400" dirty="0"/>
              <a:t>de mudança deve permanecer em aberto. </a:t>
            </a:r>
            <a:endParaRPr lang="pt-BR" sz="2400" dirty="0" smtClean="0"/>
          </a:p>
          <a:p>
            <a:r>
              <a:rPr lang="pt-BR" sz="2400" dirty="0" smtClean="0"/>
              <a:t>O </a:t>
            </a:r>
            <a:r>
              <a:rPr lang="pt-BR" sz="2400" dirty="0"/>
              <a:t>código de emergência pode </a:t>
            </a:r>
            <a:r>
              <a:rPr lang="pt-BR" sz="2400" dirty="0" smtClean="0"/>
              <a:t>ser </a:t>
            </a:r>
            <a:r>
              <a:rPr lang="pt-BR" sz="2400" dirty="0"/>
              <a:t>reimplementado mais cuidadosamente após uma análise mais aprofundada. O</a:t>
            </a:r>
            <a:r>
              <a:rPr lang="pt-BR" sz="2400" dirty="0" smtClean="0"/>
              <a:t> </a:t>
            </a:r>
            <a:r>
              <a:rPr lang="pt-BR" sz="2400" dirty="0"/>
              <a:t>código usado na correção pode ser reusado. </a:t>
            </a:r>
            <a:endParaRPr lang="pt-BR" sz="2400" dirty="0" smtClean="0"/>
          </a:p>
          <a:p>
            <a:r>
              <a:rPr lang="pt-BR" sz="2400" dirty="0" smtClean="0"/>
              <a:t>Melhor solução </a:t>
            </a:r>
            <a:r>
              <a:rPr lang="pt-BR" sz="2400" dirty="0"/>
              <a:t>pode ser descoberta quando houver mais tempo </a:t>
            </a:r>
            <a:r>
              <a:rPr lang="pt-BR" sz="2400" dirty="0" smtClean="0"/>
              <a:t>para </a:t>
            </a:r>
            <a:r>
              <a:rPr lang="pt-BR" sz="2400" dirty="0"/>
              <a:t>análise. </a:t>
            </a:r>
            <a:endParaRPr lang="pt-BR" sz="2400" dirty="0" smtClean="0"/>
          </a:p>
          <a:p>
            <a:r>
              <a:rPr lang="pt-BR" sz="2400" dirty="0" err="1"/>
              <a:t>È</a:t>
            </a:r>
            <a:r>
              <a:rPr lang="pt-BR" sz="2400" dirty="0" smtClean="0"/>
              <a:t> </a:t>
            </a:r>
            <a:r>
              <a:rPr lang="pt-BR" sz="2400" dirty="0"/>
              <a:t>quase inevitável que essas melhorias tenham baixa prioridade. </a:t>
            </a:r>
            <a:endParaRPr lang="pt-BR" sz="2400" dirty="0" smtClean="0"/>
          </a:p>
          <a:p>
            <a:r>
              <a:rPr lang="pt-BR" sz="2400" dirty="0"/>
              <a:t>S</a:t>
            </a:r>
            <a:r>
              <a:rPr lang="pt-BR" sz="2400" dirty="0" smtClean="0"/>
              <a:t>ão </a:t>
            </a:r>
            <a:r>
              <a:rPr lang="pt-BR" sz="2400" dirty="0"/>
              <a:t>esquecidas, sobretudo se as alterações são feitas no sistema; então, torna-se muito complicado refazer as correções de emergência. </a:t>
            </a:r>
            <a:endParaRPr lang="pt-BR" sz="2400" dirty="0" smtClean="0"/>
          </a:p>
          <a:p>
            <a:r>
              <a:rPr lang="pt-BR" sz="2400" dirty="0" smtClean="0"/>
              <a:t>Métodos </a:t>
            </a:r>
            <a:r>
              <a:rPr lang="pt-BR" sz="2400" dirty="0"/>
              <a:t>e processos ágeis </a:t>
            </a:r>
            <a:r>
              <a:rPr lang="pt-BR" sz="2400" dirty="0" smtClean="0"/>
              <a:t>podem </a:t>
            </a:r>
            <a:r>
              <a:rPr lang="pt-BR" sz="2400" dirty="0"/>
              <a:t>ser usados para a evolução de </a:t>
            </a:r>
            <a:r>
              <a:rPr lang="pt-BR" sz="2400" dirty="0" smtClean="0"/>
              <a:t>programa e </a:t>
            </a:r>
            <a:r>
              <a:rPr lang="pt-BR" sz="2400" dirty="0"/>
              <a:t>para seu </a:t>
            </a:r>
            <a:r>
              <a:rPr lang="pt-BR" sz="2400" dirty="0" smtClean="0"/>
              <a:t>desenvolvimento: são </a:t>
            </a:r>
            <a:r>
              <a:rPr lang="pt-BR" sz="2400" dirty="0"/>
              <a:t>baseados em desenvolvimento </a:t>
            </a:r>
            <a:r>
              <a:rPr lang="pt-BR" sz="2400" dirty="0" smtClean="0"/>
              <a:t>incremental e a </a:t>
            </a:r>
            <a:r>
              <a:rPr lang="pt-BR" sz="2400" dirty="0"/>
              <a:t>transição de desenvolvimento ágil para evolução pós-entrega deveria ser imperceptível. </a:t>
            </a:r>
            <a:endParaRPr lang="pt-BR" sz="2400" dirty="0" smtClean="0"/>
          </a:p>
          <a:p>
            <a:r>
              <a:rPr lang="pt-BR" sz="2400" dirty="0" smtClean="0"/>
              <a:t>Testes </a:t>
            </a:r>
            <a:r>
              <a:rPr lang="pt-BR" sz="2400" dirty="0"/>
              <a:t>de regressão automatizados são úteis quando são feitas alterações no </a:t>
            </a:r>
            <a:r>
              <a:rPr lang="pt-BR" sz="2400" dirty="0" smtClean="0"/>
              <a:t>sistema expressas </a:t>
            </a:r>
            <a:r>
              <a:rPr lang="pt-BR" sz="2400" dirty="0"/>
              <a:t>como histórias de usuário e o envolvimento do cliente pode priorizar as mudanças necessárias em um </a:t>
            </a:r>
            <a:r>
              <a:rPr lang="pt-BR" sz="2400" dirty="0" smtClean="0"/>
              <a:t>sistema </a:t>
            </a:r>
            <a:r>
              <a:rPr lang="pt-BR" sz="2400" dirty="0"/>
              <a:t>funcional. </a:t>
            </a:r>
            <a:endParaRPr lang="pt-BR" sz="2400" dirty="0" smtClean="0"/>
          </a:p>
          <a:p>
            <a:r>
              <a:rPr lang="pt-BR" sz="2400" dirty="0" smtClean="0"/>
              <a:t>A </a:t>
            </a:r>
            <a:r>
              <a:rPr lang="pt-BR" sz="2400" dirty="0"/>
              <a:t>evolução envolve a continuação do processo de desenvolvimento ágil.</a:t>
            </a:r>
          </a:p>
        </p:txBody>
      </p:sp>
    </p:spTree>
    <p:extLst>
      <p:ext uri="{BB962C8B-B14F-4D97-AF65-F5344CB8AC3E}">
        <p14:creationId xmlns:p14="http://schemas.microsoft.com/office/powerpoint/2010/main" val="366047244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881332" y="0"/>
            <a:ext cx="10515600" cy="1325563"/>
          </a:xfrm>
        </p:spPr>
        <p:txBody>
          <a:bodyPr/>
          <a:lstStyle/>
          <a:p>
            <a:r>
              <a:rPr lang="pt-BR" dirty="0" smtClean="0"/>
              <a:t>Capitulo 9 – Evolução do software – 9.1 PROCESSO DE EVOLUÇÃO </a:t>
            </a:r>
            <a:endParaRPr lang="pt-BR" dirty="0"/>
          </a:p>
        </p:txBody>
      </p:sp>
      <p:sp>
        <p:nvSpPr>
          <p:cNvPr id="5" name="Retângulo 4"/>
          <p:cNvSpPr/>
          <p:nvPr/>
        </p:nvSpPr>
        <p:spPr>
          <a:xfrm>
            <a:off x="181156" y="1242204"/>
            <a:ext cx="11904452" cy="5262979"/>
          </a:xfrm>
          <a:prstGeom prst="rect">
            <a:avLst/>
          </a:prstGeom>
        </p:spPr>
        <p:txBody>
          <a:bodyPr wrap="square">
            <a:spAutoFit/>
          </a:bodyPr>
          <a:lstStyle/>
          <a:p>
            <a:r>
              <a:rPr lang="pt-BR" sz="2400" dirty="0"/>
              <a:t>P</a:t>
            </a:r>
            <a:r>
              <a:rPr lang="pt-BR" sz="2400" dirty="0" smtClean="0"/>
              <a:t>roblemas com a </a:t>
            </a:r>
            <a:r>
              <a:rPr lang="pt-BR" sz="2400" dirty="0"/>
              <a:t>transferência de uma equipe de desenvolvimento para uma equipe independente responsável pela </a:t>
            </a:r>
            <a:r>
              <a:rPr lang="pt-BR" sz="2400" dirty="0" smtClean="0"/>
              <a:t>evolução</a:t>
            </a:r>
            <a:r>
              <a:rPr lang="pt-BR" sz="2400" dirty="0"/>
              <a:t>:</a:t>
            </a:r>
            <a:endParaRPr lang="pt-BR" sz="2400" dirty="0" smtClean="0"/>
          </a:p>
          <a:p>
            <a:pPr marL="457200" indent="-457200">
              <a:buAutoNum type="arabicPeriod"/>
            </a:pPr>
            <a:r>
              <a:rPr lang="pt-BR" sz="2400" dirty="0" smtClean="0"/>
              <a:t>Equipe </a:t>
            </a:r>
            <a:r>
              <a:rPr lang="pt-BR" sz="2400" dirty="0"/>
              <a:t>de desenvolvimento usou uma abordagem ágil, </a:t>
            </a:r>
            <a:r>
              <a:rPr lang="pt-BR" sz="2400" dirty="0" smtClean="0"/>
              <a:t>equipe </a:t>
            </a:r>
            <a:r>
              <a:rPr lang="pt-BR" sz="2400" dirty="0"/>
              <a:t>de evolução não está </a:t>
            </a:r>
            <a:r>
              <a:rPr lang="pt-BR" sz="2400" dirty="0" smtClean="0"/>
              <a:t>familiarizada </a:t>
            </a:r>
            <a:r>
              <a:rPr lang="pt-BR" sz="2400" dirty="0"/>
              <a:t>com os métodos ágeis e prefere uma abordagem baseada em planos. A equipe de evolução pode esperar uma documentação detalhada para apoiar a evolução, e, em processos ágeis, esta raramente é produzida. Não pode haver qualquer declaração definitiva de requisitos do sistema que possa ser modificada enquanto as alterações no sistema são feitas. </a:t>
            </a:r>
            <a:endParaRPr lang="pt-BR" sz="2400" dirty="0" smtClean="0"/>
          </a:p>
          <a:p>
            <a:pPr marL="457200" indent="-457200">
              <a:buAutoNum type="arabicPeriod"/>
            </a:pPr>
            <a:r>
              <a:rPr lang="pt-BR" sz="2400" dirty="0"/>
              <a:t>A</a:t>
            </a:r>
            <a:r>
              <a:rPr lang="pt-BR" sz="2400" dirty="0" smtClean="0"/>
              <a:t>bordagem </a:t>
            </a:r>
            <a:r>
              <a:rPr lang="pt-BR" sz="2400" dirty="0"/>
              <a:t>baseada em planos é</a:t>
            </a:r>
            <a:r>
              <a:rPr lang="pt-BR" sz="2400" dirty="0" smtClean="0"/>
              <a:t> </a:t>
            </a:r>
            <a:r>
              <a:rPr lang="pt-BR" sz="2400" dirty="0"/>
              <a:t>usada para o desenvolvimento, mas a equipe de evolução preferir usar métodos ágeis. </a:t>
            </a:r>
            <a:r>
              <a:rPr lang="pt-BR" sz="2400" dirty="0" smtClean="0"/>
              <a:t>A </a:t>
            </a:r>
            <a:r>
              <a:rPr lang="pt-BR" sz="2400" dirty="0"/>
              <a:t>equipe de evolução pode ter de começar do zero a partir do </a:t>
            </a:r>
            <a:r>
              <a:rPr lang="pt-BR" sz="2400" dirty="0" smtClean="0"/>
              <a:t>desenvolvimento </a:t>
            </a:r>
            <a:r>
              <a:rPr lang="pt-BR" sz="2400" dirty="0"/>
              <a:t>de testes automatizados, e os códigos do sistema podem não ser </a:t>
            </a:r>
            <a:r>
              <a:rPr lang="pt-BR" sz="2400" dirty="0" err="1"/>
              <a:t>refatorados</a:t>
            </a:r>
            <a:r>
              <a:rPr lang="pt-BR" sz="2400" dirty="0"/>
              <a:t> e simplificados, como se prevê no desenvolvimento ágil. </a:t>
            </a:r>
            <a:r>
              <a:rPr lang="pt-BR" sz="2400" dirty="0" smtClean="0"/>
              <a:t>Reengenharia </a:t>
            </a:r>
            <a:r>
              <a:rPr lang="pt-BR" sz="2400" dirty="0"/>
              <a:t>pode ser necessária para melhorar o código antes que ele possa ser usado em um processo de desenvolvimento ágil.</a:t>
            </a:r>
          </a:p>
        </p:txBody>
      </p:sp>
    </p:spTree>
    <p:extLst>
      <p:ext uri="{BB962C8B-B14F-4D97-AF65-F5344CB8AC3E}">
        <p14:creationId xmlns:p14="http://schemas.microsoft.com/office/powerpoint/2010/main" val="178190503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881332" y="0"/>
            <a:ext cx="10515600" cy="1325563"/>
          </a:xfrm>
        </p:spPr>
        <p:txBody>
          <a:bodyPr/>
          <a:lstStyle/>
          <a:p>
            <a:r>
              <a:rPr lang="pt-BR" dirty="0" smtClean="0"/>
              <a:t>Capitulo 9 – Evolução do software –</a:t>
            </a:r>
            <a:r>
              <a:rPr lang="pt-BR" dirty="0"/>
              <a:t>9.2 Dinâmica da evolução de programas </a:t>
            </a:r>
          </a:p>
        </p:txBody>
      </p:sp>
      <p:sp>
        <p:nvSpPr>
          <p:cNvPr id="5" name="Retângulo 4"/>
          <p:cNvSpPr/>
          <p:nvPr/>
        </p:nvSpPr>
        <p:spPr>
          <a:xfrm>
            <a:off x="181156" y="1242204"/>
            <a:ext cx="11904452" cy="4893647"/>
          </a:xfrm>
          <a:prstGeom prst="rect">
            <a:avLst/>
          </a:prstGeom>
        </p:spPr>
        <p:txBody>
          <a:bodyPr wrap="square">
            <a:spAutoFit/>
          </a:bodyPr>
          <a:lstStyle/>
          <a:p>
            <a:r>
              <a:rPr lang="pt-BR" sz="2400" dirty="0" smtClean="0"/>
              <a:t>É o estudo </a:t>
            </a:r>
            <a:r>
              <a:rPr lang="pt-BR" sz="2400" dirty="0"/>
              <a:t>da mudança de sistema. </a:t>
            </a:r>
            <a:endParaRPr lang="pt-BR" sz="2400" dirty="0" smtClean="0"/>
          </a:p>
          <a:p>
            <a:r>
              <a:rPr lang="pt-BR" sz="2400" dirty="0" smtClean="0"/>
              <a:t>1970 </a:t>
            </a:r>
            <a:r>
              <a:rPr lang="pt-BR" sz="2400" dirty="0"/>
              <a:t>e 1980, Lehman e </a:t>
            </a:r>
            <a:r>
              <a:rPr lang="pt-BR" sz="2400" dirty="0" err="1"/>
              <a:t>Belady</a:t>
            </a:r>
            <a:r>
              <a:rPr lang="pt-BR" sz="2400" dirty="0"/>
              <a:t> (1985</a:t>
            </a:r>
            <a:r>
              <a:rPr lang="pt-BR" sz="2400" dirty="0" smtClean="0"/>
              <a:t>): </a:t>
            </a:r>
            <a:r>
              <a:rPr lang="pt-BR" sz="2400" dirty="0"/>
              <a:t>estudos empíricos sobre a mudança de sistema com intenção de </a:t>
            </a:r>
            <a:r>
              <a:rPr lang="pt-BR" sz="2400" dirty="0" smtClean="0"/>
              <a:t>compreender </a:t>
            </a:r>
            <a:r>
              <a:rPr lang="pt-BR" sz="2400" dirty="0"/>
              <a:t>mais sobre as características de evolução de software. </a:t>
            </a:r>
            <a:endParaRPr lang="pt-BR" sz="2400" dirty="0" smtClean="0"/>
          </a:p>
          <a:p>
            <a:endParaRPr lang="pt-BR" sz="2400" dirty="0" smtClean="0"/>
          </a:p>
          <a:p>
            <a:r>
              <a:rPr lang="pt-BR" sz="2400" dirty="0" smtClean="0"/>
              <a:t>O </a:t>
            </a:r>
            <a:r>
              <a:rPr lang="pt-BR" sz="2400" dirty="0"/>
              <a:t>trabalho continuou na década de 1990 com Lehman e outros pesquisando o significado de feedback nos processos de evolução (LEHMAN, 1996; LEHMAN et al., 1998; LEHMAN et al., 2001). </a:t>
            </a:r>
            <a:endParaRPr lang="pt-BR" sz="2400" dirty="0" smtClean="0"/>
          </a:p>
          <a:p>
            <a:r>
              <a:rPr lang="pt-BR" sz="2400" dirty="0" smtClean="0"/>
              <a:t>A </a:t>
            </a:r>
            <a:r>
              <a:rPr lang="pt-BR" sz="2400" dirty="0"/>
              <a:t>partir desses estudos, eles propuseram as ‘Leis de Lehman’, relativas às mudanças de sistema </a:t>
            </a:r>
            <a:r>
              <a:rPr lang="pt-BR" sz="2400" dirty="0" smtClean="0"/>
              <a:t>. </a:t>
            </a:r>
          </a:p>
          <a:p>
            <a:r>
              <a:rPr lang="pt-BR" sz="2400" dirty="0" smtClean="0"/>
              <a:t>Lehman </a:t>
            </a:r>
            <a:r>
              <a:rPr lang="pt-BR" sz="2400" dirty="0"/>
              <a:t>e </a:t>
            </a:r>
            <a:r>
              <a:rPr lang="pt-BR" sz="2400" dirty="0" err="1" smtClean="0"/>
              <a:t>Belady</a:t>
            </a:r>
            <a:r>
              <a:rPr lang="pt-BR" sz="2400" dirty="0" smtClean="0"/>
              <a:t>: leis </a:t>
            </a:r>
            <a:r>
              <a:rPr lang="pt-BR" sz="2400" dirty="0"/>
              <a:t>são suscetíveis de serem verdadeiras para todos os tipos de sistemas de software de grandes organizações (que eles chamam sistemas E-</a:t>
            </a:r>
            <a:r>
              <a:rPr lang="pt-BR" sz="2400" dirty="0" err="1"/>
              <a:t>type</a:t>
            </a:r>
            <a:r>
              <a:rPr lang="pt-BR" sz="2400" dirty="0"/>
              <a:t>). Nesses sistemas, os requisitos estão </a:t>
            </a:r>
            <a:r>
              <a:rPr lang="pt-BR" sz="2400" dirty="0" smtClean="0"/>
              <a:t>mudando </a:t>
            </a:r>
            <a:r>
              <a:rPr lang="pt-BR" sz="2400" dirty="0"/>
              <a:t>para refletir as necessidades dos negócios. Novos releases do sistema são essenciais para o sistema fornecer valor ao negócio. </a:t>
            </a:r>
          </a:p>
        </p:txBody>
      </p:sp>
    </p:spTree>
    <p:extLst>
      <p:ext uri="{BB962C8B-B14F-4D97-AF65-F5344CB8AC3E}">
        <p14:creationId xmlns:p14="http://schemas.microsoft.com/office/powerpoint/2010/main" val="178333372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881332" y="0"/>
            <a:ext cx="10515600" cy="1325563"/>
          </a:xfrm>
        </p:spPr>
        <p:txBody>
          <a:bodyPr/>
          <a:lstStyle/>
          <a:p>
            <a:r>
              <a:rPr lang="pt-BR" dirty="0" smtClean="0"/>
              <a:t>Capitulo 9 – Evolução do software –</a:t>
            </a:r>
            <a:r>
              <a:rPr lang="pt-BR" dirty="0"/>
              <a:t>9.2 Dinâmica da evolução de programas </a:t>
            </a:r>
          </a:p>
        </p:txBody>
      </p:sp>
      <p:sp>
        <p:nvSpPr>
          <p:cNvPr id="5" name="Retângulo 4"/>
          <p:cNvSpPr/>
          <p:nvPr/>
        </p:nvSpPr>
        <p:spPr>
          <a:xfrm>
            <a:off x="181156" y="1242204"/>
            <a:ext cx="11904452" cy="4893647"/>
          </a:xfrm>
          <a:prstGeom prst="rect">
            <a:avLst/>
          </a:prstGeom>
        </p:spPr>
        <p:txBody>
          <a:bodyPr wrap="square">
            <a:spAutoFit/>
          </a:bodyPr>
          <a:lstStyle/>
          <a:p>
            <a:r>
              <a:rPr lang="pt-BR" sz="2400" dirty="0"/>
              <a:t>Leis de Lehman </a:t>
            </a:r>
            <a:r>
              <a:rPr lang="pt-BR" sz="2400" dirty="0" smtClean="0"/>
              <a:t>			</a:t>
            </a:r>
          </a:p>
          <a:p>
            <a:r>
              <a:rPr lang="pt-BR" sz="2400" dirty="0" smtClean="0"/>
              <a:t>1) Mudança contínua:  Um </a:t>
            </a:r>
            <a:r>
              <a:rPr lang="pt-BR" sz="2400" dirty="0"/>
              <a:t>programa usado em um ambiente do mundo real deve </a:t>
            </a:r>
            <a:r>
              <a:rPr lang="pt-BR" sz="2400" dirty="0" smtClean="0"/>
              <a:t> </a:t>
            </a:r>
            <a:r>
              <a:rPr lang="pt-BR" sz="2400" dirty="0"/>
              <a:t>mudar, ou se torna progressivamente menos </a:t>
            </a:r>
            <a:r>
              <a:rPr lang="pt-BR" sz="2400" dirty="0" smtClean="0"/>
              <a:t>útil. </a:t>
            </a:r>
            <a:endParaRPr lang="pt-BR" sz="2400" dirty="0" smtClean="0"/>
          </a:p>
          <a:p>
            <a:endParaRPr lang="pt-BR" sz="2400" dirty="0" smtClean="0"/>
          </a:p>
          <a:p>
            <a:r>
              <a:rPr lang="pt-BR" sz="2400" dirty="0" smtClean="0"/>
              <a:t>2) Aumento </a:t>
            </a:r>
            <a:r>
              <a:rPr lang="pt-BR" sz="2400" dirty="0"/>
              <a:t>da </a:t>
            </a:r>
            <a:r>
              <a:rPr lang="pt-BR" sz="2400" dirty="0" smtClean="0"/>
              <a:t>complexidade:  </a:t>
            </a:r>
            <a:r>
              <a:rPr lang="pt-BR" sz="2400" dirty="0" smtClean="0"/>
              <a:t>programa </a:t>
            </a:r>
            <a:r>
              <a:rPr lang="pt-BR" sz="2400" dirty="0"/>
              <a:t>em evolução </a:t>
            </a:r>
            <a:r>
              <a:rPr lang="pt-BR" sz="2400" dirty="0" smtClean="0"/>
              <a:t>muda e </a:t>
            </a:r>
            <a:r>
              <a:rPr lang="pt-BR" sz="2400" dirty="0"/>
              <a:t>sua estrutura tende a tornar-se mais complexa. Recursos extras devem ser dedicados a preservar e </a:t>
            </a:r>
            <a:r>
              <a:rPr lang="pt-BR" sz="2400" dirty="0" err="1"/>
              <a:t>simplicar</a:t>
            </a:r>
            <a:r>
              <a:rPr lang="pt-BR" sz="2400" dirty="0"/>
              <a:t> a estrutura. </a:t>
            </a:r>
            <a:endParaRPr lang="pt-BR" sz="2400" dirty="0" smtClean="0"/>
          </a:p>
          <a:p>
            <a:endParaRPr lang="pt-BR" sz="2400" dirty="0"/>
          </a:p>
          <a:p>
            <a:r>
              <a:rPr lang="pt-BR" sz="2400" dirty="0" smtClean="0"/>
              <a:t>3) Evolução </a:t>
            </a:r>
            <a:r>
              <a:rPr lang="pt-BR" sz="2400" dirty="0"/>
              <a:t>de programa de grande </a:t>
            </a:r>
            <a:r>
              <a:rPr lang="pt-BR" sz="2400" dirty="0" smtClean="0"/>
              <a:t>porte: é </a:t>
            </a:r>
            <a:r>
              <a:rPr lang="pt-BR" sz="2400" dirty="0"/>
              <a:t>um processo de </a:t>
            </a:r>
            <a:r>
              <a:rPr lang="pt-BR" sz="2400" dirty="0" err="1"/>
              <a:t>autorregulação</a:t>
            </a:r>
            <a:r>
              <a:rPr lang="pt-BR" sz="2400" dirty="0"/>
              <a:t>. </a:t>
            </a:r>
            <a:r>
              <a:rPr lang="pt-BR" sz="2400" dirty="0" smtClean="0"/>
              <a:t>Atributos </a:t>
            </a:r>
            <a:r>
              <a:rPr lang="pt-BR" sz="2400" dirty="0"/>
              <a:t>como tamanho, tempo entre releases e número de erros relatados são aproximadamente invariáveis para cada release do sistema. </a:t>
            </a:r>
            <a:endParaRPr lang="pt-BR" sz="2400" dirty="0" smtClean="0"/>
          </a:p>
          <a:p>
            <a:endParaRPr lang="pt-BR" sz="2400" dirty="0"/>
          </a:p>
          <a:p>
            <a:r>
              <a:rPr lang="pt-BR" sz="2400" dirty="0" smtClean="0"/>
              <a:t>4) Estabilidade organizacional: </a:t>
            </a:r>
            <a:r>
              <a:rPr lang="pt-BR" sz="2400" dirty="0"/>
              <a:t>Ao longo da vida de um </a:t>
            </a:r>
            <a:r>
              <a:rPr lang="pt-BR" sz="2400" dirty="0" smtClean="0"/>
              <a:t>sistema</a:t>
            </a:r>
            <a:r>
              <a:rPr lang="pt-BR" sz="2400" dirty="0" smtClean="0"/>
              <a:t>, </a:t>
            </a:r>
            <a:r>
              <a:rPr lang="pt-BR" sz="2400" dirty="0"/>
              <a:t>sua taxa de desenvolvimento é aproximadamente constante e independente dos recursos destinados ao </a:t>
            </a:r>
            <a:r>
              <a:rPr lang="pt-BR" sz="2400" dirty="0" smtClean="0"/>
              <a:t>desenvolvimento. </a:t>
            </a:r>
            <a:endParaRPr lang="pt-BR" sz="2400" dirty="0"/>
          </a:p>
        </p:txBody>
      </p:sp>
    </p:spTree>
    <p:extLst>
      <p:ext uri="{BB962C8B-B14F-4D97-AF65-F5344CB8AC3E}">
        <p14:creationId xmlns:p14="http://schemas.microsoft.com/office/powerpoint/2010/main" val="98605272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881332" y="0"/>
            <a:ext cx="10515600" cy="1325563"/>
          </a:xfrm>
        </p:spPr>
        <p:txBody>
          <a:bodyPr/>
          <a:lstStyle/>
          <a:p>
            <a:r>
              <a:rPr lang="pt-BR" dirty="0" smtClean="0"/>
              <a:t>Capitulo 9 – Evolução do software –</a:t>
            </a:r>
            <a:r>
              <a:rPr lang="pt-BR" dirty="0"/>
              <a:t>9.2 Dinâmica da evolução de programas </a:t>
            </a:r>
          </a:p>
        </p:txBody>
      </p:sp>
      <p:sp>
        <p:nvSpPr>
          <p:cNvPr id="5" name="Retângulo 4"/>
          <p:cNvSpPr/>
          <p:nvPr/>
        </p:nvSpPr>
        <p:spPr>
          <a:xfrm>
            <a:off x="181156" y="1242204"/>
            <a:ext cx="11904452" cy="4893647"/>
          </a:xfrm>
          <a:prstGeom prst="rect">
            <a:avLst/>
          </a:prstGeom>
        </p:spPr>
        <p:txBody>
          <a:bodyPr wrap="square">
            <a:spAutoFit/>
          </a:bodyPr>
          <a:lstStyle/>
          <a:p>
            <a:r>
              <a:rPr lang="pt-BR" sz="2400" dirty="0" smtClean="0"/>
              <a:t> </a:t>
            </a:r>
            <a:r>
              <a:rPr lang="pt-BR" sz="2400" dirty="0"/>
              <a:t>Leis de Lehman </a:t>
            </a:r>
            <a:r>
              <a:rPr lang="pt-BR" sz="2400" dirty="0" smtClean="0"/>
              <a:t>			</a:t>
            </a:r>
          </a:p>
          <a:p>
            <a:r>
              <a:rPr lang="pt-BR" sz="2400" dirty="0" smtClean="0"/>
              <a:t>5) Conservação </a:t>
            </a:r>
            <a:r>
              <a:rPr lang="pt-BR" sz="2400" dirty="0"/>
              <a:t>da </a:t>
            </a:r>
            <a:r>
              <a:rPr lang="pt-BR" sz="2400" dirty="0" smtClean="0"/>
              <a:t>familiaridade: </a:t>
            </a:r>
            <a:r>
              <a:rPr lang="pt-BR" sz="2400" dirty="0"/>
              <a:t>Durante a vigência de um sistema, a mudança incremental em cada release é aproximadamente constante. </a:t>
            </a:r>
            <a:endParaRPr lang="pt-BR" sz="2400" dirty="0" smtClean="0"/>
          </a:p>
          <a:p>
            <a:endParaRPr lang="pt-BR" sz="2400" dirty="0"/>
          </a:p>
          <a:p>
            <a:r>
              <a:rPr lang="pt-BR" sz="2400" dirty="0" smtClean="0"/>
              <a:t>6) Crescimento contínuo: A </a:t>
            </a:r>
            <a:r>
              <a:rPr lang="pt-BR" sz="2400" dirty="0"/>
              <a:t>funcionalidade oferecida pelos sistemas </a:t>
            </a:r>
            <a:r>
              <a:rPr lang="pt-BR" sz="2400" dirty="0" smtClean="0"/>
              <a:t>devem </a:t>
            </a:r>
            <a:r>
              <a:rPr lang="pt-BR" sz="2400" dirty="0"/>
              <a:t>aumentar continuamente para manter a satisfação do usuário. </a:t>
            </a:r>
            <a:endParaRPr lang="pt-BR" sz="2400" dirty="0" smtClean="0"/>
          </a:p>
          <a:p>
            <a:endParaRPr lang="pt-BR" sz="2400" dirty="0"/>
          </a:p>
          <a:p>
            <a:r>
              <a:rPr lang="pt-BR" sz="2400" dirty="0" smtClean="0"/>
              <a:t>7) Declínio </a:t>
            </a:r>
            <a:r>
              <a:rPr lang="pt-BR" sz="2400" dirty="0"/>
              <a:t>de </a:t>
            </a:r>
            <a:r>
              <a:rPr lang="pt-BR" sz="2400" dirty="0" smtClean="0"/>
              <a:t>qualidade: </a:t>
            </a:r>
            <a:r>
              <a:rPr lang="pt-BR" sz="2400" dirty="0"/>
              <a:t>A qualidade dos sistemas cairá, a menos que eles sejam modificados para refletir mudanças em seu ambiente operacional</a:t>
            </a:r>
            <a:r>
              <a:rPr lang="pt-BR" sz="2400" dirty="0" smtClean="0"/>
              <a:t>.</a:t>
            </a:r>
          </a:p>
          <a:p>
            <a:endParaRPr lang="pt-BR" sz="2400" dirty="0"/>
          </a:p>
          <a:p>
            <a:r>
              <a:rPr lang="pt-BR" sz="2400" dirty="0" smtClean="0"/>
              <a:t>8) </a:t>
            </a:r>
            <a:r>
              <a:rPr lang="pt-BR" sz="2400" dirty="0"/>
              <a:t>Sistema de </a:t>
            </a:r>
            <a:r>
              <a:rPr lang="pt-BR" sz="2400" dirty="0" smtClean="0"/>
              <a:t>feedback:  </a:t>
            </a:r>
            <a:r>
              <a:rPr lang="pt-BR" sz="2400" dirty="0"/>
              <a:t>Os processos de evolução incorporam sistemas de feedback </a:t>
            </a:r>
            <a:r>
              <a:rPr lang="pt-BR" sz="2400" dirty="0" err="1"/>
              <a:t>multiagentes</a:t>
            </a:r>
            <a:r>
              <a:rPr lang="pt-BR" sz="2400" dirty="0"/>
              <a:t>, </a:t>
            </a:r>
            <a:r>
              <a:rPr lang="pt-BR" sz="2400" dirty="0" err="1"/>
              <a:t>multiloop</a:t>
            </a:r>
            <a:r>
              <a:rPr lang="pt-BR" sz="2400" dirty="0"/>
              <a:t>, e </a:t>
            </a:r>
            <a:r>
              <a:rPr lang="pt-BR" sz="2400" dirty="0" smtClean="0"/>
              <a:t>deve-se </a:t>
            </a:r>
            <a:r>
              <a:rPr lang="pt-BR" sz="2400" dirty="0"/>
              <a:t>tratá-los como sistemas de feedback para alcançar significativa melhoria do produto</a:t>
            </a:r>
          </a:p>
        </p:txBody>
      </p:sp>
    </p:spTree>
    <p:extLst>
      <p:ext uri="{BB962C8B-B14F-4D97-AF65-F5344CB8AC3E}">
        <p14:creationId xmlns:p14="http://schemas.microsoft.com/office/powerpoint/2010/main" val="261476951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881332" y="0"/>
            <a:ext cx="10515600" cy="1325563"/>
          </a:xfrm>
        </p:spPr>
        <p:txBody>
          <a:bodyPr/>
          <a:lstStyle/>
          <a:p>
            <a:r>
              <a:rPr lang="pt-BR" dirty="0" smtClean="0"/>
              <a:t>Capitulo 9 – Evolução do software –</a:t>
            </a:r>
            <a:r>
              <a:rPr lang="pt-BR" dirty="0"/>
              <a:t>9.2 Dinâmica da evolução de programas </a:t>
            </a:r>
          </a:p>
        </p:txBody>
      </p:sp>
      <p:sp>
        <p:nvSpPr>
          <p:cNvPr id="5" name="Retângulo 4"/>
          <p:cNvSpPr/>
          <p:nvPr/>
        </p:nvSpPr>
        <p:spPr>
          <a:xfrm>
            <a:off x="181156" y="1242204"/>
            <a:ext cx="11904452" cy="5262979"/>
          </a:xfrm>
          <a:prstGeom prst="rect">
            <a:avLst/>
          </a:prstGeom>
        </p:spPr>
        <p:txBody>
          <a:bodyPr wrap="square">
            <a:spAutoFit/>
          </a:bodyPr>
          <a:lstStyle/>
          <a:p>
            <a:r>
              <a:rPr lang="pt-BR" sz="2400" dirty="0" smtClean="0"/>
              <a:t>Lehman </a:t>
            </a:r>
            <a:r>
              <a:rPr lang="pt-BR" sz="2400" dirty="0"/>
              <a:t>e </a:t>
            </a:r>
            <a:r>
              <a:rPr lang="pt-BR" sz="2400" dirty="0" err="1"/>
              <a:t>Belady</a:t>
            </a:r>
            <a:r>
              <a:rPr lang="pt-BR" sz="2400" dirty="0"/>
              <a:t> </a:t>
            </a:r>
            <a:r>
              <a:rPr lang="pt-BR" sz="2400" dirty="0" smtClean="0"/>
              <a:t>alegam: leis </a:t>
            </a:r>
            <a:r>
              <a:rPr lang="pt-BR" sz="2400" dirty="0"/>
              <a:t>suscetíveis de serem verdadeiras para todos os tipos de sistemas de software de grandes organizações (que eles chamam sistemas E-</a:t>
            </a:r>
            <a:r>
              <a:rPr lang="pt-BR" sz="2400" dirty="0" err="1"/>
              <a:t>type</a:t>
            </a:r>
            <a:r>
              <a:rPr lang="pt-BR" sz="2400" dirty="0"/>
              <a:t>). </a:t>
            </a:r>
            <a:endParaRPr lang="pt-BR" sz="2400" dirty="0" smtClean="0"/>
          </a:p>
          <a:p>
            <a:endParaRPr lang="pt-BR" sz="2400" dirty="0"/>
          </a:p>
          <a:p>
            <a:r>
              <a:rPr lang="pt-BR" sz="2400" dirty="0"/>
              <a:t>R</a:t>
            </a:r>
            <a:r>
              <a:rPr lang="pt-BR" sz="2400" dirty="0" smtClean="0"/>
              <a:t>equisitos </a:t>
            </a:r>
            <a:r>
              <a:rPr lang="pt-BR" sz="2400" dirty="0"/>
              <a:t>estão </a:t>
            </a:r>
            <a:r>
              <a:rPr lang="pt-BR" sz="2400" dirty="0" smtClean="0"/>
              <a:t>mudando </a:t>
            </a:r>
            <a:r>
              <a:rPr lang="pt-BR" sz="2400" dirty="0"/>
              <a:t>para refletir as necessidades dos negócios. </a:t>
            </a:r>
            <a:r>
              <a:rPr lang="pt-BR" sz="2400" dirty="0" smtClean="0"/>
              <a:t>Releases </a:t>
            </a:r>
            <a:r>
              <a:rPr lang="pt-BR" sz="2400" dirty="0"/>
              <a:t>do sistema são essenciais para o sistema fornecer valor ao negócio. </a:t>
            </a:r>
            <a:endParaRPr lang="pt-BR" sz="2400" dirty="0" smtClean="0"/>
          </a:p>
          <a:p>
            <a:endParaRPr lang="pt-BR" sz="2400" dirty="0"/>
          </a:p>
          <a:p>
            <a:r>
              <a:rPr lang="pt-BR" sz="2400" dirty="0" smtClean="0"/>
              <a:t>1ª lei: </a:t>
            </a:r>
            <a:r>
              <a:rPr lang="pt-BR" sz="2400" dirty="0"/>
              <a:t>a manutenção de sistema é um processo inevitável. Como o ambiente do sistema muda, novos requisitos surgem, e o sistema deve ser modificado. Quando o sistema modificado é reintroduzido no ambiente, este promove mais mudanças no ambiente, de modo que o processo de evolução recomeça. </a:t>
            </a:r>
            <a:endParaRPr lang="pt-BR" sz="2400" dirty="0" smtClean="0"/>
          </a:p>
          <a:p>
            <a:r>
              <a:rPr lang="pt-BR" sz="2400" dirty="0" smtClean="0"/>
              <a:t>2ª </a:t>
            </a:r>
            <a:r>
              <a:rPr lang="pt-BR" sz="2400" dirty="0" smtClean="0"/>
              <a:t>lei: </a:t>
            </a:r>
            <a:r>
              <a:rPr lang="pt-BR" sz="2400" dirty="0"/>
              <a:t>quando um sistema é alterado, sua estrutura se degrada. A única maneira de evitar </a:t>
            </a:r>
            <a:r>
              <a:rPr lang="pt-BR" sz="2400" dirty="0" smtClean="0"/>
              <a:t>isso é </a:t>
            </a:r>
            <a:r>
              <a:rPr lang="pt-BR" sz="2400" dirty="0"/>
              <a:t>investir em manutenção preventiva. </a:t>
            </a:r>
            <a:r>
              <a:rPr lang="pt-BR" sz="2400" dirty="0" smtClean="0"/>
              <a:t>Gasta-se </a:t>
            </a:r>
            <a:r>
              <a:rPr lang="pt-BR" sz="2400" dirty="0"/>
              <a:t>tempo melhorando a estrutura do software sem aperfeiçoar sua </a:t>
            </a:r>
            <a:r>
              <a:rPr lang="pt-BR" sz="2400" dirty="0" smtClean="0"/>
              <a:t>funcionalidade, implicando em </a:t>
            </a:r>
            <a:r>
              <a:rPr lang="pt-BR" sz="2400" dirty="0"/>
              <a:t>custos adicionais, além da implementação das </a:t>
            </a:r>
            <a:r>
              <a:rPr lang="pt-BR" sz="2400" dirty="0" smtClean="0"/>
              <a:t>mudanças </a:t>
            </a:r>
            <a:r>
              <a:rPr lang="pt-BR" sz="2400" dirty="0"/>
              <a:t>de sistema exigidas.</a:t>
            </a:r>
          </a:p>
        </p:txBody>
      </p:sp>
    </p:spTree>
    <p:extLst>
      <p:ext uri="{BB962C8B-B14F-4D97-AF65-F5344CB8AC3E}">
        <p14:creationId xmlns:p14="http://schemas.microsoft.com/office/powerpoint/2010/main" val="149602694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881332" y="0"/>
            <a:ext cx="10515600" cy="1325563"/>
          </a:xfrm>
        </p:spPr>
        <p:txBody>
          <a:bodyPr/>
          <a:lstStyle/>
          <a:p>
            <a:r>
              <a:rPr lang="pt-BR" dirty="0" smtClean="0"/>
              <a:t>Capitulo 9 – Evolução do software –</a:t>
            </a:r>
            <a:r>
              <a:rPr lang="pt-BR" dirty="0"/>
              <a:t>9.2 Dinâmica da evolução de programas </a:t>
            </a:r>
          </a:p>
        </p:txBody>
      </p:sp>
      <p:sp>
        <p:nvSpPr>
          <p:cNvPr id="5" name="Retângulo 4"/>
          <p:cNvSpPr/>
          <p:nvPr/>
        </p:nvSpPr>
        <p:spPr>
          <a:xfrm>
            <a:off x="181156" y="1242204"/>
            <a:ext cx="11904452" cy="4524315"/>
          </a:xfrm>
          <a:prstGeom prst="rect">
            <a:avLst/>
          </a:prstGeom>
        </p:spPr>
        <p:txBody>
          <a:bodyPr wrap="square">
            <a:spAutoFit/>
          </a:bodyPr>
          <a:lstStyle/>
          <a:p>
            <a:r>
              <a:rPr lang="pt-BR" sz="2400" dirty="0" smtClean="0"/>
              <a:t>3ª lei:</a:t>
            </a:r>
          </a:p>
          <a:p>
            <a:r>
              <a:rPr lang="pt-BR" sz="2400" dirty="0"/>
              <a:t>G</a:t>
            </a:r>
            <a:r>
              <a:rPr lang="pt-BR" sz="2400" dirty="0" smtClean="0"/>
              <a:t>randes alterações abre alta </a:t>
            </a:r>
            <a:r>
              <a:rPr lang="pt-BR" sz="2400" dirty="0"/>
              <a:t>probabilidade de </a:t>
            </a:r>
            <a:r>
              <a:rPr lang="pt-BR" sz="2400" dirty="0" smtClean="0"/>
              <a:t>introduzirem </a:t>
            </a:r>
            <a:r>
              <a:rPr lang="pt-BR" sz="2400" dirty="0"/>
              <a:t>novos </a:t>
            </a:r>
            <a:r>
              <a:rPr lang="pt-BR" sz="2400" dirty="0" smtClean="0"/>
              <a:t>defeitos que inibem </a:t>
            </a:r>
            <a:r>
              <a:rPr lang="pt-BR" sz="2400" dirty="0"/>
              <a:t>outras mudanças no programa. </a:t>
            </a:r>
            <a:endParaRPr lang="pt-BR" sz="2400" dirty="0" smtClean="0"/>
          </a:p>
          <a:p>
            <a:r>
              <a:rPr lang="pt-BR" sz="2400" dirty="0"/>
              <a:t>F</a:t>
            </a:r>
            <a:r>
              <a:rPr lang="pt-BR" sz="2400" dirty="0" smtClean="0"/>
              <a:t>atores </a:t>
            </a:r>
            <a:r>
              <a:rPr lang="pt-BR" sz="2400" dirty="0"/>
              <a:t>organizacionais que afetam a terceira </a:t>
            </a:r>
            <a:r>
              <a:rPr lang="pt-BR" sz="2400" dirty="0" smtClean="0"/>
              <a:t>lei: </a:t>
            </a:r>
            <a:r>
              <a:rPr lang="pt-BR" sz="2400" dirty="0"/>
              <a:t>sistemas de grande porte geralmente </a:t>
            </a:r>
            <a:r>
              <a:rPr lang="pt-BR" sz="2400" dirty="0" smtClean="0"/>
              <a:t>são </a:t>
            </a:r>
            <a:r>
              <a:rPr lang="pt-BR" sz="2400" dirty="0"/>
              <a:t>produzidos por grandes </a:t>
            </a:r>
            <a:r>
              <a:rPr lang="pt-BR" sz="2400" dirty="0" smtClean="0"/>
              <a:t>empresas com burocracias </a:t>
            </a:r>
            <a:r>
              <a:rPr lang="pt-BR" sz="2400" dirty="0"/>
              <a:t>internas que definem o orçamento de mudanças para cada sistema e controlam o processo de tomada de decisão. </a:t>
            </a:r>
            <a:endParaRPr lang="pt-BR" sz="2400" dirty="0" smtClean="0"/>
          </a:p>
          <a:p>
            <a:r>
              <a:rPr lang="pt-BR" sz="2400" dirty="0" smtClean="0"/>
              <a:t>As </a:t>
            </a:r>
            <a:r>
              <a:rPr lang="pt-BR" sz="2400" dirty="0"/>
              <a:t>empresas têm de tomar decisões sobre os riscos e o valor das alterações e sobre os custos envolvidos. Tais decisões levam tempo para serem </a:t>
            </a:r>
            <a:r>
              <a:rPr lang="pt-BR" sz="2400" dirty="0" smtClean="0"/>
              <a:t>tomadas.</a:t>
            </a:r>
          </a:p>
          <a:p>
            <a:r>
              <a:rPr lang="pt-BR" sz="2400" dirty="0" smtClean="0"/>
              <a:t>Ás </a:t>
            </a:r>
            <a:r>
              <a:rPr lang="pt-BR" sz="2400" dirty="0"/>
              <a:t>vezes, leva-se mais tempo para decidir sobre as alterações a serem feitas do que para implementá-las. </a:t>
            </a:r>
            <a:endParaRPr lang="pt-BR" sz="2400" dirty="0" smtClean="0"/>
          </a:p>
          <a:p>
            <a:r>
              <a:rPr lang="pt-BR" sz="2400" dirty="0" smtClean="0"/>
              <a:t>A </a:t>
            </a:r>
            <a:r>
              <a:rPr lang="pt-BR" sz="2400" dirty="0"/>
              <a:t>velocidade do processo decisório da </a:t>
            </a:r>
            <a:r>
              <a:rPr lang="pt-BR" sz="2400" dirty="0" smtClean="0"/>
              <a:t>organização </a:t>
            </a:r>
            <a:r>
              <a:rPr lang="pt-BR" sz="2400" dirty="0"/>
              <a:t>regula a taxa de mudança do sistema.</a:t>
            </a:r>
          </a:p>
          <a:p>
            <a:endParaRPr lang="pt-BR" sz="2400" dirty="0"/>
          </a:p>
        </p:txBody>
      </p:sp>
    </p:spTree>
    <p:extLst>
      <p:ext uri="{BB962C8B-B14F-4D97-AF65-F5344CB8AC3E}">
        <p14:creationId xmlns:p14="http://schemas.microsoft.com/office/powerpoint/2010/main" val="166390787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881332" y="0"/>
            <a:ext cx="10515600" cy="1325563"/>
          </a:xfrm>
        </p:spPr>
        <p:txBody>
          <a:bodyPr/>
          <a:lstStyle/>
          <a:p>
            <a:r>
              <a:rPr lang="pt-BR" dirty="0" smtClean="0"/>
              <a:t>Capitulo 9 – Evolução do software –</a:t>
            </a:r>
            <a:r>
              <a:rPr lang="pt-BR" dirty="0"/>
              <a:t>9.2 Dinâmica da evolução de programas </a:t>
            </a:r>
          </a:p>
        </p:txBody>
      </p:sp>
      <p:sp>
        <p:nvSpPr>
          <p:cNvPr id="5" name="Retângulo 4"/>
          <p:cNvSpPr/>
          <p:nvPr/>
        </p:nvSpPr>
        <p:spPr>
          <a:xfrm>
            <a:off x="181156" y="1242204"/>
            <a:ext cx="11904452" cy="5262979"/>
          </a:xfrm>
          <a:prstGeom prst="rect">
            <a:avLst/>
          </a:prstGeom>
        </p:spPr>
        <p:txBody>
          <a:bodyPr wrap="square">
            <a:spAutoFit/>
          </a:bodyPr>
          <a:lstStyle/>
          <a:p>
            <a:r>
              <a:rPr lang="pt-BR" sz="2400" dirty="0"/>
              <a:t>4</a:t>
            </a:r>
            <a:r>
              <a:rPr lang="pt-BR" sz="2400" dirty="0" smtClean="0"/>
              <a:t>ª lei: a </a:t>
            </a:r>
            <a:r>
              <a:rPr lang="pt-BR" sz="2400" dirty="0"/>
              <a:t>maioria dos grandes projetos de programação trabalha em um estado ‘saturado’. Ou seja, uma mudança de recursos ou de pessoal tem efeitos imperceptíveis sobre a evolução do </a:t>
            </a:r>
            <a:r>
              <a:rPr lang="pt-BR" sz="2400" dirty="0" smtClean="0"/>
              <a:t>sistema </a:t>
            </a:r>
            <a:r>
              <a:rPr lang="pt-BR" sz="2400" dirty="0"/>
              <a:t>a longo prazo. Isso é consistente com a terceira lei, que sugere que a evolução de programa é independente das decisões de gerenciamento. Essa lei confirma que grandes equipes de desenvolvimento de software são, em muitos casos, improdutivas, porque os overheads de comunicação dominam o trabalho da equipe. </a:t>
            </a:r>
            <a:endParaRPr lang="pt-BR" sz="2400" dirty="0" smtClean="0"/>
          </a:p>
          <a:p>
            <a:r>
              <a:rPr lang="pt-BR" sz="2400" dirty="0" smtClean="0"/>
              <a:t>5ª lei: preocupa-se </a:t>
            </a:r>
            <a:r>
              <a:rPr lang="pt-BR" sz="2400" dirty="0"/>
              <a:t>com o aumento das mudanças em cada release de sistema. </a:t>
            </a:r>
            <a:r>
              <a:rPr lang="pt-BR" sz="2400" dirty="0" smtClean="0"/>
              <a:t>Adicionar </a:t>
            </a:r>
            <a:r>
              <a:rPr lang="pt-BR" sz="2400" dirty="0"/>
              <a:t>nova funcionalidade a um sistema inevitavelmente introduz novos defeitos. Quanto mais funcionalidade for adicionada em cada versão, mais falhas haverá. Portanto, uma grande adição de funcionalidade em um release de sistema significa </a:t>
            </a:r>
            <a:r>
              <a:rPr lang="pt-BR" sz="2400" dirty="0" smtClean="0"/>
              <a:t>que </a:t>
            </a:r>
            <a:r>
              <a:rPr lang="pt-BR" sz="2400" dirty="0"/>
              <a:t>deverá ser seguido por um release posterior, no qual os defeitos do novo sistema serão corrigidos e uma nova funcionalidade relativamente pequena deverá ser incluída. Essa lei sugere que não deve haver orçamento para grandes incrementos de funcionalidade em cada release sem levar em conta a necessidade de correção de defeitos.</a:t>
            </a:r>
          </a:p>
        </p:txBody>
      </p:sp>
    </p:spTree>
    <p:extLst>
      <p:ext uri="{BB962C8B-B14F-4D97-AF65-F5344CB8AC3E}">
        <p14:creationId xmlns:p14="http://schemas.microsoft.com/office/powerpoint/2010/main" val="211538220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881332" y="0"/>
            <a:ext cx="10515600" cy="1325563"/>
          </a:xfrm>
        </p:spPr>
        <p:txBody>
          <a:bodyPr/>
          <a:lstStyle/>
          <a:p>
            <a:r>
              <a:rPr lang="pt-BR" dirty="0" smtClean="0"/>
              <a:t>Capitulo 9 – Evolução do software –</a:t>
            </a:r>
            <a:r>
              <a:rPr lang="pt-BR" dirty="0"/>
              <a:t>9.2 Dinâmica da evolução de programas </a:t>
            </a:r>
          </a:p>
        </p:txBody>
      </p:sp>
      <p:sp>
        <p:nvSpPr>
          <p:cNvPr id="5" name="Retângulo 4"/>
          <p:cNvSpPr/>
          <p:nvPr/>
        </p:nvSpPr>
        <p:spPr>
          <a:xfrm>
            <a:off x="181156" y="1242204"/>
            <a:ext cx="11904452" cy="4524315"/>
          </a:xfrm>
          <a:prstGeom prst="rect">
            <a:avLst/>
          </a:prstGeom>
        </p:spPr>
        <p:txBody>
          <a:bodyPr wrap="square">
            <a:spAutoFit/>
          </a:bodyPr>
          <a:lstStyle/>
          <a:p>
            <a:r>
              <a:rPr lang="pt-BR" sz="2400" dirty="0"/>
              <a:t>As cinco primeiras leis estavam nas propostas iniciais de Lehman; as leis remanescentes foram adicionadas posteriormente, em outro trabalho. </a:t>
            </a:r>
            <a:endParaRPr lang="pt-BR" sz="2400" dirty="0" smtClean="0"/>
          </a:p>
          <a:p>
            <a:r>
              <a:rPr lang="pt-BR" sz="2400" dirty="0" smtClean="0"/>
              <a:t>6ª e 7ª </a:t>
            </a:r>
            <a:r>
              <a:rPr lang="pt-BR" sz="2400" dirty="0"/>
              <a:t>leis são </a:t>
            </a:r>
            <a:r>
              <a:rPr lang="pt-BR" sz="2400" dirty="0" smtClean="0"/>
              <a:t>semelhantes: </a:t>
            </a:r>
            <a:r>
              <a:rPr lang="pt-BR" sz="2400" dirty="0"/>
              <a:t>os usuários de um software estarão a cada dia mais descontentes com ele, a menos que ele seja mantido e que nova </a:t>
            </a:r>
            <a:r>
              <a:rPr lang="pt-BR" sz="2400" dirty="0" smtClean="0"/>
              <a:t>funcionalidade </a:t>
            </a:r>
            <a:r>
              <a:rPr lang="pt-BR" sz="2400" dirty="0"/>
              <a:t>seja adicionada. </a:t>
            </a:r>
            <a:endParaRPr lang="pt-BR" sz="2400" dirty="0" smtClean="0"/>
          </a:p>
          <a:p>
            <a:r>
              <a:rPr lang="pt-BR" sz="2400" dirty="0" smtClean="0"/>
              <a:t>8ª lei: reflete </a:t>
            </a:r>
            <a:r>
              <a:rPr lang="pt-BR" sz="2400" dirty="0"/>
              <a:t>o mais recente trabalho com processos de feedback, embora ainda não esteja claro como isso pode ser aplicado em desenvolvimento prático de software. </a:t>
            </a:r>
            <a:endParaRPr lang="pt-BR" sz="2400" dirty="0" smtClean="0"/>
          </a:p>
          <a:p>
            <a:r>
              <a:rPr lang="pt-BR" sz="2400" dirty="0" smtClean="0"/>
              <a:t>As </a:t>
            </a:r>
            <a:r>
              <a:rPr lang="pt-BR" sz="2400" dirty="0"/>
              <a:t>observações de Lehman </a:t>
            </a:r>
            <a:r>
              <a:rPr lang="pt-BR" sz="2400" dirty="0" smtClean="0"/>
              <a:t>devem ser </a:t>
            </a:r>
            <a:r>
              <a:rPr lang="pt-BR" sz="2400" dirty="0"/>
              <a:t>levadas em consideração ao se planejar o processo de manutenção. É possível </a:t>
            </a:r>
            <a:r>
              <a:rPr lang="pt-BR" sz="2400" dirty="0" smtClean="0"/>
              <a:t>que </a:t>
            </a:r>
            <a:r>
              <a:rPr lang="pt-BR" sz="2400" dirty="0"/>
              <a:t>considerações comerciais </a:t>
            </a:r>
            <a:r>
              <a:rPr lang="pt-BR" sz="2400" dirty="0" smtClean="0"/>
              <a:t>possam </a:t>
            </a:r>
            <a:r>
              <a:rPr lang="pt-BR" sz="2400" dirty="0"/>
              <a:t>forçar a ignorá-las. </a:t>
            </a:r>
            <a:endParaRPr lang="pt-BR" sz="2400" dirty="0" smtClean="0"/>
          </a:p>
          <a:p>
            <a:r>
              <a:rPr lang="pt-BR" sz="2400" dirty="0" err="1" smtClean="0"/>
              <a:t>Ex</a:t>
            </a:r>
            <a:r>
              <a:rPr lang="pt-BR" sz="2400" dirty="0" smtClean="0"/>
              <a:t>: </a:t>
            </a:r>
            <a:r>
              <a:rPr lang="pt-BR" sz="2400" dirty="0"/>
              <a:t>por razões de marketing, pode ser necessário fazer várias alterações no sistema principal em um único release. As prováveis consequências disso são a necessidade de um ou mais releases </a:t>
            </a:r>
            <a:r>
              <a:rPr lang="pt-BR" sz="2400" dirty="0" smtClean="0"/>
              <a:t>dedicados </a:t>
            </a:r>
            <a:r>
              <a:rPr lang="pt-BR" sz="2400" dirty="0"/>
              <a:t>à correção de erros. </a:t>
            </a:r>
            <a:r>
              <a:rPr lang="pt-BR" sz="2400" dirty="0" smtClean="0"/>
              <a:t>Em Softwares </a:t>
            </a:r>
            <a:r>
              <a:rPr lang="pt-BR" sz="2400" dirty="0"/>
              <a:t>de computadores pessoais, </a:t>
            </a:r>
            <a:r>
              <a:rPr lang="pt-BR" sz="2400" dirty="0" smtClean="0"/>
              <a:t>um novo </a:t>
            </a:r>
            <a:r>
              <a:rPr lang="pt-BR" sz="2400" dirty="0"/>
              <a:t>release de uma aplicação é seguido rapidamente por uma atualização de correção de bugs.</a:t>
            </a:r>
          </a:p>
        </p:txBody>
      </p:sp>
    </p:spTree>
    <p:extLst>
      <p:ext uri="{BB962C8B-B14F-4D97-AF65-F5344CB8AC3E}">
        <p14:creationId xmlns:p14="http://schemas.microsoft.com/office/powerpoint/2010/main" val="297604212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881332" y="0"/>
            <a:ext cx="10515600" cy="1325563"/>
          </a:xfrm>
        </p:spPr>
        <p:txBody>
          <a:bodyPr/>
          <a:lstStyle/>
          <a:p>
            <a:r>
              <a:rPr lang="pt-BR" dirty="0" smtClean="0"/>
              <a:t>Capitulo 9 – Evolução do software –</a:t>
            </a:r>
            <a:r>
              <a:rPr lang="pt-BR" dirty="0"/>
              <a:t>9.3 Manutenção de software</a:t>
            </a:r>
          </a:p>
        </p:txBody>
      </p:sp>
      <p:sp>
        <p:nvSpPr>
          <p:cNvPr id="5" name="Retângulo 4"/>
          <p:cNvSpPr/>
          <p:nvPr/>
        </p:nvSpPr>
        <p:spPr>
          <a:xfrm>
            <a:off x="181156" y="1242204"/>
            <a:ext cx="11904452" cy="4154984"/>
          </a:xfrm>
          <a:prstGeom prst="rect">
            <a:avLst/>
          </a:prstGeom>
        </p:spPr>
        <p:txBody>
          <a:bodyPr wrap="square">
            <a:spAutoFit/>
          </a:bodyPr>
          <a:lstStyle/>
          <a:p>
            <a:r>
              <a:rPr lang="pt-BR" sz="2400" dirty="0"/>
              <a:t>P</a:t>
            </a:r>
            <a:r>
              <a:rPr lang="pt-BR" sz="2400" dirty="0" smtClean="0"/>
              <a:t>rocesso </a:t>
            </a:r>
            <a:r>
              <a:rPr lang="pt-BR" sz="2400" dirty="0"/>
              <a:t>geral de mudança em um sistema depois que ele é liberado para uso. </a:t>
            </a:r>
            <a:endParaRPr lang="pt-BR" sz="2400" dirty="0" smtClean="0"/>
          </a:p>
          <a:p>
            <a:endParaRPr lang="pt-BR" sz="2400" dirty="0" smtClean="0"/>
          </a:p>
          <a:p>
            <a:r>
              <a:rPr lang="pt-BR" sz="2400" dirty="0" smtClean="0"/>
              <a:t>O </a:t>
            </a:r>
            <a:r>
              <a:rPr lang="pt-BR" sz="2400" dirty="0"/>
              <a:t>termo geralmente se aplica ao software customizado em que grupos de desenvolvimento separados estão </a:t>
            </a:r>
            <a:r>
              <a:rPr lang="pt-BR" sz="2400" dirty="0" smtClean="0"/>
              <a:t>envolvidos </a:t>
            </a:r>
            <a:r>
              <a:rPr lang="pt-BR" sz="2400" dirty="0"/>
              <a:t>antes e depois da liberação. </a:t>
            </a:r>
            <a:endParaRPr lang="pt-BR" sz="2400" dirty="0" smtClean="0"/>
          </a:p>
          <a:p>
            <a:endParaRPr lang="pt-BR" sz="2400" dirty="0" smtClean="0"/>
          </a:p>
          <a:p>
            <a:r>
              <a:rPr lang="pt-BR" sz="2400" dirty="0" smtClean="0"/>
              <a:t>As </a:t>
            </a:r>
            <a:r>
              <a:rPr lang="pt-BR" sz="2400" dirty="0"/>
              <a:t>alterações feitas no software podem ser simples mudanças para correção de erros de codificação, até mudanças mais extensas para correção de erros de projeto, ou melhorias significativas para corrigir erros de especificação ou acomodar novos requisitos. </a:t>
            </a:r>
            <a:endParaRPr lang="pt-BR" sz="2400" dirty="0" smtClean="0"/>
          </a:p>
          <a:p>
            <a:endParaRPr lang="pt-BR" sz="2400" dirty="0" smtClean="0"/>
          </a:p>
          <a:p>
            <a:r>
              <a:rPr lang="pt-BR" sz="2400" dirty="0" smtClean="0"/>
              <a:t>As </a:t>
            </a:r>
            <a:r>
              <a:rPr lang="pt-BR" sz="2400" dirty="0"/>
              <a:t>mudanças são </a:t>
            </a:r>
            <a:r>
              <a:rPr lang="pt-BR" sz="2400" dirty="0" smtClean="0"/>
              <a:t>implementadas: </a:t>
            </a:r>
            <a:r>
              <a:rPr lang="pt-BR" sz="2400" dirty="0"/>
              <a:t>modificação de componentes do sistema existente </a:t>
            </a:r>
            <a:r>
              <a:rPr lang="pt-BR" sz="2400" dirty="0" smtClean="0"/>
              <a:t>e adição </a:t>
            </a:r>
            <a:r>
              <a:rPr lang="pt-BR" sz="2400" dirty="0"/>
              <a:t>de novos </a:t>
            </a:r>
            <a:r>
              <a:rPr lang="pt-BR" sz="2400" dirty="0" smtClean="0"/>
              <a:t>componentes</a:t>
            </a:r>
            <a:r>
              <a:rPr lang="pt-BR" sz="2400" dirty="0"/>
              <a:t>. </a:t>
            </a:r>
          </a:p>
        </p:txBody>
      </p:sp>
    </p:spTree>
    <p:extLst>
      <p:ext uri="{BB962C8B-B14F-4D97-AF65-F5344CB8AC3E}">
        <p14:creationId xmlns:p14="http://schemas.microsoft.com/office/powerpoint/2010/main" val="9036458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881332" y="0"/>
            <a:ext cx="10515600" cy="1325563"/>
          </a:xfrm>
        </p:spPr>
        <p:txBody>
          <a:bodyPr/>
          <a:lstStyle/>
          <a:p>
            <a:r>
              <a:rPr lang="pt-BR" dirty="0" smtClean="0"/>
              <a:t>Capitulo 9 – Evolução do software –</a:t>
            </a:r>
            <a:r>
              <a:rPr lang="pt-BR" dirty="0"/>
              <a:t>9.3 Manutenção de software</a:t>
            </a:r>
          </a:p>
        </p:txBody>
      </p:sp>
      <p:sp>
        <p:nvSpPr>
          <p:cNvPr id="5" name="Retângulo 4"/>
          <p:cNvSpPr/>
          <p:nvPr/>
        </p:nvSpPr>
        <p:spPr>
          <a:xfrm>
            <a:off x="181156" y="1242204"/>
            <a:ext cx="11904452" cy="4893647"/>
          </a:xfrm>
          <a:prstGeom prst="rect">
            <a:avLst/>
          </a:prstGeom>
        </p:spPr>
        <p:txBody>
          <a:bodyPr wrap="square">
            <a:spAutoFit/>
          </a:bodyPr>
          <a:lstStyle/>
          <a:p>
            <a:r>
              <a:rPr lang="pt-BR" sz="2400" dirty="0"/>
              <a:t>Existem três diferentes tipos de manutenção de software: </a:t>
            </a:r>
            <a:endParaRPr lang="pt-BR" sz="2400" dirty="0" smtClean="0"/>
          </a:p>
          <a:p>
            <a:r>
              <a:rPr lang="pt-BR" sz="2400" dirty="0" smtClean="0"/>
              <a:t>1.Correção </a:t>
            </a:r>
            <a:r>
              <a:rPr lang="pt-BR" sz="2400" dirty="0"/>
              <a:t>de </a:t>
            </a:r>
            <a:r>
              <a:rPr lang="pt-BR" sz="2400" dirty="0" smtClean="0"/>
              <a:t>defeitos: </a:t>
            </a:r>
            <a:r>
              <a:rPr lang="pt-BR" sz="2400" dirty="0"/>
              <a:t>Erros de codificação são relativamente baratos para serem corrigidos; erros de projeto são mais caros, pois podem implicar reescrever vários componentes de programa. Erros de requisitos são os mais caros para se corrigir devido ao extenso </a:t>
            </a:r>
            <a:r>
              <a:rPr lang="pt-BR" sz="2400" dirty="0" err="1"/>
              <a:t>reprojeto</a:t>
            </a:r>
            <a:r>
              <a:rPr lang="pt-BR" sz="2400" dirty="0"/>
              <a:t> de sistema que pode ser necessário</a:t>
            </a:r>
            <a:r>
              <a:rPr lang="pt-BR" sz="2400" dirty="0" smtClean="0"/>
              <a:t>.</a:t>
            </a:r>
          </a:p>
          <a:p>
            <a:endParaRPr lang="pt-BR" sz="2400" dirty="0" smtClean="0"/>
          </a:p>
          <a:p>
            <a:r>
              <a:rPr lang="pt-BR" sz="2400" dirty="0" smtClean="0"/>
              <a:t>2</a:t>
            </a:r>
            <a:r>
              <a:rPr lang="pt-BR" sz="2400" dirty="0"/>
              <a:t>. Adaptação </a:t>
            </a:r>
            <a:r>
              <a:rPr lang="pt-BR" sz="2400" dirty="0" smtClean="0"/>
              <a:t>ambiental: algum </a:t>
            </a:r>
            <a:r>
              <a:rPr lang="pt-BR" sz="2400" dirty="0"/>
              <a:t>aspecto do ambiente do sistema, como o hardware, a plataforma do sistema operacional ou outro software de apoio sofre uma mudança. O sistema de aplicação deve ser modificado para se adaptar a essas mudanças de ambiente. </a:t>
            </a:r>
            <a:endParaRPr lang="pt-BR" sz="2400" dirty="0" smtClean="0"/>
          </a:p>
          <a:p>
            <a:endParaRPr lang="pt-BR" sz="2400" dirty="0" smtClean="0"/>
          </a:p>
          <a:p>
            <a:r>
              <a:rPr lang="pt-BR" sz="2400" dirty="0" smtClean="0"/>
              <a:t>3</a:t>
            </a:r>
            <a:r>
              <a:rPr lang="pt-BR" sz="2400" dirty="0"/>
              <a:t>. Adição de </a:t>
            </a:r>
            <a:r>
              <a:rPr lang="pt-BR" sz="2400" dirty="0" smtClean="0"/>
              <a:t>funcionalidade: os </a:t>
            </a:r>
            <a:r>
              <a:rPr lang="pt-BR" sz="2400" dirty="0"/>
              <a:t>requisitos de sistema mudam em resposta às mudanças organizacionais ou de negócios. A escala de mudanças necessárias para o software é, frequentemente, muito maior do que para os outros tipos de manutenção</a:t>
            </a:r>
          </a:p>
        </p:txBody>
      </p:sp>
    </p:spTree>
    <p:extLst>
      <p:ext uri="{BB962C8B-B14F-4D97-AF65-F5344CB8AC3E}">
        <p14:creationId xmlns:p14="http://schemas.microsoft.com/office/powerpoint/2010/main" val="290962762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881332" y="0"/>
            <a:ext cx="10515600" cy="1325563"/>
          </a:xfrm>
        </p:spPr>
        <p:txBody>
          <a:bodyPr/>
          <a:lstStyle/>
          <a:p>
            <a:r>
              <a:rPr lang="pt-BR" dirty="0" smtClean="0"/>
              <a:t>Capitulo 9 – Evolução do software –</a:t>
            </a:r>
            <a:r>
              <a:rPr lang="pt-BR" dirty="0"/>
              <a:t>9.3 Manutenção de software</a:t>
            </a:r>
          </a:p>
        </p:txBody>
      </p:sp>
      <p:sp>
        <p:nvSpPr>
          <p:cNvPr id="5" name="Retângulo 4"/>
          <p:cNvSpPr/>
          <p:nvPr/>
        </p:nvSpPr>
        <p:spPr>
          <a:xfrm>
            <a:off x="181156" y="1242204"/>
            <a:ext cx="11904452" cy="5262979"/>
          </a:xfrm>
          <a:prstGeom prst="rect">
            <a:avLst/>
          </a:prstGeom>
        </p:spPr>
        <p:txBody>
          <a:bodyPr wrap="square">
            <a:spAutoFit/>
          </a:bodyPr>
          <a:lstStyle/>
          <a:p>
            <a:r>
              <a:rPr lang="pt-BR" sz="2400" dirty="0"/>
              <a:t>N</a:t>
            </a:r>
            <a:r>
              <a:rPr lang="pt-BR" sz="2400" dirty="0" smtClean="0"/>
              <a:t>ão </a:t>
            </a:r>
            <a:r>
              <a:rPr lang="pt-BR" sz="2400" dirty="0"/>
              <a:t>existe uma distinção clara entre esses tipos de manutenção. </a:t>
            </a:r>
            <a:endParaRPr lang="pt-BR" sz="2400" dirty="0" smtClean="0"/>
          </a:p>
          <a:p>
            <a:r>
              <a:rPr lang="pt-BR" sz="2400" dirty="0" smtClean="0"/>
              <a:t>Ao </a:t>
            </a:r>
            <a:r>
              <a:rPr lang="pt-BR" sz="2400" dirty="0"/>
              <a:t>adaptar o sistema a um novo ambiente, </a:t>
            </a:r>
            <a:r>
              <a:rPr lang="pt-BR" sz="2400" dirty="0" smtClean="0"/>
              <a:t>pode-se </a:t>
            </a:r>
            <a:r>
              <a:rPr lang="pt-BR" sz="2400" dirty="0"/>
              <a:t>adicionar funcionalidade para tirar proveito de novas características do ambiente. </a:t>
            </a:r>
            <a:endParaRPr lang="pt-BR" sz="2400" dirty="0" smtClean="0"/>
          </a:p>
          <a:p>
            <a:r>
              <a:rPr lang="pt-BR" sz="2400" dirty="0" smtClean="0"/>
              <a:t>Os </a:t>
            </a:r>
            <a:r>
              <a:rPr lang="pt-BR" sz="2400" dirty="0"/>
              <a:t>defeitos de software </a:t>
            </a:r>
            <a:r>
              <a:rPr lang="pt-BR" sz="2400" dirty="0" smtClean="0"/>
              <a:t>são </a:t>
            </a:r>
            <a:r>
              <a:rPr lang="pt-BR" sz="2400" dirty="0"/>
              <a:t>expostos porque os usuários usam o sistema de formas inesperadas. </a:t>
            </a:r>
            <a:endParaRPr lang="pt-BR" sz="2400" dirty="0" smtClean="0"/>
          </a:p>
          <a:p>
            <a:r>
              <a:rPr lang="pt-BR" sz="2400" dirty="0" smtClean="0"/>
              <a:t>Outros termos:</a:t>
            </a:r>
          </a:p>
          <a:p>
            <a:r>
              <a:rPr lang="pt-BR" sz="2400" dirty="0" smtClean="0"/>
              <a:t>Mudar </a:t>
            </a:r>
            <a:r>
              <a:rPr lang="pt-BR" sz="2400" dirty="0"/>
              <a:t>o sistema para acomodar sua maneira de trabalhar é a melhor maneira de corrigir tais defeitos. </a:t>
            </a:r>
            <a:endParaRPr lang="pt-BR" sz="2400" dirty="0" smtClean="0"/>
          </a:p>
          <a:p>
            <a:r>
              <a:rPr lang="pt-BR" sz="2400" dirty="0" smtClean="0"/>
              <a:t>Manutenção corretiva: </a:t>
            </a:r>
            <a:r>
              <a:rPr lang="pt-BR" sz="2400" dirty="0"/>
              <a:t>manutenção para corrigir defeitos. </a:t>
            </a:r>
            <a:endParaRPr lang="pt-BR" sz="2400" dirty="0" smtClean="0"/>
          </a:p>
          <a:p>
            <a:r>
              <a:rPr lang="pt-BR" sz="2400" dirty="0" smtClean="0"/>
              <a:t>Manutenção adaptativa: </a:t>
            </a:r>
            <a:r>
              <a:rPr lang="pt-BR" sz="2400" dirty="0"/>
              <a:t>adaptação ao novo </a:t>
            </a:r>
            <a:r>
              <a:rPr lang="pt-BR" sz="2400" dirty="0" smtClean="0"/>
              <a:t>ambiente, adaptação </a:t>
            </a:r>
            <a:r>
              <a:rPr lang="pt-BR" sz="2400" dirty="0" smtClean="0"/>
              <a:t>do </a:t>
            </a:r>
            <a:r>
              <a:rPr lang="pt-BR" sz="2400" dirty="0"/>
              <a:t>software aos novos requisitos</a:t>
            </a:r>
            <a:r>
              <a:rPr lang="pt-BR" sz="2400" dirty="0" smtClean="0"/>
              <a:t>.</a:t>
            </a:r>
          </a:p>
          <a:p>
            <a:r>
              <a:rPr lang="pt-BR" sz="2400" dirty="0" smtClean="0"/>
              <a:t>Manutenção perfectiva: aperfeiçoar </a:t>
            </a:r>
            <a:r>
              <a:rPr lang="pt-BR" sz="2400" dirty="0"/>
              <a:t>o software por meio da implementação de novos requisitos; </a:t>
            </a:r>
            <a:r>
              <a:rPr lang="pt-BR" sz="2400" dirty="0" smtClean="0"/>
              <a:t> </a:t>
            </a:r>
            <a:r>
              <a:rPr lang="pt-BR" sz="2400" dirty="0"/>
              <a:t>manutenção de funcionalidade de sistema para melhorar sua estrutura e seu desempenho</a:t>
            </a:r>
            <a:r>
              <a:rPr lang="pt-BR" sz="2400" dirty="0" smtClean="0"/>
              <a:t>.</a:t>
            </a:r>
            <a:endParaRPr lang="pt-BR" sz="2400" dirty="0"/>
          </a:p>
        </p:txBody>
      </p:sp>
    </p:spTree>
    <p:extLst>
      <p:ext uri="{BB962C8B-B14F-4D97-AF65-F5344CB8AC3E}">
        <p14:creationId xmlns:p14="http://schemas.microsoft.com/office/powerpoint/2010/main" val="149511443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881332" y="0"/>
            <a:ext cx="10515600" cy="1325563"/>
          </a:xfrm>
        </p:spPr>
        <p:txBody>
          <a:bodyPr/>
          <a:lstStyle/>
          <a:p>
            <a:r>
              <a:rPr lang="pt-BR" dirty="0" smtClean="0"/>
              <a:t>Capitulo 9 – Evolução do software –</a:t>
            </a:r>
            <a:r>
              <a:rPr lang="pt-BR" dirty="0"/>
              <a:t>9.3 Manutenção de software</a:t>
            </a:r>
          </a:p>
        </p:txBody>
      </p:sp>
      <p:sp>
        <p:nvSpPr>
          <p:cNvPr id="5" name="Retângulo 4"/>
          <p:cNvSpPr/>
          <p:nvPr/>
        </p:nvSpPr>
        <p:spPr>
          <a:xfrm>
            <a:off x="181156" y="1242204"/>
            <a:ext cx="11904452" cy="3416320"/>
          </a:xfrm>
          <a:prstGeom prst="rect">
            <a:avLst/>
          </a:prstGeom>
        </p:spPr>
        <p:txBody>
          <a:bodyPr wrap="square">
            <a:spAutoFit/>
          </a:bodyPr>
          <a:lstStyle/>
          <a:p>
            <a:r>
              <a:rPr lang="pt-BR" sz="2400" dirty="0" smtClean="0"/>
              <a:t>Estudos </a:t>
            </a:r>
            <a:r>
              <a:rPr lang="pt-BR" sz="2400" dirty="0"/>
              <a:t>de manutenção de </a:t>
            </a:r>
            <a:r>
              <a:rPr lang="pt-BR" sz="2400" dirty="0" smtClean="0"/>
              <a:t>software </a:t>
            </a:r>
            <a:r>
              <a:rPr lang="pt-BR" sz="2400" dirty="0"/>
              <a:t>observaram os relacionamentos entre a manutenção e o desenvolvimento e entre as diferentes atividades de manutenção (KROGSTIE et al., 2005;. LIENTZ e SWANSON, 1980; NOSEK e PALVIA, 1990; SOUSA, 1998). </a:t>
            </a:r>
            <a:endParaRPr lang="pt-BR" sz="2400" dirty="0" smtClean="0"/>
          </a:p>
          <a:p>
            <a:r>
              <a:rPr lang="pt-BR" sz="2400" dirty="0" smtClean="0"/>
              <a:t>As </a:t>
            </a:r>
            <a:r>
              <a:rPr lang="pt-BR" sz="2400" dirty="0"/>
              <a:t>pesquisas em geral concordam que a manutenção de software ocupa uma proporção maior dos </a:t>
            </a:r>
            <a:r>
              <a:rPr lang="pt-BR" sz="2400" dirty="0" smtClean="0"/>
              <a:t>orçamentos </a:t>
            </a:r>
            <a:r>
              <a:rPr lang="pt-BR" sz="2400" dirty="0"/>
              <a:t>de TI que o desenvolvimento (a manutenção detém, aproximadamente, dois terços do orçamento, contra um terço para desenvolvimento). </a:t>
            </a:r>
            <a:endParaRPr lang="pt-BR" sz="2400" dirty="0" smtClean="0"/>
          </a:p>
          <a:p>
            <a:r>
              <a:rPr lang="pt-BR" sz="2400" dirty="0" smtClean="0"/>
              <a:t>Gasta-se </a:t>
            </a:r>
            <a:r>
              <a:rPr lang="pt-BR" sz="2400" dirty="0"/>
              <a:t>mais </a:t>
            </a:r>
            <a:r>
              <a:rPr lang="pt-BR" sz="2400" dirty="0" smtClean="0"/>
              <a:t>no </a:t>
            </a:r>
            <a:r>
              <a:rPr lang="pt-BR" sz="2400" dirty="0"/>
              <a:t>orçamento de manutenção na </a:t>
            </a:r>
            <a:r>
              <a:rPr lang="pt-BR" sz="2400" dirty="0" smtClean="0"/>
              <a:t>implementação </a:t>
            </a:r>
            <a:r>
              <a:rPr lang="pt-BR" sz="2400" dirty="0"/>
              <a:t>de novos requisitos do que na correção de bugs. </a:t>
            </a:r>
            <a:endParaRPr lang="pt-BR" sz="2400" dirty="0" smtClean="0"/>
          </a:p>
          <a:p>
            <a:r>
              <a:rPr lang="pt-BR" sz="2400" dirty="0" smtClean="0"/>
              <a:t>Figura 9.7: </a:t>
            </a:r>
            <a:r>
              <a:rPr lang="pt-BR" sz="2400" dirty="0"/>
              <a:t>distribuição dos custos de manutenção. </a:t>
            </a:r>
            <a:endParaRPr lang="pt-BR" sz="2400" dirty="0" smtClean="0"/>
          </a:p>
        </p:txBody>
      </p:sp>
    </p:spTree>
    <p:extLst>
      <p:ext uri="{BB962C8B-B14F-4D97-AF65-F5344CB8AC3E}">
        <p14:creationId xmlns:p14="http://schemas.microsoft.com/office/powerpoint/2010/main" val="99305005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881332" y="0"/>
            <a:ext cx="10515600" cy="1325563"/>
          </a:xfrm>
        </p:spPr>
        <p:txBody>
          <a:bodyPr/>
          <a:lstStyle/>
          <a:p>
            <a:r>
              <a:rPr lang="pt-BR" dirty="0" smtClean="0"/>
              <a:t>Capitulo 9 – Evolução do software –</a:t>
            </a:r>
            <a:r>
              <a:rPr lang="pt-BR" dirty="0"/>
              <a:t>9.3 Manutenção de software</a:t>
            </a:r>
          </a:p>
        </p:txBody>
      </p:sp>
      <p:sp>
        <p:nvSpPr>
          <p:cNvPr id="5" name="Retângulo 4"/>
          <p:cNvSpPr/>
          <p:nvPr/>
        </p:nvSpPr>
        <p:spPr>
          <a:xfrm>
            <a:off x="181156" y="1242204"/>
            <a:ext cx="11904452" cy="4154984"/>
          </a:xfrm>
          <a:prstGeom prst="rect">
            <a:avLst/>
          </a:prstGeom>
        </p:spPr>
        <p:txBody>
          <a:bodyPr wrap="square">
            <a:spAutoFit/>
          </a:bodyPr>
          <a:lstStyle/>
          <a:p>
            <a:r>
              <a:rPr lang="pt-BR" sz="2400" dirty="0"/>
              <a:t>D</a:t>
            </a:r>
            <a:r>
              <a:rPr lang="pt-BR" sz="2400" dirty="0" smtClean="0"/>
              <a:t>istribuição </a:t>
            </a:r>
            <a:r>
              <a:rPr lang="pt-BR" sz="2400" dirty="0"/>
              <a:t>dos custos de </a:t>
            </a:r>
            <a:r>
              <a:rPr lang="pt-BR" sz="2400" dirty="0" smtClean="0"/>
              <a:t>manutenção:</a:t>
            </a:r>
          </a:p>
          <a:p>
            <a:endParaRPr lang="pt-BR" sz="2400" dirty="0"/>
          </a:p>
          <a:p>
            <a:endParaRPr lang="pt-BR" sz="2400" dirty="0" smtClean="0"/>
          </a:p>
          <a:p>
            <a:r>
              <a:rPr lang="pt-BR" sz="2400" dirty="0" smtClean="0"/>
              <a:t>65 %- adição ou modificação de funcionalidade</a:t>
            </a:r>
          </a:p>
          <a:p>
            <a:r>
              <a:rPr lang="pt-BR" sz="2400" dirty="0" smtClean="0"/>
              <a:t>18% - adaptação ao ambiente</a:t>
            </a:r>
          </a:p>
          <a:p>
            <a:r>
              <a:rPr lang="pt-BR" sz="2400" dirty="0" smtClean="0"/>
              <a:t>17% - Correção de defeitos</a:t>
            </a:r>
          </a:p>
          <a:p>
            <a:r>
              <a:rPr lang="pt-BR" sz="2400" dirty="0" smtClean="0"/>
              <a:t> </a:t>
            </a:r>
            <a:endParaRPr lang="pt-BR" sz="2400" dirty="0"/>
          </a:p>
          <a:p>
            <a:endParaRPr lang="pt-BR" sz="2400" dirty="0" smtClean="0"/>
          </a:p>
          <a:p>
            <a:r>
              <a:rPr lang="pt-BR" sz="2400" dirty="0" smtClean="0"/>
              <a:t>As </a:t>
            </a:r>
            <a:r>
              <a:rPr lang="pt-BR" sz="2400" dirty="0" smtClean="0"/>
              <a:t>porcentagens </a:t>
            </a:r>
            <a:r>
              <a:rPr lang="pt-BR" sz="2400" dirty="0"/>
              <a:t>variam de uma organização para outra, mas, universal mente, a correção de defeitos de sistema não é a atividade de manutenção mais cara. Evoluir o sistema para lidar com novos ambientes e novos ou alterados requisitos consome mais esforço de manutenção.</a:t>
            </a:r>
          </a:p>
        </p:txBody>
      </p:sp>
    </p:spTree>
    <p:extLst>
      <p:ext uri="{BB962C8B-B14F-4D97-AF65-F5344CB8AC3E}">
        <p14:creationId xmlns:p14="http://schemas.microsoft.com/office/powerpoint/2010/main" val="318469235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881332" y="0"/>
            <a:ext cx="10515600" cy="1325563"/>
          </a:xfrm>
        </p:spPr>
        <p:txBody>
          <a:bodyPr/>
          <a:lstStyle/>
          <a:p>
            <a:r>
              <a:rPr lang="pt-BR" dirty="0" smtClean="0"/>
              <a:t>Capitulo 9 – Evolução do software –</a:t>
            </a:r>
            <a:r>
              <a:rPr lang="pt-BR" dirty="0"/>
              <a:t>9.3 Manutenção de software</a:t>
            </a:r>
          </a:p>
        </p:txBody>
      </p:sp>
      <p:sp>
        <p:nvSpPr>
          <p:cNvPr id="5" name="Retângulo 4"/>
          <p:cNvSpPr/>
          <p:nvPr/>
        </p:nvSpPr>
        <p:spPr>
          <a:xfrm>
            <a:off x="0" y="1207698"/>
            <a:ext cx="12085608" cy="5632311"/>
          </a:xfrm>
          <a:prstGeom prst="rect">
            <a:avLst/>
          </a:prstGeom>
        </p:spPr>
        <p:txBody>
          <a:bodyPr wrap="square">
            <a:spAutoFit/>
          </a:bodyPr>
          <a:lstStyle/>
          <a:p>
            <a:r>
              <a:rPr lang="pt-BR" sz="2400" dirty="0"/>
              <a:t>C</a:t>
            </a:r>
            <a:r>
              <a:rPr lang="pt-BR" sz="2400" dirty="0" smtClean="0"/>
              <a:t>ustos de </a:t>
            </a:r>
            <a:r>
              <a:rPr lang="pt-BR" sz="2400" dirty="0"/>
              <a:t>manutenção e desenvolvimento variam </a:t>
            </a:r>
            <a:r>
              <a:rPr lang="pt-BR" sz="2400" dirty="0" smtClean="0"/>
              <a:t>nos domínios </a:t>
            </a:r>
            <a:r>
              <a:rPr lang="pt-BR" sz="2400" dirty="0"/>
              <a:t>de </a:t>
            </a:r>
            <a:r>
              <a:rPr lang="pt-BR" sz="2400" dirty="0" smtClean="0"/>
              <a:t>aplicação. </a:t>
            </a:r>
          </a:p>
          <a:p>
            <a:r>
              <a:rPr lang="pt-BR" sz="2400" dirty="0" smtClean="0"/>
              <a:t>Guimaraes </a:t>
            </a:r>
            <a:r>
              <a:rPr lang="pt-BR" sz="2400" dirty="0"/>
              <a:t>(1983</a:t>
            </a:r>
            <a:r>
              <a:rPr lang="pt-BR" sz="2400" dirty="0" smtClean="0"/>
              <a:t>): </a:t>
            </a:r>
            <a:r>
              <a:rPr lang="pt-BR" sz="2400" dirty="0"/>
              <a:t>custos de manutenção </a:t>
            </a:r>
            <a:r>
              <a:rPr lang="pt-BR" sz="2400" dirty="0" smtClean="0"/>
              <a:t>em </a:t>
            </a:r>
            <a:r>
              <a:rPr lang="pt-BR" sz="2400" dirty="0"/>
              <a:t>sistemas de aplicação de negócio são comparáveis aos custos de desenvolvimento de sistema. S</a:t>
            </a:r>
            <a:r>
              <a:rPr lang="pt-BR" sz="2400" dirty="0" smtClean="0"/>
              <a:t>istemas </a:t>
            </a:r>
            <a:r>
              <a:rPr lang="pt-BR" sz="2400" dirty="0"/>
              <a:t>embutidos de tempo </a:t>
            </a:r>
            <a:r>
              <a:rPr lang="pt-BR" sz="2400" dirty="0" smtClean="0"/>
              <a:t>real: </a:t>
            </a:r>
            <a:r>
              <a:rPr lang="pt-BR" sz="2400" dirty="0"/>
              <a:t>custos de manutenção são até quatro vezes maiores do que os custos de desenvolvimento. </a:t>
            </a:r>
            <a:endParaRPr lang="pt-BR" sz="2400" dirty="0" smtClean="0"/>
          </a:p>
          <a:p>
            <a:r>
              <a:rPr lang="pt-BR" sz="2400" dirty="0" smtClean="0"/>
              <a:t>Alta </a:t>
            </a:r>
            <a:r>
              <a:rPr lang="pt-BR" sz="2400" dirty="0"/>
              <a:t>confiabilidade e os requisitos de desempenho desses sistemas significam que os módulos devem ser fortemente ligados </a:t>
            </a:r>
            <a:r>
              <a:rPr lang="pt-BR" sz="2400" dirty="0" smtClean="0"/>
              <a:t>e </a:t>
            </a:r>
            <a:r>
              <a:rPr lang="pt-BR" sz="2400" dirty="0"/>
              <a:t>difíceis de serem alterados. </a:t>
            </a:r>
            <a:endParaRPr lang="pt-BR" sz="2400" dirty="0" smtClean="0"/>
          </a:p>
          <a:p>
            <a:r>
              <a:rPr lang="pt-BR" sz="2400" dirty="0"/>
              <a:t>E</a:t>
            </a:r>
            <a:r>
              <a:rPr lang="pt-BR" sz="2400" dirty="0" smtClean="0"/>
              <a:t>stimativas tem </a:t>
            </a:r>
            <a:r>
              <a:rPr lang="pt-BR" sz="2400" dirty="0"/>
              <a:t>mais de 25 </a:t>
            </a:r>
            <a:r>
              <a:rPr lang="pt-BR" sz="2400" dirty="0" smtClean="0"/>
              <a:t>anos: </a:t>
            </a:r>
            <a:r>
              <a:rPr lang="pt-BR" sz="2400" dirty="0"/>
              <a:t>improvável que a distribuição de custos para diferentes tipos de sistema tenha mudado significativamente. </a:t>
            </a:r>
            <a:endParaRPr lang="pt-BR" sz="2400" dirty="0" smtClean="0"/>
          </a:p>
          <a:p>
            <a:r>
              <a:rPr lang="pt-BR" sz="2400" dirty="0" smtClean="0"/>
              <a:t>Investe-se em </a:t>
            </a:r>
            <a:r>
              <a:rPr lang="pt-BR" sz="2400" dirty="0"/>
              <a:t>esforços no projeto e implementação de um sistema para redução de custos de mudanças futuras. </a:t>
            </a:r>
            <a:endParaRPr lang="pt-BR" sz="2400" dirty="0" smtClean="0"/>
          </a:p>
          <a:p>
            <a:r>
              <a:rPr lang="pt-BR" sz="2400" dirty="0" smtClean="0"/>
              <a:t>Adicionar </a:t>
            </a:r>
            <a:r>
              <a:rPr lang="pt-BR" sz="2400" dirty="0"/>
              <a:t>uma nova funcionalidade após a liberação é </a:t>
            </a:r>
            <a:r>
              <a:rPr lang="pt-BR" sz="2400" dirty="0" smtClean="0"/>
              <a:t>caro: leva tempo </a:t>
            </a:r>
            <a:r>
              <a:rPr lang="pt-BR" sz="2400" dirty="0"/>
              <a:t>para aprender o sistema e analisar o impacto das alterações propostas. </a:t>
            </a:r>
            <a:endParaRPr lang="pt-BR" sz="2400" dirty="0" smtClean="0"/>
          </a:p>
          <a:p>
            <a:r>
              <a:rPr lang="pt-BR" sz="2400" dirty="0"/>
              <a:t>C</a:t>
            </a:r>
            <a:r>
              <a:rPr lang="pt-BR" sz="2400" dirty="0" smtClean="0"/>
              <a:t>ompreender o software no desenvolvimento: mudança </a:t>
            </a:r>
            <a:r>
              <a:rPr lang="pt-BR" sz="2400" dirty="0"/>
              <a:t>mais </a:t>
            </a:r>
            <a:r>
              <a:rPr lang="pt-BR" sz="2400" dirty="0" smtClean="0"/>
              <a:t>fácil e custos reduzidos. Boas </a:t>
            </a:r>
            <a:r>
              <a:rPr lang="pt-BR" sz="2400" dirty="0"/>
              <a:t>técnicas de engenharia de </a:t>
            </a:r>
            <a:r>
              <a:rPr lang="pt-BR" sz="2400" dirty="0" smtClean="0"/>
              <a:t>software</a:t>
            </a:r>
            <a:r>
              <a:rPr lang="pt-BR" sz="2400" dirty="0"/>
              <a:t> </a:t>
            </a:r>
            <a:r>
              <a:rPr lang="pt-BR" sz="2400" dirty="0" smtClean="0"/>
              <a:t>(descrição precisa, </a:t>
            </a:r>
            <a:r>
              <a:rPr lang="pt-BR" sz="2400" dirty="0"/>
              <a:t>uso de desenvolvimento orientado a objetos e gerenciamento de </a:t>
            </a:r>
            <a:r>
              <a:rPr lang="pt-BR" sz="2400" dirty="0" smtClean="0"/>
              <a:t>configuração) reduzem </a:t>
            </a:r>
            <a:r>
              <a:rPr lang="pt-BR" sz="2400" dirty="0"/>
              <a:t>dos custos de manutenção</a:t>
            </a:r>
          </a:p>
        </p:txBody>
      </p:sp>
    </p:spTree>
    <p:extLst>
      <p:ext uri="{BB962C8B-B14F-4D97-AF65-F5344CB8AC3E}">
        <p14:creationId xmlns:p14="http://schemas.microsoft.com/office/powerpoint/2010/main" val="47867188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881332" y="0"/>
            <a:ext cx="10515600" cy="1325563"/>
          </a:xfrm>
        </p:spPr>
        <p:txBody>
          <a:bodyPr/>
          <a:lstStyle/>
          <a:p>
            <a:r>
              <a:rPr lang="pt-BR" dirty="0" smtClean="0"/>
              <a:t>Capitulo 9 – Evolução do software –</a:t>
            </a:r>
            <a:r>
              <a:rPr lang="pt-BR" dirty="0"/>
              <a:t>9.3 Manutenção de software</a:t>
            </a:r>
          </a:p>
        </p:txBody>
      </p:sp>
      <p:sp>
        <p:nvSpPr>
          <p:cNvPr id="5" name="Retângulo 4"/>
          <p:cNvSpPr/>
          <p:nvPr/>
        </p:nvSpPr>
        <p:spPr>
          <a:xfrm>
            <a:off x="0" y="1207698"/>
            <a:ext cx="12085608" cy="4524315"/>
          </a:xfrm>
          <a:prstGeom prst="rect">
            <a:avLst/>
          </a:prstGeom>
        </p:spPr>
        <p:txBody>
          <a:bodyPr wrap="square">
            <a:spAutoFit/>
          </a:bodyPr>
          <a:lstStyle/>
          <a:p>
            <a:r>
              <a:rPr lang="pt-BR" sz="2400" dirty="0" smtClean="0"/>
              <a:t>Figura 9.8 – </a:t>
            </a:r>
            <a:r>
              <a:rPr lang="pt-BR" sz="2400" dirty="0" err="1" smtClean="0"/>
              <a:t>pag</a:t>
            </a:r>
            <a:r>
              <a:rPr lang="pt-BR" sz="2400" dirty="0" smtClean="0"/>
              <a:t> 181: maiores </a:t>
            </a:r>
            <a:r>
              <a:rPr lang="pt-BR" sz="2400" dirty="0"/>
              <a:t>esforços durante o desenvolvimento do sistema para </a:t>
            </a:r>
            <a:r>
              <a:rPr lang="pt-BR" sz="2400" dirty="0" smtClean="0"/>
              <a:t>produção de sistemas manuteníveis reduzem </a:t>
            </a:r>
            <a:r>
              <a:rPr lang="pt-BR" sz="2400" dirty="0"/>
              <a:t>os custos gerais durante a vida útil do sistema. </a:t>
            </a:r>
            <a:endParaRPr lang="pt-BR" sz="2400" dirty="0" smtClean="0"/>
          </a:p>
          <a:p>
            <a:r>
              <a:rPr lang="pt-BR" sz="2400" dirty="0"/>
              <a:t>C</a:t>
            </a:r>
            <a:r>
              <a:rPr lang="pt-BR" sz="2400" dirty="0" smtClean="0"/>
              <a:t>ustos </a:t>
            </a:r>
            <a:r>
              <a:rPr lang="pt-BR" sz="2400" dirty="0"/>
              <a:t>de compreensão, análise e </a:t>
            </a:r>
            <a:r>
              <a:rPr lang="pt-BR" sz="2400" dirty="0" smtClean="0"/>
              <a:t>testes: efeito </a:t>
            </a:r>
            <a:r>
              <a:rPr lang="pt-BR" sz="2400" dirty="0"/>
              <a:t>multiplicador quando o sistema é desenvolvido para manutenção. </a:t>
            </a:r>
            <a:endParaRPr lang="pt-BR" sz="2400" dirty="0" smtClean="0"/>
          </a:p>
          <a:p>
            <a:r>
              <a:rPr lang="pt-BR" sz="2400" dirty="0" smtClean="0"/>
              <a:t>Caso hipotético - Sistema 1: </a:t>
            </a:r>
            <a:r>
              <a:rPr lang="pt-BR" sz="2400" dirty="0"/>
              <a:t>custo extra de desenvolvimento de 25 mil dólares é investido para tornar o sistema mais </a:t>
            </a:r>
            <a:r>
              <a:rPr lang="pt-BR" sz="2400" dirty="0" smtClean="0"/>
              <a:t>manutenível gera economia </a:t>
            </a:r>
            <a:r>
              <a:rPr lang="pt-BR" sz="2400" dirty="0"/>
              <a:t>de cem mil dólares em custos de manutenção durante a vida útil do </a:t>
            </a:r>
            <a:r>
              <a:rPr lang="pt-BR" sz="2400" dirty="0" smtClean="0"/>
              <a:t>sistema. Aumenta o </a:t>
            </a:r>
            <a:r>
              <a:rPr lang="pt-BR" sz="2400" dirty="0"/>
              <a:t>custo de desenvolvimento resulta na redução dos custos gerais do </a:t>
            </a:r>
            <a:r>
              <a:rPr lang="pt-BR" sz="2400" dirty="0" smtClean="0"/>
              <a:t>sistema. </a:t>
            </a:r>
          </a:p>
          <a:p>
            <a:r>
              <a:rPr lang="pt-BR" sz="2400" dirty="0" smtClean="0"/>
              <a:t>Desenvolvimento </a:t>
            </a:r>
            <a:r>
              <a:rPr lang="pt-BR" sz="2400" dirty="0"/>
              <a:t>de software para torná-lo mais manutenível é </a:t>
            </a:r>
            <a:r>
              <a:rPr lang="pt-BR" sz="2400" dirty="0" smtClean="0"/>
              <a:t>viável </a:t>
            </a:r>
            <a:r>
              <a:rPr lang="pt-BR" sz="2400" dirty="0"/>
              <a:t>quando todos os custos da vida do software são levados em conta. </a:t>
            </a:r>
            <a:endParaRPr lang="pt-BR" sz="2400" dirty="0" smtClean="0"/>
          </a:p>
          <a:p>
            <a:r>
              <a:rPr lang="pt-BR" sz="2400" dirty="0" smtClean="0"/>
              <a:t>Essa </a:t>
            </a:r>
            <a:r>
              <a:rPr lang="pt-BR" sz="2400" dirty="0"/>
              <a:t>é a razão da </a:t>
            </a:r>
            <a:r>
              <a:rPr lang="pt-BR" sz="2400" dirty="0" err="1"/>
              <a:t>refatoração</a:t>
            </a:r>
            <a:r>
              <a:rPr lang="pt-BR" sz="2400" dirty="0"/>
              <a:t> em desenvolvimento </a:t>
            </a:r>
            <a:r>
              <a:rPr lang="pt-BR" sz="2400" dirty="0" smtClean="0"/>
              <a:t>ágil: </a:t>
            </a:r>
            <a:r>
              <a:rPr lang="pt-BR" sz="2400" dirty="0"/>
              <a:t>Sem </a:t>
            </a:r>
            <a:r>
              <a:rPr lang="pt-BR" sz="2400" dirty="0" err="1" smtClean="0"/>
              <a:t>refatoração</a:t>
            </a:r>
            <a:r>
              <a:rPr lang="pt-BR" sz="2400" dirty="0" smtClean="0"/>
              <a:t>, </a:t>
            </a:r>
            <a:r>
              <a:rPr lang="pt-BR" sz="2400" dirty="0"/>
              <a:t>as mudanças no código tornam-se cada vez mais difíceis e caras. </a:t>
            </a:r>
            <a:endParaRPr lang="pt-BR" sz="2400" dirty="0" smtClean="0"/>
          </a:p>
        </p:txBody>
      </p:sp>
    </p:spTree>
    <p:extLst>
      <p:ext uri="{BB962C8B-B14F-4D97-AF65-F5344CB8AC3E}">
        <p14:creationId xmlns:p14="http://schemas.microsoft.com/office/powerpoint/2010/main" val="118542028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881332" y="0"/>
            <a:ext cx="10515600" cy="1325563"/>
          </a:xfrm>
        </p:spPr>
        <p:txBody>
          <a:bodyPr/>
          <a:lstStyle/>
          <a:p>
            <a:r>
              <a:rPr lang="pt-BR" dirty="0" smtClean="0"/>
              <a:t>Capitulo 9 – Evolução do software –</a:t>
            </a:r>
            <a:r>
              <a:rPr lang="pt-BR" dirty="0"/>
              <a:t>9.3 Manutenção de software</a:t>
            </a:r>
          </a:p>
        </p:txBody>
      </p:sp>
      <p:sp>
        <p:nvSpPr>
          <p:cNvPr id="5" name="Retângulo 4"/>
          <p:cNvSpPr/>
          <p:nvPr/>
        </p:nvSpPr>
        <p:spPr>
          <a:xfrm>
            <a:off x="0" y="1207698"/>
            <a:ext cx="12085608" cy="2308324"/>
          </a:xfrm>
          <a:prstGeom prst="rect">
            <a:avLst/>
          </a:prstGeom>
        </p:spPr>
        <p:txBody>
          <a:bodyPr wrap="square">
            <a:spAutoFit/>
          </a:bodyPr>
          <a:lstStyle/>
          <a:p>
            <a:r>
              <a:rPr lang="pt-BR" sz="2400" dirty="0" smtClean="0"/>
              <a:t>Desenvolvimento </a:t>
            </a:r>
            <a:r>
              <a:rPr lang="pt-BR" sz="2400" dirty="0"/>
              <a:t>dirigido a </a:t>
            </a:r>
            <a:r>
              <a:rPr lang="pt-BR" sz="2400" dirty="0" smtClean="0"/>
              <a:t>planos: raramente </a:t>
            </a:r>
            <a:r>
              <a:rPr lang="pt-BR" sz="2400" dirty="0"/>
              <a:t>são feitos investimentos adicionais na melhoria do código durante o desenvolvimento. </a:t>
            </a:r>
            <a:endParaRPr lang="pt-BR" sz="2400" dirty="0" smtClean="0"/>
          </a:p>
          <a:p>
            <a:r>
              <a:rPr lang="pt-BR" sz="2400" dirty="0" smtClean="0"/>
              <a:t>Isso se deve </a:t>
            </a:r>
            <a:r>
              <a:rPr lang="pt-BR" sz="2400" dirty="0"/>
              <a:t>às maneiras como as organizações lidam com seus orçamentos. Investir na manutenção leva a aumentos de custos a curto prazo, que são mensuráveis. </a:t>
            </a:r>
            <a:endParaRPr lang="pt-BR" sz="2400" dirty="0" smtClean="0"/>
          </a:p>
          <a:p>
            <a:r>
              <a:rPr lang="pt-BR" sz="2400" dirty="0" smtClean="0"/>
              <a:t>G</a:t>
            </a:r>
            <a:r>
              <a:rPr lang="pt-BR" sz="2400" dirty="0" smtClean="0"/>
              <a:t>anhos </a:t>
            </a:r>
            <a:r>
              <a:rPr lang="pt-BR" sz="2400" dirty="0"/>
              <a:t>de longo prazo não podem ser medidos, assim como as empresas são relutantes em gastar dinheiro em um retorno futuro incerto.</a:t>
            </a:r>
          </a:p>
        </p:txBody>
      </p:sp>
    </p:spTree>
    <p:extLst>
      <p:ext uri="{BB962C8B-B14F-4D97-AF65-F5344CB8AC3E}">
        <p14:creationId xmlns:p14="http://schemas.microsoft.com/office/powerpoint/2010/main" val="173506940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881332" y="0"/>
            <a:ext cx="10515600" cy="1325563"/>
          </a:xfrm>
        </p:spPr>
        <p:txBody>
          <a:bodyPr/>
          <a:lstStyle/>
          <a:p>
            <a:r>
              <a:rPr lang="pt-BR" dirty="0" smtClean="0"/>
              <a:t>Capitulo 9 – Evolução do software –</a:t>
            </a:r>
            <a:r>
              <a:rPr lang="pt-BR" dirty="0"/>
              <a:t>9.3 Manutenção de software</a:t>
            </a:r>
          </a:p>
        </p:txBody>
      </p:sp>
      <p:sp>
        <p:nvSpPr>
          <p:cNvPr id="5" name="Retângulo 4"/>
          <p:cNvSpPr/>
          <p:nvPr/>
        </p:nvSpPr>
        <p:spPr>
          <a:xfrm>
            <a:off x="0" y="1207698"/>
            <a:ext cx="12085608" cy="4893647"/>
          </a:xfrm>
          <a:prstGeom prst="rect">
            <a:avLst/>
          </a:prstGeom>
        </p:spPr>
        <p:txBody>
          <a:bodyPr wrap="square">
            <a:spAutoFit/>
          </a:bodyPr>
          <a:lstStyle/>
          <a:p>
            <a:r>
              <a:rPr lang="pt-BR" sz="2400" dirty="0"/>
              <a:t>M</a:t>
            </a:r>
            <a:r>
              <a:rPr lang="pt-BR" sz="2400" dirty="0" smtClean="0"/>
              <a:t>ais </a:t>
            </a:r>
            <a:r>
              <a:rPr lang="pt-BR" sz="2400" dirty="0"/>
              <a:t>caro adicionar funcionalidade depois que um sistema está em operação do que </a:t>
            </a:r>
            <a:r>
              <a:rPr lang="pt-BR" sz="2400" dirty="0" smtClean="0"/>
              <a:t>implementa-la durante </a:t>
            </a:r>
            <a:r>
              <a:rPr lang="pt-BR" sz="2400" dirty="0"/>
              <a:t>o </a:t>
            </a:r>
            <a:r>
              <a:rPr lang="pt-BR" sz="2400" dirty="0" smtClean="0"/>
              <a:t>desenvolvimento:</a:t>
            </a:r>
          </a:p>
          <a:p>
            <a:pPr marL="457200" indent="-457200">
              <a:buAutoNum type="arabicPeriod"/>
            </a:pPr>
            <a:r>
              <a:rPr lang="pt-BR" sz="2400" dirty="0" smtClean="0"/>
              <a:t>Estabilidade </a:t>
            </a:r>
            <a:r>
              <a:rPr lang="pt-BR" sz="2400" dirty="0"/>
              <a:t>da </a:t>
            </a:r>
            <a:r>
              <a:rPr lang="pt-BR" sz="2400" dirty="0" smtClean="0"/>
              <a:t>equipe: com o sistema liberado</a:t>
            </a:r>
            <a:r>
              <a:rPr lang="pt-BR" sz="2400" dirty="0"/>
              <a:t>, é normal que a equipe de desenvolvimento seja desmobilizada e as pessoas sejam remanejadas para novos projetos. A nova equipe ou as pessoas responsáveis pela manutenção do sistema não entendem o sistema ou não entendem a estrutura para tomar as decisões de projeto. Antes de implementar alterações é preciso investir tempo em compreender o sistema existente. </a:t>
            </a:r>
            <a:endParaRPr lang="pt-BR" sz="2400" dirty="0" smtClean="0"/>
          </a:p>
          <a:p>
            <a:pPr marL="457200" indent="-457200">
              <a:buAutoNum type="arabicPeriod"/>
            </a:pPr>
            <a:r>
              <a:rPr lang="pt-BR" sz="2400" dirty="0" smtClean="0"/>
              <a:t>Más </a:t>
            </a:r>
            <a:r>
              <a:rPr lang="pt-BR" sz="2400" dirty="0"/>
              <a:t>práticas de </a:t>
            </a:r>
            <a:r>
              <a:rPr lang="pt-BR" sz="2400" dirty="0" smtClean="0"/>
              <a:t>desenvolvimento: </a:t>
            </a:r>
            <a:r>
              <a:rPr lang="pt-BR" sz="2400" dirty="0"/>
              <a:t>O contrato para a manutenção de um sistema é </a:t>
            </a:r>
            <a:r>
              <a:rPr lang="pt-BR" sz="2400" dirty="0" smtClean="0"/>
              <a:t>separado </a:t>
            </a:r>
            <a:r>
              <a:rPr lang="pt-BR" sz="2400" dirty="0"/>
              <a:t>do contrato de desenvolvimento do sistema. </a:t>
            </a:r>
            <a:r>
              <a:rPr lang="pt-BR" sz="2400" dirty="0" smtClean="0"/>
              <a:t>Pode </a:t>
            </a:r>
            <a:r>
              <a:rPr lang="pt-BR" sz="2400" dirty="0"/>
              <a:t>ser dado a uma empresa </a:t>
            </a:r>
            <a:r>
              <a:rPr lang="pt-BR" sz="2400" dirty="0" smtClean="0"/>
              <a:t>diferente. </a:t>
            </a:r>
            <a:r>
              <a:rPr lang="pt-BR" sz="2400" dirty="0" smtClean="0"/>
              <a:t>A </a:t>
            </a:r>
            <a:r>
              <a:rPr lang="pt-BR" sz="2400" dirty="0"/>
              <a:t>falta de estabilidade da equipe, significa que não há incentivo para a equipe de desenvolvimento escrever um software manutenível. Se uma equipe de desenvolvimento pode cortar custos para poupar esforço durante o desenvolvimento, vale a pena fazê-lo, mesmo que isso signifique que o software será mais difícil de mudar no futuro. </a:t>
            </a:r>
          </a:p>
        </p:txBody>
      </p:sp>
    </p:spTree>
    <p:extLst>
      <p:ext uri="{BB962C8B-B14F-4D97-AF65-F5344CB8AC3E}">
        <p14:creationId xmlns:p14="http://schemas.microsoft.com/office/powerpoint/2010/main" val="328721804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881332" y="0"/>
            <a:ext cx="10515600" cy="1325563"/>
          </a:xfrm>
        </p:spPr>
        <p:txBody>
          <a:bodyPr/>
          <a:lstStyle/>
          <a:p>
            <a:r>
              <a:rPr lang="pt-BR" dirty="0" smtClean="0"/>
              <a:t>Capitulo 9 – Evolução do software –</a:t>
            </a:r>
            <a:r>
              <a:rPr lang="pt-BR" dirty="0"/>
              <a:t>9.3 Manutenção de software</a:t>
            </a:r>
          </a:p>
        </p:txBody>
      </p:sp>
      <p:sp>
        <p:nvSpPr>
          <p:cNvPr id="5" name="Retângulo 4"/>
          <p:cNvSpPr/>
          <p:nvPr/>
        </p:nvSpPr>
        <p:spPr>
          <a:xfrm>
            <a:off x="0" y="1207698"/>
            <a:ext cx="12085608" cy="5632311"/>
          </a:xfrm>
          <a:prstGeom prst="rect">
            <a:avLst/>
          </a:prstGeom>
        </p:spPr>
        <p:txBody>
          <a:bodyPr wrap="square">
            <a:spAutoFit/>
          </a:bodyPr>
          <a:lstStyle/>
          <a:p>
            <a:r>
              <a:rPr lang="pt-BR" sz="2400" dirty="0"/>
              <a:t>M</a:t>
            </a:r>
            <a:r>
              <a:rPr lang="pt-BR" sz="2400" dirty="0" smtClean="0"/>
              <a:t>ais </a:t>
            </a:r>
            <a:r>
              <a:rPr lang="pt-BR" sz="2400" dirty="0"/>
              <a:t>caro adicionar funcionalidade </a:t>
            </a:r>
            <a:r>
              <a:rPr lang="pt-BR" sz="2400" dirty="0" smtClean="0"/>
              <a:t>em sistema </a:t>
            </a:r>
            <a:r>
              <a:rPr lang="pt-BR" sz="2400" dirty="0"/>
              <a:t>em operação do que </a:t>
            </a:r>
            <a:r>
              <a:rPr lang="pt-BR" sz="2400" dirty="0" smtClean="0"/>
              <a:t>implementa-la durante </a:t>
            </a:r>
            <a:r>
              <a:rPr lang="pt-BR" sz="2400" dirty="0"/>
              <a:t>o </a:t>
            </a:r>
            <a:r>
              <a:rPr lang="pt-BR" sz="2400" dirty="0" smtClean="0"/>
              <a:t>desenvolvimento:</a:t>
            </a:r>
          </a:p>
          <a:p>
            <a:r>
              <a:rPr lang="pt-BR" sz="2400" dirty="0"/>
              <a:t>3. Qualificações de </a:t>
            </a:r>
            <a:r>
              <a:rPr lang="pt-BR" sz="2400" dirty="0" smtClean="0"/>
              <a:t>pessoal: A </a:t>
            </a:r>
            <a:r>
              <a:rPr lang="pt-BR" sz="2400" dirty="0"/>
              <a:t>equipe de manutenção </a:t>
            </a:r>
            <a:r>
              <a:rPr lang="pt-BR" sz="2400" dirty="0" smtClean="0"/>
              <a:t>inexperiente </a:t>
            </a:r>
            <a:r>
              <a:rPr lang="pt-BR" sz="2400" dirty="0"/>
              <a:t>não </a:t>
            </a:r>
            <a:r>
              <a:rPr lang="pt-BR" sz="2400" dirty="0" smtClean="0"/>
              <a:t>é familiarizada </a:t>
            </a:r>
            <a:r>
              <a:rPr lang="pt-BR" sz="2400" dirty="0"/>
              <a:t>com o </a:t>
            </a:r>
            <a:r>
              <a:rPr lang="pt-BR" sz="2400" dirty="0" smtClean="0"/>
              <a:t>domínio </a:t>
            </a:r>
            <a:r>
              <a:rPr lang="pt-BR" sz="2400" dirty="0"/>
              <a:t>de aplicação. M</a:t>
            </a:r>
            <a:r>
              <a:rPr lang="pt-BR" sz="2400" dirty="0" smtClean="0"/>
              <a:t>anutenção é </a:t>
            </a:r>
            <a:r>
              <a:rPr lang="pt-BR" sz="2400" dirty="0"/>
              <a:t>pobre entre os engenheiros de </a:t>
            </a:r>
            <a:r>
              <a:rPr lang="pt-BR" sz="2400" dirty="0" smtClean="0"/>
              <a:t>software, sendo processo </a:t>
            </a:r>
            <a:r>
              <a:rPr lang="pt-BR" sz="2400" dirty="0"/>
              <a:t>menos qualificado do que o desenvolvimento de sistema e é muitas vezes atribuída ao pessoal mais jovem. S</a:t>
            </a:r>
            <a:r>
              <a:rPr lang="pt-BR" sz="2400" dirty="0" smtClean="0"/>
              <a:t>istemas </a:t>
            </a:r>
            <a:r>
              <a:rPr lang="pt-BR" sz="2400" dirty="0"/>
              <a:t>antigos podem ser escritos em linguagens obsoletas de programação. A equipe de manutenção pode não </a:t>
            </a:r>
            <a:r>
              <a:rPr lang="pt-BR" sz="2400" dirty="0" smtClean="0"/>
              <a:t>ter </a:t>
            </a:r>
            <a:r>
              <a:rPr lang="pt-BR" sz="2400" dirty="0"/>
              <a:t>experiência de desenvolvimento nessas linguagens e </a:t>
            </a:r>
            <a:r>
              <a:rPr lang="pt-BR" sz="2400" dirty="0" smtClean="0"/>
              <a:t>precisa </a:t>
            </a:r>
            <a:r>
              <a:rPr lang="pt-BR" sz="2400" dirty="0"/>
              <a:t>aprender </a:t>
            </a:r>
            <a:r>
              <a:rPr lang="pt-BR" sz="2400" dirty="0" smtClean="0"/>
              <a:t>para manter </a:t>
            </a:r>
            <a:r>
              <a:rPr lang="pt-BR" sz="2400" dirty="0"/>
              <a:t>o sistema. </a:t>
            </a:r>
            <a:endParaRPr lang="pt-BR" sz="2400" dirty="0" smtClean="0"/>
          </a:p>
          <a:p>
            <a:r>
              <a:rPr lang="pt-BR" sz="2400" dirty="0" smtClean="0"/>
              <a:t>4</a:t>
            </a:r>
            <a:r>
              <a:rPr lang="pt-BR" sz="2400" dirty="0"/>
              <a:t>. Idade do programa e </a:t>
            </a:r>
            <a:r>
              <a:rPr lang="pt-BR" sz="2400" dirty="0" smtClean="0"/>
              <a:t>estrutura: </a:t>
            </a:r>
            <a:r>
              <a:rPr lang="pt-BR" sz="2400" dirty="0"/>
              <a:t>A</a:t>
            </a:r>
            <a:r>
              <a:rPr lang="pt-BR" sz="2400" dirty="0" smtClean="0"/>
              <a:t>s </a:t>
            </a:r>
            <a:r>
              <a:rPr lang="pt-BR" sz="2400" dirty="0"/>
              <a:t>alterações </a:t>
            </a:r>
            <a:r>
              <a:rPr lang="pt-BR" sz="2400" dirty="0" smtClean="0"/>
              <a:t>degradam o programa</a:t>
            </a:r>
            <a:r>
              <a:rPr lang="pt-BR" sz="2400" dirty="0"/>
              <a:t> </a:t>
            </a:r>
            <a:r>
              <a:rPr lang="pt-BR" sz="2400" dirty="0" smtClean="0"/>
              <a:t>que </a:t>
            </a:r>
            <a:r>
              <a:rPr lang="pt-BR" sz="2400" dirty="0" smtClean="0"/>
              <a:t>envelhece (mais difícil </a:t>
            </a:r>
            <a:r>
              <a:rPr lang="pt-BR" sz="2400" dirty="0"/>
              <a:t>de </a:t>
            </a:r>
            <a:r>
              <a:rPr lang="pt-BR" sz="2400" dirty="0" smtClean="0"/>
              <a:t>entender </a:t>
            </a:r>
            <a:r>
              <a:rPr lang="pt-BR" sz="2400" dirty="0"/>
              <a:t>e </a:t>
            </a:r>
            <a:r>
              <a:rPr lang="pt-BR" sz="2400" dirty="0" smtClean="0"/>
              <a:t>alterar). </a:t>
            </a:r>
            <a:r>
              <a:rPr lang="pt-BR" sz="2400" dirty="0"/>
              <a:t>Alguns sistemas foram desenvolvidos sem técnicas modernas de engenharia de </a:t>
            </a:r>
            <a:r>
              <a:rPr lang="pt-BR" sz="2400" dirty="0" smtClean="0"/>
              <a:t>software, sem boa estruturação </a:t>
            </a:r>
            <a:r>
              <a:rPr lang="pt-BR" sz="2400" dirty="0"/>
              <a:t>e talvez tenham sido otimizados para serem mais eficientes do que inteligíveis. As </a:t>
            </a:r>
            <a:r>
              <a:rPr lang="pt-BR" sz="2400" dirty="0" smtClean="0"/>
              <a:t>documentações </a:t>
            </a:r>
            <a:r>
              <a:rPr lang="pt-BR" sz="2400" dirty="0"/>
              <a:t>podem </a:t>
            </a:r>
            <a:r>
              <a:rPr lang="pt-BR" sz="2400" dirty="0" smtClean="0"/>
              <a:t>ter se </a:t>
            </a:r>
            <a:r>
              <a:rPr lang="pt-BR" sz="2400" dirty="0"/>
              <a:t>perdido ou </a:t>
            </a:r>
            <a:r>
              <a:rPr lang="pt-BR" sz="2400" dirty="0" smtClean="0"/>
              <a:t>serem </a:t>
            </a:r>
            <a:r>
              <a:rPr lang="pt-BR" sz="2400" dirty="0"/>
              <a:t>inconsistentes. S</a:t>
            </a:r>
            <a:r>
              <a:rPr lang="pt-BR" sz="2400" dirty="0" smtClean="0"/>
              <a:t>istemas </a:t>
            </a:r>
            <a:r>
              <a:rPr lang="pt-BR" sz="2400" dirty="0"/>
              <a:t>mais antigos podem não </a:t>
            </a:r>
            <a:r>
              <a:rPr lang="pt-BR" sz="2400" dirty="0" smtClean="0"/>
              <a:t>ter </a:t>
            </a:r>
            <a:r>
              <a:rPr lang="pt-BR" sz="2400" dirty="0"/>
              <a:t>um gerenciamento rigoroso de configuração, </a:t>
            </a:r>
            <a:r>
              <a:rPr lang="pt-BR" sz="2400" dirty="0" smtClean="0"/>
              <a:t>se desperdiçando </a:t>
            </a:r>
            <a:r>
              <a:rPr lang="pt-BR" sz="2400" dirty="0"/>
              <a:t>muito tempo para encontrar as versões certas dos componentes do sistema para a mudança.</a:t>
            </a:r>
          </a:p>
        </p:txBody>
      </p:sp>
    </p:spTree>
    <p:extLst>
      <p:ext uri="{BB962C8B-B14F-4D97-AF65-F5344CB8AC3E}">
        <p14:creationId xmlns:p14="http://schemas.microsoft.com/office/powerpoint/2010/main" val="107690862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0" y="0"/>
            <a:ext cx="12192000" cy="1325563"/>
          </a:xfrm>
        </p:spPr>
        <p:txBody>
          <a:bodyPr>
            <a:normAutofit/>
          </a:bodyPr>
          <a:lstStyle/>
          <a:p>
            <a:r>
              <a:rPr lang="pt-BR" dirty="0" smtClean="0"/>
              <a:t>Capitulo 9 – Evolução do software –</a:t>
            </a:r>
            <a:r>
              <a:rPr lang="pt-BR" dirty="0"/>
              <a:t>9.3 Manutenção de software - 9.3.1 Previsão de manutenção</a:t>
            </a:r>
          </a:p>
        </p:txBody>
      </p:sp>
      <p:sp>
        <p:nvSpPr>
          <p:cNvPr id="5" name="Retângulo 4"/>
          <p:cNvSpPr/>
          <p:nvPr/>
        </p:nvSpPr>
        <p:spPr>
          <a:xfrm>
            <a:off x="0" y="1207698"/>
            <a:ext cx="12085608" cy="4524315"/>
          </a:xfrm>
          <a:prstGeom prst="rect">
            <a:avLst/>
          </a:prstGeom>
        </p:spPr>
        <p:txBody>
          <a:bodyPr wrap="square">
            <a:spAutoFit/>
          </a:bodyPr>
          <a:lstStyle/>
          <a:p>
            <a:r>
              <a:rPr lang="pt-BR" sz="2400" dirty="0"/>
              <a:t>Gerentes odeiam surpresas, especialmente quando resultam em elevados custos inesperados. </a:t>
            </a:r>
            <a:r>
              <a:rPr lang="pt-BR" sz="2400" dirty="0" smtClean="0"/>
              <a:t>Deve-se prever quais mudanças podem </a:t>
            </a:r>
            <a:r>
              <a:rPr lang="pt-BR" sz="2400" dirty="0"/>
              <a:t>ser propostas e que </a:t>
            </a:r>
            <a:r>
              <a:rPr lang="pt-BR" sz="2400" dirty="0" smtClean="0"/>
              <a:t>partes são </a:t>
            </a:r>
            <a:r>
              <a:rPr lang="pt-BR" sz="2400" dirty="0"/>
              <a:t>as mais difíceis de serem mantidas. </a:t>
            </a:r>
            <a:endParaRPr lang="pt-BR" sz="2400" dirty="0" smtClean="0"/>
          </a:p>
          <a:p>
            <a:r>
              <a:rPr lang="pt-BR" sz="2400" dirty="0" smtClean="0"/>
              <a:t>Estimam-se </a:t>
            </a:r>
            <a:r>
              <a:rPr lang="pt-BR" sz="2400" dirty="0"/>
              <a:t>os custos globais de manutenção para um sistema em determinado período de tempo. </a:t>
            </a:r>
            <a:endParaRPr lang="pt-BR" sz="2400" dirty="0" smtClean="0"/>
          </a:p>
          <a:p>
            <a:r>
              <a:rPr lang="pt-BR" sz="2400" dirty="0" smtClean="0"/>
              <a:t>A </a:t>
            </a:r>
            <a:r>
              <a:rPr lang="pt-BR" sz="2400" dirty="0"/>
              <a:t>Figura 9.9 </a:t>
            </a:r>
            <a:r>
              <a:rPr lang="pt-BR" sz="2400" dirty="0" smtClean="0"/>
              <a:t>– </a:t>
            </a:r>
            <a:r>
              <a:rPr lang="pt-BR" sz="2400" dirty="0" err="1" smtClean="0"/>
              <a:t>pag</a:t>
            </a:r>
            <a:r>
              <a:rPr lang="pt-BR" sz="2400" dirty="0" smtClean="0"/>
              <a:t> 187: </a:t>
            </a:r>
            <a:r>
              <a:rPr lang="pt-BR" sz="2400" dirty="0"/>
              <a:t>previsões e questões associadas. </a:t>
            </a:r>
            <a:endParaRPr lang="pt-BR" sz="2400" dirty="0" smtClean="0"/>
          </a:p>
          <a:p>
            <a:endParaRPr lang="pt-BR" sz="2400" dirty="0"/>
          </a:p>
          <a:p>
            <a:r>
              <a:rPr lang="pt-BR" sz="2400" dirty="0" smtClean="0"/>
              <a:t>Prever </a:t>
            </a:r>
            <a:r>
              <a:rPr lang="pt-BR" sz="2400" dirty="0"/>
              <a:t>o número de solicitações de mudança para um sistema requer uma compreensão do relacionamento entre o sistema e seu ambiente externo. </a:t>
            </a:r>
            <a:endParaRPr lang="pt-BR" sz="2400" dirty="0" smtClean="0"/>
          </a:p>
          <a:p>
            <a:endParaRPr lang="pt-BR" sz="2400" dirty="0"/>
          </a:p>
          <a:p>
            <a:r>
              <a:rPr lang="pt-BR" sz="2400" dirty="0" smtClean="0"/>
              <a:t>Alguns </a:t>
            </a:r>
            <a:r>
              <a:rPr lang="pt-BR" sz="2400" dirty="0"/>
              <a:t>sistemas possuem um relacionamento muito complexo com seu ambiente externo, e as mudanças nesse ambiente inevitavelmente resultam em alterações. </a:t>
            </a:r>
          </a:p>
        </p:txBody>
      </p:sp>
    </p:spTree>
    <p:extLst>
      <p:ext uri="{BB962C8B-B14F-4D97-AF65-F5344CB8AC3E}">
        <p14:creationId xmlns:p14="http://schemas.microsoft.com/office/powerpoint/2010/main" val="100847443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0" y="0"/>
            <a:ext cx="12192000" cy="1325563"/>
          </a:xfrm>
        </p:spPr>
        <p:txBody>
          <a:bodyPr>
            <a:normAutofit/>
          </a:bodyPr>
          <a:lstStyle/>
          <a:p>
            <a:r>
              <a:rPr lang="pt-BR" dirty="0" smtClean="0"/>
              <a:t>Capitulo 9 – Evolução do software –</a:t>
            </a:r>
            <a:r>
              <a:rPr lang="pt-BR" dirty="0"/>
              <a:t>9.3 Manutenção de software - 9.3.1 Previsão de manutenção</a:t>
            </a:r>
          </a:p>
        </p:txBody>
      </p:sp>
      <p:sp>
        <p:nvSpPr>
          <p:cNvPr id="5" name="Retângulo 4"/>
          <p:cNvSpPr/>
          <p:nvPr/>
        </p:nvSpPr>
        <p:spPr>
          <a:xfrm>
            <a:off x="0" y="1207698"/>
            <a:ext cx="12085608" cy="3785652"/>
          </a:xfrm>
          <a:prstGeom prst="rect">
            <a:avLst/>
          </a:prstGeom>
        </p:spPr>
        <p:txBody>
          <a:bodyPr wrap="square">
            <a:spAutoFit/>
          </a:bodyPr>
          <a:lstStyle/>
          <a:p>
            <a:r>
              <a:rPr lang="pt-BR" sz="2400" dirty="0"/>
              <a:t>A</a:t>
            </a:r>
            <a:r>
              <a:rPr lang="pt-BR" sz="2400" dirty="0" smtClean="0"/>
              <a:t>valiar </a:t>
            </a:r>
            <a:r>
              <a:rPr lang="pt-BR" sz="2400" dirty="0"/>
              <a:t>os </a:t>
            </a:r>
            <a:r>
              <a:rPr lang="pt-BR" sz="2400" dirty="0" smtClean="0"/>
              <a:t>relacionamentos </a:t>
            </a:r>
            <a:r>
              <a:rPr lang="pt-BR" sz="2400" dirty="0"/>
              <a:t>entre um sistema e seu </a:t>
            </a:r>
            <a:r>
              <a:rPr lang="pt-BR" sz="2400" dirty="0" smtClean="0"/>
              <a:t>ambiente:</a:t>
            </a:r>
          </a:p>
          <a:p>
            <a:r>
              <a:rPr lang="pt-BR" sz="2400" dirty="0" smtClean="0"/>
              <a:t> </a:t>
            </a:r>
            <a:r>
              <a:rPr lang="pt-BR" sz="2400" dirty="0"/>
              <a:t>1. O número e a complexidade das interfaces de sistema. Quanto maior o número de interfaces e mais </a:t>
            </a:r>
            <a:r>
              <a:rPr lang="pt-BR" sz="2400" dirty="0" smtClean="0"/>
              <a:t>complexas </a:t>
            </a:r>
            <a:r>
              <a:rPr lang="pt-BR" sz="2400" dirty="0" smtClean="0"/>
              <a:t>forem</a:t>
            </a:r>
            <a:r>
              <a:rPr lang="pt-BR" sz="2400" dirty="0"/>
              <a:t>, maior a probabilidade de serem exigidas as alterações de interface quando novos requisitos forem propostos. </a:t>
            </a:r>
            <a:endParaRPr lang="pt-BR" sz="2400" dirty="0" smtClean="0"/>
          </a:p>
          <a:p>
            <a:r>
              <a:rPr lang="pt-BR" sz="2400" dirty="0" smtClean="0"/>
              <a:t>2</a:t>
            </a:r>
            <a:r>
              <a:rPr lang="pt-BR" sz="2400" dirty="0"/>
              <a:t>. O número de </a:t>
            </a:r>
            <a:r>
              <a:rPr lang="pt-BR" sz="2400" dirty="0" smtClean="0"/>
              <a:t>requisitos </a:t>
            </a:r>
            <a:r>
              <a:rPr lang="pt-BR" sz="2400" dirty="0"/>
              <a:t>voláteis de sistema. </a:t>
            </a:r>
            <a:r>
              <a:rPr lang="pt-BR" sz="2400" dirty="0" smtClean="0"/>
              <a:t>Os </a:t>
            </a:r>
            <a:r>
              <a:rPr lang="pt-BR" sz="2400" dirty="0"/>
              <a:t>requisitos que </a:t>
            </a:r>
            <a:r>
              <a:rPr lang="pt-BR" sz="2400" dirty="0" smtClean="0"/>
              <a:t>refletem </a:t>
            </a:r>
            <a:r>
              <a:rPr lang="pt-BR" sz="2400" dirty="0"/>
              <a:t>as políticas e procedimentos organizacionais são provavelmente mais voláteis do que requisitos baseados em características estáveis de domínio</a:t>
            </a:r>
            <a:r>
              <a:rPr lang="pt-BR" sz="2400" dirty="0" smtClean="0"/>
              <a:t>.</a:t>
            </a:r>
          </a:p>
          <a:p>
            <a:r>
              <a:rPr lang="pt-BR" sz="2400" dirty="0" smtClean="0"/>
              <a:t>3</a:t>
            </a:r>
            <a:r>
              <a:rPr lang="pt-BR" sz="2400" dirty="0"/>
              <a:t>. Os processos de negócio em que o sistema é usado. Como processos de negócios evoluem, eles geram </a:t>
            </a:r>
            <a:r>
              <a:rPr lang="pt-BR" sz="2400" dirty="0" smtClean="0"/>
              <a:t>solicitações </a:t>
            </a:r>
            <a:r>
              <a:rPr lang="pt-BR" sz="2400" dirty="0"/>
              <a:t>de mudança de sistema. Quanto mais processos de negócios usarem um sistema, maior a demanda por mudanças.</a:t>
            </a:r>
          </a:p>
        </p:txBody>
      </p:sp>
    </p:spTree>
    <p:extLst>
      <p:ext uri="{BB962C8B-B14F-4D97-AF65-F5344CB8AC3E}">
        <p14:creationId xmlns:p14="http://schemas.microsoft.com/office/powerpoint/2010/main" val="86594848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0" y="0"/>
            <a:ext cx="12192000" cy="1325563"/>
          </a:xfrm>
        </p:spPr>
        <p:txBody>
          <a:bodyPr>
            <a:normAutofit/>
          </a:bodyPr>
          <a:lstStyle/>
          <a:p>
            <a:r>
              <a:rPr lang="pt-BR" dirty="0" smtClean="0"/>
              <a:t>Capitulo 9 – Evolução do software –</a:t>
            </a:r>
            <a:r>
              <a:rPr lang="pt-BR" dirty="0"/>
              <a:t>9.3 Manutenção de software - 9.3.1 Previsão de manutenção</a:t>
            </a:r>
          </a:p>
        </p:txBody>
      </p:sp>
      <p:sp>
        <p:nvSpPr>
          <p:cNvPr id="5" name="Retângulo 4"/>
          <p:cNvSpPr/>
          <p:nvPr/>
        </p:nvSpPr>
        <p:spPr>
          <a:xfrm>
            <a:off x="0" y="1207698"/>
            <a:ext cx="12085608" cy="3416320"/>
          </a:xfrm>
          <a:prstGeom prst="rect">
            <a:avLst/>
          </a:prstGeom>
        </p:spPr>
        <p:txBody>
          <a:bodyPr wrap="square">
            <a:spAutoFit/>
          </a:bodyPr>
          <a:lstStyle/>
          <a:p>
            <a:r>
              <a:rPr lang="pt-BR" sz="2400" dirty="0" smtClean="0"/>
              <a:t>Quanto </a:t>
            </a:r>
            <a:r>
              <a:rPr lang="pt-BR" sz="2400" dirty="0"/>
              <a:t>mais complexo for um sistema ou componente, mais cara será sua manutenção. </a:t>
            </a:r>
            <a:endParaRPr lang="pt-BR" sz="2400" dirty="0" smtClean="0"/>
          </a:p>
          <a:p>
            <a:endParaRPr lang="pt-BR" sz="2400" dirty="0"/>
          </a:p>
          <a:p>
            <a:r>
              <a:rPr lang="pt-BR" sz="2400" dirty="0" smtClean="0"/>
              <a:t>Medidas </a:t>
            </a:r>
            <a:r>
              <a:rPr lang="pt-BR" sz="2400" dirty="0"/>
              <a:t>de complexidade são </a:t>
            </a:r>
            <a:r>
              <a:rPr lang="pt-BR" sz="2400" dirty="0" smtClean="0"/>
              <a:t>úteis </a:t>
            </a:r>
            <a:r>
              <a:rPr lang="pt-BR" sz="2400" dirty="0"/>
              <a:t>na identificação de componentes de programa suscetíveis a altos custos de manutenção. </a:t>
            </a:r>
            <a:endParaRPr lang="pt-BR" sz="2400" dirty="0" smtClean="0"/>
          </a:p>
          <a:p>
            <a:endParaRPr lang="pt-BR" sz="2400" dirty="0"/>
          </a:p>
          <a:p>
            <a:r>
              <a:rPr lang="pt-BR" sz="2400" dirty="0" err="1" smtClean="0"/>
              <a:t>Kafura</a:t>
            </a:r>
            <a:r>
              <a:rPr lang="pt-BR" sz="2400" dirty="0" smtClean="0"/>
              <a:t> </a:t>
            </a:r>
            <a:r>
              <a:rPr lang="pt-BR" sz="2400" dirty="0"/>
              <a:t>e </a:t>
            </a:r>
            <a:r>
              <a:rPr lang="pt-BR" sz="2400" dirty="0" err="1"/>
              <a:t>Reddy</a:t>
            </a:r>
            <a:r>
              <a:rPr lang="pt-BR" sz="2400" dirty="0"/>
              <a:t> (1987) analisaram um conjunto de componentes de sistema e descobriram que o esforço de manutenção tende a se centrar em um pequeno número de componentes complexos. Para reduzir os custos de </a:t>
            </a:r>
            <a:r>
              <a:rPr lang="pt-BR" sz="2400" dirty="0" smtClean="0"/>
              <a:t>manutenção tenta-se </a:t>
            </a:r>
            <a:r>
              <a:rPr lang="pt-BR" sz="2400" dirty="0"/>
              <a:t>substituir componentes </a:t>
            </a:r>
            <a:r>
              <a:rPr lang="pt-BR" sz="2400" dirty="0" smtClean="0"/>
              <a:t>complexos para </a:t>
            </a:r>
            <a:r>
              <a:rPr lang="pt-BR" sz="2400" dirty="0" smtClean="0"/>
              <a:t>alternativas </a:t>
            </a:r>
            <a:r>
              <a:rPr lang="pt-BR" sz="2400" dirty="0"/>
              <a:t>mais simples. </a:t>
            </a:r>
          </a:p>
        </p:txBody>
      </p:sp>
    </p:spTree>
    <p:extLst>
      <p:ext uri="{BB962C8B-B14F-4D97-AF65-F5344CB8AC3E}">
        <p14:creationId xmlns:p14="http://schemas.microsoft.com/office/powerpoint/2010/main" val="318256704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0" y="0"/>
            <a:ext cx="12192000" cy="1325563"/>
          </a:xfrm>
        </p:spPr>
        <p:txBody>
          <a:bodyPr>
            <a:normAutofit/>
          </a:bodyPr>
          <a:lstStyle/>
          <a:p>
            <a:r>
              <a:rPr lang="pt-BR" dirty="0" smtClean="0"/>
              <a:t>Capitulo 9 – Evolução do software –</a:t>
            </a:r>
            <a:r>
              <a:rPr lang="pt-BR" dirty="0"/>
              <a:t>9.3 Manutenção de software - 9.3.1 Previsão de manutenção</a:t>
            </a:r>
          </a:p>
        </p:txBody>
      </p:sp>
      <p:sp>
        <p:nvSpPr>
          <p:cNvPr id="5" name="Retângulo 4"/>
          <p:cNvSpPr/>
          <p:nvPr/>
        </p:nvSpPr>
        <p:spPr>
          <a:xfrm>
            <a:off x="0" y="1207698"/>
            <a:ext cx="12085608" cy="5262979"/>
          </a:xfrm>
          <a:prstGeom prst="rect">
            <a:avLst/>
          </a:prstGeom>
        </p:spPr>
        <p:txBody>
          <a:bodyPr wrap="square">
            <a:spAutoFit/>
          </a:bodyPr>
          <a:lstStyle/>
          <a:p>
            <a:r>
              <a:rPr lang="pt-BR" sz="2400" dirty="0"/>
              <a:t>D</a:t>
            </a:r>
            <a:r>
              <a:rPr lang="pt-BR" sz="2400" dirty="0" smtClean="0"/>
              <a:t>ados </a:t>
            </a:r>
            <a:r>
              <a:rPr lang="pt-BR" sz="2400" dirty="0"/>
              <a:t>de processo para ajudar a prever a </a:t>
            </a:r>
            <a:r>
              <a:rPr lang="pt-BR" sz="2400" dirty="0" err="1"/>
              <a:t>manutenibilidade</a:t>
            </a:r>
            <a:r>
              <a:rPr lang="pt-BR" sz="2400" dirty="0"/>
              <a:t>. </a:t>
            </a:r>
            <a:r>
              <a:rPr lang="pt-BR" sz="2400" dirty="0" smtClean="0"/>
              <a:t>Métricas:</a:t>
            </a:r>
          </a:p>
          <a:p>
            <a:r>
              <a:rPr lang="pt-BR" sz="2400" dirty="0" smtClean="0"/>
              <a:t>1. Número </a:t>
            </a:r>
            <a:r>
              <a:rPr lang="pt-BR" sz="2400" dirty="0"/>
              <a:t>de solicitações de manutenção </a:t>
            </a:r>
            <a:r>
              <a:rPr lang="pt-BR" sz="2400" dirty="0" smtClean="0"/>
              <a:t>corretiva: aumento </a:t>
            </a:r>
            <a:r>
              <a:rPr lang="pt-BR" sz="2400" dirty="0"/>
              <a:t>no número de relatórios de bugs e falhas pode indicar que mais erros estão sendo introduzidos no programa do que corrigidos n</a:t>
            </a:r>
            <a:r>
              <a:rPr lang="pt-BR" sz="2400" dirty="0" smtClean="0"/>
              <a:t>o </a:t>
            </a:r>
            <a:r>
              <a:rPr lang="pt-BR" sz="2400" dirty="0"/>
              <a:t>processo de </a:t>
            </a:r>
            <a:r>
              <a:rPr lang="pt-BR" sz="2400" dirty="0" smtClean="0"/>
              <a:t>manutenção</a:t>
            </a:r>
            <a:r>
              <a:rPr lang="pt-BR" sz="2400" dirty="0"/>
              <a:t>. Isso pode indicar um declínio na </a:t>
            </a:r>
            <a:r>
              <a:rPr lang="pt-BR" sz="2400" dirty="0" err="1"/>
              <a:t>manutenibilidade</a:t>
            </a:r>
            <a:r>
              <a:rPr lang="pt-BR" sz="2400" dirty="0"/>
              <a:t>. </a:t>
            </a:r>
            <a:endParaRPr lang="pt-BR" sz="2400" dirty="0" smtClean="0"/>
          </a:p>
          <a:p>
            <a:r>
              <a:rPr lang="pt-BR" sz="2400" dirty="0" smtClean="0"/>
              <a:t>2</a:t>
            </a:r>
            <a:r>
              <a:rPr lang="pt-BR" sz="2400" dirty="0"/>
              <a:t>. O tempo </a:t>
            </a:r>
            <a:r>
              <a:rPr lang="pt-BR" sz="2400" dirty="0" smtClean="0"/>
              <a:t>médio </a:t>
            </a:r>
            <a:r>
              <a:rPr lang="pt-BR" sz="2400" dirty="0"/>
              <a:t>para a análise de </a:t>
            </a:r>
            <a:r>
              <a:rPr lang="pt-BR" sz="2400" dirty="0" smtClean="0"/>
              <a:t>impacto: número </a:t>
            </a:r>
            <a:r>
              <a:rPr lang="pt-BR" sz="2400" dirty="0"/>
              <a:t>de componentes de programa que são afetados pela solicitação de mudança. </a:t>
            </a:r>
            <a:r>
              <a:rPr lang="pt-BR" sz="2400" dirty="0" smtClean="0"/>
              <a:t>Se o Tempo </a:t>
            </a:r>
            <a:r>
              <a:rPr lang="pt-BR" sz="2400" dirty="0"/>
              <a:t>aumenta, </a:t>
            </a:r>
            <a:r>
              <a:rPr lang="pt-BR" sz="2400" dirty="0" smtClean="0"/>
              <a:t>cada </a:t>
            </a:r>
            <a:r>
              <a:rPr lang="pt-BR" sz="2400" dirty="0"/>
              <a:t>vez mais </a:t>
            </a:r>
            <a:r>
              <a:rPr lang="pt-BR" sz="2400" dirty="0" smtClean="0"/>
              <a:t>componentes </a:t>
            </a:r>
            <a:r>
              <a:rPr lang="pt-BR" sz="2400" dirty="0"/>
              <a:t>estão sendo afetados e a </a:t>
            </a:r>
            <a:r>
              <a:rPr lang="pt-BR" sz="2400" dirty="0" err="1"/>
              <a:t>manutenibilidade</a:t>
            </a:r>
            <a:r>
              <a:rPr lang="pt-BR" sz="2400" dirty="0"/>
              <a:t> está diminuindo. </a:t>
            </a:r>
            <a:endParaRPr lang="pt-BR" sz="2400" dirty="0" smtClean="0"/>
          </a:p>
          <a:p>
            <a:r>
              <a:rPr lang="pt-BR" sz="2400" dirty="0" smtClean="0"/>
              <a:t>3</a:t>
            </a:r>
            <a:r>
              <a:rPr lang="pt-BR" sz="2400" dirty="0"/>
              <a:t>. O tempo médio gasto para implementar uma solicitação de </a:t>
            </a:r>
            <a:r>
              <a:rPr lang="pt-BR" sz="2400" dirty="0" smtClean="0"/>
              <a:t>mudança </a:t>
            </a:r>
            <a:r>
              <a:rPr lang="pt-BR" sz="2400" dirty="0" smtClean="0"/>
              <a:t>não </a:t>
            </a:r>
            <a:r>
              <a:rPr lang="pt-BR" sz="2400" dirty="0"/>
              <a:t>é o mesmo que o tempo para análise de impacto, embora possam ser correlacionados. É</a:t>
            </a:r>
            <a:r>
              <a:rPr lang="pt-BR" sz="2400" dirty="0" smtClean="0"/>
              <a:t> </a:t>
            </a:r>
            <a:r>
              <a:rPr lang="pt-BR" sz="2400" dirty="0"/>
              <a:t>a quantidade de tempo que </a:t>
            </a:r>
            <a:r>
              <a:rPr lang="pt-BR" sz="2400" dirty="0" smtClean="0"/>
              <a:t>se </a:t>
            </a:r>
            <a:r>
              <a:rPr lang="pt-BR" sz="2400" dirty="0"/>
              <a:t>precisa para modificar o sistema e sua documentação, depois de ter avaliado quais componentes são afetados. Aumento no </a:t>
            </a:r>
            <a:r>
              <a:rPr lang="pt-BR" sz="2400" dirty="0" smtClean="0"/>
              <a:t>tempo </a:t>
            </a:r>
            <a:r>
              <a:rPr lang="pt-BR" sz="2400" dirty="0"/>
              <a:t>para implementar uma mudança pode indicar declínio na </a:t>
            </a:r>
            <a:r>
              <a:rPr lang="pt-BR" sz="2400" dirty="0" err="1"/>
              <a:t>manutenibilidade</a:t>
            </a:r>
            <a:r>
              <a:rPr lang="pt-BR" sz="2400" dirty="0"/>
              <a:t>. </a:t>
            </a:r>
            <a:endParaRPr lang="pt-BR" sz="2400" dirty="0" smtClean="0"/>
          </a:p>
          <a:p>
            <a:r>
              <a:rPr lang="pt-BR" sz="2400" dirty="0" smtClean="0"/>
              <a:t>4</a:t>
            </a:r>
            <a:r>
              <a:rPr lang="pt-BR" sz="2400" dirty="0"/>
              <a:t>. Número de solicitações de mudança </a:t>
            </a:r>
            <a:r>
              <a:rPr lang="pt-BR" sz="2400" dirty="0" smtClean="0"/>
              <a:t>pendentes: Aumento </a:t>
            </a:r>
            <a:r>
              <a:rPr lang="pt-BR" sz="2400" dirty="0"/>
              <a:t>nesse número pode implicar </a:t>
            </a:r>
            <a:r>
              <a:rPr lang="pt-BR" sz="2400" dirty="0" smtClean="0"/>
              <a:t>na </a:t>
            </a:r>
            <a:r>
              <a:rPr lang="pt-BR" sz="2400" dirty="0"/>
              <a:t>diminuição na </a:t>
            </a:r>
            <a:r>
              <a:rPr lang="pt-BR" sz="2400" dirty="0" err="1"/>
              <a:t>manutenibilidade</a:t>
            </a:r>
            <a:r>
              <a:rPr lang="pt-BR" sz="2400" dirty="0"/>
              <a:t>. </a:t>
            </a:r>
          </a:p>
        </p:txBody>
      </p:sp>
    </p:spTree>
    <p:extLst>
      <p:ext uri="{BB962C8B-B14F-4D97-AF65-F5344CB8AC3E}">
        <p14:creationId xmlns:p14="http://schemas.microsoft.com/office/powerpoint/2010/main" val="367906799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0" y="0"/>
            <a:ext cx="12192000" cy="1325563"/>
          </a:xfrm>
        </p:spPr>
        <p:txBody>
          <a:bodyPr>
            <a:normAutofit/>
          </a:bodyPr>
          <a:lstStyle/>
          <a:p>
            <a:r>
              <a:rPr lang="pt-BR" dirty="0" smtClean="0"/>
              <a:t>Capitulo 9 – Evolução do software –</a:t>
            </a:r>
            <a:r>
              <a:rPr lang="pt-BR" dirty="0"/>
              <a:t>9.3 Manutenção de software - 9.3.1 Previsão de manutenção</a:t>
            </a:r>
          </a:p>
        </p:txBody>
      </p:sp>
      <p:sp>
        <p:nvSpPr>
          <p:cNvPr id="5" name="Retângulo 4"/>
          <p:cNvSpPr/>
          <p:nvPr/>
        </p:nvSpPr>
        <p:spPr>
          <a:xfrm>
            <a:off x="0" y="1207698"/>
            <a:ext cx="12085608" cy="2677656"/>
          </a:xfrm>
          <a:prstGeom prst="rect">
            <a:avLst/>
          </a:prstGeom>
        </p:spPr>
        <p:txBody>
          <a:bodyPr wrap="square">
            <a:spAutoFit/>
          </a:bodyPr>
          <a:lstStyle/>
          <a:p>
            <a:r>
              <a:rPr lang="pt-BR" sz="2400" dirty="0" smtClean="0"/>
              <a:t>Usam-se </a:t>
            </a:r>
            <a:r>
              <a:rPr lang="pt-BR" sz="2400" dirty="0"/>
              <a:t>informações previstas sobre mudanças de requisitos e previsões </a:t>
            </a:r>
            <a:r>
              <a:rPr lang="pt-BR" sz="2400" dirty="0" smtClean="0"/>
              <a:t>da </a:t>
            </a:r>
            <a:r>
              <a:rPr lang="pt-BR" sz="2400" dirty="0" err="1"/>
              <a:t>manutenibidade</a:t>
            </a:r>
            <a:r>
              <a:rPr lang="pt-BR" sz="2400" dirty="0"/>
              <a:t> de sistema para prever os custos de manutenção. </a:t>
            </a:r>
            <a:endParaRPr lang="pt-BR" sz="2400" dirty="0" smtClean="0"/>
          </a:p>
          <a:p>
            <a:r>
              <a:rPr lang="pt-BR" sz="2400" dirty="0" smtClean="0"/>
              <a:t>A </a:t>
            </a:r>
            <a:r>
              <a:rPr lang="pt-BR" sz="2400" dirty="0"/>
              <a:t>maioria dos gerentes combina essas informações com a intuição e a experiência para estimar os custos. </a:t>
            </a:r>
            <a:endParaRPr lang="pt-BR" sz="2400" dirty="0" smtClean="0"/>
          </a:p>
          <a:p>
            <a:r>
              <a:rPr lang="pt-BR" sz="2400" dirty="0" smtClean="0"/>
              <a:t>O </a:t>
            </a:r>
            <a:r>
              <a:rPr lang="pt-BR" sz="2400" dirty="0"/>
              <a:t>modelo de estimativa de custos COCOMO 2 (BOEHM et al., 2000</a:t>
            </a:r>
            <a:r>
              <a:rPr lang="pt-BR" sz="2400" dirty="0" smtClean="0"/>
              <a:t>) </a:t>
            </a:r>
            <a:r>
              <a:rPr lang="pt-BR" sz="2400" dirty="0"/>
              <a:t>sugere que uma estimativa para o esforço de manutenção de software pode ser baseada em um esforço para entender o código existente e os esforços para desenvolver o novo código</a:t>
            </a:r>
          </a:p>
        </p:txBody>
      </p:sp>
    </p:spTree>
    <p:extLst>
      <p:ext uri="{BB962C8B-B14F-4D97-AF65-F5344CB8AC3E}">
        <p14:creationId xmlns:p14="http://schemas.microsoft.com/office/powerpoint/2010/main" val="109664544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0" y="0"/>
            <a:ext cx="12192000" cy="1325563"/>
          </a:xfrm>
        </p:spPr>
        <p:txBody>
          <a:bodyPr>
            <a:normAutofit/>
          </a:bodyPr>
          <a:lstStyle/>
          <a:p>
            <a:r>
              <a:rPr lang="pt-BR" dirty="0" smtClean="0"/>
              <a:t>Capitulo 9 – Evolução do software –</a:t>
            </a:r>
            <a:r>
              <a:rPr lang="pt-BR" dirty="0"/>
              <a:t>9.3 Manutenção de software - 9.3.2 Reengenharia de software</a:t>
            </a:r>
          </a:p>
        </p:txBody>
      </p:sp>
      <p:sp>
        <p:nvSpPr>
          <p:cNvPr id="5" name="Retângulo 4"/>
          <p:cNvSpPr/>
          <p:nvPr/>
        </p:nvSpPr>
        <p:spPr>
          <a:xfrm>
            <a:off x="53196" y="1325563"/>
            <a:ext cx="12085608" cy="4893647"/>
          </a:xfrm>
          <a:prstGeom prst="rect">
            <a:avLst/>
          </a:prstGeom>
        </p:spPr>
        <p:txBody>
          <a:bodyPr wrap="square">
            <a:spAutoFit/>
          </a:bodyPr>
          <a:lstStyle/>
          <a:p>
            <a:r>
              <a:rPr lang="pt-BR" sz="2400" dirty="0"/>
              <a:t>P</a:t>
            </a:r>
            <a:r>
              <a:rPr lang="pt-BR" sz="2400" dirty="0" smtClean="0"/>
              <a:t>rocesso </a:t>
            </a:r>
            <a:r>
              <a:rPr lang="pt-BR" sz="2400" dirty="0"/>
              <a:t>de evolução de </a:t>
            </a:r>
            <a:r>
              <a:rPr lang="pt-BR" sz="2400" dirty="0" smtClean="0"/>
              <a:t>sistema: </a:t>
            </a:r>
            <a:r>
              <a:rPr lang="pt-BR" sz="2400" dirty="0"/>
              <a:t>compreensão do programa que tem de ser mudado </a:t>
            </a:r>
            <a:r>
              <a:rPr lang="pt-BR" sz="2400" dirty="0" smtClean="0"/>
              <a:t>e a </a:t>
            </a:r>
            <a:r>
              <a:rPr lang="pt-BR" sz="2400" dirty="0"/>
              <a:t>implementação </a:t>
            </a:r>
            <a:r>
              <a:rPr lang="pt-BR" sz="2400" dirty="0" smtClean="0"/>
              <a:t>de </a:t>
            </a:r>
            <a:r>
              <a:rPr lang="pt-BR" sz="2400" dirty="0"/>
              <a:t>mudanças. </a:t>
            </a:r>
            <a:endParaRPr lang="pt-BR" sz="2400" dirty="0" smtClean="0"/>
          </a:p>
          <a:p>
            <a:r>
              <a:rPr lang="pt-BR" sz="2400" dirty="0" smtClean="0"/>
              <a:t>Sistemas legados </a:t>
            </a:r>
            <a:r>
              <a:rPr lang="pt-BR" sz="2400" dirty="0"/>
              <a:t>mais velhos, são difíceis de serem compreendidos e mudados. Os programas podem ter sido otimizados para o desempenho ou uso de espaço à custa de inteligibilidade, ou, ao longo do tempo, a estrutura inicial do programa pode ter sido danificada por uma série de mudanças. </a:t>
            </a:r>
            <a:endParaRPr lang="pt-BR" sz="2400" dirty="0" smtClean="0"/>
          </a:p>
          <a:p>
            <a:r>
              <a:rPr lang="pt-BR" sz="2400" dirty="0" smtClean="0"/>
              <a:t>Para </a:t>
            </a:r>
            <a:r>
              <a:rPr lang="pt-BR" sz="2400" dirty="0"/>
              <a:t>fazer com que os sistemas legados de software sejam mais fáceis de serem mantidos, é preciso </a:t>
            </a:r>
            <a:r>
              <a:rPr lang="pt-BR" sz="2400" dirty="0" smtClean="0"/>
              <a:t>aplicar reengenharia </a:t>
            </a:r>
            <a:r>
              <a:rPr lang="pt-BR" sz="2400" dirty="0"/>
              <a:t>visando a melhoria de sua estrutura e inteligibilidade. </a:t>
            </a:r>
            <a:endParaRPr lang="pt-BR" sz="2400" dirty="0" smtClean="0"/>
          </a:p>
          <a:p>
            <a:endParaRPr lang="pt-BR" sz="2400" dirty="0"/>
          </a:p>
          <a:p>
            <a:r>
              <a:rPr lang="pt-BR" sz="2400" dirty="0" smtClean="0"/>
              <a:t>A </a:t>
            </a:r>
            <a:r>
              <a:rPr lang="pt-BR" sz="2400" dirty="0"/>
              <a:t>reengenharia pode envolver a redocumentação de sistema, a </a:t>
            </a:r>
            <a:r>
              <a:rPr lang="pt-BR" sz="2400" dirty="0" err="1"/>
              <a:t>refatoração</a:t>
            </a:r>
            <a:r>
              <a:rPr lang="pt-BR" sz="2400" dirty="0"/>
              <a:t> da arquitetura de sistema, a mudança de linguagem de programação para uma linguagem moderna e modificações e atualizações da estrutura e dos </a:t>
            </a:r>
            <a:r>
              <a:rPr lang="pt-BR" sz="2400" dirty="0" smtClean="0"/>
              <a:t>dados. </a:t>
            </a:r>
            <a:r>
              <a:rPr lang="pt-BR" sz="2400" dirty="0"/>
              <a:t>A funcionalidade de software não é alterada, e </a:t>
            </a:r>
            <a:r>
              <a:rPr lang="pt-BR" sz="2400" dirty="0" smtClean="0"/>
              <a:t>deve-se </a:t>
            </a:r>
            <a:r>
              <a:rPr lang="pt-BR" sz="2400" dirty="0"/>
              <a:t>evitar grandes mudanças na arquitetura de sistema.</a:t>
            </a:r>
          </a:p>
        </p:txBody>
      </p:sp>
    </p:spTree>
    <p:extLst>
      <p:ext uri="{BB962C8B-B14F-4D97-AF65-F5344CB8AC3E}">
        <p14:creationId xmlns:p14="http://schemas.microsoft.com/office/powerpoint/2010/main" val="312274116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0" y="0"/>
            <a:ext cx="12192000" cy="1325563"/>
          </a:xfrm>
        </p:spPr>
        <p:txBody>
          <a:bodyPr>
            <a:normAutofit/>
          </a:bodyPr>
          <a:lstStyle/>
          <a:p>
            <a:r>
              <a:rPr lang="pt-BR" dirty="0" smtClean="0"/>
              <a:t>Capitulo 9 – Evolução do software –</a:t>
            </a:r>
            <a:r>
              <a:rPr lang="pt-BR" dirty="0"/>
              <a:t>9.3 Manutenção de software - 9.3.2 Reengenharia de software</a:t>
            </a:r>
          </a:p>
        </p:txBody>
      </p:sp>
      <p:sp>
        <p:nvSpPr>
          <p:cNvPr id="5" name="Retângulo 4"/>
          <p:cNvSpPr/>
          <p:nvPr/>
        </p:nvSpPr>
        <p:spPr>
          <a:xfrm>
            <a:off x="53196" y="1325563"/>
            <a:ext cx="12085608" cy="4524315"/>
          </a:xfrm>
          <a:prstGeom prst="rect">
            <a:avLst/>
          </a:prstGeom>
        </p:spPr>
        <p:txBody>
          <a:bodyPr wrap="square">
            <a:spAutoFit/>
          </a:bodyPr>
          <a:lstStyle/>
          <a:p>
            <a:r>
              <a:rPr lang="pt-BR" sz="2400" dirty="0"/>
              <a:t>Existem dois benefícios importantes na reengenharia, em vez de substituição: </a:t>
            </a:r>
            <a:endParaRPr lang="pt-BR" sz="2400" dirty="0" smtClean="0"/>
          </a:p>
          <a:p>
            <a:endParaRPr lang="pt-BR" sz="2400" dirty="0"/>
          </a:p>
          <a:p>
            <a:r>
              <a:rPr lang="pt-BR" sz="2400" dirty="0" smtClean="0"/>
              <a:t>1. Risco reduzido: </a:t>
            </a:r>
            <a:r>
              <a:rPr lang="pt-BR" sz="2400" dirty="0"/>
              <a:t>Existe um alto risco em desenvolver novamente um software crítico de negócios. Podem ocorrer erros na especificação de sistema ou pode haver problemas de desenvolvimento. Atrasos no início do novo software podem significar a perda do negócio e custos adicionais</a:t>
            </a:r>
            <a:r>
              <a:rPr lang="pt-BR" sz="2400" dirty="0" smtClean="0"/>
              <a:t>.</a:t>
            </a:r>
          </a:p>
          <a:p>
            <a:r>
              <a:rPr lang="pt-BR" sz="2400" dirty="0" smtClean="0"/>
              <a:t>2</a:t>
            </a:r>
            <a:r>
              <a:rPr lang="pt-BR" sz="2400" dirty="0"/>
              <a:t>. Custo </a:t>
            </a:r>
            <a:r>
              <a:rPr lang="pt-BR" sz="2400" dirty="0" smtClean="0"/>
              <a:t>reduzido: pode </a:t>
            </a:r>
            <a:r>
              <a:rPr lang="pt-BR" sz="2400" dirty="0"/>
              <a:t>ser significativamente menor do que o de desenvolvimento de um novo software. </a:t>
            </a:r>
            <a:r>
              <a:rPr lang="pt-BR" sz="2400" dirty="0" err="1"/>
              <a:t>Ulrich</a:t>
            </a:r>
            <a:r>
              <a:rPr lang="pt-BR" sz="2400" dirty="0"/>
              <a:t> (1990) cita um exemplo de um sistema comercial cujos custos de </a:t>
            </a:r>
            <a:r>
              <a:rPr lang="pt-BR" sz="2400" dirty="0" err="1"/>
              <a:t>reimplementação</a:t>
            </a:r>
            <a:r>
              <a:rPr lang="pt-BR" sz="2400" dirty="0"/>
              <a:t> foram estimados em 50 milhões de dólares. O sistema foi reconstruído com sucesso por 12 milhões de dólares. </a:t>
            </a:r>
            <a:endParaRPr lang="pt-BR" sz="2400" dirty="0" smtClean="0"/>
          </a:p>
          <a:p>
            <a:r>
              <a:rPr lang="pt-BR" sz="2400" dirty="0"/>
              <a:t>C</a:t>
            </a:r>
            <a:r>
              <a:rPr lang="pt-BR" sz="2400" dirty="0" smtClean="0"/>
              <a:t>om  </a:t>
            </a:r>
            <a:r>
              <a:rPr lang="pt-BR" sz="2400" dirty="0" smtClean="0"/>
              <a:t>tecnologias </a:t>
            </a:r>
            <a:r>
              <a:rPr lang="pt-BR" sz="2400" dirty="0" smtClean="0"/>
              <a:t>atuais, </a:t>
            </a:r>
            <a:r>
              <a:rPr lang="pt-BR" sz="2400" dirty="0"/>
              <a:t>o custo relativo de </a:t>
            </a:r>
            <a:r>
              <a:rPr lang="pt-BR" sz="2400" dirty="0" err="1"/>
              <a:t>reimplementação</a:t>
            </a:r>
            <a:r>
              <a:rPr lang="pt-BR" sz="2400" dirty="0"/>
              <a:t> é provavelmente inferior a esse, mas ainda consideravelmente superior aos custos da reengenharia.</a:t>
            </a:r>
          </a:p>
        </p:txBody>
      </p:sp>
    </p:spTree>
    <p:extLst>
      <p:ext uri="{BB962C8B-B14F-4D97-AF65-F5344CB8AC3E}">
        <p14:creationId xmlns:p14="http://schemas.microsoft.com/office/powerpoint/2010/main" val="249256118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0" y="0"/>
            <a:ext cx="12192000" cy="1325563"/>
          </a:xfrm>
        </p:spPr>
        <p:txBody>
          <a:bodyPr>
            <a:normAutofit/>
          </a:bodyPr>
          <a:lstStyle/>
          <a:p>
            <a:r>
              <a:rPr lang="pt-BR" dirty="0" smtClean="0"/>
              <a:t>Capitulo 9 – Evolução do software –</a:t>
            </a:r>
            <a:r>
              <a:rPr lang="pt-BR" dirty="0"/>
              <a:t>9.3 Manutenção de software - 9.3.2 Reengenharia de software</a:t>
            </a:r>
          </a:p>
        </p:txBody>
      </p:sp>
      <p:sp>
        <p:nvSpPr>
          <p:cNvPr id="5" name="Retângulo 4"/>
          <p:cNvSpPr/>
          <p:nvPr/>
        </p:nvSpPr>
        <p:spPr>
          <a:xfrm>
            <a:off x="53196" y="1325563"/>
            <a:ext cx="12085608" cy="461665"/>
          </a:xfrm>
          <a:prstGeom prst="rect">
            <a:avLst/>
          </a:prstGeom>
        </p:spPr>
        <p:txBody>
          <a:bodyPr wrap="square">
            <a:spAutoFit/>
          </a:bodyPr>
          <a:lstStyle/>
          <a:p>
            <a:r>
              <a:rPr lang="pt-BR" sz="2400" dirty="0"/>
              <a:t>A Figura 9.10 </a:t>
            </a:r>
          </a:p>
        </p:txBody>
      </p:sp>
      <p:pic>
        <p:nvPicPr>
          <p:cNvPr id="3" name="Imagem 2"/>
          <p:cNvPicPr>
            <a:picLocks noChangeAspect="1"/>
          </p:cNvPicPr>
          <p:nvPr/>
        </p:nvPicPr>
        <p:blipFill>
          <a:blip r:embed="rId2"/>
          <a:stretch>
            <a:fillRect/>
          </a:stretch>
        </p:blipFill>
        <p:spPr>
          <a:xfrm>
            <a:off x="2679236" y="1259905"/>
            <a:ext cx="7869971" cy="5908646"/>
          </a:xfrm>
          <a:prstGeom prst="rect">
            <a:avLst/>
          </a:prstGeom>
        </p:spPr>
      </p:pic>
      <p:sp>
        <p:nvSpPr>
          <p:cNvPr id="4" name="CaixaDeTexto 3"/>
          <p:cNvSpPr txBox="1"/>
          <p:nvPr/>
        </p:nvSpPr>
        <p:spPr>
          <a:xfrm>
            <a:off x="301925" y="2406770"/>
            <a:ext cx="2377311" cy="3139321"/>
          </a:xfrm>
          <a:prstGeom prst="rect">
            <a:avLst/>
          </a:prstGeom>
          <a:noFill/>
        </p:spPr>
        <p:txBody>
          <a:bodyPr wrap="square" rtlCol="0">
            <a:spAutoFit/>
          </a:bodyPr>
          <a:lstStyle/>
          <a:p>
            <a:r>
              <a:rPr lang="pt-BR" dirty="0"/>
              <a:t>Figura 9.10: modelo geral de processo de reengenharia. A entrada para o processo é um programa legado, e a saída, uma versão melhorada e reestruturada do mesmo programa. </a:t>
            </a:r>
          </a:p>
          <a:p>
            <a:endParaRPr lang="pt-BR" dirty="0"/>
          </a:p>
        </p:txBody>
      </p:sp>
    </p:spTree>
    <p:extLst>
      <p:ext uri="{BB962C8B-B14F-4D97-AF65-F5344CB8AC3E}">
        <p14:creationId xmlns:p14="http://schemas.microsoft.com/office/powerpoint/2010/main" val="103602750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0" y="0"/>
            <a:ext cx="12192000" cy="1325563"/>
          </a:xfrm>
        </p:spPr>
        <p:txBody>
          <a:bodyPr>
            <a:normAutofit/>
          </a:bodyPr>
          <a:lstStyle/>
          <a:p>
            <a:r>
              <a:rPr lang="pt-BR" dirty="0" smtClean="0"/>
              <a:t>Capitulo 9 – Evolução do software –</a:t>
            </a:r>
            <a:r>
              <a:rPr lang="pt-BR" dirty="0"/>
              <a:t>9.3 Manutenção de software - 9.3.2 Reengenharia de software</a:t>
            </a:r>
          </a:p>
        </p:txBody>
      </p:sp>
      <p:sp>
        <p:nvSpPr>
          <p:cNvPr id="5" name="Retângulo 4"/>
          <p:cNvSpPr/>
          <p:nvPr/>
        </p:nvSpPr>
        <p:spPr>
          <a:xfrm>
            <a:off x="53196" y="1325563"/>
            <a:ext cx="12085608" cy="4524315"/>
          </a:xfrm>
          <a:prstGeom prst="rect">
            <a:avLst/>
          </a:prstGeom>
        </p:spPr>
        <p:txBody>
          <a:bodyPr wrap="square">
            <a:spAutoFit/>
          </a:bodyPr>
          <a:lstStyle/>
          <a:p>
            <a:r>
              <a:rPr lang="pt-BR" sz="2400" dirty="0" smtClean="0"/>
              <a:t>As </a:t>
            </a:r>
            <a:r>
              <a:rPr lang="pt-BR" sz="2400" dirty="0"/>
              <a:t>atividades </a:t>
            </a:r>
            <a:r>
              <a:rPr lang="pt-BR" sz="2400" dirty="0" smtClean="0"/>
              <a:t>do </a:t>
            </a:r>
            <a:r>
              <a:rPr lang="pt-BR" sz="2400" dirty="0"/>
              <a:t>processo de reengenharia são: </a:t>
            </a:r>
            <a:endParaRPr lang="pt-BR" sz="2400" dirty="0" smtClean="0"/>
          </a:p>
          <a:p>
            <a:r>
              <a:rPr lang="pt-BR" sz="2400" dirty="0" smtClean="0"/>
              <a:t>1.Tradução </a:t>
            </a:r>
            <a:r>
              <a:rPr lang="pt-BR" sz="2400" dirty="0"/>
              <a:t>de </a:t>
            </a:r>
            <a:r>
              <a:rPr lang="pt-BR" sz="2400" dirty="0" smtClean="0"/>
              <a:t>código-fonte: Ferramenta </a:t>
            </a:r>
            <a:r>
              <a:rPr lang="pt-BR" sz="2400" dirty="0"/>
              <a:t>de </a:t>
            </a:r>
            <a:r>
              <a:rPr lang="pt-BR" sz="2400" dirty="0" smtClean="0"/>
              <a:t>tradução converte a linguagem </a:t>
            </a:r>
            <a:r>
              <a:rPr lang="pt-BR" sz="2400" dirty="0"/>
              <a:t>de programação antiga para uma versão mais moderna da </a:t>
            </a:r>
            <a:r>
              <a:rPr lang="pt-BR" sz="2400" dirty="0" smtClean="0"/>
              <a:t>mesma ou de outra linguagem. </a:t>
            </a:r>
            <a:endParaRPr lang="pt-BR" sz="2400" dirty="0" smtClean="0"/>
          </a:p>
          <a:p>
            <a:endParaRPr lang="pt-BR" sz="2400" dirty="0" smtClean="0"/>
          </a:p>
          <a:p>
            <a:r>
              <a:rPr lang="pt-BR" sz="2400" dirty="0" smtClean="0"/>
              <a:t>2</a:t>
            </a:r>
            <a:r>
              <a:rPr lang="pt-BR" sz="2400" dirty="0"/>
              <a:t>. Engenharia </a:t>
            </a:r>
            <a:r>
              <a:rPr lang="pt-BR" sz="2400" dirty="0" smtClean="0"/>
              <a:t>reversa: </a:t>
            </a:r>
            <a:r>
              <a:rPr lang="pt-BR" sz="2400" dirty="0"/>
              <a:t>O programa é analisado e as informações são extraídas a partir dele. Isso ajuda a </a:t>
            </a:r>
            <a:r>
              <a:rPr lang="pt-BR" sz="2400" dirty="0" smtClean="0"/>
              <a:t>documentar </a:t>
            </a:r>
            <a:r>
              <a:rPr lang="pt-BR" sz="2400" dirty="0"/>
              <a:t>sua organização e funcionalidade. Esse </a:t>
            </a:r>
            <a:r>
              <a:rPr lang="pt-BR" sz="2400" dirty="0" smtClean="0"/>
              <a:t>processo </a:t>
            </a:r>
            <a:r>
              <a:rPr lang="pt-BR" sz="2400" dirty="0"/>
              <a:t>é completamente automatizado</a:t>
            </a:r>
            <a:r>
              <a:rPr lang="pt-BR" sz="2400" dirty="0" smtClean="0"/>
              <a:t>.</a:t>
            </a:r>
          </a:p>
          <a:p>
            <a:endParaRPr lang="pt-BR" sz="2400" dirty="0" smtClean="0"/>
          </a:p>
          <a:p>
            <a:r>
              <a:rPr lang="pt-BR" sz="2400" dirty="0" smtClean="0"/>
              <a:t>3</a:t>
            </a:r>
            <a:r>
              <a:rPr lang="pt-BR" sz="2400" dirty="0"/>
              <a:t>. Melhoria de estrutura de </a:t>
            </a:r>
            <a:r>
              <a:rPr lang="pt-BR" sz="2400" dirty="0" smtClean="0"/>
              <a:t>programa: </a:t>
            </a:r>
            <a:r>
              <a:rPr lang="pt-BR" sz="2400" dirty="0"/>
              <a:t>A estrutura de controle do programa é analisada e modificada para que se torne mais </a:t>
            </a:r>
            <a:r>
              <a:rPr lang="pt-BR" sz="2400" dirty="0" smtClean="0"/>
              <a:t>fácil ler </a:t>
            </a:r>
            <a:r>
              <a:rPr lang="pt-BR" sz="2400" dirty="0"/>
              <a:t>e entender. P</a:t>
            </a:r>
            <a:r>
              <a:rPr lang="pt-BR" sz="2400" dirty="0" smtClean="0"/>
              <a:t>ode </a:t>
            </a:r>
            <a:r>
              <a:rPr lang="pt-BR" sz="2400" dirty="0"/>
              <a:t>ser parcialmente automatizado, </a:t>
            </a:r>
            <a:r>
              <a:rPr lang="pt-BR" sz="2400" dirty="0" smtClean="0"/>
              <a:t>com intervenção manual.</a:t>
            </a:r>
          </a:p>
          <a:p>
            <a:r>
              <a:rPr lang="pt-BR" sz="2400" dirty="0" smtClean="0"/>
              <a:t>.</a:t>
            </a:r>
            <a:endParaRPr lang="pt-BR" sz="2400" dirty="0"/>
          </a:p>
        </p:txBody>
      </p:sp>
    </p:spTree>
    <p:extLst>
      <p:ext uri="{BB962C8B-B14F-4D97-AF65-F5344CB8AC3E}">
        <p14:creationId xmlns:p14="http://schemas.microsoft.com/office/powerpoint/2010/main" val="75541877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0" y="0"/>
            <a:ext cx="12192000" cy="1325563"/>
          </a:xfrm>
        </p:spPr>
        <p:txBody>
          <a:bodyPr>
            <a:normAutofit/>
          </a:bodyPr>
          <a:lstStyle/>
          <a:p>
            <a:r>
              <a:rPr lang="pt-BR" dirty="0" smtClean="0"/>
              <a:t>Capitulo 9 – Evolução do software –</a:t>
            </a:r>
            <a:r>
              <a:rPr lang="pt-BR" dirty="0"/>
              <a:t>9.3 Manutenção de software - 9.3.2 Reengenharia de software</a:t>
            </a:r>
          </a:p>
        </p:txBody>
      </p:sp>
      <p:sp>
        <p:nvSpPr>
          <p:cNvPr id="5" name="Retângulo 4"/>
          <p:cNvSpPr/>
          <p:nvPr/>
        </p:nvSpPr>
        <p:spPr>
          <a:xfrm>
            <a:off x="53196" y="1325563"/>
            <a:ext cx="12085608" cy="3785652"/>
          </a:xfrm>
          <a:prstGeom prst="rect">
            <a:avLst/>
          </a:prstGeom>
        </p:spPr>
        <p:txBody>
          <a:bodyPr wrap="square">
            <a:spAutoFit/>
          </a:bodyPr>
          <a:lstStyle/>
          <a:p>
            <a:r>
              <a:rPr lang="pt-BR" sz="2400" dirty="0" smtClean="0"/>
              <a:t>As </a:t>
            </a:r>
            <a:r>
              <a:rPr lang="pt-BR" sz="2400" dirty="0"/>
              <a:t>atividades </a:t>
            </a:r>
            <a:r>
              <a:rPr lang="pt-BR" sz="2400" dirty="0" smtClean="0"/>
              <a:t>do </a:t>
            </a:r>
            <a:r>
              <a:rPr lang="pt-BR" sz="2400" dirty="0"/>
              <a:t>processo de reengenharia são: </a:t>
            </a:r>
            <a:endParaRPr lang="pt-BR" sz="2400" dirty="0" smtClean="0"/>
          </a:p>
          <a:p>
            <a:r>
              <a:rPr lang="pt-BR" sz="2400" dirty="0"/>
              <a:t>4. Modularização de programa: Partes relacionadas são agrupadas, e redundância removida. Pode envolver </a:t>
            </a:r>
            <a:r>
              <a:rPr lang="pt-BR" sz="2400" dirty="0" err="1"/>
              <a:t>refatoração</a:t>
            </a:r>
            <a:r>
              <a:rPr lang="pt-BR" sz="2400" dirty="0"/>
              <a:t> de arquitetura (sistema com vários repositórios de dados diferentes pode usar um único repositório). Esse é um processo manual</a:t>
            </a:r>
            <a:r>
              <a:rPr lang="pt-BR" sz="2400" dirty="0" smtClean="0"/>
              <a:t>.</a:t>
            </a:r>
          </a:p>
          <a:p>
            <a:endParaRPr lang="pt-BR" sz="2400" dirty="0"/>
          </a:p>
          <a:p>
            <a:r>
              <a:rPr lang="pt-BR" sz="2400" dirty="0"/>
              <a:t> 5. Reengenharia de dados: Dados processados são alterados para refletir as mudanças. Isso pode significar a redefinição dos esquemas de banco de dados e a conversão do banco de dados existente para a nova estrutura. Normalmente devem-se limpar os dados, o que envolve encontrar e corrigir erros, remover registros duplicados etc. Ferramentas são disponíveis para dar suporte à reengenharia de dados</a:t>
            </a:r>
            <a:r>
              <a:rPr lang="pt-BR" sz="2400" dirty="0" smtClean="0"/>
              <a:t>.</a:t>
            </a:r>
            <a:endParaRPr lang="pt-BR" sz="2400" dirty="0"/>
          </a:p>
        </p:txBody>
      </p:sp>
    </p:spTree>
    <p:extLst>
      <p:ext uri="{BB962C8B-B14F-4D97-AF65-F5344CB8AC3E}">
        <p14:creationId xmlns:p14="http://schemas.microsoft.com/office/powerpoint/2010/main" val="62814970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0" y="0"/>
            <a:ext cx="12192000" cy="1325563"/>
          </a:xfrm>
        </p:spPr>
        <p:txBody>
          <a:bodyPr>
            <a:normAutofit/>
          </a:bodyPr>
          <a:lstStyle/>
          <a:p>
            <a:r>
              <a:rPr lang="pt-BR" dirty="0" smtClean="0"/>
              <a:t>Capitulo 9 – Evolução do software –</a:t>
            </a:r>
            <a:r>
              <a:rPr lang="pt-BR" dirty="0"/>
              <a:t>9.3 Manutenção de software - 9.3.2 Reengenharia de software</a:t>
            </a:r>
          </a:p>
        </p:txBody>
      </p:sp>
      <p:sp>
        <p:nvSpPr>
          <p:cNvPr id="5" name="Retângulo 4"/>
          <p:cNvSpPr/>
          <p:nvPr/>
        </p:nvSpPr>
        <p:spPr>
          <a:xfrm>
            <a:off x="53196" y="1325563"/>
            <a:ext cx="12085608" cy="5262979"/>
          </a:xfrm>
          <a:prstGeom prst="rect">
            <a:avLst/>
          </a:prstGeom>
        </p:spPr>
        <p:txBody>
          <a:bodyPr wrap="square">
            <a:spAutoFit/>
          </a:bodyPr>
          <a:lstStyle/>
          <a:p>
            <a:r>
              <a:rPr lang="pt-BR" sz="2400" dirty="0"/>
              <a:t>A reengenharia de programa pode não exigir necessariamente todas as etapas da Figura 9.10. </a:t>
            </a:r>
            <a:endParaRPr lang="pt-BR" sz="2400" dirty="0" smtClean="0"/>
          </a:p>
          <a:p>
            <a:endParaRPr lang="pt-BR" sz="2400" dirty="0"/>
          </a:p>
          <a:p>
            <a:r>
              <a:rPr lang="pt-BR" sz="2400" dirty="0" smtClean="0"/>
              <a:t>U</a:t>
            </a:r>
            <a:r>
              <a:rPr lang="pt-BR" sz="2400" dirty="0" smtClean="0"/>
              <a:t>so do </a:t>
            </a:r>
            <a:r>
              <a:rPr lang="pt-BR" sz="2400" dirty="0"/>
              <a:t>ambiente de desenvolvimento da linguagem de </a:t>
            </a:r>
            <a:r>
              <a:rPr lang="pt-BR" sz="2400" dirty="0" smtClean="0"/>
              <a:t>programação: não </a:t>
            </a:r>
            <a:r>
              <a:rPr lang="pt-BR" sz="2400" dirty="0"/>
              <a:t>precisa da tradução do </a:t>
            </a:r>
            <a:r>
              <a:rPr lang="pt-BR" sz="2400" dirty="0" smtClean="0"/>
              <a:t>código-fonte</a:t>
            </a:r>
            <a:r>
              <a:rPr lang="pt-BR" sz="2400" dirty="0"/>
              <a:t>. </a:t>
            </a:r>
            <a:endParaRPr lang="pt-BR" sz="2400" dirty="0" smtClean="0"/>
          </a:p>
          <a:p>
            <a:r>
              <a:rPr lang="pt-BR" sz="2400" dirty="0"/>
              <a:t>R</a:t>
            </a:r>
            <a:r>
              <a:rPr lang="pt-BR" sz="2400" dirty="0" smtClean="0"/>
              <a:t>eengenharia automática: recuperação </a:t>
            </a:r>
            <a:r>
              <a:rPr lang="pt-BR" sz="2400" dirty="0"/>
              <a:t>de documentação por meio da </a:t>
            </a:r>
            <a:r>
              <a:rPr lang="pt-BR" sz="2400" dirty="0" smtClean="0"/>
              <a:t>engenharia </a:t>
            </a:r>
            <a:r>
              <a:rPr lang="pt-BR" sz="2400" dirty="0"/>
              <a:t>reversa pode ser desnecessária. </a:t>
            </a:r>
            <a:endParaRPr lang="pt-BR" sz="2400" dirty="0" smtClean="0"/>
          </a:p>
          <a:p>
            <a:r>
              <a:rPr lang="pt-BR" sz="2400" dirty="0"/>
              <a:t>R</a:t>
            </a:r>
            <a:r>
              <a:rPr lang="pt-BR" sz="2400" dirty="0" smtClean="0"/>
              <a:t>eengenharia </a:t>
            </a:r>
            <a:r>
              <a:rPr lang="pt-BR" sz="2400" dirty="0"/>
              <a:t>de </a:t>
            </a:r>
            <a:r>
              <a:rPr lang="pt-BR" sz="2400" dirty="0" smtClean="0"/>
              <a:t>dados: </a:t>
            </a:r>
            <a:r>
              <a:rPr lang="pt-BR" sz="2400" dirty="0"/>
              <a:t>só é necessária se as estruturas de dados de programa mudarem durante a reengenharia de sistema. </a:t>
            </a:r>
            <a:endParaRPr lang="pt-BR" sz="2400" dirty="0" smtClean="0"/>
          </a:p>
          <a:p>
            <a:r>
              <a:rPr lang="pt-BR" sz="2400" dirty="0"/>
              <a:t>P</a:t>
            </a:r>
            <a:r>
              <a:rPr lang="pt-BR" sz="2400" dirty="0" smtClean="0"/>
              <a:t>ara </a:t>
            </a:r>
            <a:r>
              <a:rPr lang="pt-BR" sz="2400" dirty="0"/>
              <a:t>fazer o sistema que passou pela reengenharia interoperar com o novo software, </a:t>
            </a:r>
            <a:r>
              <a:rPr lang="pt-BR" sz="2400" dirty="0" smtClean="0"/>
              <a:t>precisa-se </a:t>
            </a:r>
            <a:r>
              <a:rPr lang="pt-BR" sz="2400" dirty="0"/>
              <a:t>desenvolver serviços </a:t>
            </a:r>
            <a:r>
              <a:rPr lang="pt-BR" sz="2400" dirty="0" err="1" smtClean="0"/>
              <a:t>adaptores</a:t>
            </a:r>
            <a:r>
              <a:rPr lang="pt-BR" sz="2400" dirty="0" smtClean="0"/>
              <a:t> (Eles </a:t>
            </a:r>
            <a:r>
              <a:rPr lang="pt-BR" sz="2400" dirty="0"/>
              <a:t>escondem as interfaces originais do sistema de software e apresentam as novas interfaces, bem mais estruturadas e passíveis de serem usadas por outros </a:t>
            </a:r>
            <a:r>
              <a:rPr lang="pt-BR" sz="2400" dirty="0" smtClean="0"/>
              <a:t>componentes). </a:t>
            </a:r>
            <a:endParaRPr lang="pt-BR" sz="2400" dirty="0" smtClean="0"/>
          </a:p>
          <a:p>
            <a:r>
              <a:rPr lang="pt-BR" sz="2400" dirty="0" smtClean="0"/>
              <a:t>Esse </a:t>
            </a:r>
            <a:r>
              <a:rPr lang="pt-BR" sz="2400" dirty="0"/>
              <a:t>processo de empacotamento do sistema legado é uma técnica importante para o </a:t>
            </a:r>
            <a:r>
              <a:rPr lang="pt-BR" sz="2400" dirty="0" smtClean="0"/>
              <a:t>desenvolvimento </a:t>
            </a:r>
            <a:r>
              <a:rPr lang="pt-BR" sz="2400" dirty="0"/>
              <a:t>em larga escala de serviços reusáveis.</a:t>
            </a:r>
          </a:p>
        </p:txBody>
      </p:sp>
    </p:spTree>
    <p:extLst>
      <p:ext uri="{BB962C8B-B14F-4D97-AF65-F5344CB8AC3E}">
        <p14:creationId xmlns:p14="http://schemas.microsoft.com/office/powerpoint/2010/main" val="79579094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0" y="0"/>
            <a:ext cx="12192000" cy="1325563"/>
          </a:xfrm>
        </p:spPr>
        <p:txBody>
          <a:bodyPr>
            <a:normAutofit/>
          </a:bodyPr>
          <a:lstStyle/>
          <a:p>
            <a:r>
              <a:rPr lang="pt-BR" dirty="0" smtClean="0"/>
              <a:t>Capitulo 9 – Evolução do software –</a:t>
            </a:r>
            <a:r>
              <a:rPr lang="pt-BR" dirty="0"/>
              <a:t>9.3 Manutenção de software - 9.3.2 Reengenharia de software</a:t>
            </a:r>
          </a:p>
        </p:txBody>
      </p:sp>
      <p:sp>
        <p:nvSpPr>
          <p:cNvPr id="5" name="Retângulo 4"/>
          <p:cNvSpPr/>
          <p:nvPr/>
        </p:nvSpPr>
        <p:spPr>
          <a:xfrm>
            <a:off x="53196" y="1325563"/>
            <a:ext cx="12085608" cy="5262979"/>
          </a:xfrm>
          <a:prstGeom prst="rect">
            <a:avLst/>
          </a:prstGeom>
        </p:spPr>
        <p:txBody>
          <a:bodyPr wrap="square">
            <a:spAutoFit/>
          </a:bodyPr>
          <a:lstStyle/>
          <a:p>
            <a:r>
              <a:rPr lang="pt-BR" sz="2400" dirty="0"/>
              <a:t>Os custos da </a:t>
            </a:r>
            <a:r>
              <a:rPr lang="pt-BR" sz="2400" dirty="0" smtClean="0"/>
              <a:t>reengenharia </a:t>
            </a:r>
            <a:r>
              <a:rPr lang="pt-BR" sz="2400" dirty="0"/>
              <a:t>dependem da extensão do trabalho. </a:t>
            </a:r>
            <a:endParaRPr lang="pt-BR" sz="2400" dirty="0" smtClean="0"/>
          </a:p>
          <a:p>
            <a:r>
              <a:rPr lang="pt-BR" sz="2400" dirty="0" smtClean="0"/>
              <a:t>Figura 9.11 – </a:t>
            </a:r>
            <a:r>
              <a:rPr lang="pt-BR" sz="2400" dirty="0" err="1" smtClean="0"/>
              <a:t>pag</a:t>
            </a:r>
            <a:r>
              <a:rPr lang="pt-BR" sz="2400" dirty="0" smtClean="0"/>
              <a:t> 191: </a:t>
            </a:r>
            <a:r>
              <a:rPr lang="pt-BR" sz="2400" dirty="0"/>
              <a:t>existe um espectro de possíveis abordagens para a reengenharia. </a:t>
            </a:r>
            <a:endParaRPr lang="pt-BR" sz="2400" dirty="0" smtClean="0"/>
          </a:p>
          <a:p>
            <a:r>
              <a:rPr lang="pt-BR" sz="2400" dirty="0" smtClean="0"/>
              <a:t>Os </a:t>
            </a:r>
            <a:r>
              <a:rPr lang="pt-BR" sz="2400" dirty="0"/>
              <a:t>custos aumentam da esquerda para a direita, de modo que a tradução de código-fonte é a opção mais barata. </a:t>
            </a:r>
            <a:endParaRPr lang="pt-BR" sz="2400" dirty="0" smtClean="0"/>
          </a:p>
          <a:p>
            <a:r>
              <a:rPr lang="pt-BR" sz="2400" dirty="0" smtClean="0"/>
              <a:t>A </a:t>
            </a:r>
            <a:r>
              <a:rPr lang="pt-BR" sz="2400" dirty="0"/>
              <a:t>reengenharia como parte da migração da </a:t>
            </a:r>
            <a:r>
              <a:rPr lang="pt-BR" sz="2400" dirty="0" smtClean="0"/>
              <a:t>arquitetura </a:t>
            </a:r>
            <a:r>
              <a:rPr lang="pt-BR" sz="2400" dirty="0"/>
              <a:t>é a mais cara. </a:t>
            </a:r>
            <a:endParaRPr lang="pt-BR" sz="2400" dirty="0" smtClean="0"/>
          </a:p>
          <a:p>
            <a:r>
              <a:rPr lang="pt-BR" sz="2400" dirty="0" smtClean="0"/>
              <a:t>Problema </a:t>
            </a:r>
            <a:r>
              <a:rPr lang="pt-BR" sz="2400" dirty="0"/>
              <a:t>com a reengenharia de </a:t>
            </a:r>
            <a:r>
              <a:rPr lang="pt-BR" sz="2400" dirty="0" smtClean="0"/>
              <a:t>software: </a:t>
            </a:r>
            <a:r>
              <a:rPr lang="pt-BR" sz="2400" dirty="0"/>
              <a:t>existem limites práticos para o quanto </a:t>
            </a:r>
            <a:r>
              <a:rPr lang="pt-BR" sz="2400" dirty="0" smtClean="0"/>
              <a:t>se </a:t>
            </a:r>
            <a:r>
              <a:rPr lang="pt-BR" sz="2400" dirty="0"/>
              <a:t>pode melhorar um sistema por meio da reengenharia. </a:t>
            </a:r>
            <a:endParaRPr lang="pt-BR" sz="2400" dirty="0" smtClean="0"/>
          </a:p>
          <a:p>
            <a:r>
              <a:rPr lang="pt-BR" sz="2400" dirty="0" smtClean="0"/>
              <a:t>Não </a:t>
            </a:r>
            <a:r>
              <a:rPr lang="pt-BR" sz="2400" dirty="0"/>
              <a:t>é </a:t>
            </a:r>
            <a:r>
              <a:rPr lang="pt-BR" sz="2400" dirty="0" smtClean="0"/>
              <a:t>possível </a:t>
            </a:r>
            <a:r>
              <a:rPr lang="pt-BR" sz="2400" dirty="0"/>
              <a:t>converter um sistema escrito </a:t>
            </a:r>
            <a:r>
              <a:rPr lang="pt-BR" sz="2400" dirty="0" smtClean="0"/>
              <a:t>na </a:t>
            </a:r>
            <a:r>
              <a:rPr lang="pt-BR" sz="2400" dirty="0"/>
              <a:t>abordagem funcional para um sistema orientado a objetos. </a:t>
            </a:r>
            <a:endParaRPr lang="pt-BR" sz="2400" dirty="0" smtClean="0"/>
          </a:p>
          <a:p>
            <a:r>
              <a:rPr lang="pt-BR" sz="2400" dirty="0" smtClean="0"/>
              <a:t>As </a:t>
            </a:r>
            <a:r>
              <a:rPr lang="pt-BR" sz="2400" dirty="0"/>
              <a:t>principais mudanças de arquitetura ou a </a:t>
            </a:r>
            <a:r>
              <a:rPr lang="pt-BR" sz="2400" dirty="0" smtClean="0"/>
              <a:t>reorganização </a:t>
            </a:r>
            <a:r>
              <a:rPr lang="pt-BR" sz="2400" dirty="0"/>
              <a:t>radical do sistema de gerenciamento de dados não podem ser feitas automaticamente, pois são muito caras. </a:t>
            </a:r>
            <a:endParaRPr lang="pt-BR" sz="2400" dirty="0" smtClean="0"/>
          </a:p>
          <a:p>
            <a:r>
              <a:rPr lang="pt-BR" sz="2400" dirty="0" smtClean="0"/>
              <a:t>Embora </a:t>
            </a:r>
            <a:r>
              <a:rPr lang="pt-BR" sz="2400" dirty="0"/>
              <a:t>a reengenharia possa melhorar a </a:t>
            </a:r>
            <a:r>
              <a:rPr lang="pt-BR" sz="2400" dirty="0" err="1"/>
              <a:t>manutenibilidade</a:t>
            </a:r>
            <a:r>
              <a:rPr lang="pt-BR" sz="2400" dirty="0"/>
              <a:t>, o sistema reconstruído </a:t>
            </a:r>
            <a:r>
              <a:rPr lang="pt-BR" sz="2400" dirty="0" smtClean="0"/>
              <a:t>não </a:t>
            </a:r>
            <a:r>
              <a:rPr lang="pt-BR" sz="2400" dirty="0"/>
              <a:t>será tão manutenível como um novo sistema, desenvolvido por meio de métodos modernos de engenharia de software</a:t>
            </a:r>
          </a:p>
        </p:txBody>
      </p:sp>
    </p:spTree>
    <p:extLst>
      <p:ext uri="{BB962C8B-B14F-4D97-AF65-F5344CB8AC3E}">
        <p14:creationId xmlns:p14="http://schemas.microsoft.com/office/powerpoint/2010/main" val="390929563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0" y="0"/>
            <a:ext cx="12192000" cy="1325563"/>
          </a:xfrm>
        </p:spPr>
        <p:txBody>
          <a:bodyPr>
            <a:normAutofit fontScale="90000"/>
          </a:bodyPr>
          <a:lstStyle/>
          <a:p>
            <a:r>
              <a:rPr lang="pt-BR" dirty="0" smtClean="0"/>
              <a:t>Capitulo 9 – Evolução do software –</a:t>
            </a:r>
            <a:r>
              <a:rPr lang="pt-BR" dirty="0"/>
              <a:t>9.3 Manutenção de software - 9.3.3 Manutenção preventiva por </a:t>
            </a:r>
            <a:r>
              <a:rPr lang="pt-BR" dirty="0" err="1"/>
              <a:t>refatoração</a:t>
            </a:r>
            <a:endParaRPr lang="pt-BR" dirty="0"/>
          </a:p>
        </p:txBody>
      </p:sp>
      <p:sp>
        <p:nvSpPr>
          <p:cNvPr id="5" name="Retângulo 4"/>
          <p:cNvSpPr/>
          <p:nvPr/>
        </p:nvSpPr>
        <p:spPr>
          <a:xfrm>
            <a:off x="53196" y="1325563"/>
            <a:ext cx="12085608" cy="4893647"/>
          </a:xfrm>
          <a:prstGeom prst="rect">
            <a:avLst/>
          </a:prstGeom>
        </p:spPr>
        <p:txBody>
          <a:bodyPr wrap="square">
            <a:spAutoFit/>
          </a:bodyPr>
          <a:lstStyle/>
          <a:p>
            <a:r>
              <a:rPr lang="pt-BR" sz="2400" dirty="0" err="1" smtClean="0"/>
              <a:t>Refatoração</a:t>
            </a:r>
            <a:r>
              <a:rPr lang="pt-BR" sz="2400" dirty="0" smtClean="0"/>
              <a:t>: </a:t>
            </a:r>
            <a:r>
              <a:rPr lang="pt-BR" sz="2400" dirty="0"/>
              <a:t>processo de fazer melhorias em um programa para diminuir a degradação gradual resultante das mudanças (OPDYKE e JOHNSON, 1990</a:t>
            </a:r>
            <a:r>
              <a:rPr lang="pt-BR" sz="2400" dirty="0" smtClean="0"/>
              <a:t>) - modificar </a:t>
            </a:r>
            <a:r>
              <a:rPr lang="pt-BR" sz="2400" dirty="0"/>
              <a:t>um programa para melhorar sua estrutura, </a:t>
            </a:r>
            <a:r>
              <a:rPr lang="pt-BR" sz="2400" dirty="0" smtClean="0"/>
              <a:t>reduzir </a:t>
            </a:r>
            <a:r>
              <a:rPr lang="pt-BR" sz="2400" dirty="0"/>
              <a:t>sua complexidade </a:t>
            </a:r>
            <a:r>
              <a:rPr lang="pt-BR" sz="2400" dirty="0" smtClean="0"/>
              <a:t>ou </a:t>
            </a:r>
            <a:r>
              <a:rPr lang="pt-BR" sz="2400" dirty="0"/>
              <a:t>torná-lo mais compreensível. </a:t>
            </a:r>
            <a:endParaRPr lang="pt-BR" sz="2400" dirty="0" smtClean="0"/>
          </a:p>
          <a:p>
            <a:r>
              <a:rPr lang="pt-BR" sz="2400" dirty="0"/>
              <a:t>D</a:t>
            </a:r>
            <a:r>
              <a:rPr lang="pt-BR" sz="2400" dirty="0" smtClean="0"/>
              <a:t>esenvolvimento </a:t>
            </a:r>
            <a:r>
              <a:rPr lang="pt-BR" sz="2400" dirty="0"/>
              <a:t>orientado a </a:t>
            </a:r>
            <a:r>
              <a:rPr lang="pt-BR" sz="2400" dirty="0" smtClean="0"/>
              <a:t>objeto: </a:t>
            </a:r>
            <a:r>
              <a:rPr lang="pt-BR" sz="2400" dirty="0" err="1"/>
              <a:t>refatoração</a:t>
            </a:r>
            <a:r>
              <a:rPr lang="pt-BR" sz="2400" dirty="0"/>
              <a:t> </a:t>
            </a:r>
            <a:r>
              <a:rPr lang="pt-BR" sz="2400" dirty="0" smtClean="0"/>
              <a:t>é </a:t>
            </a:r>
            <a:r>
              <a:rPr lang="pt-BR" sz="2400" dirty="0"/>
              <a:t>considerada limitada, mas seus princípios podem ser aplicados a qualquer abordagem de desenvolvimento. </a:t>
            </a:r>
            <a:endParaRPr lang="pt-BR" sz="2400" dirty="0" smtClean="0"/>
          </a:p>
          <a:p>
            <a:r>
              <a:rPr lang="pt-BR" sz="2400" dirty="0" err="1" smtClean="0"/>
              <a:t>Refatoração</a:t>
            </a:r>
            <a:r>
              <a:rPr lang="pt-BR" sz="2400" dirty="0" smtClean="0"/>
              <a:t>: não  adiciona </a:t>
            </a:r>
            <a:r>
              <a:rPr lang="pt-BR" sz="2400" dirty="0"/>
              <a:t>funcionalidade, </a:t>
            </a:r>
            <a:r>
              <a:rPr lang="pt-BR" sz="2400" dirty="0" smtClean="0"/>
              <a:t>somente melhora. </a:t>
            </a:r>
          </a:p>
          <a:p>
            <a:r>
              <a:rPr lang="pt-BR" sz="2400" dirty="0" err="1" smtClean="0"/>
              <a:t>Refatoração</a:t>
            </a:r>
            <a:r>
              <a:rPr lang="pt-BR" sz="2400" dirty="0" smtClean="0"/>
              <a:t>: manutenção preventiva - reduz </a:t>
            </a:r>
            <a:r>
              <a:rPr lang="pt-BR" sz="2400" dirty="0"/>
              <a:t>os problemas de mudança no futuro. </a:t>
            </a:r>
            <a:endParaRPr lang="pt-BR" sz="2400" dirty="0" smtClean="0"/>
          </a:p>
          <a:p>
            <a:endParaRPr lang="pt-BR" sz="2400" dirty="0" smtClean="0"/>
          </a:p>
          <a:p>
            <a:r>
              <a:rPr lang="pt-BR" sz="2400" dirty="0" smtClean="0"/>
              <a:t>Reengenharia e </a:t>
            </a:r>
            <a:r>
              <a:rPr lang="pt-BR" sz="2400" dirty="0" err="1" smtClean="0"/>
              <a:t>Refatoração</a:t>
            </a:r>
            <a:r>
              <a:rPr lang="pt-BR" sz="2400" dirty="0" smtClean="0"/>
              <a:t>: destinadas </a:t>
            </a:r>
            <a:r>
              <a:rPr lang="pt-BR" sz="2400" dirty="0"/>
              <a:t>a tornar o software mais fácil de entender e </a:t>
            </a:r>
            <a:r>
              <a:rPr lang="pt-BR" sz="2400" dirty="0" smtClean="0"/>
              <a:t>mudar.</a:t>
            </a:r>
          </a:p>
          <a:p>
            <a:endParaRPr lang="pt-BR" sz="2400" dirty="0" smtClean="0"/>
          </a:p>
          <a:p>
            <a:r>
              <a:rPr lang="pt-BR" sz="2400" dirty="0" smtClean="0"/>
              <a:t>Reengenharia: </a:t>
            </a:r>
            <a:r>
              <a:rPr lang="pt-BR" sz="2400" dirty="0"/>
              <a:t>ocorre depois que um sistema foi mantido por algum tempo e </a:t>
            </a:r>
            <a:r>
              <a:rPr lang="pt-BR" sz="2400" dirty="0" smtClean="0"/>
              <a:t>aumentou os </a:t>
            </a:r>
            <a:r>
              <a:rPr lang="pt-BR" sz="2400" dirty="0"/>
              <a:t>custos de manutenção. </a:t>
            </a:r>
            <a:r>
              <a:rPr lang="pt-BR" sz="2400" dirty="0" smtClean="0"/>
              <a:t>Podem-se </a:t>
            </a:r>
            <a:r>
              <a:rPr lang="pt-BR" sz="2400" dirty="0"/>
              <a:t>usar ferramentas automatizadas para </a:t>
            </a:r>
            <a:r>
              <a:rPr lang="pt-BR" sz="2400" dirty="0" smtClean="0"/>
              <a:t>processar </a:t>
            </a:r>
            <a:r>
              <a:rPr lang="pt-BR" sz="2400" dirty="0"/>
              <a:t>e </a:t>
            </a:r>
            <a:r>
              <a:rPr lang="pt-BR" sz="2400" dirty="0" smtClean="0"/>
              <a:t>reestruturar </a:t>
            </a:r>
            <a:r>
              <a:rPr lang="pt-BR" sz="2400" dirty="0"/>
              <a:t>um sistema legado para criar um novo sistema mais manutenível. </a:t>
            </a:r>
            <a:endParaRPr lang="pt-BR" sz="2400" dirty="0" smtClean="0"/>
          </a:p>
        </p:txBody>
      </p:sp>
    </p:spTree>
    <p:extLst>
      <p:ext uri="{BB962C8B-B14F-4D97-AF65-F5344CB8AC3E}">
        <p14:creationId xmlns:p14="http://schemas.microsoft.com/office/powerpoint/2010/main" val="297016976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0" y="0"/>
            <a:ext cx="12192000" cy="1325563"/>
          </a:xfrm>
        </p:spPr>
        <p:txBody>
          <a:bodyPr>
            <a:normAutofit fontScale="90000"/>
          </a:bodyPr>
          <a:lstStyle/>
          <a:p>
            <a:r>
              <a:rPr lang="pt-BR" dirty="0" smtClean="0"/>
              <a:t>Capitulo 9 – Evolução do software –</a:t>
            </a:r>
            <a:r>
              <a:rPr lang="pt-BR" dirty="0"/>
              <a:t>9.3 Manutenção de software - 9.3.3 Manutenção preventiva por </a:t>
            </a:r>
            <a:r>
              <a:rPr lang="pt-BR" dirty="0" err="1"/>
              <a:t>refatoração</a:t>
            </a:r>
            <a:endParaRPr lang="pt-BR" dirty="0"/>
          </a:p>
        </p:txBody>
      </p:sp>
      <p:sp>
        <p:nvSpPr>
          <p:cNvPr id="5" name="Retângulo 4"/>
          <p:cNvSpPr/>
          <p:nvPr/>
        </p:nvSpPr>
        <p:spPr>
          <a:xfrm>
            <a:off x="53196" y="1325563"/>
            <a:ext cx="12085608" cy="5262979"/>
          </a:xfrm>
          <a:prstGeom prst="rect">
            <a:avLst/>
          </a:prstGeom>
        </p:spPr>
        <p:txBody>
          <a:bodyPr wrap="square">
            <a:spAutoFit/>
          </a:bodyPr>
          <a:lstStyle/>
          <a:p>
            <a:r>
              <a:rPr lang="pt-BR" sz="2400" dirty="0" err="1" smtClean="0"/>
              <a:t>Refatoração</a:t>
            </a:r>
            <a:r>
              <a:rPr lang="pt-BR" sz="2400" dirty="0" smtClean="0"/>
              <a:t>: </a:t>
            </a:r>
            <a:r>
              <a:rPr lang="pt-BR" sz="2400" dirty="0"/>
              <a:t>processo contínuo de melhoria ao longo do processo de desenvolvimento e evolução, com o intuito de evitar a degradação do código, </a:t>
            </a:r>
            <a:r>
              <a:rPr lang="pt-BR" sz="2400" dirty="0" smtClean="0"/>
              <a:t>o que </a:t>
            </a:r>
            <a:r>
              <a:rPr lang="pt-BR" sz="2400" dirty="0"/>
              <a:t>aumenta os custos e as dificuldades de manutenção de um sistema</a:t>
            </a:r>
            <a:r>
              <a:rPr lang="pt-BR" sz="2400" dirty="0" smtClean="0"/>
              <a:t>.</a:t>
            </a:r>
          </a:p>
          <a:p>
            <a:endParaRPr lang="pt-BR" sz="2400" dirty="0"/>
          </a:p>
          <a:p>
            <a:r>
              <a:rPr lang="pt-BR" sz="2400" dirty="0" err="1" smtClean="0"/>
              <a:t>Refatoração</a:t>
            </a:r>
            <a:r>
              <a:rPr lang="pt-BR" sz="2400" dirty="0" smtClean="0"/>
              <a:t>: </a:t>
            </a:r>
            <a:r>
              <a:rPr lang="pt-BR" sz="2400" dirty="0"/>
              <a:t>parte inerente dos métodos ágeis, como o Extreme </a:t>
            </a:r>
            <a:r>
              <a:rPr lang="pt-BR" sz="2400" dirty="0" err="1"/>
              <a:t>Programming</a:t>
            </a:r>
            <a:r>
              <a:rPr lang="pt-BR" sz="2400" dirty="0"/>
              <a:t>, pois esses métodos são baseados em mudanças. </a:t>
            </a:r>
            <a:endParaRPr lang="pt-BR" sz="2400" dirty="0" smtClean="0"/>
          </a:p>
          <a:p>
            <a:endParaRPr lang="pt-BR" sz="2400" dirty="0"/>
          </a:p>
          <a:p>
            <a:r>
              <a:rPr lang="pt-BR" sz="2400" dirty="0" smtClean="0"/>
              <a:t>Qualidade </a:t>
            </a:r>
            <a:r>
              <a:rPr lang="pt-BR" sz="2400" dirty="0"/>
              <a:t>de programa é suscetível de degradar rapidamente, de modo que os desenvolvedores frequentemente </a:t>
            </a:r>
            <a:r>
              <a:rPr lang="pt-BR" sz="2400" dirty="0" err="1"/>
              <a:t>refatoram</a:t>
            </a:r>
            <a:r>
              <a:rPr lang="pt-BR" sz="2400" dirty="0"/>
              <a:t> seus programas para evitar </a:t>
            </a:r>
            <a:r>
              <a:rPr lang="pt-BR" sz="2400" dirty="0" smtClean="0"/>
              <a:t>a </a:t>
            </a:r>
            <a:r>
              <a:rPr lang="pt-BR" sz="2400" dirty="0"/>
              <a:t>degradação. </a:t>
            </a:r>
            <a:endParaRPr lang="pt-BR" sz="2400" dirty="0" smtClean="0"/>
          </a:p>
          <a:p>
            <a:r>
              <a:rPr lang="pt-BR" sz="2400" dirty="0" smtClean="0"/>
              <a:t>Métodos ágeis: testes </a:t>
            </a:r>
            <a:r>
              <a:rPr lang="pt-BR" sz="2400" dirty="0"/>
              <a:t>de regressão </a:t>
            </a:r>
            <a:r>
              <a:rPr lang="pt-BR" sz="2400" dirty="0" smtClean="0"/>
              <a:t>reduzem </a:t>
            </a:r>
            <a:r>
              <a:rPr lang="pt-BR" sz="2400" dirty="0"/>
              <a:t>o risco de introdução de novos erros </a:t>
            </a:r>
            <a:r>
              <a:rPr lang="pt-BR" sz="2400" dirty="0" smtClean="0"/>
              <a:t>com a </a:t>
            </a:r>
            <a:r>
              <a:rPr lang="pt-BR" sz="2400" dirty="0" err="1"/>
              <a:t>refatoração</a:t>
            </a:r>
            <a:r>
              <a:rPr lang="pt-BR" sz="2400" dirty="0"/>
              <a:t>. </a:t>
            </a:r>
            <a:endParaRPr lang="pt-BR" sz="2400" dirty="0" smtClean="0"/>
          </a:p>
          <a:p>
            <a:r>
              <a:rPr lang="pt-BR" sz="2400" dirty="0"/>
              <a:t>E</a:t>
            </a:r>
            <a:r>
              <a:rPr lang="pt-BR" sz="2400" dirty="0" smtClean="0"/>
              <a:t>rros </a:t>
            </a:r>
            <a:r>
              <a:rPr lang="pt-BR" sz="2400" dirty="0"/>
              <a:t>introduzidos deveriam ser detectáveis pelos testes que anteriormente foram bem-sucedidos e deveriam falhar. </a:t>
            </a:r>
            <a:r>
              <a:rPr lang="pt-BR" sz="2400" dirty="0" err="1" smtClean="0"/>
              <a:t>Refatoração</a:t>
            </a:r>
            <a:r>
              <a:rPr lang="pt-BR" sz="2400" dirty="0" smtClean="0"/>
              <a:t> </a:t>
            </a:r>
            <a:r>
              <a:rPr lang="pt-BR" sz="2400" dirty="0"/>
              <a:t>não é dependente de outras ‘atividades ágeis’ e pode ser usada com qualquer abordagem de desenvolvimento.</a:t>
            </a:r>
          </a:p>
        </p:txBody>
      </p:sp>
    </p:spTree>
    <p:extLst>
      <p:ext uri="{BB962C8B-B14F-4D97-AF65-F5344CB8AC3E}">
        <p14:creationId xmlns:p14="http://schemas.microsoft.com/office/powerpoint/2010/main" val="85079849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0" y="0"/>
            <a:ext cx="12192000" cy="1325563"/>
          </a:xfrm>
        </p:spPr>
        <p:txBody>
          <a:bodyPr>
            <a:normAutofit fontScale="90000"/>
          </a:bodyPr>
          <a:lstStyle/>
          <a:p>
            <a:r>
              <a:rPr lang="pt-BR" dirty="0" smtClean="0"/>
              <a:t>Capitulo 9 – Evolução do software –</a:t>
            </a:r>
            <a:r>
              <a:rPr lang="pt-BR" dirty="0"/>
              <a:t>9.3 Manutenção de software - 9.3.3 Manutenção preventiva por </a:t>
            </a:r>
            <a:r>
              <a:rPr lang="pt-BR" dirty="0" err="1"/>
              <a:t>refatoração</a:t>
            </a:r>
            <a:endParaRPr lang="pt-BR" dirty="0"/>
          </a:p>
        </p:txBody>
      </p:sp>
      <p:sp>
        <p:nvSpPr>
          <p:cNvPr id="5" name="Retângulo 4"/>
          <p:cNvSpPr/>
          <p:nvPr/>
        </p:nvSpPr>
        <p:spPr>
          <a:xfrm>
            <a:off x="53196" y="1325563"/>
            <a:ext cx="12085608" cy="4893647"/>
          </a:xfrm>
          <a:prstGeom prst="rect">
            <a:avLst/>
          </a:prstGeom>
        </p:spPr>
        <p:txBody>
          <a:bodyPr wrap="square">
            <a:spAutoFit/>
          </a:bodyPr>
          <a:lstStyle/>
          <a:p>
            <a:r>
              <a:rPr lang="pt-BR" sz="2400" dirty="0"/>
              <a:t>Fowler et al. (1999</a:t>
            </a:r>
            <a:r>
              <a:rPr lang="pt-BR" sz="2400" dirty="0" smtClean="0"/>
              <a:t>): </a:t>
            </a:r>
            <a:r>
              <a:rPr lang="pt-BR" sz="2400" dirty="0"/>
              <a:t>existam situações estereotipadas </a:t>
            </a:r>
            <a:r>
              <a:rPr lang="pt-BR" sz="2400" dirty="0" smtClean="0"/>
              <a:t>(‘maus </a:t>
            </a:r>
            <a:r>
              <a:rPr lang="pt-BR" sz="2400" dirty="0"/>
              <a:t>cheiros’) nas quais o código de um programa pode ser </a:t>
            </a:r>
            <a:r>
              <a:rPr lang="pt-BR" sz="2400" dirty="0" smtClean="0"/>
              <a:t>melhorado</a:t>
            </a:r>
            <a:r>
              <a:rPr lang="pt-BR" sz="2400" dirty="0"/>
              <a:t> </a:t>
            </a:r>
            <a:r>
              <a:rPr lang="pt-BR" sz="2400" dirty="0" smtClean="0"/>
              <a:t>pela </a:t>
            </a:r>
            <a:r>
              <a:rPr lang="pt-BR" sz="2400" dirty="0" err="1" smtClean="0"/>
              <a:t>refatoração</a:t>
            </a:r>
            <a:r>
              <a:rPr lang="pt-BR" sz="2400" dirty="0" smtClean="0"/>
              <a:t>:</a:t>
            </a:r>
          </a:p>
          <a:p>
            <a:r>
              <a:rPr lang="pt-BR" sz="2400" dirty="0" smtClean="0"/>
              <a:t>1.Código duplicado: </a:t>
            </a:r>
            <a:r>
              <a:rPr lang="pt-BR" sz="2400" dirty="0"/>
              <a:t>O mesmo código ou um muito semelhante </a:t>
            </a:r>
            <a:r>
              <a:rPr lang="pt-BR" sz="2400" dirty="0" smtClean="0"/>
              <a:t>incluído </a:t>
            </a:r>
            <a:r>
              <a:rPr lang="pt-BR" sz="2400" dirty="0"/>
              <a:t>em diferentes lugares </a:t>
            </a:r>
            <a:r>
              <a:rPr lang="pt-BR" sz="2400" dirty="0" smtClean="0"/>
              <a:t>pode </a:t>
            </a:r>
            <a:r>
              <a:rPr lang="pt-BR" sz="2400" dirty="0"/>
              <a:t>ser removido e implementado com um único método ou </a:t>
            </a:r>
            <a:r>
              <a:rPr lang="pt-BR" sz="2400" dirty="0" smtClean="0"/>
              <a:t>função</a:t>
            </a:r>
          </a:p>
          <a:p>
            <a:r>
              <a:rPr lang="pt-BR" sz="2400" dirty="0" smtClean="0"/>
              <a:t>2. Métodos longos: método longo deve ser </a:t>
            </a:r>
            <a:r>
              <a:rPr lang="pt-BR" sz="2400" dirty="0" err="1" smtClean="0"/>
              <a:t>reprojetado</a:t>
            </a:r>
            <a:r>
              <a:rPr lang="pt-BR" sz="2400" dirty="0" smtClean="0"/>
              <a:t> como métodos mais curtos.</a:t>
            </a:r>
          </a:p>
          <a:p>
            <a:r>
              <a:rPr lang="pt-BR" sz="2400" dirty="0" smtClean="0"/>
              <a:t>3. Declarações switch (case): duplicação em que o switch depende do tipo de algum valor. </a:t>
            </a:r>
            <a:r>
              <a:rPr lang="pt-BR" sz="2400" dirty="0"/>
              <a:t>P</a:t>
            </a:r>
            <a:r>
              <a:rPr lang="pt-BR" sz="2400" dirty="0" smtClean="0"/>
              <a:t>odem ser espalhadas em torno de um programa. Em linguagens orientadas a objetos, usa-se o polimorfismo para conseguir os mesmos resultados. </a:t>
            </a:r>
          </a:p>
          <a:p>
            <a:r>
              <a:rPr lang="pt-BR" sz="2400" dirty="0" smtClean="0"/>
              <a:t>4. Aglutinação de dados: ocorre quando um mesmo grupo de itens de dados (campos em classes, parâmetros em métodos) reincide em vários lugares de um programa que podem ser substituídos por um objeto que encapsule todos os dados. </a:t>
            </a:r>
          </a:p>
          <a:p>
            <a:r>
              <a:rPr lang="pt-BR" sz="2400" dirty="0" smtClean="0"/>
              <a:t>5. Generalidade especulativa: ocorre quando os desenvolvedores incluem generalidades em um programa, pois estas podem ser necessárias no futuro. Muitas vezes, elas podem ser removidas.</a:t>
            </a:r>
            <a:endParaRPr lang="pt-BR" sz="2400" dirty="0"/>
          </a:p>
        </p:txBody>
      </p:sp>
    </p:spTree>
    <p:extLst>
      <p:ext uri="{BB962C8B-B14F-4D97-AF65-F5344CB8AC3E}">
        <p14:creationId xmlns:p14="http://schemas.microsoft.com/office/powerpoint/2010/main" val="281312196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0" y="0"/>
            <a:ext cx="12192000" cy="1325563"/>
          </a:xfrm>
        </p:spPr>
        <p:txBody>
          <a:bodyPr>
            <a:normAutofit fontScale="90000"/>
          </a:bodyPr>
          <a:lstStyle/>
          <a:p>
            <a:r>
              <a:rPr lang="pt-BR" dirty="0" smtClean="0"/>
              <a:t>Capitulo 9 – Evolução do software –</a:t>
            </a:r>
            <a:r>
              <a:rPr lang="pt-BR" dirty="0"/>
              <a:t>9.3 Manutenção de software - 9.3.3 Manutenção preventiva por </a:t>
            </a:r>
            <a:r>
              <a:rPr lang="pt-BR" dirty="0" err="1"/>
              <a:t>refatoração</a:t>
            </a:r>
            <a:endParaRPr lang="pt-BR" dirty="0"/>
          </a:p>
        </p:txBody>
      </p:sp>
      <p:sp>
        <p:nvSpPr>
          <p:cNvPr id="5" name="Retângulo 4"/>
          <p:cNvSpPr/>
          <p:nvPr/>
        </p:nvSpPr>
        <p:spPr>
          <a:xfrm>
            <a:off x="53196" y="1325563"/>
            <a:ext cx="12085608" cy="4893647"/>
          </a:xfrm>
          <a:prstGeom prst="rect">
            <a:avLst/>
          </a:prstGeom>
        </p:spPr>
        <p:txBody>
          <a:bodyPr wrap="square">
            <a:spAutoFit/>
          </a:bodyPr>
          <a:lstStyle/>
          <a:p>
            <a:r>
              <a:rPr lang="pt-BR" sz="2400" dirty="0" smtClean="0"/>
              <a:t>Fowler: sugere transformações </a:t>
            </a:r>
            <a:r>
              <a:rPr lang="pt-BR" sz="2400" dirty="0"/>
              <a:t>primitivas de </a:t>
            </a:r>
            <a:r>
              <a:rPr lang="pt-BR" sz="2400" dirty="0" err="1"/>
              <a:t>refatoração</a:t>
            </a:r>
            <a:r>
              <a:rPr lang="pt-BR" sz="2400" dirty="0"/>
              <a:t> para lidar com o mau cheiro, as quais podem ser usadas isoladamente ou em conjunto. </a:t>
            </a:r>
            <a:endParaRPr lang="pt-BR" sz="2400" dirty="0" smtClean="0"/>
          </a:p>
          <a:p>
            <a:r>
              <a:rPr lang="pt-BR" sz="2400" dirty="0" smtClean="0"/>
              <a:t>Ex. das transformações: método </a:t>
            </a:r>
            <a:r>
              <a:rPr lang="pt-BR" sz="2400" dirty="0" err="1" smtClean="0"/>
              <a:t>Extract</a:t>
            </a:r>
            <a:r>
              <a:rPr lang="pt-BR" sz="2400" dirty="0" smtClean="0"/>
              <a:t> (remove </a:t>
            </a:r>
            <a:r>
              <a:rPr lang="pt-BR" sz="2400" dirty="0"/>
              <a:t>dados duplicados e cria um novo </a:t>
            </a:r>
            <a:r>
              <a:rPr lang="pt-BR" sz="2400" dirty="0" smtClean="0"/>
              <a:t>método); </a:t>
            </a:r>
            <a:r>
              <a:rPr lang="pt-BR" sz="2400" dirty="0"/>
              <a:t>a expressão condicional </a:t>
            </a:r>
            <a:r>
              <a:rPr lang="pt-BR" sz="2400" dirty="0" err="1" smtClean="0"/>
              <a:t>Consolidate</a:t>
            </a:r>
            <a:r>
              <a:rPr lang="pt-BR" sz="2400" dirty="0" smtClean="0"/>
              <a:t> (substitui </a:t>
            </a:r>
            <a:r>
              <a:rPr lang="pt-BR" sz="2400" dirty="0"/>
              <a:t>uma sequência de testes por um único </a:t>
            </a:r>
            <a:r>
              <a:rPr lang="pt-BR" sz="2400" dirty="0" smtClean="0"/>
              <a:t>teste); </a:t>
            </a:r>
            <a:r>
              <a:rPr lang="pt-BR" sz="2400" dirty="0"/>
              <a:t>e o método </a:t>
            </a:r>
            <a:r>
              <a:rPr lang="pt-BR" sz="2400" dirty="0" err="1"/>
              <a:t>Pull</a:t>
            </a:r>
            <a:r>
              <a:rPr lang="pt-BR" sz="2400" dirty="0"/>
              <a:t> </a:t>
            </a:r>
            <a:r>
              <a:rPr lang="pt-BR" sz="2400" dirty="0" err="1" smtClean="0"/>
              <a:t>up</a:t>
            </a:r>
            <a:r>
              <a:rPr lang="pt-BR" sz="2400" dirty="0" smtClean="0"/>
              <a:t> (substitui </a:t>
            </a:r>
            <a:r>
              <a:rPr lang="pt-BR" sz="2400" dirty="0"/>
              <a:t>os métodos similares em subclasses por um único método em uma </a:t>
            </a:r>
            <a:r>
              <a:rPr lang="pt-BR" sz="2400" dirty="0" smtClean="0"/>
              <a:t>superclasse). </a:t>
            </a:r>
          </a:p>
          <a:p>
            <a:r>
              <a:rPr lang="pt-BR" sz="2400" dirty="0" smtClean="0"/>
              <a:t>Ambientes </a:t>
            </a:r>
            <a:r>
              <a:rPr lang="pt-BR" sz="2400" dirty="0"/>
              <a:t>de </a:t>
            </a:r>
            <a:r>
              <a:rPr lang="pt-BR" sz="2400" dirty="0" smtClean="0"/>
              <a:t>desenvolvimento </a:t>
            </a:r>
            <a:r>
              <a:rPr lang="pt-BR" sz="2400" dirty="0"/>
              <a:t>interativo, como o </a:t>
            </a:r>
            <a:r>
              <a:rPr lang="pt-BR" sz="2400" dirty="0" smtClean="0"/>
              <a:t>Eclipse: suporte </a:t>
            </a:r>
            <a:r>
              <a:rPr lang="pt-BR" sz="2400" dirty="0"/>
              <a:t>à </a:t>
            </a:r>
            <a:r>
              <a:rPr lang="pt-BR" sz="2400" dirty="0" err="1"/>
              <a:t>refatoração</a:t>
            </a:r>
            <a:r>
              <a:rPr lang="pt-BR" sz="2400" dirty="0"/>
              <a:t> em seus editores </a:t>
            </a:r>
            <a:r>
              <a:rPr lang="pt-BR" sz="2400" dirty="0" smtClean="0"/>
              <a:t>facilitando </a:t>
            </a:r>
            <a:r>
              <a:rPr lang="pt-BR" sz="2400" dirty="0"/>
              <a:t>encontrar as partes dependentes de um programa que precisam ser alteradas para implementar a </a:t>
            </a:r>
            <a:r>
              <a:rPr lang="pt-BR" sz="2400" dirty="0" err="1"/>
              <a:t>refatoração</a:t>
            </a:r>
            <a:r>
              <a:rPr lang="pt-BR" sz="2400" dirty="0"/>
              <a:t>. </a:t>
            </a:r>
            <a:endParaRPr lang="pt-BR" sz="2400" dirty="0" smtClean="0"/>
          </a:p>
          <a:p>
            <a:r>
              <a:rPr lang="pt-BR" sz="2400" dirty="0" err="1" smtClean="0"/>
              <a:t>Refatoração</a:t>
            </a:r>
            <a:r>
              <a:rPr lang="pt-BR" sz="2400" dirty="0" smtClean="0"/>
              <a:t> realizada </a:t>
            </a:r>
            <a:r>
              <a:rPr lang="pt-BR" sz="2400" dirty="0"/>
              <a:t>durante o desenvolvimento de programa, é uma forma eficaz de reduzir os custos de manutenção a longo prazo de um programa. </a:t>
            </a:r>
            <a:endParaRPr lang="pt-BR" sz="2400" dirty="0" smtClean="0"/>
          </a:p>
          <a:p>
            <a:r>
              <a:rPr lang="pt-BR" sz="2400" dirty="0" smtClean="0"/>
              <a:t>Programa </a:t>
            </a:r>
            <a:r>
              <a:rPr lang="pt-BR" sz="2400" dirty="0"/>
              <a:t>para </a:t>
            </a:r>
            <a:r>
              <a:rPr lang="pt-BR" sz="2400" dirty="0" smtClean="0"/>
              <a:t>manutenção com estrutura degradada: </a:t>
            </a:r>
            <a:r>
              <a:rPr lang="pt-BR" sz="2400" dirty="0"/>
              <a:t>praticamente impossível </a:t>
            </a:r>
            <a:r>
              <a:rPr lang="pt-BR" sz="2400" dirty="0" err="1"/>
              <a:t>refatorar</a:t>
            </a:r>
            <a:r>
              <a:rPr lang="pt-BR" sz="2400" dirty="0"/>
              <a:t> o </a:t>
            </a:r>
            <a:r>
              <a:rPr lang="pt-BR" sz="2400" dirty="0" smtClean="0"/>
              <a:t>código. </a:t>
            </a:r>
            <a:endParaRPr lang="pt-BR" sz="2400" dirty="0"/>
          </a:p>
        </p:txBody>
      </p:sp>
    </p:spTree>
    <p:extLst>
      <p:ext uri="{BB962C8B-B14F-4D97-AF65-F5344CB8AC3E}">
        <p14:creationId xmlns:p14="http://schemas.microsoft.com/office/powerpoint/2010/main" val="273386246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0" y="0"/>
            <a:ext cx="12192000" cy="1325563"/>
          </a:xfrm>
        </p:spPr>
        <p:txBody>
          <a:bodyPr>
            <a:normAutofit fontScale="90000"/>
          </a:bodyPr>
          <a:lstStyle/>
          <a:p>
            <a:r>
              <a:rPr lang="pt-BR" dirty="0" smtClean="0"/>
              <a:t>Capitulo 9 – Evolução do software –</a:t>
            </a:r>
            <a:r>
              <a:rPr lang="pt-BR" dirty="0"/>
              <a:t>9.3 Manutenção de software - 9.3.3 Manutenção preventiva por </a:t>
            </a:r>
            <a:r>
              <a:rPr lang="pt-BR" dirty="0" err="1"/>
              <a:t>refatoração</a:t>
            </a:r>
            <a:endParaRPr lang="pt-BR" dirty="0"/>
          </a:p>
        </p:txBody>
      </p:sp>
      <p:sp>
        <p:nvSpPr>
          <p:cNvPr id="5" name="Retângulo 4"/>
          <p:cNvSpPr/>
          <p:nvPr/>
        </p:nvSpPr>
        <p:spPr>
          <a:xfrm>
            <a:off x="53196" y="1325563"/>
            <a:ext cx="12085608" cy="1569660"/>
          </a:xfrm>
          <a:prstGeom prst="rect">
            <a:avLst/>
          </a:prstGeom>
        </p:spPr>
        <p:txBody>
          <a:bodyPr wrap="square">
            <a:spAutoFit/>
          </a:bodyPr>
          <a:lstStyle/>
          <a:p>
            <a:r>
              <a:rPr lang="pt-BR" sz="2400" dirty="0" err="1"/>
              <a:t>R</a:t>
            </a:r>
            <a:r>
              <a:rPr lang="pt-BR" sz="2400" dirty="0" err="1" smtClean="0"/>
              <a:t>efatoração</a:t>
            </a:r>
            <a:r>
              <a:rPr lang="pt-BR" sz="2400" dirty="0" smtClean="0"/>
              <a:t> </a:t>
            </a:r>
            <a:r>
              <a:rPr lang="pt-BR" sz="2400" dirty="0"/>
              <a:t>de </a:t>
            </a:r>
            <a:r>
              <a:rPr lang="pt-BR" sz="2400" dirty="0" smtClean="0"/>
              <a:t>projeto:</a:t>
            </a:r>
          </a:p>
          <a:p>
            <a:r>
              <a:rPr lang="pt-BR" sz="2400" dirty="0" smtClean="0"/>
              <a:t>Problema </a:t>
            </a:r>
            <a:r>
              <a:rPr lang="pt-BR" sz="2400" dirty="0"/>
              <a:t>mais caro e difícil. </a:t>
            </a:r>
            <a:r>
              <a:rPr lang="pt-BR" sz="2400" dirty="0" smtClean="0"/>
              <a:t>Envolve </a:t>
            </a:r>
            <a:r>
              <a:rPr lang="pt-BR" sz="2400" dirty="0"/>
              <a:t>a identificação de padrões de projetos relevantes </a:t>
            </a:r>
            <a:r>
              <a:rPr lang="pt-BR" sz="2400" dirty="0" smtClean="0"/>
              <a:t> </a:t>
            </a:r>
            <a:r>
              <a:rPr lang="pt-BR" sz="2400" dirty="0"/>
              <a:t>e </a:t>
            </a:r>
            <a:r>
              <a:rPr lang="pt-BR" sz="2400" dirty="0" smtClean="0"/>
              <a:t>substituição do </a:t>
            </a:r>
            <a:r>
              <a:rPr lang="pt-BR" sz="2400" dirty="0"/>
              <a:t>código existente por um código que implementa esses padrões de projeto (KERIEVSKY, 2004). </a:t>
            </a:r>
          </a:p>
        </p:txBody>
      </p:sp>
    </p:spTree>
    <p:extLst>
      <p:ext uri="{BB962C8B-B14F-4D97-AF65-F5344CB8AC3E}">
        <p14:creationId xmlns:p14="http://schemas.microsoft.com/office/powerpoint/2010/main" val="234643673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0" y="0"/>
            <a:ext cx="12192000" cy="1325563"/>
          </a:xfrm>
        </p:spPr>
        <p:txBody>
          <a:bodyPr>
            <a:normAutofit/>
          </a:bodyPr>
          <a:lstStyle/>
          <a:p>
            <a:r>
              <a:rPr lang="pt-BR" dirty="0" smtClean="0"/>
              <a:t>Capitulo 9 – Evolução do software –</a:t>
            </a:r>
            <a:br>
              <a:rPr lang="pt-BR" dirty="0" smtClean="0"/>
            </a:br>
            <a:r>
              <a:rPr lang="pt-BR" dirty="0" smtClean="0"/>
              <a:t>9.4 </a:t>
            </a:r>
            <a:r>
              <a:rPr lang="pt-BR" dirty="0"/>
              <a:t>Gerenciamento de sistemas legados</a:t>
            </a:r>
          </a:p>
        </p:txBody>
      </p:sp>
      <p:sp>
        <p:nvSpPr>
          <p:cNvPr id="5" name="Retângulo 4"/>
          <p:cNvSpPr/>
          <p:nvPr/>
        </p:nvSpPr>
        <p:spPr>
          <a:xfrm>
            <a:off x="53196" y="1325563"/>
            <a:ext cx="12085608" cy="4893647"/>
          </a:xfrm>
          <a:prstGeom prst="rect">
            <a:avLst/>
          </a:prstGeom>
        </p:spPr>
        <p:txBody>
          <a:bodyPr wrap="square">
            <a:spAutoFit/>
          </a:bodyPr>
          <a:lstStyle/>
          <a:p>
            <a:r>
              <a:rPr lang="pt-BR" sz="2400" dirty="0"/>
              <a:t>S</a:t>
            </a:r>
            <a:r>
              <a:rPr lang="pt-BR" sz="2400" dirty="0" smtClean="0"/>
              <a:t>istemas </a:t>
            </a:r>
            <a:r>
              <a:rPr lang="pt-BR" sz="2400" dirty="0"/>
              <a:t>de software desenvolvidos por </a:t>
            </a:r>
            <a:r>
              <a:rPr lang="pt-BR" sz="2400" dirty="0" smtClean="0"/>
              <a:t>processos </a:t>
            </a:r>
            <a:r>
              <a:rPr lang="pt-BR" sz="2400" dirty="0"/>
              <a:t>modernos de engenharia de </a:t>
            </a:r>
            <a:r>
              <a:rPr lang="pt-BR" sz="2400" dirty="0" smtClean="0"/>
              <a:t>software: </a:t>
            </a:r>
            <a:r>
              <a:rPr lang="pt-BR" sz="2400" dirty="0" smtClean="0"/>
              <a:t>possível </a:t>
            </a:r>
            <a:r>
              <a:rPr lang="pt-BR" sz="2400" dirty="0"/>
              <a:t>planejar como integrar o desenvolvimento do sistema e sua evolução. </a:t>
            </a:r>
            <a:endParaRPr lang="pt-BR" sz="2400" dirty="0" smtClean="0"/>
          </a:p>
          <a:p>
            <a:endParaRPr lang="pt-BR" sz="2400" dirty="0"/>
          </a:p>
          <a:p>
            <a:r>
              <a:rPr lang="pt-BR" sz="2400" dirty="0" smtClean="0"/>
              <a:t>Empresas começam </a:t>
            </a:r>
            <a:r>
              <a:rPr lang="pt-BR" sz="2400" dirty="0"/>
              <a:t>a entender que o processo de desenvolvimento de um sistema é um processo integral de ciclo de </a:t>
            </a:r>
            <a:r>
              <a:rPr lang="pt-BR" sz="2400" dirty="0" smtClean="0"/>
              <a:t>vida: separação </a:t>
            </a:r>
            <a:r>
              <a:rPr lang="pt-BR" sz="2400" dirty="0"/>
              <a:t>entre desenvolvimento de software e manutenção de software é inútil. </a:t>
            </a:r>
            <a:endParaRPr lang="pt-BR" sz="2400" dirty="0" smtClean="0"/>
          </a:p>
          <a:p>
            <a:endParaRPr lang="pt-BR" sz="2400" dirty="0" smtClean="0"/>
          </a:p>
          <a:p>
            <a:r>
              <a:rPr lang="pt-BR" sz="2400" dirty="0" smtClean="0"/>
              <a:t>Existem </a:t>
            </a:r>
            <a:r>
              <a:rPr lang="pt-BR" sz="2400" dirty="0"/>
              <a:t>sistemas legados que são sistemas críticos de </a:t>
            </a:r>
            <a:r>
              <a:rPr lang="pt-BR" sz="2400" dirty="0" smtClean="0"/>
              <a:t>negócio: precisam </a:t>
            </a:r>
            <a:r>
              <a:rPr lang="pt-BR" sz="2400" dirty="0"/>
              <a:t>ser ampliados e adaptados às mudanças das práticas de e-business. </a:t>
            </a:r>
            <a:endParaRPr lang="pt-BR" sz="2400" dirty="0" smtClean="0"/>
          </a:p>
          <a:p>
            <a:r>
              <a:rPr lang="pt-BR" sz="2400" dirty="0" smtClean="0"/>
              <a:t>Organizações </a:t>
            </a:r>
            <a:r>
              <a:rPr lang="pt-BR" sz="2400" dirty="0"/>
              <a:t>têm um portfólio dos sistemas legados que usam, com um orçamento limitado para a manutenção e modernização desses </a:t>
            </a:r>
            <a:r>
              <a:rPr lang="pt-BR" sz="2400" dirty="0" smtClean="0"/>
              <a:t>sistemas</a:t>
            </a:r>
          </a:p>
          <a:p>
            <a:r>
              <a:rPr lang="pt-BR" sz="2400" dirty="0" smtClean="0"/>
              <a:t>Como </a:t>
            </a:r>
            <a:r>
              <a:rPr lang="pt-BR" sz="2400" dirty="0"/>
              <a:t>obter o melhor retorno de seus </a:t>
            </a:r>
            <a:r>
              <a:rPr lang="pt-BR" sz="2400" dirty="0" smtClean="0"/>
              <a:t>investimentos? envolve avaliar seus </a:t>
            </a:r>
            <a:r>
              <a:rPr lang="pt-BR" sz="2400" dirty="0"/>
              <a:t>sistemas legados </a:t>
            </a:r>
            <a:r>
              <a:rPr lang="pt-BR" sz="2400" dirty="0" smtClean="0"/>
              <a:t>e, </a:t>
            </a:r>
            <a:r>
              <a:rPr lang="pt-BR" sz="2400" dirty="0"/>
              <a:t>decidir sobre a estratégia mais adequada para a</a:t>
            </a:r>
            <a:r>
              <a:rPr lang="pt-BR" sz="2400" dirty="0" smtClean="0"/>
              <a:t> evolução.</a:t>
            </a:r>
            <a:endParaRPr lang="pt-BR" sz="2400" dirty="0"/>
          </a:p>
        </p:txBody>
      </p:sp>
    </p:spTree>
    <p:extLst>
      <p:ext uri="{BB962C8B-B14F-4D97-AF65-F5344CB8AC3E}">
        <p14:creationId xmlns:p14="http://schemas.microsoft.com/office/powerpoint/2010/main" val="39601654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0" y="0"/>
            <a:ext cx="12192000" cy="1325563"/>
          </a:xfrm>
        </p:spPr>
        <p:txBody>
          <a:bodyPr>
            <a:normAutofit/>
          </a:bodyPr>
          <a:lstStyle/>
          <a:p>
            <a:r>
              <a:rPr lang="pt-BR" dirty="0" smtClean="0"/>
              <a:t>Capitulo 9 – Evolução do software –</a:t>
            </a:r>
            <a:br>
              <a:rPr lang="pt-BR" dirty="0" smtClean="0"/>
            </a:br>
            <a:r>
              <a:rPr lang="pt-BR" dirty="0" smtClean="0"/>
              <a:t>9.4 </a:t>
            </a:r>
            <a:r>
              <a:rPr lang="pt-BR" dirty="0"/>
              <a:t>Gerenciamento de sistemas legados</a:t>
            </a:r>
          </a:p>
        </p:txBody>
      </p:sp>
      <p:sp>
        <p:nvSpPr>
          <p:cNvPr id="5" name="Retângulo 4"/>
          <p:cNvSpPr/>
          <p:nvPr/>
        </p:nvSpPr>
        <p:spPr>
          <a:xfrm>
            <a:off x="53196" y="1325563"/>
            <a:ext cx="12085608" cy="5632311"/>
          </a:xfrm>
          <a:prstGeom prst="rect">
            <a:avLst/>
          </a:prstGeom>
        </p:spPr>
        <p:txBody>
          <a:bodyPr wrap="square">
            <a:spAutoFit/>
          </a:bodyPr>
          <a:lstStyle/>
          <a:p>
            <a:r>
              <a:rPr lang="pt-BR" sz="2400" dirty="0"/>
              <a:t>Q</a:t>
            </a:r>
            <a:r>
              <a:rPr lang="pt-BR" sz="2400" dirty="0" smtClean="0"/>
              <a:t>uatro </a:t>
            </a:r>
            <a:r>
              <a:rPr lang="pt-BR" sz="2400" dirty="0"/>
              <a:t>opções estratégicas: </a:t>
            </a:r>
            <a:endParaRPr lang="pt-BR" sz="2400" dirty="0" smtClean="0"/>
          </a:p>
          <a:p>
            <a:r>
              <a:rPr lang="pt-BR" sz="2400" dirty="0" smtClean="0"/>
              <a:t>1.Descartar </a:t>
            </a:r>
            <a:r>
              <a:rPr lang="pt-BR" sz="2400" dirty="0"/>
              <a:t>completamente o </a:t>
            </a:r>
            <a:r>
              <a:rPr lang="pt-BR" sz="2400" dirty="0" smtClean="0"/>
              <a:t>sistema: </a:t>
            </a:r>
            <a:r>
              <a:rPr lang="pt-BR" sz="2400" dirty="0"/>
              <a:t>sistema não está mais </a:t>
            </a:r>
            <a:r>
              <a:rPr lang="pt-BR" sz="2400" dirty="0" smtClean="0"/>
              <a:t>contribuindo </a:t>
            </a:r>
            <a:r>
              <a:rPr lang="pt-BR" sz="2400" dirty="0"/>
              <a:t>para os processos dos </a:t>
            </a:r>
            <a:r>
              <a:rPr lang="pt-BR" sz="2400" dirty="0" smtClean="0"/>
              <a:t>negócios (Processos </a:t>
            </a:r>
            <a:r>
              <a:rPr lang="pt-BR" sz="2400" dirty="0"/>
              <a:t>de negócios se alteram desde que o sistema foi instalado e </a:t>
            </a:r>
            <a:r>
              <a:rPr lang="pt-BR" sz="2400" dirty="0" smtClean="0"/>
              <a:t>não </a:t>
            </a:r>
            <a:r>
              <a:rPr lang="pt-BR" sz="2400" dirty="0"/>
              <a:t>são dependentes do sistema </a:t>
            </a:r>
            <a:r>
              <a:rPr lang="pt-BR" sz="2400" dirty="0" smtClean="0"/>
              <a:t>legado). </a:t>
            </a:r>
          </a:p>
          <a:p>
            <a:r>
              <a:rPr lang="pt-BR" sz="2400" dirty="0" smtClean="0"/>
              <a:t>2</a:t>
            </a:r>
            <a:r>
              <a:rPr lang="pt-BR" sz="2400" dirty="0"/>
              <a:t>. Deixar o sistema inalterado e continuar com a manutenção </a:t>
            </a:r>
            <a:r>
              <a:rPr lang="pt-BR" sz="2400" dirty="0" smtClean="0"/>
              <a:t>regular: </a:t>
            </a:r>
            <a:r>
              <a:rPr lang="pt-BR" sz="2400" dirty="0"/>
              <a:t>o </a:t>
            </a:r>
            <a:r>
              <a:rPr lang="pt-BR" sz="2400" dirty="0" smtClean="0"/>
              <a:t>sistema </a:t>
            </a:r>
            <a:r>
              <a:rPr lang="pt-BR" sz="2400" dirty="0"/>
              <a:t>ainda é necessário, mas é bastante estável e os usuários </a:t>
            </a:r>
            <a:r>
              <a:rPr lang="pt-BR" sz="2400" dirty="0" smtClean="0"/>
              <a:t>fazem </a:t>
            </a:r>
            <a:r>
              <a:rPr lang="pt-BR" sz="2400" dirty="0"/>
              <a:t>poucas solicitações de mudança</a:t>
            </a:r>
            <a:r>
              <a:rPr lang="pt-BR" sz="2400" dirty="0" smtClean="0"/>
              <a:t>.</a:t>
            </a:r>
          </a:p>
          <a:p>
            <a:r>
              <a:rPr lang="pt-BR" sz="2400" dirty="0" smtClean="0"/>
              <a:t>3</a:t>
            </a:r>
            <a:r>
              <a:rPr lang="pt-BR" sz="2400" dirty="0"/>
              <a:t>. Reestruturar o sistema para melhorar </a:t>
            </a:r>
            <a:r>
              <a:rPr lang="pt-BR" sz="2400" dirty="0" smtClean="0"/>
              <a:t>a </a:t>
            </a:r>
            <a:r>
              <a:rPr lang="pt-BR" sz="2400" dirty="0" err="1" smtClean="0"/>
              <a:t>manutenibilidade</a:t>
            </a:r>
            <a:r>
              <a:rPr lang="pt-BR" sz="2400" dirty="0" smtClean="0"/>
              <a:t>: </a:t>
            </a:r>
            <a:r>
              <a:rPr lang="pt-BR" sz="2400" dirty="0"/>
              <a:t>a qualidade do sistema foi degradada pelas mudanças, e novas </a:t>
            </a:r>
            <a:r>
              <a:rPr lang="pt-BR" sz="2400" dirty="0" smtClean="0"/>
              <a:t>mudanças </a:t>
            </a:r>
            <a:r>
              <a:rPr lang="pt-BR" sz="2400" dirty="0"/>
              <a:t>estão sendo </a:t>
            </a:r>
            <a:r>
              <a:rPr lang="pt-BR" sz="2400" dirty="0" smtClean="0"/>
              <a:t>propostas (desenvolvimento </a:t>
            </a:r>
            <a:r>
              <a:rPr lang="pt-BR" sz="2400" dirty="0"/>
              <a:t>de novos componentes de interface, para que o sistema original possa trabalhar com outros sistemas mais </a:t>
            </a:r>
            <a:r>
              <a:rPr lang="pt-BR" sz="2400" dirty="0" smtClean="0"/>
              <a:t>novos)</a:t>
            </a:r>
          </a:p>
          <a:p>
            <a:r>
              <a:rPr lang="pt-BR" sz="2400" dirty="0" smtClean="0"/>
              <a:t>4</a:t>
            </a:r>
            <a:r>
              <a:rPr lang="pt-BR" sz="2400" dirty="0"/>
              <a:t>. Substituir a totalidade ou parte do sistema por um novo </a:t>
            </a:r>
            <a:r>
              <a:rPr lang="pt-BR" sz="2400" dirty="0" smtClean="0"/>
              <a:t>sistema: fatores </a:t>
            </a:r>
            <a:r>
              <a:rPr lang="pt-BR" sz="2400" dirty="0"/>
              <a:t>como hardwares novos significam que o sistema antigo não pode continuar em operação ou quando sistemas de prateleira </a:t>
            </a:r>
            <a:r>
              <a:rPr lang="pt-BR" sz="2400" dirty="0" smtClean="0"/>
              <a:t>permitem </a:t>
            </a:r>
            <a:r>
              <a:rPr lang="pt-BR" sz="2400" dirty="0"/>
              <a:t>o desenvolvimento do novo sistema a um custo razoável. </a:t>
            </a:r>
            <a:r>
              <a:rPr lang="pt-BR" sz="2400" dirty="0" smtClean="0"/>
              <a:t>Estratégia </a:t>
            </a:r>
            <a:r>
              <a:rPr lang="pt-BR" sz="2400" dirty="0"/>
              <a:t>de substituição evolutiva pode ser </a:t>
            </a:r>
            <a:r>
              <a:rPr lang="pt-BR" sz="2400" dirty="0" smtClean="0"/>
              <a:t>adotada (componentes principais </a:t>
            </a:r>
            <a:r>
              <a:rPr lang="pt-BR" sz="2400" dirty="0"/>
              <a:t>do sistema são substituídos por sistemas de prateleira com outros componentes </a:t>
            </a:r>
            <a:r>
              <a:rPr lang="pt-BR" sz="2400" dirty="0" smtClean="0"/>
              <a:t>reusados).</a:t>
            </a:r>
            <a:endParaRPr lang="pt-BR" sz="2400" dirty="0"/>
          </a:p>
        </p:txBody>
      </p:sp>
    </p:spTree>
    <p:extLst>
      <p:ext uri="{BB962C8B-B14F-4D97-AF65-F5344CB8AC3E}">
        <p14:creationId xmlns:p14="http://schemas.microsoft.com/office/powerpoint/2010/main" val="357033370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0" y="0"/>
            <a:ext cx="12192000" cy="1325563"/>
          </a:xfrm>
        </p:spPr>
        <p:txBody>
          <a:bodyPr>
            <a:normAutofit/>
          </a:bodyPr>
          <a:lstStyle/>
          <a:p>
            <a:r>
              <a:rPr lang="pt-BR" dirty="0" smtClean="0"/>
              <a:t>Capitulo 9 – Evolução do software –</a:t>
            </a:r>
            <a:br>
              <a:rPr lang="pt-BR" dirty="0" smtClean="0"/>
            </a:br>
            <a:r>
              <a:rPr lang="pt-BR" dirty="0" smtClean="0"/>
              <a:t>9.4 </a:t>
            </a:r>
            <a:r>
              <a:rPr lang="pt-BR" dirty="0"/>
              <a:t>Gerenciamento de sistemas legados</a:t>
            </a:r>
          </a:p>
        </p:txBody>
      </p:sp>
      <p:sp>
        <p:nvSpPr>
          <p:cNvPr id="5" name="Retângulo 4"/>
          <p:cNvSpPr/>
          <p:nvPr/>
        </p:nvSpPr>
        <p:spPr>
          <a:xfrm>
            <a:off x="53196" y="1325563"/>
            <a:ext cx="12085608" cy="4154984"/>
          </a:xfrm>
          <a:prstGeom prst="rect">
            <a:avLst/>
          </a:prstGeom>
        </p:spPr>
        <p:txBody>
          <a:bodyPr wrap="square">
            <a:spAutoFit/>
          </a:bodyPr>
          <a:lstStyle/>
          <a:p>
            <a:r>
              <a:rPr lang="pt-BR" sz="2400" dirty="0" smtClean="0"/>
              <a:t>As </a:t>
            </a:r>
            <a:r>
              <a:rPr lang="pt-BR" sz="2400" dirty="0"/>
              <a:t>opções não são </a:t>
            </a:r>
            <a:r>
              <a:rPr lang="pt-BR" sz="2400" dirty="0" smtClean="0"/>
              <a:t>exclusivas: Sistema </a:t>
            </a:r>
            <a:r>
              <a:rPr lang="pt-BR" sz="2400" dirty="0"/>
              <a:t>é composto de vários programas, várias opções podem ser aplicadas a cada programa. </a:t>
            </a:r>
            <a:endParaRPr lang="pt-BR" sz="2400" dirty="0" smtClean="0"/>
          </a:p>
          <a:p>
            <a:r>
              <a:rPr lang="pt-BR" sz="2400" dirty="0" smtClean="0"/>
              <a:t>Avaliação de </a:t>
            </a:r>
            <a:r>
              <a:rPr lang="pt-BR" sz="2400" dirty="0"/>
              <a:t>um sistema </a:t>
            </a:r>
            <a:r>
              <a:rPr lang="pt-BR" sz="2400" dirty="0" smtClean="0"/>
              <a:t>legado: perspectiva </a:t>
            </a:r>
            <a:r>
              <a:rPr lang="pt-BR" sz="2400" dirty="0"/>
              <a:t>de negócio </a:t>
            </a:r>
            <a:r>
              <a:rPr lang="pt-BR" sz="2400" dirty="0" smtClean="0"/>
              <a:t>e </a:t>
            </a:r>
            <a:r>
              <a:rPr lang="pt-BR" sz="2400" dirty="0"/>
              <a:t>perspectiva técnica (WARREN, 1998). P</a:t>
            </a:r>
            <a:r>
              <a:rPr lang="pt-BR" sz="2400" dirty="0" smtClean="0"/>
              <a:t>erspectiva </a:t>
            </a:r>
            <a:r>
              <a:rPr lang="pt-BR" sz="2400" dirty="0"/>
              <a:t>de </a:t>
            </a:r>
            <a:r>
              <a:rPr lang="pt-BR" sz="2400" dirty="0" smtClean="0"/>
              <a:t>negócio: o </a:t>
            </a:r>
            <a:r>
              <a:rPr lang="pt-BR" sz="2400" dirty="0"/>
              <a:t>negócio </a:t>
            </a:r>
            <a:r>
              <a:rPr lang="pt-BR" sz="2400" dirty="0" smtClean="0"/>
              <a:t>realmente </a:t>
            </a:r>
            <a:r>
              <a:rPr lang="pt-BR" sz="2400" dirty="0"/>
              <a:t>necessita do </a:t>
            </a:r>
            <a:r>
              <a:rPr lang="pt-BR" sz="2400" dirty="0" smtClean="0"/>
              <a:t>sistema?</a:t>
            </a:r>
          </a:p>
          <a:p>
            <a:r>
              <a:rPr lang="pt-BR" sz="2400" dirty="0" smtClean="0"/>
              <a:t>Perspectiva técnica: qual a </a:t>
            </a:r>
            <a:r>
              <a:rPr lang="pt-BR" sz="2400" dirty="0"/>
              <a:t>qualidade do software de aplicação e o apoio de software e hardware do </a:t>
            </a:r>
            <a:r>
              <a:rPr lang="pt-BR" sz="2400" dirty="0" smtClean="0"/>
              <a:t>sistema?</a:t>
            </a:r>
          </a:p>
          <a:p>
            <a:r>
              <a:rPr lang="pt-BR" sz="2400" dirty="0" smtClean="0"/>
              <a:t>Faz-se  </a:t>
            </a:r>
            <a:r>
              <a:rPr lang="pt-BR" sz="2400" dirty="0" smtClean="0"/>
              <a:t>combinação </a:t>
            </a:r>
            <a:r>
              <a:rPr lang="pt-BR" sz="2400" dirty="0"/>
              <a:t>do valor de negócio e da qualidade de sistema para informar </a:t>
            </a:r>
            <a:r>
              <a:rPr lang="pt-BR" sz="2400" dirty="0" smtClean="0"/>
              <a:t> </a:t>
            </a:r>
            <a:r>
              <a:rPr lang="pt-BR" sz="2400" dirty="0"/>
              <a:t>sobre o que deve ser feito com o sistema legado. </a:t>
            </a:r>
            <a:endParaRPr lang="pt-BR" sz="2400" dirty="0" smtClean="0"/>
          </a:p>
          <a:p>
            <a:r>
              <a:rPr lang="pt-BR" sz="2400" dirty="0" err="1" smtClean="0"/>
              <a:t>Ex</a:t>
            </a:r>
            <a:r>
              <a:rPr lang="pt-BR" sz="2400" dirty="0" smtClean="0"/>
              <a:t>: </a:t>
            </a:r>
            <a:r>
              <a:rPr lang="pt-BR" sz="2400" dirty="0"/>
              <a:t>suponha que uma organização tenha dez sistemas legados. </a:t>
            </a:r>
            <a:r>
              <a:rPr lang="pt-BR" sz="2400" dirty="0" smtClean="0"/>
              <a:t>Avalia-se </a:t>
            </a:r>
            <a:r>
              <a:rPr lang="pt-BR" sz="2400" dirty="0"/>
              <a:t>a qualidade e o valor de negócio de cada </a:t>
            </a:r>
            <a:r>
              <a:rPr lang="pt-BR" sz="2400" dirty="0" smtClean="0"/>
              <a:t>um. Cria-se </a:t>
            </a:r>
            <a:r>
              <a:rPr lang="pt-BR" sz="2400" dirty="0"/>
              <a:t>um gráfico mostrando o valor de negócio relativo e qualidade de sistema, conforme a Figura 9.12.</a:t>
            </a:r>
          </a:p>
        </p:txBody>
      </p:sp>
    </p:spTree>
    <p:extLst>
      <p:ext uri="{BB962C8B-B14F-4D97-AF65-F5344CB8AC3E}">
        <p14:creationId xmlns:p14="http://schemas.microsoft.com/office/powerpoint/2010/main" val="125859548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0" y="0"/>
            <a:ext cx="12192000" cy="1325563"/>
          </a:xfrm>
        </p:spPr>
        <p:txBody>
          <a:bodyPr>
            <a:normAutofit/>
          </a:bodyPr>
          <a:lstStyle/>
          <a:p>
            <a:r>
              <a:rPr lang="pt-BR" dirty="0" smtClean="0"/>
              <a:t>Capitulo 9 – Evolução do software –</a:t>
            </a:r>
            <a:br>
              <a:rPr lang="pt-BR" dirty="0" smtClean="0"/>
            </a:br>
            <a:r>
              <a:rPr lang="pt-BR" dirty="0" smtClean="0"/>
              <a:t>9.4 </a:t>
            </a:r>
            <a:r>
              <a:rPr lang="pt-BR" dirty="0"/>
              <a:t>Gerenciamento de sistemas legados</a:t>
            </a:r>
          </a:p>
        </p:txBody>
      </p:sp>
      <p:sp>
        <p:nvSpPr>
          <p:cNvPr id="5" name="Retângulo 4"/>
          <p:cNvSpPr/>
          <p:nvPr/>
        </p:nvSpPr>
        <p:spPr>
          <a:xfrm>
            <a:off x="53196" y="1325563"/>
            <a:ext cx="12085608" cy="5632311"/>
          </a:xfrm>
          <a:prstGeom prst="rect">
            <a:avLst/>
          </a:prstGeom>
        </p:spPr>
        <p:txBody>
          <a:bodyPr wrap="square">
            <a:spAutoFit/>
          </a:bodyPr>
          <a:lstStyle/>
          <a:p>
            <a:r>
              <a:rPr lang="pt-BR" sz="2400" dirty="0"/>
              <a:t>F</a:t>
            </a:r>
            <a:r>
              <a:rPr lang="pt-BR" sz="2400" dirty="0" smtClean="0"/>
              <a:t>igura 9.12 - existem </a:t>
            </a:r>
            <a:r>
              <a:rPr lang="pt-BR" sz="2400" dirty="0"/>
              <a:t>quatro grupos de </a:t>
            </a:r>
            <a:r>
              <a:rPr lang="pt-BR" sz="2400" dirty="0" smtClean="0"/>
              <a:t>sistemas:</a:t>
            </a:r>
          </a:p>
          <a:p>
            <a:r>
              <a:rPr lang="pt-BR" sz="2400" dirty="0" smtClean="0"/>
              <a:t>1.Baixa </a:t>
            </a:r>
            <a:r>
              <a:rPr lang="pt-BR" sz="2400" dirty="0"/>
              <a:t>qualidade, baixo valor de </a:t>
            </a:r>
            <a:r>
              <a:rPr lang="pt-BR" sz="2400" dirty="0" smtClean="0"/>
              <a:t>negócio</a:t>
            </a:r>
            <a:r>
              <a:rPr lang="pt-BR" sz="2400" dirty="0"/>
              <a:t>:</a:t>
            </a:r>
            <a:r>
              <a:rPr lang="pt-BR" sz="2400" dirty="0" smtClean="0"/>
              <a:t> </a:t>
            </a:r>
            <a:r>
              <a:rPr lang="pt-BR" sz="2400" dirty="0"/>
              <a:t>Manter esses sistemas em funcionamento se tornará caro, e a taxa de retorno para o </a:t>
            </a:r>
            <a:r>
              <a:rPr lang="pt-BR" sz="2400" dirty="0" smtClean="0"/>
              <a:t>negócio </a:t>
            </a:r>
            <a:r>
              <a:rPr lang="pt-BR" sz="2400" dirty="0"/>
              <a:t>reduzida. Esses sistemas devem ser descartados. </a:t>
            </a:r>
            <a:endParaRPr lang="pt-BR" sz="2400" dirty="0" smtClean="0"/>
          </a:p>
          <a:p>
            <a:r>
              <a:rPr lang="pt-BR" sz="2400" dirty="0" smtClean="0"/>
              <a:t>2</a:t>
            </a:r>
            <a:r>
              <a:rPr lang="pt-BR" sz="2400" dirty="0"/>
              <a:t>. Baixa qualidade, alto valor de </a:t>
            </a:r>
            <a:r>
              <a:rPr lang="pt-BR" sz="2400" dirty="0" smtClean="0"/>
              <a:t>negócio: sistemas </a:t>
            </a:r>
            <a:r>
              <a:rPr lang="pt-BR" sz="2400" dirty="0"/>
              <a:t>dão uma contribuição importante para o negócio, </a:t>
            </a:r>
            <a:r>
              <a:rPr lang="pt-BR" sz="2400" dirty="0" smtClean="0"/>
              <a:t>não podendo </a:t>
            </a:r>
            <a:r>
              <a:rPr lang="pt-BR" sz="2400" dirty="0"/>
              <a:t>ser descartados. A</a:t>
            </a:r>
            <a:r>
              <a:rPr lang="pt-BR" sz="2400" dirty="0" smtClean="0"/>
              <a:t> </a:t>
            </a:r>
            <a:r>
              <a:rPr lang="pt-BR" sz="2400" dirty="0"/>
              <a:t>baixa qualidade significa que seu custo de manutenção é alto. </a:t>
            </a:r>
            <a:r>
              <a:rPr lang="pt-BR" sz="2400" dirty="0" smtClean="0"/>
              <a:t>Devem </a:t>
            </a:r>
            <a:r>
              <a:rPr lang="pt-BR" sz="2400" dirty="0"/>
              <a:t>ser reestruturados para melhorar a qualidade. P</a:t>
            </a:r>
            <a:r>
              <a:rPr lang="pt-BR" sz="2400" dirty="0" smtClean="0"/>
              <a:t>odem </a:t>
            </a:r>
            <a:r>
              <a:rPr lang="pt-BR" sz="2400" dirty="0"/>
              <a:t>ser substituídos, caso um sistema de prateleira esteja disponível. </a:t>
            </a:r>
            <a:endParaRPr lang="pt-BR" sz="2400" dirty="0" smtClean="0"/>
          </a:p>
          <a:p>
            <a:r>
              <a:rPr lang="pt-BR" sz="2400" dirty="0" smtClean="0"/>
              <a:t>3</a:t>
            </a:r>
            <a:r>
              <a:rPr lang="pt-BR" sz="2400" dirty="0"/>
              <a:t>. Alta qualidade, baixo valor de </a:t>
            </a:r>
            <a:r>
              <a:rPr lang="pt-BR" sz="2400" dirty="0" smtClean="0"/>
              <a:t>negócio: </a:t>
            </a:r>
            <a:r>
              <a:rPr lang="pt-BR" sz="2400" dirty="0"/>
              <a:t>sistemas não contribuem muito para o negócio, mas seus custos de manutenção podem não ser altos. Não vale a pena substituir esses sistemas; </a:t>
            </a:r>
            <a:r>
              <a:rPr lang="pt-BR" sz="2400" dirty="0" smtClean="0"/>
              <a:t>a </a:t>
            </a:r>
            <a:r>
              <a:rPr lang="pt-BR" sz="2400" dirty="0"/>
              <a:t>manutenção normal do sistema pode ser mantida se mudanças de alto custo não forem necessárias e o hardware do sistema </a:t>
            </a:r>
            <a:r>
              <a:rPr lang="pt-BR" sz="2400" dirty="0" smtClean="0"/>
              <a:t>permanecer </a:t>
            </a:r>
            <a:r>
              <a:rPr lang="pt-BR" sz="2400" dirty="0"/>
              <a:t>em uso. </a:t>
            </a:r>
            <a:r>
              <a:rPr lang="pt-BR" sz="2400" dirty="0" smtClean="0"/>
              <a:t>Com </a:t>
            </a:r>
            <a:r>
              <a:rPr lang="pt-BR" sz="2400" dirty="0"/>
              <a:t>mudanças </a:t>
            </a:r>
            <a:r>
              <a:rPr lang="pt-BR" sz="2400" dirty="0" smtClean="0"/>
              <a:t>caras</a:t>
            </a:r>
            <a:r>
              <a:rPr lang="pt-BR" sz="2400" dirty="0"/>
              <a:t>, o software deve ser descartado. </a:t>
            </a:r>
            <a:endParaRPr lang="pt-BR" sz="2400" dirty="0" smtClean="0"/>
          </a:p>
          <a:p>
            <a:r>
              <a:rPr lang="pt-BR" sz="2400" dirty="0" smtClean="0"/>
              <a:t>4</a:t>
            </a:r>
            <a:r>
              <a:rPr lang="pt-BR" sz="2400" dirty="0"/>
              <a:t>. Alta qualidade, alto valor de </a:t>
            </a:r>
            <a:r>
              <a:rPr lang="pt-BR" sz="2400" dirty="0" smtClean="0"/>
              <a:t>negócio: sistemas </a:t>
            </a:r>
            <a:r>
              <a:rPr lang="pt-BR" sz="2400" dirty="0"/>
              <a:t>precisam ser mantidos em operação. </a:t>
            </a:r>
            <a:r>
              <a:rPr lang="pt-BR" sz="2400" dirty="0" smtClean="0"/>
              <a:t>A alta </a:t>
            </a:r>
            <a:r>
              <a:rPr lang="pt-BR" sz="2400" dirty="0" smtClean="0"/>
              <a:t>qualidade: sem </a:t>
            </a:r>
            <a:r>
              <a:rPr lang="pt-BR" sz="2400" dirty="0"/>
              <a:t>necessidade de investimentos na transformação ou substituição do sistema. A manutenção </a:t>
            </a:r>
            <a:r>
              <a:rPr lang="pt-BR" sz="2400" dirty="0" smtClean="0"/>
              <a:t>normal </a:t>
            </a:r>
            <a:r>
              <a:rPr lang="pt-BR" sz="2400" dirty="0"/>
              <a:t>deve ser mantida. </a:t>
            </a:r>
          </a:p>
        </p:txBody>
      </p:sp>
    </p:spTree>
    <p:extLst>
      <p:ext uri="{BB962C8B-B14F-4D97-AF65-F5344CB8AC3E}">
        <p14:creationId xmlns:p14="http://schemas.microsoft.com/office/powerpoint/2010/main" val="66270921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0" y="0"/>
            <a:ext cx="12192000" cy="1325563"/>
          </a:xfrm>
        </p:spPr>
        <p:txBody>
          <a:bodyPr>
            <a:normAutofit/>
          </a:bodyPr>
          <a:lstStyle/>
          <a:p>
            <a:r>
              <a:rPr lang="pt-BR" dirty="0" smtClean="0"/>
              <a:t>Capitulo 9 – Evolução do software –</a:t>
            </a:r>
            <a:br>
              <a:rPr lang="pt-BR" dirty="0" smtClean="0"/>
            </a:br>
            <a:r>
              <a:rPr lang="pt-BR" dirty="0" smtClean="0"/>
              <a:t>9.4 </a:t>
            </a:r>
            <a:r>
              <a:rPr lang="pt-BR" dirty="0"/>
              <a:t>Gerenciamento de sistemas legados</a:t>
            </a:r>
          </a:p>
        </p:txBody>
      </p:sp>
      <p:sp>
        <p:nvSpPr>
          <p:cNvPr id="5" name="Retângulo 4"/>
          <p:cNvSpPr/>
          <p:nvPr/>
        </p:nvSpPr>
        <p:spPr>
          <a:xfrm>
            <a:off x="53196" y="1325563"/>
            <a:ext cx="12085608" cy="461665"/>
          </a:xfrm>
          <a:prstGeom prst="rect">
            <a:avLst/>
          </a:prstGeom>
        </p:spPr>
        <p:txBody>
          <a:bodyPr wrap="square">
            <a:spAutoFit/>
          </a:bodyPr>
          <a:lstStyle/>
          <a:p>
            <a:r>
              <a:rPr lang="pt-BR" sz="2400" dirty="0" smtClean="0"/>
              <a:t>9.12</a:t>
            </a:r>
            <a:r>
              <a:rPr lang="pt-BR" sz="2400" dirty="0"/>
              <a:t>.</a:t>
            </a:r>
          </a:p>
        </p:txBody>
      </p:sp>
      <p:pic>
        <p:nvPicPr>
          <p:cNvPr id="3" name="Imagem 2"/>
          <p:cNvPicPr>
            <a:picLocks noChangeAspect="1"/>
          </p:cNvPicPr>
          <p:nvPr/>
        </p:nvPicPr>
        <p:blipFill>
          <a:blip r:embed="rId2"/>
          <a:stretch>
            <a:fillRect/>
          </a:stretch>
        </p:blipFill>
        <p:spPr>
          <a:xfrm>
            <a:off x="1690778" y="1333325"/>
            <a:ext cx="7203056" cy="5395340"/>
          </a:xfrm>
          <a:prstGeom prst="rect">
            <a:avLst/>
          </a:prstGeom>
        </p:spPr>
      </p:pic>
    </p:spTree>
    <p:extLst>
      <p:ext uri="{BB962C8B-B14F-4D97-AF65-F5344CB8AC3E}">
        <p14:creationId xmlns:p14="http://schemas.microsoft.com/office/powerpoint/2010/main" val="1752638116"/>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0" y="0"/>
            <a:ext cx="12192000" cy="1325563"/>
          </a:xfrm>
        </p:spPr>
        <p:txBody>
          <a:bodyPr>
            <a:normAutofit/>
          </a:bodyPr>
          <a:lstStyle/>
          <a:p>
            <a:r>
              <a:rPr lang="pt-BR" dirty="0" smtClean="0"/>
              <a:t>Capitulo 9 – Evolução do software –</a:t>
            </a:r>
            <a:br>
              <a:rPr lang="pt-BR" dirty="0" smtClean="0"/>
            </a:br>
            <a:r>
              <a:rPr lang="pt-BR" dirty="0" smtClean="0"/>
              <a:t>9.4 </a:t>
            </a:r>
            <a:r>
              <a:rPr lang="pt-BR" dirty="0"/>
              <a:t>Gerenciamento de sistemas legados</a:t>
            </a:r>
          </a:p>
        </p:txBody>
      </p:sp>
      <p:sp>
        <p:nvSpPr>
          <p:cNvPr id="5" name="Retângulo 4"/>
          <p:cNvSpPr/>
          <p:nvPr/>
        </p:nvSpPr>
        <p:spPr>
          <a:xfrm>
            <a:off x="53196" y="1325563"/>
            <a:ext cx="12085608" cy="4893647"/>
          </a:xfrm>
          <a:prstGeom prst="rect">
            <a:avLst/>
          </a:prstGeom>
        </p:spPr>
        <p:txBody>
          <a:bodyPr wrap="square">
            <a:spAutoFit/>
          </a:bodyPr>
          <a:lstStyle/>
          <a:p>
            <a:r>
              <a:rPr lang="pt-BR" sz="2400" dirty="0" smtClean="0"/>
              <a:t>Avaliação do </a:t>
            </a:r>
            <a:r>
              <a:rPr lang="pt-BR" sz="2400" dirty="0"/>
              <a:t>valor de negócio de um </a:t>
            </a:r>
            <a:r>
              <a:rPr lang="pt-BR" sz="2400" dirty="0" smtClean="0"/>
              <a:t>sistema: 1)identificam-se </a:t>
            </a:r>
            <a:r>
              <a:rPr lang="pt-BR" sz="2400" dirty="0"/>
              <a:t>os </a:t>
            </a:r>
            <a:r>
              <a:rPr lang="pt-BR" sz="2400" dirty="0" err="1"/>
              <a:t>stakeholders</a:t>
            </a:r>
            <a:r>
              <a:rPr lang="pt-BR" sz="2400" dirty="0"/>
              <a:t> do sistema, como os </a:t>
            </a:r>
            <a:r>
              <a:rPr lang="pt-BR" sz="2400" dirty="0" smtClean="0"/>
              <a:t>usuários </a:t>
            </a:r>
            <a:r>
              <a:rPr lang="pt-BR" sz="2400" dirty="0"/>
              <a:t>finais do sistema e seus </a:t>
            </a:r>
            <a:r>
              <a:rPr lang="pt-BR" sz="2400" dirty="0" smtClean="0"/>
              <a:t>gerentes; 2) faz-se </a:t>
            </a:r>
            <a:r>
              <a:rPr lang="pt-BR" sz="2400" dirty="0"/>
              <a:t>série de perguntas sobre </a:t>
            </a:r>
            <a:r>
              <a:rPr lang="pt-BR" sz="2400" dirty="0" smtClean="0"/>
              <a:t>eles: </a:t>
            </a:r>
          </a:p>
          <a:p>
            <a:r>
              <a:rPr lang="pt-BR" sz="2400" dirty="0" smtClean="0"/>
              <a:t>1. O </a:t>
            </a:r>
            <a:r>
              <a:rPr lang="pt-BR" sz="2400" dirty="0"/>
              <a:t>uso do </a:t>
            </a:r>
            <a:r>
              <a:rPr lang="pt-BR" sz="2400" dirty="0" smtClean="0"/>
              <a:t>sistema:  </a:t>
            </a:r>
            <a:r>
              <a:rPr lang="pt-BR" sz="2400" dirty="0"/>
              <a:t>sistemas </a:t>
            </a:r>
            <a:r>
              <a:rPr lang="pt-BR" sz="2400" dirty="0" smtClean="0"/>
              <a:t>usados ocasionalmente </a:t>
            </a:r>
            <a:r>
              <a:rPr lang="pt-BR" sz="2400" dirty="0"/>
              <a:t>ou por um pequeno número de </a:t>
            </a:r>
            <a:r>
              <a:rPr lang="pt-BR" sz="2400" dirty="0" smtClean="0"/>
              <a:t>pessoas podem </a:t>
            </a:r>
            <a:r>
              <a:rPr lang="pt-BR" sz="2400" dirty="0"/>
              <a:t>ter um valor </a:t>
            </a:r>
            <a:r>
              <a:rPr lang="pt-BR" sz="2400" dirty="0" smtClean="0"/>
              <a:t>baixo de negócio. </a:t>
            </a:r>
            <a:r>
              <a:rPr lang="pt-BR" sz="2400" dirty="0"/>
              <a:t>S</a:t>
            </a:r>
            <a:r>
              <a:rPr lang="pt-BR" sz="2400" dirty="0" smtClean="0"/>
              <a:t>istema </a:t>
            </a:r>
            <a:r>
              <a:rPr lang="pt-BR" sz="2400" dirty="0"/>
              <a:t>legado </a:t>
            </a:r>
            <a:r>
              <a:rPr lang="pt-BR" sz="2400" dirty="0" smtClean="0"/>
              <a:t>desenvolvido </a:t>
            </a:r>
            <a:r>
              <a:rPr lang="pt-BR" sz="2400" dirty="0"/>
              <a:t>para suprir uma necessidade de negócio </a:t>
            </a:r>
            <a:r>
              <a:rPr lang="pt-BR" sz="2400" dirty="0" smtClean="0"/>
              <a:t>alterada </a:t>
            </a:r>
            <a:r>
              <a:rPr lang="pt-BR" sz="2400" dirty="0"/>
              <a:t>ou que </a:t>
            </a:r>
            <a:r>
              <a:rPr lang="pt-BR" sz="2400" dirty="0" smtClean="0"/>
              <a:t>atenda </a:t>
            </a:r>
            <a:r>
              <a:rPr lang="pt-BR" sz="2400" dirty="0"/>
              <a:t>de formas mais eficazes. </a:t>
            </a:r>
            <a:r>
              <a:rPr lang="pt-BR" sz="2400" dirty="0" smtClean="0"/>
              <a:t>Cuidado </a:t>
            </a:r>
            <a:r>
              <a:rPr lang="pt-BR" sz="2400" dirty="0"/>
              <a:t>acerca de usos ocasionais, mas importantes, do sistema. </a:t>
            </a:r>
            <a:r>
              <a:rPr lang="pt-BR" sz="2400" dirty="0" err="1" smtClean="0"/>
              <a:t>Ex</a:t>
            </a:r>
            <a:r>
              <a:rPr lang="pt-BR" sz="2400" dirty="0" smtClean="0"/>
              <a:t>: </a:t>
            </a:r>
            <a:r>
              <a:rPr lang="pt-BR" sz="2400" dirty="0"/>
              <a:t>em uma universidade, um sistema de registro do aluno só pode ser usado no início de cada ano letivo. No entanto, trata-se de um sistema essencial com um alto valor de negócio</a:t>
            </a:r>
            <a:r>
              <a:rPr lang="pt-BR" sz="2400" dirty="0" smtClean="0"/>
              <a:t>.</a:t>
            </a:r>
          </a:p>
          <a:p>
            <a:r>
              <a:rPr lang="pt-BR" sz="2400" dirty="0" smtClean="0"/>
              <a:t> </a:t>
            </a:r>
            <a:r>
              <a:rPr lang="pt-BR" sz="2400" dirty="0"/>
              <a:t>2. Os processos de negócios que são apoiados. Quando um sistema é introduzido, processos de negócios são </a:t>
            </a:r>
            <a:r>
              <a:rPr lang="pt-BR" sz="2400" dirty="0" smtClean="0"/>
              <a:t>desenvolvidos </a:t>
            </a:r>
            <a:r>
              <a:rPr lang="pt-BR" sz="2400" dirty="0"/>
              <a:t>para explorar </a:t>
            </a:r>
            <a:r>
              <a:rPr lang="pt-BR" sz="2400" dirty="0" smtClean="0"/>
              <a:t>suas capacidades. </a:t>
            </a:r>
            <a:r>
              <a:rPr lang="pt-BR" sz="2400" dirty="0"/>
              <a:t>Se o sistema for inflexível, mudar os processos pode ser </a:t>
            </a:r>
            <a:r>
              <a:rPr lang="pt-BR" sz="2400" dirty="0" smtClean="0"/>
              <a:t>impossível</a:t>
            </a:r>
            <a:r>
              <a:rPr lang="pt-BR" sz="2400" dirty="0"/>
              <a:t>. </a:t>
            </a:r>
            <a:r>
              <a:rPr lang="pt-BR" sz="2400" dirty="0" smtClean="0"/>
              <a:t>Com a mudança no ambiente, </a:t>
            </a:r>
            <a:r>
              <a:rPr lang="pt-BR" sz="2400" dirty="0"/>
              <a:t>os processos originais de negócio podem tornar-se obsoletos. U</a:t>
            </a:r>
            <a:r>
              <a:rPr lang="pt-BR" sz="2400" dirty="0" smtClean="0"/>
              <a:t>m </a:t>
            </a:r>
            <a:r>
              <a:rPr lang="pt-BR" sz="2400" dirty="0"/>
              <a:t>sistema pode ter um valor de negócio baixo, porque obriga o uso de processos de negócios ineficientes</a:t>
            </a:r>
          </a:p>
        </p:txBody>
      </p:sp>
    </p:spTree>
    <p:extLst>
      <p:ext uri="{BB962C8B-B14F-4D97-AF65-F5344CB8AC3E}">
        <p14:creationId xmlns:p14="http://schemas.microsoft.com/office/powerpoint/2010/main" val="1706988212"/>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0" y="0"/>
            <a:ext cx="12192000" cy="1325563"/>
          </a:xfrm>
        </p:spPr>
        <p:txBody>
          <a:bodyPr>
            <a:normAutofit/>
          </a:bodyPr>
          <a:lstStyle/>
          <a:p>
            <a:r>
              <a:rPr lang="pt-BR" dirty="0" smtClean="0"/>
              <a:t>Capitulo 9 – Evolução do software –</a:t>
            </a:r>
            <a:br>
              <a:rPr lang="pt-BR" dirty="0" smtClean="0"/>
            </a:br>
            <a:r>
              <a:rPr lang="pt-BR" dirty="0" smtClean="0"/>
              <a:t>9.4 </a:t>
            </a:r>
            <a:r>
              <a:rPr lang="pt-BR" dirty="0"/>
              <a:t>Gerenciamento de sistemas legados</a:t>
            </a:r>
          </a:p>
        </p:txBody>
      </p:sp>
      <p:sp>
        <p:nvSpPr>
          <p:cNvPr id="5" name="Retângulo 4"/>
          <p:cNvSpPr/>
          <p:nvPr/>
        </p:nvSpPr>
        <p:spPr>
          <a:xfrm>
            <a:off x="53196" y="1325563"/>
            <a:ext cx="12085608" cy="3785652"/>
          </a:xfrm>
          <a:prstGeom prst="rect">
            <a:avLst/>
          </a:prstGeom>
        </p:spPr>
        <p:txBody>
          <a:bodyPr wrap="square">
            <a:spAutoFit/>
          </a:bodyPr>
          <a:lstStyle/>
          <a:p>
            <a:r>
              <a:rPr lang="pt-BR" sz="2400" dirty="0" smtClean="0"/>
              <a:t>Avaliação do </a:t>
            </a:r>
            <a:r>
              <a:rPr lang="pt-BR" sz="2400" dirty="0"/>
              <a:t>valor de negócio de um </a:t>
            </a:r>
            <a:r>
              <a:rPr lang="pt-BR" sz="2400" dirty="0" smtClean="0"/>
              <a:t>sistema: 1)identificam-se </a:t>
            </a:r>
            <a:r>
              <a:rPr lang="pt-BR" sz="2400" dirty="0"/>
              <a:t>os </a:t>
            </a:r>
            <a:r>
              <a:rPr lang="pt-BR" sz="2400" dirty="0" err="1"/>
              <a:t>stakeholders</a:t>
            </a:r>
            <a:r>
              <a:rPr lang="pt-BR" sz="2400" dirty="0"/>
              <a:t> do sistema, como os </a:t>
            </a:r>
            <a:r>
              <a:rPr lang="pt-BR" sz="2400" dirty="0" smtClean="0"/>
              <a:t>usuários </a:t>
            </a:r>
            <a:r>
              <a:rPr lang="pt-BR" sz="2400" dirty="0"/>
              <a:t>finais do sistema e seus </a:t>
            </a:r>
            <a:r>
              <a:rPr lang="pt-BR" sz="2400" dirty="0" smtClean="0"/>
              <a:t>gerentes; 2) faz-se </a:t>
            </a:r>
            <a:r>
              <a:rPr lang="pt-BR" sz="2400" dirty="0"/>
              <a:t>série de perguntas sobre </a:t>
            </a:r>
            <a:r>
              <a:rPr lang="pt-BR" sz="2400" dirty="0" smtClean="0"/>
              <a:t>eles: </a:t>
            </a:r>
          </a:p>
          <a:p>
            <a:endParaRPr lang="pt-BR" sz="2400" dirty="0" smtClean="0"/>
          </a:p>
          <a:p>
            <a:r>
              <a:rPr lang="pt-BR" sz="2400" dirty="0" smtClean="0"/>
              <a:t>3</a:t>
            </a:r>
            <a:r>
              <a:rPr lang="pt-BR" sz="2400" dirty="0"/>
              <a:t>. Confiança do </a:t>
            </a:r>
            <a:r>
              <a:rPr lang="pt-BR" sz="2400" dirty="0" smtClean="0"/>
              <a:t>sistema: confiança é um </a:t>
            </a:r>
            <a:r>
              <a:rPr lang="pt-BR" sz="2400" dirty="0"/>
              <a:t>problema </a:t>
            </a:r>
            <a:r>
              <a:rPr lang="pt-BR" sz="2400" dirty="0" smtClean="0"/>
              <a:t>técnico e de negócio</a:t>
            </a:r>
            <a:r>
              <a:rPr lang="pt-BR" sz="2400" dirty="0"/>
              <a:t>. </a:t>
            </a:r>
            <a:r>
              <a:rPr lang="pt-BR" sz="2400" dirty="0" smtClean="0"/>
              <a:t>Sistema confiável e os </a:t>
            </a:r>
            <a:r>
              <a:rPr lang="pt-BR" sz="2400" dirty="0"/>
              <a:t>problemas </a:t>
            </a:r>
            <a:r>
              <a:rPr lang="pt-BR" sz="2400" dirty="0" smtClean="0"/>
              <a:t>afetam </a:t>
            </a:r>
            <a:r>
              <a:rPr lang="pt-BR" sz="2400" dirty="0"/>
              <a:t>os clientes do negócio ou </a:t>
            </a:r>
            <a:r>
              <a:rPr lang="pt-BR" sz="2400" dirty="0" smtClean="0"/>
              <a:t>as </a:t>
            </a:r>
            <a:r>
              <a:rPr lang="pt-BR" sz="2400" dirty="0"/>
              <a:t>pessoas no negócio são desviadas de outras tarefas para resolverem esses problemas, o </a:t>
            </a:r>
            <a:r>
              <a:rPr lang="pt-BR" sz="2400" dirty="0" smtClean="0"/>
              <a:t>sistema </a:t>
            </a:r>
            <a:r>
              <a:rPr lang="pt-BR" sz="2400" dirty="0"/>
              <a:t>terá um valor de negócio baixo. </a:t>
            </a:r>
            <a:endParaRPr lang="pt-BR" sz="2400" dirty="0" smtClean="0"/>
          </a:p>
          <a:p>
            <a:r>
              <a:rPr lang="pt-BR" sz="2400" dirty="0" smtClean="0"/>
              <a:t>4</a:t>
            </a:r>
            <a:r>
              <a:rPr lang="pt-BR" sz="2400" dirty="0"/>
              <a:t>. As saídas do </a:t>
            </a:r>
            <a:r>
              <a:rPr lang="pt-BR" sz="2400" dirty="0" smtClean="0"/>
              <a:t>sistema: </a:t>
            </a:r>
            <a:r>
              <a:rPr lang="pt-BR" sz="2400" dirty="0"/>
              <a:t>A questão-chave </a:t>
            </a:r>
            <a:r>
              <a:rPr lang="pt-BR" sz="2400" dirty="0" smtClean="0"/>
              <a:t>é </a:t>
            </a:r>
            <a:r>
              <a:rPr lang="pt-BR" sz="2400" dirty="0"/>
              <a:t>a importância das saídas do sistema para o bom funcionamento do negócio. Se o negócio depender dessas saídas, o sistema terá um alto valor de negócio. </a:t>
            </a:r>
            <a:r>
              <a:rPr lang="pt-BR" sz="2400" dirty="0" smtClean="0"/>
              <a:t>Caso as </a:t>
            </a:r>
            <a:r>
              <a:rPr lang="pt-BR" sz="2400" dirty="0"/>
              <a:t>saídas puderem ser facilmente geradas de outra forma ou se o sistema produzir saídas que são raramente usadas, então seu valor de negócio poderá ser baixo</a:t>
            </a:r>
          </a:p>
        </p:txBody>
      </p:sp>
    </p:spTree>
    <p:extLst>
      <p:ext uri="{BB962C8B-B14F-4D97-AF65-F5344CB8AC3E}">
        <p14:creationId xmlns:p14="http://schemas.microsoft.com/office/powerpoint/2010/main" val="2628085078"/>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0" y="0"/>
            <a:ext cx="12192000" cy="1325563"/>
          </a:xfrm>
        </p:spPr>
        <p:txBody>
          <a:bodyPr>
            <a:normAutofit/>
          </a:bodyPr>
          <a:lstStyle/>
          <a:p>
            <a:r>
              <a:rPr lang="pt-BR" dirty="0" smtClean="0"/>
              <a:t>Capitulo 9 – Evolução do software –</a:t>
            </a:r>
            <a:br>
              <a:rPr lang="pt-BR" dirty="0" smtClean="0"/>
            </a:br>
            <a:r>
              <a:rPr lang="pt-BR" dirty="0" smtClean="0"/>
              <a:t>9.4 </a:t>
            </a:r>
            <a:r>
              <a:rPr lang="pt-BR" dirty="0"/>
              <a:t>Gerenciamento de sistemas legados</a:t>
            </a:r>
          </a:p>
        </p:txBody>
      </p:sp>
      <p:sp>
        <p:nvSpPr>
          <p:cNvPr id="5" name="Retângulo 4"/>
          <p:cNvSpPr/>
          <p:nvPr/>
        </p:nvSpPr>
        <p:spPr>
          <a:xfrm>
            <a:off x="53196" y="1325563"/>
            <a:ext cx="12085608" cy="5262979"/>
          </a:xfrm>
          <a:prstGeom prst="rect">
            <a:avLst/>
          </a:prstGeom>
        </p:spPr>
        <p:txBody>
          <a:bodyPr wrap="square">
            <a:spAutoFit/>
          </a:bodyPr>
          <a:lstStyle/>
          <a:p>
            <a:r>
              <a:rPr lang="pt-BR" sz="2400" dirty="0" err="1" smtClean="0"/>
              <a:t>Ex</a:t>
            </a:r>
            <a:r>
              <a:rPr lang="pt-BR" sz="2400" dirty="0" smtClean="0"/>
              <a:t>: </a:t>
            </a:r>
          </a:p>
          <a:p>
            <a:r>
              <a:rPr lang="pt-BR" sz="2400" dirty="0" smtClean="0"/>
              <a:t>1) empresa oferece </a:t>
            </a:r>
            <a:r>
              <a:rPr lang="pt-BR" sz="2400" dirty="0"/>
              <a:t>um sistema de pedidos de viagem, usado pela equipe </a:t>
            </a:r>
            <a:r>
              <a:rPr lang="pt-BR" sz="2400" dirty="0" smtClean="0"/>
              <a:t>responsável </a:t>
            </a:r>
            <a:r>
              <a:rPr lang="pt-BR" sz="2400" dirty="0"/>
              <a:t>pela organização de viagens. Eles podem fazer pedidos com um agente de viagem aprovado. Os bilhetes são entregues e a empresa é cobrada por eles. </a:t>
            </a:r>
            <a:endParaRPr lang="pt-BR" sz="2400" dirty="0" smtClean="0"/>
          </a:p>
          <a:p>
            <a:r>
              <a:rPr lang="pt-BR" sz="2400" dirty="0" smtClean="0"/>
              <a:t>No </a:t>
            </a:r>
            <a:r>
              <a:rPr lang="pt-BR" sz="2400" dirty="0"/>
              <a:t>entanto, uma avaliação de valor do negócio pode revelar que esse sistema é usado apenas para uma porcentagem bastante pequena dos </a:t>
            </a:r>
            <a:r>
              <a:rPr lang="pt-BR" sz="2400" dirty="0" smtClean="0"/>
              <a:t>pedidos; </a:t>
            </a:r>
            <a:r>
              <a:rPr lang="pt-BR" sz="2400" dirty="0"/>
              <a:t>as pessoas que fazem pedidos de viagens acham mais barato e mais conveniente lidar diretamente com os fornecedores de </a:t>
            </a:r>
            <a:r>
              <a:rPr lang="pt-BR" sz="2400" dirty="0" smtClean="0"/>
              <a:t>viagens </a:t>
            </a:r>
            <a:r>
              <a:rPr lang="pt-BR" sz="2400" dirty="0" smtClean="0"/>
              <a:t>em seus </a:t>
            </a:r>
            <a:r>
              <a:rPr lang="pt-BR" sz="2400" dirty="0"/>
              <a:t>sites. Esse sistema ainda pode ser usado, mas não há motivos reais para que seja mantido. A mesma funcionalidade está disponível em sistemas externos. </a:t>
            </a:r>
            <a:endParaRPr lang="pt-BR" sz="2400" dirty="0" smtClean="0"/>
          </a:p>
          <a:p>
            <a:r>
              <a:rPr lang="pt-BR" sz="2400" dirty="0" smtClean="0"/>
              <a:t>2) empresa desenvolveu </a:t>
            </a:r>
            <a:r>
              <a:rPr lang="pt-BR" sz="2400" dirty="0"/>
              <a:t>um sistema que mantém o controle </a:t>
            </a:r>
            <a:r>
              <a:rPr lang="pt-BR" sz="2400" dirty="0" smtClean="0"/>
              <a:t>de </a:t>
            </a:r>
            <a:r>
              <a:rPr lang="pt-BR" sz="2400" dirty="0"/>
              <a:t>pedidos anteriores de clientes </a:t>
            </a:r>
            <a:r>
              <a:rPr lang="pt-BR" sz="2400" dirty="0" smtClean="0"/>
              <a:t>e </a:t>
            </a:r>
            <a:r>
              <a:rPr lang="pt-BR" sz="2400" dirty="0"/>
              <a:t>gera lembretes, para que os clientes repitam os pedidos. Esse procedimento resulta em um grande número de pedidos repetidos e mantém os clientes satisfeitos porque sentem que seu fornecedor está ciente de suas necessidades. As saídas de um sistema desse tipo são muito </a:t>
            </a:r>
            <a:r>
              <a:rPr lang="pt-BR" sz="2400" dirty="0" smtClean="0"/>
              <a:t>importantes </a:t>
            </a:r>
            <a:r>
              <a:rPr lang="pt-BR" sz="2400" dirty="0"/>
              <a:t>para o negócio e, portanto, esse sistema tem um alto valor de negócio.</a:t>
            </a:r>
          </a:p>
        </p:txBody>
      </p:sp>
    </p:spTree>
    <p:extLst>
      <p:ext uri="{BB962C8B-B14F-4D97-AF65-F5344CB8AC3E}">
        <p14:creationId xmlns:p14="http://schemas.microsoft.com/office/powerpoint/2010/main" val="1098718604"/>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0" y="0"/>
            <a:ext cx="12192000" cy="1325563"/>
          </a:xfrm>
        </p:spPr>
        <p:txBody>
          <a:bodyPr>
            <a:normAutofit/>
          </a:bodyPr>
          <a:lstStyle/>
          <a:p>
            <a:r>
              <a:rPr lang="pt-BR" dirty="0" smtClean="0"/>
              <a:t>Capitulo 9 – Evolução do software –</a:t>
            </a:r>
            <a:br>
              <a:rPr lang="pt-BR" dirty="0" smtClean="0"/>
            </a:br>
            <a:r>
              <a:rPr lang="pt-BR" dirty="0" smtClean="0"/>
              <a:t>9.4 </a:t>
            </a:r>
            <a:r>
              <a:rPr lang="pt-BR" dirty="0"/>
              <a:t>Gerenciamento de sistemas legados</a:t>
            </a:r>
          </a:p>
        </p:txBody>
      </p:sp>
      <p:sp>
        <p:nvSpPr>
          <p:cNvPr id="5" name="Retângulo 4"/>
          <p:cNvSpPr/>
          <p:nvPr/>
        </p:nvSpPr>
        <p:spPr>
          <a:xfrm>
            <a:off x="53196" y="1325563"/>
            <a:ext cx="12085608" cy="4524315"/>
          </a:xfrm>
          <a:prstGeom prst="rect">
            <a:avLst/>
          </a:prstGeom>
        </p:spPr>
        <p:txBody>
          <a:bodyPr wrap="square">
            <a:spAutoFit/>
          </a:bodyPr>
          <a:lstStyle/>
          <a:p>
            <a:r>
              <a:rPr lang="pt-BR" sz="2400" dirty="0" smtClean="0"/>
              <a:t>Avaliação de </a:t>
            </a:r>
            <a:r>
              <a:rPr lang="pt-BR" sz="2400" dirty="0"/>
              <a:t>sistema de software a partir de uma perspectiva </a:t>
            </a:r>
            <a:r>
              <a:rPr lang="pt-BR" sz="2400" dirty="0" smtClean="0"/>
              <a:t>técnica: considera-se </a:t>
            </a:r>
            <a:r>
              <a:rPr lang="pt-BR" sz="2400" dirty="0"/>
              <a:t>o sistema de aplicação  </a:t>
            </a:r>
            <a:r>
              <a:rPr lang="pt-BR" sz="2400" dirty="0" smtClean="0"/>
              <a:t>e o </a:t>
            </a:r>
            <a:r>
              <a:rPr lang="pt-BR" sz="2400" dirty="0"/>
              <a:t>ambiente no qual ele opera. O ambiente inclui o hardware e todos os softwares de apoio associados (compiladores, ambientes de desenvolvimento etc.) necessários para manter o sistema. </a:t>
            </a:r>
            <a:endParaRPr lang="pt-BR" sz="2400" dirty="0" smtClean="0"/>
          </a:p>
          <a:p>
            <a:r>
              <a:rPr lang="pt-BR" sz="2400" dirty="0" smtClean="0"/>
              <a:t>O </a:t>
            </a:r>
            <a:r>
              <a:rPr lang="pt-BR" sz="2400" dirty="0"/>
              <a:t>ambiente é importante porque muitas mudanças de sistema resultam de mudanças no ambiente, como atualizações no hardware ou sistema operacional. </a:t>
            </a:r>
            <a:endParaRPr lang="pt-BR" sz="2400" dirty="0" smtClean="0"/>
          </a:p>
          <a:p>
            <a:endParaRPr lang="pt-BR" sz="2400" dirty="0"/>
          </a:p>
          <a:p>
            <a:r>
              <a:rPr lang="pt-BR" sz="2400" dirty="0" smtClean="0"/>
              <a:t>Processo </a:t>
            </a:r>
            <a:r>
              <a:rPr lang="pt-BR" sz="2400" dirty="0"/>
              <a:t>de avaliação </a:t>
            </a:r>
            <a:r>
              <a:rPr lang="pt-BR" sz="2400" dirty="0" smtClean="0"/>
              <a:t>ambiental: medições </a:t>
            </a:r>
            <a:r>
              <a:rPr lang="pt-BR" sz="2400" dirty="0"/>
              <a:t>de sistema e de seus processos de manutenção. </a:t>
            </a:r>
            <a:endParaRPr lang="pt-BR" sz="2400" dirty="0" smtClean="0"/>
          </a:p>
          <a:p>
            <a:endParaRPr lang="pt-BR" sz="2400" dirty="0"/>
          </a:p>
          <a:p>
            <a:r>
              <a:rPr lang="pt-BR" sz="2400" dirty="0" smtClean="0"/>
              <a:t>Dados </a:t>
            </a:r>
            <a:r>
              <a:rPr lang="pt-BR" sz="2400" dirty="0" smtClean="0"/>
              <a:t>úteis</a:t>
            </a:r>
            <a:r>
              <a:rPr lang="pt-BR" sz="2400" dirty="0" smtClean="0"/>
              <a:t>: </a:t>
            </a:r>
            <a:r>
              <a:rPr lang="pt-BR" sz="2400" dirty="0"/>
              <a:t>custos de manutenção do </a:t>
            </a:r>
            <a:r>
              <a:rPr lang="pt-BR" sz="2400" dirty="0" smtClean="0"/>
              <a:t>hardware </a:t>
            </a:r>
            <a:r>
              <a:rPr lang="pt-BR" sz="2400" dirty="0"/>
              <a:t>e do software de apoio, o número de defeitos de hardware que ocorrem durante um período de tempo e a frequência de patches </a:t>
            </a:r>
            <a:r>
              <a:rPr lang="pt-BR" sz="2400" dirty="0" smtClean="0"/>
              <a:t>(correções) aplicadas </a:t>
            </a:r>
            <a:r>
              <a:rPr lang="pt-BR" sz="2400" dirty="0"/>
              <a:t>ao software de suporte do sistema.</a:t>
            </a:r>
          </a:p>
        </p:txBody>
      </p:sp>
    </p:spTree>
    <p:extLst>
      <p:ext uri="{BB962C8B-B14F-4D97-AF65-F5344CB8AC3E}">
        <p14:creationId xmlns:p14="http://schemas.microsoft.com/office/powerpoint/2010/main" val="1109521843"/>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0" y="0"/>
            <a:ext cx="12192000" cy="1325563"/>
          </a:xfrm>
        </p:spPr>
        <p:txBody>
          <a:bodyPr>
            <a:normAutofit/>
          </a:bodyPr>
          <a:lstStyle/>
          <a:p>
            <a:r>
              <a:rPr lang="pt-BR" dirty="0" smtClean="0"/>
              <a:t>Capitulo 9 – Evolução do software –</a:t>
            </a:r>
            <a:br>
              <a:rPr lang="pt-BR" dirty="0" smtClean="0"/>
            </a:br>
            <a:r>
              <a:rPr lang="pt-BR" dirty="0" smtClean="0"/>
              <a:t>9.4 </a:t>
            </a:r>
            <a:r>
              <a:rPr lang="pt-BR" dirty="0"/>
              <a:t>Gerenciamento de sistemas legados</a:t>
            </a:r>
          </a:p>
        </p:txBody>
      </p:sp>
      <p:sp>
        <p:nvSpPr>
          <p:cNvPr id="5" name="Retângulo 4"/>
          <p:cNvSpPr/>
          <p:nvPr/>
        </p:nvSpPr>
        <p:spPr>
          <a:xfrm>
            <a:off x="53196" y="1325563"/>
            <a:ext cx="12085608" cy="4154984"/>
          </a:xfrm>
          <a:prstGeom prst="rect">
            <a:avLst/>
          </a:prstGeom>
        </p:spPr>
        <p:txBody>
          <a:bodyPr wrap="square">
            <a:spAutoFit/>
          </a:bodyPr>
          <a:lstStyle/>
          <a:p>
            <a:r>
              <a:rPr lang="pt-BR" sz="2400" dirty="0"/>
              <a:t>Fatores </a:t>
            </a:r>
            <a:r>
              <a:rPr lang="pt-BR" sz="2400" dirty="0" smtClean="0"/>
              <a:t>considerados na </a:t>
            </a:r>
            <a:r>
              <a:rPr lang="pt-BR" sz="2400" dirty="0"/>
              <a:t>avaliação do </a:t>
            </a:r>
            <a:r>
              <a:rPr lang="pt-BR" sz="2400" dirty="0" smtClean="0"/>
              <a:t>ambiente: </a:t>
            </a:r>
          </a:p>
          <a:p>
            <a:pPr marL="457200" indent="-457200">
              <a:buAutoNum type="arabicParenR"/>
            </a:pPr>
            <a:r>
              <a:rPr lang="pt-BR" sz="2400" dirty="0" smtClean="0"/>
              <a:t>Estabilidade </a:t>
            </a:r>
            <a:r>
              <a:rPr lang="pt-BR" sz="2400" dirty="0"/>
              <a:t>do </a:t>
            </a:r>
            <a:r>
              <a:rPr lang="pt-BR" sz="2400" dirty="0" smtClean="0"/>
              <a:t>fornecedor - </a:t>
            </a:r>
            <a:r>
              <a:rPr lang="pt-BR" sz="2400" dirty="0" smtClean="0"/>
              <a:t>O </a:t>
            </a:r>
            <a:r>
              <a:rPr lang="pt-BR" sz="2400" dirty="0"/>
              <a:t>fornecedor ainda existe? O fornecedor é financeiramente estável e deve continuar existindo? Se o fornecedor não está mais no negócio, existe alguém que mantém os sistemas? </a:t>
            </a:r>
            <a:endParaRPr lang="pt-BR" sz="2400" dirty="0" smtClean="0"/>
          </a:p>
          <a:p>
            <a:pPr marL="457200" indent="-457200">
              <a:buAutoNum type="arabicParenR"/>
            </a:pPr>
            <a:r>
              <a:rPr lang="pt-BR" sz="2400" dirty="0" smtClean="0"/>
              <a:t> </a:t>
            </a:r>
            <a:r>
              <a:rPr lang="pt-BR" sz="2400" dirty="0"/>
              <a:t>Taxa de falhas </a:t>
            </a:r>
            <a:r>
              <a:rPr lang="pt-BR" sz="2400" dirty="0" smtClean="0"/>
              <a:t>- </a:t>
            </a:r>
            <a:r>
              <a:rPr lang="pt-BR" sz="2400" dirty="0"/>
              <a:t>O hardware tem uma grande taxa de falhas reportadas? O software de apoio trava e força o reinício do sistema? Quantos anos têm o hardware e o software? </a:t>
            </a:r>
            <a:endParaRPr lang="pt-BR" sz="2400" dirty="0" smtClean="0"/>
          </a:p>
          <a:p>
            <a:pPr marL="457200" indent="-457200">
              <a:buAutoNum type="arabicParenR"/>
            </a:pPr>
            <a:r>
              <a:rPr lang="pt-BR" sz="2400" dirty="0" smtClean="0"/>
              <a:t>Idade - Quanto </a:t>
            </a:r>
            <a:r>
              <a:rPr lang="pt-BR" sz="2400" dirty="0"/>
              <a:t>mais velho o hardware e o software de apoio, mais obsoletos serão. Ainda podem funcionar corretamente, mas poderia haver significativos benefícios econômicos e empresariais se migrassem para um sistema mais moderno. </a:t>
            </a:r>
            <a:endParaRPr lang="pt-BR" sz="2400" dirty="0" smtClean="0"/>
          </a:p>
          <a:p>
            <a:pPr marL="457200" indent="-457200">
              <a:buAutoNum type="arabicParenR"/>
            </a:pPr>
            <a:r>
              <a:rPr lang="pt-BR" sz="2400" dirty="0" smtClean="0"/>
              <a:t>Desempenho - </a:t>
            </a:r>
            <a:r>
              <a:rPr lang="pt-BR" sz="2400" dirty="0"/>
              <a:t>O desempenho do sistema é adequado? Os problemas de desempenho têm um efeito significativo sobre os usuários do sistema? </a:t>
            </a:r>
            <a:endParaRPr lang="pt-BR" sz="2400" dirty="0" smtClean="0"/>
          </a:p>
        </p:txBody>
      </p:sp>
    </p:spTree>
    <p:extLst>
      <p:ext uri="{BB962C8B-B14F-4D97-AF65-F5344CB8AC3E}">
        <p14:creationId xmlns:p14="http://schemas.microsoft.com/office/powerpoint/2010/main" val="3552760090"/>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0" y="0"/>
            <a:ext cx="12192000" cy="1325563"/>
          </a:xfrm>
        </p:spPr>
        <p:txBody>
          <a:bodyPr>
            <a:normAutofit/>
          </a:bodyPr>
          <a:lstStyle/>
          <a:p>
            <a:r>
              <a:rPr lang="pt-BR" dirty="0" smtClean="0"/>
              <a:t>Capitulo 9 – Evolução do software –</a:t>
            </a:r>
            <a:br>
              <a:rPr lang="pt-BR" dirty="0" smtClean="0"/>
            </a:br>
            <a:r>
              <a:rPr lang="pt-BR" dirty="0" smtClean="0"/>
              <a:t>9.4 </a:t>
            </a:r>
            <a:r>
              <a:rPr lang="pt-BR" dirty="0"/>
              <a:t>Gerenciamento de sistemas legados</a:t>
            </a:r>
          </a:p>
        </p:txBody>
      </p:sp>
      <p:sp>
        <p:nvSpPr>
          <p:cNvPr id="5" name="Retângulo 4"/>
          <p:cNvSpPr/>
          <p:nvPr/>
        </p:nvSpPr>
        <p:spPr>
          <a:xfrm>
            <a:off x="53196" y="1325563"/>
            <a:ext cx="12085608" cy="5262979"/>
          </a:xfrm>
          <a:prstGeom prst="rect">
            <a:avLst/>
          </a:prstGeom>
        </p:spPr>
        <p:txBody>
          <a:bodyPr wrap="square">
            <a:spAutoFit/>
          </a:bodyPr>
          <a:lstStyle/>
          <a:p>
            <a:r>
              <a:rPr lang="pt-BR" sz="2400" dirty="0"/>
              <a:t>Fatores </a:t>
            </a:r>
            <a:r>
              <a:rPr lang="pt-BR" sz="2400" dirty="0" smtClean="0"/>
              <a:t>considerados na </a:t>
            </a:r>
            <a:r>
              <a:rPr lang="pt-BR" sz="2400" dirty="0"/>
              <a:t>avaliação do </a:t>
            </a:r>
            <a:r>
              <a:rPr lang="pt-BR" sz="2400" dirty="0" smtClean="0"/>
              <a:t>ambiente: </a:t>
            </a:r>
          </a:p>
          <a:p>
            <a:r>
              <a:rPr lang="pt-BR" sz="2400" dirty="0" smtClean="0"/>
              <a:t>5) </a:t>
            </a:r>
            <a:r>
              <a:rPr lang="pt-BR" sz="2400" dirty="0" smtClean="0"/>
              <a:t>Qual </a:t>
            </a:r>
            <a:r>
              <a:rPr lang="pt-BR" sz="2400" dirty="0"/>
              <a:t>apoio local é requisitado pelo hardware e pelo software? Se houver altos custos associados a esse apoio, pode valer a pena considerar a </a:t>
            </a:r>
            <a:r>
              <a:rPr lang="pt-BR" sz="2400" dirty="0" err="1"/>
              <a:t>subsituição</a:t>
            </a:r>
            <a:r>
              <a:rPr lang="pt-BR" sz="2400" dirty="0"/>
              <a:t> do sistema. Quais são os custos de manutenção de hardware e de licenças de software de apoio? Os hardwares mais antigos podem ter custos de manutenção mais elevados do que os sistemas modernos. Os softwares de apoio podem ter altos custos de licenciamento anual</a:t>
            </a:r>
            <a:r>
              <a:rPr lang="pt-BR" sz="2400" dirty="0" smtClean="0"/>
              <a:t>.</a:t>
            </a:r>
          </a:p>
          <a:p>
            <a:r>
              <a:rPr lang="pt-BR" sz="2400" dirty="0" smtClean="0"/>
              <a:t>6)Interoperabilidade - Existem </a:t>
            </a:r>
            <a:r>
              <a:rPr lang="pt-BR" sz="2400" dirty="0"/>
              <a:t>problemas de interface do sistema com outros sistemas? Compiladores </a:t>
            </a:r>
            <a:r>
              <a:rPr lang="pt-BR" sz="2400" dirty="0" smtClean="0"/>
              <a:t>podem </a:t>
            </a:r>
            <a:r>
              <a:rPr lang="pt-BR" sz="2400" dirty="0"/>
              <a:t>ser usados com as versões atuais do sistema operacional? É necessária a emulação do </a:t>
            </a:r>
            <a:r>
              <a:rPr lang="pt-BR" sz="2400" dirty="0" smtClean="0"/>
              <a:t>hardware</a:t>
            </a:r>
          </a:p>
          <a:p>
            <a:r>
              <a:rPr lang="pt-BR" sz="2400" dirty="0" smtClean="0"/>
              <a:t>7) Inteligibilidade - </a:t>
            </a:r>
            <a:r>
              <a:rPr lang="pt-BR" sz="2400" dirty="0" smtClean="0"/>
              <a:t> </a:t>
            </a:r>
            <a:r>
              <a:rPr lang="pt-BR" sz="2400" dirty="0"/>
              <a:t>Quão difícil é compreender o código-fonte do sistema atual? Quão complexas são as estruturas de controle usadas? As variáveis têm nomes significativos que refletem sua função? </a:t>
            </a:r>
            <a:endParaRPr lang="pt-BR" sz="2400" dirty="0" smtClean="0"/>
          </a:p>
          <a:p>
            <a:r>
              <a:rPr lang="pt-BR" sz="2400" dirty="0" smtClean="0"/>
              <a:t> 8) Documentação  - </a:t>
            </a:r>
            <a:r>
              <a:rPr lang="pt-BR" sz="2400" dirty="0"/>
              <a:t>Qual documentação do sistema está disponível? A documentação é completa, consistente e atual? </a:t>
            </a:r>
            <a:endParaRPr lang="pt-BR" sz="2400" dirty="0" smtClean="0"/>
          </a:p>
        </p:txBody>
      </p:sp>
    </p:spTree>
    <p:extLst>
      <p:ext uri="{BB962C8B-B14F-4D97-AF65-F5344CB8AC3E}">
        <p14:creationId xmlns:p14="http://schemas.microsoft.com/office/powerpoint/2010/main" val="861293185"/>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0" y="0"/>
            <a:ext cx="12192000" cy="1325563"/>
          </a:xfrm>
        </p:spPr>
        <p:txBody>
          <a:bodyPr>
            <a:normAutofit/>
          </a:bodyPr>
          <a:lstStyle/>
          <a:p>
            <a:r>
              <a:rPr lang="pt-BR" dirty="0" smtClean="0"/>
              <a:t>Capitulo 9 – Evolução do software –</a:t>
            </a:r>
            <a:br>
              <a:rPr lang="pt-BR" dirty="0" smtClean="0"/>
            </a:br>
            <a:r>
              <a:rPr lang="pt-BR" dirty="0" smtClean="0"/>
              <a:t>9.4 </a:t>
            </a:r>
            <a:r>
              <a:rPr lang="pt-BR" dirty="0"/>
              <a:t>Gerenciamento de sistemas legados</a:t>
            </a:r>
          </a:p>
        </p:txBody>
      </p:sp>
      <p:sp>
        <p:nvSpPr>
          <p:cNvPr id="5" name="Retângulo 4"/>
          <p:cNvSpPr/>
          <p:nvPr/>
        </p:nvSpPr>
        <p:spPr>
          <a:xfrm>
            <a:off x="53196" y="1325563"/>
            <a:ext cx="12085608" cy="5632311"/>
          </a:xfrm>
          <a:prstGeom prst="rect">
            <a:avLst/>
          </a:prstGeom>
        </p:spPr>
        <p:txBody>
          <a:bodyPr wrap="square">
            <a:spAutoFit/>
          </a:bodyPr>
          <a:lstStyle/>
          <a:p>
            <a:r>
              <a:rPr lang="pt-BR" sz="2400" dirty="0"/>
              <a:t>Fatores </a:t>
            </a:r>
            <a:r>
              <a:rPr lang="pt-BR" sz="2400" dirty="0" smtClean="0"/>
              <a:t>considerados na </a:t>
            </a:r>
            <a:r>
              <a:rPr lang="pt-BR" sz="2400" dirty="0"/>
              <a:t>avaliação do </a:t>
            </a:r>
            <a:r>
              <a:rPr lang="pt-BR" sz="2400" dirty="0" smtClean="0"/>
              <a:t>ambiente: </a:t>
            </a:r>
          </a:p>
          <a:p>
            <a:r>
              <a:rPr lang="pt-BR" sz="2400" dirty="0" smtClean="0"/>
              <a:t>9)Dados - </a:t>
            </a:r>
            <a:r>
              <a:rPr lang="pt-BR" sz="2400" dirty="0"/>
              <a:t>Existe um modelo de dados explícito para o sistema? Até que ponto os dados nos arquivos estão duplicados? S</a:t>
            </a:r>
            <a:r>
              <a:rPr lang="pt-BR" sz="2400" dirty="0" smtClean="0"/>
              <a:t>ão </a:t>
            </a:r>
            <a:r>
              <a:rPr lang="pt-BR" sz="2400" dirty="0"/>
              <a:t>atuais e consistentes? </a:t>
            </a:r>
            <a:endParaRPr lang="pt-BR" sz="2400" dirty="0" smtClean="0"/>
          </a:p>
          <a:p>
            <a:r>
              <a:rPr lang="pt-BR" sz="2400" dirty="0" smtClean="0"/>
              <a:t> 10)Desempenho  - </a:t>
            </a:r>
            <a:r>
              <a:rPr lang="pt-BR" sz="2400" dirty="0"/>
              <a:t>O desempenho da aplicação é adequado? </a:t>
            </a:r>
            <a:r>
              <a:rPr lang="pt-BR" sz="2400" dirty="0" smtClean="0"/>
              <a:t>Os </a:t>
            </a:r>
            <a:r>
              <a:rPr lang="pt-BR" sz="2400" dirty="0"/>
              <a:t>problemas de desempenho têm um efeito significativo sobre os usuários do sistema? </a:t>
            </a:r>
            <a:endParaRPr lang="pt-BR" sz="2400" dirty="0" smtClean="0"/>
          </a:p>
          <a:p>
            <a:r>
              <a:rPr lang="pt-BR" sz="2400" dirty="0" smtClean="0"/>
              <a:t>11)Linguagem </a:t>
            </a:r>
            <a:r>
              <a:rPr lang="pt-BR" sz="2400" dirty="0"/>
              <a:t>de programação </a:t>
            </a:r>
            <a:r>
              <a:rPr lang="pt-BR" sz="2400" dirty="0" smtClean="0"/>
              <a:t> - </a:t>
            </a:r>
            <a:r>
              <a:rPr lang="pt-BR" sz="2400" dirty="0"/>
              <a:t>Compiladores modernos estão disponíveis para a linguagem de programação usada para desenvolver o sistema? A linguagem de programação ainda é usada para o desenvolvimento do novo sistema? </a:t>
            </a:r>
            <a:endParaRPr lang="pt-BR" sz="2400" dirty="0" smtClean="0"/>
          </a:p>
          <a:p>
            <a:r>
              <a:rPr lang="pt-BR" sz="2400" dirty="0" smtClean="0"/>
              <a:t>12)Gerenciamento </a:t>
            </a:r>
            <a:r>
              <a:rPr lang="pt-BR" sz="2400" dirty="0"/>
              <a:t>de configuração </a:t>
            </a:r>
            <a:r>
              <a:rPr lang="pt-BR" sz="2400" dirty="0" smtClean="0"/>
              <a:t> - Versões </a:t>
            </a:r>
            <a:r>
              <a:rPr lang="pt-BR" sz="2400" dirty="0"/>
              <a:t>de todas as partes do sistema são gerenciadas por um sistema de gerenciamento de configuração? Existe uma descrição explícita das versões de componentes usadas no sistema atual? </a:t>
            </a:r>
            <a:endParaRPr lang="pt-BR" sz="2400" dirty="0" smtClean="0"/>
          </a:p>
          <a:p>
            <a:r>
              <a:rPr lang="pt-BR" sz="2400" dirty="0" smtClean="0"/>
              <a:t>13)Dados </a:t>
            </a:r>
            <a:r>
              <a:rPr lang="pt-BR" sz="2400" dirty="0"/>
              <a:t>de teste </a:t>
            </a:r>
            <a:r>
              <a:rPr lang="pt-BR" sz="2400" dirty="0" smtClean="0"/>
              <a:t> - Existem </a:t>
            </a:r>
            <a:r>
              <a:rPr lang="pt-BR" sz="2400" dirty="0"/>
              <a:t>dados de teste para o sistema? Existem registros dos testes de regressão feitos quando novos recursos forem adicionados ao sistema? </a:t>
            </a:r>
            <a:endParaRPr lang="pt-BR" sz="2400" dirty="0" smtClean="0"/>
          </a:p>
          <a:p>
            <a:r>
              <a:rPr lang="pt-BR" sz="2400" dirty="0" smtClean="0"/>
              <a:t>14) Habilidades </a:t>
            </a:r>
            <a:r>
              <a:rPr lang="pt-BR" sz="2400" dirty="0"/>
              <a:t>de </a:t>
            </a:r>
            <a:r>
              <a:rPr lang="pt-BR" sz="2400" dirty="0" smtClean="0"/>
              <a:t>pessoal: </a:t>
            </a:r>
            <a:r>
              <a:rPr lang="pt-BR" sz="2400" dirty="0"/>
              <a:t>Existem pessoas disponíveis com as habilidades necessárias para manter a aplicação? Existem pessoas disponíveis que tenham experiência no sistema</a:t>
            </a:r>
          </a:p>
        </p:txBody>
      </p:sp>
    </p:spTree>
    <p:extLst>
      <p:ext uri="{BB962C8B-B14F-4D97-AF65-F5344CB8AC3E}">
        <p14:creationId xmlns:p14="http://schemas.microsoft.com/office/powerpoint/2010/main" val="2768292154"/>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0" y="0"/>
            <a:ext cx="12192000" cy="1325563"/>
          </a:xfrm>
        </p:spPr>
        <p:txBody>
          <a:bodyPr>
            <a:normAutofit/>
          </a:bodyPr>
          <a:lstStyle/>
          <a:p>
            <a:r>
              <a:rPr lang="pt-BR" dirty="0" smtClean="0"/>
              <a:t>Capitulo 9 – Evolução do software –</a:t>
            </a:r>
            <a:br>
              <a:rPr lang="pt-BR" dirty="0" smtClean="0"/>
            </a:br>
            <a:r>
              <a:rPr lang="pt-BR" dirty="0" smtClean="0"/>
              <a:t>9.4 </a:t>
            </a:r>
            <a:r>
              <a:rPr lang="pt-BR" dirty="0"/>
              <a:t>Gerenciamento de sistemas legados</a:t>
            </a:r>
          </a:p>
        </p:txBody>
      </p:sp>
      <p:sp>
        <p:nvSpPr>
          <p:cNvPr id="5" name="Retângulo 4"/>
          <p:cNvSpPr/>
          <p:nvPr/>
        </p:nvSpPr>
        <p:spPr>
          <a:xfrm>
            <a:off x="53196" y="1325563"/>
            <a:ext cx="12085608" cy="4893647"/>
          </a:xfrm>
          <a:prstGeom prst="rect">
            <a:avLst/>
          </a:prstGeom>
        </p:spPr>
        <p:txBody>
          <a:bodyPr wrap="square">
            <a:spAutoFit/>
          </a:bodyPr>
          <a:lstStyle/>
          <a:p>
            <a:r>
              <a:rPr lang="pt-BR" sz="2400" dirty="0" smtClean="0"/>
              <a:t>Avaliação da </a:t>
            </a:r>
            <a:r>
              <a:rPr lang="pt-BR" sz="2400" dirty="0"/>
              <a:t>qualidade técnica de um sistema de </a:t>
            </a:r>
            <a:r>
              <a:rPr lang="pt-BR" sz="2400" dirty="0" smtClean="0"/>
              <a:t>aplicação: de </a:t>
            </a:r>
            <a:r>
              <a:rPr lang="pt-BR" sz="2400" dirty="0"/>
              <a:t>fatores </a:t>
            </a:r>
            <a:r>
              <a:rPr lang="pt-BR" sz="2400" dirty="0" smtClean="0"/>
              <a:t>relacionados à </a:t>
            </a:r>
            <a:r>
              <a:rPr lang="pt-BR" sz="2400" dirty="0"/>
              <a:t>confiança do sistema, as dificuldades de sua manutenção e sua </a:t>
            </a:r>
            <a:r>
              <a:rPr lang="pt-BR" sz="2400" dirty="0" smtClean="0"/>
              <a:t>documentação, além de dados para </a:t>
            </a:r>
            <a:r>
              <a:rPr lang="pt-BR" sz="2400" dirty="0"/>
              <a:t>julgar a qualidade do </a:t>
            </a:r>
            <a:r>
              <a:rPr lang="pt-BR" sz="2400" dirty="0" smtClean="0"/>
              <a:t>sistema:</a:t>
            </a:r>
          </a:p>
          <a:p>
            <a:endParaRPr lang="pt-BR" sz="2400" dirty="0" smtClean="0"/>
          </a:p>
          <a:p>
            <a:r>
              <a:rPr lang="pt-BR" sz="2400" dirty="0" smtClean="0"/>
              <a:t>1.Número </a:t>
            </a:r>
            <a:r>
              <a:rPr lang="pt-BR" sz="2400" dirty="0"/>
              <a:t>de solicitações de mudança no </a:t>
            </a:r>
            <a:r>
              <a:rPr lang="pt-BR" sz="2400" dirty="0" smtClean="0"/>
              <a:t>sistema:  alterações </a:t>
            </a:r>
            <a:r>
              <a:rPr lang="pt-BR" sz="2400" dirty="0"/>
              <a:t>geralmente corrompem a estrutura do sistema e tornam futuras alterações mais difíceis. Quanto </a:t>
            </a:r>
            <a:r>
              <a:rPr lang="pt-BR" sz="2400" dirty="0" smtClean="0"/>
              <a:t>maior, </a:t>
            </a:r>
            <a:r>
              <a:rPr lang="pt-BR" sz="2400" dirty="0"/>
              <a:t>menor é a qualidade do sistema</a:t>
            </a:r>
            <a:r>
              <a:rPr lang="pt-BR" sz="2400" dirty="0" smtClean="0"/>
              <a:t>.</a:t>
            </a:r>
          </a:p>
          <a:p>
            <a:r>
              <a:rPr lang="pt-BR" sz="2400" dirty="0" smtClean="0"/>
              <a:t>2</a:t>
            </a:r>
            <a:r>
              <a:rPr lang="pt-BR" sz="2400" dirty="0"/>
              <a:t>. N</a:t>
            </a:r>
            <a:r>
              <a:rPr lang="pt-BR" sz="2400" dirty="0" smtClean="0"/>
              <a:t>úmero </a:t>
            </a:r>
            <a:r>
              <a:rPr lang="pt-BR" sz="2400" dirty="0"/>
              <a:t>de interfaces de </a:t>
            </a:r>
            <a:r>
              <a:rPr lang="pt-BR" sz="2400" dirty="0" smtClean="0"/>
              <a:t>usuário: importante </a:t>
            </a:r>
            <a:r>
              <a:rPr lang="pt-BR" sz="2400" dirty="0"/>
              <a:t>nos sistemas baseados em formulários, em que cada formulário pode ser considerado uma interface de usuário independente. Quanto mais interfaces, mais prováveis as inconsistências e redundâncias nessas interfaces. </a:t>
            </a:r>
            <a:endParaRPr lang="pt-BR" sz="2400" dirty="0" smtClean="0"/>
          </a:p>
          <a:p>
            <a:r>
              <a:rPr lang="pt-BR" sz="2400" dirty="0" smtClean="0"/>
              <a:t>3</a:t>
            </a:r>
            <a:r>
              <a:rPr lang="pt-BR" sz="2400" dirty="0"/>
              <a:t>. O </a:t>
            </a:r>
            <a:r>
              <a:rPr lang="pt-BR" sz="2400" dirty="0" smtClean="0"/>
              <a:t>Volume </a:t>
            </a:r>
            <a:r>
              <a:rPr lang="pt-BR" sz="2400" dirty="0"/>
              <a:t>de dados usados pelo </a:t>
            </a:r>
            <a:r>
              <a:rPr lang="pt-BR" sz="2400" dirty="0" smtClean="0"/>
              <a:t>sistema: </a:t>
            </a:r>
            <a:r>
              <a:rPr lang="pt-BR" sz="2400" dirty="0"/>
              <a:t>Quanto maior o volume de dados (número de arquivos, o tamanho do banco de dados etc.), maior a possibilidade de inconsistência nos dados, o que reduz a qualidade do sistema.</a:t>
            </a:r>
          </a:p>
        </p:txBody>
      </p:sp>
    </p:spTree>
    <p:extLst>
      <p:ext uri="{BB962C8B-B14F-4D97-AF65-F5344CB8AC3E}">
        <p14:creationId xmlns:p14="http://schemas.microsoft.com/office/powerpoint/2010/main" val="1568939988"/>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0" y="0"/>
            <a:ext cx="12192000" cy="1325563"/>
          </a:xfrm>
        </p:spPr>
        <p:txBody>
          <a:bodyPr>
            <a:normAutofit/>
          </a:bodyPr>
          <a:lstStyle/>
          <a:p>
            <a:r>
              <a:rPr lang="pt-BR" dirty="0" smtClean="0"/>
              <a:t>Capitulo 9 – Evolução do software –</a:t>
            </a:r>
            <a:br>
              <a:rPr lang="pt-BR" dirty="0" smtClean="0"/>
            </a:br>
            <a:r>
              <a:rPr lang="pt-BR" dirty="0" smtClean="0"/>
              <a:t>9.4 </a:t>
            </a:r>
            <a:r>
              <a:rPr lang="pt-BR" dirty="0"/>
              <a:t>Gerenciamento de sistemas legados</a:t>
            </a:r>
          </a:p>
        </p:txBody>
      </p:sp>
      <p:sp>
        <p:nvSpPr>
          <p:cNvPr id="5" name="Retângulo 4"/>
          <p:cNvSpPr/>
          <p:nvPr/>
        </p:nvSpPr>
        <p:spPr>
          <a:xfrm>
            <a:off x="53196" y="1325563"/>
            <a:ext cx="12085608" cy="3785652"/>
          </a:xfrm>
          <a:prstGeom prst="rect">
            <a:avLst/>
          </a:prstGeom>
        </p:spPr>
        <p:txBody>
          <a:bodyPr wrap="square">
            <a:spAutoFit/>
          </a:bodyPr>
          <a:lstStyle/>
          <a:p>
            <a:r>
              <a:rPr lang="pt-BR" sz="2400" dirty="0"/>
              <a:t>A</a:t>
            </a:r>
            <a:r>
              <a:rPr lang="pt-BR" sz="2400" dirty="0" smtClean="0"/>
              <a:t>valiação </a:t>
            </a:r>
            <a:r>
              <a:rPr lang="pt-BR" sz="2400" dirty="0"/>
              <a:t>objetiva deve ser usada para informar as decisões sobre o que fazer com um sistema legado. </a:t>
            </a:r>
            <a:endParaRPr lang="pt-BR" sz="2400" dirty="0" smtClean="0"/>
          </a:p>
          <a:p>
            <a:r>
              <a:rPr lang="pt-BR" sz="2400" dirty="0" smtClean="0"/>
              <a:t>D</a:t>
            </a:r>
            <a:r>
              <a:rPr lang="pt-BR" sz="2400" dirty="0" smtClean="0"/>
              <a:t>ecisões  podem </a:t>
            </a:r>
            <a:r>
              <a:rPr lang="pt-BR" sz="2400" smtClean="0"/>
              <a:t>não ser </a:t>
            </a:r>
            <a:r>
              <a:rPr lang="pt-BR" sz="2400" dirty="0"/>
              <a:t>objetivas, mas baseadas em considerações organizacionais ou políticas. </a:t>
            </a:r>
            <a:endParaRPr lang="pt-BR" sz="2400" dirty="0" smtClean="0"/>
          </a:p>
          <a:p>
            <a:r>
              <a:rPr lang="pt-BR" sz="2400" dirty="0" err="1" smtClean="0"/>
              <a:t>Ex</a:t>
            </a:r>
            <a:r>
              <a:rPr lang="pt-BR" sz="2400" dirty="0" smtClean="0"/>
              <a:t>: </a:t>
            </a:r>
            <a:r>
              <a:rPr lang="pt-BR" sz="2400" dirty="0"/>
              <a:t>duas empresas se fundem, o parceiro politicamente mais poderoso costuma manter seu sistema e se desfazer dos outros. Se a gerência sênior de uma organização decide mudar para uma nova plataforma de hardware, pode ser necessário que as aplicações sejam substituídas. Se não houver orçamento disponível para a transformação do sistema em um determinado ano, então a manutenção do sistema pode continuar, mesmo que isso resulte, a longo prazo, em maiores </a:t>
            </a:r>
            <a:r>
              <a:rPr lang="pt-BR" sz="2400" dirty="0" smtClean="0"/>
              <a:t>custos.</a:t>
            </a:r>
            <a:endParaRPr lang="pt-BR" sz="2400" dirty="0"/>
          </a:p>
        </p:txBody>
      </p:sp>
    </p:spTree>
    <p:extLst>
      <p:ext uri="{BB962C8B-B14F-4D97-AF65-F5344CB8AC3E}">
        <p14:creationId xmlns:p14="http://schemas.microsoft.com/office/powerpoint/2010/main" val="3007521587"/>
      </p:ext>
    </p:extLst>
  </p:cSld>
  <p:clrMapOvr>
    <a:masterClrMapping/>
  </p:clrMapOvr>
</p:sld>
</file>

<file path=ppt/theme/theme1.xml><?xml version="1.0" encoding="utf-8"?>
<a:theme xmlns:a="http://schemas.openxmlformats.org/drawingml/2006/main" name="Tema do Office">
  <a:themeElements>
    <a:clrScheme name="Escritório">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Escritório">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scritório">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5598</TotalTime>
  <Words>9025</Words>
  <Application>Microsoft Office PowerPoint</Application>
  <PresentationFormat>Widescreen</PresentationFormat>
  <Paragraphs>422</Paragraphs>
  <Slides>67</Slides>
  <Notes>0</Notes>
  <HiddenSlides>0</HiddenSlides>
  <MMClips>0</MMClips>
  <ScaleCrop>false</ScaleCrop>
  <HeadingPairs>
    <vt:vector size="6" baseType="variant">
      <vt:variant>
        <vt:lpstr>Fontes usadas</vt:lpstr>
      </vt:variant>
      <vt:variant>
        <vt:i4>3</vt:i4>
      </vt:variant>
      <vt:variant>
        <vt:lpstr>Tema</vt:lpstr>
      </vt:variant>
      <vt:variant>
        <vt:i4>1</vt:i4>
      </vt:variant>
      <vt:variant>
        <vt:lpstr>Títulos de slides</vt:lpstr>
      </vt:variant>
      <vt:variant>
        <vt:i4>67</vt:i4>
      </vt:variant>
    </vt:vector>
  </HeadingPairs>
  <TitlesOfParts>
    <vt:vector size="71" baseType="lpstr">
      <vt:lpstr>Arial</vt:lpstr>
      <vt:lpstr>Calibri</vt:lpstr>
      <vt:lpstr>Calibri Light</vt:lpstr>
      <vt:lpstr>Tema do Office</vt:lpstr>
      <vt:lpstr>Capitulo 9 –Evolução do Software</vt:lpstr>
      <vt:lpstr>Capitulo 9 – Evolução do software</vt:lpstr>
      <vt:lpstr>Capitulo 9 – Evolução do software</vt:lpstr>
      <vt:lpstr>Capitulo 9 – Evolução do software</vt:lpstr>
      <vt:lpstr>Capitulo 9 – Evolução do software</vt:lpstr>
      <vt:lpstr>Capitulo 9 – Evolução do software</vt:lpstr>
      <vt:lpstr>Capitulo 9 – Evolução do software</vt:lpstr>
      <vt:lpstr>Capitulo 9 – Evolução do software</vt:lpstr>
      <vt:lpstr>Capitulo 9 – Evolução do software</vt:lpstr>
      <vt:lpstr>Capitulo 9 – Evolução do software – 9.1 PROCESSO DE EVOLUÇÃO</vt:lpstr>
      <vt:lpstr>Capitulo 9 – Evolução do software – 9.1 PROCESSO DE EVOLUÇÃO</vt:lpstr>
      <vt:lpstr>Capitulo 9 – Evolução do software – 9.1 PROCESSO DE EVOLUÇÃO Fig 9.3</vt:lpstr>
      <vt:lpstr>Capitulo 9 – Evolução do software – 9.1 PROCESSO DE EVOLUÇÃO Fig 9.3</vt:lpstr>
      <vt:lpstr>Capitulo 9 – Evolução do software – 9.1 PROCESSO DE EVOLUÇÃO Fig 9.3</vt:lpstr>
      <vt:lpstr>Capitulo 9 – Evolução do software – 9.1 PROCESSO DE EVOLUÇÃO </vt:lpstr>
      <vt:lpstr>Capitulo 9 – Evolução do software – 9.1 PROCESSO DE EVOLUÇÃO </vt:lpstr>
      <vt:lpstr>Capitulo 9 – Evolução do software – 9.1 PROCESSO DE EVOLUÇÃO </vt:lpstr>
      <vt:lpstr>Capitulo 9 – Evolução do software – 9.1 PROCESSO DE EVOLUÇÃO </vt:lpstr>
      <vt:lpstr>Capitulo 9 – Evolução do software – 9.1 PROCESSO DE EVOLUÇÃO </vt:lpstr>
      <vt:lpstr>Capitulo 9 – Evolução do software –9.2 Dinâmica da evolução de programas </vt:lpstr>
      <vt:lpstr>Capitulo 9 – Evolução do software –9.2 Dinâmica da evolução de programas </vt:lpstr>
      <vt:lpstr>Capitulo 9 – Evolução do software –9.2 Dinâmica da evolução de programas </vt:lpstr>
      <vt:lpstr>Capitulo 9 – Evolução do software –9.2 Dinâmica da evolução de programas </vt:lpstr>
      <vt:lpstr>Capitulo 9 – Evolução do software –9.2 Dinâmica da evolução de programas </vt:lpstr>
      <vt:lpstr>Capitulo 9 – Evolução do software –9.2 Dinâmica da evolução de programas </vt:lpstr>
      <vt:lpstr>Capitulo 9 – Evolução do software –9.2 Dinâmica da evolução de programas </vt:lpstr>
      <vt:lpstr>Capitulo 9 – Evolução do software –9.3 Manutenção de software</vt:lpstr>
      <vt:lpstr>Capitulo 9 – Evolução do software –9.3 Manutenção de software</vt:lpstr>
      <vt:lpstr>Capitulo 9 – Evolução do software –9.3 Manutenção de software</vt:lpstr>
      <vt:lpstr>Capitulo 9 – Evolução do software –9.3 Manutenção de software</vt:lpstr>
      <vt:lpstr>Capitulo 9 – Evolução do software –9.3 Manutenção de software</vt:lpstr>
      <vt:lpstr>Capitulo 9 – Evolução do software –9.3 Manutenção de software</vt:lpstr>
      <vt:lpstr>Capitulo 9 – Evolução do software –9.3 Manutenção de software</vt:lpstr>
      <vt:lpstr>Capitulo 9 – Evolução do software –9.3 Manutenção de software</vt:lpstr>
      <vt:lpstr>Capitulo 9 – Evolução do software –9.3 Manutenção de software</vt:lpstr>
      <vt:lpstr>Capitulo 9 – Evolução do software –9.3 Manutenção de software</vt:lpstr>
      <vt:lpstr>Capitulo 9 – Evolução do software –9.3 Manutenção de software - 9.3.1 Previsão de manutenção</vt:lpstr>
      <vt:lpstr>Capitulo 9 – Evolução do software –9.3 Manutenção de software - 9.3.1 Previsão de manutenção</vt:lpstr>
      <vt:lpstr>Capitulo 9 – Evolução do software –9.3 Manutenção de software - 9.3.1 Previsão de manutenção</vt:lpstr>
      <vt:lpstr>Capitulo 9 – Evolução do software –9.3 Manutenção de software - 9.3.1 Previsão de manutenção</vt:lpstr>
      <vt:lpstr>Capitulo 9 – Evolução do software –9.3 Manutenção de software - 9.3.1 Previsão de manutenção</vt:lpstr>
      <vt:lpstr>Capitulo 9 – Evolução do software –9.3 Manutenção de software - 9.3.2 Reengenharia de software</vt:lpstr>
      <vt:lpstr>Capitulo 9 – Evolução do software –9.3 Manutenção de software - 9.3.2 Reengenharia de software</vt:lpstr>
      <vt:lpstr>Capitulo 9 – Evolução do software –9.3 Manutenção de software - 9.3.2 Reengenharia de software</vt:lpstr>
      <vt:lpstr>Capitulo 9 – Evolução do software –9.3 Manutenção de software - 9.3.2 Reengenharia de software</vt:lpstr>
      <vt:lpstr>Capitulo 9 – Evolução do software –9.3 Manutenção de software - 9.3.2 Reengenharia de software</vt:lpstr>
      <vt:lpstr>Capitulo 9 – Evolução do software –9.3 Manutenção de software - 9.3.2 Reengenharia de software</vt:lpstr>
      <vt:lpstr>Capitulo 9 – Evolução do software –9.3 Manutenção de software - 9.3.2 Reengenharia de software</vt:lpstr>
      <vt:lpstr>Capitulo 9 – Evolução do software –9.3 Manutenção de software - 9.3.3 Manutenção preventiva por refatoração</vt:lpstr>
      <vt:lpstr>Capitulo 9 – Evolução do software –9.3 Manutenção de software - 9.3.3 Manutenção preventiva por refatoração</vt:lpstr>
      <vt:lpstr>Capitulo 9 – Evolução do software –9.3 Manutenção de software - 9.3.3 Manutenção preventiva por refatoração</vt:lpstr>
      <vt:lpstr>Capitulo 9 – Evolução do software –9.3 Manutenção de software - 9.3.3 Manutenção preventiva por refatoração</vt:lpstr>
      <vt:lpstr>Capitulo 9 – Evolução do software –9.3 Manutenção de software - 9.3.3 Manutenção preventiva por refatoração</vt:lpstr>
      <vt:lpstr>Capitulo 9 – Evolução do software – 9.4 Gerenciamento de sistemas legados</vt:lpstr>
      <vt:lpstr>Capitulo 9 – Evolução do software – 9.4 Gerenciamento de sistemas legados</vt:lpstr>
      <vt:lpstr>Capitulo 9 – Evolução do software – 9.4 Gerenciamento de sistemas legados</vt:lpstr>
      <vt:lpstr>Capitulo 9 – Evolução do software – 9.4 Gerenciamento de sistemas legados</vt:lpstr>
      <vt:lpstr>Capitulo 9 – Evolução do software – 9.4 Gerenciamento de sistemas legados</vt:lpstr>
      <vt:lpstr>Capitulo 9 – Evolução do software – 9.4 Gerenciamento de sistemas legados</vt:lpstr>
      <vt:lpstr>Capitulo 9 – Evolução do software – 9.4 Gerenciamento de sistemas legados</vt:lpstr>
      <vt:lpstr>Capitulo 9 – Evolução do software – 9.4 Gerenciamento de sistemas legados</vt:lpstr>
      <vt:lpstr>Capitulo 9 – Evolução do software – 9.4 Gerenciamento de sistemas legados</vt:lpstr>
      <vt:lpstr>Capitulo 9 – Evolução do software – 9.4 Gerenciamento de sistemas legados</vt:lpstr>
      <vt:lpstr>Capitulo 9 – Evolução do software – 9.4 Gerenciamento de sistemas legados</vt:lpstr>
      <vt:lpstr>Capitulo 9 – Evolução do software – 9.4 Gerenciamento de sistemas legados</vt:lpstr>
      <vt:lpstr>Capitulo 9 – Evolução do software – 9.4 Gerenciamento de sistemas legados</vt:lpstr>
      <vt:lpstr>Capitulo 9 – Evolução do software – 9.4 Gerenciamento de sistemas legados</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Capitulo 7 -Projeto e Implementação</dc:title>
  <dc:creator>Marilee</dc:creator>
  <cp:lastModifiedBy>Marilee</cp:lastModifiedBy>
  <cp:revision>124</cp:revision>
  <dcterms:created xsi:type="dcterms:W3CDTF">2025-01-02T23:32:39Z</dcterms:created>
  <dcterms:modified xsi:type="dcterms:W3CDTF">2025-03-17T19:20:44Z</dcterms:modified>
</cp:coreProperties>
</file>