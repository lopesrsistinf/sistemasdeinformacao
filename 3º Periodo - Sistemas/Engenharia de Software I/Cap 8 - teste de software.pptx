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8" r:id="rId22"/>
    <p:sldId id="276"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8" r:id="rId52"/>
    <p:sldId id="307" r:id="rId53"/>
    <p:sldId id="309" r:id="rId54"/>
    <p:sldId id="310" r:id="rId55"/>
    <p:sldId id="311" r:id="rId56"/>
    <p:sldId id="312" r:id="rId57"/>
    <p:sldId id="313" r:id="rId58"/>
    <p:sldId id="314" r:id="rId59"/>
    <p:sldId id="315" r:id="rId60"/>
    <p:sldId id="316" r:id="rId61"/>
    <p:sldId id="317" r:id="rId62"/>
    <p:sldId id="320" r:id="rId63"/>
    <p:sldId id="335" r:id="rId64"/>
    <p:sldId id="321" r:id="rId65"/>
    <p:sldId id="336" r:id="rId66"/>
    <p:sldId id="318" r:id="rId67"/>
    <p:sldId id="319"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79F57B0A-CC23-408B-BDBA-42E940BAE8BD}" type="datetimeFigureOut">
              <a:rPr lang="pt-BR" smtClean="0"/>
              <a:t>03/11/2025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4131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9F57B0A-CC23-408B-BDBA-42E940BAE8BD}" type="datetimeFigureOut">
              <a:rPr lang="pt-BR" smtClean="0"/>
              <a:t>03/11/2025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1070651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79F57B0A-CC23-408B-BDBA-42E940BAE8BD}" type="datetimeFigureOut">
              <a:rPr lang="pt-BR" smtClean="0"/>
              <a:t>03/11/2025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3684378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79F57B0A-CC23-408B-BDBA-42E940BAE8BD}" type="datetimeFigureOut">
              <a:rPr lang="pt-BR" smtClean="0"/>
              <a:t>03/11/2025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2783750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79F57B0A-CC23-408B-BDBA-42E940BAE8BD}" type="datetimeFigureOut">
              <a:rPr lang="pt-BR" smtClean="0"/>
              <a:t>03/11/2025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3918671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79F57B0A-CC23-408B-BDBA-42E940BAE8BD}" type="datetimeFigureOut">
              <a:rPr lang="pt-BR" smtClean="0"/>
              <a:t>03/11/2025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429986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9F57B0A-CC23-408B-BDBA-42E940BAE8BD}" type="datetimeFigureOut">
              <a:rPr lang="pt-BR" smtClean="0"/>
              <a:t>03/11/2025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609468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79F57B0A-CC23-408B-BDBA-42E940BAE8BD}" type="datetimeFigureOut">
              <a:rPr lang="pt-BR" smtClean="0"/>
              <a:t>03/11/2025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3703855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79F57B0A-CC23-408B-BDBA-42E940BAE8BD}" type="datetimeFigureOut">
              <a:rPr lang="pt-BR" smtClean="0"/>
              <a:t>03/11/2025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598315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9F57B0A-CC23-408B-BDBA-42E940BAE8BD}" type="datetimeFigureOut">
              <a:rPr lang="pt-BR" smtClean="0"/>
              <a:t>03/11/2025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2868332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9F57B0A-CC23-408B-BDBA-42E940BAE8BD}" type="datetimeFigureOut">
              <a:rPr lang="pt-BR" smtClean="0"/>
              <a:t>03/11/2025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AD7108-BEF5-4962-8E74-F3638E5AAF31}" type="slidenum">
              <a:rPr lang="pt-BR" smtClean="0"/>
              <a:t>‹nº›</a:t>
            </a:fld>
            <a:endParaRPr lang="pt-BR"/>
          </a:p>
        </p:txBody>
      </p:sp>
    </p:spTree>
    <p:extLst>
      <p:ext uri="{BB962C8B-B14F-4D97-AF65-F5344CB8AC3E}">
        <p14:creationId xmlns:p14="http://schemas.microsoft.com/office/powerpoint/2010/main" val="1780281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F57B0A-CC23-408B-BDBA-42E940BAE8BD}" type="datetimeFigureOut">
              <a:rPr lang="pt-BR" smtClean="0"/>
              <a:t>03/11/2025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AD7108-BEF5-4962-8E74-F3638E5AAF31}" type="slidenum">
              <a:rPr lang="pt-BR" smtClean="0"/>
              <a:t>‹nº›</a:t>
            </a:fld>
            <a:endParaRPr lang="pt-BR"/>
          </a:p>
        </p:txBody>
      </p:sp>
    </p:spTree>
    <p:extLst>
      <p:ext uri="{BB962C8B-B14F-4D97-AF65-F5344CB8AC3E}">
        <p14:creationId xmlns:p14="http://schemas.microsoft.com/office/powerpoint/2010/main" val="1168931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Capitulo 8 –Teste de Software</a:t>
            </a:r>
            <a:endParaRPr lang="pt-BR" dirty="0"/>
          </a:p>
        </p:txBody>
      </p:sp>
      <p:sp>
        <p:nvSpPr>
          <p:cNvPr id="3" name="Subtítulo 2"/>
          <p:cNvSpPr>
            <a:spLocks noGrp="1"/>
          </p:cNvSpPr>
          <p:nvPr>
            <p:ph type="subTitle" idx="1"/>
          </p:nvPr>
        </p:nvSpPr>
        <p:spPr/>
        <p:txBody>
          <a:bodyPr/>
          <a:lstStyle/>
          <a:p>
            <a:endParaRPr lang="pt-BR"/>
          </a:p>
        </p:txBody>
      </p:sp>
    </p:spTree>
    <p:extLst>
      <p:ext uri="{BB962C8B-B14F-4D97-AF65-F5344CB8AC3E}">
        <p14:creationId xmlns:p14="http://schemas.microsoft.com/office/powerpoint/2010/main" val="3068327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81155" y="1319842"/>
            <a:ext cx="11818188" cy="4857121"/>
          </a:xfrm>
        </p:spPr>
        <p:txBody>
          <a:bodyPr>
            <a:normAutofit/>
          </a:bodyPr>
          <a:lstStyle/>
          <a:p>
            <a:pPr marL="0" indent="0">
              <a:buNone/>
            </a:pPr>
            <a:r>
              <a:rPr lang="pt-BR" dirty="0" smtClean="0"/>
              <a:t>Objetivos:</a:t>
            </a:r>
          </a:p>
          <a:p>
            <a:pPr marL="0" indent="0">
              <a:buNone/>
            </a:pPr>
            <a:r>
              <a:rPr lang="pt-BR" dirty="0" smtClean="0"/>
              <a:t>compreender </a:t>
            </a:r>
            <a:r>
              <a:rPr lang="pt-BR" dirty="0"/>
              <a:t>os estágios de teste durante o desenvolvimento para os testes de aceitação </a:t>
            </a:r>
            <a:r>
              <a:rPr lang="pt-BR" dirty="0" smtClean="0"/>
              <a:t>pelos usuários;</a:t>
            </a:r>
          </a:p>
          <a:p>
            <a:pPr marL="0" indent="0">
              <a:buNone/>
            </a:pPr>
            <a:r>
              <a:rPr lang="pt-BR" dirty="0" smtClean="0"/>
              <a:t>Apresentar a </a:t>
            </a:r>
            <a:r>
              <a:rPr lang="pt-BR" dirty="0"/>
              <a:t>técnicas que ajudam a escolher casos de teste orientados para a descoberta de defeitos de programa; </a:t>
            </a:r>
            <a:endParaRPr lang="pt-BR" dirty="0" smtClean="0"/>
          </a:p>
          <a:p>
            <a:pPr marL="0" indent="0">
              <a:buNone/>
            </a:pPr>
            <a:r>
              <a:rPr lang="pt-BR" dirty="0" smtClean="0"/>
              <a:t>Compreender </a:t>
            </a:r>
            <a:r>
              <a:rPr lang="pt-BR" dirty="0"/>
              <a:t>o desenvolvimento </a:t>
            </a:r>
            <a:r>
              <a:rPr lang="pt-BR" dirty="0" err="1"/>
              <a:t>test-first</a:t>
            </a:r>
            <a:r>
              <a:rPr lang="pt-BR" dirty="0"/>
              <a:t>, </a:t>
            </a:r>
            <a:r>
              <a:rPr lang="pt-BR" dirty="0" smtClean="0"/>
              <a:t>projetando-se </a:t>
            </a:r>
            <a:r>
              <a:rPr lang="pt-BR" dirty="0"/>
              <a:t>testes antes de escrever o código e os executa automaticamente; </a:t>
            </a:r>
            <a:endParaRPr lang="pt-BR" dirty="0" smtClean="0"/>
          </a:p>
          <a:p>
            <a:pPr marL="0" indent="0">
              <a:buNone/>
            </a:pPr>
            <a:r>
              <a:rPr lang="pt-BR" dirty="0"/>
              <a:t>C</a:t>
            </a:r>
            <a:r>
              <a:rPr lang="pt-BR" dirty="0" smtClean="0"/>
              <a:t>onhecer </a:t>
            </a:r>
            <a:r>
              <a:rPr lang="pt-BR" dirty="0"/>
              <a:t>as </a:t>
            </a:r>
            <a:r>
              <a:rPr lang="pt-BR" dirty="0" smtClean="0"/>
              <a:t>diferenças </a:t>
            </a:r>
            <a:r>
              <a:rPr lang="pt-BR" dirty="0"/>
              <a:t>entre teste de </a:t>
            </a:r>
            <a:r>
              <a:rPr lang="pt-BR" dirty="0" smtClean="0"/>
              <a:t>componentes</a:t>
            </a:r>
            <a:r>
              <a:rPr lang="pt-BR" dirty="0"/>
              <a:t>, de sistemas e de release, </a:t>
            </a:r>
            <a:r>
              <a:rPr lang="pt-BR" dirty="0" smtClean="0"/>
              <a:t> </a:t>
            </a:r>
            <a:r>
              <a:rPr lang="pt-BR" dirty="0"/>
              <a:t>processos e </a:t>
            </a:r>
            <a:r>
              <a:rPr lang="pt-BR" dirty="0" smtClean="0"/>
              <a:t>técnicas </a:t>
            </a:r>
            <a:r>
              <a:rPr lang="pt-BR" dirty="0"/>
              <a:t>de teste de usuário.</a:t>
            </a:r>
          </a:p>
        </p:txBody>
      </p:sp>
    </p:spTree>
    <p:extLst>
      <p:ext uri="{BB962C8B-B14F-4D97-AF65-F5344CB8AC3E}">
        <p14:creationId xmlns:p14="http://schemas.microsoft.com/office/powerpoint/2010/main" val="369811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86265" y="1595887"/>
            <a:ext cx="11887200" cy="4891177"/>
          </a:xfrm>
        </p:spPr>
        <p:txBody>
          <a:bodyPr>
            <a:normAutofit fontScale="85000" lnSpcReduction="20000"/>
          </a:bodyPr>
          <a:lstStyle/>
          <a:p>
            <a:pPr marL="0" indent="0">
              <a:buNone/>
            </a:pPr>
            <a:r>
              <a:rPr lang="pt-BR" dirty="0" smtClean="0"/>
              <a:t>Mostra o </a:t>
            </a:r>
            <a:r>
              <a:rPr lang="pt-BR" dirty="0"/>
              <a:t>que um programa </a:t>
            </a:r>
            <a:r>
              <a:rPr lang="pt-BR" dirty="0" smtClean="0"/>
              <a:t>faz, </a:t>
            </a:r>
            <a:r>
              <a:rPr lang="pt-BR" dirty="0"/>
              <a:t>o que é proposto a </a:t>
            </a:r>
            <a:r>
              <a:rPr lang="pt-BR" dirty="0" smtClean="0"/>
              <a:t>fazer, e descobre </a:t>
            </a:r>
            <a:r>
              <a:rPr lang="pt-BR" dirty="0"/>
              <a:t>os defeitos do programa antes do uso. </a:t>
            </a:r>
            <a:endParaRPr lang="pt-BR" dirty="0" smtClean="0"/>
          </a:p>
          <a:p>
            <a:pPr marL="0" indent="0">
              <a:buNone/>
            </a:pPr>
            <a:r>
              <a:rPr lang="pt-BR" dirty="0"/>
              <a:t>O</a:t>
            </a:r>
            <a:r>
              <a:rPr lang="pt-BR" dirty="0" smtClean="0"/>
              <a:t> </a:t>
            </a:r>
            <a:r>
              <a:rPr lang="pt-BR" dirty="0"/>
              <a:t>programa é executado usando dados fictícios. </a:t>
            </a:r>
            <a:endParaRPr lang="pt-BR" dirty="0" smtClean="0"/>
          </a:p>
          <a:p>
            <a:pPr marL="0" indent="0">
              <a:buNone/>
            </a:pPr>
            <a:r>
              <a:rPr lang="pt-BR" dirty="0" smtClean="0"/>
              <a:t>Os resultados </a:t>
            </a:r>
            <a:r>
              <a:rPr lang="pt-BR" dirty="0"/>
              <a:t>do teste são verificados à procura de erros, anomalias ou informações sobre os atributos não funcionais do programa. </a:t>
            </a:r>
            <a:endParaRPr lang="pt-BR" dirty="0" smtClean="0"/>
          </a:p>
          <a:p>
            <a:pPr marL="0" indent="0">
              <a:buNone/>
            </a:pPr>
            <a:r>
              <a:rPr lang="pt-BR" dirty="0" smtClean="0"/>
              <a:t>Objetivos do </a:t>
            </a:r>
            <a:r>
              <a:rPr lang="pt-BR" dirty="0"/>
              <a:t>processo de </a:t>
            </a:r>
            <a:r>
              <a:rPr lang="pt-BR" dirty="0" smtClean="0"/>
              <a:t>teste: </a:t>
            </a:r>
          </a:p>
          <a:p>
            <a:pPr marL="514350" indent="-514350">
              <a:buAutoNum type="arabicPeriod"/>
            </a:pPr>
            <a:r>
              <a:rPr lang="pt-BR" dirty="0" smtClean="0"/>
              <a:t>Demonstrar </a:t>
            </a:r>
            <a:r>
              <a:rPr lang="pt-BR" dirty="0"/>
              <a:t>ao desenvolvedor e ao cliente que o software atende a seus requisitos. </a:t>
            </a:r>
            <a:r>
              <a:rPr lang="pt-BR" dirty="0" smtClean="0"/>
              <a:t>Softwares customizados: </a:t>
            </a:r>
            <a:r>
              <a:rPr lang="pt-BR" dirty="0"/>
              <a:t>um </a:t>
            </a:r>
            <a:r>
              <a:rPr lang="pt-BR" dirty="0" smtClean="0"/>
              <a:t>ou mais testes </a:t>
            </a:r>
            <a:r>
              <a:rPr lang="pt-BR" dirty="0"/>
              <a:t>para cada </a:t>
            </a:r>
            <a:r>
              <a:rPr lang="pt-BR" dirty="0" smtClean="0"/>
              <a:t>requisito. </a:t>
            </a:r>
          </a:p>
          <a:p>
            <a:pPr marL="457200" lvl="1" indent="0">
              <a:buNone/>
            </a:pPr>
            <a:r>
              <a:rPr lang="pt-BR" sz="3100" dirty="0" smtClean="0"/>
              <a:t>Softwares genéricos: testar </a:t>
            </a:r>
            <a:r>
              <a:rPr lang="pt-BR" sz="3100" dirty="0"/>
              <a:t>todas as características do </a:t>
            </a:r>
            <a:r>
              <a:rPr lang="pt-BR" sz="3100" dirty="0" smtClean="0"/>
              <a:t>sistema e suas combinações</a:t>
            </a:r>
            <a:r>
              <a:rPr lang="pt-BR" sz="3100" dirty="0"/>
              <a:t>.</a:t>
            </a:r>
            <a:endParaRPr lang="pt-BR" dirty="0" smtClean="0"/>
          </a:p>
          <a:p>
            <a:pPr marL="514350" indent="-514350">
              <a:buAutoNum type="arabicPeriod"/>
            </a:pPr>
            <a:r>
              <a:rPr lang="pt-BR" dirty="0" smtClean="0"/>
              <a:t>Descobrir </a:t>
            </a:r>
            <a:r>
              <a:rPr lang="pt-BR" dirty="0"/>
              <a:t>situações </a:t>
            </a:r>
            <a:r>
              <a:rPr lang="pt-BR" dirty="0" smtClean="0"/>
              <a:t>de comportamento incorreto, </a:t>
            </a:r>
            <a:r>
              <a:rPr lang="pt-BR" dirty="0"/>
              <a:t>indesejável ou de forma diferente das especificações. Essas são consequências de defeitos de software. O teste de defeitos preocupa-se com a eliminação de comportamentos indesejáveis do sistema, tais como panes, interações indesejáveis com outros sistemas, </a:t>
            </a:r>
            <a:r>
              <a:rPr lang="pt-BR" dirty="0" smtClean="0"/>
              <a:t>processamentos </a:t>
            </a:r>
            <a:r>
              <a:rPr lang="pt-BR" dirty="0"/>
              <a:t>incorretos e corrupção de dados.</a:t>
            </a:r>
          </a:p>
        </p:txBody>
      </p:sp>
    </p:spTree>
    <p:extLst>
      <p:ext uri="{BB962C8B-B14F-4D97-AF65-F5344CB8AC3E}">
        <p14:creationId xmlns:p14="http://schemas.microsoft.com/office/powerpoint/2010/main" val="3716972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fontScale="85000" lnSpcReduction="20000"/>
          </a:bodyPr>
          <a:lstStyle/>
          <a:p>
            <a:pPr marL="0" indent="0">
              <a:buNone/>
            </a:pPr>
            <a:r>
              <a:rPr lang="pt-BR" dirty="0" smtClean="0"/>
              <a:t>1º objetivo - </a:t>
            </a:r>
            <a:r>
              <a:rPr lang="pt-BR" dirty="0"/>
              <a:t>testes de </a:t>
            </a:r>
            <a:r>
              <a:rPr lang="pt-BR" dirty="0" smtClean="0"/>
              <a:t>validação: </a:t>
            </a:r>
            <a:r>
              <a:rPr lang="pt-BR" dirty="0"/>
              <a:t>sistema </a:t>
            </a:r>
            <a:r>
              <a:rPr lang="pt-BR" dirty="0" smtClean="0"/>
              <a:t>executa </a:t>
            </a:r>
            <a:r>
              <a:rPr lang="pt-BR" dirty="0"/>
              <a:t>corretamente </a:t>
            </a:r>
            <a:r>
              <a:rPr lang="pt-BR" dirty="0" smtClean="0"/>
              <a:t>um </a:t>
            </a:r>
            <a:r>
              <a:rPr lang="pt-BR" dirty="0"/>
              <a:t>determinado conjunto de casos de teste que refletem o uso esperado do sistema. </a:t>
            </a:r>
            <a:endParaRPr lang="pt-BR" dirty="0" smtClean="0"/>
          </a:p>
          <a:p>
            <a:pPr marL="0" indent="0">
              <a:buNone/>
            </a:pPr>
            <a:r>
              <a:rPr lang="pt-BR" dirty="0" smtClean="0"/>
              <a:t>2º objetivo -  </a:t>
            </a:r>
            <a:r>
              <a:rPr lang="pt-BR" dirty="0"/>
              <a:t>testes de </a:t>
            </a:r>
            <a:r>
              <a:rPr lang="pt-BR" dirty="0" smtClean="0"/>
              <a:t>defeitos: </a:t>
            </a:r>
            <a:r>
              <a:rPr lang="pt-BR" dirty="0"/>
              <a:t>os casos de teste são projetados para expor os defeitos. Os casos de teste </a:t>
            </a:r>
            <a:r>
              <a:rPr lang="pt-BR" dirty="0" smtClean="0"/>
              <a:t>podem </a:t>
            </a:r>
            <a:r>
              <a:rPr lang="pt-BR" dirty="0"/>
              <a:t>ser </a:t>
            </a:r>
            <a:r>
              <a:rPr lang="pt-BR" dirty="0" smtClean="0"/>
              <a:t>obscuros </a:t>
            </a:r>
            <a:r>
              <a:rPr lang="pt-BR" dirty="0"/>
              <a:t>e não precisam refletir com precisão a maneira como o sistema costuma ser usado. </a:t>
            </a:r>
            <a:endParaRPr lang="pt-BR" dirty="0" smtClean="0"/>
          </a:p>
          <a:p>
            <a:pPr marL="0" indent="0">
              <a:buNone/>
            </a:pPr>
            <a:r>
              <a:rPr lang="pt-BR" dirty="0" smtClean="0"/>
              <a:t>Não </a:t>
            </a:r>
            <a:r>
              <a:rPr lang="pt-BR" dirty="0"/>
              <a:t>existem limites definidos entre essas duas abordagens de teste. </a:t>
            </a:r>
            <a:endParaRPr lang="pt-BR" dirty="0" smtClean="0"/>
          </a:p>
          <a:p>
            <a:pPr marL="0" indent="0">
              <a:buNone/>
            </a:pPr>
            <a:r>
              <a:rPr lang="pt-BR" dirty="0" smtClean="0"/>
              <a:t>Testes </a:t>
            </a:r>
            <a:r>
              <a:rPr lang="pt-BR" dirty="0"/>
              <a:t>de </a:t>
            </a:r>
            <a:r>
              <a:rPr lang="pt-BR" dirty="0" smtClean="0"/>
              <a:t>validação: </a:t>
            </a:r>
            <a:r>
              <a:rPr lang="pt-BR" dirty="0"/>
              <a:t>encontrar </a:t>
            </a:r>
            <a:r>
              <a:rPr lang="pt-BR" dirty="0" smtClean="0"/>
              <a:t>defeitos </a:t>
            </a:r>
            <a:r>
              <a:rPr lang="pt-BR" dirty="0"/>
              <a:t>no sistema; durante o teste de defeitos, </a:t>
            </a:r>
            <a:r>
              <a:rPr lang="pt-BR" dirty="0" smtClean="0"/>
              <a:t>alguns </a:t>
            </a:r>
            <a:r>
              <a:rPr lang="pt-BR" dirty="0"/>
              <a:t>testes mostrarão que o programa corresponde </a:t>
            </a:r>
            <a:r>
              <a:rPr lang="pt-BR" dirty="0" smtClean="0"/>
              <a:t>aos </a:t>
            </a:r>
            <a:r>
              <a:rPr lang="pt-BR" dirty="0"/>
              <a:t>seus requisitos. </a:t>
            </a:r>
            <a:endParaRPr lang="pt-BR" dirty="0" smtClean="0"/>
          </a:p>
          <a:p>
            <a:pPr marL="0" indent="0">
              <a:buNone/>
            </a:pPr>
            <a:r>
              <a:rPr lang="pt-BR" dirty="0" smtClean="0"/>
              <a:t>Figura 8.1: diferenças </a:t>
            </a:r>
            <a:r>
              <a:rPr lang="pt-BR" dirty="0"/>
              <a:t>entre os testes de validação e o teste de defeitos</a:t>
            </a:r>
            <a:r>
              <a:rPr lang="pt-BR" dirty="0" smtClean="0"/>
              <a:t>. Sistema testado </a:t>
            </a:r>
            <a:r>
              <a:rPr lang="pt-BR" dirty="0"/>
              <a:t>como uma caixa-preta. </a:t>
            </a:r>
            <a:endParaRPr lang="pt-BR" dirty="0" smtClean="0"/>
          </a:p>
          <a:p>
            <a:pPr marL="0" indent="0">
              <a:buNone/>
            </a:pPr>
            <a:r>
              <a:rPr lang="pt-BR" dirty="0" smtClean="0"/>
              <a:t>O </a:t>
            </a:r>
            <a:r>
              <a:rPr lang="pt-BR" dirty="0"/>
              <a:t>sistema aceita </a:t>
            </a:r>
            <a:r>
              <a:rPr lang="pt-BR" dirty="0" smtClean="0"/>
              <a:t>um conjunto </a:t>
            </a:r>
            <a:r>
              <a:rPr lang="pt-BR" dirty="0"/>
              <a:t>de entradas </a:t>
            </a:r>
            <a:r>
              <a:rPr lang="pt-BR" dirty="0" smtClean="0"/>
              <a:t> </a:t>
            </a:r>
            <a:r>
              <a:rPr lang="pt-BR" dirty="0"/>
              <a:t>e gera </a:t>
            </a:r>
            <a:r>
              <a:rPr lang="pt-BR" dirty="0" smtClean="0"/>
              <a:t>conjunto de saídas. Erradas??</a:t>
            </a:r>
          </a:p>
          <a:p>
            <a:pPr marL="0" indent="0">
              <a:buNone/>
            </a:pPr>
            <a:r>
              <a:rPr lang="pt-BR" dirty="0" smtClean="0"/>
              <a:t>Prioridade </a:t>
            </a:r>
            <a:r>
              <a:rPr lang="pt-BR" dirty="0"/>
              <a:t>nos testes de </a:t>
            </a:r>
            <a:r>
              <a:rPr lang="pt-BR" dirty="0" smtClean="0"/>
              <a:t>defeitos: </a:t>
            </a:r>
            <a:r>
              <a:rPr lang="pt-BR" dirty="0"/>
              <a:t>encontrar </a:t>
            </a:r>
            <a:r>
              <a:rPr lang="pt-BR" dirty="0" smtClean="0"/>
              <a:t>entradas que </a:t>
            </a:r>
            <a:r>
              <a:rPr lang="pt-BR" dirty="0"/>
              <a:t>revelam problemas com o sistema. Testes de validação envolvem os testes com entradas </a:t>
            </a:r>
            <a:r>
              <a:rPr lang="pt-BR" dirty="0" smtClean="0"/>
              <a:t>corretas e </a:t>
            </a:r>
            <a:r>
              <a:rPr lang="pt-BR" dirty="0"/>
              <a:t>estimulam o sistema a gerar corretamente as saídas.</a:t>
            </a:r>
          </a:p>
        </p:txBody>
      </p:sp>
    </p:spTree>
    <p:extLst>
      <p:ext uri="{BB962C8B-B14F-4D97-AF65-F5344CB8AC3E}">
        <p14:creationId xmlns:p14="http://schemas.microsoft.com/office/powerpoint/2010/main" val="910459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smtClean="0"/>
              <a:t>Figura 8.1</a:t>
            </a:r>
          </a:p>
          <a:p>
            <a:pPr marL="0" indent="0">
              <a:buNone/>
            </a:pPr>
            <a:endParaRPr lang="pt-BR" dirty="0"/>
          </a:p>
        </p:txBody>
      </p:sp>
      <p:pic>
        <p:nvPicPr>
          <p:cNvPr id="4" name="Imagem 3"/>
          <p:cNvPicPr>
            <a:picLocks noChangeAspect="1"/>
          </p:cNvPicPr>
          <p:nvPr/>
        </p:nvPicPr>
        <p:blipFill>
          <a:blip r:embed="rId2"/>
          <a:stretch>
            <a:fillRect/>
          </a:stretch>
        </p:blipFill>
        <p:spPr>
          <a:xfrm>
            <a:off x="2380891" y="1868052"/>
            <a:ext cx="5891841" cy="4435942"/>
          </a:xfrm>
          <a:prstGeom prst="rect">
            <a:avLst/>
          </a:prstGeom>
        </p:spPr>
      </p:pic>
    </p:spTree>
    <p:extLst>
      <p:ext uri="{BB962C8B-B14F-4D97-AF65-F5344CB8AC3E}">
        <p14:creationId xmlns:p14="http://schemas.microsoft.com/office/powerpoint/2010/main" val="1062076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a:t>T</a:t>
            </a:r>
            <a:r>
              <a:rPr lang="pt-BR" dirty="0" smtClean="0"/>
              <a:t>estes </a:t>
            </a:r>
            <a:r>
              <a:rPr lang="pt-BR" dirty="0"/>
              <a:t>não </a:t>
            </a:r>
            <a:r>
              <a:rPr lang="pt-BR" dirty="0" smtClean="0"/>
              <a:t>demonstram 100% se </a:t>
            </a:r>
            <a:r>
              <a:rPr lang="pt-BR" dirty="0"/>
              <a:t>o software é livre de defeitos ou se ele se comportará conforme especificado em qualquer situação. </a:t>
            </a:r>
            <a:endParaRPr lang="pt-BR" dirty="0" smtClean="0"/>
          </a:p>
          <a:p>
            <a:pPr marL="0" indent="0">
              <a:buNone/>
            </a:pPr>
            <a:r>
              <a:rPr lang="pt-BR" dirty="0" smtClean="0"/>
              <a:t>Teste esquecido poderia </a:t>
            </a:r>
            <a:r>
              <a:rPr lang="pt-BR" dirty="0"/>
              <a:t>descobrir mais problemas no sistema. </a:t>
            </a:r>
            <a:endParaRPr lang="pt-BR" dirty="0" smtClean="0"/>
          </a:p>
          <a:p>
            <a:pPr marL="0" indent="0">
              <a:buNone/>
            </a:pPr>
            <a:r>
              <a:rPr lang="pt-BR" dirty="0" err="1" smtClean="0"/>
              <a:t>Edsger</a:t>
            </a:r>
            <a:r>
              <a:rPr lang="pt-BR" dirty="0" smtClean="0"/>
              <a:t> </a:t>
            </a:r>
            <a:r>
              <a:rPr lang="pt-BR" dirty="0" err="1" smtClean="0"/>
              <a:t>Dijkstra</a:t>
            </a:r>
            <a:r>
              <a:rPr lang="pt-BR" dirty="0" smtClean="0"/>
              <a:t> (um </a:t>
            </a:r>
            <a:r>
              <a:rPr lang="pt-BR" dirty="0"/>
              <a:t>dos primeiros colaboradores para o </a:t>
            </a:r>
            <a:r>
              <a:rPr lang="pt-BR" dirty="0" smtClean="0"/>
              <a:t>desenvolvimento </a:t>
            </a:r>
            <a:r>
              <a:rPr lang="pt-BR" dirty="0"/>
              <a:t>da engenharia de software (DIJKSTRA et al. 1972</a:t>
            </a:r>
            <a:r>
              <a:rPr lang="pt-BR" dirty="0" smtClean="0"/>
              <a:t>)): </a:t>
            </a:r>
            <a:r>
              <a:rPr lang="pt-BR" dirty="0"/>
              <a:t>Os testes podem mostrar apenas a presença de erros, e não sua ausência. O teste é parte de um amplo processo de verificação e validação (V&amp;V). Verificação e validação não são a mesma coisa, embora sejam frequentemente confundidas. </a:t>
            </a:r>
            <a:endParaRPr lang="pt-BR" dirty="0" smtClean="0"/>
          </a:p>
          <a:p>
            <a:pPr marL="0" indent="0">
              <a:buNone/>
            </a:pPr>
            <a:r>
              <a:rPr lang="pt-BR" dirty="0" smtClean="0"/>
              <a:t>Barry </a:t>
            </a:r>
            <a:r>
              <a:rPr lang="pt-BR" dirty="0" err="1" smtClean="0"/>
              <a:t>Boehm</a:t>
            </a:r>
            <a:r>
              <a:rPr lang="pt-BR" dirty="0" smtClean="0"/>
              <a:t> (pioneiro </a:t>
            </a:r>
            <a:r>
              <a:rPr lang="pt-BR" dirty="0"/>
              <a:t>da engenharia de </a:t>
            </a:r>
            <a:r>
              <a:rPr lang="pt-BR" dirty="0" smtClean="0"/>
              <a:t>software </a:t>
            </a:r>
            <a:r>
              <a:rPr lang="pt-BR" dirty="0"/>
              <a:t>(BOEHM, 1979</a:t>
            </a:r>
            <a:r>
              <a:rPr lang="pt-BR" dirty="0" smtClean="0"/>
              <a:t>)): </a:t>
            </a:r>
            <a:r>
              <a:rPr lang="pt-BR" dirty="0"/>
              <a:t>‘Validação: estamos construindo o produto certo?’ ‘Verificação: estamos construindo o produto da maneira certa?’</a:t>
            </a:r>
          </a:p>
        </p:txBody>
      </p:sp>
    </p:spTree>
    <p:extLst>
      <p:ext uri="{BB962C8B-B14F-4D97-AF65-F5344CB8AC3E}">
        <p14:creationId xmlns:p14="http://schemas.microsoft.com/office/powerpoint/2010/main" val="2554860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fontScale="92500" lnSpcReduction="10000"/>
          </a:bodyPr>
          <a:lstStyle/>
          <a:p>
            <a:pPr marL="0" indent="0">
              <a:buNone/>
            </a:pPr>
            <a:r>
              <a:rPr lang="pt-BR" dirty="0"/>
              <a:t>P</a:t>
            </a:r>
            <a:r>
              <a:rPr lang="pt-BR" dirty="0" smtClean="0"/>
              <a:t>rocessos </a:t>
            </a:r>
            <a:r>
              <a:rPr lang="pt-BR" dirty="0"/>
              <a:t>de verificação e </a:t>
            </a:r>
            <a:r>
              <a:rPr lang="pt-BR" dirty="0" smtClean="0"/>
              <a:t>validação: verificam </a:t>
            </a:r>
            <a:r>
              <a:rPr lang="pt-BR" dirty="0"/>
              <a:t>se o software em desenvolvimento satisfaz </a:t>
            </a:r>
            <a:r>
              <a:rPr lang="pt-BR" dirty="0" smtClean="0"/>
              <a:t>as especificações </a:t>
            </a:r>
            <a:r>
              <a:rPr lang="pt-BR" dirty="0"/>
              <a:t>e oferece a funcionalidade esperada pelas pessoas que estão pagando pelo software. </a:t>
            </a:r>
            <a:endParaRPr lang="pt-BR" dirty="0" smtClean="0"/>
          </a:p>
          <a:p>
            <a:pPr marL="0" indent="0">
              <a:buNone/>
            </a:pPr>
            <a:r>
              <a:rPr lang="pt-BR" dirty="0" smtClean="0"/>
              <a:t>Verificação: </a:t>
            </a:r>
          </a:p>
          <a:p>
            <a:pPr marL="0" indent="0">
              <a:buNone/>
            </a:pPr>
            <a:r>
              <a:rPr lang="pt-BR" dirty="0" smtClean="0"/>
              <a:t>	inicia </a:t>
            </a:r>
            <a:r>
              <a:rPr lang="pt-BR" dirty="0"/>
              <a:t>assim que os requisitos estão disponíveis e continuam em todas as fases do processo de desenvolvimento. </a:t>
            </a:r>
            <a:endParaRPr lang="pt-BR" dirty="0" smtClean="0"/>
          </a:p>
          <a:p>
            <a:pPr marL="0" indent="0">
              <a:buNone/>
            </a:pPr>
            <a:r>
              <a:rPr lang="pt-BR" dirty="0" smtClean="0"/>
              <a:t>	checa </a:t>
            </a:r>
            <a:r>
              <a:rPr lang="pt-BR" dirty="0"/>
              <a:t>se o software atende </a:t>
            </a:r>
            <a:r>
              <a:rPr lang="pt-BR" dirty="0" smtClean="0"/>
              <a:t>aos </a:t>
            </a:r>
            <a:r>
              <a:rPr lang="pt-BR" dirty="0"/>
              <a:t>requisitos funcionais e não funcionais. </a:t>
            </a:r>
            <a:endParaRPr lang="pt-BR" dirty="0" smtClean="0"/>
          </a:p>
          <a:p>
            <a:pPr marL="0" indent="0">
              <a:buNone/>
            </a:pPr>
            <a:r>
              <a:rPr lang="pt-BR" dirty="0" smtClean="0"/>
              <a:t>Validação: </a:t>
            </a:r>
            <a:r>
              <a:rPr lang="pt-BR" dirty="0"/>
              <a:t>processo mais </a:t>
            </a:r>
            <a:r>
              <a:rPr lang="pt-BR" dirty="0" smtClean="0"/>
              <a:t>geral: </a:t>
            </a:r>
          </a:p>
          <a:p>
            <a:pPr marL="0" indent="0">
              <a:buNone/>
            </a:pPr>
            <a:r>
              <a:rPr lang="pt-BR" dirty="0" smtClean="0"/>
              <a:t>garantir </a:t>
            </a:r>
            <a:r>
              <a:rPr lang="pt-BR" dirty="0"/>
              <a:t>que o software atenda às expectativas do cliente. </a:t>
            </a:r>
            <a:r>
              <a:rPr lang="pt-BR" dirty="0" smtClean="0"/>
              <a:t>Além da </a:t>
            </a:r>
            <a:r>
              <a:rPr lang="pt-BR" dirty="0"/>
              <a:t>verificação de conformidade com as especificações, </a:t>
            </a:r>
            <a:r>
              <a:rPr lang="pt-BR" dirty="0" smtClean="0"/>
              <a:t>tenta </a:t>
            </a:r>
            <a:r>
              <a:rPr lang="pt-BR" dirty="0"/>
              <a:t>demonstrar que o software faz o que o cliente espera que ele faça. </a:t>
            </a:r>
            <a:r>
              <a:rPr lang="pt-BR" dirty="0" smtClean="0"/>
              <a:t>**Especificações </a:t>
            </a:r>
            <a:r>
              <a:rPr lang="pt-BR" dirty="0"/>
              <a:t>de requisitos nem sempre refletem os desejos ou necessidades dos clientes e usuários do sistema.</a:t>
            </a:r>
          </a:p>
        </p:txBody>
      </p:sp>
    </p:spTree>
    <p:extLst>
      <p:ext uri="{BB962C8B-B14F-4D97-AF65-F5344CB8AC3E}">
        <p14:creationId xmlns:p14="http://schemas.microsoft.com/office/powerpoint/2010/main" val="2933366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a:t>O</a:t>
            </a:r>
            <a:r>
              <a:rPr lang="pt-BR" dirty="0" smtClean="0"/>
              <a:t>bjetivo dos </a:t>
            </a:r>
            <a:r>
              <a:rPr lang="pt-BR" dirty="0"/>
              <a:t>processos de verificação e </a:t>
            </a:r>
            <a:r>
              <a:rPr lang="pt-BR" dirty="0" smtClean="0"/>
              <a:t>validação: </a:t>
            </a:r>
            <a:r>
              <a:rPr lang="pt-BR" dirty="0"/>
              <a:t>estabelecer a confiança de que o software está ‘pronto para seu propósito’. </a:t>
            </a:r>
            <a:endParaRPr lang="pt-BR" dirty="0" smtClean="0"/>
          </a:p>
          <a:p>
            <a:pPr marL="0" indent="0">
              <a:buNone/>
            </a:pPr>
            <a:r>
              <a:rPr lang="pt-BR" dirty="0"/>
              <a:t>N</a:t>
            </a:r>
            <a:r>
              <a:rPr lang="pt-BR" dirty="0" smtClean="0"/>
              <a:t>ível </a:t>
            </a:r>
            <a:r>
              <a:rPr lang="pt-BR" dirty="0"/>
              <a:t>de confiança exigido depende do propósito do sistema, das expectativas dos usuários do sistema e do </a:t>
            </a:r>
            <a:r>
              <a:rPr lang="pt-BR" dirty="0" smtClean="0"/>
              <a:t>ambiente </a:t>
            </a:r>
            <a:r>
              <a:rPr lang="pt-BR" dirty="0"/>
              <a:t>de marketing: </a:t>
            </a:r>
            <a:endParaRPr lang="pt-BR" dirty="0" smtClean="0"/>
          </a:p>
          <a:p>
            <a:pPr marL="0" indent="0">
              <a:buNone/>
            </a:pPr>
            <a:r>
              <a:rPr lang="pt-BR" dirty="0" smtClean="0"/>
              <a:t>1</a:t>
            </a:r>
            <a:r>
              <a:rPr lang="pt-BR" dirty="0"/>
              <a:t>. Finalidade do software. O </a:t>
            </a:r>
            <a:r>
              <a:rPr lang="pt-BR" dirty="0" smtClean="0"/>
              <a:t>software deve ser </a:t>
            </a:r>
            <a:r>
              <a:rPr lang="pt-BR" dirty="0"/>
              <a:t>confiável. </a:t>
            </a:r>
            <a:r>
              <a:rPr lang="pt-BR" dirty="0" err="1" smtClean="0"/>
              <a:t>Ex</a:t>
            </a:r>
            <a:r>
              <a:rPr lang="pt-BR" dirty="0" smtClean="0"/>
              <a:t>: </a:t>
            </a:r>
            <a:r>
              <a:rPr lang="pt-BR" dirty="0"/>
              <a:t>o nível de confiança necessário para um software ser usado para controlar um sistema crítico de segurança é muito maior do que </a:t>
            </a:r>
            <a:r>
              <a:rPr lang="pt-BR" dirty="0" smtClean="0"/>
              <a:t>para </a:t>
            </a:r>
            <a:r>
              <a:rPr lang="pt-BR" dirty="0"/>
              <a:t>um protótipo </a:t>
            </a:r>
            <a:r>
              <a:rPr lang="pt-BR" dirty="0" smtClean="0"/>
              <a:t>desenvolvido </a:t>
            </a:r>
            <a:r>
              <a:rPr lang="pt-BR" dirty="0"/>
              <a:t>para demonstrar as ideias de novos produtos.</a:t>
            </a:r>
          </a:p>
        </p:txBody>
      </p:sp>
    </p:spTree>
    <p:extLst>
      <p:ext uri="{BB962C8B-B14F-4D97-AF65-F5344CB8AC3E}">
        <p14:creationId xmlns:p14="http://schemas.microsoft.com/office/powerpoint/2010/main" val="4240883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fontScale="92500" lnSpcReduction="20000"/>
          </a:bodyPr>
          <a:lstStyle/>
          <a:p>
            <a:pPr marL="0" indent="0">
              <a:buNone/>
            </a:pPr>
            <a:r>
              <a:rPr lang="pt-BR" dirty="0" smtClean="0"/>
              <a:t>O </a:t>
            </a:r>
            <a:r>
              <a:rPr lang="pt-BR" dirty="0"/>
              <a:t>nível de confiança exigido depende do propósito do sistema, das expectativas dos usuários do sistema e do atual ambiente de marketing: </a:t>
            </a:r>
            <a:endParaRPr lang="pt-BR" dirty="0" smtClean="0"/>
          </a:p>
          <a:p>
            <a:pPr marL="0" indent="0">
              <a:buNone/>
            </a:pPr>
            <a:r>
              <a:rPr lang="pt-BR" dirty="0"/>
              <a:t>2. Expectativas de usuários. </a:t>
            </a:r>
            <a:r>
              <a:rPr lang="pt-BR" dirty="0" smtClean="0"/>
              <a:t>Usuários tem </a:t>
            </a:r>
            <a:r>
              <a:rPr lang="pt-BR" dirty="0"/>
              <a:t>experiências com softwares defeituosos e não confiáveis, </a:t>
            </a:r>
            <a:r>
              <a:rPr lang="pt-BR" dirty="0" smtClean="0"/>
              <a:t>gerando </a:t>
            </a:r>
            <a:r>
              <a:rPr lang="pt-BR" dirty="0"/>
              <a:t>baixas expectativas acerca da </a:t>
            </a:r>
            <a:r>
              <a:rPr lang="pt-BR" dirty="0" smtClean="0"/>
              <a:t>qualidade. </a:t>
            </a:r>
            <a:r>
              <a:rPr lang="pt-BR" dirty="0"/>
              <a:t>Eles não se surpreendem quando o software falha. </a:t>
            </a:r>
            <a:r>
              <a:rPr lang="pt-BR" dirty="0" smtClean="0"/>
              <a:t>Quando </a:t>
            </a:r>
            <a:r>
              <a:rPr lang="pt-BR" dirty="0"/>
              <a:t>um novo sistema é instalado, os usuários podem tolerar falhas, pois os benefícios do uso compensam os custos de recuperação de falhas. Nessas situações, </a:t>
            </a:r>
            <a:r>
              <a:rPr lang="pt-BR" dirty="0" smtClean="0"/>
              <a:t>não </a:t>
            </a:r>
            <a:r>
              <a:rPr lang="pt-BR" dirty="0"/>
              <a:t>se </a:t>
            </a:r>
            <a:r>
              <a:rPr lang="pt-BR" dirty="0" smtClean="0"/>
              <a:t>dedica muito </a:t>
            </a:r>
            <a:r>
              <a:rPr lang="pt-BR" dirty="0"/>
              <a:t>a testar o software. </a:t>
            </a:r>
            <a:r>
              <a:rPr lang="pt-BR" dirty="0" smtClean="0"/>
              <a:t>Com </a:t>
            </a:r>
            <a:r>
              <a:rPr lang="pt-BR" dirty="0"/>
              <a:t>o amadurecimento do software, os usuários esperam que ele se torne mais </a:t>
            </a:r>
            <a:r>
              <a:rPr lang="pt-BR" dirty="0" smtClean="0"/>
              <a:t>confiável. Testes </a:t>
            </a:r>
            <a:r>
              <a:rPr lang="pt-BR" dirty="0"/>
              <a:t>mais completos das próximas versões podem ser necessários. </a:t>
            </a:r>
            <a:endParaRPr lang="pt-BR" dirty="0" smtClean="0"/>
          </a:p>
          <a:p>
            <a:pPr marL="0" indent="0">
              <a:buNone/>
            </a:pPr>
            <a:r>
              <a:rPr lang="pt-BR" dirty="0" smtClean="0"/>
              <a:t>3</a:t>
            </a:r>
            <a:r>
              <a:rPr lang="pt-BR" dirty="0"/>
              <a:t>. Ambiente de marketing. </a:t>
            </a:r>
            <a:r>
              <a:rPr lang="pt-BR" dirty="0" smtClean="0"/>
              <a:t>Na comercialização do sistema, </a:t>
            </a:r>
            <a:r>
              <a:rPr lang="pt-BR" dirty="0"/>
              <a:t>os vendedores </a:t>
            </a:r>
            <a:r>
              <a:rPr lang="pt-BR" dirty="0" smtClean="0"/>
              <a:t>levam </a:t>
            </a:r>
            <a:r>
              <a:rPr lang="pt-BR" dirty="0"/>
              <a:t>em conta os produtos concorrentes, o preço que os clientes estão dispostos a pagar por um sistema e os prazos necessários para a </a:t>
            </a:r>
            <a:r>
              <a:rPr lang="pt-BR" dirty="0" smtClean="0"/>
              <a:t>entrega. </a:t>
            </a:r>
            <a:r>
              <a:rPr lang="pt-BR" dirty="0"/>
              <a:t>Em um ambiente competitivo, uma empresa de software pode decidir lançar um produto antes que ele tenha sido totalmente testado e depurado, pois quer ser a primeira no mercado. Se um software é muito barato, os usuários podem tolerar um baixo nível de confiabilidade.</a:t>
            </a:r>
          </a:p>
        </p:txBody>
      </p:sp>
    </p:spTree>
    <p:extLst>
      <p:ext uri="{BB962C8B-B14F-4D97-AF65-F5344CB8AC3E}">
        <p14:creationId xmlns:p14="http://schemas.microsoft.com/office/powerpoint/2010/main" val="3134629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fontScale="92500" lnSpcReduction="10000"/>
          </a:bodyPr>
          <a:lstStyle/>
          <a:p>
            <a:pPr marL="0" indent="0">
              <a:buNone/>
            </a:pPr>
            <a:r>
              <a:rPr lang="pt-BR" dirty="0"/>
              <a:t>P</a:t>
            </a:r>
            <a:r>
              <a:rPr lang="pt-BR" dirty="0" smtClean="0"/>
              <a:t>rocesso </a:t>
            </a:r>
            <a:r>
              <a:rPr lang="pt-BR" dirty="0"/>
              <a:t>V&amp;V pode incluir inspeções e revisões. </a:t>
            </a:r>
            <a:endParaRPr lang="pt-BR" dirty="0" smtClean="0"/>
          </a:p>
          <a:p>
            <a:pPr marL="0" indent="0">
              <a:buNone/>
            </a:pPr>
            <a:r>
              <a:rPr lang="pt-BR" dirty="0" smtClean="0"/>
              <a:t> Técnicas </a:t>
            </a:r>
            <a:r>
              <a:rPr lang="pt-BR" dirty="0"/>
              <a:t>‘estáticas’ de </a:t>
            </a:r>
            <a:r>
              <a:rPr lang="pt-BR" dirty="0" smtClean="0"/>
              <a:t>V&amp;V - </a:t>
            </a:r>
            <a:r>
              <a:rPr lang="pt-BR" dirty="0"/>
              <a:t>não precisa executar o software para </a:t>
            </a:r>
            <a:r>
              <a:rPr lang="pt-BR" dirty="0" smtClean="0"/>
              <a:t>verificá-lo</a:t>
            </a:r>
            <a:r>
              <a:rPr lang="pt-BR" dirty="0"/>
              <a:t>: Analisam e verificam os requisitos de sistema, modelos de projeto, o código-fonte de programa e os testes de sistema propostos. </a:t>
            </a:r>
            <a:endParaRPr lang="pt-BR" dirty="0" smtClean="0"/>
          </a:p>
          <a:p>
            <a:pPr marL="0" indent="0">
              <a:buNone/>
            </a:pPr>
            <a:r>
              <a:rPr lang="pt-BR" dirty="0" smtClean="0"/>
              <a:t>Figura 8.2: </a:t>
            </a:r>
            <a:r>
              <a:rPr lang="pt-BR" dirty="0"/>
              <a:t>inspeções e testes de software que apoiam o V&amp;V em diferentes estágios do processo de software. </a:t>
            </a:r>
            <a:endParaRPr lang="pt-BR" dirty="0" smtClean="0"/>
          </a:p>
          <a:p>
            <a:pPr marL="0" indent="0">
              <a:buNone/>
            </a:pPr>
            <a:r>
              <a:rPr lang="pt-BR" dirty="0" smtClean="0"/>
              <a:t>Setas: </a:t>
            </a:r>
            <a:r>
              <a:rPr lang="pt-BR" dirty="0"/>
              <a:t>estágios do processo em que as técnicas podem ser usadas. </a:t>
            </a:r>
            <a:endParaRPr lang="pt-BR" dirty="0" smtClean="0"/>
          </a:p>
          <a:p>
            <a:pPr marL="0" indent="0">
              <a:buNone/>
            </a:pPr>
            <a:r>
              <a:rPr lang="pt-BR" dirty="0" smtClean="0"/>
              <a:t>As </a:t>
            </a:r>
            <a:r>
              <a:rPr lang="pt-BR" dirty="0"/>
              <a:t>inspeções centram-se principalmente no código-fonte de um sistema, mas qualquer representação legível do </a:t>
            </a:r>
            <a:r>
              <a:rPr lang="pt-BR" dirty="0" smtClean="0"/>
              <a:t>software (requisitos </a:t>
            </a:r>
            <a:r>
              <a:rPr lang="pt-BR" dirty="0"/>
              <a:t>ou modelo de </a:t>
            </a:r>
            <a:r>
              <a:rPr lang="pt-BR" dirty="0" smtClean="0"/>
              <a:t>projeto) </a:t>
            </a:r>
            <a:r>
              <a:rPr lang="pt-BR" dirty="0"/>
              <a:t>pode ser inspecionada. </a:t>
            </a:r>
            <a:endParaRPr lang="pt-BR" dirty="0" smtClean="0"/>
          </a:p>
          <a:p>
            <a:pPr marL="0" indent="0">
              <a:buNone/>
            </a:pPr>
            <a:r>
              <a:rPr lang="pt-BR" dirty="0" smtClean="0"/>
              <a:t>Ao </a:t>
            </a:r>
            <a:r>
              <a:rPr lang="pt-BR" dirty="0"/>
              <a:t>inspecionar um sistema, </a:t>
            </a:r>
            <a:r>
              <a:rPr lang="pt-BR" dirty="0" smtClean="0"/>
              <a:t>usa-se </a:t>
            </a:r>
            <a:r>
              <a:rPr lang="pt-BR" dirty="0"/>
              <a:t>o </a:t>
            </a:r>
            <a:r>
              <a:rPr lang="pt-BR" dirty="0" smtClean="0"/>
              <a:t>conhecimento </a:t>
            </a:r>
            <a:r>
              <a:rPr lang="pt-BR" dirty="0"/>
              <a:t>do sistema, seu domínio de aplicação e a linguagem de programação ou modelagem para descobrir erros.</a:t>
            </a:r>
          </a:p>
        </p:txBody>
      </p:sp>
    </p:spTree>
    <p:extLst>
      <p:ext uri="{BB962C8B-B14F-4D97-AF65-F5344CB8AC3E}">
        <p14:creationId xmlns:p14="http://schemas.microsoft.com/office/powerpoint/2010/main" val="646482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smtClean="0"/>
              <a:t>Figura 8.2</a:t>
            </a:r>
          </a:p>
        </p:txBody>
      </p:sp>
      <p:pic>
        <p:nvPicPr>
          <p:cNvPr id="4" name="Imagem 3"/>
          <p:cNvPicPr>
            <a:picLocks noChangeAspect="1"/>
          </p:cNvPicPr>
          <p:nvPr/>
        </p:nvPicPr>
        <p:blipFill>
          <a:blip r:embed="rId2"/>
          <a:stretch>
            <a:fillRect/>
          </a:stretch>
        </p:blipFill>
        <p:spPr>
          <a:xfrm>
            <a:off x="515730" y="2786062"/>
            <a:ext cx="10253147" cy="3701002"/>
          </a:xfrm>
          <a:prstGeom prst="rect">
            <a:avLst/>
          </a:prstGeom>
        </p:spPr>
      </p:pic>
    </p:spTree>
    <p:extLst>
      <p:ext uri="{BB962C8B-B14F-4D97-AF65-F5344CB8AC3E}">
        <p14:creationId xmlns:p14="http://schemas.microsoft.com/office/powerpoint/2010/main" val="339255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fontScale="92500" lnSpcReduction="20000"/>
          </a:bodyPr>
          <a:lstStyle/>
          <a:p>
            <a:pPr marL="0" indent="0">
              <a:buNone/>
            </a:pPr>
            <a:r>
              <a:rPr lang="pt-BR" dirty="0"/>
              <a:t>V</a:t>
            </a:r>
            <a:r>
              <a:rPr lang="pt-BR" dirty="0" smtClean="0"/>
              <a:t>antagens </a:t>
            </a:r>
            <a:r>
              <a:rPr lang="pt-BR" dirty="0"/>
              <a:t>da inspeção de software sobre os testes</a:t>
            </a:r>
            <a:r>
              <a:rPr lang="pt-BR" dirty="0" smtClean="0"/>
              <a:t>:</a:t>
            </a:r>
          </a:p>
          <a:p>
            <a:pPr marL="0" indent="0">
              <a:buNone/>
            </a:pPr>
            <a:r>
              <a:rPr lang="pt-BR" dirty="0" smtClean="0"/>
              <a:t> </a:t>
            </a:r>
            <a:r>
              <a:rPr lang="pt-BR" dirty="0"/>
              <a:t>1. Durante o teste, erros podem mascarar (esconder) outros erros. Quando um erro conduz saídas inesperadas, </a:t>
            </a:r>
            <a:r>
              <a:rPr lang="pt-BR" dirty="0" smtClean="0"/>
              <a:t>nunca se tem </a:t>
            </a:r>
            <a:r>
              <a:rPr lang="pt-BR" dirty="0"/>
              <a:t>certeza se as anomalias seguintes são devidas a um novo erro ou efeitos colaterais do erro original. Como a inspeção é um processo estático, </a:t>
            </a:r>
            <a:r>
              <a:rPr lang="pt-BR" dirty="0" smtClean="0"/>
              <a:t>não </a:t>
            </a:r>
            <a:r>
              <a:rPr lang="pt-BR" dirty="0"/>
              <a:t>precisa se preocupar com as interações entre os erros. </a:t>
            </a:r>
            <a:r>
              <a:rPr lang="pt-BR" dirty="0" smtClean="0"/>
              <a:t>Uma </a:t>
            </a:r>
            <a:r>
              <a:rPr lang="pt-BR" dirty="0"/>
              <a:t>sessão única de inspeção pode descobrir muitos erros no sistema. </a:t>
            </a:r>
            <a:endParaRPr lang="pt-BR" dirty="0" smtClean="0"/>
          </a:p>
          <a:p>
            <a:pPr marL="0" indent="0">
              <a:buNone/>
            </a:pPr>
            <a:r>
              <a:rPr lang="pt-BR" dirty="0" smtClean="0"/>
              <a:t>2</a:t>
            </a:r>
            <a:r>
              <a:rPr lang="pt-BR" dirty="0"/>
              <a:t>. Versões incompletas de um sistema podem ser inspecionadas sem custos adicionais. </a:t>
            </a:r>
            <a:r>
              <a:rPr lang="pt-BR" dirty="0" smtClean="0"/>
              <a:t>Em </a:t>
            </a:r>
            <a:r>
              <a:rPr lang="pt-BR" dirty="0"/>
              <a:t>um programa é </a:t>
            </a:r>
            <a:r>
              <a:rPr lang="pt-BR" dirty="0" smtClean="0"/>
              <a:t>incompleto</a:t>
            </a:r>
            <a:r>
              <a:rPr lang="pt-BR" dirty="0"/>
              <a:t>, </a:t>
            </a:r>
            <a:r>
              <a:rPr lang="pt-BR" dirty="0" smtClean="0"/>
              <a:t> desenvolve-se </a:t>
            </a:r>
            <a:r>
              <a:rPr lang="pt-BR" dirty="0"/>
              <a:t>dispositivos de teste especializados para testar </a:t>
            </a:r>
            <a:r>
              <a:rPr lang="pt-BR" dirty="0" smtClean="0"/>
              <a:t>suas partes, aumentando </a:t>
            </a:r>
            <a:r>
              <a:rPr lang="pt-BR" dirty="0"/>
              <a:t>os custos de desenvolvimento do sistema. </a:t>
            </a:r>
            <a:endParaRPr lang="pt-BR" dirty="0" smtClean="0"/>
          </a:p>
          <a:p>
            <a:pPr marL="0" indent="0">
              <a:buNone/>
            </a:pPr>
            <a:r>
              <a:rPr lang="pt-BR" dirty="0" smtClean="0"/>
              <a:t>3</a:t>
            </a:r>
            <a:r>
              <a:rPr lang="pt-BR" dirty="0"/>
              <a:t>. A</a:t>
            </a:r>
            <a:r>
              <a:rPr lang="pt-BR" dirty="0" smtClean="0"/>
              <a:t> </a:t>
            </a:r>
            <a:r>
              <a:rPr lang="pt-BR" dirty="0"/>
              <a:t>procura por </a:t>
            </a:r>
            <a:r>
              <a:rPr lang="pt-BR" dirty="0" smtClean="0"/>
              <a:t>defeitos numa </a:t>
            </a:r>
            <a:r>
              <a:rPr lang="pt-BR" dirty="0"/>
              <a:t>inspeção pode considerar outros atributos de qualidade de um </a:t>
            </a:r>
            <a:r>
              <a:rPr lang="pt-BR" dirty="0" smtClean="0"/>
              <a:t>programa (conformidade </a:t>
            </a:r>
            <a:r>
              <a:rPr lang="pt-BR" dirty="0"/>
              <a:t>com os padrões, portabilidade e </a:t>
            </a:r>
            <a:r>
              <a:rPr lang="pt-BR" dirty="0" err="1" smtClean="0"/>
              <a:t>manutenibilidade</a:t>
            </a:r>
            <a:r>
              <a:rPr lang="pt-BR" dirty="0" smtClean="0"/>
              <a:t>). Procuram-se </a:t>
            </a:r>
            <a:r>
              <a:rPr lang="pt-BR" dirty="0"/>
              <a:t>ineficiências, algoritmos inadequados e um estilo pobre de programação que poderiam tornar o sistema de difícil manutenção e </a:t>
            </a:r>
            <a:r>
              <a:rPr lang="pt-BR" dirty="0" smtClean="0"/>
              <a:t>atualização.</a:t>
            </a:r>
          </a:p>
        </p:txBody>
      </p:sp>
    </p:spTree>
    <p:extLst>
      <p:ext uri="{BB962C8B-B14F-4D97-AF65-F5344CB8AC3E}">
        <p14:creationId xmlns:p14="http://schemas.microsoft.com/office/powerpoint/2010/main" val="3555733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fontScale="85000" lnSpcReduction="20000"/>
          </a:bodyPr>
          <a:lstStyle/>
          <a:p>
            <a:pPr marL="0" indent="0">
              <a:buNone/>
            </a:pPr>
            <a:r>
              <a:rPr lang="pt-BR" dirty="0"/>
              <a:t>I</a:t>
            </a:r>
            <a:r>
              <a:rPr lang="pt-BR" dirty="0" smtClean="0"/>
              <a:t>nspeções </a:t>
            </a:r>
            <a:r>
              <a:rPr lang="pt-BR" dirty="0"/>
              <a:t>de </a:t>
            </a:r>
            <a:r>
              <a:rPr lang="pt-BR" dirty="0" smtClean="0"/>
              <a:t>programa: </a:t>
            </a:r>
            <a:r>
              <a:rPr lang="pt-BR" dirty="0"/>
              <a:t>ideia </a:t>
            </a:r>
            <a:r>
              <a:rPr lang="pt-BR" dirty="0" smtClean="0"/>
              <a:t>antiga; </a:t>
            </a:r>
            <a:r>
              <a:rPr lang="pt-BR" dirty="0"/>
              <a:t>vários estudos e experimentos demonstraram que </a:t>
            </a:r>
            <a:r>
              <a:rPr lang="pt-BR" dirty="0" smtClean="0"/>
              <a:t>são </a:t>
            </a:r>
            <a:r>
              <a:rPr lang="pt-BR" dirty="0"/>
              <a:t>mais eficazes na descoberta de defeitos do que os testes de programa. </a:t>
            </a:r>
            <a:endParaRPr lang="pt-BR" dirty="0" smtClean="0"/>
          </a:p>
          <a:p>
            <a:pPr marL="0" indent="0">
              <a:buNone/>
            </a:pPr>
            <a:r>
              <a:rPr lang="pt-BR" dirty="0" err="1" smtClean="0"/>
              <a:t>Fagan</a:t>
            </a:r>
            <a:r>
              <a:rPr lang="pt-BR" dirty="0" smtClean="0"/>
              <a:t> </a:t>
            </a:r>
            <a:r>
              <a:rPr lang="pt-BR" dirty="0"/>
              <a:t>(1986) relatou que mais de 60% dos erros em um programa podem ser detectados por meio de inspeções informais de programa. </a:t>
            </a:r>
            <a:endParaRPr lang="pt-BR" dirty="0" smtClean="0"/>
          </a:p>
          <a:p>
            <a:pPr marL="0" indent="0">
              <a:buNone/>
            </a:pPr>
            <a:r>
              <a:rPr lang="pt-BR" dirty="0" smtClean="0"/>
              <a:t>No </a:t>
            </a:r>
            <a:r>
              <a:rPr lang="pt-BR" dirty="0"/>
              <a:t>processo </a:t>
            </a:r>
            <a:r>
              <a:rPr lang="pt-BR" dirty="0" err="1"/>
              <a:t>Cleanroom</a:t>
            </a:r>
            <a:r>
              <a:rPr lang="pt-BR" dirty="0"/>
              <a:t> (PROWELL et al., 1999</a:t>
            </a:r>
            <a:r>
              <a:rPr lang="pt-BR" dirty="0" smtClean="0"/>
              <a:t>): </a:t>
            </a:r>
            <a:r>
              <a:rPr lang="pt-BR" dirty="0"/>
              <a:t>mais de 90% dos defeitos podem ser descobertos em inspeções de programas. </a:t>
            </a:r>
            <a:r>
              <a:rPr lang="pt-BR" dirty="0" smtClean="0"/>
              <a:t>(</a:t>
            </a:r>
            <a:r>
              <a:rPr lang="pt-BR" dirty="0" err="1" smtClean="0"/>
              <a:t>cleanroom</a:t>
            </a:r>
            <a:r>
              <a:rPr lang="pt-BR" dirty="0" smtClean="0"/>
              <a:t> -  abordagem iterativa com desenvolvimento incremental </a:t>
            </a:r>
            <a:r>
              <a:rPr lang="pt-BR" dirty="0"/>
              <a:t>que gradualmente acrescenta novas funcionalidades. A qualidade de cada incremento é medida comparando-se a padrões pré-estabelecidos para verificar que o processo de desenvolvimento é uma conduta aceitável</a:t>
            </a:r>
            <a:r>
              <a:rPr lang="pt-BR" dirty="0" smtClean="0"/>
              <a:t>)</a:t>
            </a:r>
          </a:p>
          <a:p>
            <a:pPr marL="0" indent="0">
              <a:buNone/>
            </a:pPr>
            <a:r>
              <a:rPr lang="pt-BR" dirty="0" smtClean="0"/>
              <a:t>Inspeções </a:t>
            </a:r>
            <a:r>
              <a:rPr lang="pt-BR" dirty="0"/>
              <a:t>não podem substituir os testes de software. As inspeções não são boas para descobrir </a:t>
            </a:r>
            <a:r>
              <a:rPr lang="pt-BR" dirty="0" smtClean="0"/>
              <a:t>defeitos </a:t>
            </a:r>
            <a:r>
              <a:rPr lang="pt-BR" dirty="0"/>
              <a:t>que surgem devido a interações inesperadas entre diferentes partes de um programa, problemas de timing ou com o desempenho do sistema. </a:t>
            </a:r>
            <a:endParaRPr lang="pt-BR" dirty="0" smtClean="0"/>
          </a:p>
          <a:p>
            <a:pPr marL="0" indent="0">
              <a:buNone/>
            </a:pPr>
            <a:r>
              <a:rPr lang="pt-BR" dirty="0" smtClean="0"/>
              <a:t>Pode </a:t>
            </a:r>
            <a:r>
              <a:rPr lang="pt-BR" dirty="0"/>
              <a:t>ser difícil e caro montar uma equipe de inspeção, especialmente em pequenas empresas ou grupos de desenvolvimento, já que todos os membros da equipe também podem ser desenvolvedores </a:t>
            </a:r>
            <a:r>
              <a:rPr lang="pt-BR" dirty="0" smtClean="0"/>
              <a:t>de software.</a:t>
            </a:r>
          </a:p>
        </p:txBody>
      </p:sp>
    </p:spTree>
    <p:extLst>
      <p:ext uri="{BB962C8B-B14F-4D97-AF65-F5344CB8AC3E}">
        <p14:creationId xmlns:p14="http://schemas.microsoft.com/office/powerpoint/2010/main" val="103736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smtClean="0"/>
              <a:t>Figura 8.3: </a:t>
            </a:r>
            <a:r>
              <a:rPr lang="pt-BR" dirty="0"/>
              <a:t>modelo abstrato do processo ‘tradicional’ de testes, </a:t>
            </a:r>
            <a:r>
              <a:rPr lang="pt-BR" dirty="0" smtClean="0"/>
              <a:t>usado </a:t>
            </a:r>
            <a:r>
              <a:rPr lang="pt-BR" dirty="0"/>
              <a:t>no desenvolvimento dirigido a planos. Os casos de teste são especificações das entradas para o teste e da saída esperada do sistema (os resultados do teste), além de uma declaração do que está sendo testado. Os dados de teste são as entradas criadas para testar um sistema. </a:t>
            </a:r>
            <a:endParaRPr lang="pt-BR" dirty="0" smtClean="0"/>
          </a:p>
          <a:p>
            <a:pPr marL="0" indent="0">
              <a:buNone/>
            </a:pPr>
            <a:r>
              <a:rPr lang="pt-BR" dirty="0"/>
              <a:t>D</a:t>
            </a:r>
            <a:r>
              <a:rPr lang="pt-BR" dirty="0" smtClean="0"/>
              <a:t>ados </a:t>
            </a:r>
            <a:r>
              <a:rPr lang="pt-BR" dirty="0"/>
              <a:t>de teste podem ser gerados </a:t>
            </a:r>
            <a:r>
              <a:rPr lang="pt-BR" dirty="0" smtClean="0"/>
              <a:t>automaticamente.</a:t>
            </a:r>
          </a:p>
          <a:p>
            <a:pPr marL="0" indent="0">
              <a:buNone/>
            </a:pPr>
            <a:r>
              <a:rPr lang="pt-BR" dirty="0" smtClean="0"/>
              <a:t>A </a:t>
            </a:r>
            <a:r>
              <a:rPr lang="pt-BR" dirty="0"/>
              <a:t>geração automática de casos de teste é impossível, pois as pessoas que entendem o propósito do sistema devem ser envolvidas para especificar os resultados esperados. </a:t>
            </a:r>
            <a:endParaRPr lang="pt-BR" dirty="0" smtClean="0"/>
          </a:p>
          <a:p>
            <a:pPr marL="0" indent="0">
              <a:buNone/>
            </a:pPr>
            <a:r>
              <a:rPr lang="pt-BR" dirty="0" smtClean="0"/>
              <a:t>A </a:t>
            </a:r>
            <a:r>
              <a:rPr lang="pt-BR" dirty="0"/>
              <a:t>execução do teste pode ser automatizada. Os resultados esperados são automaticamente comparados aos resultados </a:t>
            </a:r>
            <a:r>
              <a:rPr lang="pt-BR" dirty="0" smtClean="0"/>
              <a:t>previstos. </a:t>
            </a:r>
          </a:p>
        </p:txBody>
      </p:sp>
    </p:spTree>
    <p:extLst>
      <p:ext uri="{BB962C8B-B14F-4D97-AF65-F5344CB8AC3E}">
        <p14:creationId xmlns:p14="http://schemas.microsoft.com/office/powerpoint/2010/main" val="3759607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smtClean="0"/>
              <a:t>Figura 8.3</a:t>
            </a:r>
          </a:p>
        </p:txBody>
      </p:sp>
      <p:pic>
        <p:nvPicPr>
          <p:cNvPr id="4" name="Imagem 3"/>
          <p:cNvPicPr>
            <a:picLocks noChangeAspect="1"/>
          </p:cNvPicPr>
          <p:nvPr/>
        </p:nvPicPr>
        <p:blipFill>
          <a:blip r:embed="rId2"/>
          <a:stretch>
            <a:fillRect/>
          </a:stretch>
        </p:blipFill>
        <p:spPr>
          <a:xfrm>
            <a:off x="30473" y="1989470"/>
            <a:ext cx="10554138" cy="4411330"/>
          </a:xfrm>
          <a:prstGeom prst="rect">
            <a:avLst/>
          </a:prstGeom>
        </p:spPr>
      </p:pic>
    </p:spTree>
    <p:extLst>
      <p:ext uri="{BB962C8B-B14F-4D97-AF65-F5344CB8AC3E}">
        <p14:creationId xmlns:p14="http://schemas.microsoft.com/office/powerpoint/2010/main" val="3636098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lnSpcReduction="10000"/>
          </a:bodyPr>
          <a:lstStyle/>
          <a:p>
            <a:pPr marL="0" indent="0">
              <a:buNone/>
            </a:pPr>
            <a:r>
              <a:rPr lang="pt-BR" dirty="0"/>
              <a:t>S</a:t>
            </a:r>
            <a:r>
              <a:rPr lang="pt-BR" dirty="0" smtClean="0"/>
              <a:t>oftware </a:t>
            </a:r>
            <a:r>
              <a:rPr lang="pt-BR" dirty="0"/>
              <a:t>comercial </a:t>
            </a:r>
            <a:r>
              <a:rPr lang="pt-BR" dirty="0" smtClean="0"/>
              <a:t>passa </a:t>
            </a:r>
            <a:r>
              <a:rPr lang="pt-BR" dirty="0"/>
              <a:t>por três estágios de teste</a:t>
            </a:r>
            <a:r>
              <a:rPr lang="pt-BR" dirty="0" smtClean="0"/>
              <a:t>:</a:t>
            </a:r>
          </a:p>
          <a:p>
            <a:pPr marL="0" indent="0">
              <a:buNone/>
            </a:pPr>
            <a:r>
              <a:rPr lang="pt-BR" dirty="0" smtClean="0"/>
              <a:t>1</a:t>
            </a:r>
            <a:r>
              <a:rPr lang="pt-BR" dirty="0"/>
              <a:t>. Testes em </a:t>
            </a:r>
            <a:r>
              <a:rPr lang="pt-BR" dirty="0" smtClean="0"/>
              <a:t>desenvolvimento: </a:t>
            </a:r>
            <a:r>
              <a:rPr lang="pt-BR" dirty="0"/>
              <a:t>sistema é testado durante o desenvolvimento para descobrir bugs e defeitos. Projetistas de sistemas e programadores podem estar envolvidos no processo de teste. </a:t>
            </a:r>
            <a:endParaRPr lang="pt-BR" dirty="0" smtClean="0"/>
          </a:p>
          <a:p>
            <a:pPr marL="0" indent="0">
              <a:buNone/>
            </a:pPr>
            <a:r>
              <a:rPr lang="pt-BR" dirty="0" smtClean="0"/>
              <a:t>2</a:t>
            </a:r>
            <a:r>
              <a:rPr lang="pt-BR" dirty="0"/>
              <a:t>. Testes de </a:t>
            </a:r>
            <a:r>
              <a:rPr lang="pt-BR" dirty="0" smtClean="0"/>
              <a:t>release: equipe </a:t>
            </a:r>
            <a:r>
              <a:rPr lang="pt-BR" dirty="0"/>
              <a:t>de teste independente testa uma versão completa do sistema antes que ele seja liberado para os usuários. O </a:t>
            </a:r>
            <a:r>
              <a:rPr lang="pt-BR" dirty="0" smtClean="0"/>
              <a:t>objetivo </a:t>
            </a:r>
            <a:r>
              <a:rPr lang="pt-BR" dirty="0"/>
              <a:t>é verificar se o sistema atende aos requisitos dos </a:t>
            </a:r>
            <a:r>
              <a:rPr lang="pt-BR" dirty="0" err="1" smtClean="0"/>
              <a:t>stakeholders</a:t>
            </a:r>
            <a:r>
              <a:rPr lang="pt-BR" dirty="0" smtClean="0"/>
              <a:t>. </a:t>
            </a:r>
          </a:p>
          <a:p>
            <a:pPr marL="0" indent="0">
              <a:buNone/>
            </a:pPr>
            <a:r>
              <a:rPr lang="pt-BR" dirty="0" smtClean="0"/>
              <a:t>3</a:t>
            </a:r>
            <a:r>
              <a:rPr lang="pt-BR" dirty="0"/>
              <a:t>. Testes de </a:t>
            </a:r>
            <a:r>
              <a:rPr lang="pt-BR" dirty="0" smtClean="0"/>
              <a:t>usuário: </a:t>
            </a:r>
            <a:r>
              <a:rPr lang="pt-BR" dirty="0"/>
              <a:t>usuários ou potenciais </a:t>
            </a:r>
            <a:r>
              <a:rPr lang="pt-BR" dirty="0" smtClean="0"/>
              <a:t>usuários </a:t>
            </a:r>
            <a:r>
              <a:rPr lang="pt-BR" dirty="0"/>
              <a:t>testam o sistema em seu próprio </a:t>
            </a:r>
            <a:r>
              <a:rPr lang="pt-BR" dirty="0" smtClean="0"/>
              <a:t>ambiente</a:t>
            </a:r>
            <a:r>
              <a:rPr lang="pt-BR" dirty="0"/>
              <a:t>. </a:t>
            </a:r>
            <a:r>
              <a:rPr lang="pt-BR" dirty="0" smtClean="0"/>
              <a:t>O ‘usuário</a:t>
            </a:r>
            <a:r>
              <a:rPr lang="pt-BR" dirty="0"/>
              <a:t>’ pode ser um grupo de marketing interno, que decidirá se o software pode ser comercializado, liberado e vendido. </a:t>
            </a:r>
            <a:r>
              <a:rPr lang="pt-BR" dirty="0" smtClean="0"/>
              <a:t>Nos </a:t>
            </a:r>
            <a:r>
              <a:rPr lang="pt-BR" dirty="0"/>
              <a:t>testes de </a:t>
            </a:r>
            <a:r>
              <a:rPr lang="pt-BR" dirty="0" smtClean="0"/>
              <a:t>aceitação, o </a:t>
            </a:r>
            <a:r>
              <a:rPr lang="pt-BR" dirty="0"/>
              <a:t>cliente testa formalmente o sistema para decidir se ele deve ser aceito </a:t>
            </a:r>
            <a:r>
              <a:rPr lang="pt-BR" dirty="0" smtClean="0"/>
              <a:t>ou </a:t>
            </a:r>
            <a:r>
              <a:rPr lang="pt-BR" dirty="0"/>
              <a:t>se é necessário um desenvolvimento adicional.</a:t>
            </a:r>
            <a:endParaRPr lang="pt-BR" dirty="0" smtClean="0"/>
          </a:p>
        </p:txBody>
      </p:sp>
    </p:spTree>
    <p:extLst>
      <p:ext uri="{BB962C8B-B14F-4D97-AF65-F5344CB8AC3E}">
        <p14:creationId xmlns:p14="http://schemas.microsoft.com/office/powerpoint/2010/main" val="1685120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a:t>
            </a:r>
            <a:endParaRPr lang="pt-BR" dirty="0"/>
          </a:p>
        </p:txBody>
      </p:sp>
      <p:sp>
        <p:nvSpPr>
          <p:cNvPr id="3" name="Espaço Reservado para Conteúdo 2"/>
          <p:cNvSpPr>
            <a:spLocks noGrp="1"/>
          </p:cNvSpPr>
          <p:nvPr>
            <p:ph idx="1"/>
          </p:nvPr>
        </p:nvSpPr>
        <p:spPr>
          <a:xfrm>
            <a:off x="146649" y="1690688"/>
            <a:ext cx="11826815" cy="4796376"/>
          </a:xfrm>
        </p:spPr>
        <p:txBody>
          <a:bodyPr>
            <a:normAutofit fontScale="92500" lnSpcReduction="10000"/>
          </a:bodyPr>
          <a:lstStyle/>
          <a:p>
            <a:pPr marL="0" indent="0">
              <a:buNone/>
            </a:pPr>
            <a:r>
              <a:rPr lang="pt-BR" dirty="0"/>
              <a:t>P</a:t>
            </a:r>
            <a:r>
              <a:rPr lang="pt-BR" dirty="0" smtClean="0"/>
              <a:t>rocesso </a:t>
            </a:r>
            <a:r>
              <a:rPr lang="pt-BR" dirty="0"/>
              <a:t>de </a:t>
            </a:r>
            <a:r>
              <a:rPr lang="pt-BR" dirty="0" smtClean="0"/>
              <a:t>teste: </a:t>
            </a:r>
            <a:r>
              <a:rPr lang="pt-BR" dirty="0"/>
              <a:t>mistura de testes manuais e automatizados. </a:t>
            </a:r>
            <a:endParaRPr lang="pt-BR" dirty="0" smtClean="0"/>
          </a:p>
          <a:p>
            <a:pPr marL="0" indent="0">
              <a:buNone/>
            </a:pPr>
            <a:r>
              <a:rPr lang="pt-BR" dirty="0" smtClean="0"/>
              <a:t>Teste manual: </a:t>
            </a:r>
            <a:r>
              <a:rPr lang="pt-BR" dirty="0"/>
              <a:t>testador executa o programa com alguns dados de teste e compara os resultados com suas expectativas; ele anota e reporta as discrepâncias aos desenvolvedores do programa. </a:t>
            </a:r>
            <a:endParaRPr lang="pt-BR" dirty="0" smtClean="0"/>
          </a:p>
          <a:p>
            <a:pPr marL="0" indent="0">
              <a:buNone/>
            </a:pPr>
            <a:r>
              <a:rPr lang="pt-BR" dirty="0" smtClean="0"/>
              <a:t>Testes automatizados: </a:t>
            </a:r>
            <a:r>
              <a:rPr lang="pt-BR" dirty="0"/>
              <a:t>os testes são codificados em um programa que é executado cada vez que o sistema em desenvolvimento é testado. </a:t>
            </a:r>
            <a:r>
              <a:rPr lang="pt-BR" dirty="0" smtClean="0"/>
              <a:t>Mais rápido </a:t>
            </a:r>
            <a:r>
              <a:rPr lang="pt-BR" dirty="0"/>
              <a:t>que o teste manual, especialmente quando envolve testes de regressão </a:t>
            </a:r>
            <a:r>
              <a:rPr lang="pt-BR" dirty="0" smtClean="0"/>
              <a:t>(</a:t>
            </a:r>
            <a:r>
              <a:rPr lang="pt-BR" dirty="0" err="1" smtClean="0"/>
              <a:t>reexecução</a:t>
            </a:r>
            <a:r>
              <a:rPr lang="pt-BR" dirty="0" smtClean="0"/>
              <a:t> </a:t>
            </a:r>
            <a:r>
              <a:rPr lang="pt-BR" dirty="0"/>
              <a:t>de testes anteriores para verificar se as alterações no programa não introduziram novos </a:t>
            </a:r>
            <a:r>
              <a:rPr lang="pt-BR" dirty="0" smtClean="0"/>
              <a:t>bugs). </a:t>
            </a:r>
          </a:p>
          <a:p>
            <a:pPr marL="0" indent="0">
              <a:buNone/>
            </a:pPr>
            <a:r>
              <a:rPr lang="pt-BR" dirty="0" smtClean="0"/>
              <a:t>O </a:t>
            </a:r>
            <a:r>
              <a:rPr lang="pt-BR" dirty="0"/>
              <a:t>uso de testes automatizados tem </a:t>
            </a:r>
            <a:r>
              <a:rPr lang="pt-BR" dirty="0" smtClean="0"/>
              <a:t>aumentado </a:t>
            </a:r>
            <a:r>
              <a:rPr lang="pt-BR" dirty="0"/>
              <a:t>nos últimos anos. </a:t>
            </a:r>
            <a:endParaRPr lang="pt-BR" dirty="0" smtClean="0"/>
          </a:p>
          <a:p>
            <a:pPr marL="0" indent="0">
              <a:buNone/>
            </a:pPr>
            <a:r>
              <a:rPr lang="pt-BR" dirty="0" smtClean="0"/>
              <a:t>Os </a:t>
            </a:r>
            <a:r>
              <a:rPr lang="pt-BR" dirty="0"/>
              <a:t>testes nunca poderão ser totalmente </a:t>
            </a:r>
            <a:r>
              <a:rPr lang="pt-BR" dirty="0" smtClean="0"/>
              <a:t>automatizados. Testes </a:t>
            </a:r>
            <a:r>
              <a:rPr lang="pt-BR" dirty="0"/>
              <a:t>automáticos só podem verificar se um programa faz aquilo a que é proposto. É praticamente impossível usar testes automatizados para testar </a:t>
            </a:r>
            <a:r>
              <a:rPr lang="pt-BR" dirty="0" smtClean="0"/>
              <a:t>uma </a:t>
            </a:r>
            <a:r>
              <a:rPr lang="pt-BR" dirty="0"/>
              <a:t>interface gráfica de </a:t>
            </a:r>
            <a:r>
              <a:rPr lang="pt-BR" dirty="0" smtClean="0"/>
              <a:t>usuário, </a:t>
            </a:r>
            <a:r>
              <a:rPr lang="pt-BR" dirty="0"/>
              <a:t>ou para testar se um programa não tem efeitos colaterais indesejados</a:t>
            </a:r>
            <a:endParaRPr lang="pt-BR" dirty="0" smtClean="0"/>
          </a:p>
        </p:txBody>
      </p:sp>
    </p:spTree>
    <p:extLst>
      <p:ext uri="{BB962C8B-B14F-4D97-AF65-F5344CB8AC3E}">
        <p14:creationId xmlns:p14="http://schemas.microsoft.com/office/powerpoint/2010/main" val="667312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 </a:t>
            </a:r>
            <a:r>
              <a:rPr lang="pt-BR" dirty="0"/>
              <a:t>Testes de desenvolvimento</a:t>
            </a:r>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a:t>I</a:t>
            </a:r>
            <a:r>
              <a:rPr lang="pt-BR" dirty="0" smtClean="0"/>
              <a:t>ncluem as </a:t>
            </a:r>
            <a:r>
              <a:rPr lang="pt-BR" dirty="0"/>
              <a:t>atividades de testes que são realizadas pela equipe de </a:t>
            </a:r>
            <a:r>
              <a:rPr lang="pt-BR" dirty="0" smtClean="0"/>
              <a:t>desenvolvimento </a:t>
            </a:r>
            <a:r>
              <a:rPr lang="pt-BR" dirty="0"/>
              <a:t>do sistema. </a:t>
            </a:r>
            <a:endParaRPr lang="pt-BR" dirty="0" smtClean="0"/>
          </a:p>
          <a:p>
            <a:pPr marL="0" indent="0">
              <a:buNone/>
            </a:pPr>
            <a:r>
              <a:rPr lang="pt-BR" dirty="0"/>
              <a:t>T</a:t>
            </a:r>
            <a:r>
              <a:rPr lang="pt-BR" dirty="0" smtClean="0"/>
              <a:t>estador </a:t>
            </a:r>
            <a:r>
              <a:rPr lang="pt-BR" dirty="0"/>
              <a:t>do </a:t>
            </a:r>
            <a:r>
              <a:rPr lang="pt-BR" dirty="0" smtClean="0"/>
              <a:t>software: </a:t>
            </a:r>
            <a:r>
              <a:rPr lang="pt-BR" dirty="0"/>
              <a:t>programador que o desenvolveu, embora nem sempre seja assim. </a:t>
            </a:r>
            <a:endParaRPr lang="pt-BR" dirty="0" smtClean="0"/>
          </a:p>
          <a:p>
            <a:pPr marL="0" indent="0">
              <a:buNone/>
            </a:pPr>
            <a:r>
              <a:rPr lang="pt-BR" dirty="0" smtClean="0"/>
              <a:t>Alguns </a:t>
            </a:r>
            <a:r>
              <a:rPr lang="pt-BR" dirty="0"/>
              <a:t>processos de desenvolvimento usam programadores/testadores em pares (CUSAMANO e SELBY, 1998</a:t>
            </a:r>
            <a:r>
              <a:rPr lang="pt-BR" dirty="0" smtClean="0"/>
              <a:t>). Cada </a:t>
            </a:r>
            <a:r>
              <a:rPr lang="pt-BR" dirty="0"/>
              <a:t>programador tem um testador associado para desenvolver os testes e ajudar no processo. </a:t>
            </a:r>
            <a:endParaRPr lang="pt-BR" dirty="0" smtClean="0"/>
          </a:p>
          <a:p>
            <a:pPr marL="0" indent="0">
              <a:buNone/>
            </a:pPr>
            <a:r>
              <a:rPr lang="pt-BR" dirty="0" smtClean="0"/>
              <a:t>Sistemas críticos: </a:t>
            </a:r>
            <a:r>
              <a:rPr lang="pt-BR" dirty="0"/>
              <a:t>processo mais formal pode ser usado por um grupo de testes independente dentro da equipe de </a:t>
            </a:r>
            <a:r>
              <a:rPr lang="pt-BR" dirty="0" smtClean="0"/>
              <a:t>desenvolvimento,  </a:t>
            </a:r>
            <a:r>
              <a:rPr lang="pt-BR" dirty="0"/>
              <a:t>responsáveis pelo desenvolvimento de testes e pela manutenção de registros detalhados de seus resultados.</a:t>
            </a:r>
            <a:endParaRPr lang="pt-BR" dirty="0" smtClean="0"/>
          </a:p>
        </p:txBody>
      </p:sp>
    </p:spTree>
    <p:extLst>
      <p:ext uri="{BB962C8B-B14F-4D97-AF65-F5344CB8AC3E}">
        <p14:creationId xmlns:p14="http://schemas.microsoft.com/office/powerpoint/2010/main" val="2973576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 </a:t>
            </a:r>
            <a:r>
              <a:rPr lang="pt-BR" dirty="0"/>
              <a:t>Testes de desenvolvimento</a:t>
            </a:r>
          </a:p>
        </p:txBody>
      </p:sp>
      <p:sp>
        <p:nvSpPr>
          <p:cNvPr id="3" name="Espaço Reservado para Conteúdo 2"/>
          <p:cNvSpPr>
            <a:spLocks noGrp="1"/>
          </p:cNvSpPr>
          <p:nvPr>
            <p:ph idx="1"/>
          </p:nvPr>
        </p:nvSpPr>
        <p:spPr>
          <a:xfrm>
            <a:off x="146649" y="1690688"/>
            <a:ext cx="11826815" cy="4796376"/>
          </a:xfrm>
        </p:spPr>
        <p:txBody>
          <a:bodyPr>
            <a:normAutofit fontScale="92500" lnSpcReduction="10000"/>
          </a:bodyPr>
          <a:lstStyle/>
          <a:p>
            <a:pPr marL="0" indent="0">
              <a:buNone/>
            </a:pPr>
            <a:r>
              <a:rPr lang="pt-BR" dirty="0"/>
              <a:t>Durante o desenvolvimento, o teste pode ocorrer em três níveis de granularidade: </a:t>
            </a:r>
            <a:endParaRPr lang="pt-BR" dirty="0" smtClean="0"/>
          </a:p>
          <a:p>
            <a:pPr marL="514350" indent="-514350">
              <a:buAutoNum type="arabicPeriod"/>
            </a:pPr>
            <a:r>
              <a:rPr lang="pt-BR" dirty="0" smtClean="0"/>
              <a:t>Teste unitário: </a:t>
            </a:r>
            <a:r>
              <a:rPr lang="pt-BR" dirty="0"/>
              <a:t>unidades individuais de programa ou classes de objetos são testadas individualmente. </a:t>
            </a:r>
            <a:r>
              <a:rPr lang="pt-BR" dirty="0" smtClean="0"/>
              <a:t>Devem </a:t>
            </a:r>
            <a:r>
              <a:rPr lang="pt-BR" dirty="0"/>
              <a:t>centrar-se em testar a funcionalidade dos objetos ou métodos. </a:t>
            </a:r>
            <a:endParaRPr lang="pt-BR" dirty="0" smtClean="0"/>
          </a:p>
          <a:p>
            <a:pPr marL="514350" indent="-514350">
              <a:buAutoNum type="arabicPeriod"/>
            </a:pPr>
            <a:r>
              <a:rPr lang="pt-BR" dirty="0" smtClean="0"/>
              <a:t>Teste </a:t>
            </a:r>
            <a:r>
              <a:rPr lang="pt-BR" dirty="0"/>
              <a:t>de </a:t>
            </a:r>
            <a:r>
              <a:rPr lang="pt-BR" dirty="0" smtClean="0"/>
              <a:t>componentes: </a:t>
            </a:r>
            <a:r>
              <a:rPr lang="pt-BR" dirty="0"/>
              <a:t>várias unidades individuais são integradas para criar componentes compostos. D</a:t>
            </a:r>
            <a:r>
              <a:rPr lang="pt-BR" dirty="0" smtClean="0"/>
              <a:t>evem </a:t>
            </a:r>
            <a:r>
              <a:rPr lang="pt-BR" dirty="0"/>
              <a:t>centrar-se em testar as interfaces dos componentes. </a:t>
            </a:r>
            <a:endParaRPr lang="pt-BR" dirty="0" smtClean="0"/>
          </a:p>
          <a:p>
            <a:pPr marL="514350" indent="-514350">
              <a:buAutoNum type="arabicPeriod"/>
            </a:pPr>
            <a:r>
              <a:rPr lang="pt-BR" dirty="0" smtClean="0"/>
              <a:t>Teste </a:t>
            </a:r>
            <a:r>
              <a:rPr lang="pt-BR" dirty="0"/>
              <a:t>de </a:t>
            </a:r>
            <a:r>
              <a:rPr lang="pt-BR" dirty="0" smtClean="0"/>
              <a:t>sistema: </a:t>
            </a:r>
            <a:r>
              <a:rPr lang="pt-BR" dirty="0"/>
              <a:t>alguns ou todos os componentes de um sistema estão integrados e o sistema é </a:t>
            </a:r>
            <a:r>
              <a:rPr lang="pt-BR" dirty="0" smtClean="0"/>
              <a:t>testado </a:t>
            </a:r>
            <a:r>
              <a:rPr lang="pt-BR" dirty="0"/>
              <a:t>como um todo. O teste de sistema deve centrar-se em testar as interações entre os componentes. </a:t>
            </a:r>
            <a:endParaRPr lang="pt-BR" dirty="0" smtClean="0"/>
          </a:p>
          <a:p>
            <a:pPr marL="0" indent="0">
              <a:buNone/>
            </a:pPr>
            <a:r>
              <a:rPr lang="pt-BR" dirty="0" smtClean="0"/>
              <a:t>Testes </a:t>
            </a:r>
            <a:r>
              <a:rPr lang="pt-BR" dirty="0"/>
              <a:t>de </a:t>
            </a:r>
            <a:r>
              <a:rPr lang="pt-BR" dirty="0" smtClean="0"/>
              <a:t>desenvolvimento: </a:t>
            </a:r>
            <a:r>
              <a:rPr lang="pt-BR" dirty="0"/>
              <a:t>processo de teste de defeitos, </a:t>
            </a:r>
            <a:r>
              <a:rPr lang="pt-BR" dirty="0" smtClean="0"/>
              <a:t>cujo </a:t>
            </a:r>
            <a:r>
              <a:rPr lang="pt-BR" dirty="0"/>
              <a:t>objetivo </a:t>
            </a:r>
            <a:r>
              <a:rPr lang="pt-BR" dirty="0" smtClean="0"/>
              <a:t>é </a:t>
            </a:r>
            <a:r>
              <a:rPr lang="pt-BR" dirty="0"/>
              <a:t>descobrir bugs no software. </a:t>
            </a:r>
            <a:r>
              <a:rPr lang="pt-BR" dirty="0" smtClean="0"/>
              <a:t>São </a:t>
            </a:r>
            <a:r>
              <a:rPr lang="pt-BR" dirty="0"/>
              <a:t>intercalados com a depuração — o processo de localizar problemas com o código e alterar o programa para corrigir esses problemas</a:t>
            </a:r>
            <a:endParaRPr lang="pt-BR" dirty="0" smtClean="0"/>
          </a:p>
        </p:txBody>
      </p:sp>
    </p:spTree>
    <p:extLst>
      <p:ext uri="{BB962C8B-B14F-4D97-AF65-F5344CB8AC3E}">
        <p14:creationId xmlns:p14="http://schemas.microsoft.com/office/powerpoint/2010/main" val="1084919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 -</a:t>
            </a:r>
            <a:r>
              <a:rPr lang="pt-BR" dirty="0"/>
              <a:t>Teste unitário</a:t>
            </a:r>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a:t>P</a:t>
            </a:r>
            <a:r>
              <a:rPr lang="pt-BR" dirty="0" smtClean="0"/>
              <a:t>rocesso </a:t>
            </a:r>
            <a:r>
              <a:rPr lang="pt-BR" dirty="0"/>
              <a:t>de testar os componentes de programa, como métodos ou classes de objeto. </a:t>
            </a:r>
            <a:endParaRPr lang="pt-BR" dirty="0" smtClean="0"/>
          </a:p>
          <a:p>
            <a:pPr marL="0" indent="0">
              <a:buNone/>
            </a:pPr>
            <a:r>
              <a:rPr lang="pt-BR" dirty="0" smtClean="0"/>
              <a:t>As </a:t>
            </a:r>
            <a:r>
              <a:rPr lang="pt-BR" dirty="0"/>
              <a:t>funções individuais ou métodos são o tipo mais simples de componente. </a:t>
            </a:r>
            <a:endParaRPr lang="pt-BR" dirty="0" smtClean="0"/>
          </a:p>
          <a:p>
            <a:pPr marL="0" indent="0">
              <a:buNone/>
            </a:pPr>
            <a:r>
              <a:rPr lang="pt-BR" dirty="0" smtClean="0"/>
              <a:t>Seus </a:t>
            </a:r>
            <a:r>
              <a:rPr lang="pt-BR" dirty="0"/>
              <a:t>testes devem ser chamadas para essas rotinas com parâmetros diferentes de entrada. </a:t>
            </a:r>
            <a:endParaRPr lang="pt-BR" dirty="0" smtClean="0"/>
          </a:p>
          <a:p>
            <a:pPr marL="0" indent="0">
              <a:buNone/>
            </a:pPr>
            <a:r>
              <a:rPr lang="pt-BR" dirty="0" smtClean="0"/>
              <a:t>Testes em classes </a:t>
            </a:r>
            <a:r>
              <a:rPr lang="pt-BR" dirty="0"/>
              <a:t>de </a:t>
            </a:r>
            <a:r>
              <a:rPr lang="pt-BR" dirty="0" smtClean="0"/>
              <a:t>objeto: projetam-se </a:t>
            </a:r>
            <a:r>
              <a:rPr lang="pt-BR" dirty="0"/>
              <a:t>os testes para fornecer uma cobertura </a:t>
            </a:r>
            <a:r>
              <a:rPr lang="pt-BR" dirty="0" smtClean="0"/>
              <a:t>das </a:t>
            </a:r>
            <a:r>
              <a:rPr lang="pt-BR" dirty="0"/>
              <a:t>características do </a:t>
            </a:r>
            <a:r>
              <a:rPr lang="pt-BR" dirty="0" smtClean="0"/>
              <a:t>objeto: </a:t>
            </a:r>
            <a:r>
              <a:rPr lang="pt-BR" dirty="0"/>
              <a:t>Testar todas as operações associadas ao objeto; Definir e verificar o valor de todos os atributos associados ao objeto; Colocar o objeto em todos os estados possíveis</a:t>
            </a:r>
            <a:r>
              <a:rPr lang="pt-BR" dirty="0" smtClean="0"/>
              <a:t>, simulando </a:t>
            </a:r>
            <a:r>
              <a:rPr lang="pt-BR" dirty="0"/>
              <a:t>todos os eventos que causam mudanças de estado.</a:t>
            </a:r>
            <a:endParaRPr lang="pt-BR" dirty="0" smtClean="0"/>
          </a:p>
        </p:txBody>
      </p:sp>
    </p:spTree>
    <p:extLst>
      <p:ext uri="{BB962C8B-B14F-4D97-AF65-F5344CB8AC3E}">
        <p14:creationId xmlns:p14="http://schemas.microsoft.com/office/powerpoint/2010/main" val="1870939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 -</a:t>
            </a:r>
            <a:r>
              <a:rPr lang="pt-BR" dirty="0"/>
              <a:t>Teste unitário</a:t>
            </a:r>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err="1" smtClean="0"/>
              <a:t>Ex</a:t>
            </a:r>
            <a:r>
              <a:rPr lang="pt-BR" dirty="0" smtClean="0"/>
              <a:t>: objeto Estação Meteorológica </a:t>
            </a:r>
            <a:r>
              <a:rPr lang="pt-BR" dirty="0"/>
              <a:t>do exemplo discutido no Capítulo 7. </a:t>
            </a:r>
            <a:endParaRPr lang="pt-BR" dirty="0" smtClean="0"/>
          </a:p>
          <a:p>
            <a:pPr marL="0" indent="0">
              <a:buNone/>
            </a:pPr>
            <a:r>
              <a:rPr lang="pt-BR" dirty="0" smtClean="0"/>
              <a:t>Figura 8.4: interface com um </a:t>
            </a:r>
            <a:r>
              <a:rPr lang="pt-BR" dirty="0"/>
              <a:t>único </a:t>
            </a:r>
            <a:r>
              <a:rPr lang="pt-BR" dirty="0" smtClean="0"/>
              <a:t>atributo (identificador). É </a:t>
            </a:r>
            <a:r>
              <a:rPr lang="pt-BR" dirty="0"/>
              <a:t>uma constante, definida quando a estação meteorológica é instalada. </a:t>
            </a:r>
            <a:endParaRPr lang="pt-BR" dirty="0" smtClean="0"/>
          </a:p>
          <a:p>
            <a:pPr marL="0" indent="0">
              <a:buNone/>
            </a:pPr>
            <a:r>
              <a:rPr lang="pt-BR" dirty="0" smtClean="0"/>
              <a:t>O teste deve verificar se o identificador </a:t>
            </a:r>
            <a:r>
              <a:rPr lang="pt-BR" dirty="0"/>
              <a:t>foi </a:t>
            </a:r>
            <a:r>
              <a:rPr lang="pt-BR" dirty="0" smtClean="0"/>
              <a:t>configurado </a:t>
            </a:r>
            <a:r>
              <a:rPr lang="pt-BR" dirty="0"/>
              <a:t>corretamente. </a:t>
            </a:r>
            <a:endParaRPr lang="pt-BR" dirty="0" smtClean="0"/>
          </a:p>
          <a:p>
            <a:pPr marL="0" indent="0">
              <a:buNone/>
            </a:pPr>
            <a:r>
              <a:rPr lang="pt-BR" dirty="0" smtClean="0"/>
              <a:t>Precisam-se </a:t>
            </a:r>
            <a:r>
              <a:rPr lang="pt-BR" dirty="0"/>
              <a:t>definir casos de teste para todos os métodos associados ao objeto, como </a:t>
            </a:r>
            <a:r>
              <a:rPr lang="pt-BR" dirty="0" err="1" smtClean="0"/>
              <a:t>relatarClima</a:t>
            </a:r>
            <a:r>
              <a:rPr lang="pt-BR" dirty="0"/>
              <a:t>, </a:t>
            </a:r>
            <a:r>
              <a:rPr lang="pt-BR" dirty="0" err="1"/>
              <a:t>relatarStatus</a:t>
            </a:r>
            <a:r>
              <a:rPr lang="pt-BR" dirty="0"/>
              <a:t> etc. </a:t>
            </a:r>
            <a:endParaRPr lang="pt-BR" dirty="0" smtClean="0"/>
          </a:p>
          <a:p>
            <a:pPr marL="0" indent="0">
              <a:buNone/>
            </a:pPr>
            <a:r>
              <a:rPr lang="pt-BR" dirty="0" smtClean="0"/>
              <a:t>Teste de forma isolada. </a:t>
            </a:r>
          </a:p>
          <a:p>
            <a:pPr marL="0" indent="0">
              <a:buNone/>
            </a:pPr>
            <a:r>
              <a:rPr lang="pt-BR" dirty="0" smtClean="0"/>
              <a:t>Algumas sequências </a:t>
            </a:r>
            <a:r>
              <a:rPr lang="pt-BR" dirty="0"/>
              <a:t>de teste são necessárias. </a:t>
            </a:r>
            <a:r>
              <a:rPr lang="pt-BR" dirty="0" err="1" smtClean="0"/>
              <a:t>Ex</a:t>
            </a:r>
            <a:r>
              <a:rPr lang="pt-BR" dirty="0" smtClean="0"/>
              <a:t>: para </a:t>
            </a:r>
            <a:r>
              <a:rPr lang="pt-BR" dirty="0"/>
              <a:t>testar o método que desliga os instrumentos da estação meteorológica (desligar), </a:t>
            </a:r>
            <a:r>
              <a:rPr lang="pt-BR" dirty="0" smtClean="0"/>
              <a:t> o método </a:t>
            </a:r>
            <a:r>
              <a:rPr lang="pt-BR" dirty="0"/>
              <a:t>de </a:t>
            </a:r>
            <a:r>
              <a:rPr lang="pt-BR" dirty="0" smtClean="0"/>
              <a:t>reiniciar já foi executado.</a:t>
            </a:r>
          </a:p>
        </p:txBody>
      </p:sp>
    </p:spTree>
    <p:extLst>
      <p:ext uri="{BB962C8B-B14F-4D97-AF65-F5344CB8AC3E}">
        <p14:creationId xmlns:p14="http://schemas.microsoft.com/office/powerpoint/2010/main" val="1908550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Capitulo 8 – Teste de software -</a:t>
            </a:r>
            <a:r>
              <a:rPr lang="pt-BR" dirty="0"/>
              <a:t>Teste unitário</a:t>
            </a:r>
          </a:p>
        </p:txBody>
      </p:sp>
      <p:sp>
        <p:nvSpPr>
          <p:cNvPr id="3" name="Espaço Reservado para Conteúdo 2"/>
          <p:cNvSpPr>
            <a:spLocks noGrp="1"/>
          </p:cNvSpPr>
          <p:nvPr>
            <p:ph idx="1"/>
          </p:nvPr>
        </p:nvSpPr>
        <p:spPr>
          <a:xfrm>
            <a:off x="146649" y="1690688"/>
            <a:ext cx="11826815" cy="4796376"/>
          </a:xfrm>
        </p:spPr>
        <p:txBody>
          <a:bodyPr>
            <a:normAutofit/>
          </a:bodyPr>
          <a:lstStyle/>
          <a:p>
            <a:pPr marL="0" indent="0">
              <a:buNone/>
            </a:pPr>
            <a:r>
              <a:rPr lang="pt-BR" dirty="0" err="1" smtClean="0"/>
              <a:t>Ex</a:t>
            </a:r>
            <a:r>
              <a:rPr lang="pt-BR" dirty="0" smtClean="0"/>
              <a:t>: objeto </a:t>
            </a:r>
            <a:r>
              <a:rPr lang="pt-BR" dirty="0" err="1" smtClean="0"/>
              <a:t>EstaçãoMeteorológica</a:t>
            </a:r>
            <a:r>
              <a:rPr lang="pt-BR" dirty="0" smtClean="0"/>
              <a:t>. </a:t>
            </a:r>
          </a:p>
          <a:p>
            <a:pPr marL="0" indent="0">
              <a:buNone/>
            </a:pPr>
            <a:r>
              <a:rPr lang="pt-BR" dirty="0" smtClean="0"/>
              <a:t>Figura 8.4:</a:t>
            </a:r>
          </a:p>
        </p:txBody>
      </p:sp>
      <p:pic>
        <p:nvPicPr>
          <p:cNvPr id="4" name="Imagem 3"/>
          <p:cNvPicPr>
            <a:picLocks noChangeAspect="1"/>
          </p:cNvPicPr>
          <p:nvPr/>
        </p:nvPicPr>
        <p:blipFill>
          <a:blip r:embed="rId2"/>
          <a:stretch>
            <a:fillRect/>
          </a:stretch>
        </p:blipFill>
        <p:spPr>
          <a:xfrm>
            <a:off x="3178810" y="2424022"/>
            <a:ext cx="6675855" cy="3968151"/>
          </a:xfrm>
          <a:prstGeom prst="rect">
            <a:avLst/>
          </a:prstGeom>
        </p:spPr>
      </p:pic>
    </p:spTree>
    <p:extLst>
      <p:ext uri="{BB962C8B-B14F-4D97-AF65-F5344CB8AC3E}">
        <p14:creationId xmlns:p14="http://schemas.microsoft.com/office/powerpoint/2010/main" val="2550374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Teste unitário</a:t>
            </a:r>
          </a:p>
        </p:txBody>
      </p:sp>
      <p:sp>
        <p:nvSpPr>
          <p:cNvPr id="3" name="Espaço Reservado para Conteúdo 2"/>
          <p:cNvSpPr>
            <a:spLocks noGrp="1"/>
          </p:cNvSpPr>
          <p:nvPr>
            <p:ph idx="1"/>
          </p:nvPr>
        </p:nvSpPr>
        <p:spPr>
          <a:xfrm>
            <a:off x="0" y="1440611"/>
            <a:ext cx="12191999" cy="5046453"/>
          </a:xfrm>
        </p:spPr>
        <p:txBody>
          <a:bodyPr>
            <a:normAutofit fontScale="85000" lnSpcReduction="20000"/>
          </a:bodyPr>
          <a:lstStyle/>
          <a:p>
            <a:pPr marL="0" indent="0">
              <a:buNone/>
            </a:pPr>
            <a:r>
              <a:rPr lang="pt-BR" dirty="0"/>
              <a:t>G</a:t>
            </a:r>
            <a:r>
              <a:rPr lang="pt-BR" dirty="0" smtClean="0"/>
              <a:t>eneralização </a:t>
            </a:r>
            <a:r>
              <a:rPr lang="pt-BR" dirty="0"/>
              <a:t>ou </a:t>
            </a:r>
            <a:r>
              <a:rPr lang="pt-BR" dirty="0" smtClean="0"/>
              <a:t>herança: testes </a:t>
            </a:r>
            <a:r>
              <a:rPr lang="pt-BR" dirty="0"/>
              <a:t>de classes de objeto mais complicados. </a:t>
            </a:r>
            <a:endParaRPr lang="pt-BR" dirty="0" smtClean="0"/>
          </a:p>
          <a:p>
            <a:pPr marL="0" indent="0">
              <a:buNone/>
            </a:pPr>
            <a:r>
              <a:rPr lang="pt-BR" dirty="0" smtClean="0"/>
              <a:t>Não se deve </a:t>
            </a:r>
            <a:r>
              <a:rPr lang="pt-BR" dirty="0"/>
              <a:t>testar uma operação na classe em que ela está definida e assumir que funcionará corretamente nas subclasses que herdam a operação. </a:t>
            </a:r>
            <a:endParaRPr lang="pt-BR" dirty="0" smtClean="0"/>
          </a:p>
          <a:p>
            <a:pPr marL="0" indent="0">
              <a:buNone/>
            </a:pPr>
            <a:r>
              <a:rPr lang="pt-BR" dirty="0" smtClean="0"/>
              <a:t>Operação herdada: </a:t>
            </a:r>
            <a:r>
              <a:rPr lang="pt-BR" dirty="0"/>
              <a:t>pode fazer suposições sobre outras operações e </a:t>
            </a:r>
            <a:r>
              <a:rPr lang="pt-BR" dirty="0" smtClean="0"/>
              <a:t>atributos e podem não serem </a:t>
            </a:r>
            <a:r>
              <a:rPr lang="pt-BR" dirty="0"/>
              <a:t>válidas em algumas subclasses que herdam a operação. </a:t>
            </a:r>
            <a:endParaRPr lang="pt-BR" dirty="0" smtClean="0"/>
          </a:p>
          <a:p>
            <a:pPr marL="0" indent="0">
              <a:buNone/>
            </a:pPr>
            <a:r>
              <a:rPr lang="pt-BR" dirty="0" smtClean="0"/>
              <a:t>Necessário </a:t>
            </a:r>
            <a:r>
              <a:rPr lang="pt-BR" dirty="0"/>
              <a:t>testar a operação herdada em todos os contextos de uso. </a:t>
            </a:r>
            <a:endParaRPr lang="pt-BR" dirty="0" smtClean="0"/>
          </a:p>
          <a:p>
            <a:pPr marL="0" indent="0">
              <a:buNone/>
            </a:pPr>
            <a:r>
              <a:rPr lang="pt-BR" dirty="0" smtClean="0"/>
              <a:t>Teste dos </a:t>
            </a:r>
            <a:r>
              <a:rPr lang="pt-BR" dirty="0"/>
              <a:t>estados da estação </a:t>
            </a:r>
            <a:r>
              <a:rPr lang="pt-BR" dirty="0" smtClean="0"/>
              <a:t>meteorológica: </a:t>
            </a:r>
            <a:r>
              <a:rPr lang="pt-BR" dirty="0"/>
              <a:t>um modelo de </a:t>
            </a:r>
            <a:r>
              <a:rPr lang="pt-BR" dirty="0" smtClean="0"/>
              <a:t>estado (Figura 7.7): é possível </a:t>
            </a:r>
            <a:r>
              <a:rPr lang="pt-BR" dirty="0"/>
              <a:t>identificar as sequências de transições de estado que precisam ser testadas e definir as sequências de eventos para forçar essas transições. </a:t>
            </a:r>
            <a:endParaRPr lang="pt-BR" dirty="0" smtClean="0"/>
          </a:p>
          <a:p>
            <a:pPr marL="0" indent="0">
              <a:buNone/>
            </a:pPr>
            <a:r>
              <a:rPr lang="pt-BR" dirty="0" smtClean="0"/>
              <a:t>Testar </a:t>
            </a:r>
            <a:r>
              <a:rPr lang="pt-BR" dirty="0"/>
              <a:t>cada sequência de transição de estado </a:t>
            </a:r>
            <a:r>
              <a:rPr lang="pt-BR" dirty="0" smtClean="0"/>
              <a:t>possível: custoso</a:t>
            </a:r>
          </a:p>
          <a:p>
            <a:pPr marL="0" indent="0">
              <a:buNone/>
            </a:pPr>
            <a:r>
              <a:rPr lang="pt-BR" dirty="0" smtClean="0"/>
              <a:t>Sequências </a:t>
            </a:r>
            <a:r>
              <a:rPr lang="pt-BR" dirty="0"/>
              <a:t>de estado que devem ser testados na estação </a:t>
            </a:r>
            <a:r>
              <a:rPr lang="pt-BR" dirty="0" smtClean="0"/>
              <a:t>meteorológica: </a:t>
            </a:r>
          </a:p>
          <a:p>
            <a:pPr marL="0" indent="0">
              <a:buNone/>
            </a:pPr>
            <a:r>
              <a:rPr lang="pt-BR" dirty="0" smtClean="0"/>
              <a:t>Desligar </a:t>
            </a:r>
            <a:r>
              <a:rPr lang="pt-BR" dirty="0"/>
              <a:t>→ Executar → Desligar </a:t>
            </a:r>
            <a:endParaRPr lang="pt-BR" dirty="0" smtClean="0"/>
          </a:p>
          <a:p>
            <a:pPr marL="0" indent="0">
              <a:buNone/>
            </a:pPr>
            <a:r>
              <a:rPr lang="pt-BR" dirty="0" smtClean="0"/>
              <a:t>Configurar </a:t>
            </a:r>
            <a:r>
              <a:rPr lang="pt-BR" dirty="0"/>
              <a:t>→ Executar → Testar → Transmitir → Executar </a:t>
            </a:r>
            <a:endParaRPr lang="pt-BR" dirty="0" smtClean="0"/>
          </a:p>
          <a:p>
            <a:pPr marL="0" indent="0">
              <a:buNone/>
            </a:pPr>
            <a:r>
              <a:rPr lang="pt-BR" dirty="0" smtClean="0"/>
              <a:t>Executar </a:t>
            </a:r>
            <a:r>
              <a:rPr lang="pt-BR" dirty="0"/>
              <a:t>→ Coletar → Executar → Resumir → Transmitir → Executar</a:t>
            </a:r>
            <a:endParaRPr lang="pt-BR" dirty="0" smtClean="0"/>
          </a:p>
        </p:txBody>
      </p:sp>
    </p:spTree>
    <p:extLst>
      <p:ext uri="{BB962C8B-B14F-4D97-AF65-F5344CB8AC3E}">
        <p14:creationId xmlns:p14="http://schemas.microsoft.com/office/powerpoint/2010/main" val="4257227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Teste unitário</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smtClean="0"/>
              <a:t>Dica: automatizar </a:t>
            </a:r>
            <a:r>
              <a:rPr lang="pt-BR" dirty="0"/>
              <a:t>os testes </a:t>
            </a:r>
            <a:r>
              <a:rPr lang="pt-BR" dirty="0" smtClean="0"/>
              <a:t>unitários com uso de </a:t>
            </a:r>
            <a:r>
              <a:rPr lang="pt-BR" dirty="0"/>
              <a:t>framework de automação de teste (como </a:t>
            </a:r>
            <a:r>
              <a:rPr lang="pt-BR" dirty="0" err="1"/>
              <a:t>JUnit</a:t>
            </a:r>
            <a:r>
              <a:rPr lang="pt-BR" dirty="0"/>
              <a:t>) para escrever e executar testes de seu programa. </a:t>
            </a:r>
            <a:endParaRPr lang="pt-BR" dirty="0" smtClean="0"/>
          </a:p>
          <a:p>
            <a:pPr marL="0" indent="0">
              <a:buNone/>
            </a:pPr>
            <a:r>
              <a:rPr lang="pt-BR" dirty="0" smtClean="0"/>
              <a:t>Frameworks </a:t>
            </a:r>
            <a:r>
              <a:rPr lang="pt-BR" dirty="0"/>
              <a:t>de testes </a:t>
            </a:r>
            <a:r>
              <a:rPr lang="pt-BR" dirty="0" smtClean="0"/>
              <a:t>unitários: </a:t>
            </a:r>
            <a:r>
              <a:rPr lang="pt-BR" dirty="0"/>
              <a:t>fornecem classes de teste genéricas </a:t>
            </a:r>
            <a:r>
              <a:rPr lang="pt-BR" dirty="0" smtClean="0"/>
              <a:t>que criam </a:t>
            </a:r>
            <a:r>
              <a:rPr lang="pt-BR" dirty="0"/>
              <a:t>casos de teste específicos. </a:t>
            </a:r>
            <a:endParaRPr lang="pt-BR" dirty="0" smtClean="0"/>
          </a:p>
          <a:p>
            <a:pPr marL="0" indent="0">
              <a:buNone/>
            </a:pPr>
            <a:r>
              <a:rPr lang="pt-BR" dirty="0" smtClean="0"/>
              <a:t>Executam </a:t>
            </a:r>
            <a:r>
              <a:rPr lang="pt-BR" dirty="0"/>
              <a:t>todos os testes </a:t>
            </a:r>
            <a:r>
              <a:rPr lang="pt-BR" dirty="0" smtClean="0"/>
              <a:t>implementados </a:t>
            </a:r>
            <a:r>
              <a:rPr lang="pt-BR" dirty="0"/>
              <a:t>e </a:t>
            </a:r>
            <a:r>
              <a:rPr lang="pt-BR" dirty="0" smtClean="0"/>
              <a:t>informam sobre </a:t>
            </a:r>
            <a:r>
              <a:rPr lang="pt-BR" dirty="0"/>
              <a:t>o sucesso ou o fracasso dos testes. </a:t>
            </a:r>
            <a:endParaRPr lang="pt-BR" dirty="0" smtClean="0"/>
          </a:p>
          <a:p>
            <a:pPr marL="0" indent="0">
              <a:buNone/>
            </a:pPr>
            <a:r>
              <a:rPr lang="pt-BR" dirty="0" smtClean="0"/>
              <a:t>Um </a:t>
            </a:r>
            <a:r>
              <a:rPr lang="pt-BR" dirty="0"/>
              <a:t>conjunto inteiro de testes </a:t>
            </a:r>
            <a:r>
              <a:rPr lang="pt-BR" dirty="0" smtClean="0"/>
              <a:t>frequentemente </a:t>
            </a:r>
            <a:r>
              <a:rPr lang="pt-BR" dirty="0"/>
              <a:t>pode ser executado em poucos segundos; </a:t>
            </a:r>
            <a:endParaRPr lang="pt-BR" dirty="0" smtClean="0"/>
          </a:p>
          <a:p>
            <a:pPr marL="0" indent="0">
              <a:buNone/>
            </a:pPr>
            <a:r>
              <a:rPr lang="pt-BR" dirty="0" smtClean="0"/>
              <a:t>É </a:t>
            </a:r>
            <a:r>
              <a:rPr lang="pt-BR" dirty="0"/>
              <a:t>possível executar todos os testes cada vez que é feita uma alteração no programa.</a:t>
            </a:r>
            <a:endParaRPr lang="pt-BR" dirty="0" smtClean="0"/>
          </a:p>
        </p:txBody>
      </p:sp>
    </p:spTree>
    <p:extLst>
      <p:ext uri="{BB962C8B-B14F-4D97-AF65-F5344CB8AC3E}">
        <p14:creationId xmlns:p14="http://schemas.microsoft.com/office/powerpoint/2010/main" val="1169085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Teste unitário</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a:t>T</a:t>
            </a:r>
            <a:r>
              <a:rPr lang="pt-BR" dirty="0" smtClean="0"/>
              <a:t>este </a:t>
            </a:r>
            <a:r>
              <a:rPr lang="pt-BR" dirty="0"/>
              <a:t>automatizado tem três partes: </a:t>
            </a:r>
            <a:endParaRPr lang="pt-BR" dirty="0" smtClean="0"/>
          </a:p>
          <a:p>
            <a:pPr marL="514350" indent="-514350">
              <a:buAutoNum type="arabicPeriod"/>
            </a:pPr>
            <a:r>
              <a:rPr lang="pt-BR" dirty="0" smtClean="0"/>
              <a:t>Configuração: inicia-se </a:t>
            </a:r>
            <a:r>
              <a:rPr lang="pt-BR" dirty="0"/>
              <a:t>o sistema com o caso de </a:t>
            </a:r>
            <a:r>
              <a:rPr lang="pt-BR" dirty="0" smtClean="0"/>
              <a:t>teste: </a:t>
            </a:r>
            <a:r>
              <a:rPr lang="pt-BR" dirty="0"/>
              <a:t>as entradas e saídas esperadas. </a:t>
            </a:r>
            <a:endParaRPr lang="pt-BR" dirty="0" smtClean="0"/>
          </a:p>
          <a:p>
            <a:pPr marL="514350" indent="-514350">
              <a:buAutoNum type="arabicPeriod"/>
            </a:pPr>
            <a:r>
              <a:rPr lang="pt-BR" dirty="0" smtClean="0"/>
              <a:t>Chamada: chama-se </a:t>
            </a:r>
            <a:r>
              <a:rPr lang="pt-BR" dirty="0"/>
              <a:t>o objeto ou método a ser testado. </a:t>
            </a:r>
            <a:endParaRPr lang="pt-BR" dirty="0" smtClean="0"/>
          </a:p>
          <a:p>
            <a:pPr marL="514350" indent="-514350">
              <a:buAutoNum type="arabicPeriod"/>
            </a:pPr>
            <a:r>
              <a:rPr lang="pt-BR" dirty="0" smtClean="0"/>
              <a:t>Afirmação: compara-se </a:t>
            </a:r>
            <a:r>
              <a:rPr lang="pt-BR" dirty="0"/>
              <a:t>o resultado da chamada com o resultado esperado. Se a </a:t>
            </a:r>
            <a:r>
              <a:rPr lang="pt-BR" dirty="0" smtClean="0"/>
              <a:t>afirmação </a:t>
            </a:r>
            <a:r>
              <a:rPr lang="pt-BR" dirty="0"/>
              <a:t>avaliada for verdadeira, o teste foi bem-sucedido; se for falsa, ele falhou</a:t>
            </a:r>
            <a:r>
              <a:rPr lang="pt-BR" dirty="0" smtClean="0"/>
              <a:t>.</a:t>
            </a:r>
          </a:p>
        </p:txBody>
      </p:sp>
    </p:spTree>
    <p:extLst>
      <p:ext uri="{BB962C8B-B14F-4D97-AF65-F5344CB8AC3E}">
        <p14:creationId xmlns:p14="http://schemas.microsoft.com/office/powerpoint/2010/main" val="1177503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Teste unitário</a:t>
            </a:r>
          </a:p>
        </p:txBody>
      </p:sp>
      <p:sp>
        <p:nvSpPr>
          <p:cNvPr id="3" name="Espaço Reservado para Conteúdo 2"/>
          <p:cNvSpPr>
            <a:spLocks noGrp="1"/>
          </p:cNvSpPr>
          <p:nvPr>
            <p:ph idx="1"/>
          </p:nvPr>
        </p:nvSpPr>
        <p:spPr>
          <a:xfrm>
            <a:off x="0" y="1440611"/>
            <a:ext cx="12191999" cy="5046453"/>
          </a:xfrm>
        </p:spPr>
        <p:txBody>
          <a:bodyPr>
            <a:normAutofit lnSpcReduction="10000"/>
          </a:bodyPr>
          <a:lstStyle/>
          <a:p>
            <a:pPr marL="0" indent="0">
              <a:buNone/>
            </a:pPr>
            <a:r>
              <a:rPr lang="pt-BR" dirty="0" smtClean="0"/>
              <a:t>Dependência do objeto testado de outros </a:t>
            </a:r>
            <a:r>
              <a:rPr lang="pt-BR" dirty="0"/>
              <a:t>que podem não ter sido escritos ou que atrasam o processo de teste quando são usados. </a:t>
            </a:r>
            <a:endParaRPr lang="pt-BR" dirty="0" smtClean="0"/>
          </a:p>
          <a:p>
            <a:pPr marL="0" indent="0">
              <a:buNone/>
            </a:pPr>
            <a:r>
              <a:rPr lang="pt-BR" dirty="0" err="1" smtClean="0"/>
              <a:t>Ex</a:t>
            </a:r>
            <a:r>
              <a:rPr lang="pt-BR" dirty="0" smtClean="0"/>
              <a:t>: </a:t>
            </a:r>
            <a:r>
              <a:rPr lang="pt-BR" dirty="0"/>
              <a:t>se o objeto chama um banco de dados, isso pode implicar um processo lento de instalação antes que ele possa ser usado. </a:t>
            </a:r>
            <a:endParaRPr lang="pt-BR" dirty="0" smtClean="0"/>
          </a:p>
          <a:p>
            <a:pPr marL="0" indent="0">
              <a:buNone/>
            </a:pPr>
            <a:r>
              <a:rPr lang="pt-BR" dirty="0"/>
              <a:t>P</a:t>
            </a:r>
            <a:r>
              <a:rPr lang="pt-BR" dirty="0" smtClean="0"/>
              <a:t>ode-se usar </a:t>
            </a:r>
            <a:r>
              <a:rPr lang="pt-BR" dirty="0"/>
              <a:t>um </a:t>
            </a:r>
            <a:r>
              <a:rPr lang="pt-BR" dirty="0" err="1"/>
              <a:t>mock</a:t>
            </a:r>
            <a:r>
              <a:rPr lang="pt-BR" dirty="0"/>
              <a:t> </a:t>
            </a:r>
            <a:r>
              <a:rPr lang="pt-BR" dirty="0" err="1" smtClean="0"/>
              <a:t>object</a:t>
            </a:r>
            <a:r>
              <a:rPr lang="pt-BR" dirty="0" smtClean="0"/>
              <a:t> (objetos que simulam </a:t>
            </a:r>
            <a:r>
              <a:rPr lang="pt-BR" dirty="0"/>
              <a:t>sua </a:t>
            </a:r>
            <a:r>
              <a:rPr lang="pt-BR" dirty="0" smtClean="0"/>
              <a:t>funcionalidade) . </a:t>
            </a:r>
          </a:p>
          <a:p>
            <a:pPr marL="0" indent="0">
              <a:buNone/>
            </a:pPr>
            <a:r>
              <a:rPr lang="pt-BR" dirty="0" err="1" smtClean="0"/>
              <a:t>Mock</a:t>
            </a:r>
            <a:r>
              <a:rPr lang="pt-BR" dirty="0" smtClean="0"/>
              <a:t> </a:t>
            </a:r>
            <a:r>
              <a:rPr lang="pt-BR" dirty="0" err="1"/>
              <a:t>object</a:t>
            </a:r>
            <a:r>
              <a:rPr lang="pt-BR" dirty="0"/>
              <a:t> que simula um banco de dados pode ter </a:t>
            </a:r>
            <a:r>
              <a:rPr lang="pt-BR" dirty="0" smtClean="0"/>
              <a:t>poucos </a:t>
            </a:r>
            <a:r>
              <a:rPr lang="pt-BR" dirty="0"/>
              <a:t>itens organizados em um vetor. P</a:t>
            </a:r>
            <a:r>
              <a:rPr lang="pt-BR" dirty="0" smtClean="0"/>
              <a:t>odem </a:t>
            </a:r>
            <a:r>
              <a:rPr lang="pt-BR" dirty="0"/>
              <a:t>ser acessados rapidamente, sem os overheads de chamar um banco de dados e acessar os discos. </a:t>
            </a:r>
            <a:endParaRPr lang="pt-BR" dirty="0" smtClean="0"/>
          </a:p>
          <a:p>
            <a:pPr marL="0" indent="0">
              <a:buNone/>
            </a:pPr>
            <a:r>
              <a:rPr lang="pt-BR" dirty="0" err="1" smtClean="0"/>
              <a:t>Mock</a:t>
            </a:r>
            <a:r>
              <a:rPr lang="pt-BR" dirty="0" smtClean="0"/>
              <a:t> </a:t>
            </a:r>
            <a:r>
              <a:rPr lang="pt-BR" dirty="0" err="1"/>
              <a:t>objects</a:t>
            </a:r>
            <a:r>
              <a:rPr lang="pt-BR" dirty="0"/>
              <a:t> podem ser usados para simular operações anormais ou eventos raros. </a:t>
            </a:r>
            <a:r>
              <a:rPr lang="pt-BR" dirty="0" err="1" smtClean="0"/>
              <a:t>Ex</a:t>
            </a:r>
            <a:r>
              <a:rPr lang="pt-BR" dirty="0" smtClean="0"/>
              <a:t>: </a:t>
            </a:r>
            <a:r>
              <a:rPr lang="pt-BR" dirty="0"/>
              <a:t>se o sistema se destina a agir em determinados momentos do dia, seu </a:t>
            </a:r>
            <a:r>
              <a:rPr lang="pt-BR" dirty="0" err="1"/>
              <a:t>mock</a:t>
            </a:r>
            <a:r>
              <a:rPr lang="pt-BR" dirty="0"/>
              <a:t> </a:t>
            </a:r>
            <a:r>
              <a:rPr lang="pt-BR" dirty="0" err="1"/>
              <a:t>object</a:t>
            </a:r>
            <a:r>
              <a:rPr lang="pt-BR" dirty="0"/>
              <a:t> </a:t>
            </a:r>
            <a:r>
              <a:rPr lang="pt-BR" dirty="0" smtClean="0"/>
              <a:t>pode </a:t>
            </a:r>
            <a:r>
              <a:rPr lang="pt-BR" dirty="0"/>
              <a:t>retornar naqueles momentos, independentemente do horário real</a:t>
            </a:r>
            <a:endParaRPr lang="pt-BR" dirty="0" smtClean="0"/>
          </a:p>
        </p:txBody>
      </p:sp>
    </p:spTree>
    <p:extLst>
      <p:ext uri="{BB962C8B-B14F-4D97-AF65-F5344CB8AC3E}">
        <p14:creationId xmlns:p14="http://schemas.microsoft.com/office/powerpoint/2010/main" val="891469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fontScale="92500" lnSpcReduction="20000"/>
          </a:bodyPr>
          <a:lstStyle/>
          <a:p>
            <a:pPr marL="0" indent="0">
              <a:buNone/>
            </a:pPr>
            <a:r>
              <a:rPr lang="pt-BR" dirty="0" smtClean="0"/>
              <a:t>Teste: </a:t>
            </a:r>
            <a:r>
              <a:rPr lang="pt-BR" dirty="0"/>
              <a:t>custoso e </a:t>
            </a:r>
            <a:r>
              <a:rPr lang="pt-BR" dirty="0" smtClean="0"/>
              <a:t>demorado</a:t>
            </a:r>
          </a:p>
          <a:p>
            <a:pPr marL="0" indent="0">
              <a:buNone/>
            </a:pPr>
            <a:r>
              <a:rPr lang="pt-BR" dirty="0" smtClean="0"/>
              <a:t>Escolha </a:t>
            </a:r>
            <a:r>
              <a:rPr lang="pt-BR" dirty="0"/>
              <a:t>casos efetivos de teste </a:t>
            </a:r>
            <a:r>
              <a:rPr lang="pt-BR" dirty="0" smtClean="0"/>
              <a:t>unitário:</a:t>
            </a:r>
          </a:p>
          <a:p>
            <a:pPr marL="514350" indent="-514350">
              <a:buAutoNum type="arabicPeriod"/>
            </a:pPr>
            <a:r>
              <a:rPr lang="pt-BR" dirty="0" smtClean="0"/>
              <a:t>Os </a:t>
            </a:r>
            <a:r>
              <a:rPr lang="pt-BR" dirty="0"/>
              <a:t>casos de teste devem mostrar que, quando usado como esperado, o componente </a:t>
            </a:r>
            <a:r>
              <a:rPr lang="pt-BR" dirty="0" smtClean="0"/>
              <a:t> testado </a:t>
            </a:r>
            <a:r>
              <a:rPr lang="pt-BR" dirty="0"/>
              <a:t>faz o que ele é proposto a fazer. </a:t>
            </a:r>
            <a:endParaRPr lang="pt-BR" dirty="0" smtClean="0"/>
          </a:p>
          <a:p>
            <a:pPr marL="514350" indent="-514350">
              <a:buAutoNum type="arabicPeriod"/>
            </a:pPr>
            <a:r>
              <a:rPr lang="pt-BR" dirty="0" smtClean="0"/>
              <a:t>Se </a:t>
            </a:r>
            <a:r>
              <a:rPr lang="pt-BR" dirty="0"/>
              <a:t>houver defeitos nos componentes, estes devem ser </a:t>
            </a:r>
            <a:r>
              <a:rPr lang="pt-BR" dirty="0" smtClean="0"/>
              <a:t>revelados. </a:t>
            </a:r>
          </a:p>
          <a:p>
            <a:pPr marL="0" indent="0">
              <a:buNone/>
            </a:pPr>
            <a:endParaRPr lang="pt-BR" dirty="0"/>
          </a:p>
          <a:p>
            <a:pPr marL="0" indent="0">
              <a:buNone/>
            </a:pPr>
            <a:r>
              <a:rPr lang="pt-BR" dirty="0" smtClean="0"/>
              <a:t>Deve-se </a:t>
            </a:r>
            <a:r>
              <a:rPr lang="pt-BR" dirty="0"/>
              <a:t>escrever dois tipos de casos de </a:t>
            </a:r>
            <a:r>
              <a:rPr lang="pt-BR" dirty="0" smtClean="0"/>
              <a:t>teste:</a:t>
            </a:r>
          </a:p>
          <a:p>
            <a:pPr marL="514350" indent="-514350">
              <a:buAutoNum type="arabicParenR"/>
            </a:pPr>
            <a:r>
              <a:rPr lang="pt-BR" dirty="0" smtClean="0"/>
              <a:t>reflete </a:t>
            </a:r>
            <a:r>
              <a:rPr lang="pt-BR" dirty="0"/>
              <a:t>o funcionamento normal de um programa e deve mostrar que o componente funciona. </a:t>
            </a:r>
            <a:r>
              <a:rPr lang="pt-BR" dirty="0" err="1" smtClean="0"/>
              <a:t>Ex</a:t>
            </a:r>
            <a:r>
              <a:rPr lang="pt-BR" dirty="0" smtClean="0"/>
              <a:t>: no teste de componente </a:t>
            </a:r>
            <a:r>
              <a:rPr lang="pt-BR" dirty="0"/>
              <a:t>que cria e inicia um novo registro de </a:t>
            </a:r>
            <a:r>
              <a:rPr lang="pt-BR" dirty="0" smtClean="0"/>
              <a:t>paciente, o </a:t>
            </a:r>
            <a:r>
              <a:rPr lang="pt-BR" dirty="0"/>
              <a:t>caso de teste deve mostrar que o registro existe no banco de dados e que seus campos foram criados como especificados. </a:t>
            </a:r>
            <a:endParaRPr lang="pt-BR" dirty="0" smtClean="0"/>
          </a:p>
          <a:p>
            <a:pPr marL="514350" indent="-514350">
              <a:buAutoNum type="arabicParenR"/>
            </a:pPr>
            <a:r>
              <a:rPr lang="pt-BR" dirty="0" smtClean="0"/>
              <a:t>baseado </a:t>
            </a:r>
            <a:r>
              <a:rPr lang="pt-BR" dirty="0"/>
              <a:t>em testes de experiência, dos quais surgem os problemas mais comuns. Devem-se usar entradas anormais para </a:t>
            </a:r>
            <a:r>
              <a:rPr lang="pt-BR" dirty="0" smtClean="0"/>
              <a:t>verificar </a:t>
            </a:r>
            <a:r>
              <a:rPr lang="pt-BR" dirty="0"/>
              <a:t>que estes são devidamente processados e que não fazem o componente falhar.</a:t>
            </a:r>
            <a:endParaRPr lang="pt-BR" dirty="0" smtClean="0"/>
          </a:p>
        </p:txBody>
      </p:sp>
    </p:spTree>
    <p:extLst>
      <p:ext uri="{BB962C8B-B14F-4D97-AF65-F5344CB8AC3E}">
        <p14:creationId xmlns:p14="http://schemas.microsoft.com/office/powerpoint/2010/main" val="2267763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a:t>E</a:t>
            </a:r>
            <a:r>
              <a:rPr lang="pt-BR" dirty="0" smtClean="0"/>
              <a:t>stratégias </a:t>
            </a:r>
            <a:r>
              <a:rPr lang="pt-BR" dirty="0"/>
              <a:t>que podem ser eficazes para ajudar </a:t>
            </a:r>
            <a:r>
              <a:rPr lang="pt-BR" dirty="0" smtClean="0"/>
              <a:t>na escolha dos casos </a:t>
            </a:r>
            <a:r>
              <a:rPr lang="pt-BR" dirty="0"/>
              <a:t>de </a:t>
            </a:r>
            <a:r>
              <a:rPr lang="pt-BR" dirty="0" smtClean="0"/>
              <a:t>teste:</a:t>
            </a:r>
          </a:p>
          <a:p>
            <a:pPr marL="0" indent="0">
              <a:buNone/>
            </a:pPr>
            <a:r>
              <a:rPr lang="pt-BR" dirty="0" smtClean="0"/>
              <a:t> </a:t>
            </a:r>
            <a:r>
              <a:rPr lang="pt-BR" dirty="0"/>
              <a:t>1. Teste de </a:t>
            </a:r>
            <a:r>
              <a:rPr lang="pt-BR" dirty="0" smtClean="0"/>
              <a:t>partição: identificam-se </a:t>
            </a:r>
            <a:r>
              <a:rPr lang="pt-BR" dirty="0"/>
              <a:t>os grupos de entradas que possuem características comuns e devem ser tratados da mesma maneira. </a:t>
            </a:r>
            <a:r>
              <a:rPr lang="pt-BR" dirty="0" smtClean="0"/>
              <a:t>Escolhem-se </a:t>
            </a:r>
            <a:r>
              <a:rPr lang="pt-BR" dirty="0"/>
              <a:t>os testes dentro de cada um desses grupos. </a:t>
            </a:r>
            <a:endParaRPr lang="pt-BR" dirty="0" smtClean="0"/>
          </a:p>
          <a:p>
            <a:pPr marL="0" indent="0">
              <a:buNone/>
            </a:pPr>
            <a:r>
              <a:rPr lang="pt-BR" dirty="0" smtClean="0"/>
              <a:t>2</a:t>
            </a:r>
            <a:r>
              <a:rPr lang="pt-BR" dirty="0"/>
              <a:t>. Testes baseados em </a:t>
            </a:r>
            <a:r>
              <a:rPr lang="pt-BR" dirty="0" smtClean="0"/>
              <a:t>diretrizes: usa </a:t>
            </a:r>
            <a:r>
              <a:rPr lang="pt-BR" dirty="0"/>
              <a:t>as diretrizes de testes para escolher casos de teste. </a:t>
            </a:r>
            <a:r>
              <a:rPr lang="pt-BR" dirty="0" smtClean="0"/>
              <a:t>As diretrizes </a:t>
            </a:r>
            <a:r>
              <a:rPr lang="pt-BR" dirty="0"/>
              <a:t>refletem a </a:t>
            </a:r>
            <a:r>
              <a:rPr lang="pt-BR" dirty="0" smtClean="0"/>
              <a:t>experiência </a:t>
            </a:r>
            <a:r>
              <a:rPr lang="pt-BR" dirty="0"/>
              <a:t>dos tipos de erros que os programadores </a:t>
            </a:r>
            <a:r>
              <a:rPr lang="pt-BR" dirty="0" smtClean="0"/>
              <a:t>cometem </a:t>
            </a:r>
            <a:r>
              <a:rPr lang="pt-BR" dirty="0"/>
              <a:t>no desenvolvimento de componentes.</a:t>
            </a:r>
            <a:endParaRPr lang="pt-BR" dirty="0" smtClean="0"/>
          </a:p>
        </p:txBody>
      </p:sp>
    </p:spTree>
    <p:extLst>
      <p:ext uri="{BB962C8B-B14F-4D97-AF65-F5344CB8AC3E}">
        <p14:creationId xmlns:p14="http://schemas.microsoft.com/office/powerpoint/2010/main" val="4230252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fontScale="92500" lnSpcReduction="10000"/>
          </a:bodyPr>
          <a:lstStyle/>
          <a:p>
            <a:pPr marL="0" indent="0">
              <a:buNone/>
            </a:pPr>
            <a:r>
              <a:rPr lang="pt-BR" dirty="0"/>
              <a:t>D</a:t>
            </a:r>
            <a:r>
              <a:rPr lang="pt-BR" dirty="0" smtClean="0"/>
              <a:t>ados </a:t>
            </a:r>
            <a:r>
              <a:rPr lang="pt-BR" dirty="0"/>
              <a:t>de entrada e os resultados de saída </a:t>
            </a:r>
            <a:r>
              <a:rPr lang="pt-BR" dirty="0" smtClean="0"/>
              <a:t>podem </a:t>
            </a:r>
            <a:r>
              <a:rPr lang="pt-BR" dirty="0"/>
              <a:t>caírem em diferentes classes com características comuns. </a:t>
            </a:r>
            <a:r>
              <a:rPr lang="pt-BR" dirty="0" err="1" smtClean="0"/>
              <a:t>Ex</a:t>
            </a:r>
            <a:r>
              <a:rPr lang="pt-BR" dirty="0" smtClean="0"/>
              <a:t>: números </a:t>
            </a:r>
            <a:r>
              <a:rPr lang="pt-BR" dirty="0"/>
              <a:t>positivos, números negativos e seleções no menu. </a:t>
            </a:r>
            <a:endParaRPr lang="pt-BR" dirty="0" smtClean="0"/>
          </a:p>
          <a:p>
            <a:pPr marL="0" indent="0">
              <a:buNone/>
            </a:pPr>
            <a:r>
              <a:rPr lang="pt-BR" dirty="0"/>
              <a:t>P</a:t>
            </a:r>
            <a:r>
              <a:rPr lang="pt-BR" dirty="0" smtClean="0"/>
              <a:t>rogramas </a:t>
            </a:r>
            <a:r>
              <a:rPr lang="pt-BR" dirty="0"/>
              <a:t>geralmente se comportam de forma comparável para todos os membros de uma classe. </a:t>
            </a:r>
            <a:r>
              <a:rPr lang="pt-BR" dirty="0" err="1" smtClean="0"/>
              <a:t>Ex</a:t>
            </a:r>
            <a:r>
              <a:rPr lang="pt-BR" dirty="0" smtClean="0"/>
              <a:t>: testa-se </a:t>
            </a:r>
            <a:r>
              <a:rPr lang="pt-BR" dirty="0"/>
              <a:t>um programa que faz um cálculo e requer dois números </a:t>
            </a:r>
            <a:r>
              <a:rPr lang="pt-BR" dirty="0" smtClean="0"/>
              <a:t>positivos. Espera-se </a:t>
            </a:r>
            <a:r>
              <a:rPr lang="pt-BR" dirty="0"/>
              <a:t>que o programa se comporte da mesma forma para todos os números positivos. </a:t>
            </a:r>
            <a:endParaRPr lang="pt-BR" dirty="0" smtClean="0"/>
          </a:p>
          <a:p>
            <a:pPr marL="0" indent="0">
              <a:buNone/>
            </a:pPr>
            <a:r>
              <a:rPr lang="pt-BR" dirty="0" smtClean="0"/>
              <a:t>Devido </a:t>
            </a:r>
            <a:r>
              <a:rPr lang="pt-BR" dirty="0"/>
              <a:t>a esse comportamento equivalente, essas classes são também chamadas de partições ou domínios de equivalência (BEZIER, 1990). </a:t>
            </a:r>
            <a:endParaRPr lang="pt-BR" dirty="0" smtClean="0"/>
          </a:p>
          <a:p>
            <a:pPr marL="0" indent="0">
              <a:buNone/>
            </a:pPr>
            <a:r>
              <a:rPr lang="pt-BR" dirty="0" smtClean="0"/>
              <a:t>Abordagem </a:t>
            </a:r>
            <a:r>
              <a:rPr lang="pt-BR" dirty="0"/>
              <a:t>sistemática para projetar casos de teste baseia-se na identificação de todas as partições de entrada e saída para um sistema ou componente. Os casos de teste são projetados para que as entradas ou saídas estejam dentro dessas partições. </a:t>
            </a:r>
            <a:endParaRPr lang="pt-BR" dirty="0" smtClean="0"/>
          </a:p>
          <a:p>
            <a:pPr marL="0" indent="0">
              <a:buNone/>
            </a:pPr>
            <a:r>
              <a:rPr lang="pt-BR" dirty="0" smtClean="0"/>
              <a:t>Um </a:t>
            </a:r>
            <a:r>
              <a:rPr lang="pt-BR" dirty="0"/>
              <a:t>teste de partição pode ser usado para projetar casos de teste para </a:t>
            </a:r>
            <a:r>
              <a:rPr lang="pt-BR" dirty="0" smtClean="0"/>
              <a:t>sistemas </a:t>
            </a:r>
            <a:r>
              <a:rPr lang="pt-BR" dirty="0"/>
              <a:t>e componentes.</a:t>
            </a:r>
            <a:endParaRPr lang="pt-BR" dirty="0" smtClean="0"/>
          </a:p>
        </p:txBody>
      </p:sp>
    </p:spTree>
    <p:extLst>
      <p:ext uri="{BB962C8B-B14F-4D97-AF65-F5344CB8AC3E}">
        <p14:creationId xmlns:p14="http://schemas.microsoft.com/office/powerpoint/2010/main" val="1735266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fontScale="92500" lnSpcReduction="20000"/>
          </a:bodyPr>
          <a:lstStyle/>
          <a:p>
            <a:pPr marL="0" indent="0">
              <a:buNone/>
            </a:pPr>
            <a:r>
              <a:rPr lang="pt-BR" dirty="0" smtClean="0"/>
              <a:t>Figura 8.5: </a:t>
            </a:r>
            <a:endParaRPr lang="pt-BR" dirty="0"/>
          </a:p>
          <a:p>
            <a:pPr marL="0" indent="0">
              <a:buNone/>
            </a:pPr>
            <a:r>
              <a:rPr lang="pt-BR" dirty="0" smtClean="0"/>
              <a:t>Elipse </a:t>
            </a:r>
            <a:r>
              <a:rPr lang="pt-BR" dirty="0"/>
              <a:t>maior sombreada, à </a:t>
            </a:r>
            <a:r>
              <a:rPr lang="pt-BR" dirty="0" smtClean="0"/>
              <a:t>esquerda: </a:t>
            </a:r>
            <a:r>
              <a:rPr lang="pt-BR" dirty="0"/>
              <a:t>conjunto de todas as entradas possíveis para o programa que está sendo testado. </a:t>
            </a:r>
            <a:endParaRPr lang="pt-BR" dirty="0" smtClean="0"/>
          </a:p>
          <a:p>
            <a:pPr marL="0" indent="0">
              <a:buNone/>
            </a:pPr>
            <a:r>
              <a:rPr lang="pt-BR" dirty="0"/>
              <a:t>E</a:t>
            </a:r>
            <a:r>
              <a:rPr lang="pt-BR" dirty="0" smtClean="0"/>
              <a:t>lipses </a:t>
            </a:r>
            <a:r>
              <a:rPr lang="pt-BR" dirty="0"/>
              <a:t>menores (não sombreadas</a:t>
            </a:r>
            <a:r>
              <a:rPr lang="pt-BR" dirty="0" smtClean="0"/>
              <a:t>): partições </a:t>
            </a:r>
            <a:r>
              <a:rPr lang="pt-BR" dirty="0"/>
              <a:t>de equivalência. Um programa que está sendo testado deve processar todos os membros de uma partição de equivalência de entrada da mesma forma. </a:t>
            </a:r>
            <a:endParaRPr lang="pt-BR" dirty="0" smtClean="0"/>
          </a:p>
          <a:p>
            <a:pPr marL="0" indent="0">
              <a:buNone/>
            </a:pPr>
            <a:r>
              <a:rPr lang="pt-BR" dirty="0" smtClean="0"/>
              <a:t>As </a:t>
            </a:r>
            <a:r>
              <a:rPr lang="pt-BR" dirty="0"/>
              <a:t>partições de equivalência de saída são partições dentro das quais todas as saídas têm algo em comum. </a:t>
            </a:r>
            <a:r>
              <a:rPr lang="pt-BR" dirty="0" smtClean="0"/>
              <a:t>Pode não haver </a:t>
            </a:r>
            <a:r>
              <a:rPr lang="pt-BR" dirty="0"/>
              <a:t>mapeamento 1:1 entre as partições de equivalência de entrada e de saída. </a:t>
            </a:r>
            <a:endParaRPr lang="pt-BR" dirty="0" smtClean="0"/>
          </a:p>
          <a:p>
            <a:pPr marL="0" indent="0">
              <a:buNone/>
            </a:pPr>
            <a:r>
              <a:rPr lang="pt-BR" dirty="0" smtClean="0"/>
              <a:t>Pode definir partição </a:t>
            </a:r>
            <a:r>
              <a:rPr lang="pt-BR" dirty="0"/>
              <a:t>de equivalência de entrada separada, na qual a única característica comum das entradas é que geram saídas dentro da mesma partição de saída. </a:t>
            </a:r>
            <a:endParaRPr lang="pt-BR" dirty="0" smtClean="0"/>
          </a:p>
          <a:p>
            <a:pPr marL="0" indent="0">
              <a:buNone/>
            </a:pPr>
            <a:r>
              <a:rPr lang="pt-BR" dirty="0"/>
              <a:t>Á</a:t>
            </a:r>
            <a:r>
              <a:rPr lang="pt-BR" dirty="0" smtClean="0"/>
              <a:t>rea </a:t>
            </a:r>
            <a:r>
              <a:rPr lang="pt-BR" dirty="0"/>
              <a:t>sombreada na elipse </a:t>
            </a:r>
            <a:r>
              <a:rPr lang="pt-BR" dirty="0" smtClean="0"/>
              <a:t>esquerda: </a:t>
            </a:r>
            <a:r>
              <a:rPr lang="pt-BR" dirty="0"/>
              <a:t>entradas inválidas. </a:t>
            </a:r>
            <a:endParaRPr lang="pt-BR" dirty="0" smtClean="0"/>
          </a:p>
          <a:p>
            <a:pPr marL="0" indent="0">
              <a:buNone/>
            </a:pPr>
            <a:r>
              <a:rPr lang="pt-BR" dirty="0" smtClean="0"/>
              <a:t>Área </a:t>
            </a:r>
            <a:r>
              <a:rPr lang="pt-BR" dirty="0"/>
              <a:t>sombreada na elipse da </a:t>
            </a:r>
            <a:r>
              <a:rPr lang="pt-BR" dirty="0" smtClean="0"/>
              <a:t>direita: </a:t>
            </a:r>
            <a:r>
              <a:rPr lang="pt-BR" dirty="0"/>
              <a:t>exceções que podem ocorrer </a:t>
            </a:r>
            <a:r>
              <a:rPr lang="pt-BR" dirty="0" smtClean="0"/>
              <a:t>(respostas </a:t>
            </a:r>
            <a:r>
              <a:rPr lang="pt-BR" dirty="0"/>
              <a:t>às entradas inválidas).</a:t>
            </a:r>
            <a:endParaRPr lang="pt-BR" dirty="0" smtClean="0"/>
          </a:p>
        </p:txBody>
      </p:sp>
    </p:spTree>
    <p:extLst>
      <p:ext uri="{BB962C8B-B14F-4D97-AF65-F5344CB8AC3E}">
        <p14:creationId xmlns:p14="http://schemas.microsoft.com/office/powerpoint/2010/main" val="2735017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smtClean="0"/>
              <a:t>Figura 8.5: </a:t>
            </a:r>
            <a:r>
              <a:rPr lang="pt-BR" dirty="0" err="1" smtClean="0"/>
              <a:t>pag</a:t>
            </a:r>
            <a:r>
              <a:rPr lang="pt-BR" dirty="0" smtClean="0"/>
              <a:t> 164</a:t>
            </a:r>
          </a:p>
        </p:txBody>
      </p:sp>
    </p:spTree>
    <p:extLst>
      <p:ext uri="{BB962C8B-B14F-4D97-AF65-F5344CB8AC3E}">
        <p14:creationId xmlns:p14="http://schemas.microsoft.com/office/powerpoint/2010/main" val="3273800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fontScale="77500" lnSpcReduction="20000"/>
          </a:bodyPr>
          <a:lstStyle/>
          <a:p>
            <a:pPr marL="0" indent="0">
              <a:buNone/>
            </a:pPr>
            <a:r>
              <a:rPr lang="pt-BR" dirty="0" smtClean="0"/>
              <a:t>Identifica-se </a:t>
            </a:r>
            <a:r>
              <a:rPr lang="pt-BR" dirty="0"/>
              <a:t>um conjunto de </a:t>
            </a:r>
            <a:r>
              <a:rPr lang="pt-BR" dirty="0" smtClean="0"/>
              <a:t>partições - Escolhem-se </a:t>
            </a:r>
            <a:r>
              <a:rPr lang="pt-BR" dirty="0"/>
              <a:t>os casos de teste de cada uma. </a:t>
            </a:r>
            <a:endParaRPr lang="pt-BR" dirty="0" smtClean="0"/>
          </a:p>
          <a:p>
            <a:pPr marL="0" indent="0">
              <a:buNone/>
            </a:pPr>
            <a:r>
              <a:rPr lang="pt-BR" dirty="0" smtClean="0"/>
              <a:t>Seleção </a:t>
            </a:r>
            <a:r>
              <a:rPr lang="pt-BR" dirty="0"/>
              <a:t>do caso de </a:t>
            </a:r>
            <a:r>
              <a:rPr lang="pt-BR" dirty="0" smtClean="0"/>
              <a:t>teste: </a:t>
            </a:r>
            <a:r>
              <a:rPr lang="pt-BR" dirty="0"/>
              <a:t>escolher casos de teste sobre os limites das partições, </a:t>
            </a:r>
            <a:r>
              <a:rPr lang="pt-BR" dirty="0" smtClean="0"/>
              <a:t>e casos </a:t>
            </a:r>
            <a:r>
              <a:rPr lang="pt-BR" dirty="0"/>
              <a:t>perto do ponto médio da partição. </a:t>
            </a:r>
            <a:endParaRPr lang="pt-BR" dirty="0" smtClean="0"/>
          </a:p>
          <a:p>
            <a:pPr marL="0" indent="0">
              <a:buNone/>
            </a:pPr>
            <a:r>
              <a:rPr lang="pt-BR" dirty="0" smtClean="0"/>
              <a:t>Razão: no </a:t>
            </a:r>
            <a:r>
              <a:rPr lang="pt-BR" dirty="0"/>
              <a:t>desenvolvimento de um sistema, os projetistas e </a:t>
            </a:r>
            <a:r>
              <a:rPr lang="pt-BR" dirty="0" smtClean="0"/>
              <a:t>programadores </a:t>
            </a:r>
            <a:r>
              <a:rPr lang="pt-BR" dirty="0"/>
              <a:t>tendem a considerar os valores típicos de entrada. </a:t>
            </a:r>
            <a:endParaRPr lang="pt-BR" dirty="0" smtClean="0"/>
          </a:p>
          <a:p>
            <a:pPr marL="0" indent="0">
              <a:buNone/>
            </a:pPr>
            <a:r>
              <a:rPr lang="pt-BR" dirty="0" smtClean="0"/>
              <a:t>Testa-se </a:t>
            </a:r>
            <a:r>
              <a:rPr lang="pt-BR" dirty="0"/>
              <a:t>escolhendo o ponto médio da partição. </a:t>
            </a:r>
            <a:endParaRPr lang="pt-BR" dirty="0" smtClean="0"/>
          </a:p>
          <a:p>
            <a:pPr marL="0" indent="0">
              <a:buNone/>
            </a:pPr>
            <a:r>
              <a:rPr lang="pt-BR" dirty="0"/>
              <a:t>V</a:t>
            </a:r>
            <a:r>
              <a:rPr lang="pt-BR" dirty="0" smtClean="0"/>
              <a:t>alores-limite: </a:t>
            </a:r>
            <a:r>
              <a:rPr lang="pt-BR" dirty="0"/>
              <a:t>frequentemente atípicos (por exemplo, zero pode comportar-se de maneira diferente de </a:t>
            </a:r>
            <a:r>
              <a:rPr lang="pt-BR" dirty="0" smtClean="0"/>
              <a:t>outros </a:t>
            </a:r>
            <a:r>
              <a:rPr lang="pt-BR" dirty="0"/>
              <a:t>números não negativos) e por vezes são negligenciados pelos desenvolvedores. </a:t>
            </a:r>
            <a:r>
              <a:rPr lang="pt-BR" dirty="0" smtClean="0"/>
              <a:t> Falhas </a:t>
            </a:r>
            <a:r>
              <a:rPr lang="pt-BR" dirty="0"/>
              <a:t>de programa ocorrem frequentemente ao se processarem esses valores atípicos. </a:t>
            </a:r>
            <a:endParaRPr lang="pt-BR" dirty="0" smtClean="0"/>
          </a:p>
          <a:p>
            <a:pPr marL="0" indent="0">
              <a:buNone/>
            </a:pPr>
            <a:r>
              <a:rPr lang="pt-BR" dirty="0" smtClean="0"/>
              <a:t>Partições </a:t>
            </a:r>
            <a:r>
              <a:rPr lang="pt-BR" dirty="0"/>
              <a:t>identificadas </a:t>
            </a:r>
            <a:r>
              <a:rPr lang="pt-BR" dirty="0" smtClean="0"/>
              <a:t>com </a:t>
            </a:r>
            <a:r>
              <a:rPr lang="pt-BR" dirty="0"/>
              <a:t>a especificação de programa ou a documentação de usuário, </a:t>
            </a:r>
            <a:r>
              <a:rPr lang="pt-BR" dirty="0" smtClean="0"/>
              <a:t>e da previsão de classes </a:t>
            </a:r>
            <a:r>
              <a:rPr lang="pt-BR" dirty="0"/>
              <a:t>de valor de entrada prováveis de detectar erros. </a:t>
            </a:r>
            <a:endParaRPr lang="pt-BR" dirty="0" smtClean="0"/>
          </a:p>
          <a:p>
            <a:pPr marL="0" indent="0">
              <a:buNone/>
            </a:pPr>
            <a:r>
              <a:rPr lang="pt-BR" dirty="0" err="1" smtClean="0"/>
              <a:t>Ex</a:t>
            </a:r>
            <a:r>
              <a:rPr lang="pt-BR" dirty="0" smtClean="0"/>
              <a:t>: uma </a:t>
            </a:r>
            <a:r>
              <a:rPr lang="pt-BR" dirty="0"/>
              <a:t>especificação de programa </a:t>
            </a:r>
            <a:r>
              <a:rPr lang="pt-BR" dirty="0" smtClean="0"/>
              <a:t>define </a:t>
            </a:r>
            <a:r>
              <a:rPr lang="pt-BR" dirty="0"/>
              <a:t>que o programa aceita entradas de 4 a 8 </a:t>
            </a:r>
            <a:r>
              <a:rPr lang="pt-BR" dirty="0" smtClean="0"/>
              <a:t>(valores </a:t>
            </a:r>
            <a:r>
              <a:rPr lang="pt-BR" dirty="0"/>
              <a:t>inteiros de cinco dígitos superiores a </a:t>
            </a:r>
            <a:r>
              <a:rPr lang="pt-BR" dirty="0" smtClean="0"/>
              <a:t>10.000). Usam-se </a:t>
            </a:r>
            <a:r>
              <a:rPr lang="pt-BR" dirty="0"/>
              <a:t>essas informações para identificar as partições de entrada e de possíveis valores de entrada de teste. </a:t>
            </a:r>
            <a:endParaRPr lang="pt-BR" dirty="0" smtClean="0"/>
          </a:p>
          <a:p>
            <a:pPr marL="0" indent="0">
              <a:buNone/>
            </a:pPr>
            <a:r>
              <a:rPr lang="pt-BR" dirty="0" smtClean="0"/>
              <a:t>Estes </a:t>
            </a:r>
            <a:r>
              <a:rPr lang="pt-BR" dirty="0"/>
              <a:t>são mostrados na Figura 8.6</a:t>
            </a:r>
            <a:r>
              <a:rPr lang="pt-BR" dirty="0" smtClean="0"/>
              <a:t>. – </a:t>
            </a:r>
            <a:r>
              <a:rPr lang="pt-BR" dirty="0" err="1" smtClean="0"/>
              <a:t>pag</a:t>
            </a:r>
            <a:r>
              <a:rPr lang="pt-BR" dirty="0" smtClean="0"/>
              <a:t> 151</a:t>
            </a:r>
          </a:p>
        </p:txBody>
      </p:sp>
    </p:spTree>
    <p:extLst>
      <p:ext uri="{BB962C8B-B14F-4D97-AF65-F5344CB8AC3E}">
        <p14:creationId xmlns:p14="http://schemas.microsoft.com/office/powerpoint/2010/main" val="2344460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a:t>E</a:t>
            </a:r>
            <a:r>
              <a:rPr lang="pt-BR" dirty="0" smtClean="0"/>
              <a:t>specificação de </a:t>
            </a:r>
            <a:r>
              <a:rPr lang="pt-BR" dirty="0"/>
              <a:t>sistema para identificar as partições de </a:t>
            </a:r>
            <a:r>
              <a:rPr lang="pt-BR" dirty="0" smtClean="0"/>
              <a:t>equivalência: ‘</a:t>
            </a:r>
            <a:r>
              <a:rPr lang="pt-BR" dirty="0"/>
              <a:t>teste de caixa-preta’. </a:t>
            </a:r>
            <a:endParaRPr lang="pt-BR" dirty="0" smtClean="0"/>
          </a:p>
          <a:p>
            <a:pPr marL="0" indent="0">
              <a:buNone/>
            </a:pPr>
            <a:r>
              <a:rPr lang="pt-BR" dirty="0" smtClean="0"/>
              <a:t>Nesse </a:t>
            </a:r>
            <a:r>
              <a:rPr lang="pt-BR" dirty="0"/>
              <a:t>caso, </a:t>
            </a:r>
            <a:r>
              <a:rPr lang="pt-BR" dirty="0" smtClean="0"/>
              <a:t>não se precisa </a:t>
            </a:r>
            <a:r>
              <a:rPr lang="pt-BR" dirty="0"/>
              <a:t>de nenhum conhecimento de como funciona o sistema. P</a:t>
            </a:r>
            <a:r>
              <a:rPr lang="pt-BR" dirty="0" smtClean="0"/>
              <a:t>ode </a:t>
            </a:r>
            <a:r>
              <a:rPr lang="pt-BR" dirty="0"/>
              <a:t>ser útil para suplementar os testes de </a:t>
            </a:r>
            <a:r>
              <a:rPr lang="pt-BR" dirty="0" smtClean="0"/>
              <a:t>caixa-preta: </a:t>
            </a:r>
            <a:r>
              <a:rPr lang="pt-BR" dirty="0"/>
              <a:t>um ‘teste de caixa-branca’, </a:t>
            </a:r>
            <a:r>
              <a:rPr lang="pt-BR" dirty="0" smtClean="0"/>
              <a:t>(olhar </a:t>
            </a:r>
            <a:r>
              <a:rPr lang="pt-BR" dirty="0"/>
              <a:t>o código do programa para encontrar outros testes </a:t>
            </a:r>
            <a:r>
              <a:rPr lang="pt-BR" dirty="0" smtClean="0"/>
              <a:t>possíveis).</a:t>
            </a:r>
          </a:p>
          <a:p>
            <a:pPr marL="0" indent="0">
              <a:buNone/>
            </a:pPr>
            <a:r>
              <a:rPr lang="pt-BR" dirty="0" err="1" smtClean="0"/>
              <a:t>Ex</a:t>
            </a:r>
            <a:r>
              <a:rPr lang="pt-BR" dirty="0" smtClean="0"/>
              <a:t>: o </a:t>
            </a:r>
            <a:r>
              <a:rPr lang="pt-BR" dirty="0"/>
              <a:t>código pode incluir exceções para lidar com entradas incorretas. </a:t>
            </a:r>
            <a:endParaRPr lang="pt-BR" dirty="0" smtClean="0"/>
          </a:p>
          <a:p>
            <a:pPr marL="0" indent="0">
              <a:buNone/>
            </a:pPr>
            <a:r>
              <a:rPr lang="pt-BR" dirty="0" smtClean="0"/>
              <a:t>Pode-se </a:t>
            </a:r>
            <a:r>
              <a:rPr lang="pt-BR" dirty="0"/>
              <a:t>usar esse conhecimento para identificar as ‘partições de exceção’ — </a:t>
            </a:r>
            <a:r>
              <a:rPr lang="pt-BR" dirty="0" smtClean="0"/>
              <a:t>diferentes </a:t>
            </a:r>
            <a:r>
              <a:rPr lang="pt-BR" dirty="0"/>
              <a:t>intervalos, nos quais o mesmo tratamento de exceção deve ser aplicado. </a:t>
            </a:r>
            <a:r>
              <a:rPr lang="pt-BR" dirty="0" err="1"/>
              <a:t>Particionamento</a:t>
            </a:r>
            <a:r>
              <a:rPr lang="pt-BR" dirty="0"/>
              <a:t> de </a:t>
            </a:r>
            <a:r>
              <a:rPr lang="pt-BR" dirty="0" smtClean="0"/>
              <a:t>equivalência: </a:t>
            </a:r>
            <a:r>
              <a:rPr lang="pt-BR" dirty="0"/>
              <a:t>abordagem eficaz para testes, </a:t>
            </a:r>
            <a:r>
              <a:rPr lang="pt-BR" dirty="0" smtClean="0"/>
              <a:t>ajuda </a:t>
            </a:r>
            <a:r>
              <a:rPr lang="pt-BR" dirty="0"/>
              <a:t>a explicar os erros que os programadores costumam cometer ao processar as entradas nos limites das partições. </a:t>
            </a:r>
            <a:endParaRPr lang="pt-BR" dirty="0" smtClean="0"/>
          </a:p>
          <a:p>
            <a:pPr marL="0" indent="0">
              <a:buNone/>
            </a:pPr>
            <a:endParaRPr lang="pt-BR" dirty="0" smtClean="0"/>
          </a:p>
        </p:txBody>
      </p:sp>
    </p:spTree>
    <p:extLst>
      <p:ext uri="{BB962C8B-B14F-4D97-AF65-F5344CB8AC3E}">
        <p14:creationId xmlns:p14="http://schemas.microsoft.com/office/powerpoint/2010/main" val="3782655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fontScale="92500" lnSpcReduction="10000"/>
          </a:bodyPr>
          <a:lstStyle/>
          <a:p>
            <a:pPr marL="0" indent="0">
              <a:buNone/>
            </a:pPr>
            <a:r>
              <a:rPr lang="pt-BR" dirty="0" smtClean="0"/>
              <a:t>Diretrizes </a:t>
            </a:r>
            <a:r>
              <a:rPr lang="pt-BR" dirty="0"/>
              <a:t>de teste para ajudar a escolher casos de </a:t>
            </a:r>
            <a:r>
              <a:rPr lang="pt-BR" dirty="0" smtClean="0"/>
              <a:t>teste: encapsulam </a:t>
            </a:r>
            <a:r>
              <a:rPr lang="pt-BR" dirty="0"/>
              <a:t>o conhecimento de quais tipos de casos de teste são eficazes para descobrir erros. </a:t>
            </a:r>
            <a:endParaRPr lang="pt-BR" dirty="0" smtClean="0"/>
          </a:p>
          <a:p>
            <a:pPr marL="0" indent="0">
              <a:buNone/>
            </a:pPr>
            <a:r>
              <a:rPr lang="pt-BR" dirty="0" smtClean="0"/>
              <a:t>Testes de </a:t>
            </a:r>
            <a:r>
              <a:rPr lang="pt-BR" dirty="0"/>
              <a:t>programas com </a:t>
            </a:r>
            <a:r>
              <a:rPr lang="pt-BR" dirty="0" smtClean="0"/>
              <a:t>sequências</a:t>
            </a:r>
            <a:r>
              <a:rPr lang="pt-BR" dirty="0"/>
              <a:t>, vetores ou listas, as diretrizes que podem ajudar a revelar defeitos incluem: </a:t>
            </a:r>
            <a:endParaRPr lang="pt-BR" dirty="0" smtClean="0"/>
          </a:p>
          <a:p>
            <a:pPr marL="514350" indent="-514350">
              <a:buAutoNum type="arabicPeriod"/>
            </a:pPr>
            <a:r>
              <a:rPr lang="pt-BR" dirty="0" smtClean="0"/>
              <a:t>Testar </a:t>
            </a:r>
            <a:r>
              <a:rPr lang="pt-BR" dirty="0"/>
              <a:t>software com as sequências que possuem apenas um valor. Programadores, em geral, pensam em </a:t>
            </a:r>
            <a:r>
              <a:rPr lang="pt-BR" dirty="0" smtClean="0"/>
              <a:t>sequências </a:t>
            </a:r>
            <a:r>
              <a:rPr lang="pt-BR" dirty="0"/>
              <a:t>compostas de vários valores e, às vezes, incorporam essa hipótese em seus programas. </a:t>
            </a:r>
            <a:r>
              <a:rPr lang="pt-BR" dirty="0" smtClean="0"/>
              <a:t>Caso </a:t>
            </a:r>
            <a:r>
              <a:rPr lang="pt-BR" dirty="0"/>
              <a:t>apresentado com uma sequência de valor único, um programa pode não funcionar corretamente. </a:t>
            </a:r>
            <a:endParaRPr lang="pt-BR" dirty="0" smtClean="0"/>
          </a:p>
          <a:p>
            <a:pPr marL="514350" indent="-514350">
              <a:buAutoNum type="arabicPeriod"/>
            </a:pPr>
            <a:r>
              <a:rPr lang="pt-BR" dirty="0" smtClean="0"/>
              <a:t>Usar </a:t>
            </a:r>
            <a:r>
              <a:rPr lang="pt-BR" dirty="0"/>
              <a:t>sequências diferentes de tamanhos diferentes em testes diferentes. Isso diminui as chances de um </a:t>
            </a:r>
            <a:r>
              <a:rPr lang="pt-BR" dirty="0" smtClean="0"/>
              <a:t>programa </a:t>
            </a:r>
            <a:r>
              <a:rPr lang="pt-BR" dirty="0"/>
              <a:t>com defeitos produzir acidentalmente uma saída correta, por causa de alguma característica acidental na entrada. </a:t>
            </a:r>
            <a:endParaRPr lang="pt-BR" dirty="0" smtClean="0"/>
          </a:p>
          <a:p>
            <a:pPr marL="514350" indent="-514350">
              <a:buAutoNum type="arabicPeriod"/>
            </a:pPr>
            <a:r>
              <a:rPr lang="pt-BR" dirty="0" smtClean="0"/>
              <a:t>Derivar </a:t>
            </a:r>
            <a:r>
              <a:rPr lang="pt-BR" dirty="0"/>
              <a:t>testes de modo que o primeiro elemento, o do meio e o último da sequência sejam acessados. Essa abordagem revela problemas nos limites de partição.</a:t>
            </a:r>
            <a:endParaRPr lang="pt-BR" dirty="0" smtClean="0"/>
          </a:p>
        </p:txBody>
      </p:sp>
    </p:spTree>
    <p:extLst>
      <p:ext uri="{BB962C8B-B14F-4D97-AF65-F5344CB8AC3E}">
        <p14:creationId xmlns:p14="http://schemas.microsoft.com/office/powerpoint/2010/main" val="2624310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8.1.2 Escolha de casos de teste unitário </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a:t>O livro de </a:t>
            </a:r>
            <a:r>
              <a:rPr lang="pt-BR" dirty="0" err="1"/>
              <a:t>Whittaker</a:t>
            </a:r>
            <a:r>
              <a:rPr lang="pt-BR" dirty="0"/>
              <a:t> (2002) inclui muitos exemplos de diretrizes que podem ser usadas no projeto de casos de teste. </a:t>
            </a:r>
            <a:endParaRPr lang="pt-BR" dirty="0" smtClean="0"/>
          </a:p>
          <a:p>
            <a:pPr marL="0" indent="0">
              <a:buNone/>
            </a:pPr>
            <a:r>
              <a:rPr lang="pt-BR" dirty="0" smtClean="0"/>
              <a:t>Algumas </a:t>
            </a:r>
            <a:r>
              <a:rPr lang="pt-BR" dirty="0"/>
              <a:t>das diretrizes mais gerais que ele sugere são</a:t>
            </a:r>
            <a:r>
              <a:rPr lang="pt-BR" dirty="0" smtClean="0"/>
              <a:t>:</a:t>
            </a:r>
          </a:p>
          <a:p>
            <a:pPr marL="0" indent="0">
              <a:buNone/>
            </a:pPr>
            <a:r>
              <a:rPr lang="pt-BR" dirty="0" smtClean="0"/>
              <a:t>Escolha </a:t>
            </a:r>
            <a:r>
              <a:rPr lang="pt-BR" dirty="0"/>
              <a:t>entradas que forcem o sistema a gerar todas as mensagens de erro; </a:t>
            </a:r>
            <a:endParaRPr lang="pt-BR" dirty="0" smtClean="0"/>
          </a:p>
          <a:p>
            <a:pPr marL="0" indent="0">
              <a:buNone/>
            </a:pPr>
            <a:r>
              <a:rPr lang="pt-BR" dirty="0" smtClean="0"/>
              <a:t>Projete </a:t>
            </a:r>
            <a:r>
              <a:rPr lang="pt-BR" dirty="0"/>
              <a:t>entradas que causem overflow de buffers de entrada; </a:t>
            </a:r>
            <a:endParaRPr lang="pt-BR" dirty="0" smtClean="0"/>
          </a:p>
          <a:p>
            <a:pPr marL="0" indent="0">
              <a:buNone/>
            </a:pPr>
            <a:r>
              <a:rPr lang="pt-BR" dirty="0" smtClean="0"/>
              <a:t>Repita </a:t>
            </a:r>
            <a:r>
              <a:rPr lang="pt-BR" dirty="0"/>
              <a:t>a mesma entrada ou uma série de entradas inúmeras vezes; </a:t>
            </a:r>
            <a:endParaRPr lang="pt-BR" dirty="0" smtClean="0"/>
          </a:p>
          <a:p>
            <a:pPr marL="0" indent="0">
              <a:buNone/>
            </a:pPr>
            <a:r>
              <a:rPr lang="pt-BR" dirty="0" smtClean="0"/>
              <a:t>Obrigue </a:t>
            </a:r>
            <a:r>
              <a:rPr lang="pt-BR" dirty="0"/>
              <a:t>a geração de saídas inválidas; </a:t>
            </a:r>
            <a:endParaRPr lang="pt-BR" dirty="0" smtClean="0"/>
          </a:p>
          <a:p>
            <a:pPr marL="0" indent="0">
              <a:buNone/>
            </a:pPr>
            <a:r>
              <a:rPr lang="pt-BR" dirty="0" smtClean="0"/>
              <a:t>Obrigue </a:t>
            </a:r>
            <a:r>
              <a:rPr lang="pt-BR" dirty="0"/>
              <a:t>os resultados de cálculos a serem muito grandes ou muito pequenos.</a:t>
            </a:r>
            <a:endParaRPr lang="pt-BR" dirty="0" smtClean="0"/>
          </a:p>
        </p:txBody>
      </p:sp>
    </p:spTree>
    <p:extLst>
      <p:ext uri="{BB962C8B-B14F-4D97-AF65-F5344CB8AC3E}">
        <p14:creationId xmlns:p14="http://schemas.microsoft.com/office/powerpoint/2010/main" val="1472160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8.1.3 Teste de componente </a:t>
            </a:r>
          </a:p>
        </p:txBody>
      </p:sp>
      <p:sp>
        <p:nvSpPr>
          <p:cNvPr id="3" name="Espaço Reservado para Conteúdo 2"/>
          <p:cNvSpPr>
            <a:spLocks noGrp="1"/>
          </p:cNvSpPr>
          <p:nvPr>
            <p:ph idx="1"/>
          </p:nvPr>
        </p:nvSpPr>
        <p:spPr>
          <a:xfrm>
            <a:off x="0" y="1440611"/>
            <a:ext cx="12191999" cy="5046453"/>
          </a:xfrm>
        </p:spPr>
        <p:txBody>
          <a:bodyPr>
            <a:normAutofit fontScale="92500" lnSpcReduction="20000"/>
          </a:bodyPr>
          <a:lstStyle/>
          <a:p>
            <a:pPr marL="0" indent="0">
              <a:buNone/>
            </a:pPr>
            <a:r>
              <a:rPr lang="pt-BR" dirty="0"/>
              <a:t>C</a:t>
            </a:r>
            <a:r>
              <a:rPr lang="pt-BR" dirty="0" smtClean="0"/>
              <a:t>omponentes </a:t>
            </a:r>
            <a:r>
              <a:rPr lang="pt-BR" dirty="0"/>
              <a:t>do </a:t>
            </a:r>
            <a:r>
              <a:rPr lang="pt-BR" dirty="0" smtClean="0"/>
              <a:t>software: </a:t>
            </a:r>
            <a:r>
              <a:rPr lang="pt-BR" dirty="0"/>
              <a:t>compostos de diversos objetos que interagem. </a:t>
            </a:r>
            <a:endParaRPr lang="pt-BR" dirty="0" smtClean="0"/>
          </a:p>
          <a:p>
            <a:pPr marL="0" indent="0">
              <a:buNone/>
            </a:pPr>
            <a:r>
              <a:rPr lang="pt-BR" dirty="0" err="1" smtClean="0"/>
              <a:t>Ex</a:t>
            </a:r>
            <a:r>
              <a:rPr lang="pt-BR" dirty="0" smtClean="0"/>
              <a:t>: </a:t>
            </a:r>
            <a:r>
              <a:rPr lang="pt-BR" dirty="0"/>
              <a:t>no sistema de estação meteorológica, o componente de reconfiguração inclui objetos que lidam com cada aspecto da reconfiguração. </a:t>
            </a:r>
            <a:endParaRPr lang="pt-BR" dirty="0" smtClean="0"/>
          </a:p>
          <a:p>
            <a:pPr marL="0" indent="0">
              <a:buNone/>
            </a:pPr>
            <a:r>
              <a:rPr lang="pt-BR" dirty="0" smtClean="0"/>
              <a:t>Pode-se </a:t>
            </a:r>
            <a:r>
              <a:rPr lang="pt-BR" dirty="0"/>
              <a:t>acessar a funcionalidade desses objetos </a:t>
            </a:r>
            <a:r>
              <a:rPr lang="pt-BR" dirty="0" smtClean="0"/>
              <a:t>pela </a:t>
            </a:r>
            <a:r>
              <a:rPr lang="pt-BR" dirty="0"/>
              <a:t>interface de </a:t>
            </a:r>
            <a:r>
              <a:rPr lang="pt-BR" dirty="0" smtClean="0"/>
              <a:t>componente </a:t>
            </a:r>
            <a:r>
              <a:rPr lang="pt-BR" dirty="0"/>
              <a:t>definida. Testes de componentes </a:t>
            </a:r>
            <a:r>
              <a:rPr lang="pt-BR" dirty="0" smtClean="0"/>
              <a:t>compostos: centram-se </a:t>
            </a:r>
            <a:r>
              <a:rPr lang="pt-BR" dirty="0"/>
              <a:t>em mostrar que a interface de componente se comporta de acordo com sua especificação. </a:t>
            </a:r>
            <a:endParaRPr lang="pt-BR" dirty="0" smtClean="0"/>
          </a:p>
          <a:p>
            <a:pPr marL="0" indent="0">
              <a:buNone/>
            </a:pPr>
            <a:r>
              <a:rPr lang="pt-BR" dirty="0"/>
              <a:t>T</a:t>
            </a:r>
            <a:r>
              <a:rPr lang="pt-BR" dirty="0" smtClean="0"/>
              <a:t>estes </a:t>
            </a:r>
            <a:r>
              <a:rPr lang="pt-BR" dirty="0"/>
              <a:t>unitários sobre os objetos </a:t>
            </a:r>
            <a:r>
              <a:rPr lang="pt-BR" dirty="0" smtClean="0"/>
              <a:t>individuais </a:t>
            </a:r>
            <a:r>
              <a:rPr lang="pt-BR" dirty="0"/>
              <a:t>dentro do componente </a:t>
            </a:r>
            <a:r>
              <a:rPr lang="pt-BR" dirty="0" smtClean="0"/>
              <a:t>foram </a:t>
            </a:r>
            <a:r>
              <a:rPr lang="pt-BR" dirty="0"/>
              <a:t>concluídos. </a:t>
            </a:r>
            <a:endParaRPr lang="pt-BR" dirty="0" smtClean="0"/>
          </a:p>
          <a:p>
            <a:pPr marL="0" indent="0">
              <a:buNone/>
            </a:pPr>
            <a:r>
              <a:rPr lang="pt-BR" dirty="0" smtClean="0"/>
              <a:t>Figura 8.7: </a:t>
            </a:r>
            <a:r>
              <a:rPr lang="pt-BR" dirty="0" err="1" smtClean="0"/>
              <a:t>Pg</a:t>
            </a:r>
            <a:r>
              <a:rPr lang="pt-BR" dirty="0" smtClean="0"/>
              <a:t> 152 - teste </a:t>
            </a:r>
            <a:r>
              <a:rPr lang="pt-BR" dirty="0"/>
              <a:t>de interface de componente. </a:t>
            </a:r>
            <a:endParaRPr lang="pt-BR" dirty="0" smtClean="0"/>
          </a:p>
          <a:p>
            <a:pPr marL="0" indent="0">
              <a:buNone/>
            </a:pPr>
            <a:r>
              <a:rPr lang="pt-BR" dirty="0" smtClean="0"/>
              <a:t>Suponha </a:t>
            </a:r>
            <a:r>
              <a:rPr lang="pt-BR" dirty="0"/>
              <a:t>que os componentes A, B e C foram integrados para criar um componente maior ou subsistema. Os casos de teste não são aplicados aos componentes individuais, mas sim à interface de componente criada pela combinação desses componentes. </a:t>
            </a:r>
            <a:endParaRPr lang="pt-BR" dirty="0" smtClean="0"/>
          </a:p>
          <a:p>
            <a:pPr marL="0" indent="0">
              <a:buNone/>
            </a:pPr>
            <a:r>
              <a:rPr lang="pt-BR" dirty="0" smtClean="0"/>
              <a:t>Erros </a:t>
            </a:r>
            <a:r>
              <a:rPr lang="pt-BR" dirty="0"/>
              <a:t>de interface no componente composto podem não ser detectáveis por meio de testes em objetos individuais, pois esses erros resultam de interações entre os objetos do componente</a:t>
            </a:r>
            <a:endParaRPr lang="pt-BR" dirty="0" smtClean="0"/>
          </a:p>
        </p:txBody>
      </p:sp>
    </p:spTree>
    <p:extLst>
      <p:ext uri="{BB962C8B-B14F-4D97-AF65-F5344CB8AC3E}">
        <p14:creationId xmlns:p14="http://schemas.microsoft.com/office/powerpoint/2010/main" val="1747326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8.1.3 Teste de componente </a:t>
            </a:r>
          </a:p>
        </p:txBody>
      </p:sp>
      <p:sp>
        <p:nvSpPr>
          <p:cNvPr id="3" name="Espaço Reservado para Conteúdo 2"/>
          <p:cNvSpPr>
            <a:spLocks noGrp="1"/>
          </p:cNvSpPr>
          <p:nvPr>
            <p:ph idx="1"/>
          </p:nvPr>
        </p:nvSpPr>
        <p:spPr>
          <a:xfrm>
            <a:off x="0" y="1440611"/>
            <a:ext cx="12191999" cy="5046453"/>
          </a:xfrm>
        </p:spPr>
        <p:txBody>
          <a:bodyPr>
            <a:normAutofit fontScale="92500" lnSpcReduction="20000"/>
          </a:bodyPr>
          <a:lstStyle/>
          <a:p>
            <a:pPr marL="0" indent="0">
              <a:buNone/>
            </a:pPr>
            <a:r>
              <a:rPr lang="pt-BR" dirty="0" smtClean="0"/>
              <a:t>Tipos </a:t>
            </a:r>
            <a:r>
              <a:rPr lang="pt-BR" dirty="0"/>
              <a:t>de interface entre os componentes de programa </a:t>
            </a:r>
            <a:r>
              <a:rPr lang="pt-BR" dirty="0" smtClean="0"/>
              <a:t>e diferentes </a:t>
            </a:r>
            <a:r>
              <a:rPr lang="pt-BR" dirty="0"/>
              <a:t>tipos de erros de interface que podem ocorrer: </a:t>
            </a:r>
            <a:endParaRPr lang="pt-BR" dirty="0" smtClean="0"/>
          </a:p>
          <a:p>
            <a:pPr marL="514350" indent="-514350">
              <a:buAutoNum type="arabicPeriod"/>
            </a:pPr>
            <a:r>
              <a:rPr lang="pt-BR" dirty="0" smtClean="0"/>
              <a:t>Interfaces </a:t>
            </a:r>
            <a:r>
              <a:rPr lang="pt-BR" dirty="0"/>
              <a:t>de </a:t>
            </a:r>
            <a:r>
              <a:rPr lang="pt-BR" dirty="0" smtClean="0"/>
              <a:t>parâmetro: as </a:t>
            </a:r>
            <a:r>
              <a:rPr lang="pt-BR" dirty="0"/>
              <a:t>referências de dados </a:t>
            </a:r>
            <a:r>
              <a:rPr lang="pt-BR" dirty="0" smtClean="0"/>
              <a:t>ou de </a:t>
            </a:r>
            <a:r>
              <a:rPr lang="pt-BR" dirty="0"/>
              <a:t>função, são passadas de um componente para outro. Métodos de um objeto têm uma interface de parâmetro. </a:t>
            </a:r>
            <a:endParaRPr lang="pt-BR" dirty="0" smtClean="0"/>
          </a:p>
          <a:p>
            <a:pPr marL="514350" indent="-514350">
              <a:buAutoNum type="arabicPeriod"/>
            </a:pPr>
            <a:r>
              <a:rPr lang="pt-BR" dirty="0" smtClean="0"/>
              <a:t>Interfaces </a:t>
            </a:r>
            <a:r>
              <a:rPr lang="pt-BR" dirty="0"/>
              <a:t>de memória compartilhada. </a:t>
            </a:r>
            <a:r>
              <a:rPr lang="pt-BR" dirty="0" smtClean="0"/>
              <a:t>um </a:t>
            </a:r>
            <a:r>
              <a:rPr lang="pt-BR" dirty="0"/>
              <a:t>bloco de memória é compartilhado entre os componentes. Os dados são colocados na memória por um subsistema e recuperados a partir daí por outros subsistemas. Esse tipo de interface é frequentemente usado em sistemas embutidos, em que os sensores criam dados que são recuperados e processados por outros componentes do sistema. </a:t>
            </a:r>
            <a:endParaRPr lang="pt-BR" dirty="0" smtClean="0"/>
          </a:p>
          <a:p>
            <a:pPr marL="514350" indent="-514350">
              <a:buAutoNum type="arabicPeriod"/>
            </a:pPr>
            <a:r>
              <a:rPr lang="pt-BR" dirty="0" smtClean="0"/>
              <a:t>Interfaces </a:t>
            </a:r>
            <a:r>
              <a:rPr lang="pt-BR" dirty="0"/>
              <a:t>de </a:t>
            </a:r>
            <a:r>
              <a:rPr lang="pt-BR" dirty="0" smtClean="0"/>
              <a:t>procedimento: </a:t>
            </a:r>
            <a:r>
              <a:rPr lang="pt-BR" dirty="0"/>
              <a:t>um componente encapsula um conjunto de </a:t>
            </a:r>
            <a:r>
              <a:rPr lang="pt-BR" dirty="0" smtClean="0"/>
              <a:t>procedimentos </a:t>
            </a:r>
            <a:r>
              <a:rPr lang="pt-BR" dirty="0"/>
              <a:t>que podem ser chamados por outros componentes. Objetos e componentes reusáveis têm esse tipo de interface. </a:t>
            </a:r>
            <a:endParaRPr lang="pt-BR" dirty="0" smtClean="0"/>
          </a:p>
          <a:p>
            <a:pPr marL="514350" indent="-514350">
              <a:buAutoNum type="arabicPeriod"/>
            </a:pPr>
            <a:r>
              <a:rPr lang="pt-BR" dirty="0" smtClean="0"/>
              <a:t>Interface </a:t>
            </a:r>
            <a:r>
              <a:rPr lang="pt-BR" dirty="0"/>
              <a:t>de passagem de </a:t>
            </a:r>
            <a:r>
              <a:rPr lang="pt-BR" dirty="0" smtClean="0"/>
              <a:t>mensagem: </a:t>
            </a:r>
            <a:r>
              <a:rPr lang="pt-BR" dirty="0"/>
              <a:t>um componente solicita um serviço de outro componente, passando-lhe uma </a:t>
            </a:r>
            <a:r>
              <a:rPr lang="pt-BR" dirty="0" smtClean="0"/>
              <a:t>mensagem que </a:t>
            </a:r>
            <a:r>
              <a:rPr lang="pt-BR" dirty="0"/>
              <a:t>inclui os resultados da execução do serviço. Alguns sistemas orientados a objetos têm esse tipo de interface, como nos sistemas cliente-servidor.</a:t>
            </a:r>
            <a:endParaRPr lang="pt-BR" dirty="0" smtClean="0"/>
          </a:p>
        </p:txBody>
      </p:sp>
    </p:spTree>
    <p:extLst>
      <p:ext uri="{BB962C8B-B14F-4D97-AF65-F5344CB8AC3E}">
        <p14:creationId xmlns:p14="http://schemas.microsoft.com/office/powerpoint/2010/main" val="32129686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8.1.3 Teste de componente </a:t>
            </a:r>
          </a:p>
        </p:txBody>
      </p:sp>
      <p:sp>
        <p:nvSpPr>
          <p:cNvPr id="3" name="Espaço Reservado para Conteúdo 2"/>
          <p:cNvSpPr>
            <a:spLocks noGrp="1"/>
          </p:cNvSpPr>
          <p:nvPr>
            <p:ph idx="1"/>
          </p:nvPr>
        </p:nvSpPr>
        <p:spPr>
          <a:xfrm>
            <a:off x="0" y="1440611"/>
            <a:ext cx="12191999" cy="5046453"/>
          </a:xfrm>
        </p:spPr>
        <p:txBody>
          <a:bodyPr>
            <a:normAutofit fontScale="85000" lnSpcReduction="20000"/>
          </a:bodyPr>
          <a:lstStyle/>
          <a:p>
            <a:pPr marL="0" indent="0">
              <a:buNone/>
            </a:pPr>
            <a:r>
              <a:rPr lang="pt-BR" dirty="0"/>
              <a:t>Erros de interface são uma das formas mais comuns de erros em sistemas complexos (LUTZ, 1993</a:t>
            </a:r>
            <a:r>
              <a:rPr lang="pt-BR" dirty="0" smtClean="0"/>
              <a:t>),  </a:t>
            </a:r>
            <a:r>
              <a:rPr lang="pt-BR" dirty="0"/>
              <a:t>classificados em três classes: </a:t>
            </a:r>
            <a:endParaRPr lang="pt-BR" dirty="0" smtClean="0"/>
          </a:p>
          <a:p>
            <a:pPr marL="0" indent="0">
              <a:buNone/>
            </a:pPr>
            <a:r>
              <a:rPr lang="pt-BR" dirty="0" smtClean="0"/>
              <a:t>Mau </a:t>
            </a:r>
            <a:r>
              <a:rPr lang="pt-BR" dirty="0"/>
              <a:t>uso de </a:t>
            </a:r>
            <a:r>
              <a:rPr lang="pt-BR" dirty="0" smtClean="0"/>
              <a:t>interface: </a:t>
            </a:r>
            <a:r>
              <a:rPr lang="pt-BR" dirty="0"/>
              <a:t>Um componente chamador chama outro componente e comete um erro no uso de sua interface. Esse tipo de erro é comum com interfaces de parâmetro, em que os parâmetros podem ser de tipo errado ou ser passados na ordem errada, ou o número errado de parâmetros pode ser passado. </a:t>
            </a:r>
            <a:endParaRPr lang="pt-BR" dirty="0" smtClean="0"/>
          </a:p>
          <a:p>
            <a:pPr marL="0" indent="0">
              <a:buNone/>
            </a:pPr>
            <a:r>
              <a:rPr lang="pt-BR" dirty="0" smtClean="0"/>
              <a:t>Mau-entendimento </a:t>
            </a:r>
            <a:r>
              <a:rPr lang="pt-BR" dirty="0"/>
              <a:t>de </a:t>
            </a:r>
            <a:r>
              <a:rPr lang="pt-BR" dirty="0" smtClean="0"/>
              <a:t>interface: Um </a:t>
            </a:r>
            <a:r>
              <a:rPr lang="pt-BR" dirty="0"/>
              <a:t>componente chamador desconhece a especificação da interface do </a:t>
            </a:r>
            <a:r>
              <a:rPr lang="pt-BR" dirty="0" smtClean="0"/>
              <a:t>componente </a:t>
            </a:r>
            <a:r>
              <a:rPr lang="pt-BR" dirty="0"/>
              <a:t>chamado e faz suposições sobre seu comportamento. O componente chamado não se comporta conforme o esperado, causando um comportamento inesperado no componente de chamada. </a:t>
            </a:r>
            <a:r>
              <a:rPr lang="pt-BR" dirty="0" err="1" smtClean="0"/>
              <a:t>Ex</a:t>
            </a:r>
            <a:r>
              <a:rPr lang="pt-BR" dirty="0" smtClean="0"/>
              <a:t>: </a:t>
            </a:r>
            <a:r>
              <a:rPr lang="pt-BR" dirty="0"/>
              <a:t>um método de busca binária pode ser chamado com um parâmetro que é um vetor não ordenado. A busca então falharia. </a:t>
            </a:r>
            <a:endParaRPr lang="pt-BR" dirty="0" smtClean="0"/>
          </a:p>
          <a:p>
            <a:pPr marL="0" indent="0">
              <a:buNone/>
            </a:pPr>
            <a:r>
              <a:rPr lang="pt-BR" dirty="0" smtClean="0"/>
              <a:t>Erros </a:t>
            </a:r>
            <a:r>
              <a:rPr lang="pt-BR" dirty="0"/>
              <a:t>de </a:t>
            </a:r>
            <a:r>
              <a:rPr lang="pt-BR" dirty="0" smtClean="0"/>
              <a:t>timing: Ocorrem </a:t>
            </a:r>
            <a:r>
              <a:rPr lang="pt-BR" dirty="0"/>
              <a:t>em sistemas em tempo real que usam uma memória compartilhada ou uma interface de passagem de mensagens. O produtor e o consumidor de dados podem operar em velocidades diferentes. A menos que se tome um cuidado especial no projeto da interface, o consumidor pode acessar uma informação desatualizada, porque o produtor da informação não atualizou as informações da interface compartilhada</a:t>
            </a:r>
            <a:r>
              <a:rPr lang="pt-BR" dirty="0" smtClean="0"/>
              <a:t>.</a:t>
            </a:r>
          </a:p>
        </p:txBody>
      </p:sp>
    </p:spTree>
    <p:extLst>
      <p:ext uri="{BB962C8B-B14F-4D97-AF65-F5344CB8AC3E}">
        <p14:creationId xmlns:p14="http://schemas.microsoft.com/office/powerpoint/2010/main" val="35482059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8.1.3 Teste de componente </a:t>
            </a:r>
          </a:p>
        </p:txBody>
      </p:sp>
      <p:sp>
        <p:nvSpPr>
          <p:cNvPr id="3" name="Espaço Reservado para Conteúdo 2"/>
          <p:cNvSpPr>
            <a:spLocks noGrp="1"/>
          </p:cNvSpPr>
          <p:nvPr>
            <p:ph idx="1"/>
          </p:nvPr>
        </p:nvSpPr>
        <p:spPr>
          <a:xfrm>
            <a:off x="0" y="1440611"/>
            <a:ext cx="12191999" cy="5046453"/>
          </a:xfrm>
        </p:spPr>
        <p:txBody>
          <a:bodyPr>
            <a:normAutofit fontScale="85000" lnSpcReduction="20000"/>
          </a:bodyPr>
          <a:lstStyle/>
          <a:p>
            <a:pPr marL="0" indent="0">
              <a:buNone/>
            </a:pPr>
            <a:r>
              <a:rPr lang="pt-BR" dirty="0"/>
              <a:t>Testes para defeitos de interface são </a:t>
            </a:r>
            <a:r>
              <a:rPr lang="pt-BR" dirty="0" smtClean="0"/>
              <a:t>difíceis: </a:t>
            </a:r>
            <a:r>
              <a:rPr lang="pt-BR" dirty="0"/>
              <a:t>defeitos de interface só podem manifestar-se sob </a:t>
            </a:r>
            <a:r>
              <a:rPr lang="pt-BR" dirty="0" smtClean="0"/>
              <a:t>condições </a:t>
            </a:r>
            <a:r>
              <a:rPr lang="pt-BR" dirty="0"/>
              <a:t>não usuais. </a:t>
            </a:r>
            <a:endParaRPr lang="pt-BR" dirty="0" smtClean="0"/>
          </a:p>
          <a:p>
            <a:pPr marL="0" indent="0">
              <a:buNone/>
            </a:pPr>
            <a:r>
              <a:rPr lang="pt-BR" dirty="0" err="1" smtClean="0"/>
              <a:t>Ex</a:t>
            </a:r>
            <a:r>
              <a:rPr lang="pt-BR" dirty="0" smtClean="0"/>
              <a:t>: um </a:t>
            </a:r>
            <a:r>
              <a:rPr lang="pt-BR" dirty="0"/>
              <a:t>objeto implementa uma fila como uma estrutura de dados de comprimento fixo. Um objeto chamador pode supor que a fila é implementada como uma estrutura de dados infinita e pode não verificar o overflow de fila quando um item for inserido. </a:t>
            </a:r>
          </a:p>
          <a:p>
            <a:pPr marL="0" indent="0">
              <a:buNone/>
            </a:pPr>
            <a:r>
              <a:rPr lang="pt-BR" dirty="0" smtClean="0"/>
              <a:t>Essa </a:t>
            </a:r>
            <a:r>
              <a:rPr lang="pt-BR" dirty="0"/>
              <a:t>condição só pode ser detectada durante os testes, projetando casos de teste que forçam a fila a transbordar e causar estouro, o que corrompe o comportamento do objeto de forma detectável. </a:t>
            </a:r>
            <a:endParaRPr lang="pt-BR" dirty="0" smtClean="0"/>
          </a:p>
          <a:p>
            <a:pPr marL="0" indent="0">
              <a:buNone/>
            </a:pPr>
            <a:r>
              <a:rPr lang="pt-BR" dirty="0" smtClean="0"/>
              <a:t>Outro </a:t>
            </a:r>
            <a:r>
              <a:rPr lang="pt-BR" dirty="0"/>
              <a:t>problema pode surgir por causa das interações entre defeitos em diferentes módulos ou objetos. </a:t>
            </a:r>
            <a:endParaRPr lang="pt-BR" dirty="0" smtClean="0"/>
          </a:p>
          <a:p>
            <a:pPr marL="0" indent="0">
              <a:buNone/>
            </a:pPr>
            <a:r>
              <a:rPr lang="pt-BR" dirty="0" smtClean="0"/>
              <a:t>Defeitos </a:t>
            </a:r>
            <a:r>
              <a:rPr lang="pt-BR" dirty="0"/>
              <a:t>em um objeto só podem ser detectados quando outro objeto se comporta de maneira inesperada. Por exemplo, um objeto pode chamar outro para receber algum serviço e assumir que a resposta está correta. Se o serviço chamado está defeituoso de algum modo, o valor retornado pode ser válido, porém incorreto. </a:t>
            </a:r>
            <a:endParaRPr lang="pt-BR" dirty="0" smtClean="0"/>
          </a:p>
          <a:p>
            <a:pPr marL="0" indent="0">
              <a:buNone/>
            </a:pPr>
            <a:r>
              <a:rPr lang="pt-BR" dirty="0" smtClean="0"/>
              <a:t>Isso </a:t>
            </a:r>
            <a:r>
              <a:rPr lang="pt-BR" dirty="0"/>
              <a:t>não é imediatamente detectado, mas só se torna evidente quando algum processamento posterior dá errado.</a:t>
            </a:r>
            <a:endParaRPr lang="pt-BR" dirty="0" smtClean="0"/>
          </a:p>
        </p:txBody>
      </p:sp>
    </p:spTree>
    <p:extLst>
      <p:ext uri="{BB962C8B-B14F-4D97-AF65-F5344CB8AC3E}">
        <p14:creationId xmlns:p14="http://schemas.microsoft.com/office/powerpoint/2010/main" val="2000879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8.1.3 Teste de componente </a:t>
            </a:r>
          </a:p>
        </p:txBody>
      </p:sp>
      <p:sp>
        <p:nvSpPr>
          <p:cNvPr id="3" name="Espaço Reservado para Conteúdo 2"/>
          <p:cNvSpPr>
            <a:spLocks noGrp="1"/>
          </p:cNvSpPr>
          <p:nvPr>
            <p:ph idx="1"/>
          </p:nvPr>
        </p:nvSpPr>
        <p:spPr>
          <a:xfrm>
            <a:off x="0" y="1440611"/>
            <a:ext cx="12191999" cy="5046453"/>
          </a:xfrm>
        </p:spPr>
        <p:txBody>
          <a:bodyPr>
            <a:normAutofit fontScale="77500" lnSpcReduction="20000"/>
          </a:bodyPr>
          <a:lstStyle/>
          <a:p>
            <a:pPr marL="0" indent="0">
              <a:buNone/>
            </a:pPr>
            <a:r>
              <a:rPr lang="pt-BR" dirty="0"/>
              <a:t>D</a:t>
            </a:r>
            <a:r>
              <a:rPr lang="pt-BR" dirty="0" smtClean="0"/>
              <a:t>iretrizes </a:t>
            </a:r>
            <a:r>
              <a:rPr lang="pt-BR" dirty="0"/>
              <a:t>gerais para os testes de </a:t>
            </a:r>
            <a:r>
              <a:rPr lang="pt-BR" dirty="0" smtClean="0"/>
              <a:t>interface:</a:t>
            </a:r>
          </a:p>
          <a:p>
            <a:pPr marL="514350" indent="-514350">
              <a:buAutoNum type="arabicPeriod"/>
            </a:pPr>
            <a:r>
              <a:rPr lang="pt-BR" dirty="0" smtClean="0"/>
              <a:t>Examine </a:t>
            </a:r>
            <a:r>
              <a:rPr lang="pt-BR" dirty="0"/>
              <a:t>o código a ser testado e </a:t>
            </a:r>
            <a:r>
              <a:rPr lang="pt-BR" dirty="0" smtClean="0"/>
              <a:t>liste cada </a:t>
            </a:r>
            <a:r>
              <a:rPr lang="pt-BR" dirty="0"/>
              <a:t>chamada para um componente externo. Projete um conjunto de testes em que os valores dos parâmetros para os componentes externos estão nos </a:t>
            </a:r>
            <a:r>
              <a:rPr lang="pt-BR" dirty="0" smtClean="0"/>
              <a:t>extremos </a:t>
            </a:r>
            <a:r>
              <a:rPr lang="pt-BR" dirty="0"/>
              <a:t>de suas </a:t>
            </a:r>
            <a:r>
              <a:rPr lang="pt-BR" dirty="0" smtClean="0"/>
              <a:t>escalas (são </a:t>
            </a:r>
            <a:r>
              <a:rPr lang="pt-BR" dirty="0"/>
              <a:t>mais suscetíveis a revelar inconsistências de </a:t>
            </a:r>
            <a:r>
              <a:rPr lang="pt-BR" dirty="0" smtClean="0"/>
              <a:t>interface). </a:t>
            </a:r>
          </a:p>
          <a:p>
            <a:pPr marL="514350" indent="-514350">
              <a:buAutoNum type="arabicPeriod"/>
            </a:pPr>
            <a:r>
              <a:rPr lang="pt-BR" dirty="0" smtClean="0"/>
              <a:t>Nos </a:t>
            </a:r>
            <a:r>
              <a:rPr lang="pt-BR" dirty="0"/>
              <a:t>casos em que os ponteiros são passados por meio de uma interface, sempre teste a interface com os parâmetros de ponteiros nulos</a:t>
            </a:r>
            <a:r>
              <a:rPr lang="pt-BR" dirty="0" smtClean="0"/>
              <a:t>.</a:t>
            </a:r>
          </a:p>
          <a:p>
            <a:pPr marL="514350" indent="-514350">
              <a:buAutoNum type="arabicPeriod"/>
            </a:pPr>
            <a:r>
              <a:rPr lang="pt-BR" dirty="0" smtClean="0"/>
              <a:t>Nos </a:t>
            </a:r>
            <a:r>
              <a:rPr lang="pt-BR" dirty="0"/>
              <a:t>casos em que um componente é chamado por meio de uma interface de procedimento, projete testes que deliberadamente causem uma falha no componente. Diferentes hipóteses de falhas são um dos </a:t>
            </a:r>
            <a:r>
              <a:rPr lang="pt-BR" dirty="0" smtClean="0"/>
              <a:t>equívocos </a:t>
            </a:r>
            <a:r>
              <a:rPr lang="pt-BR" dirty="0"/>
              <a:t>mais comuns de especificação. </a:t>
            </a:r>
            <a:endParaRPr lang="pt-BR" dirty="0" smtClean="0"/>
          </a:p>
          <a:p>
            <a:pPr marL="514350" indent="-514350">
              <a:buAutoNum type="arabicPeriod"/>
            </a:pPr>
            <a:r>
              <a:rPr lang="pt-BR" dirty="0" smtClean="0"/>
              <a:t>Use </a:t>
            </a:r>
            <a:r>
              <a:rPr lang="pt-BR" dirty="0"/>
              <a:t>testes de estresse em sistemas de passagem de mensagem. Isso significa que você deve projetar testes que gerem muito mais mensagens do que seria provável ocorrer na prática. Essa é uma maneira eficaz de revelar problemas de timing. </a:t>
            </a:r>
            <a:endParaRPr lang="pt-BR" dirty="0" smtClean="0"/>
          </a:p>
          <a:p>
            <a:pPr marL="514350" indent="-514350">
              <a:buAutoNum type="arabicPeriod"/>
            </a:pPr>
            <a:r>
              <a:rPr lang="pt-BR" dirty="0" smtClean="0"/>
              <a:t>Nos </a:t>
            </a:r>
            <a:r>
              <a:rPr lang="pt-BR" dirty="0"/>
              <a:t>casos em que vários componentes interagem por meio de memória compartilhada, desenvolva </a:t>
            </a:r>
            <a:r>
              <a:rPr lang="pt-BR" dirty="0" smtClean="0"/>
              <a:t>testes </a:t>
            </a:r>
            <a:r>
              <a:rPr lang="pt-BR" dirty="0"/>
              <a:t>que variam a ordem em que esses componentes são ativados. Esses testes podem revelar as </a:t>
            </a:r>
            <a:r>
              <a:rPr lang="pt-BR" dirty="0" smtClean="0"/>
              <a:t>suposições </a:t>
            </a:r>
            <a:r>
              <a:rPr lang="pt-BR" dirty="0"/>
              <a:t>implícitas feitas pelo programador sobre a ordem na qual os dados compartilhados são produzidos e consumidos.</a:t>
            </a:r>
            <a:endParaRPr lang="pt-BR" dirty="0" smtClean="0"/>
          </a:p>
        </p:txBody>
      </p:sp>
    </p:spTree>
    <p:extLst>
      <p:ext uri="{BB962C8B-B14F-4D97-AF65-F5344CB8AC3E}">
        <p14:creationId xmlns:p14="http://schemas.microsoft.com/office/powerpoint/2010/main" val="21628713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8.1.3 Teste de componente </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a:t>Inspeções e avaliações podem ser mais eficazes do que os testes para descobrir erros de interface. </a:t>
            </a:r>
            <a:endParaRPr lang="pt-BR" dirty="0" smtClean="0"/>
          </a:p>
          <a:p>
            <a:pPr marL="0" indent="0">
              <a:buNone/>
            </a:pPr>
            <a:r>
              <a:rPr lang="pt-BR" dirty="0" smtClean="0"/>
              <a:t>As inspeções </a:t>
            </a:r>
            <a:r>
              <a:rPr lang="pt-BR" dirty="0"/>
              <a:t>podem concentrar-se em interfaces de componentes e questões sobre o comportamento da interface levantadas durante o processo de inspeção. </a:t>
            </a:r>
            <a:endParaRPr lang="pt-BR" dirty="0" smtClean="0"/>
          </a:p>
          <a:p>
            <a:pPr marL="0" indent="0">
              <a:buNone/>
            </a:pPr>
            <a:r>
              <a:rPr lang="pt-BR" dirty="0" smtClean="0"/>
              <a:t>Uma </a:t>
            </a:r>
            <a:r>
              <a:rPr lang="pt-BR" dirty="0"/>
              <a:t>linguagem fortemente </a:t>
            </a:r>
            <a:r>
              <a:rPr lang="pt-BR" dirty="0" err="1"/>
              <a:t>tipada</a:t>
            </a:r>
            <a:r>
              <a:rPr lang="pt-BR" dirty="0"/>
              <a:t>, como Java, permite que o compilador apreenda muitos erros de interface. Analisadores estáticos </a:t>
            </a:r>
            <a:r>
              <a:rPr lang="pt-BR" dirty="0" smtClean="0"/>
              <a:t>podem </a:t>
            </a:r>
            <a:r>
              <a:rPr lang="pt-BR" dirty="0"/>
              <a:t>detectar uma vasta gama de erros de interface.</a:t>
            </a:r>
            <a:endParaRPr lang="pt-BR" dirty="0" smtClean="0"/>
          </a:p>
        </p:txBody>
      </p:sp>
    </p:spTree>
    <p:extLst>
      <p:ext uri="{BB962C8B-B14F-4D97-AF65-F5344CB8AC3E}">
        <p14:creationId xmlns:p14="http://schemas.microsoft.com/office/powerpoint/2010/main" val="912356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8.1.4 Teste de sistema</a:t>
            </a:r>
          </a:p>
        </p:txBody>
      </p:sp>
      <p:sp>
        <p:nvSpPr>
          <p:cNvPr id="3" name="Espaço Reservado para Conteúdo 2"/>
          <p:cNvSpPr>
            <a:spLocks noGrp="1"/>
          </p:cNvSpPr>
          <p:nvPr>
            <p:ph idx="1"/>
          </p:nvPr>
        </p:nvSpPr>
        <p:spPr>
          <a:xfrm>
            <a:off x="0" y="1440611"/>
            <a:ext cx="12191999" cy="5046453"/>
          </a:xfrm>
        </p:spPr>
        <p:txBody>
          <a:bodyPr>
            <a:normAutofit lnSpcReduction="10000"/>
          </a:bodyPr>
          <a:lstStyle/>
          <a:p>
            <a:pPr marL="0" indent="0">
              <a:buNone/>
            </a:pPr>
            <a:r>
              <a:rPr lang="pt-BR" dirty="0"/>
              <a:t>N</a:t>
            </a:r>
            <a:r>
              <a:rPr lang="pt-BR" dirty="0" smtClean="0"/>
              <a:t>o desenvolvimento: </a:t>
            </a:r>
            <a:r>
              <a:rPr lang="pt-BR" dirty="0"/>
              <a:t>envolve a integração de componentes para criação de uma versão do sistema e, em seguida, o teste do sistema integrado. </a:t>
            </a:r>
            <a:endParaRPr lang="pt-BR" dirty="0" smtClean="0"/>
          </a:p>
          <a:p>
            <a:pPr marL="0" indent="0">
              <a:buNone/>
            </a:pPr>
            <a:r>
              <a:rPr lang="pt-BR" dirty="0" smtClean="0"/>
              <a:t>Verifica </a:t>
            </a:r>
            <a:r>
              <a:rPr lang="pt-BR" dirty="0"/>
              <a:t>se os componentes são compatíveis, se interagem corretamente e transferem os dados certos no momento certo, por suas interfaces. </a:t>
            </a:r>
            <a:endParaRPr lang="pt-BR" dirty="0" smtClean="0"/>
          </a:p>
          <a:p>
            <a:pPr marL="0" indent="0">
              <a:buNone/>
            </a:pPr>
            <a:r>
              <a:rPr lang="pt-BR" dirty="0" smtClean="0"/>
              <a:t>Sobrepõem-se </a:t>
            </a:r>
            <a:r>
              <a:rPr lang="pt-BR" dirty="0"/>
              <a:t>ao teste de componente, mas existem duas diferenças importantes: 1. Durante o teste de sistema, os componentes reusáveis que tenham sido desenvolvidos separadamente e os sistemas de prateleira podem ser integrados com componentes recém-desenvolvidos. Então, o sistema </a:t>
            </a:r>
            <a:r>
              <a:rPr lang="pt-BR" dirty="0" smtClean="0"/>
              <a:t>completo </a:t>
            </a:r>
            <a:r>
              <a:rPr lang="pt-BR" dirty="0"/>
              <a:t>é testado. </a:t>
            </a:r>
            <a:endParaRPr lang="pt-BR" dirty="0" smtClean="0"/>
          </a:p>
          <a:p>
            <a:pPr marL="0" indent="0">
              <a:buNone/>
            </a:pPr>
            <a:r>
              <a:rPr lang="pt-BR" dirty="0" smtClean="0"/>
              <a:t>2</a:t>
            </a:r>
            <a:r>
              <a:rPr lang="pt-BR" dirty="0"/>
              <a:t>. Nesse estágio, componentes desenvolvidos por diferentes membros da equipe ou grupos podem ser integra dos. O teste de sistema é um processo coletivo, não individual. Em algumas empresas, o teste de sistema pode envolver uma equipe independente, sem participação de projetistas e programadores.</a:t>
            </a:r>
            <a:endParaRPr lang="pt-BR" dirty="0" smtClean="0"/>
          </a:p>
        </p:txBody>
      </p:sp>
    </p:spTree>
    <p:extLst>
      <p:ext uri="{BB962C8B-B14F-4D97-AF65-F5344CB8AC3E}">
        <p14:creationId xmlns:p14="http://schemas.microsoft.com/office/powerpoint/2010/main" val="42360340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8.1.4 Teste de sistema</a:t>
            </a:r>
          </a:p>
        </p:txBody>
      </p:sp>
      <p:sp>
        <p:nvSpPr>
          <p:cNvPr id="3" name="Espaço Reservado para Conteúdo 2"/>
          <p:cNvSpPr>
            <a:spLocks noGrp="1"/>
          </p:cNvSpPr>
          <p:nvPr>
            <p:ph idx="1"/>
          </p:nvPr>
        </p:nvSpPr>
        <p:spPr>
          <a:xfrm>
            <a:off x="0" y="1440611"/>
            <a:ext cx="12191999" cy="5046453"/>
          </a:xfrm>
        </p:spPr>
        <p:txBody>
          <a:bodyPr>
            <a:normAutofit fontScale="85000" lnSpcReduction="10000"/>
          </a:bodyPr>
          <a:lstStyle/>
          <a:p>
            <a:pPr marL="0" indent="0">
              <a:buNone/>
            </a:pPr>
            <a:r>
              <a:rPr lang="pt-BR" dirty="0" smtClean="0"/>
              <a:t>Integração de </a:t>
            </a:r>
            <a:r>
              <a:rPr lang="pt-BR" dirty="0"/>
              <a:t>componentes para criar um sistema, </a:t>
            </a:r>
            <a:r>
              <a:rPr lang="pt-BR" dirty="0" smtClean="0"/>
              <a:t>leva a um </a:t>
            </a:r>
            <a:r>
              <a:rPr lang="pt-BR" dirty="0"/>
              <a:t>comportamento emergente. </a:t>
            </a:r>
            <a:r>
              <a:rPr lang="pt-BR" dirty="0" smtClean="0"/>
              <a:t>Alguns </a:t>
            </a:r>
            <a:r>
              <a:rPr lang="pt-BR" dirty="0"/>
              <a:t>elementos da funcionalidade do sistema só se tornam evidentes quando colocados juntos. Esse comportamento emergente pode ser planejado e precisa ser testado. </a:t>
            </a:r>
            <a:endParaRPr lang="pt-BR" dirty="0" smtClean="0"/>
          </a:p>
          <a:p>
            <a:pPr marL="0" indent="0">
              <a:buNone/>
            </a:pPr>
            <a:r>
              <a:rPr lang="pt-BR" dirty="0" err="1" smtClean="0"/>
              <a:t>Ex</a:t>
            </a:r>
            <a:r>
              <a:rPr lang="pt-BR" dirty="0" smtClean="0"/>
              <a:t>: </a:t>
            </a:r>
            <a:r>
              <a:rPr lang="pt-BR" dirty="0"/>
              <a:t>integrar </a:t>
            </a:r>
            <a:r>
              <a:rPr lang="pt-BR" dirty="0" smtClean="0"/>
              <a:t>componente </a:t>
            </a:r>
            <a:r>
              <a:rPr lang="pt-BR" dirty="0"/>
              <a:t>de autenticação com um componente que atualiza as informações. Assim, você tem uma característica do sistema que restringe as informações de atualização para usuários autorizados. </a:t>
            </a:r>
            <a:endParaRPr lang="pt-BR" dirty="0" smtClean="0"/>
          </a:p>
          <a:p>
            <a:pPr marL="0" indent="0">
              <a:buNone/>
            </a:pPr>
            <a:r>
              <a:rPr lang="pt-BR" dirty="0" smtClean="0"/>
              <a:t>Às </a:t>
            </a:r>
            <a:r>
              <a:rPr lang="pt-BR" dirty="0"/>
              <a:t>vezes, o </a:t>
            </a:r>
            <a:r>
              <a:rPr lang="pt-BR" dirty="0" smtClean="0"/>
              <a:t>comportamento </a:t>
            </a:r>
            <a:r>
              <a:rPr lang="pt-BR" dirty="0"/>
              <a:t>emergente não é planejado ou desejado. É preciso desenvolver testes que verifiquem se o sistema está fazendo apenas o que ele supostamente deve fazer. </a:t>
            </a:r>
            <a:endParaRPr lang="pt-BR" dirty="0" smtClean="0"/>
          </a:p>
          <a:p>
            <a:pPr marL="0" indent="0">
              <a:buNone/>
            </a:pPr>
            <a:r>
              <a:rPr lang="pt-BR" dirty="0" smtClean="0"/>
              <a:t>O  </a:t>
            </a:r>
            <a:r>
              <a:rPr lang="pt-BR" dirty="0"/>
              <a:t>teste do sistema deve centrar-se em testar as interações entre os componentes e objetos que compõem um sistema. </a:t>
            </a:r>
            <a:r>
              <a:rPr lang="pt-BR" dirty="0" smtClean="0"/>
              <a:t>Pode-se </a:t>
            </a:r>
            <a:r>
              <a:rPr lang="pt-BR" dirty="0"/>
              <a:t>testar componentes ou sistemas reusáveis para verificar se, quando integrados com novos componentes, eles funcionam como o esperado. </a:t>
            </a:r>
            <a:endParaRPr lang="pt-BR" dirty="0" smtClean="0"/>
          </a:p>
          <a:p>
            <a:pPr marL="0" indent="0">
              <a:buNone/>
            </a:pPr>
            <a:r>
              <a:rPr lang="pt-BR" dirty="0"/>
              <a:t>T</a:t>
            </a:r>
            <a:r>
              <a:rPr lang="pt-BR" dirty="0" smtClean="0"/>
              <a:t>este </a:t>
            </a:r>
            <a:r>
              <a:rPr lang="pt-BR" dirty="0"/>
              <a:t>de </a:t>
            </a:r>
            <a:r>
              <a:rPr lang="pt-BR" dirty="0" smtClean="0"/>
              <a:t>interação: </a:t>
            </a:r>
            <a:r>
              <a:rPr lang="pt-BR" dirty="0"/>
              <a:t>deve descobrir bugs de componente que só são revelados quando um componente é usado por outros componentes do </a:t>
            </a:r>
            <a:r>
              <a:rPr lang="pt-BR" dirty="0" smtClean="0"/>
              <a:t>sistema; ajuda </a:t>
            </a:r>
            <a:r>
              <a:rPr lang="pt-BR" dirty="0"/>
              <a:t>a encontrar equívocos dos desenvolvedores de componentes sobre outros componentes do sistema. </a:t>
            </a:r>
            <a:endParaRPr lang="pt-BR" dirty="0" smtClean="0"/>
          </a:p>
        </p:txBody>
      </p:sp>
    </p:spTree>
    <p:extLst>
      <p:ext uri="{BB962C8B-B14F-4D97-AF65-F5344CB8AC3E}">
        <p14:creationId xmlns:p14="http://schemas.microsoft.com/office/powerpoint/2010/main" val="4391177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8.1.4 Teste de sistema</a:t>
            </a:r>
          </a:p>
        </p:txBody>
      </p:sp>
      <p:sp>
        <p:nvSpPr>
          <p:cNvPr id="3" name="Espaço Reservado para Conteúdo 2"/>
          <p:cNvSpPr>
            <a:spLocks noGrp="1"/>
          </p:cNvSpPr>
          <p:nvPr>
            <p:ph idx="1"/>
          </p:nvPr>
        </p:nvSpPr>
        <p:spPr>
          <a:xfrm>
            <a:off x="0" y="1440611"/>
            <a:ext cx="12191999" cy="5046453"/>
          </a:xfrm>
        </p:spPr>
        <p:txBody>
          <a:bodyPr>
            <a:normAutofit lnSpcReduction="10000"/>
          </a:bodyPr>
          <a:lstStyle/>
          <a:p>
            <a:pPr marL="0" indent="0">
              <a:buNone/>
            </a:pPr>
            <a:r>
              <a:rPr lang="pt-BR" dirty="0"/>
              <a:t>Por causa de seu foco na interação, o teste baseado em caso de uso é uma abordagem eficaz para testes de sistema. </a:t>
            </a:r>
            <a:r>
              <a:rPr lang="pt-BR" dirty="0" smtClean="0"/>
              <a:t>Cada </a:t>
            </a:r>
            <a:r>
              <a:rPr lang="pt-BR" dirty="0"/>
              <a:t>caso de uso é implementado por vários componentes ou objetos do sistema. Testar os casos de uso força essas interações a ocorrerem. </a:t>
            </a:r>
            <a:endParaRPr lang="pt-BR" dirty="0" smtClean="0"/>
          </a:p>
          <a:p>
            <a:pPr marL="0" indent="0">
              <a:buNone/>
            </a:pPr>
            <a:r>
              <a:rPr lang="pt-BR" dirty="0" smtClean="0"/>
              <a:t>Diagrama </a:t>
            </a:r>
            <a:r>
              <a:rPr lang="pt-BR" dirty="0"/>
              <a:t>de sequência para modelar a implementação dos casos de uso, poderá ver os objetos ou componentes envolvidos na interação. Para ilustrar isso, uso um exemplo do sistema da estação meteorológica no deserto, em que é solicitado à estação meteorológica o relatório resumido de dados meteorológicos para um computador remoto. Esse caso de uso está descrito no Quadro 7.1. </a:t>
            </a:r>
            <a:endParaRPr lang="pt-BR" dirty="0" smtClean="0"/>
          </a:p>
          <a:p>
            <a:pPr marL="0" indent="0">
              <a:buNone/>
            </a:pPr>
            <a:r>
              <a:rPr lang="pt-BR" dirty="0" smtClean="0"/>
              <a:t>A </a:t>
            </a:r>
            <a:r>
              <a:rPr lang="pt-BR" dirty="0"/>
              <a:t>Figura 8.8 (que é uma cópia da Figura 7.6) mostra a sequência de operações na estação meteorológica quando esta responde a um pedido para coletar dados para o sistema de mapeamento. </a:t>
            </a:r>
            <a:r>
              <a:rPr lang="pt-BR" dirty="0" smtClean="0"/>
              <a:t>Use </a:t>
            </a:r>
            <a:r>
              <a:rPr lang="pt-BR" dirty="0"/>
              <a:t>esse diagrama para identificar as operações que serão testadas e para ajudar a projetar os casos de teste para a execução.</a:t>
            </a:r>
            <a:endParaRPr lang="pt-BR" dirty="0" smtClean="0"/>
          </a:p>
        </p:txBody>
      </p:sp>
    </p:spTree>
    <p:extLst>
      <p:ext uri="{BB962C8B-B14F-4D97-AF65-F5344CB8AC3E}">
        <p14:creationId xmlns:p14="http://schemas.microsoft.com/office/powerpoint/2010/main" val="9651990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8.1.4 Teste de sistema</a:t>
            </a:r>
          </a:p>
        </p:txBody>
      </p:sp>
      <p:sp>
        <p:nvSpPr>
          <p:cNvPr id="3" name="Espaço Reservado para Conteúdo 2"/>
          <p:cNvSpPr>
            <a:spLocks noGrp="1"/>
          </p:cNvSpPr>
          <p:nvPr>
            <p:ph idx="1"/>
          </p:nvPr>
        </p:nvSpPr>
        <p:spPr>
          <a:xfrm>
            <a:off x="0" y="1440611"/>
            <a:ext cx="12191999" cy="5046453"/>
          </a:xfrm>
        </p:spPr>
        <p:txBody>
          <a:bodyPr>
            <a:normAutofit fontScale="92500"/>
          </a:bodyPr>
          <a:lstStyle/>
          <a:p>
            <a:pPr marL="0" indent="0">
              <a:buNone/>
            </a:pPr>
            <a:r>
              <a:rPr lang="pt-BR" dirty="0"/>
              <a:t>E</a:t>
            </a:r>
            <a:r>
              <a:rPr lang="pt-BR" dirty="0" smtClean="0"/>
              <a:t>missão </a:t>
            </a:r>
            <a:r>
              <a:rPr lang="pt-BR" dirty="0"/>
              <a:t>de um pedido de um relatório resultará na execução do seguinte thread de métodos: </a:t>
            </a:r>
            <a:r>
              <a:rPr lang="pt-BR" dirty="0" err="1"/>
              <a:t>ComunicSat:solicitar</a:t>
            </a:r>
            <a:r>
              <a:rPr lang="pt-BR" dirty="0"/>
              <a:t> → </a:t>
            </a:r>
            <a:r>
              <a:rPr lang="pt-BR" dirty="0" err="1"/>
              <a:t>EstaçãoMeteorológica:relatarClima</a:t>
            </a:r>
            <a:r>
              <a:rPr lang="pt-BR" dirty="0"/>
              <a:t> → </a:t>
            </a:r>
            <a:r>
              <a:rPr lang="pt-BR" dirty="0" err="1"/>
              <a:t>LinkComunic:Obter</a:t>
            </a:r>
            <a:r>
              <a:rPr lang="pt-BR" dirty="0"/>
              <a:t>(sumário) → </a:t>
            </a:r>
            <a:r>
              <a:rPr lang="pt-BR" dirty="0" err="1"/>
              <a:t>DadosMeteorológicos:resumir</a:t>
            </a:r>
            <a:r>
              <a:rPr lang="pt-BR" dirty="0"/>
              <a:t> </a:t>
            </a:r>
            <a:endParaRPr lang="pt-BR" dirty="0" smtClean="0"/>
          </a:p>
          <a:p>
            <a:pPr marL="0" indent="0">
              <a:buNone/>
            </a:pPr>
            <a:r>
              <a:rPr lang="pt-BR" dirty="0" smtClean="0"/>
              <a:t>O </a:t>
            </a:r>
            <a:r>
              <a:rPr lang="pt-BR" dirty="0"/>
              <a:t>diagrama de sequência ajuda a projetar os casos de teste específicos que </a:t>
            </a:r>
            <a:r>
              <a:rPr lang="pt-BR" dirty="0" smtClean="0"/>
              <a:t>se </a:t>
            </a:r>
            <a:r>
              <a:rPr lang="pt-BR" dirty="0"/>
              <a:t>necessita, pois mostra quais são as entradas necessárias e que saídas são criadas: 1. Uma entrada de um pedido de relatório deve ter um </a:t>
            </a:r>
            <a:r>
              <a:rPr lang="pt-BR" dirty="0" err="1"/>
              <a:t>acknowledge</a:t>
            </a:r>
            <a:r>
              <a:rPr lang="pt-BR" dirty="0"/>
              <a:t> associado. Um relatório deve ser devolvido a partir da solicitação. Durante o teste, </a:t>
            </a:r>
            <a:r>
              <a:rPr lang="pt-BR" dirty="0" smtClean="0"/>
              <a:t>deve-se </a:t>
            </a:r>
            <a:r>
              <a:rPr lang="pt-BR" dirty="0"/>
              <a:t>criar dados resumidos que possam ser usados para verificar se o relatório está organizado corretamente. </a:t>
            </a:r>
            <a:endParaRPr lang="pt-BR" dirty="0" smtClean="0"/>
          </a:p>
          <a:p>
            <a:pPr marL="0" indent="0">
              <a:buNone/>
            </a:pPr>
            <a:r>
              <a:rPr lang="pt-BR" dirty="0" smtClean="0"/>
              <a:t>2</a:t>
            </a:r>
            <a:r>
              <a:rPr lang="pt-BR" dirty="0"/>
              <a:t>. Uma solicitação de entrada para um relatório na </a:t>
            </a:r>
            <a:r>
              <a:rPr lang="pt-BR" dirty="0" err="1"/>
              <a:t>EstaçãoMeteorológica</a:t>
            </a:r>
            <a:r>
              <a:rPr lang="pt-BR" dirty="0"/>
              <a:t> resulta em um relatório </a:t>
            </a:r>
            <a:r>
              <a:rPr lang="pt-BR" dirty="0" smtClean="0"/>
              <a:t>resumido. Pode-se </a:t>
            </a:r>
            <a:r>
              <a:rPr lang="pt-BR" dirty="0"/>
              <a:t>fazer esse teste de forma isolada, criando dados brutos correspondentes ao resumo que você preparou para o teste de </a:t>
            </a:r>
            <a:r>
              <a:rPr lang="pt-BR" dirty="0" err="1"/>
              <a:t>ComunicSat</a:t>
            </a:r>
            <a:r>
              <a:rPr lang="pt-BR" dirty="0"/>
              <a:t> e verificar se o objeto </a:t>
            </a:r>
            <a:r>
              <a:rPr lang="pt-BR" dirty="0" err="1"/>
              <a:t>EstaçãoMeteorológica</a:t>
            </a:r>
            <a:r>
              <a:rPr lang="pt-BR" dirty="0"/>
              <a:t> produz essa </a:t>
            </a:r>
            <a:r>
              <a:rPr lang="pt-BR" dirty="0" err="1"/>
              <a:t>sínte</a:t>
            </a:r>
            <a:r>
              <a:rPr lang="pt-BR" dirty="0"/>
              <a:t> se corretamente. Esses dados brutos também são usados para testar o objeto </a:t>
            </a:r>
            <a:r>
              <a:rPr lang="pt-BR" dirty="0" err="1"/>
              <a:t>DadosMeteorológicos</a:t>
            </a:r>
            <a:r>
              <a:rPr lang="pt-BR" dirty="0"/>
              <a:t>.</a:t>
            </a:r>
            <a:endParaRPr lang="pt-BR" dirty="0" smtClean="0"/>
          </a:p>
        </p:txBody>
      </p:sp>
    </p:spTree>
    <p:extLst>
      <p:ext uri="{BB962C8B-B14F-4D97-AF65-F5344CB8AC3E}">
        <p14:creationId xmlns:p14="http://schemas.microsoft.com/office/powerpoint/2010/main" val="4379521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8.1.4 Teste de sistema</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a:t>D</a:t>
            </a:r>
            <a:r>
              <a:rPr lang="pt-BR" dirty="0" smtClean="0"/>
              <a:t>ifícil </a:t>
            </a:r>
            <a:r>
              <a:rPr lang="pt-BR" dirty="0"/>
              <a:t>saber o quanto o teste de sistema é essencial e quando você deve parar de testar. </a:t>
            </a:r>
            <a:endParaRPr lang="pt-BR" dirty="0" smtClean="0"/>
          </a:p>
          <a:p>
            <a:pPr marL="0" indent="0">
              <a:buNone/>
            </a:pPr>
            <a:r>
              <a:rPr lang="pt-BR" dirty="0" smtClean="0"/>
              <a:t>É </a:t>
            </a:r>
            <a:r>
              <a:rPr lang="pt-BR" dirty="0"/>
              <a:t>impossível fazer testes exaustivos, em que cada sequência possível de execução do programa seja testada. </a:t>
            </a:r>
            <a:endParaRPr lang="pt-BR" dirty="0" smtClean="0"/>
          </a:p>
          <a:p>
            <a:pPr marL="0" indent="0">
              <a:buNone/>
            </a:pPr>
            <a:r>
              <a:rPr lang="pt-BR" dirty="0" smtClean="0"/>
              <a:t>Os </a:t>
            </a:r>
            <a:r>
              <a:rPr lang="pt-BR" dirty="0"/>
              <a:t>testes precisam ser baseados em um subconjunto possível de casos de teste. E</a:t>
            </a:r>
            <a:r>
              <a:rPr lang="pt-BR" dirty="0" smtClean="0"/>
              <a:t>mpresas </a:t>
            </a:r>
            <a:r>
              <a:rPr lang="pt-BR" dirty="0"/>
              <a:t>de software deveriam ter políticas para a escolha desse </a:t>
            </a:r>
            <a:r>
              <a:rPr lang="pt-BR" dirty="0" smtClean="0"/>
              <a:t>grupo</a:t>
            </a:r>
            <a:r>
              <a:rPr lang="pt-BR" dirty="0"/>
              <a:t> </a:t>
            </a:r>
            <a:r>
              <a:rPr lang="pt-BR" dirty="0" smtClean="0"/>
              <a:t>baseadas </a:t>
            </a:r>
            <a:r>
              <a:rPr lang="pt-BR" dirty="0"/>
              <a:t>em políticas de teste gerais, como uma política em que todas as declarações do programa devem ser executadas pelo menos uma vez. Como alternativa, podem basear-se na experiência de uso do sistema e centrar-se em testes de características do sistema operacional. Por exemplo.</a:t>
            </a:r>
            <a:endParaRPr lang="pt-BR" dirty="0" smtClean="0"/>
          </a:p>
        </p:txBody>
      </p:sp>
    </p:spTree>
    <p:extLst>
      <p:ext uri="{BB962C8B-B14F-4D97-AF65-F5344CB8AC3E}">
        <p14:creationId xmlns:p14="http://schemas.microsoft.com/office/powerpoint/2010/main" val="4036844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8.1.4 Teste de sistema</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smtClean="0"/>
              <a:t>Por exemplo:</a:t>
            </a:r>
          </a:p>
          <a:p>
            <a:pPr marL="514350" indent="-514350">
              <a:buAutoNum type="arabicPeriod"/>
            </a:pPr>
            <a:r>
              <a:rPr lang="pt-BR" dirty="0" smtClean="0"/>
              <a:t>Todas </a:t>
            </a:r>
            <a:r>
              <a:rPr lang="pt-BR" dirty="0"/>
              <a:t>as funções do sistema acessadas por meio de menus devem ser testadas</a:t>
            </a:r>
            <a:r>
              <a:rPr lang="pt-BR" dirty="0" smtClean="0"/>
              <a:t>.</a:t>
            </a:r>
          </a:p>
          <a:p>
            <a:pPr marL="514350" indent="-514350">
              <a:buAutoNum type="arabicPeriod"/>
            </a:pPr>
            <a:r>
              <a:rPr lang="pt-BR" dirty="0" smtClean="0"/>
              <a:t>Combinações </a:t>
            </a:r>
            <a:r>
              <a:rPr lang="pt-BR" dirty="0"/>
              <a:t>de funções (por exemplo, a formatação do texto) acessadas por meio de menu devem ser </a:t>
            </a:r>
            <a:r>
              <a:rPr lang="pt-BR" dirty="0" smtClean="0"/>
              <a:t>testadas</a:t>
            </a:r>
            <a:r>
              <a:rPr lang="pt-BR" dirty="0"/>
              <a:t>. </a:t>
            </a:r>
            <a:endParaRPr lang="pt-BR" dirty="0" smtClean="0"/>
          </a:p>
          <a:p>
            <a:pPr marL="514350" indent="-514350">
              <a:buAutoNum type="arabicPeriod"/>
            </a:pPr>
            <a:r>
              <a:rPr lang="pt-BR" dirty="0" smtClean="0"/>
              <a:t>Nos </a:t>
            </a:r>
            <a:r>
              <a:rPr lang="pt-BR" dirty="0"/>
              <a:t>casos em que a entrada do usuário é fornecida, todas as funções devem ser testadas com entradas corretas e incorretas.</a:t>
            </a:r>
            <a:endParaRPr lang="pt-BR" dirty="0" smtClean="0"/>
          </a:p>
        </p:txBody>
      </p:sp>
    </p:spTree>
    <p:extLst>
      <p:ext uri="{BB962C8B-B14F-4D97-AF65-F5344CB8AC3E}">
        <p14:creationId xmlns:p14="http://schemas.microsoft.com/office/powerpoint/2010/main" val="14318679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8.1.4 Teste de sistema</a:t>
            </a:r>
          </a:p>
        </p:txBody>
      </p:sp>
      <p:sp>
        <p:nvSpPr>
          <p:cNvPr id="3" name="Espaço Reservado para Conteúdo 2"/>
          <p:cNvSpPr>
            <a:spLocks noGrp="1"/>
          </p:cNvSpPr>
          <p:nvPr>
            <p:ph idx="1"/>
          </p:nvPr>
        </p:nvSpPr>
        <p:spPr>
          <a:xfrm>
            <a:off x="0" y="1440611"/>
            <a:ext cx="12191999" cy="5046453"/>
          </a:xfrm>
        </p:spPr>
        <p:txBody>
          <a:bodyPr>
            <a:normAutofit fontScale="85000" lnSpcReduction="20000"/>
          </a:bodyPr>
          <a:lstStyle/>
          <a:p>
            <a:pPr marL="0" indent="0">
              <a:buNone/>
            </a:pPr>
            <a:r>
              <a:rPr lang="pt-BR" dirty="0"/>
              <a:t>A partir de experiências com importantes produtos de software, como processadores de texto ou planilhas, fica evidente que durante o teste de produtos costumam ser usadas diretrizes semelhantes. </a:t>
            </a:r>
            <a:endParaRPr lang="pt-BR" dirty="0" smtClean="0"/>
          </a:p>
          <a:p>
            <a:pPr marL="0" indent="0">
              <a:buNone/>
            </a:pPr>
            <a:r>
              <a:rPr lang="pt-BR" dirty="0" smtClean="0"/>
              <a:t>Quando </a:t>
            </a:r>
            <a:r>
              <a:rPr lang="pt-BR" dirty="0"/>
              <a:t>os recursos do software são usados de forma isolada, eles trabalham normalmente. </a:t>
            </a:r>
            <a:endParaRPr lang="pt-BR" dirty="0" smtClean="0"/>
          </a:p>
          <a:p>
            <a:pPr marL="0" indent="0">
              <a:buNone/>
            </a:pPr>
            <a:r>
              <a:rPr lang="pt-BR" dirty="0" err="1" smtClean="0"/>
              <a:t>Whittaker</a:t>
            </a:r>
            <a:r>
              <a:rPr lang="pt-BR" dirty="0" smtClean="0"/>
              <a:t> </a:t>
            </a:r>
            <a:r>
              <a:rPr lang="pt-BR" dirty="0"/>
              <a:t>(2002</a:t>
            </a:r>
            <a:r>
              <a:rPr lang="pt-BR" dirty="0" smtClean="0"/>
              <a:t>): os </a:t>
            </a:r>
            <a:r>
              <a:rPr lang="pt-BR" dirty="0"/>
              <a:t>problemas surgem quando as combinações das características menos usadas não são testadas em conjunto. </a:t>
            </a:r>
            <a:endParaRPr lang="pt-BR" dirty="0" smtClean="0"/>
          </a:p>
          <a:p>
            <a:pPr marL="0" indent="0">
              <a:buNone/>
            </a:pPr>
            <a:r>
              <a:rPr lang="pt-BR" dirty="0" smtClean="0"/>
              <a:t>Testes </a:t>
            </a:r>
            <a:r>
              <a:rPr lang="pt-BR" dirty="0"/>
              <a:t>automatizados do sistema geralmente são mais difíceis do que testes automatizados de unidades ou de componentes. </a:t>
            </a:r>
            <a:endParaRPr lang="pt-BR" dirty="0" smtClean="0"/>
          </a:p>
          <a:p>
            <a:pPr marL="0" indent="0">
              <a:buNone/>
            </a:pPr>
            <a:r>
              <a:rPr lang="pt-BR" dirty="0" smtClean="0"/>
              <a:t>Testes </a:t>
            </a:r>
            <a:r>
              <a:rPr lang="pt-BR" dirty="0"/>
              <a:t>automatizados de unidade baseiam-se em prever as saídas, e, em seguida, codificar essas previsões em um programa. </a:t>
            </a:r>
            <a:endParaRPr lang="pt-BR" dirty="0" smtClean="0"/>
          </a:p>
          <a:p>
            <a:pPr marL="0" indent="0">
              <a:buNone/>
            </a:pPr>
            <a:r>
              <a:rPr lang="pt-BR" dirty="0" smtClean="0"/>
              <a:t>A </a:t>
            </a:r>
            <a:r>
              <a:rPr lang="pt-BR" dirty="0"/>
              <a:t>previsão </a:t>
            </a:r>
            <a:r>
              <a:rPr lang="pt-BR" dirty="0" smtClean="0"/>
              <a:t>é comparada </a:t>
            </a:r>
            <a:r>
              <a:rPr lang="pt-BR" dirty="0"/>
              <a:t>com o resultado</a:t>
            </a:r>
            <a:r>
              <a:rPr lang="pt-BR" dirty="0" smtClean="0"/>
              <a:t>.</a:t>
            </a:r>
          </a:p>
          <a:p>
            <a:pPr marL="0" indent="0">
              <a:buNone/>
            </a:pPr>
            <a:r>
              <a:rPr lang="pt-BR" dirty="0" smtClean="0"/>
              <a:t>O </a:t>
            </a:r>
            <a:r>
              <a:rPr lang="pt-BR" dirty="0"/>
              <a:t>mais importante na aplicação de um sistema pode ser a geração de saídas que sejam grandes ou que não possam ser facilmente </a:t>
            </a:r>
            <a:r>
              <a:rPr lang="pt-BR" dirty="0" smtClean="0"/>
              <a:t>previstas</a:t>
            </a:r>
            <a:r>
              <a:rPr lang="pt-BR" dirty="0"/>
              <a:t>. </a:t>
            </a:r>
            <a:endParaRPr lang="pt-BR" dirty="0" smtClean="0"/>
          </a:p>
          <a:p>
            <a:pPr marL="0" indent="0">
              <a:buNone/>
            </a:pPr>
            <a:r>
              <a:rPr lang="pt-BR" dirty="0" smtClean="0"/>
              <a:t>Deve-se ser </a:t>
            </a:r>
            <a:r>
              <a:rPr lang="pt-BR" dirty="0"/>
              <a:t>capaz de analisar uma saída e verificar sua credibilidade sem necessariamente ser capaz de criá-la com antecipação.</a:t>
            </a:r>
            <a:endParaRPr lang="pt-BR" dirty="0" smtClean="0"/>
          </a:p>
        </p:txBody>
      </p:sp>
    </p:spTree>
    <p:extLst>
      <p:ext uri="{BB962C8B-B14F-4D97-AF65-F5344CB8AC3E}">
        <p14:creationId xmlns:p14="http://schemas.microsoft.com/office/powerpoint/2010/main" val="3697681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8.2 Desenvolvimento dirigido a testes</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a:t>Test-</a:t>
            </a:r>
            <a:r>
              <a:rPr lang="pt-BR" dirty="0" err="1"/>
              <a:t>Driven</a:t>
            </a:r>
            <a:r>
              <a:rPr lang="pt-BR" dirty="0"/>
              <a:t> </a:t>
            </a:r>
            <a:r>
              <a:rPr lang="pt-BR" dirty="0" err="1" smtClean="0"/>
              <a:t>Development</a:t>
            </a:r>
            <a:r>
              <a:rPr lang="pt-BR" dirty="0" smtClean="0"/>
              <a:t> - TDD: abordagem </a:t>
            </a:r>
            <a:r>
              <a:rPr lang="pt-BR" dirty="0"/>
              <a:t>para o </a:t>
            </a:r>
            <a:r>
              <a:rPr lang="pt-BR" dirty="0" smtClean="0"/>
              <a:t>desenvolvimento </a:t>
            </a:r>
            <a:r>
              <a:rPr lang="pt-BR" dirty="0"/>
              <a:t>de programas em que se intercalam testes e desenvolvimento de código (BECK, 2002; JEFFRIES e ME LNIK, 2007). </a:t>
            </a:r>
            <a:endParaRPr lang="pt-BR" dirty="0" smtClean="0"/>
          </a:p>
          <a:p>
            <a:pPr marL="0" indent="0">
              <a:buNone/>
            </a:pPr>
            <a:r>
              <a:rPr lang="pt-BR" dirty="0" smtClean="0"/>
              <a:t>Desenvolve-se </a:t>
            </a:r>
            <a:r>
              <a:rPr lang="pt-BR" dirty="0"/>
              <a:t>um código de forma incremental, em conjunto com um teste para esse incremento. </a:t>
            </a:r>
            <a:endParaRPr lang="pt-BR" dirty="0" smtClean="0"/>
          </a:p>
          <a:p>
            <a:pPr marL="0" indent="0">
              <a:buNone/>
            </a:pPr>
            <a:r>
              <a:rPr lang="pt-BR" dirty="0" smtClean="0"/>
              <a:t>Não se </a:t>
            </a:r>
            <a:r>
              <a:rPr lang="pt-BR" dirty="0"/>
              <a:t>caminha para o próximo incremento até que o código desenvolvido passe no teste</a:t>
            </a:r>
            <a:r>
              <a:rPr lang="pt-BR" dirty="0" smtClean="0"/>
              <a:t>.</a:t>
            </a:r>
          </a:p>
          <a:p>
            <a:pPr marL="0" indent="0">
              <a:buNone/>
            </a:pPr>
            <a:r>
              <a:rPr lang="pt-BR" dirty="0" smtClean="0"/>
              <a:t>O </a:t>
            </a:r>
            <a:r>
              <a:rPr lang="pt-BR" dirty="0"/>
              <a:t>desenvolvimento dirigido a testes foi apresentado como parte dos métodos ágeis, como o Extreme </a:t>
            </a:r>
            <a:r>
              <a:rPr lang="pt-BR" dirty="0" err="1" smtClean="0"/>
              <a:t>Programming</a:t>
            </a:r>
            <a:r>
              <a:rPr lang="pt-BR" dirty="0"/>
              <a:t> </a:t>
            </a:r>
            <a:r>
              <a:rPr lang="pt-BR" dirty="0" smtClean="0"/>
              <a:t>que pode </a:t>
            </a:r>
            <a:r>
              <a:rPr lang="pt-BR" dirty="0"/>
              <a:t>ser usado em processos de desenvolvimento dirigido a planos.</a:t>
            </a:r>
            <a:endParaRPr lang="pt-BR" dirty="0" smtClean="0"/>
          </a:p>
        </p:txBody>
      </p:sp>
    </p:spTree>
    <p:extLst>
      <p:ext uri="{BB962C8B-B14F-4D97-AF65-F5344CB8AC3E}">
        <p14:creationId xmlns:p14="http://schemas.microsoft.com/office/powerpoint/2010/main" val="23107202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8.2 Desenvolvimento dirigido a testes</a:t>
            </a:r>
          </a:p>
        </p:txBody>
      </p:sp>
      <p:sp>
        <p:nvSpPr>
          <p:cNvPr id="3" name="Espaço Reservado para Conteúdo 2"/>
          <p:cNvSpPr>
            <a:spLocks noGrp="1"/>
          </p:cNvSpPr>
          <p:nvPr>
            <p:ph idx="1"/>
          </p:nvPr>
        </p:nvSpPr>
        <p:spPr>
          <a:xfrm>
            <a:off x="0" y="1440611"/>
            <a:ext cx="12191999" cy="5046453"/>
          </a:xfrm>
        </p:spPr>
        <p:txBody>
          <a:bodyPr>
            <a:normAutofit fontScale="92500" lnSpcReduction="20000"/>
          </a:bodyPr>
          <a:lstStyle/>
          <a:p>
            <a:pPr marL="0" indent="0">
              <a:buNone/>
            </a:pPr>
            <a:r>
              <a:rPr lang="pt-BR" dirty="0"/>
              <a:t>O processo fundamental de TDD é mostrado na Figura 8.9. </a:t>
            </a:r>
            <a:endParaRPr lang="pt-BR" dirty="0" smtClean="0"/>
          </a:p>
          <a:p>
            <a:pPr marL="0" indent="0">
              <a:buNone/>
            </a:pPr>
            <a:r>
              <a:rPr lang="pt-BR" dirty="0" smtClean="0"/>
              <a:t>As </a:t>
            </a:r>
            <a:r>
              <a:rPr lang="pt-BR" dirty="0"/>
              <a:t>etapas do processo são: </a:t>
            </a:r>
            <a:endParaRPr lang="pt-BR" dirty="0" smtClean="0"/>
          </a:p>
          <a:p>
            <a:pPr marL="514350" indent="-514350">
              <a:buAutoNum type="arabicPeriod"/>
            </a:pPr>
            <a:r>
              <a:rPr lang="pt-BR" dirty="0" smtClean="0"/>
              <a:t>Identifica-se </a:t>
            </a:r>
            <a:r>
              <a:rPr lang="pt-BR" dirty="0"/>
              <a:t>o incremento de </a:t>
            </a:r>
            <a:r>
              <a:rPr lang="pt-BR" dirty="0" smtClean="0"/>
              <a:t>funcionalidade, devendo </a:t>
            </a:r>
            <a:r>
              <a:rPr lang="pt-BR" dirty="0"/>
              <a:t>ser pequeno e implementável em poucas linhas de código. </a:t>
            </a:r>
            <a:endParaRPr lang="pt-BR" dirty="0" smtClean="0"/>
          </a:p>
          <a:p>
            <a:pPr marL="514350" indent="-514350">
              <a:buAutoNum type="arabicPeriod"/>
            </a:pPr>
            <a:r>
              <a:rPr lang="pt-BR" dirty="0" smtClean="0"/>
              <a:t>Escreva </a:t>
            </a:r>
            <a:r>
              <a:rPr lang="pt-BR" dirty="0"/>
              <a:t>um teste para essa funcionalidade e o implementa como um teste automatizado. Isso significa que o teste pode ser executado e relatará se passou ou falhou. </a:t>
            </a:r>
            <a:endParaRPr lang="pt-BR" dirty="0" smtClean="0"/>
          </a:p>
          <a:p>
            <a:pPr marL="514350" indent="-514350">
              <a:buAutoNum type="arabicPeriod"/>
            </a:pPr>
            <a:r>
              <a:rPr lang="pt-BR" dirty="0" smtClean="0"/>
              <a:t>Execute </a:t>
            </a:r>
            <a:r>
              <a:rPr lang="pt-BR" dirty="0"/>
              <a:t>o teste, junto com todos os outros testes implementados. Inicialmente, </a:t>
            </a:r>
            <a:r>
              <a:rPr lang="pt-BR" dirty="0" smtClean="0"/>
              <a:t>não se implementou </a:t>
            </a:r>
            <a:r>
              <a:rPr lang="pt-BR" dirty="0"/>
              <a:t>a funcionalidade, logo, o novo teste falhará. Isso é proposital, pois mostra que o teste acrescenta algo ao conjunto de testes. </a:t>
            </a:r>
            <a:endParaRPr lang="pt-BR" dirty="0" smtClean="0"/>
          </a:p>
          <a:p>
            <a:pPr marL="514350" indent="-514350">
              <a:buAutoNum type="arabicPeriod"/>
            </a:pPr>
            <a:r>
              <a:rPr lang="pt-BR" dirty="0" smtClean="0"/>
              <a:t>Implemente </a:t>
            </a:r>
            <a:r>
              <a:rPr lang="pt-BR" dirty="0"/>
              <a:t>a funcionalidade e executa novamente o teste. Isso pode envolver a </a:t>
            </a:r>
            <a:r>
              <a:rPr lang="pt-BR" dirty="0" err="1"/>
              <a:t>refatoração</a:t>
            </a:r>
            <a:r>
              <a:rPr lang="pt-BR" dirty="0"/>
              <a:t> do código existente para melhorá-lo e adicionar um novo código sobre o que já está lá</a:t>
            </a:r>
            <a:r>
              <a:rPr lang="pt-BR" dirty="0" smtClean="0"/>
              <a:t>.</a:t>
            </a:r>
          </a:p>
          <a:p>
            <a:pPr marL="514350" indent="-514350">
              <a:buAutoNum type="arabicPeriod"/>
            </a:pPr>
            <a:r>
              <a:rPr lang="pt-BR" dirty="0" smtClean="0"/>
              <a:t>Depois </a:t>
            </a:r>
            <a:r>
              <a:rPr lang="pt-BR" dirty="0"/>
              <a:t>que todos os testes forem executados com sucesso, </a:t>
            </a:r>
            <a:r>
              <a:rPr lang="pt-BR" dirty="0" smtClean="0"/>
              <a:t>caminhe </a:t>
            </a:r>
            <a:r>
              <a:rPr lang="pt-BR" dirty="0"/>
              <a:t>para implementar a próxima parte da funcionalidade.</a:t>
            </a:r>
            <a:endParaRPr lang="pt-BR" dirty="0" smtClean="0"/>
          </a:p>
        </p:txBody>
      </p:sp>
    </p:spTree>
    <p:extLst>
      <p:ext uri="{BB962C8B-B14F-4D97-AF65-F5344CB8AC3E}">
        <p14:creationId xmlns:p14="http://schemas.microsoft.com/office/powerpoint/2010/main" val="14366055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8.2 Desenvolvimento dirigido a testes</a:t>
            </a:r>
          </a:p>
        </p:txBody>
      </p:sp>
      <p:pic>
        <p:nvPicPr>
          <p:cNvPr id="4" name="Espaço Reservado para Conteúdo 3"/>
          <p:cNvPicPr>
            <a:picLocks noGrp="1" noChangeAspect="1"/>
          </p:cNvPicPr>
          <p:nvPr>
            <p:ph idx="1"/>
          </p:nvPr>
        </p:nvPicPr>
        <p:blipFill>
          <a:blip r:embed="rId2"/>
          <a:stretch>
            <a:fillRect/>
          </a:stretch>
        </p:blipFill>
        <p:spPr>
          <a:xfrm>
            <a:off x="2368310" y="2591144"/>
            <a:ext cx="8625590" cy="3593996"/>
          </a:xfrm>
          <a:prstGeom prst="rect">
            <a:avLst/>
          </a:prstGeom>
        </p:spPr>
      </p:pic>
    </p:spTree>
    <p:extLst>
      <p:ext uri="{BB962C8B-B14F-4D97-AF65-F5344CB8AC3E}">
        <p14:creationId xmlns:p14="http://schemas.microsoft.com/office/powerpoint/2010/main" val="1751624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8.2 Desenvolvimento dirigido a testes</a:t>
            </a:r>
          </a:p>
        </p:txBody>
      </p:sp>
      <p:sp>
        <p:nvSpPr>
          <p:cNvPr id="3" name="Espaço Reservado para Conteúdo 2"/>
          <p:cNvSpPr>
            <a:spLocks noGrp="1"/>
          </p:cNvSpPr>
          <p:nvPr>
            <p:ph idx="1"/>
          </p:nvPr>
        </p:nvSpPr>
        <p:spPr>
          <a:xfrm>
            <a:off x="0" y="1440611"/>
            <a:ext cx="12191999" cy="5046453"/>
          </a:xfrm>
        </p:spPr>
        <p:txBody>
          <a:bodyPr>
            <a:normAutofit/>
          </a:bodyPr>
          <a:lstStyle/>
          <a:p>
            <a:pPr marL="0" indent="0">
              <a:buNone/>
            </a:pPr>
            <a:r>
              <a:rPr lang="pt-BR" dirty="0"/>
              <a:t>Um ambiente de testes automatizados, como o ambiente </a:t>
            </a:r>
            <a:r>
              <a:rPr lang="pt-BR" dirty="0" err="1"/>
              <a:t>JUnit</a:t>
            </a:r>
            <a:r>
              <a:rPr lang="pt-BR" dirty="0"/>
              <a:t>, que suporta o teste de programa Java (MAS SOL e HUSTED, 2003), é essencial para o TDD. </a:t>
            </a:r>
            <a:endParaRPr lang="pt-BR" dirty="0" smtClean="0"/>
          </a:p>
          <a:p>
            <a:pPr marL="0" indent="0">
              <a:buNone/>
            </a:pPr>
            <a:r>
              <a:rPr lang="pt-BR" dirty="0" smtClean="0"/>
              <a:t>Como </a:t>
            </a:r>
            <a:r>
              <a:rPr lang="pt-BR" dirty="0"/>
              <a:t>o código é desenvolvido em incrementos muito pequenos, </a:t>
            </a:r>
            <a:r>
              <a:rPr lang="pt-BR" dirty="0" smtClean="0"/>
              <a:t>deve-se </a:t>
            </a:r>
            <a:r>
              <a:rPr lang="pt-BR" dirty="0"/>
              <a:t>executar todos os testes cada vez que adicionar funcionalidade ou </a:t>
            </a:r>
            <a:r>
              <a:rPr lang="pt-BR" dirty="0" err="1"/>
              <a:t>refatorar</a:t>
            </a:r>
            <a:r>
              <a:rPr lang="pt-BR" dirty="0"/>
              <a:t> o programa.</a:t>
            </a:r>
            <a:endParaRPr lang="pt-BR" dirty="0" smtClean="0"/>
          </a:p>
        </p:txBody>
      </p:sp>
    </p:spTree>
    <p:extLst>
      <p:ext uri="{BB962C8B-B14F-4D97-AF65-F5344CB8AC3E}">
        <p14:creationId xmlns:p14="http://schemas.microsoft.com/office/powerpoint/2010/main" val="24640027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8.2 Desenvolvimento dirigido a testes</a:t>
            </a:r>
          </a:p>
        </p:txBody>
      </p:sp>
      <p:sp>
        <p:nvSpPr>
          <p:cNvPr id="3" name="Espaço Reservado para Conteúdo 2"/>
          <p:cNvSpPr>
            <a:spLocks noGrp="1"/>
          </p:cNvSpPr>
          <p:nvPr>
            <p:ph idx="1"/>
          </p:nvPr>
        </p:nvSpPr>
        <p:spPr>
          <a:xfrm>
            <a:off x="0" y="1440611"/>
            <a:ext cx="12191999" cy="5046453"/>
          </a:xfrm>
        </p:spPr>
        <p:txBody>
          <a:bodyPr>
            <a:normAutofit fontScale="85000" lnSpcReduction="20000"/>
          </a:bodyPr>
          <a:lstStyle/>
          <a:p>
            <a:pPr marL="0" indent="0">
              <a:buNone/>
            </a:pPr>
            <a:r>
              <a:rPr lang="pt-BR" dirty="0"/>
              <a:t>Um ambiente de testes automatizados, como o ambiente </a:t>
            </a:r>
            <a:r>
              <a:rPr lang="pt-BR" dirty="0" err="1"/>
              <a:t>JUnit</a:t>
            </a:r>
            <a:r>
              <a:rPr lang="pt-BR" dirty="0"/>
              <a:t>, que suporta o teste de programa Java (MAS SOL e HUSTED, 2003), é essencial para o TDD. </a:t>
            </a:r>
            <a:endParaRPr lang="pt-BR" dirty="0" smtClean="0"/>
          </a:p>
          <a:p>
            <a:pPr marL="0" indent="0">
              <a:buNone/>
            </a:pPr>
            <a:r>
              <a:rPr lang="pt-BR" dirty="0" smtClean="0"/>
              <a:t>Como </a:t>
            </a:r>
            <a:r>
              <a:rPr lang="pt-BR" dirty="0"/>
              <a:t>o código é desenvolvido em incrementos muito pequenos, </a:t>
            </a:r>
            <a:r>
              <a:rPr lang="pt-BR" dirty="0" smtClean="0"/>
              <a:t>deve-se </a:t>
            </a:r>
            <a:r>
              <a:rPr lang="pt-BR" dirty="0"/>
              <a:t>executar todos os testes cada vez que adicionar funcionalidade ou </a:t>
            </a:r>
            <a:r>
              <a:rPr lang="pt-BR" dirty="0" err="1"/>
              <a:t>refatorar</a:t>
            </a:r>
            <a:r>
              <a:rPr lang="pt-BR" dirty="0"/>
              <a:t> o programa</a:t>
            </a:r>
            <a:r>
              <a:rPr lang="pt-BR" dirty="0" smtClean="0"/>
              <a:t>.</a:t>
            </a:r>
          </a:p>
          <a:p>
            <a:pPr marL="0" indent="0">
              <a:buNone/>
            </a:pPr>
            <a:r>
              <a:rPr lang="pt-BR" dirty="0"/>
              <a:t>T</a:t>
            </a:r>
            <a:r>
              <a:rPr lang="pt-BR" dirty="0" smtClean="0"/>
              <a:t>estes </a:t>
            </a:r>
            <a:r>
              <a:rPr lang="pt-BR" dirty="0"/>
              <a:t>são embutidos em um programa separado que os executa e invoca o sistema que está sendo testado. </a:t>
            </a:r>
            <a:endParaRPr lang="pt-BR" dirty="0" smtClean="0"/>
          </a:p>
          <a:p>
            <a:pPr marL="0" indent="0">
              <a:buNone/>
            </a:pPr>
            <a:r>
              <a:rPr lang="pt-BR" dirty="0" smtClean="0"/>
              <a:t>Usando </a:t>
            </a:r>
            <a:r>
              <a:rPr lang="pt-BR" dirty="0"/>
              <a:t>essa abordagem, é possível rodar centenas de testes separados em poucos segundos. </a:t>
            </a:r>
            <a:endParaRPr lang="pt-BR" dirty="0" smtClean="0"/>
          </a:p>
          <a:p>
            <a:pPr marL="0" indent="0">
              <a:buNone/>
            </a:pPr>
            <a:r>
              <a:rPr lang="pt-BR" dirty="0"/>
              <a:t>D</a:t>
            </a:r>
            <a:r>
              <a:rPr lang="pt-BR" dirty="0" smtClean="0"/>
              <a:t>esenvolvimento </a:t>
            </a:r>
            <a:r>
              <a:rPr lang="pt-BR" dirty="0"/>
              <a:t>dirigido a </a:t>
            </a:r>
            <a:r>
              <a:rPr lang="pt-BR" dirty="0" smtClean="0"/>
              <a:t>testes: </a:t>
            </a:r>
            <a:r>
              <a:rPr lang="pt-BR" dirty="0"/>
              <a:t>ajuda os programadores a clarear suas ideias sobre o que um segmento de código supostamente deve fazer. Para escrever um teste, </a:t>
            </a:r>
            <a:r>
              <a:rPr lang="pt-BR" dirty="0" smtClean="0"/>
              <a:t>deve-se </a:t>
            </a:r>
            <a:r>
              <a:rPr lang="pt-BR" dirty="0"/>
              <a:t>entender a que ele se destina, e como esse entendimento faz que seja mais fácil escrever o código necessário. </a:t>
            </a:r>
          </a:p>
          <a:p>
            <a:pPr marL="0" indent="0">
              <a:buNone/>
            </a:pPr>
            <a:r>
              <a:rPr lang="pt-BR" dirty="0" smtClean="0"/>
              <a:t>Com conhecimento </a:t>
            </a:r>
            <a:r>
              <a:rPr lang="pt-BR" dirty="0"/>
              <a:t>ou compreensão incompleta, o desenvolvimento dirigido a testes não </a:t>
            </a:r>
            <a:r>
              <a:rPr lang="pt-BR" dirty="0" smtClean="0"/>
              <a:t>ajudará</a:t>
            </a:r>
            <a:r>
              <a:rPr lang="pt-BR" dirty="0"/>
              <a:t>. </a:t>
            </a:r>
            <a:r>
              <a:rPr lang="pt-BR" dirty="0" smtClean="0"/>
              <a:t>Sem saber </a:t>
            </a:r>
            <a:r>
              <a:rPr lang="pt-BR" dirty="0"/>
              <a:t>o suficiente para escrever os testes, </a:t>
            </a:r>
            <a:r>
              <a:rPr lang="pt-BR" dirty="0" smtClean="0"/>
              <a:t>não desenvolve-se </a:t>
            </a:r>
            <a:r>
              <a:rPr lang="pt-BR" dirty="0"/>
              <a:t>o código necessário. </a:t>
            </a:r>
            <a:endParaRPr lang="pt-BR" dirty="0" smtClean="0"/>
          </a:p>
          <a:p>
            <a:pPr marL="0" indent="0">
              <a:buNone/>
            </a:pPr>
            <a:r>
              <a:rPr lang="pt-BR" dirty="0" err="1" smtClean="0"/>
              <a:t>Ex</a:t>
            </a:r>
            <a:r>
              <a:rPr lang="pt-BR" dirty="0" smtClean="0"/>
              <a:t>: </a:t>
            </a:r>
            <a:r>
              <a:rPr lang="pt-BR" dirty="0"/>
              <a:t>se o</a:t>
            </a:r>
            <a:r>
              <a:rPr lang="pt-BR" dirty="0" smtClean="0"/>
              <a:t> </a:t>
            </a:r>
            <a:r>
              <a:rPr lang="pt-BR" dirty="0"/>
              <a:t>cálculo envolve divisão, </a:t>
            </a:r>
            <a:r>
              <a:rPr lang="pt-BR" dirty="0" smtClean="0"/>
              <a:t>deve-se </a:t>
            </a:r>
            <a:r>
              <a:rPr lang="pt-BR" dirty="0"/>
              <a:t>verificar se não está dividindo o número por zero. Se </a:t>
            </a:r>
            <a:r>
              <a:rPr lang="pt-BR" dirty="0" smtClean="0"/>
              <a:t>não </a:t>
            </a:r>
            <a:r>
              <a:rPr lang="pt-BR" dirty="0"/>
              <a:t>escrever um teste para isso, então o código para essa verificação nunca será incluído no programa.</a:t>
            </a:r>
            <a:endParaRPr lang="pt-BR" dirty="0" smtClean="0"/>
          </a:p>
        </p:txBody>
      </p:sp>
    </p:spTree>
    <p:extLst>
      <p:ext uri="{BB962C8B-B14F-4D97-AF65-F5344CB8AC3E}">
        <p14:creationId xmlns:p14="http://schemas.microsoft.com/office/powerpoint/2010/main" val="10657621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8.2 Desenvolvimento dirigido a testes</a:t>
            </a:r>
          </a:p>
        </p:txBody>
      </p:sp>
      <p:sp>
        <p:nvSpPr>
          <p:cNvPr id="3" name="Espaço Reservado para Conteúdo 2"/>
          <p:cNvSpPr>
            <a:spLocks noGrp="1"/>
          </p:cNvSpPr>
          <p:nvPr>
            <p:ph idx="1"/>
          </p:nvPr>
        </p:nvSpPr>
        <p:spPr>
          <a:xfrm>
            <a:off x="-77638" y="1509622"/>
            <a:ext cx="12191999" cy="5046453"/>
          </a:xfrm>
        </p:spPr>
        <p:txBody>
          <a:bodyPr>
            <a:normAutofit fontScale="70000" lnSpcReduction="20000"/>
          </a:bodyPr>
          <a:lstStyle/>
          <a:p>
            <a:pPr marL="0" indent="0">
              <a:buNone/>
            </a:pPr>
            <a:r>
              <a:rPr lang="pt-BR" dirty="0"/>
              <a:t>B</a:t>
            </a:r>
            <a:r>
              <a:rPr lang="pt-BR" dirty="0" smtClean="0"/>
              <a:t>enefícios </a:t>
            </a:r>
            <a:r>
              <a:rPr lang="pt-BR" dirty="0"/>
              <a:t>do desenvolvimento dirigido a </a:t>
            </a:r>
            <a:r>
              <a:rPr lang="pt-BR" dirty="0" smtClean="0"/>
              <a:t>testes: </a:t>
            </a:r>
          </a:p>
          <a:p>
            <a:pPr marL="514350" indent="-514350">
              <a:buAutoNum type="arabicPeriod"/>
            </a:pPr>
            <a:r>
              <a:rPr lang="pt-BR" dirty="0" smtClean="0"/>
              <a:t>Cobertura de código: todo </a:t>
            </a:r>
            <a:r>
              <a:rPr lang="pt-BR" dirty="0"/>
              <a:t>segmento de </a:t>
            </a:r>
            <a:r>
              <a:rPr lang="pt-BR" dirty="0" smtClean="0"/>
              <a:t>código </a:t>
            </a:r>
            <a:r>
              <a:rPr lang="pt-BR" dirty="0"/>
              <a:t>deve ter pelo menos um teste </a:t>
            </a:r>
            <a:r>
              <a:rPr lang="pt-BR" dirty="0" smtClean="0"/>
              <a:t>associado para se ter </a:t>
            </a:r>
            <a:r>
              <a:rPr lang="pt-BR" dirty="0"/>
              <a:t>certeza de que todo o código no sistema foi realmente executado. Cada código é testado enquanto está sendo escrito; assim, os defeitos são descobertos no início do processo de desenvolvimento. </a:t>
            </a:r>
            <a:endParaRPr lang="pt-BR" dirty="0" smtClean="0"/>
          </a:p>
          <a:p>
            <a:pPr marL="514350" indent="-514350">
              <a:buFont typeface="Arial" panose="020B0604020202020204" pitchFamily="34" charset="0"/>
              <a:buAutoNum type="arabicPeriod"/>
            </a:pPr>
            <a:r>
              <a:rPr lang="pt-BR" dirty="0" smtClean="0"/>
              <a:t>Teste </a:t>
            </a:r>
            <a:r>
              <a:rPr lang="pt-BR" dirty="0"/>
              <a:t>de </a:t>
            </a:r>
            <a:r>
              <a:rPr lang="pt-BR" dirty="0" smtClean="0"/>
              <a:t>regressão: </a:t>
            </a:r>
            <a:r>
              <a:rPr lang="pt-BR" dirty="0"/>
              <a:t>Um conjunto de testes é desenvolvido de forma incremental enquanto um programa é desenvolvido. </a:t>
            </a:r>
            <a:r>
              <a:rPr lang="pt-BR" dirty="0" smtClean="0"/>
              <a:t>Executa-se </a:t>
            </a:r>
            <a:r>
              <a:rPr lang="pt-BR" dirty="0"/>
              <a:t>testes de regressão para verificar se as mudanças no programa não introduziram novos bugs. </a:t>
            </a:r>
            <a:r>
              <a:rPr lang="pt-BR" dirty="0" smtClean="0"/>
              <a:t>O desenvolvimento </a:t>
            </a:r>
            <a:r>
              <a:rPr lang="pt-BR" dirty="0"/>
              <a:t>dirigido a </a:t>
            </a:r>
            <a:r>
              <a:rPr lang="pt-BR" dirty="0" smtClean="0"/>
              <a:t>testes </a:t>
            </a:r>
            <a:r>
              <a:rPr lang="pt-BR" dirty="0"/>
              <a:t>reduz os custos dos testes de regressão. O teste de regressão envolve a execução de conjuntos de testes que tenham sido executados com sucesso, após as alterações serem feitas em um sistema. </a:t>
            </a:r>
            <a:r>
              <a:rPr lang="pt-BR" dirty="0" smtClean="0"/>
              <a:t>Verifica </a:t>
            </a:r>
            <a:r>
              <a:rPr lang="pt-BR" dirty="0"/>
              <a:t>se essas mudanças não introduziram novos bugs no sistema e se o novo código interage com o código existente conforme o esperado. O teste de regressão é muito caro e geralmente impraticável quando um sistema é testado manualmente, pois os custos com tempo e esforço são muito altos. Em tais situações, </a:t>
            </a:r>
            <a:r>
              <a:rPr lang="pt-BR" dirty="0" smtClean="0"/>
              <a:t>escolhe-se </a:t>
            </a:r>
            <a:r>
              <a:rPr lang="pt-BR" dirty="0"/>
              <a:t>os testes mais relevantes para executar novamente, </a:t>
            </a:r>
            <a:r>
              <a:rPr lang="pt-BR" dirty="0" smtClean="0"/>
              <a:t>sendo fácil </a:t>
            </a:r>
            <a:r>
              <a:rPr lang="pt-BR" dirty="0"/>
              <a:t>perder testes importantes.</a:t>
            </a:r>
          </a:p>
          <a:p>
            <a:pPr marL="514350" indent="-514350">
              <a:buAutoNum type="arabicPeriod"/>
            </a:pPr>
            <a:r>
              <a:rPr lang="pt-BR" dirty="0" smtClean="0"/>
              <a:t>Depuração simplificada: </a:t>
            </a:r>
            <a:r>
              <a:rPr lang="pt-BR" dirty="0"/>
              <a:t>Quando um teste falha, a localização do problema deve ser óbvia. O código </a:t>
            </a:r>
            <a:r>
              <a:rPr lang="pt-BR" dirty="0" smtClean="0"/>
              <a:t>recém-escrito </a:t>
            </a:r>
            <a:r>
              <a:rPr lang="pt-BR" dirty="0"/>
              <a:t>precisa ser verificado e modificado. </a:t>
            </a:r>
            <a:r>
              <a:rPr lang="pt-BR" dirty="0" smtClean="0"/>
              <a:t>Não </a:t>
            </a:r>
            <a:r>
              <a:rPr lang="pt-BR" dirty="0"/>
              <a:t>precisa </a:t>
            </a:r>
            <a:r>
              <a:rPr lang="pt-BR" dirty="0" smtClean="0"/>
              <a:t>se usar </a:t>
            </a:r>
            <a:r>
              <a:rPr lang="pt-BR" dirty="0"/>
              <a:t>as ferramentas de depuração para localizar o problema. Alguns relatos de uso de desenvolvimento dirigido a testes sugerem que, em desenvolvimento dirigido a testes, quase nunca é necessário usar um sistema automatizado de depuração (MARTIN, 2007). </a:t>
            </a:r>
            <a:endParaRPr lang="pt-BR" dirty="0" smtClean="0"/>
          </a:p>
          <a:p>
            <a:pPr marL="514350" indent="-514350">
              <a:buAutoNum type="arabicPeriod"/>
            </a:pPr>
            <a:r>
              <a:rPr lang="pt-BR" dirty="0" smtClean="0"/>
              <a:t>Documentação </a:t>
            </a:r>
            <a:r>
              <a:rPr lang="pt-BR" dirty="0"/>
              <a:t>de </a:t>
            </a:r>
            <a:r>
              <a:rPr lang="pt-BR" dirty="0" smtClean="0"/>
              <a:t>sistema: </a:t>
            </a:r>
            <a:r>
              <a:rPr lang="pt-BR" dirty="0"/>
              <a:t>Os testes </a:t>
            </a:r>
            <a:r>
              <a:rPr lang="pt-BR" dirty="0" smtClean="0"/>
              <a:t>agem </a:t>
            </a:r>
            <a:r>
              <a:rPr lang="pt-BR" dirty="0"/>
              <a:t>como uma forma de documentação que descreve o que o código deve estar fazendo. Ler os testes pode tornar mais fácil a compreensão do código.</a:t>
            </a:r>
            <a:endParaRPr lang="pt-BR" dirty="0" smtClean="0"/>
          </a:p>
        </p:txBody>
      </p:sp>
    </p:spTree>
    <p:extLst>
      <p:ext uri="{BB962C8B-B14F-4D97-AF65-F5344CB8AC3E}">
        <p14:creationId xmlns:p14="http://schemas.microsoft.com/office/powerpoint/2010/main" val="5546938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8.2 Desenvolvimento dirigido a testes</a:t>
            </a:r>
          </a:p>
        </p:txBody>
      </p:sp>
      <p:sp>
        <p:nvSpPr>
          <p:cNvPr id="3" name="Espaço Reservado para Conteúdo 2"/>
          <p:cNvSpPr>
            <a:spLocks noGrp="1"/>
          </p:cNvSpPr>
          <p:nvPr>
            <p:ph idx="1"/>
          </p:nvPr>
        </p:nvSpPr>
        <p:spPr>
          <a:xfrm>
            <a:off x="-77638" y="1509622"/>
            <a:ext cx="12191999" cy="5046453"/>
          </a:xfrm>
        </p:spPr>
        <p:txBody>
          <a:bodyPr>
            <a:normAutofit fontScale="85000" lnSpcReduction="20000"/>
          </a:bodyPr>
          <a:lstStyle/>
          <a:p>
            <a:pPr marL="0" indent="0">
              <a:buNone/>
            </a:pPr>
            <a:r>
              <a:rPr lang="pt-BR" dirty="0" smtClean="0"/>
              <a:t>Testes </a:t>
            </a:r>
            <a:r>
              <a:rPr lang="pt-BR" dirty="0"/>
              <a:t>automatizados, fundamentais para o desenvolvimento </a:t>
            </a:r>
            <a:r>
              <a:rPr lang="pt-BR" dirty="0" err="1"/>
              <a:t>test-first</a:t>
            </a:r>
            <a:r>
              <a:rPr lang="pt-BR" dirty="0"/>
              <a:t>, reduzem drasticamente os custos com testes de regressão. Os testes existentes podem ser executados novamente de forma rápida e barata. </a:t>
            </a:r>
            <a:endParaRPr lang="pt-BR" dirty="0" smtClean="0"/>
          </a:p>
          <a:p>
            <a:pPr marL="0" indent="0">
              <a:buNone/>
            </a:pPr>
            <a:r>
              <a:rPr lang="pt-BR" dirty="0" smtClean="0"/>
              <a:t>Após </a:t>
            </a:r>
            <a:r>
              <a:rPr lang="pt-BR" dirty="0"/>
              <a:t>se fazer uma mudança para um sistema em desenvolvimento </a:t>
            </a:r>
            <a:r>
              <a:rPr lang="pt-BR" dirty="0" err="1"/>
              <a:t>test-first</a:t>
            </a:r>
            <a:r>
              <a:rPr lang="pt-BR" dirty="0"/>
              <a:t>, todos os testes existentes devem ser executados com êxito antes de qualquer funcionalidade ser adicionada. </a:t>
            </a:r>
            <a:endParaRPr lang="pt-BR" dirty="0" smtClean="0"/>
          </a:p>
          <a:p>
            <a:pPr marL="0" indent="0">
              <a:buNone/>
            </a:pPr>
            <a:r>
              <a:rPr lang="pt-BR" dirty="0"/>
              <a:t>O</a:t>
            </a:r>
            <a:r>
              <a:rPr lang="pt-BR" dirty="0" smtClean="0"/>
              <a:t> programador precisa </a:t>
            </a:r>
            <a:r>
              <a:rPr lang="pt-BR" dirty="0"/>
              <a:t>ter certeza de que a nova funcionalidade </a:t>
            </a:r>
            <a:r>
              <a:rPr lang="pt-BR" dirty="0" smtClean="0"/>
              <a:t>causou </a:t>
            </a:r>
            <a:r>
              <a:rPr lang="pt-BR" dirty="0"/>
              <a:t>ou </a:t>
            </a:r>
            <a:r>
              <a:rPr lang="pt-BR" dirty="0" smtClean="0"/>
              <a:t>revelou </a:t>
            </a:r>
            <a:r>
              <a:rPr lang="pt-BR" dirty="0"/>
              <a:t>problemas com o código existente. </a:t>
            </a:r>
            <a:endParaRPr lang="pt-BR" dirty="0" smtClean="0"/>
          </a:p>
          <a:p>
            <a:pPr marL="0" indent="0">
              <a:buNone/>
            </a:pPr>
            <a:r>
              <a:rPr lang="pt-BR" dirty="0" smtClean="0"/>
              <a:t>O </a:t>
            </a:r>
            <a:r>
              <a:rPr lang="pt-BR" dirty="0"/>
              <a:t>desenvolvimento dirigido a testes é de maior utilidade no desenvolvimento de softwares novos, em que a funcionalidade seja implementada no novo código ou usando bibliotecas-padrão já testadas. </a:t>
            </a:r>
            <a:endParaRPr lang="pt-BR" dirty="0" smtClean="0"/>
          </a:p>
          <a:p>
            <a:pPr marL="0" indent="0">
              <a:buNone/>
            </a:pPr>
            <a:r>
              <a:rPr lang="pt-BR" dirty="0" smtClean="0"/>
              <a:t>No reuso de </a:t>
            </a:r>
            <a:r>
              <a:rPr lang="pt-BR" dirty="0"/>
              <a:t>componentes de código ou sistemas legados grandes, </a:t>
            </a:r>
            <a:r>
              <a:rPr lang="pt-BR" dirty="0" smtClean="0"/>
              <a:t>escrevem-se </a:t>
            </a:r>
            <a:r>
              <a:rPr lang="pt-BR" dirty="0"/>
              <a:t>testes para esses sistemas como um todo. </a:t>
            </a:r>
            <a:endParaRPr lang="pt-BR" dirty="0" smtClean="0"/>
          </a:p>
          <a:p>
            <a:pPr marL="0" indent="0">
              <a:buNone/>
            </a:pPr>
            <a:r>
              <a:rPr lang="pt-BR" dirty="0" smtClean="0"/>
              <a:t>O </a:t>
            </a:r>
            <a:r>
              <a:rPr lang="pt-BR" dirty="0"/>
              <a:t>desenvolvimento dirigido a testes </a:t>
            </a:r>
            <a:r>
              <a:rPr lang="pt-BR" dirty="0" smtClean="0"/>
              <a:t>pode </a:t>
            </a:r>
            <a:r>
              <a:rPr lang="pt-BR" dirty="0"/>
              <a:t>ser ineficaz em sistemas </a:t>
            </a:r>
            <a:r>
              <a:rPr lang="pt-BR" dirty="0" err="1"/>
              <a:t>multi-threaded</a:t>
            </a:r>
            <a:r>
              <a:rPr lang="pt-BR" dirty="0"/>
              <a:t>. Os threads diferentes podem ser intercalados em tempos diferentes, em execuções diferentes, e isso pode produzir resultados diferentes.</a:t>
            </a:r>
            <a:endParaRPr lang="pt-BR" dirty="0" smtClean="0"/>
          </a:p>
        </p:txBody>
      </p:sp>
    </p:spTree>
    <p:extLst>
      <p:ext uri="{BB962C8B-B14F-4D97-AF65-F5344CB8AC3E}">
        <p14:creationId xmlns:p14="http://schemas.microsoft.com/office/powerpoint/2010/main" val="1069780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8.2 Desenvolvimento dirigido a testes</a:t>
            </a:r>
          </a:p>
        </p:txBody>
      </p:sp>
      <p:sp>
        <p:nvSpPr>
          <p:cNvPr id="3" name="Espaço Reservado para Conteúdo 2"/>
          <p:cNvSpPr>
            <a:spLocks noGrp="1"/>
          </p:cNvSpPr>
          <p:nvPr>
            <p:ph idx="1"/>
          </p:nvPr>
        </p:nvSpPr>
        <p:spPr>
          <a:xfrm>
            <a:off x="-77638" y="1509622"/>
            <a:ext cx="12191999" cy="5046453"/>
          </a:xfrm>
        </p:spPr>
        <p:txBody>
          <a:bodyPr>
            <a:normAutofit/>
          </a:bodyPr>
          <a:lstStyle/>
          <a:p>
            <a:pPr marL="0" indent="0">
              <a:buNone/>
            </a:pPr>
            <a:r>
              <a:rPr lang="pt-BR" dirty="0"/>
              <a:t>O desenvolvimento dirigido a testes revelou-se uma abordagem de sucesso para projetos de pequenas e </a:t>
            </a:r>
            <a:r>
              <a:rPr lang="pt-BR" dirty="0" smtClean="0"/>
              <a:t>médias </a:t>
            </a:r>
            <a:r>
              <a:rPr lang="pt-BR" dirty="0"/>
              <a:t>empresas. </a:t>
            </a:r>
            <a:endParaRPr lang="pt-BR" dirty="0" smtClean="0"/>
          </a:p>
          <a:p>
            <a:pPr marL="0" indent="0">
              <a:buNone/>
            </a:pPr>
            <a:r>
              <a:rPr lang="pt-BR" dirty="0" smtClean="0"/>
              <a:t>Programadores </a:t>
            </a:r>
            <a:r>
              <a:rPr lang="pt-BR" dirty="0"/>
              <a:t>que adotaram essa abordagem estão satisfeitos e</a:t>
            </a:r>
            <a:r>
              <a:rPr lang="pt-BR" dirty="0" smtClean="0"/>
              <a:t> </a:t>
            </a:r>
            <a:r>
              <a:rPr lang="pt-BR" dirty="0"/>
              <a:t>acham que é uma maneira mais produtiva de desenvolver softwares (JEFFRIES e MELNIK, 2007). Em alguns experimentos, foi mostrado que essa abordagem gera melhorias na qualidade do código; em outros, os resultados foram </a:t>
            </a:r>
            <a:r>
              <a:rPr lang="pt-BR" dirty="0" smtClean="0"/>
              <a:t>inconclusivos</a:t>
            </a:r>
            <a:r>
              <a:rPr lang="pt-BR" dirty="0"/>
              <a:t>; no entanto, não existem evidências de que o TDD leve à redução da qualidade de código. </a:t>
            </a:r>
            <a:endParaRPr lang="pt-BR" dirty="0" smtClean="0"/>
          </a:p>
        </p:txBody>
      </p:sp>
    </p:spTree>
    <p:extLst>
      <p:ext uri="{BB962C8B-B14F-4D97-AF65-F5344CB8AC3E}">
        <p14:creationId xmlns:p14="http://schemas.microsoft.com/office/powerpoint/2010/main" val="7480318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a:t>
            </a:r>
          </a:p>
        </p:txBody>
      </p:sp>
      <p:sp>
        <p:nvSpPr>
          <p:cNvPr id="3" name="Espaço Reservado para Conteúdo 2"/>
          <p:cNvSpPr>
            <a:spLocks noGrp="1"/>
          </p:cNvSpPr>
          <p:nvPr>
            <p:ph idx="1"/>
          </p:nvPr>
        </p:nvSpPr>
        <p:spPr>
          <a:xfrm>
            <a:off x="-77638" y="1509622"/>
            <a:ext cx="12191999" cy="5046453"/>
          </a:xfrm>
        </p:spPr>
        <p:txBody>
          <a:bodyPr>
            <a:normAutofit fontScale="92500" lnSpcReduction="20000"/>
          </a:bodyPr>
          <a:lstStyle/>
          <a:p>
            <a:pPr marL="0" indent="0">
              <a:buNone/>
            </a:pPr>
            <a:r>
              <a:rPr lang="pt-BR" dirty="0"/>
              <a:t>P</a:t>
            </a:r>
            <a:r>
              <a:rPr lang="pt-BR" dirty="0" smtClean="0"/>
              <a:t>rocesso </a:t>
            </a:r>
            <a:r>
              <a:rPr lang="pt-BR" dirty="0"/>
              <a:t>de testar um release particular de um sistema que se destina para uso fora da equipe de desenvolvimento. </a:t>
            </a:r>
            <a:endParaRPr lang="pt-BR" dirty="0" smtClean="0"/>
          </a:p>
          <a:p>
            <a:pPr marL="0" indent="0">
              <a:buNone/>
            </a:pPr>
            <a:r>
              <a:rPr lang="pt-BR" dirty="0" smtClean="0"/>
              <a:t>Release </a:t>
            </a:r>
            <a:r>
              <a:rPr lang="pt-BR" dirty="0"/>
              <a:t>de sistema é para uso dos clientes e usuários. </a:t>
            </a:r>
            <a:endParaRPr lang="pt-BR" dirty="0" smtClean="0"/>
          </a:p>
          <a:p>
            <a:pPr marL="0" indent="0">
              <a:buNone/>
            </a:pPr>
            <a:r>
              <a:rPr lang="pt-BR" dirty="0" smtClean="0"/>
              <a:t>Em </a:t>
            </a:r>
            <a:r>
              <a:rPr lang="pt-BR" dirty="0"/>
              <a:t>um projeto </a:t>
            </a:r>
            <a:r>
              <a:rPr lang="pt-BR" dirty="0" smtClean="0"/>
              <a:t>complexo é usado em </a:t>
            </a:r>
            <a:r>
              <a:rPr lang="pt-BR" dirty="0"/>
              <a:t>outras equipes que estão desenvolvendo sistemas relacionados. </a:t>
            </a:r>
            <a:endParaRPr lang="pt-BR" dirty="0" smtClean="0"/>
          </a:p>
          <a:p>
            <a:pPr marL="0" indent="0">
              <a:buNone/>
            </a:pPr>
            <a:r>
              <a:rPr lang="pt-BR" dirty="0" smtClean="0"/>
              <a:t>Para </a:t>
            </a:r>
            <a:r>
              <a:rPr lang="pt-BR" dirty="0"/>
              <a:t>produtos de software, o release pode ser para gerenciamento de produtos que, em seguida, o prepara para a venda. </a:t>
            </a:r>
            <a:endParaRPr lang="pt-BR" dirty="0" smtClean="0"/>
          </a:p>
          <a:p>
            <a:pPr marL="0" indent="0">
              <a:buNone/>
            </a:pPr>
            <a:r>
              <a:rPr lang="pt-BR" dirty="0"/>
              <a:t>D</a:t>
            </a:r>
            <a:r>
              <a:rPr lang="pt-BR" dirty="0" smtClean="0"/>
              <a:t>iferenças </a:t>
            </a:r>
            <a:r>
              <a:rPr lang="pt-BR" dirty="0"/>
              <a:t>importantes entre o teste de release e o teste de sistema durante o processo de </a:t>
            </a:r>
            <a:r>
              <a:rPr lang="pt-BR" dirty="0" smtClean="0"/>
              <a:t>desenvolvimento</a:t>
            </a:r>
            <a:r>
              <a:rPr lang="pt-BR" dirty="0"/>
              <a:t>: </a:t>
            </a:r>
            <a:endParaRPr lang="pt-BR" dirty="0" smtClean="0"/>
          </a:p>
          <a:p>
            <a:pPr marL="514350" indent="-514350">
              <a:buAutoNum type="arabicPeriod"/>
            </a:pPr>
            <a:r>
              <a:rPr lang="pt-BR" dirty="0" smtClean="0"/>
              <a:t>Uma </a:t>
            </a:r>
            <a:r>
              <a:rPr lang="pt-BR" dirty="0"/>
              <a:t>equipe separada, que não esteve envolvida no desenvolvimento do sistema, deve ser responsável pelo teste de release. </a:t>
            </a:r>
            <a:endParaRPr lang="pt-BR" dirty="0" smtClean="0"/>
          </a:p>
          <a:p>
            <a:pPr marL="514350" indent="-514350">
              <a:buAutoNum type="arabicPeriod"/>
            </a:pPr>
            <a:r>
              <a:rPr lang="pt-BR" dirty="0" smtClean="0"/>
              <a:t>Testes </a:t>
            </a:r>
            <a:r>
              <a:rPr lang="pt-BR" dirty="0"/>
              <a:t>de sistema feitos pela equipe de desenvolvimento devem centrar-se na descoberta de bugs no sistema (teste de defeitos). O objetivo do teste de release é verificar se o sistema atende a seus requisitos e é bom o suficiente para uso externo (teste de validação).</a:t>
            </a:r>
            <a:endParaRPr lang="pt-BR" dirty="0" smtClean="0"/>
          </a:p>
        </p:txBody>
      </p:sp>
    </p:spTree>
    <p:extLst>
      <p:ext uri="{BB962C8B-B14F-4D97-AF65-F5344CB8AC3E}">
        <p14:creationId xmlns:p14="http://schemas.microsoft.com/office/powerpoint/2010/main" val="2567849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a:t>
            </a:r>
          </a:p>
        </p:txBody>
      </p:sp>
      <p:sp>
        <p:nvSpPr>
          <p:cNvPr id="3" name="Espaço Reservado para Conteúdo 2"/>
          <p:cNvSpPr>
            <a:spLocks noGrp="1"/>
          </p:cNvSpPr>
          <p:nvPr>
            <p:ph idx="1"/>
          </p:nvPr>
        </p:nvSpPr>
        <p:spPr>
          <a:xfrm>
            <a:off x="-77638" y="1509622"/>
            <a:ext cx="12191999" cy="5046453"/>
          </a:xfrm>
        </p:spPr>
        <p:txBody>
          <a:bodyPr>
            <a:normAutofit lnSpcReduction="10000"/>
          </a:bodyPr>
          <a:lstStyle/>
          <a:p>
            <a:pPr marL="0" indent="0">
              <a:buNone/>
            </a:pPr>
            <a:r>
              <a:rPr lang="pt-BR" dirty="0" smtClean="0"/>
              <a:t>Objetivo </a:t>
            </a:r>
            <a:r>
              <a:rPr lang="pt-BR" dirty="0"/>
              <a:t>principal do processo de teste de </a:t>
            </a:r>
            <a:r>
              <a:rPr lang="pt-BR" dirty="0" smtClean="0"/>
              <a:t>release:</a:t>
            </a:r>
          </a:p>
          <a:p>
            <a:pPr marL="0" indent="0">
              <a:buNone/>
            </a:pPr>
            <a:r>
              <a:rPr lang="pt-BR" dirty="0" smtClean="0"/>
              <a:t>convencer </a:t>
            </a:r>
            <a:r>
              <a:rPr lang="pt-BR" dirty="0"/>
              <a:t>o fornecedor do sistema de que </a:t>
            </a:r>
            <a:r>
              <a:rPr lang="pt-BR" dirty="0" smtClean="0"/>
              <a:t>o </a:t>
            </a:r>
            <a:r>
              <a:rPr lang="pt-BR" dirty="0"/>
              <a:t>sistema é bom o suficiente para uso. O</a:t>
            </a:r>
            <a:r>
              <a:rPr lang="pt-BR" dirty="0" smtClean="0"/>
              <a:t> </a:t>
            </a:r>
            <a:r>
              <a:rPr lang="pt-BR" dirty="0"/>
              <a:t>sistema poderá ser lançado como um produto ou entregue aos clientes. </a:t>
            </a:r>
            <a:endParaRPr lang="pt-BR" dirty="0" smtClean="0"/>
          </a:p>
          <a:p>
            <a:pPr marL="0" indent="0">
              <a:buNone/>
            </a:pPr>
            <a:r>
              <a:rPr lang="pt-BR" dirty="0"/>
              <a:t>P</a:t>
            </a:r>
            <a:r>
              <a:rPr lang="pt-BR" dirty="0" smtClean="0"/>
              <a:t>recisa </a:t>
            </a:r>
            <a:r>
              <a:rPr lang="pt-BR" dirty="0"/>
              <a:t>mostrar que o sistema oferece a funcionalidade, o desempenho e a confiança especificados e que não falhará durante o uso normal. </a:t>
            </a:r>
            <a:endParaRPr lang="pt-BR" dirty="0" smtClean="0"/>
          </a:p>
          <a:p>
            <a:pPr marL="0" indent="0">
              <a:buNone/>
            </a:pPr>
            <a:r>
              <a:rPr lang="pt-BR" dirty="0" smtClean="0"/>
              <a:t>Deve </a:t>
            </a:r>
            <a:r>
              <a:rPr lang="pt-BR" dirty="0"/>
              <a:t>levar em conta todos os requisitos de sistema, e não apenas os requisitos de usuários finais do sistema. </a:t>
            </a:r>
            <a:endParaRPr lang="pt-BR" dirty="0" smtClean="0"/>
          </a:p>
          <a:p>
            <a:pPr marL="0" indent="0">
              <a:buNone/>
            </a:pPr>
            <a:r>
              <a:rPr lang="pt-BR" dirty="0"/>
              <a:t>P</a:t>
            </a:r>
            <a:r>
              <a:rPr lang="pt-BR" dirty="0" smtClean="0"/>
              <a:t>rocesso </a:t>
            </a:r>
            <a:r>
              <a:rPr lang="pt-BR" dirty="0"/>
              <a:t>de teste de </a:t>
            </a:r>
            <a:r>
              <a:rPr lang="pt-BR" dirty="0" smtClean="0"/>
              <a:t>caixa-preta: </a:t>
            </a:r>
            <a:r>
              <a:rPr lang="pt-BR" dirty="0"/>
              <a:t>testes são derivados da especificação de sistema. O sistema é tratado como uma caixa-preta cujo comportamento só pode ser </a:t>
            </a:r>
            <a:r>
              <a:rPr lang="pt-BR" dirty="0" smtClean="0"/>
              <a:t>determinado </a:t>
            </a:r>
            <a:r>
              <a:rPr lang="pt-BR" dirty="0"/>
              <a:t>por meio do estudo das entradas e saídas relacionadas. Outro nome para isso é ‘teste funcional’, assim chamado porque o testador só está preocupado com a funcionalidade, e não com a implementação do software.</a:t>
            </a:r>
            <a:endParaRPr lang="pt-BR" dirty="0" smtClean="0"/>
          </a:p>
        </p:txBody>
      </p:sp>
    </p:spTree>
    <p:extLst>
      <p:ext uri="{BB962C8B-B14F-4D97-AF65-F5344CB8AC3E}">
        <p14:creationId xmlns:p14="http://schemas.microsoft.com/office/powerpoint/2010/main" val="17732790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- 8.3.1 Testes baseados em requisitos </a:t>
            </a:r>
          </a:p>
        </p:txBody>
      </p:sp>
      <p:sp>
        <p:nvSpPr>
          <p:cNvPr id="3" name="Espaço Reservado para Conteúdo 2"/>
          <p:cNvSpPr>
            <a:spLocks noGrp="1"/>
          </p:cNvSpPr>
          <p:nvPr>
            <p:ph idx="1"/>
          </p:nvPr>
        </p:nvSpPr>
        <p:spPr>
          <a:xfrm>
            <a:off x="-77638" y="1509622"/>
            <a:ext cx="12191999" cy="5046453"/>
          </a:xfrm>
        </p:spPr>
        <p:txBody>
          <a:bodyPr>
            <a:normAutofit fontScale="92500" lnSpcReduction="10000"/>
          </a:bodyPr>
          <a:lstStyle/>
          <a:p>
            <a:pPr marL="0" indent="0">
              <a:buNone/>
            </a:pPr>
            <a:r>
              <a:rPr lang="pt-BR" dirty="0"/>
              <a:t>Um dos princípios gerais das boas práticas de engenharia de </a:t>
            </a:r>
            <a:r>
              <a:rPr lang="pt-BR" dirty="0" smtClean="0"/>
              <a:t>requisitos: </a:t>
            </a:r>
            <a:r>
              <a:rPr lang="pt-BR" dirty="0"/>
              <a:t>requisitos devem ser testáveis, isto é, o requisito deve ser escrito de modo que um teste possa ser projetado para ele. </a:t>
            </a:r>
            <a:endParaRPr lang="pt-BR" dirty="0" smtClean="0"/>
          </a:p>
          <a:p>
            <a:pPr marL="0" indent="0">
              <a:buNone/>
            </a:pPr>
            <a:r>
              <a:rPr lang="pt-BR" dirty="0" smtClean="0"/>
              <a:t>Um </a:t>
            </a:r>
            <a:r>
              <a:rPr lang="pt-BR" dirty="0"/>
              <a:t>testador </a:t>
            </a:r>
            <a:r>
              <a:rPr lang="pt-BR" dirty="0" smtClean="0"/>
              <a:t>verifica </a:t>
            </a:r>
            <a:r>
              <a:rPr lang="pt-BR" dirty="0"/>
              <a:t>se o requisito foi satisfeito. </a:t>
            </a:r>
            <a:endParaRPr lang="pt-BR" dirty="0" smtClean="0"/>
          </a:p>
          <a:p>
            <a:pPr marL="0" indent="0">
              <a:buNone/>
            </a:pPr>
            <a:r>
              <a:rPr lang="pt-BR" dirty="0" smtClean="0"/>
              <a:t>São </a:t>
            </a:r>
            <a:r>
              <a:rPr lang="pt-BR" dirty="0"/>
              <a:t>casos de </a:t>
            </a:r>
            <a:r>
              <a:rPr lang="pt-BR" dirty="0" smtClean="0"/>
              <a:t>teste considerando-se </a:t>
            </a:r>
            <a:r>
              <a:rPr lang="pt-BR" dirty="0"/>
              <a:t>cada requisito e deriva um conjunto de testes para eles. </a:t>
            </a:r>
            <a:endParaRPr lang="pt-BR" dirty="0" smtClean="0"/>
          </a:p>
          <a:p>
            <a:pPr marL="0" indent="0">
              <a:buNone/>
            </a:pPr>
            <a:r>
              <a:rPr lang="pt-BR" dirty="0" smtClean="0"/>
              <a:t>São </a:t>
            </a:r>
            <a:r>
              <a:rPr lang="pt-BR" dirty="0"/>
              <a:t>mais uma validação do que um teste de </a:t>
            </a:r>
            <a:r>
              <a:rPr lang="pt-BR" dirty="0" smtClean="0"/>
              <a:t>defeitos: demonstra a implementação adequada dos </a:t>
            </a:r>
            <a:r>
              <a:rPr lang="pt-BR" dirty="0"/>
              <a:t>requisitos. </a:t>
            </a:r>
            <a:endParaRPr lang="pt-BR" dirty="0" smtClean="0"/>
          </a:p>
          <a:p>
            <a:pPr marL="0" indent="0">
              <a:buNone/>
            </a:pPr>
            <a:r>
              <a:rPr lang="pt-BR" dirty="0" err="1" smtClean="0"/>
              <a:t>Ex</a:t>
            </a:r>
            <a:r>
              <a:rPr lang="pt-BR" dirty="0" smtClean="0"/>
              <a:t>: </a:t>
            </a:r>
            <a:r>
              <a:rPr lang="pt-BR" dirty="0"/>
              <a:t>relacionados ao MHC-PMS (apresentado no Capítulo 1), preocupados com a verificação de alergias a medicamentos: Se é sabido que um paciente é alérgico a algum medicamento específico, uma prescrição para esse medicamento deve resultar em uma mensagem de aviso a ser emitida ao usuário do sistema. Se um médico opta por ignorar um aviso de alergia, ele deve fornecer uma razão pela qual esse aviso foi ignorado.</a:t>
            </a:r>
            <a:endParaRPr lang="pt-BR" dirty="0" smtClean="0"/>
          </a:p>
        </p:txBody>
      </p:sp>
    </p:spTree>
    <p:extLst>
      <p:ext uri="{BB962C8B-B14F-4D97-AF65-F5344CB8AC3E}">
        <p14:creationId xmlns:p14="http://schemas.microsoft.com/office/powerpoint/2010/main" val="19712414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- 8.3.1 Testes baseados em requisitos </a:t>
            </a:r>
          </a:p>
        </p:txBody>
      </p:sp>
      <p:sp>
        <p:nvSpPr>
          <p:cNvPr id="3" name="Espaço Reservado para Conteúdo 2"/>
          <p:cNvSpPr>
            <a:spLocks noGrp="1"/>
          </p:cNvSpPr>
          <p:nvPr>
            <p:ph idx="1"/>
          </p:nvPr>
        </p:nvSpPr>
        <p:spPr>
          <a:xfrm>
            <a:off x="-77638" y="1509622"/>
            <a:ext cx="12191999" cy="5046453"/>
          </a:xfrm>
        </p:spPr>
        <p:txBody>
          <a:bodyPr>
            <a:normAutofit fontScale="92500" lnSpcReduction="20000"/>
          </a:bodyPr>
          <a:lstStyle/>
          <a:p>
            <a:pPr marL="0" indent="0">
              <a:buNone/>
            </a:pPr>
            <a:r>
              <a:rPr lang="pt-BR" dirty="0"/>
              <a:t>Para verificar se </a:t>
            </a:r>
            <a:r>
              <a:rPr lang="pt-BR" dirty="0" smtClean="0"/>
              <a:t>os </a:t>
            </a:r>
            <a:r>
              <a:rPr lang="pt-BR" dirty="0"/>
              <a:t>requisitos foram satisfeitos, pode ser necessário desenvolver vários testes relacionados: </a:t>
            </a:r>
            <a:endParaRPr lang="pt-BR" dirty="0" smtClean="0"/>
          </a:p>
          <a:p>
            <a:pPr marL="514350" indent="-514350">
              <a:buAutoNum type="arabicPeriod"/>
            </a:pPr>
            <a:r>
              <a:rPr lang="pt-BR" dirty="0" smtClean="0"/>
              <a:t>Defina </a:t>
            </a:r>
            <a:r>
              <a:rPr lang="pt-BR" dirty="0"/>
              <a:t>um registro de paciente sem alergias conhecidas. Prescreva medicação para alergias que são </a:t>
            </a:r>
            <a:r>
              <a:rPr lang="pt-BR" dirty="0" smtClean="0"/>
              <a:t>conhecidas</a:t>
            </a:r>
            <a:r>
              <a:rPr lang="pt-BR" dirty="0"/>
              <a:t>. Verifique se uma mensagem de alerta não é emitida pelo sistema. </a:t>
            </a:r>
            <a:endParaRPr lang="pt-BR" dirty="0" smtClean="0"/>
          </a:p>
          <a:p>
            <a:pPr marL="514350" indent="-514350">
              <a:buAutoNum type="arabicPeriod"/>
            </a:pPr>
            <a:r>
              <a:rPr lang="pt-BR" dirty="0" smtClean="0"/>
              <a:t>Defina </a:t>
            </a:r>
            <a:r>
              <a:rPr lang="pt-BR" dirty="0"/>
              <a:t>um registro de paciente com alergia. Prescreva a medicação à qual o paciente é alérgico e verifique se o aviso é emitido pelo sistema. </a:t>
            </a:r>
            <a:endParaRPr lang="pt-BR" dirty="0" smtClean="0"/>
          </a:p>
          <a:p>
            <a:pPr marL="514350" indent="-514350">
              <a:buAutoNum type="arabicPeriod"/>
            </a:pPr>
            <a:r>
              <a:rPr lang="pt-BR" dirty="0" smtClean="0"/>
              <a:t>Defina </a:t>
            </a:r>
            <a:r>
              <a:rPr lang="pt-BR" dirty="0"/>
              <a:t>um registro de paciente no qual se registram alergias a dois ou mais medicamentos. Prescreva ambos os medicamentos separadamente e verifique se o aviso correto para cada um é emitido. </a:t>
            </a:r>
            <a:endParaRPr lang="pt-BR" dirty="0" smtClean="0"/>
          </a:p>
          <a:p>
            <a:pPr marL="514350" indent="-514350">
              <a:buAutoNum type="arabicPeriod"/>
            </a:pPr>
            <a:r>
              <a:rPr lang="pt-BR" dirty="0" smtClean="0"/>
              <a:t>Prescreva </a:t>
            </a:r>
            <a:r>
              <a:rPr lang="pt-BR" dirty="0"/>
              <a:t>dois medicamentos a que o paciente é alérgico. Verifique se os dois avisos são emitidos corretamente. </a:t>
            </a:r>
            <a:endParaRPr lang="pt-BR" dirty="0" smtClean="0"/>
          </a:p>
          <a:p>
            <a:pPr marL="514350" indent="-514350">
              <a:buAutoNum type="arabicPeriod"/>
            </a:pPr>
            <a:r>
              <a:rPr lang="pt-BR" dirty="0" smtClean="0"/>
              <a:t>Prescreva </a:t>
            </a:r>
            <a:r>
              <a:rPr lang="pt-BR" dirty="0"/>
              <a:t>um medicamento que emita um aviso e ignore esse aviso. Verifique se o sistema exige que o usuário forneça informações que expliquem por que o aviso foi ignorado</a:t>
            </a:r>
            <a:endParaRPr lang="pt-BR" dirty="0" smtClean="0"/>
          </a:p>
        </p:txBody>
      </p:sp>
    </p:spTree>
    <p:extLst>
      <p:ext uri="{BB962C8B-B14F-4D97-AF65-F5344CB8AC3E}">
        <p14:creationId xmlns:p14="http://schemas.microsoft.com/office/powerpoint/2010/main" val="26757583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- 8.3.2 Testes de cenário </a:t>
            </a:r>
          </a:p>
        </p:txBody>
      </p:sp>
      <p:sp>
        <p:nvSpPr>
          <p:cNvPr id="3" name="Espaço Reservado para Conteúdo 2"/>
          <p:cNvSpPr>
            <a:spLocks noGrp="1"/>
          </p:cNvSpPr>
          <p:nvPr>
            <p:ph idx="1"/>
          </p:nvPr>
        </p:nvSpPr>
        <p:spPr>
          <a:xfrm>
            <a:off x="-77638" y="1509622"/>
            <a:ext cx="12191999" cy="5046453"/>
          </a:xfrm>
        </p:spPr>
        <p:txBody>
          <a:bodyPr>
            <a:normAutofit fontScale="92500" lnSpcReduction="10000"/>
          </a:bodyPr>
          <a:lstStyle/>
          <a:p>
            <a:pPr marL="0" indent="0">
              <a:buNone/>
            </a:pPr>
            <a:r>
              <a:rPr lang="pt-BR" dirty="0"/>
              <a:t>A</a:t>
            </a:r>
            <a:r>
              <a:rPr lang="pt-BR" dirty="0" smtClean="0"/>
              <a:t>bordagem </a:t>
            </a:r>
            <a:r>
              <a:rPr lang="pt-BR" dirty="0"/>
              <a:t>de teste de release em que </a:t>
            </a:r>
            <a:r>
              <a:rPr lang="pt-BR" dirty="0" smtClean="0"/>
              <a:t>se imaginam </a:t>
            </a:r>
            <a:r>
              <a:rPr lang="pt-BR" dirty="0"/>
              <a:t>cenários típicos de uso e os usa para desenvolver casos de teste para o sistema. </a:t>
            </a:r>
            <a:endParaRPr lang="pt-BR" dirty="0" smtClean="0"/>
          </a:p>
          <a:p>
            <a:pPr marL="0" indent="0">
              <a:buNone/>
            </a:pPr>
            <a:r>
              <a:rPr lang="pt-BR" dirty="0" smtClean="0"/>
              <a:t>Cenário: </a:t>
            </a:r>
            <a:r>
              <a:rPr lang="pt-BR" dirty="0"/>
              <a:t>estória que descreve uma maneira de usar o sistema. D</a:t>
            </a:r>
            <a:r>
              <a:rPr lang="pt-BR" dirty="0" smtClean="0"/>
              <a:t>evem </a:t>
            </a:r>
            <a:r>
              <a:rPr lang="pt-BR" dirty="0"/>
              <a:t>ser realistas, e usuários reais do sistema devem ser capazes de se relacionar com eles. </a:t>
            </a:r>
            <a:endParaRPr lang="pt-BR" dirty="0" smtClean="0"/>
          </a:p>
          <a:p>
            <a:pPr marL="0" indent="0">
              <a:buNone/>
            </a:pPr>
            <a:r>
              <a:rPr lang="pt-BR" dirty="0"/>
              <a:t>C</a:t>
            </a:r>
            <a:r>
              <a:rPr lang="pt-BR" dirty="0" smtClean="0"/>
              <a:t>enários na </a:t>
            </a:r>
            <a:r>
              <a:rPr lang="pt-BR" dirty="0"/>
              <a:t>engenharia de </a:t>
            </a:r>
            <a:r>
              <a:rPr lang="pt-BR" dirty="0" smtClean="0"/>
              <a:t>requisitos facilita ao </a:t>
            </a:r>
            <a:r>
              <a:rPr lang="pt-BR" dirty="0"/>
              <a:t>reusá-los </a:t>
            </a:r>
            <a:r>
              <a:rPr lang="pt-BR" dirty="0" smtClean="0"/>
              <a:t>nos testes de </a:t>
            </a:r>
            <a:r>
              <a:rPr lang="pt-BR" dirty="0"/>
              <a:t>cenários. </a:t>
            </a:r>
            <a:endParaRPr lang="pt-BR" dirty="0" smtClean="0"/>
          </a:p>
          <a:p>
            <a:pPr marL="0" indent="0">
              <a:buNone/>
            </a:pPr>
            <a:r>
              <a:rPr lang="pt-BR" dirty="0" err="1"/>
              <a:t>Kaner</a:t>
            </a:r>
            <a:r>
              <a:rPr lang="pt-BR" dirty="0"/>
              <a:t> (2003</a:t>
            </a:r>
            <a:r>
              <a:rPr lang="pt-BR" dirty="0" smtClean="0"/>
              <a:t>): </a:t>
            </a:r>
            <a:r>
              <a:rPr lang="pt-BR" dirty="0"/>
              <a:t>teste de cenário deve ser uma estória narrativa crível e bastante </a:t>
            </a:r>
            <a:r>
              <a:rPr lang="pt-BR" dirty="0" smtClean="0"/>
              <a:t>complexa</a:t>
            </a:r>
          </a:p>
          <a:p>
            <a:pPr marL="0" indent="0">
              <a:buNone/>
            </a:pPr>
            <a:r>
              <a:rPr lang="pt-BR" dirty="0"/>
              <a:t>Deve motivar os </a:t>
            </a:r>
            <a:r>
              <a:rPr lang="pt-BR" dirty="0" err="1" smtClean="0"/>
              <a:t>stakeholders</a:t>
            </a:r>
            <a:r>
              <a:rPr lang="pt-BR" dirty="0" smtClean="0"/>
              <a:t> a se relacionarem </a:t>
            </a:r>
            <a:r>
              <a:rPr lang="pt-BR" dirty="0"/>
              <a:t>com o cenário e acreditar que é importante que o sistema passe no </a:t>
            </a:r>
            <a:r>
              <a:rPr lang="pt-BR" dirty="0" smtClean="0"/>
              <a:t>teste</a:t>
            </a:r>
          </a:p>
          <a:p>
            <a:pPr marL="0" indent="0">
              <a:buNone/>
            </a:pPr>
            <a:r>
              <a:rPr lang="pt-BR" dirty="0" err="1"/>
              <a:t>Kaner</a:t>
            </a:r>
            <a:r>
              <a:rPr lang="pt-BR" dirty="0"/>
              <a:t>: fácil avaliação. </a:t>
            </a:r>
          </a:p>
          <a:p>
            <a:pPr marL="0" indent="0">
              <a:buNone/>
            </a:pPr>
            <a:r>
              <a:rPr lang="pt-BR" dirty="0"/>
              <a:t>Se houver problemas com o sistema, a equipe de teste de release deve reconhecê-los. </a:t>
            </a:r>
          </a:p>
          <a:p>
            <a:pPr marL="0" indent="0">
              <a:buNone/>
            </a:pPr>
            <a:r>
              <a:rPr lang="pt-BR" dirty="0" err="1"/>
              <a:t>Ex</a:t>
            </a:r>
            <a:r>
              <a:rPr lang="pt-BR" dirty="0"/>
              <a:t>: possível cenário a partir do MHC-PMS, o Quadro 8.1 descreve uma maneira de uso do sistema em uma visita domiciliar. </a:t>
            </a:r>
          </a:p>
          <a:p>
            <a:pPr marL="0" indent="0">
              <a:buNone/>
            </a:pPr>
            <a:endParaRPr lang="pt-BR" dirty="0" smtClean="0"/>
          </a:p>
        </p:txBody>
      </p:sp>
    </p:spTree>
    <p:extLst>
      <p:ext uri="{BB962C8B-B14F-4D97-AF65-F5344CB8AC3E}">
        <p14:creationId xmlns:p14="http://schemas.microsoft.com/office/powerpoint/2010/main" val="39611793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- 8.3.2 Testes de cenário </a:t>
            </a:r>
          </a:p>
        </p:txBody>
      </p:sp>
      <p:sp>
        <p:nvSpPr>
          <p:cNvPr id="3" name="Espaço Reservado para Conteúdo 2"/>
          <p:cNvSpPr>
            <a:spLocks noGrp="1"/>
          </p:cNvSpPr>
          <p:nvPr>
            <p:ph idx="1"/>
          </p:nvPr>
        </p:nvSpPr>
        <p:spPr>
          <a:xfrm>
            <a:off x="-77638" y="1216326"/>
            <a:ext cx="12191999" cy="5641674"/>
          </a:xfrm>
        </p:spPr>
        <p:txBody>
          <a:bodyPr>
            <a:normAutofit fontScale="92500" lnSpcReduction="20000"/>
          </a:bodyPr>
          <a:lstStyle/>
          <a:p>
            <a:pPr marL="0" indent="0">
              <a:buNone/>
            </a:pPr>
            <a:r>
              <a:rPr lang="pt-BR" dirty="0"/>
              <a:t>Quadro 8.1 </a:t>
            </a:r>
            <a:r>
              <a:rPr lang="pt-BR" dirty="0" smtClean="0"/>
              <a:t>Um </a:t>
            </a:r>
            <a:r>
              <a:rPr lang="pt-BR" dirty="0"/>
              <a:t>cenário de uso para o MHC-PMS </a:t>
            </a:r>
            <a:endParaRPr lang="pt-BR" dirty="0" smtClean="0"/>
          </a:p>
          <a:p>
            <a:pPr marL="0" indent="0">
              <a:buNone/>
            </a:pPr>
            <a:endParaRPr lang="pt-BR" dirty="0"/>
          </a:p>
          <a:p>
            <a:pPr marL="0" indent="0" algn="just">
              <a:buNone/>
            </a:pPr>
            <a:r>
              <a:rPr lang="pt-BR" dirty="0" smtClean="0"/>
              <a:t>Kate </a:t>
            </a:r>
            <a:r>
              <a:rPr lang="pt-BR" dirty="0"/>
              <a:t>é uma enfermeira especialista em saúde mental. Uma de suas responsabilidades é visitar os pacientes em casa para verificar a eficácia do tratamento e se os pacientes estão sofrendo com os efeitos colaterais da medicação. Em um dia de visitas, Kate faz o </a:t>
            </a:r>
            <a:r>
              <a:rPr lang="pt-BR" dirty="0" err="1"/>
              <a:t>login</a:t>
            </a:r>
            <a:r>
              <a:rPr lang="pt-BR" dirty="0"/>
              <a:t> no MHC-PMS e usa-o para imprimir sua agenda de visitas domiciliares para aquele dia, juntamente com o resumo das informações sobre os pacientes a serem visitados. Ela pede que os registros desses pacientes sejam transferidos para seu notebook. É solicitada a palavra-chave para criptografar os registros no notebook. Um dos pacientes que Kate visita é Jim, que está sendo tratado com medicação para depressão. Jim acha que a medicação está ajudando, mas acredita que tem o efeito colateral de mantê-lo acordado durante a noite. Kate vai consultar o registro de Jim; sua frase-chave é solicitada para decifrar o registro. Ela verifica o medicamento prescrito e consulta seus efeitos colaterais. Insônia é um efeito colateral conhecido. Ela faz uma observação sobre o problema no registro de Jim e sugere que ele visite a clínica para ter sua medicação alterada. Ele concorda. Assim, Kate faz um </a:t>
            </a:r>
            <a:r>
              <a:rPr lang="pt-BR" dirty="0" err="1"/>
              <a:t>prompt</a:t>
            </a:r>
            <a:r>
              <a:rPr lang="pt-BR" dirty="0"/>
              <a:t> de entrar em contato com ele quando ela voltar à clínica, para que faça uma consulta com um médico. </a:t>
            </a:r>
            <a:endParaRPr lang="pt-BR" dirty="0" smtClean="0"/>
          </a:p>
        </p:txBody>
      </p:sp>
    </p:spTree>
    <p:extLst>
      <p:ext uri="{BB962C8B-B14F-4D97-AF65-F5344CB8AC3E}">
        <p14:creationId xmlns:p14="http://schemas.microsoft.com/office/powerpoint/2010/main" val="12048981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- 8.3.2 Testes de cenário </a:t>
            </a:r>
          </a:p>
        </p:txBody>
      </p:sp>
      <p:sp>
        <p:nvSpPr>
          <p:cNvPr id="3" name="Espaço Reservado para Conteúdo 2"/>
          <p:cNvSpPr>
            <a:spLocks noGrp="1"/>
          </p:cNvSpPr>
          <p:nvPr>
            <p:ph idx="1"/>
          </p:nvPr>
        </p:nvSpPr>
        <p:spPr>
          <a:xfrm>
            <a:off x="-77638" y="1216326"/>
            <a:ext cx="12191999" cy="5641674"/>
          </a:xfrm>
        </p:spPr>
        <p:txBody>
          <a:bodyPr>
            <a:normAutofit fontScale="92500" lnSpcReduction="20000"/>
          </a:bodyPr>
          <a:lstStyle/>
          <a:p>
            <a:pPr marL="0" indent="0">
              <a:buNone/>
            </a:pPr>
            <a:r>
              <a:rPr lang="pt-BR" dirty="0"/>
              <a:t>Quadro 8.1 </a:t>
            </a:r>
            <a:r>
              <a:rPr lang="pt-BR" dirty="0" smtClean="0"/>
              <a:t>Um </a:t>
            </a:r>
            <a:r>
              <a:rPr lang="pt-BR" dirty="0"/>
              <a:t>cenário de uso para o MHC-PMS </a:t>
            </a:r>
            <a:endParaRPr lang="pt-BR" dirty="0" smtClean="0"/>
          </a:p>
          <a:p>
            <a:pPr marL="0" indent="0">
              <a:buNone/>
            </a:pPr>
            <a:endParaRPr lang="pt-BR" dirty="0"/>
          </a:p>
          <a:p>
            <a:pPr marL="0" indent="0" algn="just">
              <a:buNone/>
            </a:pPr>
            <a:r>
              <a:rPr lang="pt-BR" dirty="0" smtClean="0"/>
              <a:t>Ela </a:t>
            </a:r>
            <a:r>
              <a:rPr lang="pt-BR" dirty="0"/>
              <a:t>termina a consulta e o sistema criptografa novamente o registro de Jim. Depois, terminadas suas consultas, Kate retorna à clínica e transfere os registros dos pacientes visitados para o banco de dados. O sistema gera para Kate uma lista de pacientes que ela precisa contatar para obter informações de acompanhamento e fazer agendamentos de consultas. Kate é uma enfermeira especialista em saúde mental. Uma de suas responsabilidades é visitar os pacientes em casa para verificar a eficácia do tratamento e se os pacientes estão sofrendo com os efeitos colaterais da medicação. Em um dia de visitas, Kate faz o </a:t>
            </a:r>
            <a:r>
              <a:rPr lang="pt-BR" dirty="0" err="1"/>
              <a:t>login</a:t>
            </a:r>
            <a:r>
              <a:rPr lang="pt-BR" dirty="0"/>
              <a:t> no MHC-PMS e usa-o para imprimir sua agenda de visitas domiciliares para aquele dia, juntamente com o resumo das informações sobre os pacientes a serem visitados. Ela pede que os registros desses pacientes sejam transferidos para seu notebook. É solicitada a palavra-chave para criptografar os registros no notebook. Um dos pacientes que Kate visita é Jim, que está sendo tratado com medicação para depressão. Jim acha que a medicação está ajudando, mas acredita que tem o efeito colateral de mantê-lo acordado durante a noite. Kate vai consultar o registro de Jim; sua frase-chave é solicitada para decifrar o registro. Ela verifica o medicamento prescrito e consulta seus efeitos colaterais. Insônia é um efeito colateral conhecido. </a:t>
            </a:r>
            <a:endParaRPr lang="pt-BR" dirty="0" smtClean="0"/>
          </a:p>
        </p:txBody>
      </p:sp>
    </p:spTree>
    <p:extLst>
      <p:ext uri="{BB962C8B-B14F-4D97-AF65-F5344CB8AC3E}">
        <p14:creationId xmlns:p14="http://schemas.microsoft.com/office/powerpoint/2010/main" val="16529527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- 8.3.2 Testes de cenário </a:t>
            </a:r>
          </a:p>
        </p:txBody>
      </p:sp>
      <p:sp>
        <p:nvSpPr>
          <p:cNvPr id="3" name="Espaço Reservado para Conteúdo 2"/>
          <p:cNvSpPr>
            <a:spLocks noGrp="1"/>
          </p:cNvSpPr>
          <p:nvPr>
            <p:ph idx="1"/>
          </p:nvPr>
        </p:nvSpPr>
        <p:spPr>
          <a:xfrm>
            <a:off x="-77638" y="1216326"/>
            <a:ext cx="12191999" cy="5641674"/>
          </a:xfrm>
        </p:spPr>
        <p:txBody>
          <a:bodyPr>
            <a:normAutofit fontScale="92500" lnSpcReduction="10000"/>
          </a:bodyPr>
          <a:lstStyle/>
          <a:p>
            <a:pPr marL="0" indent="0">
              <a:buNone/>
            </a:pPr>
            <a:r>
              <a:rPr lang="pt-BR" dirty="0"/>
              <a:t>Quadro 8.1 </a:t>
            </a:r>
            <a:r>
              <a:rPr lang="pt-BR" dirty="0" smtClean="0"/>
              <a:t>Um </a:t>
            </a:r>
            <a:r>
              <a:rPr lang="pt-BR" dirty="0"/>
              <a:t>cenário de uso para o MHC-PMS </a:t>
            </a:r>
            <a:endParaRPr lang="pt-BR" dirty="0" smtClean="0"/>
          </a:p>
          <a:p>
            <a:pPr marL="0" indent="0">
              <a:buNone/>
            </a:pPr>
            <a:endParaRPr lang="pt-BR" dirty="0"/>
          </a:p>
          <a:p>
            <a:pPr marL="0" indent="0" algn="just">
              <a:buNone/>
            </a:pPr>
            <a:r>
              <a:rPr lang="pt-BR" dirty="0"/>
              <a:t>Ela faz uma observação sobre o problema no registro de Jim e sugere que ele visite a clínica para ter sua medicação alterada. Ele concorda. Assim, Kate faz um </a:t>
            </a:r>
            <a:r>
              <a:rPr lang="pt-BR" dirty="0" err="1"/>
              <a:t>prompt</a:t>
            </a:r>
            <a:r>
              <a:rPr lang="pt-BR" dirty="0"/>
              <a:t> de entrar em contato com ele quando ela voltar à clínica, para que faça uma consulta com um médico. Ela termina a consulta e o sistema criptografa novamente o registro de Jim. Depois, terminadas suas consultas, Kate retorna à clínica e transfere os registros dos pacientes visitados para o banco de dados. O sistema gera para Kate uma lista de pacientes que ela precisa contatar para obter informações de acompanhamento e fazer agendamentos de consultas. Kate é uma enfermeira especialista em saúde mental. Uma de suas responsabilidades é visitar os pacientes em casa para verificar a eficácia do tratamento e se os pacientes estão sofrendo com os efeitos colaterais da medicação. Em um dia de visitas, Kate faz o </a:t>
            </a:r>
            <a:r>
              <a:rPr lang="pt-BR" dirty="0" err="1"/>
              <a:t>login</a:t>
            </a:r>
            <a:r>
              <a:rPr lang="pt-BR" dirty="0"/>
              <a:t> no MHC-PMS e usa-o para imprimir sua agenda de visitas domiciliares para aquele dia, juntamente com o resumo das informações sobre os pacientes a serem visitados. </a:t>
            </a:r>
          </a:p>
        </p:txBody>
      </p:sp>
    </p:spTree>
    <p:extLst>
      <p:ext uri="{BB962C8B-B14F-4D97-AF65-F5344CB8AC3E}">
        <p14:creationId xmlns:p14="http://schemas.microsoft.com/office/powerpoint/2010/main" val="31322591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- 8.3.2 Testes de cenário </a:t>
            </a:r>
          </a:p>
        </p:txBody>
      </p:sp>
      <p:sp>
        <p:nvSpPr>
          <p:cNvPr id="3" name="Espaço Reservado para Conteúdo 2"/>
          <p:cNvSpPr>
            <a:spLocks noGrp="1"/>
          </p:cNvSpPr>
          <p:nvPr>
            <p:ph idx="1"/>
          </p:nvPr>
        </p:nvSpPr>
        <p:spPr>
          <a:xfrm>
            <a:off x="-77638" y="1216326"/>
            <a:ext cx="12191999" cy="5641674"/>
          </a:xfrm>
        </p:spPr>
        <p:txBody>
          <a:bodyPr>
            <a:normAutofit fontScale="92500" lnSpcReduction="10000"/>
          </a:bodyPr>
          <a:lstStyle/>
          <a:p>
            <a:pPr marL="0" indent="0">
              <a:buNone/>
            </a:pPr>
            <a:r>
              <a:rPr lang="pt-BR" dirty="0"/>
              <a:t>Quadro 8.1 </a:t>
            </a:r>
            <a:r>
              <a:rPr lang="pt-BR" dirty="0" smtClean="0"/>
              <a:t>Um </a:t>
            </a:r>
            <a:r>
              <a:rPr lang="pt-BR" dirty="0"/>
              <a:t>cenário de uso para o MHC-PMS </a:t>
            </a:r>
            <a:endParaRPr lang="pt-BR" dirty="0" smtClean="0"/>
          </a:p>
          <a:p>
            <a:pPr marL="0" indent="0">
              <a:buNone/>
            </a:pPr>
            <a:endParaRPr lang="pt-BR" dirty="0"/>
          </a:p>
          <a:p>
            <a:pPr marL="0" indent="0" algn="just">
              <a:buNone/>
            </a:pPr>
            <a:r>
              <a:rPr lang="pt-BR" dirty="0" smtClean="0"/>
              <a:t>Ela </a:t>
            </a:r>
            <a:r>
              <a:rPr lang="pt-BR" dirty="0"/>
              <a:t>pede que os registros desses pacientes sejam transferidos para seu notebook. É solicitada a palavra-chave para criptografar os registros no notebook. Um dos pacientes que Kate visita é Jim, que está sendo tratado com medicação para depressão. Jim acha que a medicação está ajudando, mas acredita que tem o efeito colateral de mantê-lo acordado durante a noite. Kate vai consultar o registro de Jim; sua frase-chave é solicitada para decifrar o registro. Ela verifica o medicamento prescrito e consulta seus efeitos colaterais. Insônia é um efeito colateral conhecido. Ela faz uma observação sobre o problema no registro de Jim e sugere que ele visite a clínica para ter sua medicação alterada. Ele concorda. Assim, Kate faz um </a:t>
            </a:r>
            <a:r>
              <a:rPr lang="pt-BR" dirty="0" err="1"/>
              <a:t>prompt</a:t>
            </a:r>
            <a:r>
              <a:rPr lang="pt-BR" dirty="0"/>
              <a:t> de entrar em contato com ele quando ela voltar à clínica, para que faça uma consulta com um médico. Ela termina a consulta e o sistema criptografa novamente o registro de Jim. Depois, terminadas suas consultas, Kate retorna à clínica e transfere os registros dos pacientes visitados para o banco de dados. O sistema gera para Kate uma lista de pacientes que ela precisa contatar para obter informações de acompanhamento e fazer agendamentos de consultas. </a:t>
            </a:r>
          </a:p>
        </p:txBody>
      </p:sp>
    </p:spTree>
    <p:extLst>
      <p:ext uri="{BB962C8B-B14F-4D97-AF65-F5344CB8AC3E}">
        <p14:creationId xmlns:p14="http://schemas.microsoft.com/office/powerpoint/2010/main" val="40173579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- 8.3.2 Testes de cenário </a:t>
            </a:r>
          </a:p>
        </p:txBody>
      </p:sp>
      <p:sp>
        <p:nvSpPr>
          <p:cNvPr id="3" name="Espaço Reservado para Conteúdo 2"/>
          <p:cNvSpPr>
            <a:spLocks noGrp="1"/>
          </p:cNvSpPr>
          <p:nvPr>
            <p:ph idx="1"/>
          </p:nvPr>
        </p:nvSpPr>
        <p:spPr>
          <a:xfrm>
            <a:off x="-77638" y="1509622"/>
            <a:ext cx="12191999" cy="5046453"/>
          </a:xfrm>
        </p:spPr>
        <p:txBody>
          <a:bodyPr>
            <a:normAutofit lnSpcReduction="10000"/>
          </a:bodyPr>
          <a:lstStyle/>
          <a:p>
            <a:pPr marL="0" indent="0">
              <a:buNone/>
            </a:pPr>
            <a:r>
              <a:rPr lang="pt-BR" dirty="0" smtClean="0"/>
              <a:t>O </a:t>
            </a:r>
            <a:r>
              <a:rPr lang="pt-BR" dirty="0"/>
              <a:t>cenário testa uma série de características do MHC-PMS: </a:t>
            </a:r>
            <a:endParaRPr lang="pt-BR" dirty="0" smtClean="0"/>
          </a:p>
          <a:p>
            <a:pPr marL="514350" indent="-514350">
              <a:buAutoNum type="arabicPeriod"/>
            </a:pPr>
            <a:r>
              <a:rPr lang="pt-BR" dirty="0" smtClean="0"/>
              <a:t>Autenticação </a:t>
            </a:r>
            <a:r>
              <a:rPr lang="pt-BR" dirty="0"/>
              <a:t>por </a:t>
            </a:r>
            <a:r>
              <a:rPr lang="pt-BR" dirty="0" err="1"/>
              <a:t>logon</a:t>
            </a:r>
            <a:r>
              <a:rPr lang="pt-BR" dirty="0"/>
              <a:t> no sistema. </a:t>
            </a:r>
            <a:endParaRPr lang="pt-BR" dirty="0" smtClean="0"/>
          </a:p>
          <a:p>
            <a:pPr marL="514350" indent="-514350">
              <a:buAutoNum type="arabicPeriod"/>
            </a:pPr>
            <a:r>
              <a:rPr lang="pt-BR" dirty="0" smtClean="0"/>
              <a:t>Download </a:t>
            </a:r>
            <a:r>
              <a:rPr lang="pt-BR" dirty="0"/>
              <a:t>e upload de determinados registros do paciente em um computador portátil. </a:t>
            </a:r>
            <a:endParaRPr lang="pt-BR" dirty="0" smtClean="0"/>
          </a:p>
          <a:p>
            <a:pPr marL="514350" indent="-514350">
              <a:buAutoNum type="arabicPeriod"/>
            </a:pPr>
            <a:r>
              <a:rPr lang="pt-BR" dirty="0" smtClean="0"/>
              <a:t>Programação </a:t>
            </a:r>
            <a:r>
              <a:rPr lang="pt-BR" dirty="0"/>
              <a:t>de visitas domiciliares. </a:t>
            </a:r>
            <a:endParaRPr lang="pt-BR" dirty="0" smtClean="0"/>
          </a:p>
          <a:p>
            <a:pPr marL="514350" indent="-514350">
              <a:buAutoNum type="arabicPeriod"/>
            </a:pPr>
            <a:r>
              <a:rPr lang="pt-BR" dirty="0" smtClean="0"/>
              <a:t>Criptografia </a:t>
            </a:r>
            <a:r>
              <a:rPr lang="pt-BR" dirty="0"/>
              <a:t>e </a:t>
            </a:r>
            <a:r>
              <a:rPr lang="pt-BR" dirty="0" err="1"/>
              <a:t>descriptografia</a:t>
            </a:r>
            <a:r>
              <a:rPr lang="pt-BR" dirty="0"/>
              <a:t> de registros de pacientes em um dispositivo móvel. </a:t>
            </a:r>
            <a:endParaRPr lang="pt-BR" dirty="0" smtClean="0"/>
          </a:p>
          <a:p>
            <a:pPr marL="514350" indent="-514350">
              <a:buAutoNum type="arabicPeriod"/>
            </a:pPr>
            <a:r>
              <a:rPr lang="pt-BR" dirty="0" smtClean="0"/>
              <a:t>Recuperação </a:t>
            </a:r>
            <a:r>
              <a:rPr lang="pt-BR" dirty="0"/>
              <a:t>e modificação de registros. </a:t>
            </a:r>
            <a:endParaRPr lang="pt-BR" dirty="0" smtClean="0"/>
          </a:p>
          <a:p>
            <a:pPr marL="514350" indent="-514350">
              <a:buAutoNum type="arabicPeriod"/>
            </a:pPr>
            <a:r>
              <a:rPr lang="pt-BR" dirty="0" smtClean="0"/>
              <a:t>Links </a:t>
            </a:r>
            <a:r>
              <a:rPr lang="pt-BR" dirty="0"/>
              <a:t>com o banco de dados dos medicamentos, que mantém informações sobre os efeitos colaterais. </a:t>
            </a:r>
            <a:endParaRPr lang="pt-BR" dirty="0" smtClean="0"/>
          </a:p>
          <a:p>
            <a:pPr marL="514350" indent="-514350">
              <a:buAutoNum type="arabicPeriod"/>
            </a:pPr>
            <a:r>
              <a:rPr lang="pt-BR" dirty="0" smtClean="0"/>
              <a:t>O </a:t>
            </a:r>
            <a:r>
              <a:rPr lang="pt-BR" dirty="0"/>
              <a:t>sistema de aviso de chamada</a:t>
            </a:r>
            <a:endParaRPr lang="pt-BR" dirty="0" smtClean="0"/>
          </a:p>
        </p:txBody>
      </p:sp>
    </p:spTree>
    <p:extLst>
      <p:ext uri="{BB962C8B-B14F-4D97-AF65-F5344CB8AC3E}">
        <p14:creationId xmlns:p14="http://schemas.microsoft.com/office/powerpoint/2010/main" val="17895300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- 8.3.2 Testes de cenário </a:t>
            </a:r>
          </a:p>
        </p:txBody>
      </p:sp>
      <p:sp>
        <p:nvSpPr>
          <p:cNvPr id="3" name="Espaço Reservado para Conteúdo 2"/>
          <p:cNvSpPr>
            <a:spLocks noGrp="1"/>
          </p:cNvSpPr>
          <p:nvPr>
            <p:ph idx="1"/>
          </p:nvPr>
        </p:nvSpPr>
        <p:spPr>
          <a:xfrm>
            <a:off x="-77638" y="1509622"/>
            <a:ext cx="12191999" cy="5046453"/>
          </a:xfrm>
        </p:spPr>
        <p:txBody>
          <a:bodyPr>
            <a:normAutofit lnSpcReduction="10000"/>
          </a:bodyPr>
          <a:lstStyle/>
          <a:p>
            <a:pPr marL="0" indent="0" algn="just">
              <a:buNone/>
            </a:pPr>
            <a:r>
              <a:rPr lang="pt-BR" dirty="0" smtClean="0"/>
              <a:t>O </a:t>
            </a:r>
            <a:r>
              <a:rPr lang="pt-BR" dirty="0"/>
              <a:t>testador de </a:t>
            </a:r>
            <a:r>
              <a:rPr lang="pt-BR" dirty="0" smtClean="0"/>
              <a:t>release deve percorrer </a:t>
            </a:r>
            <a:r>
              <a:rPr lang="pt-BR" dirty="0"/>
              <a:t>esse cenário no papel de Kate, observando como o sistema se comporta em resposta a entradas diferentes. Atuando no papel de Kate</a:t>
            </a:r>
            <a:r>
              <a:rPr lang="pt-BR" dirty="0" smtClean="0"/>
              <a:t>, podem-se </a:t>
            </a:r>
            <a:r>
              <a:rPr lang="pt-BR" dirty="0"/>
              <a:t>cometer erros deliberados, como introduzir a frase-chave errada para decodificar registros. Esse procedimento verifica a resposta do sistema aos erros. </a:t>
            </a:r>
            <a:endParaRPr lang="pt-BR" dirty="0" smtClean="0"/>
          </a:p>
          <a:p>
            <a:pPr marL="0" indent="0" algn="just">
              <a:buNone/>
            </a:pPr>
            <a:r>
              <a:rPr lang="pt-BR" dirty="0" smtClean="0"/>
              <a:t>Deve-se </a:t>
            </a:r>
            <a:r>
              <a:rPr lang="pt-BR" dirty="0"/>
              <a:t>anotar cuidadosamente quaisquer problemas que possam surgir, incluindo problemas de desempenho. Se um sistema é muito lento, a maneira como ele é usado será diferente. Por exemplo, se leva muito tempo para criptografar um registro, então os usuários que têm pouco tempo podem pular essa etapa. Se eles perderem seu notebook, uma pessoa não autorizada poderia visualizar os registros de pacientes. Ao usar uma abordagem baseada em cenários</a:t>
            </a:r>
            <a:r>
              <a:rPr lang="pt-BR" dirty="0" smtClean="0"/>
              <a:t>, </a:t>
            </a:r>
            <a:r>
              <a:rPr lang="pt-BR" dirty="0"/>
              <a:t>normalmente </a:t>
            </a:r>
            <a:r>
              <a:rPr lang="pt-BR" dirty="0" smtClean="0"/>
              <a:t>testam-se </a:t>
            </a:r>
            <a:r>
              <a:rPr lang="pt-BR" dirty="0"/>
              <a:t>vários requisitos dentro do mesmo </a:t>
            </a:r>
            <a:r>
              <a:rPr lang="pt-BR" dirty="0" smtClean="0"/>
              <a:t>cenário</a:t>
            </a:r>
            <a:r>
              <a:rPr lang="pt-BR" dirty="0"/>
              <a:t>. Assim, além de verificar os requisitos individuais, também está verificando quais combinações de requisitos não causam problemas.</a:t>
            </a:r>
            <a:endParaRPr lang="pt-BR" dirty="0" smtClean="0"/>
          </a:p>
        </p:txBody>
      </p:sp>
    </p:spTree>
    <p:extLst>
      <p:ext uri="{BB962C8B-B14F-4D97-AF65-F5344CB8AC3E}">
        <p14:creationId xmlns:p14="http://schemas.microsoft.com/office/powerpoint/2010/main" val="18168911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8.3.3 </a:t>
            </a:r>
            <a:r>
              <a:rPr lang="pt-BR" dirty="0"/>
              <a:t>Testes de </a:t>
            </a:r>
            <a:r>
              <a:rPr lang="pt-BR" dirty="0" smtClean="0"/>
              <a:t>Desempenho </a:t>
            </a:r>
            <a:endParaRPr lang="pt-BR" dirty="0"/>
          </a:p>
        </p:txBody>
      </p:sp>
      <p:sp>
        <p:nvSpPr>
          <p:cNvPr id="3" name="Espaço Reservado para Conteúdo 2"/>
          <p:cNvSpPr>
            <a:spLocks noGrp="1"/>
          </p:cNvSpPr>
          <p:nvPr>
            <p:ph idx="1"/>
          </p:nvPr>
        </p:nvSpPr>
        <p:spPr>
          <a:xfrm>
            <a:off x="-77638" y="1509622"/>
            <a:ext cx="12191999" cy="5046453"/>
          </a:xfrm>
        </p:spPr>
        <p:txBody>
          <a:bodyPr>
            <a:normAutofit fontScale="92500" lnSpcReduction="20000"/>
          </a:bodyPr>
          <a:lstStyle/>
          <a:p>
            <a:pPr marL="0" indent="0">
              <a:buNone/>
            </a:pPr>
            <a:r>
              <a:rPr lang="pt-BR" dirty="0"/>
              <a:t>S</a:t>
            </a:r>
            <a:r>
              <a:rPr lang="pt-BR" dirty="0" smtClean="0"/>
              <a:t>istema integrado: testar </a:t>
            </a:r>
            <a:r>
              <a:rPr lang="pt-BR" dirty="0"/>
              <a:t>para propriedades emergentes, como desempenho e confiabilidade. </a:t>
            </a:r>
            <a:endParaRPr lang="pt-BR" dirty="0" smtClean="0"/>
          </a:p>
          <a:p>
            <a:pPr marL="0" indent="0">
              <a:buNone/>
            </a:pPr>
            <a:r>
              <a:rPr lang="pt-BR" dirty="0"/>
              <a:t>T</a:t>
            </a:r>
            <a:r>
              <a:rPr lang="pt-BR" dirty="0" smtClean="0"/>
              <a:t>estes </a:t>
            </a:r>
            <a:r>
              <a:rPr lang="pt-BR" dirty="0"/>
              <a:t>de </a:t>
            </a:r>
            <a:r>
              <a:rPr lang="pt-BR" dirty="0" smtClean="0"/>
              <a:t>desempenho: projetados </a:t>
            </a:r>
            <a:r>
              <a:rPr lang="pt-BR" dirty="0"/>
              <a:t>para assegurar que o sistema possa processar a carga a que se destina. Isso normalmente envolve a execução de uma série de testes em que </a:t>
            </a:r>
            <a:r>
              <a:rPr lang="pt-BR" dirty="0" smtClean="0"/>
              <a:t>se aumenta </a:t>
            </a:r>
            <a:r>
              <a:rPr lang="pt-BR" dirty="0"/>
              <a:t>a carga até que o desempenho do sistema se torne inaceitável</a:t>
            </a:r>
            <a:r>
              <a:rPr lang="pt-BR" dirty="0" smtClean="0"/>
              <a:t>.</a:t>
            </a:r>
          </a:p>
          <a:p>
            <a:pPr marL="0" indent="0">
              <a:buNone/>
            </a:pPr>
            <a:r>
              <a:rPr lang="pt-BR" dirty="0" smtClean="0"/>
              <a:t> </a:t>
            </a:r>
            <a:r>
              <a:rPr lang="pt-BR" dirty="0"/>
              <a:t>Tal como acontece com outros tipos de testes, testes de desempenho estão interessados </a:t>
            </a:r>
            <a:r>
              <a:rPr lang="pt-BR" dirty="0" smtClean="0"/>
              <a:t>em demonstrar </a:t>
            </a:r>
            <a:r>
              <a:rPr lang="pt-BR" dirty="0"/>
              <a:t>que o sistema atende seus requisitos </a:t>
            </a:r>
            <a:r>
              <a:rPr lang="pt-BR" dirty="0" smtClean="0"/>
              <a:t>e </a:t>
            </a:r>
            <a:r>
              <a:rPr lang="pt-BR" dirty="0"/>
              <a:t>em descobrir problemas e defeitos do sistema. </a:t>
            </a:r>
            <a:endParaRPr lang="pt-BR" dirty="0" smtClean="0"/>
          </a:p>
          <a:p>
            <a:pPr marL="0" indent="0">
              <a:buNone/>
            </a:pPr>
            <a:r>
              <a:rPr lang="pt-BR" dirty="0" smtClean="0"/>
              <a:t>Para </a:t>
            </a:r>
            <a:r>
              <a:rPr lang="pt-BR" dirty="0"/>
              <a:t>testar se os requisitos de desempenho estão sendo alcançados, </a:t>
            </a:r>
            <a:r>
              <a:rPr lang="pt-BR" dirty="0" smtClean="0"/>
              <a:t>pode-se </a:t>
            </a:r>
            <a:r>
              <a:rPr lang="pt-BR" dirty="0"/>
              <a:t>ter de construir um perfil </a:t>
            </a:r>
            <a:r>
              <a:rPr lang="pt-BR" dirty="0" smtClean="0"/>
              <a:t>operacional (conjunto </a:t>
            </a:r>
            <a:r>
              <a:rPr lang="pt-BR" dirty="0"/>
              <a:t>de testes que refletem a mistura real de trabalho que será </a:t>
            </a:r>
            <a:r>
              <a:rPr lang="pt-BR" dirty="0" smtClean="0"/>
              <a:t>manipulado </a:t>
            </a:r>
            <a:r>
              <a:rPr lang="pt-BR" dirty="0"/>
              <a:t>pelo </a:t>
            </a:r>
            <a:r>
              <a:rPr lang="pt-BR" dirty="0" smtClean="0"/>
              <a:t>sistema). </a:t>
            </a:r>
          </a:p>
          <a:p>
            <a:pPr marL="0" indent="0">
              <a:buNone/>
            </a:pPr>
            <a:r>
              <a:rPr lang="pt-BR" dirty="0" smtClean="0"/>
              <a:t>Portanto</a:t>
            </a:r>
            <a:r>
              <a:rPr lang="pt-BR" dirty="0"/>
              <a:t>, se 90% das transações no sistema são do tipo A, 5% são do tipo B e o restante é dos tipos C, D e </a:t>
            </a:r>
            <a:r>
              <a:rPr lang="pt-BR" dirty="0" err="1"/>
              <a:t>E</a:t>
            </a:r>
            <a:r>
              <a:rPr lang="pt-BR" dirty="0"/>
              <a:t>, </a:t>
            </a:r>
            <a:r>
              <a:rPr lang="pt-BR" dirty="0" smtClean="0"/>
              <a:t>deve-se </a:t>
            </a:r>
            <a:r>
              <a:rPr lang="pt-BR" dirty="0"/>
              <a:t>projetar o perfil operacional de modo que a grande maioria dos testes seja do tipo A. Caso </a:t>
            </a:r>
            <a:r>
              <a:rPr lang="pt-BR" dirty="0" smtClean="0"/>
              <a:t>contrário, não se tem </a:t>
            </a:r>
            <a:r>
              <a:rPr lang="pt-BR" dirty="0"/>
              <a:t>um teste preciso do desempenho operacional do sistema.</a:t>
            </a:r>
            <a:endParaRPr lang="pt-BR" dirty="0" smtClean="0"/>
          </a:p>
        </p:txBody>
      </p:sp>
    </p:spTree>
    <p:extLst>
      <p:ext uri="{BB962C8B-B14F-4D97-AF65-F5344CB8AC3E}">
        <p14:creationId xmlns:p14="http://schemas.microsoft.com/office/powerpoint/2010/main" val="310323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8.3.3 </a:t>
            </a:r>
            <a:r>
              <a:rPr lang="pt-BR" dirty="0"/>
              <a:t>Testes de </a:t>
            </a:r>
            <a:r>
              <a:rPr lang="pt-BR" dirty="0" smtClean="0"/>
              <a:t>Desempenho </a:t>
            </a:r>
            <a:endParaRPr lang="pt-BR" dirty="0"/>
          </a:p>
        </p:txBody>
      </p:sp>
      <p:sp>
        <p:nvSpPr>
          <p:cNvPr id="3" name="Espaço Reservado para Conteúdo 2"/>
          <p:cNvSpPr>
            <a:spLocks noGrp="1"/>
          </p:cNvSpPr>
          <p:nvPr>
            <p:ph idx="1"/>
          </p:nvPr>
        </p:nvSpPr>
        <p:spPr>
          <a:xfrm>
            <a:off x="-77638" y="1509622"/>
            <a:ext cx="12191999" cy="5046453"/>
          </a:xfrm>
        </p:spPr>
        <p:txBody>
          <a:bodyPr>
            <a:normAutofit fontScale="77500" lnSpcReduction="20000"/>
          </a:bodyPr>
          <a:lstStyle/>
          <a:p>
            <a:pPr marL="0" indent="0">
              <a:buNone/>
            </a:pPr>
            <a:r>
              <a:rPr lang="pt-BR" dirty="0" smtClean="0"/>
              <a:t>Desempenho </a:t>
            </a:r>
            <a:r>
              <a:rPr lang="pt-BR" dirty="0"/>
              <a:t>não é </a:t>
            </a:r>
            <a:r>
              <a:rPr lang="pt-BR" dirty="0" smtClean="0"/>
              <a:t>a </a:t>
            </a:r>
            <a:r>
              <a:rPr lang="pt-BR" dirty="0"/>
              <a:t>melhor abordagem para testes de defeitos. </a:t>
            </a:r>
            <a:endParaRPr lang="pt-BR" dirty="0" smtClean="0"/>
          </a:p>
          <a:p>
            <a:pPr marL="0" indent="0">
              <a:buNone/>
            </a:pPr>
            <a:r>
              <a:rPr lang="pt-BR" dirty="0" smtClean="0"/>
              <a:t>Descobrir </a:t>
            </a:r>
            <a:r>
              <a:rPr lang="pt-BR" dirty="0"/>
              <a:t>os </a:t>
            </a:r>
            <a:r>
              <a:rPr lang="pt-BR" dirty="0" smtClean="0"/>
              <a:t>defeitos: </a:t>
            </a:r>
            <a:r>
              <a:rPr lang="pt-BR" dirty="0"/>
              <a:t>projetar testes para os limites do sistema. </a:t>
            </a:r>
            <a:endParaRPr lang="pt-BR" dirty="0" smtClean="0"/>
          </a:p>
          <a:p>
            <a:pPr marL="0" indent="0">
              <a:buNone/>
            </a:pPr>
            <a:r>
              <a:rPr lang="pt-BR" dirty="0" smtClean="0"/>
              <a:t>Em </a:t>
            </a:r>
            <a:r>
              <a:rPr lang="pt-BR" dirty="0"/>
              <a:t>testes de desempenho, isso significa estressar o sistema, fazendo demandas que estejam fora dos limites de projeto do software. Isso é conhecido como ‘teste de estresse’. </a:t>
            </a:r>
            <a:endParaRPr lang="pt-BR" dirty="0" smtClean="0"/>
          </a:p>
          <a:p>
            <a:pPr marL="0" indent="0">
              <a:buNone/>
            </a:pPr>
            <a:r>
              <a:rPr lang="pt-BR" dirty="0" err="1" smtClean="0"/>
              <a:t>Ex</a:t>
            </a:r>
            <a:r>
              <a:rPr lang="pt-BR" dirty="0" smtClean="0"/>
              <a:t>: teste de </a:t>
            </a:r>
            <a:r>
              <a:rPr lang="pt-BR" dirty="0"/>
              <a:t>um sistema de processamento de transações que é projetado para processar até 300 transações por segundo. C</a:t>
            </a:r>
            <a:r>
              <a:rPr lang="pt-BR" dirty="0" smtClean="0"/>
              <a:t>omeça o teste </a:t>
            </a:r>
            <a:r>
              <a:rPr lang="pt-BR" dirty="0"/>
              <a:t>com menos de 300 transações por </a:t>
            </a:r>
            <a:r>
              <a:rPr lang="pt-BR" dirty="0" smtClean="0"/>
              <a:t>segundo e aumenta </a:t>
            </a:r>
            <a:r>
              <a:rPr lang="pt-BR" dirty="0"/>
              <a:t>gradualmente a carga no sistema para além de 300 transações por segundo, até que esteja bem além da carga máxima de projeto do sistema e o sistema falhe. </a:t>
            </a:r>
            <a:endParaRPr lang="pt-BR" dirty="0" smtClean="0"/>
          </a:p>
          <a:p>
            <a:pPr marL="0" indent="0">
              <a:buNone/>
            </a:pPr>
            <a:r>
              <a:rPr lang="pt-BR" dirty="0" smtClean="0"/>
              <a:t>Esse </a:t>
            </a:r>
            <a:r>
              <a:rPr lang="pt-BR" dirty="0"/>
              <a:t>tipo de teste tem duas funções: </a:t>
            </a:r>
            <a:endParaRPr lang="pt-BR" dirty="0" smtClean="0"/>
          </a:p>
          <a:p>
            <a:pPr marL="514350" indent="-514350">
              <a:buAutoNum type="arabicPeriod"/>
            </a:pPr>
            <a:r>
              <a:rPr lang="pt-BR" dirty="0" smtClean="0"/>
              <a:t>Testar </a:t>
            </a:r>
            <a:r>
              <a:rPr lang="pt-BR" dirty="0"/>
              <a:t>o comportamento de falha do sistema. As circunstâncias podem surgir por meio de uma combinação inesperada de eventos em que a carga sobre o sistema excede a carga máxima prevista. Nessas circunstâncias, é importante que a falha do sistema não cause corrupção de dados ou perda inesperada de serviços de </a:t>
            </a:r>
            <a:r>
              <a:rPr lang="pt-BR" dirty="0" smtClean="0"/>
              <a:t>usuário</a:t>
            </a:r>
            <a:r>
              <a:rPr lang="pt-BR" dirty="0"/>
              <a:t>. Testes de estresse que verificam a sobrecarga do sistema fazem com que ele caia de maneira suave em vez de entrar em colapso sob sua carga. </a:t>
            </a:r>
            <a:endParaRPr lang="pt-BR" dirty="0" smtClean="0"/>
          </a:p>
          <a:p>
            <a:pPr marL="514350" indent="-514350">
              <a:buAutoNum type="arabicPeriod"/>
            </a:pPr>
            <a:r>
              <a:rPr lang="pt-BR" dirty="0" smtClean="0"/>
              <a:t>Estressar </a:t>
            </a:r>
            <a:r>
              <a:rPr lang="pt-BR" dirty="0"/>
              <a:t>o sistema e trazer à luz defeitos que normalmente não são descobertos. Embora se possa argumentar que esses defeitos, em uso normal, não são suscetíveis a causarem falhas no sistema, pode haver combinações inusitadas de circunstâncias normais que o teste de estresse replique.</a:t>
            </a:r>
            <a:endParaRPr lang="pt-BR" dirty="0" smtClean="0"/>
          </a:p>
        </p:txBody>
      </p:sp>
    </p:spTree>
    <p:extLst>
      <p:ext uri="{BB962C8B-B14F-4D97-AF65-F5344CB8AC3E}">
        <p14:creationId xmlns:p14="http://schemas.microsoft.com/office/powerpoint/2010/main" val="23840738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8.3.3 </a:t>
            </a:r>
            <a:r>
              <a:rPr lang="pt-BR" dirty="0"/>
              <a:t>Testes de </a:t>
            </a:r>
            <a:r>
              <a:rPr lang="pt-BR" dirty="0" smtClean="0"/>
              <a:t>Desempenho </a:t>
            </a:r>
            <a:endParaRPr lang="pt-BR" dirty="0"/>
          </a:p>
        </p:txBody>
      </p:sp>
      <p:sp>
        <p:nvSpPr>
          <p:cNvPr id="3" name="Espaço Reservado para Conteúdo 2"/>
          <p:cNvSpPr>
            <a:spLocks noGrp="1"/>
          </p:cNvSpPr>
          <p:nvPr>
            <p:ph idx="1"/>
          </p:nvPr>
        </p:nvSpPr>
        <p:spPr>
          <a:xfrm>
            <a:off x="-77638" y="1509622"/>
            <a:ext cx="12191999" cy="5046453"/>
          </a:xfrm>
        </p:spPr>
        <p:txBody>
          <a:bodyPr>
            <a:normAutofit/>
          </a:bodyPr>
          <a:lstStyle/>
          <a:p>
            <a:pPr marL="0" indent="0">
              <a:buNone/>
            </a:pPr>
            <a:r>
              <a:rPr lang="pt-BR" dirty="0"/>
              <a:t>Os testes de estresse são particularmente relevantes para sistemas distribuídos baseados em uma rede de processadores. </a:t>
            </a:r>
            <a:endParaRPr lang="pt-BR" dirty="0" smtClean="0"/>
          </a:p>
          <a:p>
            <a:pPr marL="0" indent="0">
              <a:buNone/>
            </a:pPr>
            <a:r>
              <a:rPr lang="pt-BR" dirty="0" smtClean="0"/>
              <a:t>Esses </a:t>
            </a:r>
            <a:r>
              <a:rPr lang="pt-BR" dirty="0"/>
              <a:t>sistemas frequentemente apresentam degradação severa quando estão muito carregados. A rede fica inundada com dados de coordenação que os diferentes processos devem trocar. </a:t>
            </a:r>
            <a:endParaRPr lang="pt-BR" dirty="0" smtClean="0"/>
          </a:p>
          <a:p>
            <a:pPr marL="0" indent="0">
              <a:buNone/>
            </a:pPr>
            <a:r>
              <a:rPr lang="pt-BR" dirty="0" smtClean="0"/>
              <a:t>Os </a:t>
            </a:r>
            <a:r>
              <a:rPr lang="pt-BR" dirty="0"/>
              <a:t>processos tornam-se mais lentos à medida que aguardam os dados requisitados a outros processos. </a:t>
            </a:r>
            <a:endParaRPr lang="pt-BR" dirty="0" smtClean="0"/>
          </a:p>
          <a:p>
            <a:pPr marL="0" indent="0">
              <a:buNone/>
            </a:pPr>
            <a:r>
              <a:rPr lang="pt-BR" dirty="0" smtClean="0"/>
              <a:t>Os </a:t>
            </a:r>
            <a:r>
              <a:rPr lang="pt-BR" dirty="0"/>
              <a:t>testes de estresse </a:t>
            </a:r>
            <a:r>
              <a:rPr lang="pt-BR" dirty="0" smtClean="0"/>
              <a:t>ajudam </a:t>
            </a:r>
            <a:r>
              <a:rPr lang="pt-BR" dirty="0"/>
              <a:t>a descobrir quando a degradação começa, e, assim, </a:t>
            </a:r>
            <a:r>
              <a:rPr lang="pt-BR" dirty="0" smtClean="0"/>
              <a:t>podem-se </a:t>
            </a:r>
            <a:r>
              <a:rPr lang="pt-BR" dirty="0"/>
              <a:t>adicionar controles ao sistema para rejeitar </a:t>
            </a:r>
            <a:r>
              <a:rPr lang="pt-BR" dirty="0" smtClean="0"/>
              <a:t>operações </a:t>
            </a:r>
            <a:r>
              <a:rPr lang="pt-BR" dirty="0"/>
              <a:t>além desse ponto.</a:t>
            </a:r>
            <a:endParaRPr lang="pt-BR" dirty="0" smtClean="0"/>
          </a:p>
        </p:txBody>
      </p:sp>
    </p:spTree>
    <p:extLst>
      <p:ext uri="{BB962C8B-B14F-4D97-AF65-F5344CB8AC3E}">
        <p14:creationId xmlns:p14="http://schemas.microsoft.com/office/powerpoint/2010/main" val="14610472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fontScale="92500" lnSpcReduction="20000"/>
          </a:bodyPr>
          <a:lstStyle/>
          <a:p>
            <a:pPr marL="0" indent="0">
              <a:buNone/>
            </a:pPr>
            <a:r>
              <a:rPr lang="pt-BR" dirty="0"/>
              <a:t>Teste de usuário ou de cliente é um estágio no processo de teste em que os usuários ou clientes fornecem entradas e conselhos sobre o teste de sistema. </a:t>
            </a:r>
            <a:endParaRPr lang="pt-BR" dirty="0" smtClean="0"/>
          </a:p>
          <a:p>
            <a:pPr marL="0" indent="0">
              <a:buNone/>
            </a:pPr>
            <a:r>
              <a:rPr lang="pt-BR" dirty="0" smtClean="0"/>
              <a:t>Pode </a:t>
            </a:r>
            <a:r>
              <a:rPr lang="pt-BR" dirty="0"/>
              <a:t>envolver o teste formal de um sistema que foi aprovado por um fornecedor externo ou processo informal em que os usuários experimentam um produto de software novo para ver se gostam e verificar se faz o que eles precisam. </a:t>
            </a:r>
            <a:endParaRPr lang="pt-BR" dirty="0" smtClean="0"/>
          </a:p>
          <a:p>
            <a:pPr marL="0" indent="0">
              <a:buNone/>
            </a:pPr>
            <a:r>
              <a:rPr lang="pt-BR" dirty="0" smtClean="0"/>
              <a:t>É essencial</a:t>
            </a:r>
            <a:r>
              <a:rPr lang="pt-BR" dirty="0"/>
              <a:t>, mesmo em sistemas </a:t>
            </a:r>
            <a:r>
              <a:rPr lang="pt-BR" dirty="0" smtClean="0"/>
              <a:t>abrangentes </a:t>
            </a:r>
            <a:r>
              <a:rPr lang="pt-BR" dirty="0"/>
              <a:t>ou quando testes de release tenham sido realizados. A razão para isso é que as influências do ambiente de trabalho do usuário têm um efeito importante sobre a confiabilidade, o desempenho, a usabilidade e a robustez de um sistema. </a:t>
            </a:r>
            <a:endParaRPr lang="pt-BR" dirty="0" smtClean="0"/>
          </a:p>
          <a:p>
            <a:pPr marL="0" indent="0">
              <a:buNone/>
            </a:pPr>
            <a:r>
              <a:rPr lang="pt-BR" dirty="0" smtClean="0"/>
              <a:t>É </a:t>
            </a:r>
            <a:r>
              <a:rPr lang="pt-BR" dirty="0"/>
              <a:t>praticamente impossível para um desenvolvedor de sistemas replicar o ambiente de trabalho do sistema, pois os testes no ambiente do desenvolvedor são inevitavelmente artificiais</a:t>
            </a:r>
            <a:r>
              <a:rPr lang="pt-BR" dirty="0" smtClean="0"/>
              <a:t>.</a:t>
            </a:r>
          </a:p>
          <a:p>
            <a:pPr marL="0" indent="0">
              <a:buNone/>
            </a:pPr>
            <a:r>
              <a:rPr lang="pt-BR" dirty="0" err="1" smtClean="0"/>
              <a:t>Ex</a:t>
            </a:r>
            <a:r>
              <a:rPr lang="pt-BR" dirty="0" smtClean="0"/>
              <a:t>: sistema usado </a:t>
            </a:r>
            <a:r>
              <a:rPr lang="pt-BR" dirty="0"/>
              <a:t>em um hospital </a:t>
            </a:r>
            <a:r>
              <a:rPr lang="pt-BR" dirty="0" smtClean="0"/>
              <a:t>estão inseridos </a:t>
            </a:r>
            <a:r>
              <a:rPr lang="pt-BR" dirty="0"/>
              <a:t>ambiente clínico em que outras coisas estão acontecendo, como emergências de pacientes, conversas com parentes etc. Isso tudo afeta o uso de um sistema, mas os </a:t>
            </a:r>
            <a:r>
              <a:rPr lang="pt-BR" dirty="0" smtClean="0"/>
              <a:t>desenvolvedores </a:t>
            </a:r>
            <a:r>
              <a:rPr lang="pt-BR" dirty="0"/>
              <a:t>não podem incluí-los em seu ambiente de teste. </a:t>
            </a:r>
            <a:endParaRPr lang="pt-BR" dirty="0" smtClean="0"/>
          </a:p>
        </p:txBody>
      </p:sp>
    </p:spTree>
    <p:extLst>
      <p:ext uri="{BB962C8B-B14F-4D97-AF65-F5344CB8AC3E}">
        <p14:creationId xmlns:p14="http://schemas.microsoft.com/office/powerpoint/2010/main" val="28725940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a:bodyPr>
          <a:lstStyle/>
          <a:p>
            <a:pPr marL="0" indent="0">
              <a:buNone/>
            </a:pPr>
            <a:r>
              <a:rPr lang="pt-BR" dirty="0" smtClean="0"/>
              <a:t>Tipos </a:t>
            </a:r>
            <a:r>
              <a:rPr lang="pt-BR" dirty="0"/>
              <a:t>de testes de usuário: </a:t>
            </a:r>
            <a:endParaRPr lang="pt-BR" dirty="0" smtClean="0"/>
          </a:p>
          <a:p>
            <a:pPr marL="514350" indent="-514350">
              <a:buAutoNum type="arabicPeriod"/>
            </a:pPr>
            <a:r>
              <a:rPr lang="pt-BR" dirty="0" smtClean="0"/>
              <a:t>Teste </a:t>
            </a:r>
            <a:r>
              <a:rPr lang="pt-BR" dirty="0"/>
              <a:t>alfa, em que os usuários do software trabalham com a equipe de desenvolvimento para testar o software no local do desenvolvedor. </a:t>
            </a:r>
            <a:endParaRPr lang="pt-BR" dirty="0" smtClean="0"/>
          </a:p>
          <a:p>
            <a:pPr marL="514350" indent="-514350">
              <a:buAutoNum type="arabicPeriod"/>
            </a:pPr>
            <a:r>
              <a:rPr lang="pt-BR" dirty="0" smtClean="0"/>
              <a:t>Teste </a:t>
            </a:r>
            <a:r>
              <a:rPr lang="pt-BR" dirty="0"/>
              <a:t>beta, em que um release do software é disponibilizado aos usuários para que possam experimentar e levantar os problemas que eles descobriram com os desenvolvedores do sistema. </a:t>
            </a:r>
            <a:endParaRPr lang="pt-BR" dirty="0" smtClean="0"/>
          </a:p>
          <a:p>
            <a:pPr marL="514350" indent="-514350">
              <a:buAutoNum type="arabicPeriod"/>
            </a:pPr>
            <a:r>
              <a:rPr lang="pt-BR" dirty="0" smtClean="0"/>
              <a:t>Teste </a:t>
            </a:r>
            <a:r>
              <a:rPr lang="pt-BR" dirty="0"/>
              <a:t>de aceitação, em que os clientes testam um sistema para decidir se está ou não pronto para ser aceito pelos desenvolvedores de sistemas e implantado no ambiente do cliente.</a:t>
            </a:r>
            <a:endParaRPr lang="pt-BR" dirty="0" smtClean="0"/>
          </a:p>
        </p:txBody>
      </p:sp>
    </p:spTree>
    <p:extLst>
      <p:ext uri="{BB962C8B-B14F-4D97-AF65-F5344CB8AC3E}">
        <p14:creationId xmlns:p14="http://schemas.microsoft.com/office/powerpoint/2010/main" val="24645782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fontScale="77500" lnSpcReduction="20000"/>
          </a:bodyPr>
          <a:lstStyle/>
          <a:p>
            <a:pPr marL="0" indent="0">
              <a:buNone/>
            </a:pPr>
            <a:r>
              <a:rPr lang="pt-BR" dirty="0"/>
              <a:t>T</a:t>
            </a:r>
            <a:r>
              <a:rPr lang="pt-BR" dirty="0" smtClean="0"/>
              <a:t>estes alfa:</a:t>
            </a:r>
          </a:p>
          <a:p>
            <a:pPr marL="0" indent="0">
              <a:buNone/>
            </a:pPr>
            <a:r>
              <a:rPr lang="pt-BR" dirty="0" smtClean="0"/>
              <a:t>Usuários </a:t>
            </a:r>
            <a:r>
              <a:rPr lang="pt-BR" dirty="0"/>
              <a:t>e desenvolvedores trabalham em conjunto para testar um sistema que está sendo desenvolvido. </a:t>
            </a:r>
            <a:endParaRPr lang="pt-BR" dirty="0" smtClean="0"/>
          </a:p>
          <a:p>
            <a:pPr marL="0" indent="0">
              <a:buNone/>
            </a:pPr>
            <a:r>
              <a:rPr lang="pt-BR" dirty="0" smtClean="0"/>
              <a:t>Usuários </a:t>
            </a:r>
            <a:r>
              <a:rPr lang="pt-BR" dirty="0"/>
              <a:t>podem identificar os problemas e as questões que não são aparentes para a equipe de testes de desenvolvimento. </a:t>
            </a:r>
            <a:endParaRPr lang="pt-BR" dirty="0" smtClean="0"/>
          </a:p>
          <a:p>
            <a:pPr marL="0" indent="0">
              <a:buNone/>
            </a:pPr>
            <a:r>
              <a:rPr lang="pt-BR" dirty="0" smtClean="0"/>
              <a:t>Os </a:t>
            </a:r>
            <a:r>
              <a:rPr lang="pt-BR" dirty="0"/>
              <a:t>desenvolvedores só podem trabalhar a partir dos requisitos, mas, muitas vezes, estes não refletem outros fatores que afetam o uso </a:t>
            </a:r>
            <a:r>
              <a:rPr lang="pt-BR" dirty="0" smtClean="0"/>
              <a:t>prático </a:t>
            </a:r>
            <a:r>
              <a:rPr lang="pt-BR" dirty="0"/>
              <a:t>do software. </a:t>
            </a:r>
            <a:endParaRPr lang="pt-BR" dirty="0" smtClean="0"/>
          </a:p>
          <a:p>
            <a:pPr marL="0" indent="0">
              <a:buNone/>
            </a:pPr>
            <a:r>
              <a:rPr lang="pt-BR" dirty="0" smtClean="0"/>
              <a:t>Usuários podem </a:t>
            </a:r>
            <a:r>
              <a:rPr lang="pt-BR" dirty="0"/>
              <a:t>fornecer informações sobre as práticas que contribuem com projeto de testes mais realistas. </a:t>
            </a:r>
            <a:endParaRPr lang="pt-BR" dirty="0" smtClean="0"/>
          </a:p>
          <a:p>
            <a:pPr marL="0" indent="0">
              <a:buNone/>
            </a:pPr>
            <a:r>
              <a:rPr lang="pt-BR" dirty="0" smtClean="0"/>
              <a:t>São </a:t>
            </a:r>
            <a:r>
              <a:rPr lang="pt-BR" dirty="0"/>
              <a:t>frequentemente usados no desenvolvimento de produtos de software que são vendidos como sistemas-pacote. Os usuários desses produtos podem estar dispostos a se envolver no processo de testes alfa, pois isso lhes antecipa informações sobre novas características do sistema, as quais eles poderão explorar. </a:t>
            </a:r>
            <a:endParaRPr lang="pt-BR" dirty="0" smtClean="0"/>
          </a:p>
          <a:p>
            <a:pPr marL="0" indent="0">
              <a:buNone/>
            </a:pPr>
            <a:r>
              <a:rPr lang="pt-BR" dirty="0" smtClean="0"/>
              <a:t>Também </a:t>
            </a:r>
            <a:r>
              <a:rPr lang="pt-BR" dirty="0"/>
              <a:t>reduz o risco de que mudanças inesperadas no software tenham efeitos perturbadores sobre os </a:t>
            </a:r>
            <a:r>
              <a:rPr lang="pt-BR" dirty="0" smtClean="0"/>
              <a:t>negócios</a:t>
            </a:r>
            <a:r>
              <a:rPr lang="pt-BR" dirty="0"/>
              <a:t>. </a:t>
            </a:r>
            <a:endParaRPr lang="pt-BR" dirty="0" smtClean="0"/>
          </a:p>
          <a:p>
            <a:pPr marL="0" indent="0">
              <a:buNone/>
            </a:pPr>
            <a:r>
              <a:rPr lang="pt-BR" dirty="0" smtClean="0"/>
              <a:t>Podem </a:t>
            </a:r>
            <a:r>
              <a:rPr lang="pt-BR" dirty="0"/>
              <a:t>ser usados quando o software customizado está sendo desenvolvido. Os métodos ágeis, como XP, defendem o envolvimento do usuário no processo de desenvolvimento e alegam que os usuários devem desempenhar um papel fundamental no projeto de testes para o sistema.</a:t>
            </a:r>
            <a:endParaRPr lang="pt-BR" dirty="0" smtClean="0"/>
          </a:p>
        </p:txBody>
      </p:sp>
    </p:spTree>
    <p:extLst>
      <p:ext uri="{BB962C8B-B14F-4D97-AF65-F5344CB8AC3E}">
        <p14:creationId xmlns:p14="http://schemas.microsoft.com/office/powerpoint/2010/main" val="15161584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fontScale="77500" lnSpcReduction="20000"/>
          </a:bodyPr>
          <a:lstStyle/>
          <a:p>
            <a:pPr marL="0" indent="0">
              <a:buNone/>
            </a:pPr>
            <a:r>
              <a:rPr lang="pt-BR" dirty="0"/>
              <a:t>T</a:t>
            </a:r>
            <a:r>
              <a:rPr lang="pt-BR" dirty="0" smtClean="0"/>
              <a:t>este beta:</a:t>
            </a:r>
          </a:p>
          <a:p>
            <a:pPr marL="0" indent="0">
              <a:buNone/>
            </a:pPr>
            <a:r>
              <a:rPr lang="pt-BR" dirty="0" smtClean="0"/>
              <a:t>Ocorre </a:t>
            </a:r>
            <a:r>
              <a:rPr lang="pt-BR" dirty="0"/>
              <a:t>quando um release antecipado, por vezes inacabado, de um sistema de software é </a:t>
            </a:r>
            <a:r>
              <a:rPr lang="pt-BR" dirty="0" smtClean="0"/>
              <a:t>disponibilizado </a:t>
            </a:r>
            <a:r>
              <a:rPr lang="pt-BR" dirty="0"/>
              <a:t>aos clientes e usuários para avaliação. </a:t>
            </a:r>
            <a:endParaRPr lang="pt-BR" dirty="0" smtClean="0"/>
          </a:p>
          <a:p>
            <a:pPr marL="0" indent="0">
              <a:buNone/>
            </a:pPr>
            <a:r>
              <a:rPr lang="pt-BR" dirty="0" smtClean="0"/>
              <a:t>Testadores beta: </a:t>
            </a:r>
            <a:r>
              <a:rPr lang="pt-BR" dirty="0"/>
              <a:t>grupo de clientes selecionados, os primeiros a adotarem o sistema. Como alternativa, o software pode ser disponibilizado para uso, para qualquer pessoa que esteja interessada nele. </a:t>
            </a:r>
            <a:endParaRPr lang="pt-BR" dirty="0" smtClean="0"/>
          </a:p>
          <a:p>
            <a:pPr marL="0" indent="0">
              <a:buNone/>
            </a:pPr>
            <a:r>
              <a:rPr lang="pt-BR" dirty="0" smtClean="0"/>
              <a:t>Usado para </a:t>
            </a:r>
            <a:r>
              <a:rPr lang="pt-BR" dirty="0"/>
              <a:t>produtos de software </a:t>
            </a:r>
            <a:r>
              <a:rPr lang="pt-BR" dirty="0" smtClean="0"/>
              <a:t>instalados </a:t>
            </a:r>
            <a:r>
              <a:rPr lang="pt-BR" dirty="0"/>
              <a:t>nos mais diversos ambientes (por oposição aos sistemas customizados, que são geralmente usados em um ambiente definido). É impossível para os desenvolvedores de produtos conhecerem e replicarem todos os ambientes em que o software será usado. </a:t>
            </a:r>
            <a:endParaRPr lang="pt-BR" dirty="0" smtClean="0"/>
          </a:p>
          <a:p>
            <a:pPr marL="0" indent="0">
              <a:buNone/>
            </a:pPr>
            <a:r>
              <a:rPr lang="pt-BR" dirty="0" smtClean="0"/>
              <a:t>E </a:t>
            </a:r>
            <a:r>
              <a:rPr lang="pt-BR" dirty="0"/>
              <a:t>essencial para descobrir justamente problemas de interação entre o software e as características do ambiente em que ele é usado. </a:t>
            </a:r>
            <a:endParaRPr lang="pt-BR" dirty="0" smtClean="0"/>
          </a:p>
          <a:p>
            <a:pPr marL="0" indent="0">
              <a:buNone/>
            </a:pPr>
            <a:r>
              <a:rPr lang="pt-BR" dirty="0" smtClean="0"/>
              <a:t>Também </a:t>
            </a:r>
            <a:r>
              <a:rPr lang="pt-BR" dirty="0"/>
              <a:t>é uma forma de marketing — os clientes aprendem sobre seu sistema e o que ele pode fazer por eles. </a:t>
            </a:r>
            <a:endParaRPr lang="pt-BR" dirty="0" smtClean="0"/>
          </a:p>
          <a:p>
            <a:pPr marL="0" indent="0">
              <a:buNone/>
            </a:pPr>
            <a:r>
              <a:rPr lang="pt-BR" dirty="0" smtClean="0"/>
              <a:t>O </a:t>
            </a:r>
            <a:r>
              <a:rPr lang="pt-BR" dirty="0"/>
              <a:t>teste de aceitação é uma parte inerente ao desenvolvimento de sistemas customizados, que ocorre após o teste de release. Engloba o teste formal de um sistema pelo cliente para decidir se ele deve ou não ser aceito. A aceitação designa que o pagamento pelo sistema deve ser feito.</a:t>
            </a:r>
            <a:endParaRPr lang="pt-BR" dirty="0" smtClean="0"/>
          </a:p>
        </p:txBody>
      </p:sp>
    </p:spTree>
    <p:extLst>
      <p:ext uri="{BB962C8B-B14F-4D97-AF65-F5344CB8AC3E}">
        <p14:creationId xmlns:p14="http://schemas.microsoft.com/office/powerpoint/2010/main" val="30980661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lnSpcReduction="10000"/>
          </a:bodyPr>
          <a:lstStyle/>
          <a:p>
            <a:pPr marL="0" indent="0">
              <a:buNone/>
            </a:pPr>
            <a:r>
              <a:rPr lang="pt-BR" dirty="0"/>
              <a:t>S</a:t>
            </a:r>
            <a:r>
              <a:rPr lang="pt-BR" dirty="0" smtClean="0"/>
              <a:t>eis </a:t>
            </a:r>
            <a:r>
              <a:rPr lang="pt-BR" dirty="0"/>
              <a:t>estágios no processo de teste de </a:t>
            </a:r>
            <a:r>
              <a:rPr lang="pt-BR" dirty="0" smtClean="0"/>
              <a:t>aceitação (Figura 8.10):</a:t>
            </a:r>
          </a:p>
          <a:p>
            <a:pPr marL="514350" indent="-514350">
              <a:buAutoNum type="arabicPeriod"/>
            </a:pPr>
            <a:r>
              <a:rPr lang="pt-BR" dirty="0" smtClean="0"/>
              <a:t>Definir </a:t>
            </a:r>
            <a:r>
              <a:rPr lang="pt-BR" dirty="0"/>
              <a:t>critérios de </a:t>
            </a:r>
            <a:r>
              <a:rPr lang="pt-BR" dirty="0" smtClean="0"/>
              <a:t>aceitação que ocorre </a:t>
            </a:r>
            <a:r>
              <a:rPr lang="pt-BR" dirty="0"/>
              <a:t>no início do processo antes de o contrato do sistema ser assinado. Os critérios de aceitação devem ser parte do contrato do sistema e serem acordados entre o cliente e o desenvolvedor. Na prática, porém, pode ser difícil definir critérios para o início do processo. Os requisitos detalhados podem não estar disponíveis e podem haver mudanças significativas dos requisitos durante o processo de desenvolvimento. </a:t>
            </a:r>
            <a:endParaRPr lang="pt-BR" dirty="0" smtClean="0"/>
          </a:p>
          <a:p>
            <a:pPr marL="514350" indent="-514350">
              <a:buAutoNum type="arabicPeriod"/>
            </a:pPr>
            <a:r>
              <a:rPr lang="pt-BR" dirty="0" smtClean="0"/>
              <a:t>Planejar </a:t>
            </a:r>
            <a:r>
              <a:rPr lang="pt-BR" dirty="0"/>
              <a:t>testes de </a:t>
            </a:r>
            <a:r>
              <a:rPr lang="pt-BR" dirty="0" smtClean="0"/>
              <a:t>aceitação, decidindo </a:t>
            </a:r>
            <a:r>
              <a:rPr lang="pt-BR" dirty="0"/>
              <a:t>sobre os recursos, tempo e orçamento para os testes de </a:t>
            </a:r>
            <a:r>
              <a:rPr lang="pt-BR" dirty="0" smtClean="0"/>
              <a:t>aceitação </a:t>
            </a:r>
            <a:r>
              <a:rPr lang="pt-BR" dirty="0"/>
              <a:t>e estabelecer um cronograma de testes. O plano de teste de aceitação também deve discutir a cobertura dos requisitos exigidos e a ordem em que as características do sistema são testadas. Deve definir os riscos para o processo de testes, como interrupção de sistema e desempenho inadequado, e discutir como esses riscos podem ser mitigados.</a:t>
            </a:r>
            <a:endParaRPr lang="pt-BR" dirty="0" smtClean="0"/>
          </a:p>
        </p:txBody>
      </p:sp>
    </p:spTree>
    <p:extLst>
      <p:ext uri="{BB962C8B-B14F-4D97-AF65-F5344CB8AC3E}">
        <p14:creationId xmlns:p14="http://schemas.microsoft.com/office/powerpoint/2010/main" val="30588937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fontScale="92500" lnSpcReduction="20000"/>
          </a:bodyPr>
          <a:lstStyle/>
          <a:p>
            <a:pPr marL="0" indent="0">
              <a:buNone/>
            </a:pPr>
            <a:r>
              <a:rPr lang="pt-BR" dirty="0"/>
              <a:t>S</a:t>
            </a:r>
            <a:r>
              <a:rPr lang="pt-BR" dirty="0" smtClean="0"/>
              <a:t>eis </a:t>
            </a:r>
            <a:r>
              <a:rPr lang="pt-BR" dirty="0"/>
              <a:t>estágios no processo de teste de </a:t>
            </a:r>
            <a:r>
              <a:rPr lang="pt-BR" dirty="0" smtClean="0"/>
              <a:t>aceitação (Figura 8.10):</a:t>
            </a:r>
          </a:p>
          <a:p>
            <a:pPr marL="0" indent="0">
              <a:buNone/>
            </a:pPr>
            <a:r>
              <a:rPr lang="pt-BR" dirty="0"/>
              <a:t>3. Derivar testes de aceitação. Uma vez que os testes de aceitação tenham sido estabelecidos, eles precisam ser projetados para verificar se existe ou não um sistema aceitável. Testes de aceitação devem ter como objetivo testar tanto as características funcionais quanto as não funcionais (por exemplo, desempenho) do sistema. Eles devem, idealmente, fornecer cobertura completa dos requisitos de sistema. Na prática, é difícil estabelecer </a:t>
            </a:r>
            <a:r>
              <a:rPr lang="pt-BR" dirty="0" smtClean="0"/>
              <a:t>critérios </a:t>
            </a:r>
            <a:r>
              <a:rPr lang="pt-BR" dirty="0"/>
              <a:t>completamente objetivos de aceitação. Muitas vezes, fica margem para discussão sobre se o teste mostra ou não se um critério foi definitivamente cumprido. </a:t>
            </a:r>
            <a:endParaRPr lang="pt-BR" dirty="0" smtClean="0"/>
          </a:p>
          <a:p>
            <a:pPr marL="0" indent="0">
              <a:buNone/>
            </a:pPr>
            <a:r>
              <a:rPr lang="pt-BR" dirty="0" smtClean="0"/>
              <a:t>4</a:t>
            </a:r>
            <a:r>
              <a:rPr lang="pt-BR" dirty="0"/>
              <a:t>. Executar testes de aceitação. Os testes de aceitação acordados são executados no sistema. Idealmente, isso deve ocorrer no ambiente real em que o sistema será usado, mas isso pode ser interrompido e impraticável. </a:t>
            </a:r>
            <a:r>
              <a:rPr lang="pt-BR" dirty="0" smtClean="0"/>
              <a:t>Portanto</a:t>
            </a:r>
            <a:r>
              <a:rPr lang="pt-BR" dirty="0"/>
              <a:t>, um ambiente de testes de usuário pode ter de ser configurado para executar esses testes. É difícil </a:t>
            </a:r>
            <a:r>
              <a:rPr lang="pt-BR" dirty="0" smtClean="0"/>
              <a:t>automatizar </a:t>
            </a:r>
            <a:r>
              <a:rPr lang="pt-BR" dirty="0"/>
              <a:t>esse processo, pois parte dos testes de aceitação pode envolver testes de interações entre os usuários finais e o sistema. Pode ser necessário algum treinamento para os usuários finais.</a:t>
            </a:r>
            <a:endParaRPr lang="pt-BR" dirty="0" smtClean="0"/>
          </a:p>
        </p:txBody>
      </p:sp>
    </p:spTree>
    <p:extLst>
      <p:ext uri="{BB962C8B-B14F-4D97-AF65-F5344CB8AC3E}">
        <p14:creationId xmlns:p14="http://schemas.microsoft.com/office/powerpoint/2010/main" val="23150109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lnSpcReduction="10000"/>
          </a:bodyPr>
          <a:lstStyle/>
          <a:p>
            <a:pPr marL="0" indent="0">
              <a:buNone/>
            </a:pPr>
            <a:r>
              <a:rPr lang="pt-BR" dirty="0"/>
              <a:t>S</a:t>
            </a:r>
            <a:r>
              <a:rPr lang="pt-BR" dirty="0" smtClean="0"/>
              <a:t>eis </a:t>
            </a:r>
            <a:r>
              <a:rPr lang="pt-BR" dirty="0"/>
              <a:t>estágios no processo de teste de </a:t>
            </a:r>
            <a:r>
              <a:rPr lang="pt-BR" dirty="0" smtClean="0"/>
              <a:t>aceitação (Figura 8.10):</a:t>
            </a:r>
          </a:p>
          <a:p>
            <a:pPr marL="0" indent="0">
              <a:buNone/>
            </a:pPr>
            <a:r>
              <a:rPr lang="pt-BR" dirty="0"/>
              <a:t>5. Negociar resultados de teste. É muito improvável que todos os testes de aceitação definidos passem e que não ocorra qualquer problema com o sistema. Se esse for o caso, então o teste de aceitação está completo, e o </a:t>
            </a:r>
            <a:r>
              <a:rPr lang="pt-BR" dirty="0" smtClean="0"/>
              <a:t>sistema </a:t>
            </a:r>
            <a:r>
              <a:rPr lang="pt-BR" dirty="0"/>
              <a:t>pode ser entregue. O mais comum, contudo, é que alguns problemas sejam descobertos. Nesses casos, o desenvolvedor e o cliente precisam negociar para decidir se o sistema é bom o suficiente para ser colocado em uso. Eles também devem concordar sobre a resposta do desenvolvedor para os problemas identificados. </a:t>
            </a:r>
            <a:endParaRPr lang="pt-BR" dirty="0" smtClean="0"/>
          </a:p>
          <a:p>
            <a:pPr marL="0" indent="0">
              <a:buNone/>
            </a:pPr>
            <a:r>
              <a:rPr lang="pt-BR" dirty="0" smtClean="0"/>
              <a:t>6</a:t>
            </a:r>
            <a:r>
              <a:rPr lang="pt-BR" dirty="0"/>
              <a:t>. Rejeitar/aceitar sistema. Esse estágio envolve uma reunião entre os desenvolvedores e o cliente para decidir se o sistema deve ser aceito. Se o sistema não for bom o suficiente para o uso, então será necessário um maior </a:t>
            </a:r>
            <a:r>
              <a:rPr lang="pt-BR" dirty="0" smtClean="0"/>
              <a:t>desenvolvimento </a:t>
            </a:r>
            <a:r>
              <a:rPr lang="pt-BR" dirty="0"/>
              <a:t>para corrigir os problemas identificados. Depois de concluída, a fase de testes de aceitação é repetida.</a:t>
            </a:r>
            <a:endParaRPr lang="pt-BR" dirty="0" smtClean="0"/>
          </a:p>
        </p:txBody>
      </p:sp>
    </p:spTree>
    <p:extLst>
      <p:ext uri="{BB962C8B-B14F-4D97-AF65-F5344CB8AC3E}">
        <p14:creationId xmlns:p14="http://schemas.microsoft.com/office/powerpoint/2010/main" val="1122070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a:bodyPr>
          <a:lstStyle/>
          <a:p>
            <a:pPr marL="0" indent="0">
              <a:buNone/>
            </a:pPr>
            <a:r>
              <a:rPr lang="pt-BR" dirty="0"/>
              <a:t>S</a:t>
            </a:r>
            <a:r>
              <a:rPr lang="pt-BR" dirty="0" smtClean="0"/>
              <a:t>eis </a:t>
            </a:r>
            <a:r>
              <a:rPr lang="pt-BR" dirty="0"/>
              <a:t>estágios no processo de teste de </a:t>
            </a:r>
            <a:r>
              <a:rPr lang="pt-BR" dirty="0" smtClean="0"/>
              <a:t>aceitação (Figura 8.10): </a:t>
            </a:r>
            <a:r>
              <a:rPr lang="pt-BR" dirty="0" err="1" smtClean="0"/>
              <a:t>pag</a:t>
            </a:r>
            <a:r>
              <a:rPr lang="pt-BR" dirty="0" smtClean="0"/>
              <a:t> 160</a:t>
            </a:r>
          </a:p>
          <a:p>
            <a:pPr marL="0" indent="0">
              <a:buNone/>
            </a:pPr>
            <a:endParaRPr lang="pt-BR" dirty="0" smtClean="0"/>
          </a:p>
        </p:txBody>
      </p:sp>
    </p:spTree>
    <p:extLst>
      <p:ext uri="{BB962C8B-B14F-4D97-AF65-F5344CB8AC3E}">
        <p14:creationId xmlns:p14="http://schemas.microsoft.com/office/powerpoint/2010/main" val="14324980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fontScale="85000" lnSpcReduction="10000"/>
          </a:bodyPr>
          <a:lstStyle/>
          <a:p>
            <a:pPr marL="0" indent="0">
              <a:buNone/>
            </a:pPr>
            <a:r>
              <a:rPr lang="pt-BR" dirty="0"/>
              <a:t>Nos métodos ágeis, como XP, o teste de aceitação tem um significado bastante diferente. Em princípio, ele compartilha a ideia de que os usuários devem decidir quando o sistema é aceitável. No entanto, no XP, o usuário é parte da equipe de desenvolvimento (isto é, ele ou ela é um testador alfa) e fornece os requisitos de sistema em termos de estórias de usuários. Ele ou ela também é responsável pela definição dos testes, que decide se o </a:t>
            </a:r>
            <a:r>
              <a:rPr lang="pt-BR" dirty="0" smtClean="0"/>
              <a:t>software </a:t>
            </a:r>
            <a:r>
              <a:rPr lang="pt-BR" dirty="0"/>
              <a:t>desenvolvido apoia ou não a estória de usuário</a:t>
            </a:r>
            <a:r>
              <a:rPr lang="pt-BR" dirty="0" smtClean="0"/>
              <a:t>.</a:t>
            </a:r>
          </a:p>
          <a:p>
            <a:pPr marL="0" indent="0">
              <a:buNone/>
            </a:pPr>
            <a:r>
              <a:rPr lang="pt-BR" dirty="0" smtClean="0"/>
              <a:t> </a:t>
            </a:r>
            <a:r>
              <a:rPr lang="pt-BR" dirty="0"/>
              <a:t>Os testes são automatizados, e o desenvolvimento não continua até os testes de aceitação de estória passarem. Portanto, não há uma atividade de teste de aceitação em separado. </a:t>
            </a:r>
            <a:endParaRPr lang="pt-BR" dirty="0" smtClean="0"/>
          </a:p>
          <a:p>
            <a:pPr marL="0" indent="0">
              <a:buNone/>
            </a:pPr>
            <a:r>
              <a:rPr lang="pt-BR" dirty="0" smtClean="0"/>
              <a:t>Como </a:t>
            </a:r>
            <a:r>
              <a:rPr lang="pt-BR" dirty="0"/>
              <a:t>já discutido no Capítulo 3, um problema com o envolvimento do usuário é garantir que o usuário que está integrado na equipe de desenvolvimento seja um usuário ‘típico’, com conhecimento geral de como o </a:t>
            </a:r>
            <a:r>
              <a:rPr lang="pt-BR" dirty="0" smtClean="0"/>
              <a:t>sistema </a:t>
            </a:r>
            <a:r>
              <a:rPr lang="pt-BR" dirty="0"/>
              <a:t>será usado. Considerando que pode ser difícil encontrar tal usuário, os testes de aceitação não podem refletir verdadeiramente a prática. </a:t>
            </a:r>
            <a:endParaRPr lang="pt-BR" dirty="0" smtClean="0"/>
          </a:p>
          <a:p>
            <a:pPr marL="0" indent="0">
              <a:buNone/>
            </a:pPr>
            <a:r>
              <a:rPr lang="pt-BR" dirty="0"/>
              <a:t>R</a:t>
            </a:r>
            <a:r>
              <a:rPr lang="pt-BR" dirty="0" smtClean="0"/>
              <a:t>equisito </a:t>
            </a:r>
            <a:r>
              <a:rPr lang="pt-BR" dirty="0"/>
              <a:t>por testes automatizados limita severamente a flexibilidade de testar sistemas interativos. Para estes sistemas, testes de aceitação podem exigir que grupos de usuários finais usem o sistema como se fosse parte de seu trabalho diário. </a:t>
            </a:r>
            <a:endParaRPr lang="pt-BR" dirty="0" smtClean="0"/>
          </a:p>
        </p:txBody>
      </p:sp>
    </p:spTree>
    <p:extLst>
      <p:ext uri="{BB962C8B-B14F-4D97-AF65-F5344CB8AC3E}">
        <p14:creationId xmlns:p14="http://schemas.microsoft.com/office/powerpoint/2010/main" val="34113503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5672" y="0"/>
            <a:ext cx="10515600" cy="1325563"/>
          </a:xfrm>
        </p:spPr>
        <p:txBody>
          <a:bodyPr/>
          <a:lstStyle/>
          <a:p>
            <a:r>
              <a:rPr lang="pt-BR" dirty="0" smtClean="0"/>
              <a:t>Capitulo 8 – Teste de software -</a:t>
            </a:r>
            <a:r>
              <a:rPr lang="pt-BR" dirty="0"/>
              <a:t>8.3 Testes de release - </a:t>
            </a:r>
            <a:r>
              <a:rPr lang="pt-BR" dirty="0" smtClean="0"/>
              <a:t>8.4 </a:t>
            </a:r>
            <a:r>
              <a:rPr lang="pt-BR" dirty="0"/>
              <a:t>Testes de </a:t>
            </a:r>
            <a:r>
              <a:rPr lang="pt-BR" dirty="0" smtClean="0"/>
              <a:t>Usuário</a:t>
            </a:r>
            <a:endParaRPr lang="pt-BR" dirty="0"/>
          </a:p>
        </p:txBody>
      </p:sp>
      <p:sp>
        <p:nvSpPr>
          <p:cNvPr id="3" name="Espaço Reservado para Conteúdo 2"/>
          <p:cNvSpPr>
            <a:spLocks noGrp="1"/>
          </p:cNvSpPr>
          <p:nvPr>
            <p:ph idx="1"/>
          </p:nvPr>
        </p:nvSpPr>
        <p:spPr>
          <a:xfrm>
            <a:off x="-77638" y="1509622"/>
            <a:ext cx="12191999" cy="5046453"/>
          </a:xfrm>
        </p:spPr>
        <p:txBody>
          <a:bodyPr>
            <a:normAutofit lnSpcReduction="10000"/>
          </a:bodyPr>
          <a:lstStyle/>
          <a:p>
            <a:pPr marL="0" indent="0">
              <a:buNone/>
            </a:pPr>
            <a:r>
              <a:rPr lang="pt-BR" dirty="0" smtClean="0"/>
              <a:t>sistema </a:t>
            </a:r>
            <a:r>
              <a:rPr lang="pt-BR" dirty="0"/>
              <a:t>não </a:t>
            </a:r>
            <a:r>
              <a:rPr lang="pt-BR" dirty="0" smtClean="0"/>
              <a:t>passa </a:t>
            </a:r>
            <a:r>
              <a:rPr lang="pt-BR" dirty="0"/>
              <a:t>em seus testes de </a:t>
            </a:r>
            <a:r>
              <a:rPr lang="pt-BR" dirty="0" smtClean="0"/>
              <a:t>aceitação: não </a:t>
            </a:r>
            <a:r>
              <a:rPr lang="pt-BR" dirty="0"/>
              <a:t>deve ser aceito, e o pagamento não deve ser feito. </a:t>
            </a:r>
            <a:endParaRPr lang="pt-BR" dirty="0" smtClean="0"/>
          </a:p>
          <a:p>
            <a:pPr marL="0" indent="0">
              <a:buNone/>
            </a:pPr>
            <a:r>
              <a:rPr lang="pt-BR" dirty="0" smtClean="0"/>
              <a:t>Realidade </a:t>
            </a:r>
            <a:r>
              <a:rPr lang="pt-BR" dirty="0"/>
              <a:t>é mais </a:t>
            </a:r>
            <a:r>
              <a:rPr lang="pt-BR" dirty="0" smtClean="0"/>
              <a:t>complexa: clientes </a:t>
            </a:r>
            <a:r>
              <a:rPr lang="pt-BR" dirty="0"/>
              <a:t>querem usar o software assim que possível por causa dos benefícios de sua </a:t>
            </a:r>
            <a:r>
              <a:rPr lang="pt-BR" dirty="0" smtClean="0"/>
              <a:t>implantação </a:t>
            </a:r>
            <a:r>
              <a:rPr lang="pt-BR" dirty="0"/>
              <a:t>imediata. Eles podem ter comprado novos equipamentos, treinado seu pessoal e alterado seus processos. Eles podem estar dispostos a aceitar o software, independentemente dos problemas, porque os custos do não uso do software são maiores do que os custos de se trabalhar nos problemas. </a:t>
            </a:r>
            <a:endParaRPr lang="pt-BR" dirty="0" smtClean="0"/>
          </a:p>
          <a:p>
            <a:pPr marL="0" indent="0">
              <a:buNone/>
            </a:pPr>
            <a:r>
              <a:rPr lang="pt-BR" dirty="0" smtClean="0"/>
              <a:t>Portanto</a:t>
            </a:r>
            <a:r>
              <a:rPr lang="pt-BR" dirty="0"/>
              <a:t>, o resultado das negociações pode ser de aceitação condicional do sistema. </a:t>
            </a:r>
            <a:endParaRPr lang="pt-BR" dirty="0" smtClean="0"/>
          </a:p>
          <a:p>
            <a:pPr marL="0" indent="0">
              <a:buNone/>
            </a:pPr>
            <a:r>
              <a:rPr lang="pt-BR" dirty="0" smtClean="0"/>
              <a:t>O </a:t>
            </a:r>
            <a:r>
              <a:rPr lang="pt-BR" dirty="0"/>
              <a:t>cliente pode aceitar o sistema para que a implantação possa começar. E o fornecedor do sistema se compromete a sanar os problemas urgentes e entregar uma nova versão para o cliente o mais rápido possível</a:t>
            </a:r>
            <a:endParaRPr lang="pt-BR" dirty="0" smtClean="0"/>
          </a:p>
        </p:txBody>
      </p:sp>
    </p:spTree>
    <p:extLst>
      <p:ext uri="{BB962C8B-B14F-4D97-AF65-F5344CB8AC3E}">
        <p14:creationId xmlns:p14="http://schemas.microsoft.com/office/powerpoint/2010/main" val="2593228758"/>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5110</TotalTime>
  <Words>11861</Words>
  <Application>Microsoft Office PowerPoint</Application>
  <PresentationFormat>Widescreen</PresentationFormat>
  <Paragraphs>444</Paragraphs>
  <Slides>80</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80</vt:i4>
      </vt:variant>
    </vt:vector>
  </HeadingPairs>
  <TitlesOfParts>
    <vt:vector size="84" baseType="lpstr">
      <vt:lpstr>Arial</vt:lpstr>
      <vt:lpstr>Calibri</vt:lpstr>
      <vt:lpstr>Calibri Light</vt:lpstr>
      <vt:lpstr>Tema do Office</vt:lpstr>
      <vt:lpstr>Capitulo 8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vt:lpstr>
      <vt:lpstr>Capitulo 8 – Teste de software Testes de desenvolvimento</vt:lpstr>
      <vt:lpstr>Capitulo 8 – Teste de software Testes de desenvolvimento</vt:lpstr>
      <vt:lpstr>Capitulo 8 – Teste de software -Teste unitário</vt:lpstr>
      <vt:lpstr>Capitulo 8 – Teste de software -Teste unitário</vt:lpstr>
      <vt:lpstr>Capitulo 8 – Teste de software -Teste unitário</vt:lpstr>
      <vt:lpstr>Capitulo 8 – Teste de software -Teste unitário</vt:lpstr>
      <vt:lpstr>Capitulo 8 – Teste de software -Teste unitário</vt:lpstr>
      <vt:lpstr>Capitulo 8 – Teste de software -Teste unitário</vt:lpstr>
      <vt:lpstr>Capitulo 8 – Teste de software -Teste unitário</vt:lpstr>
      <vt:lpstr>Capitulo 8 – Teste de software -8.1.2 Escolha de casos de teste unitário </vt:lpstr>
      <vt:lpstr>Capitulo 8 – Teste de software -8.1.2 Escolha de casos de teste unitário </vt:lpstr>
      <vt:lpstr>Capitulo 8 – Teste de software -8.1.2 Escolha de casos de teste unitário </vt:lpstr>
      <vt:lpstr>Capitulo 8 – Teste de software -8.1.2 Escolha de casos de teste unitário </vt:lpstr>
      <vt:lpstr>Capitulo 8 – Teste de software -8.1.2 Escolha de casos de teste unitário </vt:lpstr>
      <vt:lpstr>Capitulo 8 – Teste de software -8.1.2 Escolha de casos de teste unitário </vt:lpstr>
      <vt:lpstr>Capitulo 8 – Teste de software -8.1.2 Escolha de casos de teste unitário </vt:lpstr>
      <vt:lpstr>Capitulo 8 – Teste de software -8.1.2 Escolha de casos de teste unitário </vt:lpstr>
      <vt:lpstr>Capitulo 8 – Teste de software -8.1.2 Escolha de casos de teste unitário </vt:lpstr>
      <vt:lpstr>Capitulo 8 – Teste de software -8.1.3 Teste de componente </vt:lpstr>
      <vt:lpstr>Capitulo 8 – Teste de software -8.1.3 Teste de componente </vt:lpstr>
      <vt:lpstr>Capitulo 8 – Teste de software -8.1.3 Teste de componente </vt:lpstr>
      <vt:lpstr>Capitulo 8 – Teste de software -8.1.3 Teste de componente </vt:lpstr>
      <vt:lpstr>Capitulo 8 – Teste de software -8.1.3 Teste de componente </vt:lpstr>
      <vt:lpstr>Capitulo 8 – Teste de software -8.1.3 Teste de componente </vt:lpstr>
      <vt:lpstr>Capitulo 8 – Teste de software -8.1.4 Teste de sistema</vt:lpstr>
      <vt:lpstr>Capitulo 8 – Teste de software -8.1.4 Teste de sistema</vt:lpstr>
      <vt:lpstr>Capitulo 8 – Teste de software -8.1.4 Teste de sistema</vt:lpstr>
      <vt:lpstr>Capitulo 8 – Teste de software -8.1.4 Teste de sistema</vt:lpstr>
      <vt:lpstr>Capitulo 8 – Teste de software -8.1.4 Teste de sistema</vt:lpstr>
      <vt:lpstr>Capitulo 8 – Teste de software -8.1.4 Teste de sistema</vt:lpstr>
      <vt:lpstr>Capitulo 8 – Teste de software -8.1.4 Teste de sistema</vt:lpstr>
      <vt:lpstr>Capitulo 8 – Teste de software -8.2 Desenvolvimento dirigido a testes</vt:lpstr>
      <vt:lpstr>Capitulo 8 – Teste de software -8.2 Desenvolvimento dirigido a testes</vt:lpstr>
      <vt:lpstr>Capitulo 8 – Teste de software -8.2 Desenvolvimento dirigido a testes</vt:lpstr>
      <vt:lpstr>Capitulo 8 – Teste de software -8.2 Desenvolvimento dirigido a testes</vt:lpstr>
      <vt:lpstr>Capitulo 8 – Teste de software -8.2 Desenvolvimento dirigido a testes</vt:lpstr>
      <vt:lpstr>Capitulo 8 – Teste de software -8.2 Desenvolvimento dirigido a testes</vt:lpstr>
      <vt:lpstr>Capitulo 8 – Teste de software -8.2 Desenvolvimento dirigido a testes</vt:lpstr>
      <vt:lpstr>Capitulo 8 – Teste de software -8.2 Desenvolvimento dirigido a testes</vt:lpstr>
      <vt:lpstr>Capitulo 8 – Teste de software -8.3 Testes de release </vt:lpstr>
      <vt:lpstr>Capitulo 8 – Teste de software -8.3 Testes de release </vt:lpstr>
      <vt:lpstr>Capitulo 8 – Teste de software -8.3 Testes de release - 8.3.1 Testes baseados em requisitos </vt:lpstr>
      <vt:lpstr>Capitulo 8 – Teste de software -8.3 Testes de release - 8.3.1 Testes baseados em requisitos </vt:lpstr>
      <vt:lpstr>Capitulo 8 – Teste de software -8.3 Testes de release - 8.3.2 Testes de cenário </vt:lpstr>
      <vt:lpstr>Capitulo 8 – Teste de software -8.3 Testes de release - 8.3.2 Testes de cenário </vt:lpstr>
      <vt:lpstr>Capitulo 8 – Teste de software -8.3 Testes de release - 8.3.2 Testes de cenário </vt:lpstr>
      <vt:lpstr>Capitulo 8 – Teste de software -8.3 Testes de release - 8.3.2 Testes de cenário </vt:lpstr>
      <vt:lpstr>Capitulo 8 – Teste de software -8.3 Testes de release - 8.3.2 Testes de cenário </vt:lpstr>
      <vt:lpstr>Capitulo 8 – Teste de software -8.3 Testes de release - 8.3.2 Testes de cenário </vt:lpstr>
      <vt:lpstr>Capitulo 8 – Teste de software -8.3 Testes de release - 8.3.2 Testes de cenário </vt:lpstr>
      <vt:lpstr>Capitulo 8 – Teste de software -8.3 Testes de release - 8.3.3 Testes de Desempenho </vt:lpstr>
      <vt:lpstr>Capitulo 8 – Teste de software -8.3 Testes de release - 8.3.3 Testes de Desempenho </vt:lpstr>
      <vt:lpstr>Capitulo 8 – Teste de software -8.3 Testes de release - 8.3.3 Testes de Desempenho </vt:lpstr>
      <vt:lpstr>Capitulo 8 – Teste de software -8.3 Testes de release - 8.4 Testes de Usuário</vt:lpstr>
      <vt:lpstr>Capitulo 8 – Teste de software -8.3 Testes de release - 8.4 Testes de Usuário</vt:lpstr>
      <vt:lpstr>Capitulo 8 – Teste de software -8.3 Testes de release - 8.4 Testes de Usuário</vt:lpstr>
      <vt:lpstr>Capitulo 8 – Teste de software -8.3 Testes de release - 8.4 Testes de Usuário</vt:lpstr>
      <vt:lpstr>Capitulo 8 – Teste de software -8.3 Testes de release - 8.4 Testes de Usuário</vt:lpstr>
      <vt:lpstr>Capitulo 8 – Teste de software -8.3 Testes de release - 8.4 Testes de Usuário</vt:lpstr>
      <vt:lpstr>Capitulo 8 – Teste de software -8.3 Testes de release - 8.4 Testes de Usuário</vt:lpstr>
      <vt:lpstr>Capitulo 8 – Teste de software -8.3 Testes de release - 8.4 Testes de Usuário</vt:lpstr>
      <vt:lpstr>Capitulo 8 – Teste de software -8.3 Testes de release - 8.4 Testes de Usuário</vt:lpstr>
      <vt:lpstr>Capitulo 8 – Teste de software -8.3 Testes de release - 8.4 Testes de Usuário</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Capitulo 7 -Projeto e Implementação</dc:title>
  <dc:creator>Marilee</dc:creator>
  <cp:lastModifiedBy>Marilee</cp:lastModifiedBy>
  <cp:revision>91</cp:revision>
  <dcterms:created xsi:type="dcterms:W3CDTF">2025-01-02T23:32:39Z</dcterms:created>
  <dcterms:modified xsi:type="dcterms:W3CDTF">2025-11-03T13:41:43Z</dcterms:modified>
</cp:coreProperties>
</file>