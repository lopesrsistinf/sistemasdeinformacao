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342" r:id="rId24"/>
    <p:sldId id="279" r:id="rId25"/>
    <p:sldId id="280" r:id="rId26"/>
    <p:sldId id="281" r:id="rId27"/>
    <p:sldId id="282" r:id="rId28"/>
    <p:sldId id="283" r:id="rId29"/>
    <p:sldId id="284" r:id="rId30"/>
    <p:sldId id="286" r:id="rId31"/>
    <p:sldId id="287" r:id="rId32"/>
    <p:sldId id="289"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5" r:id="rId66"/>
    <p:sldId id="326" r:id="rId67"/>
    <p:sldId id="327" r:id="rId68"/>
    <p:sldId id="328"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D1311DB0-BA34-4C02-AE14-99AF74A184C3}" type="datetimeFigureOut">
              <a:rPr lang="pt-BR" smtClean="0"/>
              <a:t>11/08/2025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2217178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D1311DB0-BA34-4C02-AE14-99AF74A184C3}" type="datetimeFigureOut">
              <a:rPr lang="pt-BR" smtClean="0"/>
              <a:t>11/08/2025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37938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D1311DB0-BA34-4C02-AE14-99AF74A184C3}" type="datetimeFigureOut">
              <a:rPr lang="pt-BR" smtClean="0"/>
              <a:t>11/08/2025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2276007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D1311DB0-BA34-4C02-AE14-99AF74A184C3}" type="datetimeFigureOut">
              <a:rPr lang="pt-BR" smtClean="0"/>
              <a:t>11/08/2025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353377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D1311DB0-BA34-4C02-AE14-99AF74A184C3}" type="datetimeFigureOut">
              <a:rPr lang="pt-BR" smtClean="0"/>
              <a:t>11/08/2025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603781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D1311DB0-BA34-4C02-AE14-99AF74A184C3}" type="datetimeFigureOut">
              <a:rPr lang="pt-BR" smtClean="0"/>
              <a:t>11/08/2025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987675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1311DB0-BA34-4C02-AE14-99AF74A184C3}" type="datetimeFigureOut">
              <a:rPr lang="pt-BR" smtClean="0"/>
              <a:t>11/08/2025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210381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D1311DB0-BA34-4C02-AE14-99AF74A184C3}" type="datetimeFigureOut">
              <a:rPr lang="pt-BR" smtClean="0"/>
              <a:t>11/08/2025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3188105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D1311DB0-BA34-4C02-AE14-99AF74A184C3}" type="datetimeFigureOut">
              <a:rPr lang="pt-BR" smtClean="0"/>
              <a:t>11/08/2025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2494880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D1311DB0-BA34-4C02-AE14-99AF74A184C3}" type="datetimeFigureOut">
              <a:rPr lang="pt-BR" smtClean="0"/>
              <a:t>11/08/2025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2929192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D1311DB0-BA34-4C02-AE14-99AF74A184C3}" type="datetimeFigureOut">
              <a:rPr lang="pt-BR" smtClean="0"/>
              <a:t>11/08/2025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151CFC2-5CA9-42AF-B636-8FB3A3DF6E2F}" type="slidenum">
              <a:rPr lang="pt-BR" smtClean="0"/>
              <a:t>‹nº›</a:t>
            </a:fld>
            <a:endParaRPr lang="pt-BR"/>
          </a:p>
        </p:txBody>
      </p:sp>
    </p:spTree>
    <p:extLst>
      <p:ext uri="{BB962C8B-B14F-4D97-AF65-F5344CB8AC3E}">
        <p14:creationId xmlns:p14="http://schemas.microsoft.com/office/powerpoint/2010/main" val="261453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11DB0-BA34-4C02-AE14-99AF74A184C3}" type="datetimeFigureOut">
              <a:rPr lang="pt-BR" smtClean="0"/>
              <a:t>11/08/2025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1CFC2-5CA9-42AF-B636-8FB3A3DF6E2F}" type="slidenum">
              <a:rPr lang="pt-BR" smtClean="0"/>
              <a:t>‹nº›</a:t>
            </a:fld>
            <a:endParaRPr lang="pt-BR"/>
          </a:p>
        </p:txBody>
      </p:sp>
    </p:spTree>
    <p:extLst>
      <p:ext uri="{BB962C8B-B14F-4D97-AF65-F5344CB8AC3E}">
        <p14:creationId xmlns:p14="http://schemas.microsoft.com/office/powerpoint/2010/main" val="2030123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2AC1EE3-3D24-499C-82D0-25572166EF2F}" type="slidenum">
              <a:rPr lang="pt-PT" altLang="pt-BR" sz="1400"/>
              <a:pPr>
                <a:spcBef>
                  <a:spcPct val="0"/>
                </a:spcBef>
                <a:buFontTx/>
                <a:buNone/>
              </a:pPr>
              <a:t>1</a:t>
            </a:fld>
            <a:endParaRPr lang="pt-PT" altLang="pt-BR" sz="1400"/>
          </a:p>
        </p:txBody>
      </p:sp>
      <p:sp>
        <p:nvSpPr>
          <p:cNvPr id="1945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a:t>
            </a:r>
            <a:endParaRPr lang="pt-PT" altLang="pt-BR" sz="3600"/>
          </a:p>
        </p:txBody>
      </p:sp>
      <p:sp>
        <p:nvSpPr>
          <p:cNvPr id="19460" name="Rectangle 3"/>
          <p:cNvSpPr>
            <a:spLocks noGrp="1" noChangeArrowheads="1"/>
          </p:cNvSpPr>
          <p:nvPr>
            <p:ph type="subTitle" idx="1"/>
          </p:nvPr>
        </p:nvSpPr>
        <p:spPr>
          <a:xfrm>
            <a:off x="1524001" y="981076"/>
            <a:ext cx="9180513" cy="5267325"/>
          </a:xfrm>
        </p:spPr>
        <p:txBody>
          <a:bodyPr/>
          <a:lstStyle/>
          <a:p>
            <a:pPr algn="just" eaLnBrk="1" hangingPunct="1"/>
            <a:r>
              <a:rPr lang="pt-PT" altLang="pt-BR" sz="2800"/>
              <a:t>Conjunto de atividades relacionadas para a produção do software:</a:t>
            </a:r>
          </a:p>
          <a:p>
            <a:pPr algn="just" eaLnBrk="1" hangingPunct="1"/>
            <a:r>
              <a:rPr lang="pt-PT" altLang="pt-BR" sz="2800"/>
              <a:t>1)Especificação das funcionalidades e restrições do software</a:t>
            </a:r>
          </a:p>
          <a:p>
            <a:pPr algn="just" eaLnBrk="1" hangingPunct="1"/>
            <a:r>
              <a:rPr lang="pt-PT" altLang="pt-BR" sz="2800"/>
              <a:t>2) Projeto e implementação: produção para atendimento as especificações</a:t>
            </a:r>
          </a:p>
          <a:p>
            <a:pPr algn="just" eaLnBrk="1" hangingPunct="1"/>
            <a:r>
              <a:rPr lang="pt-PT" altLang="pt-BR" sz="2800"/>
              <a:t>3)Validação para garantir que atende as demandas do cliente</a:t>
            </a:r>
          </a:p>
          <a:p>
            <a:pPr algn="just" eaLnBrk="1" hangingPunct="1"/>
            <a:r>
              <a:rPr lang="pt-PT" altLang="pt-BR" sz="2800"/>
              <a:t>4)Evolução do software para atendimento as mudanças</a:t>
            </a:r>
          </a:p>
          <a:p>
            <a:pPr algn="just" eaLnBrk="1" hangingPunct="1"/>
            <a:endParaRPr lang="pt-PT" altLang="pt-BR" sz="2800"/>
          </a:p>
          <a:p>
            <a:pPr algn="just" eaLnBrk="1" hangingPunct="1"/>
            <a:r>
              <a:rPr lang="pt-PT" altLang="pt-BR" sz="2800"/>
              <a:t>As 4 atividades fazem parte de todos os processos de software</a:t>
            </a:r>
          </a:p>
        </p:txBody>
      </p:sp>
    </p:spTree>
    <p:extLst>
      <p:ext uri="{BB962C8B-B14F-4D97-AF65-F5344CB8AC3E}">
        <p14:creationId xmlns:p14="http://schemas.microsoft.com/office/powerpoint/2010/main" val="41141426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41FE0A7-F229-4D37-B07B-123C6B124833}" type="slidenum">
              <a:rPr lang="pt-PT" altLang="pt-BR" sz="1400"/>
              <a:pPr>
                <a:spcBef>
                  <a:spcPct val="0"/>
                </a:spcBef>
                <a:buFontTx/>
                <a:buNone/>
              </a:pPr>
              <a:t>2</a:t>
            </a:fld>
            <a:endParaRPr lang="pt-PT" altLang="pt-BR" sz="1400"/>
          </a:p>
        </p:txBody>
      </p:sp>
      <p:sp>
        <p:nvSpPr>
          <p:cNvPr id="2048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Descrição</a:t>
            </a:r>
            <a:endParaRPr lang="pt-PT" altLang="pt-BR" sz="3600"/>
          </a:p>
        </p:txBody>
      </p:sp>
      <p:sp>
        <p:nvSpPr>
          <p:cNvPr id="20484" name="Rectangle 3"/>
          <p:cNvSpPr>
            <a:spLocks noGrp="1" noChangeArrowheads="1"/>
          </p:cNvSpPr>
          <p:nvPr>
            <p:ph type="subTitle" idx="1"/>
          </p:nvPr>
        </p:nvSpPr>
        <p:spPr>
          <a:xfrm>
            <a:off x="1524001" y="981076"/>
            <a:ext cx="9180513" cy="5267325"/>
          </a:xfrm>
        </p:spPr>
        <p:txBody>
          <a:bodyPr>
            <a:normAutofit lnSpcReduction="10000"/>
          </a:bodyPr>
          <a:lstStyle/>
          <a:p>
            <a:pPr algn="just" eaLnBrk="1" hangingPunct="1"/>
            <a:r>
              <a:rPr lang="pt-PT" altLang="pt-BR" sz="2800" dirty="0"/>
              <a:t>Produtos: são os resultados de uma atividade do processo. Ex: a atividade de arquitetura do software resulta no modelo de arquitetura - UML.</a:t>
            </a:r>
          </a:p>
          <a:p>
            <a:pPr algn="just" eaLnBrk="1" hangingPunct="1"/>
            <a:r>
              <a:rPr lang="pt-PT" altLang="pt-BR" sz="2800" dirty="0"/>
              <a:t>Papéis: definem as responsabilidades das pessoas envolvidas no processo. Ex: gerente de projeto, gerente de configuração, programador, analista...</a:t>
            </a:r>
          </a:p>
          <a:p>
            <a:pPr algn="just" eaLnBrk="1" hangingPunct="1"/>
            <a:r>
              <a:rPr lang="pt-PT" altLang="pt-BR" sz="2800" dirty="0"/>
              <a:t>Pré e pós-condições: declarações verdadeiras antes e depois de uma determinada atividade do processo ou produção de um produto. </a:t>
            </a:r>
            <a:endParaRPr lang="pt-PT" altLang="pt-BR" sz="2800" dirty="0" smtClean="0"/>
          </a:p>
          <a:p>
            <a:pPr algn="just" eaLnBrk="1" hangingPunct="1"/>
            <a:r>
              <a:rPr lang="pt-PT" altLang="pt-BR" sz="2800" dirty="0" smtClean="0"/>
              <a:t>Ex</a:t>
            </a:r>
            <a:r>
              <a:rPr lang="pt-PT" altLang="pt-BR" sz="2800" dirty="0"/>
              <a:t>: antes do projeto de arquitetura ser iniciado,  a pré-condição é a aprovação dos requisitos pelos usuários e a pós-condição é a revisão dos diagramas UML de arquitetura de software</a:t>
            </a:r>
          </a:p>
        </p:txBody>
      </p:sp>
    </p:spTree>
    <p:extLst>
      <p:ext uri="{BB962C8B-B14F-4D97-AF65-F5344CB8AC3E}">
        <p14:creationId xmlns:p14="http://schemas.microsoft.com/office/powerpoint/2010/main" val="4464466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4BB8B1D-BCB0-4578-98F1-148953CECCA8}" type="slidenum">
              <a:rPr lang="pt-PT" altLang="pt-BR" sz="1400"/>
              <a:pPr>
                <a:spcBef>
                  <a:spcPct val="0"/>
                </a:spcBef>
                <a:buFontTx/>
                <a:buNone/>
              </a:pPr>
              <a:t>3</a:t>
            </a:fld>
            <a:endParaRPr lang="pt-PT" altLang="pt-BR" sz="1400"/>
          </a:p>
        </p:txBody>
      </p:sp>
      <p:sp>
        <p:nvSpPr>
          <p:cNvPr id="2150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Modelos</a:t>
            </a:r>
            <a:endParaRPr lang="pt-PT" altLang="pt-BR" sz="3600"/>
          </a:p>
        </p:txBody>
      </p:sp>
      <p:sp>
        <p:nvSpPr>
          <p:cNvPr id="11267" name="Rectangle 3"/>
          <p:cNvSpPr>
            <a:spLocks noGrp="1" noChangeArrowheads="1"/>
          </p:cNvSpPr>
          <p:nvPr>
            <p:ph type="subTitle" idx="1"/>
          </p:nvPr>
        </p:nvSpPr>
        <p:spPr>
          <a:xfrm>
            <a:off x="1524001" y="981076"/>
            <a:ext cx="9180513" cy="5267325"/>
          </a:xfrm>
        </p:spPr>
        <p:txBody>
          <a:bodyPr/>
          <a:lstStyle/>
          <a:p>
            <a:pPr algn="just" eaLnBrk="1" hangingPunct="1">
              <a:defRPr/>
            </a:pPr>
            <a:r>
              <a:rPr lang="pt-PT" altLang="pt-BR" sz="2800" dirty="0"/>
              <a:t>É a representação  de uma perspectiva particular do processo que fornece informações parciais sobre ele. </a:t>
            </a:r>
            <a:endParaRPr lang="pt-PT" altLang="pt-BR" sz="2800" dirty="0" smtClean="0"/>
          </a:p>
          <a:p>
            <a:pPr algn="just" eaLnBrk="1" hangingPunct="1">
              <a:defRPr/>
            </a:pPr>
            <a:r>
              <a:rPr lang="pt-PT" altLang="pt-BR" sz="2800" dirty="0" smtClean="0"/>
              <a:t>Ex</a:t>
            </a:r>
            <a:r>
              <a:rPr lang="pt-PT" altLang="pt-BR" sz="2800" dirty="0"/>
              <a:t>: modelo de atividade mostra a sequencia de atividades mas não os papéis das pessoas.</a:t>
            </a:r>
          </a:p>
          <a:p>
            <a:pPr algn="just" eaLnBrk="1" hangingPunct="1">
              <a:defRPr/>
            </a:pPr>
            <a:r>
              <a:rPr lang="pt-PT" altLang="pt-BR" sz="2800" dirty="0"/>
              <a:t>Modelos são abstrações:</a:t>
            </a:r>
          </a:p>
          <a:p>
            <a:pPr marL="514350" indent="-514350" algn="just">
              <a:buFontTx/>
              <a:buAutoNum type="arabicParenR"/>
              <a:defRPr/>
            </a:pPr>
            <a:r>
              <a:rPr lang="pt-PT" altLang="pt-BR" sz="2800" dirty="0"/>
              <a:t>Modelo em cascata: considera atividades fundamentais de especificação, desenvolvimento, validação em fases distintas.</a:t>
            </a:r>
          </a:p>
          <a:p>
            <a:pPr marL="514350" indent="-514350" algn="just">
              <a:buFontTx/>
              <a:buAutoNum type="arabicParenR"/>
              <a:defRPr/>
            </a:pPr>
            <a:r>
              <a:rPr lang="pt-PT" altLang="pt-BR" sz="2800" dirty="0"/>
              <a:t>Incremental: intercala a especificação, desenvolvimento e </a:t>
            </a:r>
            <a:r>
              <a:rPr lang="pt-PT" altLang="pt-BR" sz="2800" dirty="0" smtClean="0"/>
              <a:t>validação</a:t>
            </a:r>
            <a:r>
              <a:rPr lang="pt-PT" altLang="pt-BR" sz="2800" dirty="0"/>
              <a:t>. O sistema desenvolvido é uma série de incrementos, com varias versões, adicionando funcionalidades </a:t>
            </a:r>
            <a:r>
              <a:rPr lang="pt-PT" altLang="pt-BR" sz="2800" dirty="0" smtClean="0"/>
              <a:t>à </a:t>
            </a:r>
            <a:r>
              <a:rPr lang="pt-PT" altLang="pt-BR" sz="2800" dirty="0"/>
              <a:t>versão anterior</a:t>
            </a:r>
          </a:p>
        </p:txBody>
      </p:sp>
    </p:spTree>
    <p:extLst>
      <p:ext uri="{BB962C8B-B14F-4D97-AF65-F5344CB8AC3E}">
        <p14:creationId xmlns:p14="http://schemas.microsoft.com/office/powerpoint/2010/main" val="1020080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E564460-7075-4773-8E95-E5633AB35B3C}" type="slidenum">
              <a:rPr lang="pt-PT" altLang="pt-BR" sz="1400"/>
              <a:pPr>
                <a:spcBef>
                  <a:spcPct val="0"/>
                </a:spcBef>
                <a:buFontTx/>
                <a:buNone/>
              </a:pPr>
              <a:t>4</a:t>
            </a:fld>
            <a:endParaRPr lang="pt-PT" altLang="pt-BR" sz="1400"/>
          </a:p>
        </p:txBody>
      </p:sp>
      <p:sp>
        <p:nvSpPr>
          <p:cNvPr id="2253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Modelos</a:t>
            </a:r>
            <a:endParaRPr lang="pt-PT" altLang="pt-BR" sz="3600"/>
          </a:p>
        </p:txBody>
      </p:sp>
      <p:sp>
        <p:nvSpPr>
          <p:cNvPr id="22532" name="Rectangle 3"/>
          <p:cNvSpPr>
            <a:spLocks noGrp="1" noChangeArrowheads="1"/>
          </p:cNvSpPr>
          <p:nvPr>
            <p:ph type="subTitle" idx="1"/>
          </p:nvPr>
        </p:nvSpPr>
        <p:spPr>
          <a:xfrm>
            <a:off x="1524001" y="981076"/>
            <a:ext cx="9180513" cy="5267325"/>
          </a:xfrm>
        </p:spPr>
        <p:txBody>
          <a:bodyPr/>
          <a:lstStyle/>
          <a:p>
            <a:pPr algn="just" eaLnBrk="1" hangingPunct="1"/>
            <a:r>
              <a:rPr lang="pt-PT" altLang="pt-BR" sz="2800"/>
              <a:t>Modelos são abstrações:</a:t>
            </a:r>
          </a:p>
          <a:p>
            <a:pPr algn="just" eaLnBrk="1" hangingPunct="1"/>
            <a:r>
              <a:rPr lang="pt-PT" altLang="pt-BR" sz="2800"/>
              <a:t>3) Engenharia de software orientada ao reuso: baseia-se em componentes reusaveis de forma a integrar os componentes no sistema em desenvolvimento</a:t>
            </a:r>
          </a:p>
          <a:p>
            <a:pPr algn="just" eaLnBrk="1" hangingPunct="1"/>
            <a:endParaRPr lang="pt-PT" altLang="pt-BR" sz="2800"/>
          </a:p>
          <a:p>
            <a:pPr algn="just" eaLnBrk="1" hangingPunct="1"/>
            <a:r>
              <a:rPr lang="pt-PT" altLang="pt-BR" sz="2800"/>
              <a:t>Tais modelos não são mutuamente excludentes e muitas vezes, são usados e conjunto.</a:t>
            </a:r>
          </a:p>
        </p:txBody>
      </p:sp>
    </p:spTree>
    <p:extLst>
      <p:ext uri="{BB962C8B-B14F-4D97-AF65-F5344CB8AC3E}">
        <p14:creationId xmlns:p14="http://schemas.microsoft.com/office/powerpoint/2010/main" val="1641702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49094F-6ACC-46AA-91AC-4FC14EA214A3}" type="slidenum">
              <a:rPr lang="pt-PT" altLang="pt-BR" sz="1400"/>
              <a:pPr>
                <a:spcBef>
                  <a:spcPct val="0"/>
                </a:spcBef>
                <a:buFontTx/>
                <a:buNone/>
              </a:pPr>
              <a:t>5</a:t>
            </a:fld>
            <a:endParaRPr lang="pt-PT" altLang="pt-BR" sz="1400"/>
          </a:p>
        </p:txBody>
      </p:sp>
      <p:sp>
        <p:nvSpPr>
          <p:cNvPr id="2355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a:t>
            </a:r>
            <a:endParaRPr lang="pt-PT" altLang="pt-BR" sz="3600"/>
          </a:p>
        </p:txBody>
      </p:sp>
      <p:sp>
        <p:nvSpPr>
          <p:cNvPr id="23556" name="Rectangle 3"/>
          <p:cNvSpPr>
            <a:spLocks noGrp="1" noChangeArrowheads="1"/>
          </p:cNvSpPr>
          <p:nvPr>
            <p:ph type="subTitle" idx="1"/>
          </p:nvPr>
        </p:nvSpPr>
        <p:spPr>
          <a:xfrm>
            <a:off x="612475" y="1207697"/>
            <a:ext cx="10808899" cy="5040703"/>
          </a:xfrm>
        </p:spPr>
        <p:txBody>
          <a:bodyPr/>
          <a:lstStyle/>
          <a:p>
            <a:pPr algn="just" eaLnBrk="1" hangingPunct="1"/>
            <a:r>
              <a:rPr lang="pt-BR" altLang="pt-BR" dirty="0" smtClean="0"/>
              <a:t>Projeto e implementação de software </a:t>
            </a:r>
          </a:p>
          <a:p>
            <a:pPr algn="just" eaLnBrk="1" hangingPunct="1"/>
            <a:r>
              <a:rPr lang="pt-BR" altLang="pt-BR" dirty="0" smtClean="0"/>
              <a:t>Implementar sistema decorre dos processos de projeto de sistema. </a:t>
            </a:r>
          </a:p>
          <a:p>
            <a:pPr algn="just" eaLnBrk="1" hangingPunct="1"/>
            <a:r>
              <a:rPr lang="pt-BR" altLang="pt-BR" dirty="0" smtClean="0"/>
              <a:t>Classes de programa (</a:t>
            </a:r>
            <a:r>
              <a:rPr lang="pt-BR" altLang="pt-BR" dirty="0" err="1" smtClean="0"/>
              <a:t>ex</a:t>
            </a:r>
            <a:r>
              <a:rPr lang="pt-BR" altLang="pt-BR" dirty="0" smtClean="0"/>
              <a:t>: sistemas críticos de segurança), são normalmente projetadas em detalhe antes de se iniciar qualquer implementação.</a:t>
            </a:r>
          </a:p>
          <a:p>
            <a:pPr algn="just" eaLnBrk="1" hangingPunct="1"/>
            <a:r>
              <a:rPr lang="pt-BR" altLang="pt-BR" dirty="0" smtClean="0"/>
              <a:t>Ferramentas de desenvolvimento de software podem ser usadas para gerar um esqueleto do programa a partir do projeto, incluindo a definição das interfaces.</a:t>
            </a:r>
          </a:p>
          <a:p>
            <a:pPr algn="just" eaLnBrk="1" hangingPunct="1"/>
            <a:r>
              <a:rPr lang="pt-BR" altLang="pt-BR" dirty="0" smtClean="0"/>
              <a:t>Em muitos casos, o desenvolvedor precisa apenas acrescentar detalhes da operação de cada componente do programa.</a:t>
            </a:r>
            <a:endParaRPr lang="pt-PT" altLang="pt-BR" dirty="0" smtClean="0"/>
          </a:p>
        </p:txBody>
      </p:sp>
    </p:spTree>
    <p:extLst>
      <p:ext uri="{BB962C8B-B14F-4D97-AF65-F5344CB8AC3E}">
        <p14:creationId xmlns:p14="http://schemas.microsoft.com/office/powerpoint/2010/main" val="20655400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ADFBB6A-C778-40EB-9D7C-0B057101BBB4}" type="slidenum">
              <a:rPr lang="pt-PT" altLang="pt-BR" sz="1400"/>
              <a:pPr>
                <a:spcBef>
                  <a:spcPct val="0"/>
                </a:spcBef>
                <a:buFontTx/>
                <a:buNone/>
              </a:pPr>
              <a:t>6</a:t>
            </a:fld>
            <a:endParaRPr lang="pt-PT" altLang="pt-BR" sz="1400"/>
          </a:p>
        </p:txBody>
      </p:sp>
      <p:sp>
        <p:nvSpPr>
          <p:cNvPr id="2457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em Cascata ou ciclo de vida do software</a:t>
            </a:r>
            <a:endParaRPr lang="pt-PT" altLang="pt-BR" sz="3600"/>
          </a:p>
        </p:txBody>
      </p:sp>
      <p:sp>
        <p:nvSpPr>
          <p:cNvPr id="11267" name="Rectangle 3"/>
          <p:cNvSpPr>
            <a:spLocks noGrp="1" noChangeArrowheads="1"/>
          </p:cNvSpPr>
          <p:nvPr>
            <p:ph type="subTitle" idx="1"/>
          </p:nvPr>
        </p:nvSpPr>
        <p:spPr>
          <a:xfrm>
            <a:off x="1524001" y="981076"/>
            <a:ext cx="9180513" cy="5267325"/>
          </a:xfrm>
        </p:spPr>
        <p:txBody>
          <a:bodyPr>
            <a:normAutofit lnSpcReduction="10000"/>
          </a:bodyPr>
          <a:lstStyle/>
          <a:p>
            <a:pPr algn="just" eaLnBrk="1" hangingPunct="1">
              <a:defRPr/>
            </a:pPr>
            <a:endParaRPr lang="pt-PT" altLang="pt-BR" sz="2800" dirty="0"/>
          </a:p>
          <a:p>
            <a:pPr algn="just" eaLnBrk="1" hangingPunct="1">
              <a:defRPr/>
            </a:pPr>
            <a:r>
              <a:rPr lang="pt-PT" altLang="pt-BR" sz="2800" dirty="0"/>
              <a:t>Encadeamento da fase anterior a proxima fase</a:t>
            </a:r>
          </a:p>
          <a:p>
            <a:pPr algn="just" eaLnBrk="1" hangingPunct="1">
              <a:defRPr/>
            </a:pPr>
            <a:r>
              <a:rPr lang="pt-PT" altLang="pt-BR" sz="2800" dirty="0"/>
              <a:t>Inclui planejar e programar todas as atividades do processo.</a:t>
            </a:r>
          </a:p>
          <a:p>
            <a:pPr algn="just" eaLnBrk="1" hangingPunct="1">
              <a:defRPr/>
            </a:pPr>
            <a:endParaRPr lang="pt-PT" altLang="pt-BR" sz="2800" dirty="0"/>
          </a:p>
          <a:p>
            <a:pPr algn="just" eaLnBrk="1" hangingPunct="1">
              <a:defRPr/>
            </a:pPr>
            <a:r>
              <a:rPr lang="pt-PT" altLang="pt-BR" sz="2800" dirty="0"/>
              <a:t>Estagios:</a:t>
            </a:r>
          </a:p>
          <a:p>
            <a:pPr marL="514350" indent="-514350" algn="just">
              <a:buFontTx/>
              <a:buAutoNum type="arabicParenR"/>
              <a:defRPr/>
            </a:pPr>
            <a:r>
              <a:rPr lang="pt-PT" altLang="pt-BR" sz="2800" dirty="0"/>
              <a:t>Análise e definição de requisitos: definem metas e restrições com base em consultas aos usuários. Especificação do sistema</a:t>
            </a:r>
          </a:p>
          <a:p>
            <a:pPr marL="514350" indent="-514350" algn="just">
              <a:buFontTx/>
              <a:buAutoNum type="arabicParenR"/>
              <a:defRPr/>
            </a:pPr>
            <a:r>
              <a:rPr lang="pt-PT" altLang="pt-BR" sz="2800" dirty="0"/>
              <a:t>Projeto de implementação: aloca recursos para o hardware e software com uso de arquitetura geral do sistema. Identifica e descreve abstrações fundamentais do sistema e seus relacionamentos</a:t>
            </a:r>
          </a:p>
        </p:txBody>
      </p:sp>
    </p:spTree>
    <p:extLst>
      <p:ext uri="{BB962C8B-B14F-4D97-AF65-F5344CB8AC3E}">
        <p14:creationId xmlns:p14="http://schemas.microsoft.com/office/powerpoint/2010/main" val="10661768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C97671F-6CFD-40BB-8583-0B03F89D9F89}" type="slidenum">
              <a:rPr lang="pt-PT" altLang="pt-BR" sz="1400"/>
              <a:pPr>
                <a:spcBef>
                  <a:spcPct val="0"/>
                </a:spcBef>
                <a:buFontTx/>
                <a:buNone/>
              </a:pPr>
              <a:t>7</a:t>
            </a:fld>
            <a:endParaRPr lang="pt-PT" altLang="pt-BR" sz="1400"/>
          </a:p>
        </p:txBody>
      </p:sp>
      <p:sp>
        <p:nvSpPr>
          <p:cNvPr id="2560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em Cascata ou ciclo de vida do software</a:t>
            </a:r>
            <a:endParaRPr lang="pt-PT" altLang="pt-BR" sz="3600"/>
          </a:p>
        </p:txBody>
      </p:sp>
      <p:sp>
        <p:nvSpPr>
          <p:cNvPr id="25604" name="Rectangle 3"/>
          <p:cNvSpPr>
            <a:spLocks noGrp="1" noChangeArrowheads="1"/>
          </p:cNvSpPr>
          <p:nvPr>
            <p:ph type="subTitle" idx="1"/>
          </p:nvPr>
        </p:nvSpPr>
        <p:spPr>
          <a:xfrm>
            <a:off x="1524001" y="981076"/>
            <a:ext cx="9180513" cy="5267325"/>
          </a:xfrm>
        </p:spPr>
        <p:txBody>
          <a:bodyPr/>
          <a:lstStyle/>
          <a:p>
            <a:pPr algn="just" eaLnBrk="1" hangingPunct="1"/>
            <a:r>
              <a:rPr lang="pt-PT" altLang="pt-BR" sz="2800" dirty="0"/>
              <a:t>Estagios:</a:t>
            </a:r>
          </a:p>
          <a:p>
            <a:pPr algn="just" eaLnBrk="1" hangingPunct="1"/>
            <a:r>
              <a:rPr lang="pt-PT" altLang="pt-BR" sz="2800" dirty="0"/>
              <a:t>3) Implementação e teste unitário: implementa-se e testa-se cada unidade  do software</a:t>
            </a:r>
          </a:p>
          <a:p>
            <a:pPr algn="just" eaLnBrk="1" hangingPunct="1"/>
            <a:r>
              <a:rPr lang="pt-PT" altLang="pt-BR" sz="2800" dirty="0"/>
              <a:t>4)Integração e teste do sistema: integram-se as unidades e testa-se o sistema completo para assegurar que os requisitos do software foram atendidos para ser entregue ao cliente</a:t>
            </a:r>
          </a:p>
          <a:p>
            <a:pPr algn="just" eaLnBrk="1" hangingPunct="1"/>
            <a:r>
              <a:rPr lang="pt-PT" altLang="pt-BR" sz="2800" dirty="0"/>
              <a:t>5) Operação e Manutenção: fase mais longa do ciclo de vida do software. Instala-se e coloca-se o software em uso. Manutenção: correção de erros</a:t>
            </a:r>
          </a:p>
        </p:txBody>
      </p:sp>
    </p:spTree>
    <p:extLst>
      <p:ext uri="{BB962C8B-B14F-4D97-AF65-F5344CB8AC3E}">
        <p14:creationId xmlns:p14="http://schemas.microsoft.com/office/powerpoint/2010/main" val="2369249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E80FD7-5D29-479B-9584-0F127F49B63D}" type="slidenum">
              <a:rPr lang="pt-PT" altLang="pt-BR" sz="1400"/>
              <a:pPr>
                <a:spcBef>
                  <a:spcPct val="0"/>
                </a:spcBef>
                <a:buFontTx/>
                <a:buNone/>
              </a:pPr>
              <a:t>8</a:t>
            </a:fld>
            <a:endParaRPr lang="pt-PT" altLang="pt-BR" sz="1400"/>
          </a:p>
        </p:txBody>
      </p:sp>
      <p:sp>
        <p:nvSpPr>
          <p:cNvPr id="26627" name="Rectangle 2"/>
          <p:cNvSpPr>
            <a:spLocks noGrp="1" noChangeArrowheads="1"/>
          </p:cNvSpPr>
          <p:nvPr>
            <p:ph type="ctrTitle"/>
          </p:nvPr>
        </p:nvSpPr>
        <p:spPr>
          <a:xfrm>
            <a:off x="1524000" y="0"/>
            <a:ext cx="9144000" cy="1143000"/>
          </a:xfrm>
        </p:spPr>
        <p:txBody>
          <a:bodyPr anchor="ctr"/>
          <a:lstStyle/>
          <a:p>
            <a:pPr eaLnBrk="1" hangingPunct="1"/>
            <a:r>
              <a:rPr lang="pt-BR" altLang="pt-BR" sz="4400"/>
              <a:t>Ciclo de Vida – Modelo em Cascata</a:t>
            </a:r>
            <a:endParaRPr lang="pt-PT" altLang="pt-BR" sz="4400"/>
          </a:p>
        </p:txBody>
      </p:sp>
      <p:sp>
        <p:nvSpPr>
          <p:cNvPr id="26628" name="Text Box 4"/>
          <p:cNvSpPr txBox="1">
            <a:spLocks noChangeArrowheads="1"/>
          </p:cNvSpPr>
          <p:nvPr/>
        </p:nvSpPr>
        <p:spPr bwMode="auto">
          <a:xfrm>
            <a:off x="2057401" y="1219201"/>
            <a:ext cx="4183063" cy="461963"/>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pt-BR" altLang="pt-BR" sz="2400"/>
              <a:t>Definição de requisitos</a:t>
            </a:r>
            <a:endParaRPr lang="pt-PT" altLang="pt-BR" sz="2400"/>
          </a:p>
        </p:txBody>
      </p:sp>
      <p:sp>
        <p:nvSpPr>
          <p:cNvPr id="26629" name="Text Box 5"/>
          <p:cNvSpPr txBox="1">
            <a:spLocks noChangeArrowheads="1"/>
          </p:cNvSpPr>
          <p:nvPr/>
        </p:nvSpPr>
        <p:spPr bwMode="auto">
          <a:xfrm>
            <a:off x="3581400" y="2209801"/>
            <a:ext cx="4572000" cy="461963"/>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pt-BR" altLang="pt-BR" sz="2400"/>
              <a:t>Projeto de sistema e sftware</a:t>
            </a:r>
            <a:endParaRPr lang="pt-PT" altLang="pt-BR" sz="2400"/>
          </a:p>
        </p:txBody>
      </p:sp>
      <p:sp>
        <p:nvSpPr>
          <p:cNvPr id="26630" name="Text Box 6"/>
          <p:cNvSpPr txBox="1">
            <a:spLocks noChangeArrowheads="1"/>
          </p:cNvSpPr>
          <p:nvPr/>
        </p:nvSpPr>
        <p:spPr bwMode="auto">
          <a:xfrm>
            <a:off x="5486401" y="3429001"/>
            <a:ext cx="4930775" cy="461963"/>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pt-BR" altLang="pt-BR" sz="2400"/>
              <a:t>Implementação e teste unitário</a:t>
            </a:r>
            <a:endParaRPr lang="pt-PT" altLang="pt-BR" sz="2400"/>
          </a:p>
        </p:txBody>
      </p:sp>
      <p:sp>
        <p:nvSpPr>
          <p:cNvPr id="26631" name="Text Box 7"/>
          <p:cNvSpPr txBox="1">
            <a:spLocks noChangeArrowheads="1"/>
          </p:cNvSpPr>
          <p:nvPr/>
        </p:nvSpPr>
        <p:spPr bwMode="auto">
          <a:xfrm>
            <a:off x="6781800" y="4495801"/>
            <a:ext cx="3778250" cy="461963"/>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pt-BR" altLang="pt-BR" sz="2400"/>
              <a:t>Integração e Teste de sistema</a:t>
            </a:r>
            <a:endParaRPr lang="pt-PT" altLang="pt-BR" sz="2400"/>
          </a:p>
        </p:txBody>
      </p:sp>
      <p:cxnSp>
        <p:nvCxnSpPr>
          <p:cNvPr id="3" name="Conector de seta reta 2"/>
          <p:cNvCxnSpPr/>
          <p:nvPr/>
        </p:nvCxnSpPr>
        <p:spPr>
          <a:xfrm flipH="1">
            <a:off x="2279650" y="6130926"/>
            <a:ext cx="5949950" cy="34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Conector de seta reta 4"/>
          <p:cNvCxnSpPr/>
          <p:nvPr/>
        </p:nvCxnSpPr>
        <p:spPr>
          <a:xfrm flipV="1">
            <a:off x="2279650" y="1773238"/>
            <a:ext cx="71438" cy="43926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p:cNvCxnSpPr>
            <a:stCxn id="26628" idx="3"/>
          </p:cNvCxnSpPr>
          <p:nvPr/>
        </p:nvCxnSpPr>
        <p:spPr>
          <a:xfrm flipV="1">
            <a:off x="6240464" y="1412876"/>
            <a:ext cx="769937" cy="36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p:cNvCxnSpPr/>
          <p:nvPr/>
        </p:nvCxnSpPr>
        <p:spPr>
          <a:xfrm>
            <a:off x="6959600" y="1484314"/>
            <a:ext cx="0" cy="649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26629" idx="3"/>
          </p:cNvCxnSpPr>
          <p:nvPr/>
        </p:nvCxnSpPr>
        <p:spPr>
          <a:xfrm flipV="1">
            <a:off x="8153400" y="2438400"/>
            <a:ext cx="750888"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p:nvPr/>
        </p:nvCxnSpPr>
        <p:spPr>
          <a:xfrm>
            <a:off x="8904288" y="2438400"/>
            <a:ext cx="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angulado 14"/>
          <p:cNvCxnSpPr/>
          <p:nvPr/>
        </p:nvCxnSpPr>
        <p:spPr>
          <a:xfrm rot="16200000" flipH="1">
            <a:off x="9394032" y="4193382"/>
            <a:ext cx="533400" cy="714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p:cNvCxnSpPr/>
          <p:nvPr/>
        </p:nvCxnSpPr>
        <p:spPr>
          <a:xfrm>
            <a:off x="9917114" y="4957764"/>
            <a:ext cx="65087" cy="757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640" name="Picture 18" descr="COM210 - Aula 12 - Modelo Cascata - Vídeo 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562" y="223838"/>
            <a:ext cx="10658476" cy="599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4681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057AF92-C1DD-44B5-A0D3-F21C0950997A}" type="slidenum">
              <a:rPr lang="pt-PT" altLang="pt-BR" sz="1400"/>
              <a:pPr>
                <a:spcBef>
                  <a:spcPct val="0"/>
                </a:spcBef>
                <a:buFontTx/>
                <a:buNone/>
              </a:pPr>
              <a:t>9</a:t>
            </a:fld>
            <a:endParaRPr lang="pt-PT" altLang="pt-BR" sz="1400"/>
          </a:p>
        </p:txBody>
      </p:sp>
      <p:sp>
        <p:nvSpPr>
          <p:cNvPr id="2765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em Cascata ou ciclo de vida do software </a:t>
            </a:r>
            <a:endParaRPr lang="pt-PT" altLang="pt-BR" sz="3600"/>
          </a:p>
        </p:txBody>
      </p:sp>
      <p:sp>
        <p:nvSpPr>
          <p:cNvPr id="27652" name="Rectangle 3"/>
          <p:cNvSpPr>
            <a:spLocks noGrp="1" noChangeArrowheads="1"/>
          </p:cNvSpPr>
          <p:nvPr>
            <p:ph type="subTitle" idx="1"/>
          </p:nvPr>
        </p:nvSpPr>
        <p:spPr>
          <a:xfrm>
            <a:off x="1524001" y="981076"/>
            <a:ext cx="9180513" cy="5267325"/>
          </a:xfrm>
        </p:spPr>
        <p:txBody>
          <a:bodyPr/>
          <a:lstStyle/>
          <a:p>
            <a:pPr algn="just" eaLnBrk="1" hangingPunct="1"/>
            <a:endParaRPr lang="pt-PT" altLang="pt-BR" sz="2800" dirty="0"/>
          </a:p>
          <a:p>
            <a:pPr algn="just" eaLnBrk="1" hangingPunct="1"/>
            <a:r>
              <a:rPr lang="pt-PT" altLang="pt-BR" sz="2800" dirty="0"/>
              <a:t>Deve ser usado somente se os requisitos forem muito bem compreendidos e pouco provavelmente serão alterados</a:t>
            </a:r>
          </a:p>
          <a:p>
            <a:pPr algn="just" eaLnBrk="1" hangingPunct="1"/>
            <a:r>
              <a:rPr lang="pt-PT" altLang="pt-BR" sz="2800" dirty="0" smtClean="0"/>
              <a:t>Processos </a:t>
            </a:r>
            <a:r>
              <a:rPr lang="pt-PT" altLang="pt-BR" sz="2800" dirty="0"/>
              <a:t>de software em cascata são comumente utilizados</a:t>
            </a:r>
          </a:p>
        </p:txBody>
      </p:sp>
    </p:spTree>
    <p:extLst>
      <p:ext uri="{BB962C8B-B14F-4D97-AF65-F5344CB8AC3E}">
        <p14:creationId xmlns:p14="http://schemas.microsoft.com/office/powerpoint/2010/main" val="30212163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C14E850-DC58-4227-8639-7286D6084D7F}" type="slidenum">
              <a:rPr lang="pt-PT" altLang="pt-BR" sz="1400"/>
              <a:pPr>
                <a:spcBef>
                  <a:spcPct val="0"/>
                </a:spcBef>
                <a:buFontTx/>
                <a:buNone/>
              </a:pPr>
              <a:t>10</a:t>
            </a:fld>
            <a:endParaRPr lang="pt-PT" altLang="pt-BR" sz="1400"/>
          </a:p>
        </p:txBody>
      </p:sp>
      <p:sp>
        <p:nvSpPr>
          <p:cNvPr id="2867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Desenvolvimento Incremental</a:t>
            </a:r>
            <a:endParaRPr lang="pt-PT" altLang="pt-BR" sz="3600"/>
          </a:p>
        </p:txBody>
      </p:sp>
      <p:sp>
        <p:nvSpPr>
          <p:cNvPr id="28676" name="Rectangle 3"/>
          <p:cNvSpPr>
            <a:spLocks noGrp="1" noChangeArrowheads="1"/>
          </p:cNvSpPr>
          <p:nvPr>
            <p:ph type="subTitle" idx="1"/>
          </p:nvPr>
        </p:nvSpPr>
        <p:spPr>
          <a:xfrm>
            <a:off x="1524001" y="981076"/>
            <a:ext cx="9180513" cy="5267325"/>
          </a:xfrm>
        </p:spPr>
        <p:txBody>
          <a:bodyPr/>
          <a:lstStyle/>
          <a:p>
            <a:pPr algn="just" eaLnBrk="1" hangingPunct="1"/>
            <a:r>
              <a:rPr lang="pt-PT" altLang="pt-BR" sz="2800"/>
              <a:t>Auxilia:</a:t>
            </a:r>
          </a:p>
          <a:p>
            <a:pPr algn="just" eaLnBrk="1" hangingPunct="1"/>
            <a:r>
              <a:rPr lang="pt-PT" altLang="pt-BR" sz="2800"/>
              <a:t>Abordagens ágeis </a:t>
            </a:r>
          </a:p>
          <a:p>
            <a:pPr algn="just" eaLnBrk="1" hangingPunct="1"/>
            <a:r>
              <a:rPr lang="pt-PT" altLang="pt-BR" sz="2800"/>
              <a:t>Desenvolvimento de e-commerce</a:t>
            </a:r>
          </a:p>
          <a:p>
            <a:pPr algn="just" eaLnBrk="1" hangingPunct="1"/>
            <a:r>
              <a:rPr lang="pt-PT" altLang="pt-BR" sz="2800"/>
              <a:t>Sistemas pessoais</a:t>
            </a:r>
          </a:p>
          <a:p>
            <a:pPr algn="just" eaLnBrk="1" hangingPunct="1"/>
            <a:endParaRPr lang="pt-PT" altLang="pt-BR" sz="2800"/>
          </a:p>
          <a:p>
            <a:pPr algn="just" eaLnBrk="1" hangingPunct="1"/>
            <a:r>
              <a:rPr lang="pt-PT" altLang="pt-BR" sz="2800"/>
              <a:t>Mais fácil e mais barato fazer mudanças.</a:t>
            </a:r>
          </a:p>
          <a:p>
            <a:pPr algn="just" eaLnBrk="1" hangingPunct="1"/>
            <a:endParaRPr lang="pt-PT" altLang="pt-BR" sz="2800"/>
          </a:p>
        </p:txBody>
      </p:sp>
    </p:spTree>
    <p:extLst>
      <p:ext uri="{BB962C8B-B14F-4D97-AF65-F5344CB8AC3E}">
        <p14:creationId xmlns:p14="http://schemas.microsoft.com/office/powerpoint/2010/main" val="39678706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B20C609-5002-41D3-9E42-032397366C59}" type="slidenum">
              <a:rPr lang="pt-PT" altLang="pt-BR" sz="1400"/>
              <a:pPr>
                <a:spcBef>
                  <a:spcPct val="0"/>
                </a:spcBef>
                <a:buFontTx/>
                <a:buNone/>
              </a:pPr>
              <a:t>11</a:t>
            </a:fld>
            <a:endParaRPr lang="pt-PT" altLang="pt-BR" sz="1400"/>
          </a:p>
        </p:txBody>
      </p:sp>
      <p:sp>
        <p:nvSpPr>
          <p:cNvPr id="2969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Desenvolvimento Incremental</a:t>
            </a:r>
            <a:endParaRPr lang="pt-PT" altLang="pt-BR" sz="3600"/>
          </a:p>
        </p:txBody>
      </p:sp>
      <p:sp>
        <p:nvSpPr>
          <p:cNvPr id="29700" name="Rectangle 3"/>
          <p:cNvSpPr>
            <a:spLocks noGrp="1" noChangeArrowheads="1"/>
          </p:cNvSpPr>
          <p:nvPr>
            <p:ph type="subTitle" idx="1"/>
          </p:nvPr>
        </p:nvSpPr>
        <p:spPr>
          <a:xfrm>
            <a:off x="801687" y="1386518"/>
            <a:ext cx="10552113" cy="5267325"/>
          </a:xfrm>
        </p:spPr>
        <p:txBody>
          <a:bodyPr/>
          <a:lstStyle/>
          <a:p>
            <a:pPr algn="just" eaLnBrk="1" hangingPunct="1"/>
            <a:r>
              <a:rPr lang="pt-PT" altLang="pt-BR" sz="2800" dirty="0"/>
              <a:t>Versão inicial </a:t>
            </a:r>
            <a:r>
              <a:rPr lang="pt-PT" altLang="pt-BR" sz="2800" dirty="0" smtClean="0"/>
              <a:t>do sistema inclui </a:t>
            </a:r>
            <a:r>
              <a:rPr lang="pt-PT" altLang="pt-BR" sz="2800" dirty="0"/>
              <a:t>funcionalidades mais necessárias e urgentes, facilitando a avaliação do cliente em relação as suas necessidades</a:t>
            </a:r>
          </a:p>
          <a:p>
            <a:pPr algn="just" eaLnBrk="1" hangingPunct="1"/>
            <a:r>
              <a:rPr lang="pt-PT" altLang="pt-BR" sz="2800" dirty="0"/>
              <a:t>Caso o cliente aponte problemas, o incremento em desenvolvimento passa a ser alterado, visando incluir as devidas correções ou nova funcionalidade deverá ser definida.</a:t>
            </a:r>
          </a:p>
          <a:p>
            <a:pPr algn="just" eaLnBrk="1" hangingPunct="1"/>
            <a:endParaRPr lang="pt-PT" altLang="pt-BR" sz="2800" dirty="0"/>
          </a:p>
        </p:txBody>
      </p:sp>
    </p:spTree>
    <p:extLst>
      <p:ext uri="{BB962C8B-B14F-4D97-AF65-F5344CB8AC3E}">
        <p14:creationId xmlns:p14="http://schemas.microsoft.com/office/powerpoint/2010/main" val="27466526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07B5A3F-6E37-460C-AA38-89C425B0F3FA}" type="slidenum">
              <a:rPr lang="pt-PT" altLang="pt-BR" sz="1400"/>
              <a:pPr>
                <a:spcBef>
                  <a:spcPct val="0"/>
                </a:spcBef>
                <a:buFontTx/>
                <a:buNone/>
              </a:pPr>
              <a:t>12</a:t>
            </a:fld>
            <a:endParaRPr lang="pt-PT" altLang="pt-BR" sz="1400"/>
          </a:p>
        </p:txBody>
      </p:sp>
      <p:sp>
        <p:nvSpPr>
          <p:cNvPr id="3072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Desenvolvimento Incremental </a:t>
            </a:r>
            <a:endParaRPr lang="pt-PT" altLang="pt-BR" sz="3600"/>
          </a:p>
        </p:txBody>
      </p:sp>
      <p:sp>
        <p:nvSpPr>
          <p:cNvPr id="30724" name="Rectangle 3"/>
          <p:cNvSpPr>
            <a:spLocks noGrp="1" noChangeArrowheads="1"/>
          </p:cNvSpPr>
          <p:nvPr>
            <p:ph type="subTitle" idx="1"/>
          </p:nvPr>
        </p:nvSpPr>
        <p:spPr>
          <a:xfrm>
            <a:off x="299050" y="1794294"/>
            <a:ext cx="11588150" cy="5063706"/>
          </a:xfrm>
        </p:spPr>
        <p:txBody>
          <a:bodyPr/>
          <a:lstStyle/>
          <a:p>
            <a:pPr algn="just" eaLnBrk="1" hangingPunct="1"/>
            <a:r>
              <a:rPr lang="pt-PT" altLang="pt-BR" sz="2800" dirty="0"/>
              <a:t>Abordagem mais usada para aplicativos: dirigida por planos ágil ou </a:t>
            </a:r>
            <a:r>
              <a:rPr lang="pt-PT" altLang="pt-BR" sz="2800" dirty="0" smtClean="0"/>
              <a:t>mescla </a:t>
            </a:r>
            <a:r>
              <a:rPr lang="pt-PT" altLang="pt-BR" sz="2800" dirty="0"/>
              <a:t>de abordagem</a:t>
            </a:r>
          </a:p>
          <a:p>
            <a:pPr algn="just" eaLnBrk="1" hangingPunct="1"/>
            <a:endParaRPr lang="pt-PT" altLang="pt-BR" sz="2800" dirty="0"/>
          </a:p>
          <a:p>
            <a:pPr algn="just" eaLnBrk="1" hangingPunct="1"/>
            <a:r>
              <a:rPr lang="pt-PT" altLang="pt-BR" sz="2800" dirty="0"/>
              <a:t>Abordagem dirigida por planos: </a:t>
            </a:r>
            <a:r>
              <a:rPr lang="pt-PT" altLang="pt-BR" sz="2800" dirty="0" smtClean="0"/>
              <a:t>incrementos </a:t>
            </a:r>
            <a:r>
              <a:rPr lang="pt-PT" altLang="pt-BR" sz="2800" dirty="0"/>
              <a:t>são identificados previamente</a:t>
            </a:r>
          </a:p>
          <a:p>
            <a:pPr algn="just" eaLnBrk="1" hangingPunct="1"/>
            <a:endParaRPr lang="pt-PT" altLang="pt-BR" sz="2800" dirty="0" smtClean="0"/>
          </a:p>
          <a:p>
            <a:pPr algn="just" eaLnBrk="1" hangingPunct="1"/>
            <a:r>
              <a:rPr lang="pt-PT" altLang="pt-BR" sz="2800" dirty="0" smtClean="0"/>
              <a:t>Abordagem </a:t>
            </a:r>
            <a:r>
              <a:rPr lang="pt-PT" altLang="pt-BR" sz="2800" dirty="0"/>
              <a:t>àgil: incrementos iniciais são identificados, mas o desenvolvimento de incrementos posteriores depende do progresso e das prioridades do cliente</a:t>
            </a:r>
          </a:p>
          <a:p>
            <a:pPr algn="just" eaLnBrk="1" hangingPunct="1"/>
            <a:r>
              <a:rPr lang="pt-PT" altLang="pt-BR" sz="2800" dirty="0"/>
              <a:t>	</a:t>
            </a:r>
          </a:p>
          <a:p>
            <a:pPr algn="just" eaLnBrk="1" hangingPunct="1"/>
            <a:endParaRPr lang="pt-PT" altLang="pt-BR" sz="2800" dirty="0"/>
          </a:p>
          <a:p>
            <a:pPr algn="just" eaLnBrk="1" hangingPunct="1"/>
            <a:endParaRPr lang="pt-PT" altLang="pt-BR" dirty="0" smtClean="0"/>
          </a:p>
        </p:txBody>
      </p:sp>
    </p:spTree>
    <p:extLst>
      <p:ext uri="{BB962C8B-B14F-4D97-AF65-F5344CB8AC3E}">
        <p14:creationId xmlns:p14="http://schemas.microsoft.com/office/powerpoint/2010/main" val="36090495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D08C74A-9214-4A5B-BCD1-EA90012F53B1}" type="slidenum">
              <a:rPr lang="pt-PT" altLang="pt-BR" sz="1400"/>
              <a:pPr>
                <a:spcBef>
                  <a:spcPct val="0"/>
                </a:spcBef>
                <a:buFontTx/>
                <a:buNone/>
              </a:pPr>
              <a:t>13</a:t>
            </a:fld>
            <a:endParaRPr lang="pt-PT" altLang="pt-BR" sz="1400"/>
          </a:p>
        </p:txBody>
      </p:sp>
      <p:sp>
        <p:nvSpPr>
          <p:cNvPr id="31747" name="Rectangle 3"/>
          <p:cNvSpPr>
            <a:spLocks noGrp="1" noChangeArrowheads="1"/>
          </p:cNvSpPr>
          <p:nvPr>
            <p:ph type="subTitle" idx="1"/>
          </p:nvPr>
        </p:nvSpPr>
        <p:spPr>
          <a:xfrm>
            <a:off x="1487488" y="23814"/>
            <a:ext cx="9180513" cy="5267325"/>
          </a:xfrm>
        </p:spPr>
        <p:txBody>
          <a:bodyPr/>
          <a:lstStyle/>
          <a:p>
            <a:pPr algn="just" eaLnBrk="1" hangingPunct="1"/>
            <a:endParaRPr lang="pt-PT" altLang="pt-BR" sz="2800" dirty="0"/>
          </a:p>
        </p:txBody>
      </p:sp>
      <p:pic>
        <p:nvPicPr>
          <p:cNvPr id="31748" name="Picture 6" descr="Processos de Software Profa. Cintia Carvalho Oliveira - ppt carreg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164" y="115889"/>
            <a:ext cx="7031037"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35135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3E4CFAB-6662-4631-BDD4-2DB45A26D978}" type="slidenum">
              <a:rPr lang="pt-PT" altLang="pt-BR" sz="1400"/>
              <a:pPr>
                <a:spcBef>
                  <a:spcPct val="0"/>
                </a:spcBef>
                <a:buFontTx/>
                <a:buNone/>
              </a:pPr>
              <a:t>14</a:t>
            </a:fld>
            <a:endParaRPr lang="pt-PT" altLang="pt-BR" sz="1400"/>
          </a:p>
        </p:txBody>
      </p:sp>
      <p:sp>
        <p:nvSpPr>
          <p:cNvPr id="3277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Desenvolvimento Incremental </a:t>
            </a:r>
            <a:endParaRPr lang="pt-PT" altLang="pt-BR" sz="3600"/>
          </a:p>
        </p:txBody>
      </p:sp>
      <p:sp>
        <p:nvSpPr>
          <p:cNvPr id="32772" name="Rectangle 3"/>
          <p:cNvSpPr>
            <a:spLocks noGrp="1" noChangeArrowheads="1"/>
          </p:cNvSpPr>
          <p:nvPr>
            <p:ph type="subTitle" idx="1"/>
          </p:nvPr>
        </p:nvSpPr>
        <p:spPr>
          <a:xfrm>
            <a:off x="801687" y="1673525"/>
            <a:ext cx="10818094" cy="5118340"/>
          </a:xfrm>
        </p:spPr>
        <p:txBody>
          <a:bodyPr/>
          <a:lstStyle/>
          <a:p>
            <a:pPr algn="just" eaLnBrk="1" hangingPunct="1"/>
            <a:r>
              <a:rPr lang="pt-PT" altLang="pt-BR" sz="2800" dirty="0" smtClean="0"/>
              <a:t>Vantagens: </a:t>
            </a:r>
            <a:r>
              <a:rPr lang="pt-PT" altLang="pt-BR" sz="2800" dirty="0"/>
              <a:t>Desenvolvimento Incremental </a:t>
            </a:r>
            <a:r>
              <a:rPr lang="pt-PT" altLang="pt-BR" sz="2800" dirty="0" smtClean="0"/>
              <a:t>x </a:t>
            </a:r>
            <a:r>
              <a:rPr lang="pt-PT" altLang="pt-BR" sz="2800" dirty="0"/>
              <a:t>modelo em cascata:</a:t>
            </a:r>
          </a:p>
          <a:p>
            <a:pPr algn="just" eaLnBrk="1" hangingPunct="1"/>
            <a:r>
              <a:rPr lang="pt-PT" altLang="pt-BR" dirty="0" smtClean="0"/>
              <a:t>Custo de acomodar mudanças do cliente é reduzido. A quantidade e análise de documentação a ser refeita é muito menor</a:t>
            </a:r>
          </a:p>
          <a:p>
            <a:pPr algn="just" eaLnBrk="1" hangingPunct="1"/>
            <a:r>
              <a:rPr lang="pt-PT" altLang="pt-BR" dirty="0" smtClean="0"/>
              <a:t>Mais fácil obter feedback do cliente sobre as funcionalidades do sistema. </a:t>
            </a:r>
          </a:p>
          <a:p>
            <a:pPr algn="just" eaLnBrk="1" hangingPunct="1"/>
            <a:r>
              <a:rPr lang="pt-PT" altLang="pt-BR" dirty="0" smtClean="0"/>
              <a:t>Clientes podem fazer comentários sobre a demonstração do software e verificar o quanto foi implementado. </a:t>
            </a:r>
          </a:p>
          <a:p>
            <a:pPr algn="just" eaLnBrk="1" hangingPunct="1"/>
            <a:r>
              <a:rPr lang="pt-PT" altLang="pt-BR" dirty="0" smtClean="0"/>
              <a:t>Clientes tem dificuldade de acompanhar a evolução dos trabalhos com os documentos de projeto de software</a:t>
            </a:r>
          </a:p>
          <a:p>
            <a:pPr algn="just" eaLnBrk="1" hangingPunct="1"/>
            <a:r>
              <a:rPr lang="pt-PT" altLang="pt-BR" dirty="0" smtClean="0"/>
              <a:t>É possível a implementação e entrega rápida ao cliente mesmo antes da inclusão de todas as funcionalidades. </a:t>
            </a:r>
          </a:p>
          <a:p>
            <a:pPr algn="just" eaLnBrk="1" hangingPunct="1"/>
            <a:r>
              <a:rPr lang="pt-PT" altLang="pt-BR" dirty="0" smtClean="0"/>
              <a:t>Os clientes podem usar o software inicial e já obter ganhos, o que não ocorre no modelo em cascata</a:t>
            </a:r>
          </a:p>
        </p:txBody>
      </p:sp>
    </p:spTree>
    <p:extLst>
      <p:ext uri="{BB962C8B-B14F-4D97-AF65-F5344CB8AC3E}">
        <p14:creationId xmlns:p14="http://schemas.microsoft.com/office/powerpoint/2010/main" val="34333309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991EF3-D28D-4590-B32B-8ED4F76FEB1B}" type="slidenum">
              <a:rPr lang="pt-PT" altLang="pt-BR" sz="1400"/>
              <a:pPr>
                <a:spcBef>
                  <a:spcPct val="0"/>
                </a:spcBef>
                <a:buFontTx/>
                <a:buNone/>
              </a:pPr>
              <a:t>15</a:t>
            </a:fld>
            <a:endParaRPr lang="pt-PT" altLang="pt-BR" sz="1400"/>
          </a:p>
        </p:txBody>
      </p:sp>
      <p:sp>
        <p:nvSpPr>
          <p:cNvPr id="3379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Desenvolvimento Incremental </a:t>
            </a:r>
            <a:endParaRPr lang="pt-PT" altLang="pt-BR" sz="3600"/>
          </a:p>
        </p:txBody>
      </p:sp>
      <p:sp>
        <p:nvSpPr>
          <p:cNvPr id="27652" name="Rectangle 3"/>
          <p:cNvSpPr>
            <a:spLocks noGrp="1" noChangeArrowheads="1"/>
          </p:cNvSpPr>
          <p:nvPr>
            <p:ph type="subTitle" idx="1"/>
          </p:nvPr>
        </p:nvSpPr>
        <p:spPr>
          <a:xfrm>
            <a:off x="431321" y="1544128"/>
            <a:ext cx="11231592" cy="4704273"/>
          </a:xfrm>
        </p:spPr>
        <p:txBody>
          <a:bodyPr/>
          <a:lstStyle/>
          <a:p>
            <a:pPr algn="just" eaLnBrk="1" hangingPunct="1">
              <a:defRPr/>
            </a:pPr>
            <a:r>
              <a:rPr lang="pt-PT" altLang="pt-BR" sz="2800" dirty="0"/>
              <a:t>Problemas</a:t>
            </a:r>
          </a:p>
          <a:p>
            <a:pPr marL="514350" indent="-514350" algn="just">
              <a:buFontTx/>
              <a:buAutoNum type="arabicParenR"/>
              <a:defRPr/>
            </a:pPr>
            <a:r>
              <a:rPr lang="pt-PT" altLang="pt-BR" sz="2800" dirty="0"/>
              <a:t>Processo não é visivel: gerentes precisam de entrega regulares para mensurar o processo. O</a:t>
            </a:r>
            <a:r>
              <a:rPr lang="pt-PT" altLang="pt-BR" sz="2800" dirty="0" smtClean="0"/>
              <a:t> </a:t>
            </a:r>
            <a:r>
              <a:rPr lang="pt-PT" altLang="pt-BR" sz="2800" dirty="0"/>
              <a:t>sistema é desenvolvido rapidamente, não </a:t>
            </a:r>
            <a:r>
              <a:rPr lang="pt-PT" altLang="pt-BR" sz="2800" dirty="0" smtClean="0"/>
              <a:t>sendo </a:t>
            </a:r>
            <a:r>
              <a:rPr lang="pt-PT" altLang="pt-BR" sz="2800" dirty="0"/>
              <a:t>viável prduzir documentação de cada versão do sistema</a:t>
            </a:r>
          </a:p>
          <a:p>
            <a:pPr marL="514350" indent="-514350" algn="just">
              <a:buFontTx/>
              <a:buAutoNum type="arabicParenR"/>
              <a:defRPr/>
            </a:pPr>
            <a:r>
              <a:rPr lang="pt-PT" altLang="pt-BR" sz="2800" dirty="0"/>
              <a:t>A estrutura do sistema tende a se degradar com novos incrementos, tornando-se cada vez mais oneroso incorporar mudanças no software	</a:t>
            </a:r>
          </a:p>
          <a:p>
            <a:pPr algn="just" eaLnBrk="1" hangingPunct="1">
              <a:defRPr/>
            </a:pPr>
            <a:endParaRPr lang="pt-PT" altLang="pt-BR" sz="2800" dirty="0"/>
          </a:p>
          <a:p>
            <a:pPr algn="just" eaLnBrk="1" hangingPunct="1">
              <a:defRPr/>
            </a:pPr>
            <a:endParaRPr lang="pt-PT" altLang="pt-BR" dirty="0" smtClean="0"/>
          </a:p>
        </p:txBody>
      </p:sp>
    </p:spTree>
    <p:extLst>
      <p:ext uri="{BB962C8B-B14F-4D97-AF65-F5344CB8AC3E}">
        <p14:creationId xmlns:p14="http://schemas.microsoft.com/office/powerpoint/2010/main" val="25029266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0308A2B-0982-43BC-9E32-1AEFD46A1548}" type="slidenum">
              <a:rPr lang="pt-PT" altLang="pt-BR" sz="1400"/>
              <a:pPr>
                <a:spcBef>
                  <a:spcPct val="0"/>
                </a:spcBef>
                <a:buFontTx/>
                <a:buNone/>
              </a:pPr>
              <a:t>16</a:t>
            </a:fld>
            <a:endParaRPr lang="pt-PT" altLang="pt-BR" sz="1400"/>
          </a:p>
        </p:txBody>
      </p:sp>
      <p:sp>
        <p:nvSpPr>
          <p:cNvPr id="3481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p>
        </p:txBody>
      </p:sp>
      <p:sp>
        <p:nvSpPr>
          <p:cNvPr id="34820" name="Rectangle 3"/>
          <p:cNvSpPr>
            <a:spLocks noGrp="1" noChangeArrowheads="1"/>
          </p:cNvSpPr>
          <p:nvPr>
            <p:ph type="subTitle" idx="1"/>
          </p:nvPr>
        </p:nvSpPr>
        <p:spPr>
          <a:xfrm>
            <a:off x="198409" y="1233578"/>
            <a:ext cx="11878572" cy="5014824"/>
          </a:xfrm>
        </p:spPr>
        <p:txBody>
          <a:bodyPr/>
          <a:lstStyle/>
          <a:p>
            <a:pPr algn="just" eaLnBrk="1" hangingPunct="1"/>
            <a:r>
              <a:rPr lang="pt-BR" altLang="pt-BR" dirty="0" smtClean="0"/>
              <a:t>Na maioria dos projeto, há algum </a:t>
            </a:r>
            <a:r>
              <a:rPr lang="pt-BR" altLang="pt-BR" dirty="0" err="1" smtClean="0"/>
              <a:t>reúso</a:t>
            </a:r>
            <a:r>
              <a:rPr lang="pt-BR" altLang="pt-BR" dirty="0" smtClean="0"/>
              <a:t> de software. As pessoas envolvidas no projeto sabem de projetos ou códigos semelhantes. Elas os buscam, fazem as modificações necessárias e as incorporam nos seus sistemas.</a:t>
            </a:r>
          </a:p>
          <a:p>
            <a:pPr algn="just" eaLnBrk="1" hangingPunct="1"/>
            <a:r>
              <a:rPr lang="pt-BR" altLang="pt-BR" dirty="0" smtClean="0"/>
              <a:t>Reuso informal ocorre independentemente do processo de desenvolvimento em uso. </a:t>
            </a:r>
          </a:p>
          <a:p>
            <a:pPr algn="just" eaLnBrk="1" hangingPunct="1"/>
            <a:r>
              <a:rPr lang="pt-BR" altLang="pt-BR" dirty="0" smtClean="0"/>
              <a:t>Século XXI: foco no reuso nos processos de desenvolvimento de software. </a:t>
            </a:r>
          </a:p>
          <a:p>
            <a:pPr algn="just" eaLnBrk="1" hangingPunct="1"/>
            <a:r>
              <a:rPr lang="pt-BR" altLang="pt-BR" dirty="0" smtClean="0"/>
              <a:t>Abordagens orientadas a reuso: dependem de ampla base de componentes reusáveis de software e de um framework de integração para a composição desses componentes. </a:t>
            </a:r>
          </a:p>
          <a:p>
            <a:pPr algn="just"/>
            <a:r>
              <a:rPr lang="pt-BR" altLang="pt-BR" dirty="0" smtClean="0"/>
              <a:t>Componentes: unidade modular que desempenha função específica ou sistemas completos (COTS (</a:t>
            </a:r>
            <a:r>
              <a:rPr lang="pt-BR" dirty="0"/>
              <a:t>Software comercial pronto para uso</a:t>
            </a:r>
            <a:r>
              <a:rPr lang="pt-BR" altLang="pt-BR" dirty="0" smtClean="0"/>
              <a:t>) ou de prateleira), capazes de fornecer funcionalidade específica, como processamento de texto ou planilha.</a:t>
            </a:r>
            <a:endParaRPr lang="pt-PT" altLang="pt-BR" dirty="0" smtClean="0"/>
          </a:p>
        </p:txBody>
      </p:sp>
    </p:spTree>
    <p:extLst>
      <p:ext uri="{BB962C8B-B14F-4D97-AF65-F5344CB8AC3E}">
        <p14:creationId xmlns:p14="http://schemas.microsoft.com/office/powerpoint/2010/main" val="22448988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2B67E14-2924-4A58-B1A3-A0F108850419}" type="slidenum">
              <a:rPr lang="pt-PT" altLang="pt-BR" sz="1400"/>
              <a:pPr>
                <a:spcBef>
                  <a:spcPct val="0"/>
                </a:spcBef>
                <a:buFontTx/>
                <a:buNone/>
              </a:pPr>
              <a:t>17</a:t>
            </a:fld>
            <a:endParaRPr lang="pt-PT" altLang="pt-BR" sz="1400"/>
          </a:p>
        </p:txBody>
      </p:sp>
      <p:sp>
        <p:nvSpPr>
          <p:cNvPr id="3584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p>
        </p:txBody>
      </p:sp>
      <p:sp>
        <p:nvSpPr>
          <p:cNvPr id="27652" name="Rectangle 3"/>
          <p:cNvSpPr>
            <a:spLocks noGrp="1" noChangeArrowheads="1"/>
          </p:cNvSpPr>
          <p:nvPr>
            <p:ph type="subTitle" idx="1"/>
          </p:nvPr>
        </p:nvSpPr>
        <p:spPr>
          <a:xfrm>
            <a:off x="215660" y="1380226"/>
            <a:ext cx="11800935" cy="4868175"/>
          </a:xfrm>
        </p:spPr>
        <p:txBody>
          <a:bodyPr/>
          <a:lstStyle/>
          <a:p>
            <a:pPr algn="just" eaLnBrk="1" hangingPunct="1">
              <a:defRPr/>
            </a:pPr>
            <a:r>
              <a:rPr lang="pt-PT" altLang="pt-BR" sz="2800" dirty="0"/>
              <a:t>Estágios:</a:t>
            </a:r>
          </a:p>
          <a:p>
            <a:pPr marL="514350" indent="-514350" algn="just">
              <a:buFontTx/>
              <a:buAutoNum type="arabicPeriod"/>
              <a:defRPr/>
            </a:pPr>
            <a:r>
              <a:rPr lang="pt-BR" sz="2800" dirty="0"/>
              <a:t>Análise de componentes: especificação de requisitos;  busca por componentes para implementar a especificação. Em geral, não há correspondência exata, e os componentes que podem ser usados fornecem alguma funcionalidade necessária. </a:t>
            </a:r>
          </a:p>
          <a:p>
            <a:pPr marL="514350" indent="-514350" algn="just">
              <a:buFontTx/>
              <a:buAutoNum type="arabicPeriod"/>
              <a:defRPr/>
            </a:pPr>
            <a:r>
              <a:rPr lang="pt-BR" sz="2800" dirty="0"/>
              <a:t>Modificação de requisitos: análise de requisitos usa informações dos componentes descobertos;  requisitos serão modificados para refletir os componentes disponíveis. No caso de modificações impossíveis, a atividade de análise dos componentes pode ser reinserida na busca por soluções alternativas.</a:t>
            </a:r>
            <a:endParaRPr lang="pt-PT" altLang="pt-BR" sz="2800" dirty="0"/>
          </a:p>
        </p:txBody>
      </p:sp>
    </p:spTree>
    <p:extLst>
      <p:ext uri="{BB962C8B-B14F-4D97-AF65-F5344CB8AC3E}">
        <p14:creationId xmlns:p14="http://schemas.microsoft.com/office/powerpoint/2010/main" val="5458708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E91071A-BD88-416C-BF3D-1D1912779162}" type="slidenum">
              <a:rPr lang="pt-PT" altLang="pt-BR" sz="1400"/>
              <a:pPr>
                <a:spcBef>
                  <a:spcPct val="0"/>
                </a:spcBef>
                <a:buFontTx/>
                <a:buNone/>
              </a:pPr>
              <a:t>18</a:t>
            </a:fld>
            <a:endParaRPr lang="pt-PT" altLang="pt-BR" sz="1400"/>
          </a:p>
        </p:txBody>
      </p:sp>
      <p:sp>
        <p:nvSpPr>
          <p:cNvPr id="3686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r>
              <a:rPr lang="pt-BR" altLang="pt-BR" sz="3600"/>
              <a:t> </a:t>
            </a:r>
            <a:endParaRPr lang="pt-PT" altLang="pt-BR" sz="3600"/>
          </a:p>
        </p:txBody>
      </p:sp>
      <p:sp>
        <p:nvSpPr>
          <p:cNvPr id="36868" name="Rectangle 3"/>
          <p:cNvSpPr>
            <a:spLocks noGrp="1" noChangeArrowheads="1"/>
          </p:cNvSpPr>
          <p:nvPr>
            <p:ph type="subTitle" idx="1"/>
          </p:nvPr>
        </p:nvSpPr>
        <p:spPr>
          <a:xfrm>
            <a:off x="69011" y="1535502"/>
            <a:ext cx="11542144" cy="4712899"/>
          </a:xfrm>
        </p:spPr>
        <p:txBody>
          <a:bodyPr>
            <a:normAutofit/>
          </a:bodyPr>
          <a:lstStyle/>
          <a:p>
            <a:pPr algn="just" eaLnBrk="1" hangingPunct="1"/>
            <a:r>
              <a:rPr lang="pt-PT" altLang="pt-BR" sz="2800" dirty="0"/>
              <a:t> Estágios:</a:t>
            </a:r>
          </a:p>
          <a:p>
            <a:pPr algn="just" eaLnBrk="1" hangingPunct="1"/>
            <a:r>
              <a:rPr lang="pt-BR" altLang="pt-BR" sz="2800" dirty="0"/>
              <a:t>3. Projeto do sistema com reuso: projeto do framework do sistema ou algo existente é reusado. Os projetistas têm em mente os componentes que serão reusados e organizam o framework para </a:t>
            </a:r>
            <a:r>
              <a:rPr lang="pt-BR" altLang="pt-BR" sz="2800" dirty="0" smtClean="0"/>
              <a:t>reuso. </a:t>
            </a:r>
            <a:r>
              <a:rPr lang="pt-BR" altLang="pt-BR" sz="2800" dirty="0"/>
              <a:t>Alguns softwares novos podem ser </a:t>
            </a:r>
            <a:r>
              <a:rPr lang="pt-BR" altLang="pt-BR" sz="2800" dirty="0" smtClean="0"/>
              <a:t>necessários </a:t>
            </a:r>
            <a:r>
              <a:rPr lang="pt-BR" altLang="pt-BR" sz="2800" dirty="0"/>
              <a:t>se componentes reusáveis não estiverem disponíveis. </a:t>
            </a:r>
          </a:p>
          <a:p>
            <a:pPr algn="just" eaLnBrk="1" hangingPunct="1"/>
            <a:r>
              <a:rPr lang="pt-BR" altLang="pt-BR" sz="2800" dirty="0"/>
              <a:t>4. Desenvolvimento e integração: Softwares que não podem ser adquiridos externamente são desenvolvidos, e os componentes e sistemas COTS são integrados para criar o novo sistema. A integração de sistemas pode ser parte do processo de desenvolvimento, </a:t>
            </a:r>
            <a:r>
              <a:rPr lang="pt-BR" altLang="pt-BR" sz="2800" dirty="0" smtClean="0"/>
              <a:t>não sendo </a:t>
            </a:r>
            <a:r>
              <a:rPr lang="pt-BR" altLang="pt-BR" sz="2800" dirty="0"/>
              <a:t>uma atividade separada.</a:t>
            </a:r>
            <a:endParaRPr lang="pt-PT" altLang="pt-BR" sz="2800" dirty="0"/>
          </a:p>
        </p:txBody>
      </p:sp>
    </p:spTree>
    <p:extLst>
      <p:ext uri="{BB962C8B-B14F-4D97-AF65-F5344CB8AC3E}">
        <p14:creationId xmlns:p14="http://schemas.microsoft.com/office/powerpoint/2010/main" val="9713670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6DF8FB-D938-46AF-8B7D-55D7AE686569}" type="slidenum">
              <a:rPr lang="pt-PT" altLang="pt-BR" sz="1400"/>
              <a:pPr>
                <a:spcBef>
                  <a:spcPct val="0"/>
                </a:spcBef>
                <a:buFontTx/>
                <a:buNone/>
              </a:pPr>
              <a:t>19</a:t>
            </a:fld>
            <a:endParaRPr lang="pt-PT" altLang="pt-BR" sz="1400"/>
          </a:p>
        </p:txBody>
      </p:sp>
      <p:sp>
        <p:nvSpPr>
          <p:cNvPr id="3789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r>
              <a:rPr lang="pt-BR" altLang="pt-BR" sz="3600"/>
              <a:t> </a:t>
            </a:r>
            <a:endParaRPr lang="pt-PT" altLang="pt-BR" sz="3600"/>
          </a:p>
        </p:txBody>
      </p:sp>
      <p:sp>
        <p:nvSpPr>
          <p:cNvPr id="27652" name="Rectangle 3"/>
          <p:cNvSpPr>
            <a:spLocks noGrp="1" noChangeArrowheads="1"/>
          </p:cNvSpPr>
          <p:nvPr>
            <p:ph type="subTitle" idx="1"/>
          </p:nvPr>
        </p:nvSpPr>
        <p:spPr>
          <a:xfrm>
            <a:off x="181155" y="1328468"/>
            <a:ext cx="11913079" cy="4919933"/>
          </a:xfrm>
        </p:spPr>
        <p:txBody>
          <a:bodyPr/>
          <a:lstStyle/>
          <a:p>
            <a:pPr algn="just" eaLnBrk="1" hangingPunct="1">
              <a:defRPr/>
            </a:pPr>
            <a:r>
              <a:rPr lang="pt-BR" sz="2800" dirty="0"/>
              <a:t>Existem três tipos de componentes de software que podem ser usados em um processo orientado a reuso: </a:t>
            </a:r>
          </a:p>
          <a:p>
            <a:pPr marL="514350" indent="-514350" algn="just">
              <a:buFontTx/>
              <a:buAutoNum type="arabicPeriod"/>
              <a:defRPr/>
            </a:pPr>
            <a:r>
              <a:rPr lang="pt-BR" sz="2800" dirty="0"/>
              <a:t>Web </a:t>
            </a:r>
            <a:r>
              <a:rPr lang="pt-BR" sz="2800" dirty="0" err="1"/>
              <a:t>services</a:t>
            </a:r>
            <a:r>
              <a:rPr lang="pt-BR" sz="2800" dirty="0"/>
              <a:t>: desenvolvidos de acordo com os padrões de serviço e que estão disponíveis para invocação remota.</a:t>
            </a:r>
          </a:p>
          <a:p>
            <a:pPr marL="514350" indent="-514350" algn="just">
              <a:buFontTx/>
              <a:buAutoNum type="arabicPeriod"/>
              <a:defRPr/>
            </a:pPr>
            <a:r>
              <a:rPr lang="pt-BR" sz="2800" dirty="0"/>
              <a:t>Coleções de objetos: desenvolvidas como um pacote a ser integrado com um framework de componentes, como .NET ou J2EE. </a:t>
            </a:r>
          </a:p>
          <a:p>
            <a:pPr marL="514350" indent="-514350" algn="just">
              <a:buFontTx/>
              <a:buAutoNum type="arabicPeriod"/>
              <a:defRPr/>
            </a:pPr>
            <a:r>
              <a:rPr lang="pt-BR" sz="2800" dirty="0"/>
              <a:t>Sistemas de software </a:t>
            </a:r>
            <a:r>
              <a:rPr lang="pt-BR" sz="2800" dirty="0" smtClean="0"/>
              <a:t>stand-</a:t>
            </a:r>
            <a:r>
              <a:rPr lang="pt-BR" sz="2800" dirty="0" err="1" smtClean="0"/>
              <a:t>alone</a:t>
            </a:r>
            <a:r>
              <a:rPr lang="pt-BR" sz="2800" dirty="0" smtClean="0"/>
              <a:t> </a:t>
            </a:r>
            <a:r>
              <a:rPr lang="pt-BR" sz="2800" dirty="0" smtClean="0"/>
              <a:t>(programa </a:t>
            </a:r>
            <a:r>
              <a:rPr lang="pt-BR" sz="2800" dirty="0" smtClean="0"/>
              <a:t>autossuficiente que funciona sem estar conectado a outro software, sendo relevante em ambientes de simplicidade e autonomia): </a:t>
            </a:r>
            <a:r>
              <a:rPr lang="pt-BR" sz="2800" dirty="0"/>
              <a:t>configurados para uso em um ambiente particular.</a:t>
            </a:r>
            <a:endParaRPr lang="pt-PT" altLang="pt-BR" sz="2800" dirty="0"/>
          </a:p>
        </p:txBody>
      </p:sp>
    </p:spTree>
    <p:extLst>
      <p:ext uri="{BB962C8B-B14F-4D97-AF65-F5344CB8AC3E}">
        <p14:creationId xmlns:p14="http://schemas.microsoft.com/office/powerpoint/2010/main" val="3912407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9B7AD52-9BDC-4E9C-9DE8-B31F2477D65B}" type="slidenum">
              <a:rPr lang="pt-PT" altLang="pt-BR" sz="1400"/>
              <a:pPr>
                <a:spcBef>
                  <a:spcPct val="0"/>
                </a:spcBef>
                <a:buFontTx/>
                <a:buNone/>
              </a:pPr>
              <a:t>20</a:t>
            </a:fld>
            <a:endParaRPr lang="pt-PT" altLang="pt-BR" sz="1400"/>
          </a:p>
        </p:txBody>
      </p:sp>
      <p:sp>
        <p:nvSpPr>
          <p:cNvPr id="3891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r>
              <a:rPr lang="pt-BR" altLang="pt-BR" sz="3600"/>
              <a:t> </a:t>
            </a:r>
            <a:endParaRPr lang="pt-PT" altLang="pt-BR" sz="3600"/>
          </a:p>
        </p:txBody>
      </p:sp>
      <p:sp>
        <p:nvSpPr>
          <p:cNvPr id="38916" name="AutoShape 4" descr="Modelos de Processo de Software - ppt carregar"/>
          <p:cNvSpPr>
            <a:spLocks noGrp="1" noChangeAspect="1" noChangeArrowheads="1"/>
          </p:cNvSpPr>
          <p:nvPr>
            <p:ph type="subTitle" idx="1"/>
          </p:nvPr>
        </p:nvSpPr>
        <p:spPr>
          <a:xfrm>
            <a:off x="2185989" y="6599239"/>
            <a:ext cx="8340725" cy="4784725"/>
          </a:xfrm>
          <a:extLst>
            <a:ext uri="{909E8E84-426E-40DD-AFC4-6F175D3DCCD1}">
              <a14:hiddenFill xmlns:a14="http://schemas.microsoft.com/office/drawing/2010/main">
                <a:solidFill>
                  <a:srgbClr val="FFFFFF"/>
                </a:solidFill>
              </a14:hiddenFill>
            </a:ext>
          </a:extLst>
        </p:spPr>
        <p:txBody>
          <a:bodyPr/>
          <a:lstStyle/>
          <a:p>
            <a:endParaRPr lang="pt-BR" altLang="pt-BR" smtClean="0"/>
          </a:p>
        </p:txBody>
      </p:sp>
      <p:pic>
        <p:nvPicPr>
          <p:cNvPr id="38917" name="Picture 6" descr="Modelos de Processo de Software - ppt carreg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1052514"/>
            <a:ext cx="8307388" cy="623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72887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359D168-625D-42AB-9E5E-363D914A5B63}" type="slidenum">
              <a:rPr lang="pt-PT" altLang="pt-BR" sz="1400"/>
              <a:pPr>
                <a:spcBef>
                  <a:spcPct val="0"/>
                </a:spcBef>
                <a:buFontTx/>
                <a:buNone/>
              </a:pPr>
              <a:t>21</a:t>
            </a:fld>
            <a:endParaRPr lang="pt-PT" altLang="pt-BR" sz="1400"/>
          </a:p>
        </p:txBody>
      </p:sp>
      <p:sp>
        <p:nvSpPr>
          <p:cNvPr id="3993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p>
        </p:txBody>
      </p:sp>
      <p:sp>
        <p:nvSpPr>
          <p:cNvPr id="39940" name="Rectangle 3"/>
          <p:cNvSpPr>
            <a:spLocks noGrp="1" noChangeArrowheads="1"/>
          </p:cNvSpPr>
          <p:nvPr>
            <p:ph type="subTitle" idx="1"/>
          </p:nvPr>
        </p:nvSpPr>
        <p:spPr>
          <a:xfrm>
            <a:off x="327804" y="1224951"/>
            <a:ext cx="11481757" cy="5023450"/>
          </a:xfrm>
        </p:spPr>
        <p:txBody>
          <a:bodyPr/>
          <a:lstStyle/>
          <a:p>
            <a:pPr algn="just" eaLnBrk="1" hangingPunct="1"/>
            <a:r>
              <a:rPr lang="pt-BR" altLang="pt-BR" sz="2800" dirty="0"/>
              <a:t>Vantagens:  </a:t>
            </a:r>
          </a:p>
          <a:p>
            <a:pPr algn="just" eaLnBrk="1" hangingPunct="1"/>
            <a:r>
              <a:rPr lang="pt-BR" altLang="pt-BR" sz="2800" dirty="0"/>
              <a:t>Reduz a quantidade de software a ser desenvolvido, custos e riscos. </a:t>
            </a:r>
          </a:p>
          <a:p>
            <a:pPr algn="just" eaLnBrk="1" hangingPunct="1"/>
            <a:r>
              <a:rPr lang="pt-BR" altLang="pt-BR" sz="2800" dirty="0"/>
              <a:t>Pode haver a entrega mais rápida do software. </a:t>
            </a:r>
          </a:p>
          <a:p>
            <a:pPr algn="just" eaLnBrk="1" hangingPunct="1"/>
            <a:endParaRPr lang="pt-BR" altLang="pt-BR" sz="2800" dirty="0" smtClean="0"/>
          </a:p>
          <a:p>
            <a:pPr algn="just" eaLnBrk="1" hangingPunct="1"/>
            <a:r>
              <a:rPr lang="pt-BR" altLang="pt-BR" sz="2800" dirty="0" smtClean="0"/>
              <a:t>Desvantagens</a:t>
            </a:r>
            <a:r>
              <a:rPr lang="pt-BR" altLang="pt-BR" sz="2800" dirty="0"/>
              <a:t>:</a:t>
            </a:r>
          </a:p>
          <a:p>
            <a:pPr algn="just" eaLnBrk="1" hangingPunct="1"/>
            <a:r>
              <a:rPr lang="pt-BR" altLang="pt-BR" sz="2800" dirty="0"/>
              <a:t>Compromissos com os requisitos são inevitáveis, e isso pode levar a um sistema que não atende às reais necessidades dos usuários. </a:t>
            </a:r>
          </a:p>
          <a:p>
            <a:pPr algn="just" eaLnBrk="1" hangingPunct="1"/>
            <a:r>
              <a:rPr lang="pt-BR" altLang="pt-BR" sz="2800" dirty="0"/>
              <a:t>Pode haver perda de controle sobre a evolução do sistema, pois as novas versões dos componentes reusáveis não estão sob o controle da organização que os está utilizando. </a:t>
            </a:r>
            <a:endParaRPr lang="pt-PT" altLang="pt-BR" sz="2800" dirty="0"/>
          </a:p>
        </p:txBody>
      </p:sp>
    </p:spTree>
    <p:extLst>
      <p:ext uri="{BB962C8B-B14F-4D97-AF65-F5344CB8AC3E}">
        <p14:creationId xmlns:p14="http://schemas.microsoft.com/office/powerpoint/2010/main" val="34163163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9A310A-A883-4BFA-8493-E0CBC37C59ED}" type="slidenum">
              <a:rPr lang="pt-PT" altLang="pt-BR" sz="1400"/>
              <a:pPr>
                <a:spcBef>
                  <a:spcPct val="0"/>
                </a:spcBef>
                <a:buFontTx/>
                <a:buNone/>
              </a:pPr>
              <a:t>22</a:t>
            </a:fld>
            <a:endParaRPr lang="pt-PT" altLang="pt-BR" sz="1400"/>
          </a:p>
        </p:txBody>
      </p:sp>
      <p:sp>
        <p:nvSpPr>
          <p:cNvPr id="4096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r>
              <a:rPr lang="pt-BR" altLang="pt-BR" sz="3600"/>
              <a:t> </a:t>
            </a:r>
            <a:endParaRPr lang="pt-PT" altLang="pt-BR" sz="3600"/>
          </a:p>
        </p:txBody>
      </p:sp>
      <p:sp>
        <p:nvSpPr>
          <p:cNvPr id="40964" name="Rectangle 3"/>
          <p:cNvSpPr>
            <a:spLocks noGrp="1" noChangeArrowheads="1"/>
          </p:cNvSpPr>
          <p:nvPr>
            <p:ph type="subTitle" idx="1"/>
          </p:nvPr>
        </p:nvSpPr>
        <p:spPr>
          <a:xfrm>
            <a:off x="232913" y="1250830"/>
            <a:ext cx="11792310" cy="4997571"/>
          </a:xfrm>
        </p:spPr>
        <p:txBody>
          <a:bodyPr/>
          <a:lstStyle/>
          <a:p>
            <a:pPr algn="just" eaLnBrk="1" hangingPunct="1"/>
            <a:r>
              <a:rPr lang="pt-BR" altLang="pt-BR" sz="2800" dirty="0"/>
              <a:t>Atividades:</a:t>
            </a:r>
          </a:p>
          <a:p>
            <a:pPr algn="just" eaLnBrk="1" hangingPunct="1"/>
            <a:r>
              <a:rPr lang="pt-BR" altLang="pt-BR" dirty="0" smtClean="0"/>
              <a:t>Especificação, Desenvolvimento, Validação e Evolução: organizadas conforme o processo de desenvolvimento. </a:t>
            </a:r>
          </a:p>
          <a:p>
            <a:pPr algn="just" eaLnBrk="1" hangingPunct="1"/>
            <a:r>
              <a:rPr lang="pt-BR" altLang="pt-BR" dirty="0" smtClean="0"/>
              <a:t>Modelo em cascata: organizadas em sequência</a:t>
            </a:r>
          </a:p>
          <a:p>
            <a:pPr algn="just" eaLnBrk="1" hangingPunct="1"/>
            <a:r>
              <a:rPr lang="pt-BR" altLang="pt-BR" dirty="0" smtClean="0"/>
              <a:t>Desenvolvimento incremental: são intercaladas. </a:t>
            </a:r>
          </a:p>
          <a:p>
            <a:pPr algn="just" eaLnBrk="1" hangingPunct="1"/>
            <a:r>
              <a:rPr lang="pt-BR" altLang="pt-BR" dirty="0" smtClean="0"/>
              <a:t>A maneira como essas atividades serão feitas depende do tipo de software, das pessoas e das estruturas organizacionais envolvidas. </a:t>
            </a:r>
          </a:p>
          <a:p>
            <a:pPr algn="just" eaLnBrk="1" hangingPunct="1"/>
            <a:r>
              <a:rPr lang="pt-BR" altLang="pt-BR" dirty="0" smtClean="0"/>
              <a:t>Extreme </a:t>
            </a:r>
            <a:r>
              <a:rPr lang="pt-BR" altLang="pt-BR" dirty="0" err="1" smtClean="0"/>
              <a:t>programming</a:t>
            </a:r>
            <a:r>
              <a:rPr lang="pt-BR" altLang="pt-BR" dirty="0" smtClean="0"/>
              <a:t> - XP: especificações escritas em cartões. Testes são executáveis e desenvolvidos antes do próprio programa (testes tem foco nos requisitos). </a:t>
            </a:r>
            <a:r>
              <a:rPr lang="pt-BR" altLang="pt-BR" dirty="0"/>
              <a:t>E</a:t>
            </a:r>
            <a:r>
              <a:rPr lang="pt-BR" altLang="pt-BR" dirty="0" smtClean="0"/>
              <a:t>volução pode demandar </a:t>
            </a:r>
            <a:r>
              <a:rPr lang="pt-BR" altLang="pt-BR" dirty="0" err="1" smtClean="0"/>
              <a:t>refatoração</a:t>
            </a:r>
            <a:r>
              <a:rPr lang="pt-BR" altLang="pt-BR" dirty="0" smtClean="0"/>
              <a:t> (reestruturação substancial do código).</a:t>
            </a:r>
            <a:endParaRPr lang="pt-PT" altLang="pt-BR" dirty="0" smtClean="0"/>
          </a:p>
        </p:txBody>
      </p:sp>
    </p:spTree>
    <p:extLst>
      <p:ext uri="{BB962C8B-B14F-4D97-AF65-F5344CB8AC3E}">
        <p14:creationId xmlns:p14="http://schemas.microsoft.com/office/powerpoint/2010/main" val="5609296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9A310A-A883-4BFA-8493-E0CBC37C59ED}" type="slidenum">
              <a:rPr lang="pt-PT" altLang="pt-BR" sz="1400"/>
              <a:pPr>
                <a:spcBef>
                  <a:spcPct val="0"/>
                </a:spcBef>
                <a:buFontTx/>
                <a:buNone/>
              </a:pPr>
              <a:t>23</a:t>
            </a:fld>
            <a:endParaRPr lang="pt-PT" altLang="pt-BR" sz="1400"/>
          </a:p>
        </p:txBody>
      </p:sp>
      <p:sp>
        <p:nvSpPr>
          <p:cNvPr id="4096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a:t>
            </a:r>
            <a:r>
              <a:rPr lang="pt-PT" altLang="pt-BR" sz="3600"/>
              <a:t>ES orientada a reuso</a:t>
            </a:r>
            <a:r>
              <a:rPr lang="pt-BR" altLang="pt-BR" sz="3600"/>
              <a:t> </a:t>
            </a:r>
            <a:endParaRPr lang="pt-PT" altLang="pt-BR" sz="3600"/>
          </a:p>
        </p:txBody>
      </p:sp>
      <p:sp>
        <p:nvSpPr>
          <p:cNvPr id="40964" name="Rectangle 3"/>
          <p:cNvSpPr>
            <a:spLocks noGrp="1" noChangeArrowheads="1"/>
          </p:cNvSpPr>
          <p:nvPr>
            <p:ph type="subTitle" idx="1"/>
          </p:nvPr>
        </p:nvSpPr>
        <p:spPr>
          <a:xfrm>
            <a:off x="232913" y="1250830"/>
            <a:ext cx="11792310" cy="4997571"/>
          </a:xfrm>
        </p:spPr>
        <p:txBody>
          <a:bodyPr>
            <a:normAutofit lnSpcReduction="10000"/>
          </a:bodyPr>
          <a:lstStyle/>
          <a:p>
            <a:r>
              <a:rPr lang="pt-BR" b="1" dirty="0" smtClean="0"/>
              <a:t>Atributos de Qualidade dos Requisitos</a:t>
            </a:r>
          </a:p>
          <a:p>
            <a:pPr algn="l"/>
            <a:r>
              <a:rPr lang="pt-BR" b="1" dirty="0" smtClean="0"/>
              <a:t>Claro</a:t>
            </a:r>
            <a:r>
              <a:rPr lang="pt-BR" dirty="0"/>
              <a:t> – intenção funcional inequívoca</a:t>
            </a:r>
          </a:p>
          <a:p>
            <a:pPr algn="l"/>
            <a:r>
              <a:rPr lang="pt-BR" b="1" dirty="0"/>
              <a:t>Conciso</a:t>
            </a:r>
            <a:r>
              <a:rPr lang="pt-BR" dirty="0"/>
              <a:t> – tão poucas palavras e detalhes quanto necessários para descrever a intenção funcional</a:t>
            </a:r>
          </a:p>
          <a:p>
            <a:pPr algn="l"/>
            <a:r>
              <a:rPr lang="pt-BR" b="1" dirty="0"/>
              <a:t>Mensurável</a:t>
            </a:r>
            <a:r>
              <a:rPr lang="pt-BR" dirty="0"/>
              <a:t> – Possui tamanho funcional (declarações claras de movimentação de dados)</a:t>
            </a:r>
          </a:p>
          <a:p>
            <a:pPr algn="l"/>
            <a:r>
              <a:rPr lang="pt-BR" b="1" dirty="0"/>
              <a:t>Orientado ao usuário</a:t>
            </a:r>
            <a:r>
              <a:rPr lang="pt-BR" dirty="0"/>
              <a:t> – Cada requisito tem um usuário claramente identificado</a:t>
            </a:r>
          </a:p>
          <a:p>
            <a:pPr algn="l"/>
            <a:r>
              <a:rPr lang="pt-BR" b="1" dirty="0"/>
              <a:t>Sem design</a:t>
            </a:r>
            <a:r>
              <a:rPr lang="pt-BR" dirty="0"/>
              <a:t> – nenhuma especificação de como a funcionalidade será alcançada</a:t>
            </a:r>
          </a:p>
          <a:p>
            <a:pPr algn="l"/>
            <a:r>
              <a:rPr lang="pt-BR" b="1" dirty="0"/>
              <a:t>De valor</a:t>
            </a:r>
            <a:r>
              <a:rPr lang="pt-BR" dirty="0"/>
              <a:t> – cada requisito deve agregar valor ao </a:t>
            </a:r>
            <a:r>
              <a:rPr lang="pt-BR" dirty="0" smtClean="0"/>
              <a:t>usuário/empresa</a:t>
            </a:r>
          </a:p>
          <a:p>
            <a:pPr algn="l"/>
            <a:r>
              <a:rPr lang="pt-BR" b="1" dirty="0"/>
              <a:t>E</a:t>
            </a:r>
            <a:r>
              <a:rPr lang="pt-BR" b="1" dirty="0" smtClean="0"/>
              <a:t>stável</a:t>
            </a:r>
            <a:r>
              <a:rPr lang="pt-BR" dirty="0"/>
              <a:t> – Pode ser testado quanto ao comportamento correto</a:t>
            </a:r>
          </a:p>
          <a:p>
            <a:pPr algn="l"/>
            <a:r>
              <a:rPr lang="pt-BR" b="1" dirty="0"/>
              <a:t>Completo</a:t>
            </a:r>
            <a:r>
              <a:rPr lang="pt-BR" dirty="0"/>
              <a:t> – inclui todas as funcionalidades necessárias para uma interação do usuário</a:t>
            </a:r>
          </a:p>
          <a:p>
            <a:pPr algn="l"/>
            <a:r>
              <a:rPr lang="pt-BR" b="1" dirty="0"/>
              <a:t>Consistente </a:t>
            </a:r>
            <a:r>
              <a:rPr lang="pt-BR" dirty="0"/>
              <a:t>– use os mesmos termos para </a:t>
            </a:r>
            <a:r>
              <a:rPr lang="pt-BR" i="1" dirty="0"/>
              <a:t>objetos</a:t>
            </a:r>
            <a:r>
              <a:rPr lang="pt-BR" dirty="0"/>
              <a:t> e </a:t>
            </a:r>
            <a:r>
              <a:rPr lang="pt-BR" i="1" dirty="0"/>
              <a:t>Usuários</a:t>
            </a:r>
            <a:r>
              <a:rPr lang="pt-BR" dirty="0"/>
              <a:t> por </a:t>
            </a:r>
            <a:r>
              <a:rPr lang="pt-BR" dirty="0" smtClean="0"/>
              <a:t>todo  modelo</a:t>
            </a:r>
            <a:endParaRPr lang="pt-BR" dirty="0"/>
          </a:p>
          <a:p>
            <a:pPr algn="l"/>
            <a:r>
              <a:rPr lang="pt-BR" b="1" dirty="0"/>
              <a:t>Exclusivo</a:t>
            </a:r>
            <a:r>
              <a:rPr lang="pt-BR" dirty="0"/>
              <a:t> – sem requisitos funcionais duplicados em um conjunto</a:t>
            </a:r>
          </a:p>
          <a:p>
            <a:pPr algn="l"/>
            <a:endParaRPr lang="pt-BR" dirty="0"/>
          </a:p>
        </p:txBody>
      </p:sp>
    </p:spTree>
    <p:extLst>
      <p:ext uri="{BB962C8B-B14F-4D97-AF65-F5344CB8AC3E}">
        <p14:creationId xmlns:p14="http://schemas.microsoft.com/office/powerpoint/2010/main" val="16821226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B7846F6-0BD3-4C6A-88A3-41A67D988C1B}" type="slidenum">
              <a:rPr lang="pt-PT" altLang="pt-BR" sz="1400"/>
              <a:pPr>
                <a:spcBef>
                  <a:spcPct val="0"/>
                </a:spcBef>
                <a:buFontTx/>
                <a:buNone/>
              </a:pPr>
              <a:t>24</a:t>
            </a:fld>
            <a:endParaRPr lang="pt-PT" altLang="pt-BR" sz="1400"/>
          </a:p>
        </p:txBody>
      </p:sp>
      <p:sp>
        <p:nvSpPr>
          <p:cNvPr id="41987"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 Especificação de software ou engenharia de requisitos</a:t>
            </a:r>
            <a:br>
              <a:rPr lang="pt-BR" altLang="pt-BR" sz="3600"/>
            </a:br>
            <a:endParaRPr lang="pt-PT" altLang="pt-BR" sz="3600"/>
          </a:p>
        </p:txBody>
      </p:sp>
      <p:sp>
        <p:nvSpPr>
          <p:cNvPr id="41988" name="Rectangle 3"/>
          <p:cNvSpPr>
            <a:spLocks noGrp="1" noChangeArrowheads="1"/>
          </p:cNvSpPr>
          <p:nvPr>
            <p:ph type="subTitle" idx="1"/>
          </p:nvPr>
        </p:nvSpPr>
        <p:spPr>
          <a:xfrm>
            <a:off x="77639" y="948906"/>
            <a:ext cx="11904452" cy="5299496"/>
          </a:xfrm>
        </p:spPr>
        <p:txBody>
          <a:bodyPr>
            <a:normAutofit/>
          </a:bodyPr>
          <a:lstStyle/>
          <a:p>
            <a:pPr algn="just"/>
            <a:r>
              <a:rPr lang="pt-BR" dirty="0" smtClean="0"/>
              <a:t>Requisito: </a:t>
            </a:r>
            <a:r>
              <a:rPr lang="pt-BR" dirty="0"/>
              <a:t>definição documentada </a:t>
            </a:r>
            <a:r>
              <a:rPr lang="pt-BR" dirty="0" smtClean="0"/>
              <a:t>de </a:t>
            </a:r>
            <a:r>
              <a:rPr lang="pt-BR" dirty="0"/>
              <a:t>propriedade ou comportamento que um produto deve atender. </a:t>
            </a:r>
            <a:endParaRPr lang="pt-BR" dirty="0" smtClean="0"/>
          </a:p>
          <a:p>
            <a:pPr algn="just"/>
            <a:r>
              <a:rPr lang="pt-BR" dirty="0" smtClean="0"/>
              <a:t>Definem </a:t>
            </a:r>
            <a:r>
              <a:rPr lang="pt-BR" dirty="0"/>
              <a:t>o que é necessário e dão foco à equipe do </a:t>
            </a:r>
            <a:r>
              <a:rPr lang="pt-BR" dirty="0" smtClean="0"/>
              <a:t>projeto, sendo </a:t>
            </a:r>
            <a:r>
              <a:rPr lang="pt-BR" dirty="0"/>
              <a:t>método primário para comunicar os objetivos do projeto para </a:t>
            </a:r>
            <a:r>
              <a:rPr lang="pt-BR" dirty="0" smtClean="0"/>
              <a:t>a </a:t>
            </a:r>
            <a:r>
              <a:rPr lang="pt-BR" dirty="0"/>
              <a:t>equipe</a:t>
            </a:r>
            <a:r>
              <a:rPr lang="pt-BR" dirty="0" smtClean="0"/>
              <a:t>.</a:t>
            </a:r>
          </a:p>
          <a:p>
            <a:pPr algn="just"/>
            <a:r>
              <a:rPr lang="pt-BR" altLang="pt-BR" dirty="0"/>
              <a:t>E</a:t>
            </a:r>
            <a:r>
              <a:rPr lang="pt-BR" altLang="pt-BR" dirty="0" smtClean="0"/>
              <a:t>ngenharia de Requisitos: Processo de compreensão e definição dos serviços requisitados ao sistema, da identificação de restrições relativas à operação e ao desenvolvimento do sistema. </a:t>
            </a:r>
          </a:p>
          <a:p>
            <a:pPr algn="just" eaLnBrk="1" hangingPunct="1"/>
            <a:r>
              <a:rPr lang="pt-BR" altLang="pt-BR" dirty="0" smtClean="0"/>
              <a:t>Estágio crítico do processo de software: erros nessa fase geram problemas no projeto e na implementação do sistema. </a:t>
            </a:r>
          </a:p>
          <a:p>
            <a:pPr algn="just" eaLnBrk="1" hangingPunct="1"/>
            <a:r>
              <a:rPr lang="pt-BR" altLang="pt-BR" dirty="0" smtClean="0"/>
              <a:t>Objetivo: produzir um documento de requisitos acordados que especificação do sistema satisfaz os requisitos dos </a:t>
            </a:r>
            <a:r>
              <a:rPr lang="pt-BR" altLang="pt-BR" dirty="0" err="1" smtClean="0"/>
              <a:t>stakeholders</a:t>
            </a:r>
            <a:r>
              <a:rPr lang="pt-BR" altLang="pt-BR" dirty="0" smtClean="0"/>
              <a:t>. </a:t>
            </a:r>
          </a:p>
          <a:p>
            <a:pPr algn="just" eaLnBrk="1" hangingPunct="1"/>
            <a:r>
              <a:rPr lang="pt-BR" altLang="pt-BR" dirty="0" smtClean="0"/>
              <a:t>Requisitos em dois níveis de detalhe: </a:t>
            </a:r>
          </a:p>
          <a:p>
            <a:pPr marL="457200" indent="-457200" algn="just" eaLnBrk="1" hangingPunct="1">
              <a:buAutoNum type="arabicParenR"/>
            </a:pPr>
            <a:r>
              <a:rPr lang="pt-BR" altLang="pt-BR" dirty="0" smtClean="0"/>
              <a:t>Os usuários finais e os clientes precisam de uma declaração de requisitos em alto nível; </a:t>
            </a:r>
          </a:p>
          <a:p>
            <a:pPr marL="457200" indent="-457200" algn="just" eaLnBrk="1" hangingPunct="1">
              <a:buAutoNum type="arabicParenR"/>
            </a:pPr>
            <a:r>
              <a:rPr lang="pt-BR" altLang="pt-BR" dirty="0"/>
              <a:t>D</a:t>
            </a:r>
            <a:r>
              <a:rPr lang="pt-BR" altLang="pt-BR" dirty="0" smtClean="0"/>
              <a:t>esenvolvedores de sistemas precisam de uma especificação mais detalhada do sistema</a:t>
            </a:r>
            <a:endParaRPr lang="pt-PT" altLang="pt-BR" dirty="0" smtClean="0"/>
          </a:p>
        </p:txBody>
      </p:sp>
    </p:spTree>
    <p:extLst>
      <p:ext uri="{BB962C8B-B14F-4D97-AF65-F5344CB8AC3E}">
        <p14:creationId xmlns:p14="http://schemas.microsoft.com/office/powerpoint/2010/main" val="23364544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BFF0EF3-4175-42AE-92D1-135043A84669}" type="slidenum">
              <a:rPr lang="pt-PT" altLang="pt-BR" sz="1400"/>
              <a:pPr>
                <a:spcBef>
                  <a:spcPct val="0"/>
                </a:spcBef>
                <a:buFontTx/>
                <a:buNone/>
              </a:pPr>
              <a:t>25</a:t>
            </a:fld>
            <a:endParaRPr lang="pt-PT" altLang="pt-BR" sz="1400"/>
          </a:p>
        </p:txBody>
      </p:sp>
      <p:sp>
        <p:nvSpPr>
          <p:cNvPr id="43011"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Especificação de software ou engenharia de requisitos</a:t>
            </a:r>
            <a:br>
              <a:rPr lang="pt-BR" altLang="pt-BR" sz="3600"/>
            </a:br>
            <a:r>
              <a:rPr lang="pt-BR" altLang="pt-BR" sz="3600"/>
              <a:t> </a:t>
            </a:r>
            <a:endParaRPr lang="pt-PT" altLang="pt-BR" sz="3600"/>
          </a:p>
        </p:txBody>
      </p:sp>
      <p:pic>
        <p:nvPicPr>
          <p:cNvPr id="43012"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1133475"/>
            <a:ext cx="828198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AutoShape 2" descr="T.I em foco: Engenharia de Requisitos"/>
          <p:cNvSpPr>
            <a:spLocks noGrp="1" noChangeAspect="1" noChangeArrowheads="1"/>
          </p:cNvSpPr>
          <p:nvPr>
            <p:ph type="subTitle" idx="1"/>
          </p:nvPr>
        </p:nvSpPr>
        <p:spPr>
          <a:xfrm>
            <a:off x="1524001" y="981076"/>
            <a:ext cx="9180513" cy="5267325"/>
          </a:xfrm>
          <a:extLst>
            <a:ext uri="{909E8E84-426E-40DD-AFC4-6F175D3DCCD1}">
              <a14:hiddenFill xmlns:a14="http://schemas.microsoft.com/office/drawing/2010/main">
                <a:solidFill>
                  <a:srgbClr val="FFFFFF"/>
                </a:solidFill>
              </a14:hiddenFill>
            </a:ext>
          </a:extLst>
        </p:spPr>
        <p:txBody>
          <a:bodyPr/>
          <a:lstStyle/>
          <a:p>
            <a:endParaRPr lang="pt-BR" altLang="pt-BR" smtClean="0"/>
          </a:p>
        </p:txBody>
      </p:sp>
    </p:spTree>
    <p:extLst>
      <p:ext uri="{BB962C8B-B14F-4D97-AF65-F5344CB8AC3E}">
        <p14:creationId xmlns:p14="http://schemas.microsoft.com/office/powerpoint/2010/main" val="37095311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4DA2850-FE67-45A0-8CB6-DDC937D0853B}" type="slidenum">
              <a:rPr lang="pt-PT" altLang="pt-BR" sz="1400"/>
              <a:pPr>
                <a:spcBef>
                  <a:spcPct val="0"/>
                </a:spcBef>
                <a:buFontTx/>
                <a:buNone/>
              </a:pPr>
              <a:t>26</a:t>
            </a:fld>
            <a:endParaRPr lang="pt-PT" altLang="pt-BR" sz="1400"/>
          </a:p>
        </p:txBody>
      </p:sp>
      <p:sp>
        <p:nvSpPr>
          <p:cNvPr id="44035"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Especificação de software ou engenharia de requisitos</a:t>
            </a:r>
            <a:br>
              <a:rPr lang="pt-BR" altLang="pt-BR" sz="3600"/>
            </a:br>
            <a:r>
              <a:rPr lang="pt-BR" altLang="pt-BR" sz="3600"/>
              <a:t> </a:t>
            </a:r>
            <a:endParaRPr lang="pt-PT" altLang="pt-BR" sz="3600"/>
          </a:p>
        </p:txBody>
      </p:sp>
      <p:sp>
        <p:nvSpPr>
          <p:cNvPr id="44036" name="Rectangle 3"/>
          <p:cNvSpPr>
            <a:spLocks noGrp="1" noChangeArrowheads="1"/>
          </p:cNvSpPr>
          <p:nvPr>
            <p:ph type="subTitle" idx="1"/>
          </p:nvPr>
        </p:nvSpPr>
        <p:spPr>
          <a:xfrm>
            <a:off x="172529" y="1143000"/>
            <a:ext cx="11852694" cy="5105401"/>
          </a:xfrm>
        </p:spPr>
        <p:txBody>
          <a:bodyPr/>
          <a:lstStyle/>
          <a:p>
            <a:pPr algn="just" eaLnBrk="1" hangingPunct="1"/>
            <a:r>
              <a:rPr lang="pt-BR" altLang="pt-BR" dirty="0" smtClean="0"/>
              <a:t>Atividades:</a:t>
            </a:r>
          </a:p>
          <a:p>
            <a:pPr algn="just" eaLnBrk="1" hangingPunct="1"/>
            <a:r>
              <a:rPr lang="pt-BR" altLang="pt-BR" dirty="0" smtClean="0"/>
              <a:t>1 Estudo de viabilidade: Estimativa da possibilidade de atendimento as necessidades do usuário incluindo tecnologias de software e hardware. Verifica-se a rentabilidade do sistema a partir de um ponto de vista de negócio e se ele pode ser desenvolvido no âmbito das atuais restrições orçamentais. Deve ser relativamente barato e rápido. O resultado deve informar a decisão de avançar ou não, com uma análise mais detalhada. </a:t>
            </a:r>
          </a:p>
          <a:p>
            <a:pPr algn="just" eaLnBrk="1" hangingPunct="1"/>
            <a:r>
              <a:rPr lang="pt-BR" altLang="pt-BR" dirty="0" smtClean="0"/>
              <a:t>2 </a:t>
            </a:r>
            <a:r>
              <a:rPr lang="pt-BR" altLang="pt-BR" dirty="0" err="1" smtClean="0"/>
              <a:t>Elicitação</a:t>
            </a:r>
            <a:r>
              <a:rPr lang="pt-BR" altLang="pt-BR" dirty="0" smtClean="0"/>
              <a:t> e análise de requisitos: Processo de derivação dos requisitos do sistema por meio da observação dos sistemas existentes, além de discussões com os potenciais usuários e compradores, análise de tarefas, entre outras etapas. </a:t>
            </a:r>
            <a:r>
              <a:rPr lang="pt-BR" altLang="pt-BR" dirty="0"/>
              <a:t>P</a:t>
            </a:r>
            <a:r>
              <a:rPr lang="pt-BR" altLang="pt-BR" dirty="0" smtClean="0"/>
              <a:t>ode envolver o desenvolvimento de um ou mais modelos de sistemas e protótipos que ajudam a entender o sistema a ser especificado.</a:t>
            </a:r>
            <a:endParaRPr lang="pt-PT" altLang="pt-BR" dirty="0" smtClean="0"/>
          </a:p>
        </p:txBody>
      </p:sp>
    </p:spTree>
    <p:extLst>
      <p:ext uri="{BB962C8B-B14F-4D97-AF65-F5344CB8AC3E}">
        <p14:creationId xmlns:p14="http://schemas.microsoft.com/office/powerpoint/2010/main" val="27196457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67BED8B-F0E9-4507-AD04-84E4B985D5B3}" type="slidenum">
              <a:rPr lang="pt-PT" altLang="pt-BR" sz="1400"/>
              <a:pPr>
                <a:spcBef>
                  <a:spcPct val="0"/>
                </a:spcBef>
                <a:buFontTx/>
                <a:buNone/>
              </a:pPr>
              <a:t>27</a:t>
            </a:fld>
            <a:endParaRPr lang="pt-PT" altLang="pt-BR" sz="1400"/>
          </a:p>
        </p:txBody>
      </p:sp>
      <p:sp>
        <p:nvSpPr>
          <p:cNvPr id="45059" name="Rectangle 2"/>
          <p:cNvSpPr>
            <a:spLocks noGrp="1" noChangeArrowheads="1"/>
          </p:cNvSpPr>
          <p:nvPr>
            <p:ph type="ctrTitle"/>
          </p:nvPr>
        </p:nvSpPr>
        <p:spPr>
          <a:xfrm>
            <a:off x="1631951" y="188913"/>
            <a:ext cx="9217025" cy="1143000"/>
          </a:xfrm>
        </p:spPr>
        <p:txBody>
          <a:bodyPr anchor="ctr">
            <a:normAutofit fontScale="90000"/>
          </a:bodyPr>
          <a:lstStyle/>
          <a:p>
            <a:pPr eaLnBrk="1" hangingPunct="1"/>
            <a:r>
              <a:rPr lang="pt-BR" altLang="pt-BR" sz="3600"/>
              <a:t>2 Processos de Software Especificação de software ou engenharia de requisitos</a:t>
            </a:r>
            <a:br>
              <a:rPr lang="pt-BR" altLang="pt-BR" sz="3600"/>
            </a:br>
            <a:r>
              <a:rPr lang="pt-BR" altLang="pt-BR" sz="3600"/>
              <a:t> </a:t>
            </a:r>
            <a:endParaRPr lang="pt-PT" altLang="pt-BR" sz="3600"/>
          </a:p>
        </p:txBody>
      </p:sp>
      <p:sp>
        <p:nvSpPr>
          <p:cNvPr id="45060" name="Rectangle 3"/>
          <p:cNvSpPr>
            <a:spLocks noGrp="1" noChangeArrowheads="1"/>
          </p:cNvSpPr>
          <p:nvPr>
            <p:ph type="subTitle" idx="1"/>
          </p:nvPr>
        </p:nvSpPr>
        <p:spPr>
          <a:xfrm>
            <a:off x="129397" y="1216324"/>
            <a:ext cx="11852694" cy="5322587"/>
          </a:xfrm>
        </p:spPr>
        <p:txBody>
          <a:bodyPr/>
          <a:lstStyle/>
          <a:p>
            <a:pPr algn="just" eaLnBrk="1" hangingPunct="1"/>
            <a:r>
              <a:rPr lang="pt-BR" altLang="pt-BR" dirty="0" smtClean="0"/>
              <a:t>Atividades</a:t>
            </a:r>
          </a:p>
          <a:p>
            <a:pPr algn="just" eaLnBrk="1" hangingPunct="1"/>
            <a:r>
              <a:rPr lang="pt-BR" altLang="pt-BR" dirty="0" smtClean="0"/>
              <a:t>3 Especificação de requisitos: traduz as informações obtidas durante a atividade de análise em um documento que define um conjunto de requisitos. Dois tipos de requisitos podem ser incluídos nesse documento: </a:t>
            </a:r>
          </a:p>
          <a:p>
            <a:pPr algn="just" eaLnBrk="1" hangingPunct="1"/>
            <a:r>
              <a:rPr lang="pt-BR" altLang="pt-BR" dirty="0"/>
              <a:t>	</a:t>
            </a:r>
            <a:r>
              <a:rPr lang="pt-BR" altLang="pt-BR" dirty="0" smtClean="0"/>
              <a:t>a) Requisitos do usuário (declarações abstratas dos requisitos do sistema para o cliente e usuário final); </a:t>
            </a:r>
          </a:p>
          <a:p>
            <a:pPr algn="just" eaLnBrk="1" hangingPunct="1"/>
            <a:r>
              <a:rPr lang="pt-BR" altLang="pt-BR" dirty="0"/>
              <a:t>	b</a:t>
            </a:r>
            <a:r>
              <a:rPr lang="pt-BR" altLang="pt-BR" dirty="0" smtClean="0"/>
              <a:t>) requisitos de sistema (descrição mais detalhada da funcionalidade a ser provida).</a:t>
            </a:r>
          </a:p>
          <a:p>
            <a:pPr algn="just" eaLnBrk="1" hangingPunct="1"/>
            <a:r>
              <a:rPr lang="pt-BR" altLang="pt-BR" dirty="0" smtClean="0"/>
              <a:t>4. Validação de requisitos: verifica realismo, consistência e completude dos requisitos. Durante esse processo, os erros no documento de requisitos são descobertos fazendo-se a correção e modificando o documento.</a:t>
            </a:r>
            <a:endParaRPr lang="pt-PT" altLang="pt-BR" dirty="0" smtClean="0"/>
          </a:p>
        </p:txBody>
      </p:sp>
    </p:spTree>
    <p:extLst>
      <p:ext uri="{BB962C8B-B14F-4D97-AF65-F5344CB8AC3E}">
        <p14:creationId xmlns:p14="http://schemas.microsoft.com/office/powerpoint/2010/main" val="33969236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28</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Especificação de software ou engenharia de requisitos</a:t>
            </a:r>
            <a:br>
              <a:rPr lang="pt-BR" altLang="pt-BR" sz="3600"/>
            </a:br>
            <a:r>
              <a:rPr lang="pt-BR" altLang="pt-BR" sz="3600"/>
              <a:t> </a:t>
            </a:r>
            <a:endParaRPr lang="pt-PT" altLang="pt-BR" sz="3600"/>
          </a:p>
        </p:txBody>
      </p:sp>
      <p:sp>
        <p:nvSpPr>
          <p:cNvPr id="46084" name="Rectangle 3"/>
          <p:cNvSpPr>
            <a:spLocks noGrp="1" noChangeArrowheads="1"/>
          </p:cNvSpPr>
          <p:nvPr>
            <p:ph type="subTitle" idx="1"/>
          </p:nvPr>
        </p:nvSpPr>
        <p:spPr>
          <a:xfrm>
            <a:off x="112143" y="1362974"/>
            <a:ext cx="11938959" cy="4885427"/>
          </a:xfrm>
        </p:spPr>
        <p:txBody>
          <a:bodyPr/>
          <a:lstStyle/>
          <a:p>
            <a:pPr algn="just" eaLnBrk="1" hangingPunct="1"/>
            <a:r>
              <a:rPr lang="pt-BR" altLang="pt-BR" dirty="0" smtClean="0"/>
              <a:t>Atividades</a:t>
            </a:r>
          </a:p>
          <a:p>
            <a:pPr algn="just" eaLnBrk="1" hangingPunct="1"/>
            <a:r>
              <a:rPr lang="pt-BR" altLang="pt-BR" dirty="0" smtClean="0"/>
              <a:t>Atividades no processo de requisitos não são feitas em apenas uma sequência: análise de requisitos continua durante a definição e especificação, e novos requisitos emergem durante o processo. </a:t>
            </a:r>
          </a:p>
          <a:p>
            <a:pPr algn="just" eaLnBrk="1" hangingPunct="1"/>
            <a:r>
              <a:rPr lang="pt-BR" altLang="pt-BR" dirty="0" smtClean="0"/>
              <a:t>Atividades de análise, definição e especificação são intercaladas. </a:t>
            </a:r>
          </a:p>
          <a:p>
            <a:pPr algn="just" eaLnBrk="1" hangingPunct="1"/>
            <a:r>
              <a:rPr lang="pt-BR" altLang="pt-BR" dirty="0" smtClean="0"/>
              <a:t>Métodos ágeis (Extreme </a:t>
            </a:r>
            <a:r>
              <a:rPr lang="pt-BR" altLang="pt-BR" dirty="0" err="1" smtClean="0"/>
              <a:t>Programming</a:t>
            </a:r>
            <a:r>
              <a:rPr lang="pt-BR" altLang="pt-BR" dirty="0" smtClean="0"/>
              <a:t>): requisitos são desenvolvidos de forma incremental, de acordo com as prioridades do usuário, e a </a:t>
            </a:r>
            <a:r>
              <a:rPr lang="pt-BR" altLang="pt-BR" dirty="0" err="1" smtClean="0"/>
              <a:t>elicitação</a:t>
            </a:r>
            <a:r>
              <a:rPr lang="pt-BR" altLang="pt-BR" dirty="0" smtClean="0"/>
              <a:t> de requisitos é feita pelos usuários que integram com a equipe de desenvolvimento.</a:t>
            </a:r>
            <a:endParaRPr lang="pt-PT" altLang="pt-BR" dirty="0" smtClean="0"/>
          </a:p>
        </p:txBody>
      </p:sp>
    </p:spTree>
    <p:extLst>
      <p:ext uri="{BB962C8B-B14F-4D97-AF65-F5344CB8AC3E}">
        <p14:creationId xmlns:p14="http://schemas.microsoft.com/office/powerpoint/2010/main" val="19333215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8137BC9-1068-4CF9-9D97-D12302594EF3}" type="slidenum">
              <a:rPr lang="pt-PT" altLang="pt-BR" sz="1400"/>
              <a:pPr>
                <a:spcBef>
                  <a:spcPct val="0"/>
                </a:spcBef>
                <a:buFontTx/>
                <a:buNone/>
              </a:pPr>
              <a:t>29</a:t>
            </a:fld>
            <a:endParaRPr lang="pt-PT" altLang="pt-BR" sz="1400"/>
          </a:p>
        </p:txBody>
      </p:sp>
      <p:sp>
        <p:nvSpPr>
          <p:cNvPr id="47107"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endParaRPr lang="pt-PT" altLang="pt-BR" sz="3600"/>
          </a:p>
        </p:txBody>
      </p:sp>
      <p:sp>
        <p:nvSpPr>
          <p:cNvPr id="47108" name="Rectangle 3"/>
          <p:cNvSpPr>
            <a:spLocks noGrp="1" noChangeArrowheads="1"/>
          </p:cNvSpPr>
          <p:nvPr>
            <p:ph type="subTitle" idx="1"/>
          </p:nvPr>
        </p:nvSpPr>
        <p:spPr>
          <a:xfrm>
            <a:off x="198409" y="1000664"/>
            <a:ext cx="11783682" cy="5247737"/>
          </a:xfrm>
        </p:spPr>
        <p:txBody>
          <a:bodyPr>
            <a:normAutofit lnSpcReduction="10000"/>
          </a:bodyPr>
          <a:lstStyle/>
          <a:p>
            <a:pPr algn="just" eaLnBrk="1" hangingPunct="1"/>
            <a:r>
              <a:rPr lang="pt-BR" altLang="pt-BR" dirty="0" smtClean="0"/>
              <a:t>Processo de conversão da especificação do sistema em um sistema executável. Envolve processos de projeto e programação de software</a:t>
            </a:r>
          </a:p>
          <a:p>
            <a:pPr algn="just" eaLnBrk="1" hangingPunct="1"/>
            <a:r>
              <a:rPr lang="pt-BR" altLang="pt-BR" dirty="0"/>
              <a:t>A</a:t>
            </a:r>
            <a:r>
              <a:rPr lang="pt-BR" altLang="pt-BR" dirty="0" smtClean="0"/>
              <a:t>bordagem incremental: pode envolver o refinamento da especificação do software. </a:t>
            </a:r>
          </a:p>
          <a:p>
            <a:pPr algn="just" eaLnBrk="1" hangingPunct="1"/>
            <a:r>
              <a:rPr lang="pt-BR" altLang="pt-BR" dirty="0" smtClean="0"/>
              <a:t>Projeto de software: descrição da estrutura do software a ser implementado, dos modelos e estruturas de dados usados pelo sistema, das interfaces entre os componentes do sistema e, às vezes, dos algoritmos usados. </a:t>
            </a:r>
          </a:p>
          <a:p>
            <a:pPr algn="just" eaLnBrk="1" hangingPunct="1"/>
            <a:r>
              <a:rPr lang="pt-BR" altLang="pt-BR" dirty="0" smtClean="0"/>
              <a:t>Projetistas: desenvolvem o projeto de forma iterativa; acrescentam formalidade e detalhes; desenvolvem o projeto por meio de revisões constantes para correção de projetos anteriores.</a:t>
            </a:r>
          </a:p>
          <a:p>
            <a:pPr algn="just"/>
            <a:r>
              <a:rPr lang="pt-BR" altLang="pt-BR" dirty="0"/>
              <a:t>Elabora-se modelo abstrato do projeto: mostra as entradas, suas atividades e os documentos produzidos como saídas. </a:t>
            </a:r>
          </a:p>
          <a:p>
            <a:pPr algn="just"/>
            <a:r>
              <a:rPr lang="pt-BR" altLang="pt-BR" dirty="0"/>
              <a:t>Diagrama sugere que os estágios do processo de projeto são sequenciais: as atividades do processo são intercaladas. </a:t>
            </a:r>
          </a:p>
          <a:p>
            <a:pPr algn="just"/>
            <a:r>
              <a:rPr lang="pt-BR" altLang="pt-BR" dirty="0"/>
              <a:t>Feedback de um estágio para outro e consequente retrabalho são inevitáveis em todos os processos.</a:t>
            </a:r>
          </a:p>
          <a:p>
            <a:pPr algn="just" eaLnBrk="1" hangingPunct="1"/>
            <a:endParaRPr lang="pt-PT" altLang="pt-BR" dirty="0" smtClean="0"/>
          </a:p>
        </p:txBody>
      </p:sp>
    </p:spTree>
    <p:extLst>
      <p:ext uri="{BB962C8B-B14F-4D97-AF65-F5344CB8AC3E}">
        <p14:creationId xmlns:p14="http://schemas.microsoft.com/office/powerpoint/2010/main" val="15363910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5FE3D4C-6B03-4F29-82EE-78DF18261B05}" type="slidenum">
              <a:rPr lang="pt-PT" altLang="pt-BR" sz="1400"/>
              <a:pPr>
                <a:spcBef>
                  <a:spcPct val="0"/>
                </a:spcBef>
                <a:buFontTx/>
                <a:buNone/>
              </a:pPr>
              <a:t>30</a:t>
            </a:fld>
            <a:endParaRPr lang="pt-PT" altLang="pt-BR" sz="1400"/>
          </a:p>
        </p:txBody>
      </p:sp>
      <p:sp>
        <p:nvSpPr>
          <p:cNvPr id="49155"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endParaRPr lang="pt-PT" altLang="pt-BR" sz="3600"/>
          </a:p>
        </p:txBody>
      </p:sp>
      <p:pic>
        <p:nvPicPr>
          <p:cNvPr id="49156"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996950"/>
            <a:ext cx="80645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Rectangle 3"/>
          <p:cNvSpPr>
            <a:spLocks noGrp="1" noChangeArrowheads="1"/>
          </p:cNvSpPr>
          <p:nvPr>
            <p:ph type="subTitle" idx="1"/>
          </p:nvPr>
        </p:nvSpPr>
        <p:spPr>
          <a:xfrm>
            <a:off x="603849" y="750498"/>
            <a:ext cx="10187795" cy="5497902"/>
          </a:xfrm>
        </p:spPr>
        <p:txBody>
          <a:bodyPr/>
          <a:lstStyle/>
          <a:p>
            <a:pPr algn="just" eaLnBrk="1" hangingPunct="1"/>
            <a:r>
              <a:rPr lang="pt-PT" altLang="pt-BR" dirty="0" smtClean="0"/>
              <a:t>Pag 40</a:t>
            </a:r>
          </a:p>
        </p:txBody>
      </p:sp>
    </p:spTree>
    <p:extLst>
      <p:ext uri="{BB962C8B-B14F-4D97-AF65-F5344CB8AC3E}">
        <p14:creationId xmlns:p14="http://schemas.microsoft.com/office/powerpoint/2010/main" val="17599467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9D7C110-2FEA-4BB6-B579-954688DB37F1}" type="slidenum">
              <a:rPr lang="pt-PT" altLang="pt-BR" sz="1400"/>
              <a:pPr>
                <a:spcBef>
                  <a:spcPct val="0"/>
                </a:spcBef>
                <a:buFontTx/>
                <a:buNone/>
              </a:pPr>
              <a:t>31</a:t>
            </a:fld>
            <a:endParaRPr lang="pt-PT" altLang="pt-BR" sz="1400"/>
          </a:p>
        </p:txBody>
      </p:sp>
      <p:sp>
        <p:nvSpPr>
          <p:cNvPr id="50179"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r>
              <a:rPr lang="pt-BR" altLang="pt-BR" sz="3600"/>
              <a:t> </a:t>
            </a:r>
            <a:endParaRPr lang="pt-PT" altLang="pt-BR" sz="3600"/>
          </a:p>
        </p:txBody>
      </p:sp>
      <p:sp>
        <p:nvSpPr>
          <p:cNvPr id="50180" name="Rectangle 3"/>
          <p:cNvSpPr>
            <a:spLocks noGrp="1" noChangeArrowheads="1"/>
          </p:cNvSpPr>
          <p:nvPr>
            <p:ph type="subTitle" idx="1"/>
          </p:nvPr>
        </p:nvSpPr>
        <p:spPr>
          <a:xfrm>
            <a:off x="25191" y="1143000"/>
            <a:ext cx="11852693" cy="4928559"/>
          </a:xfrm>
        </p:spPr>
        <p:txBody>
          <a:bodyPr>
            <a:normAutofit fontScale="92500" lnSpcReduction="10000"/>
          </a:bodyPr>
          <a:lstStyle/>
          <a:p>
            <a:pPr algn="just" eaLnBrk="1" hangingPunct="1"/>
            <a:r>
              <a:rPr lang="pt-BR" altLang="pt-BR" dirty="0" smtClean="0"/>
              <a:t>Softwares interagem com outros sistemas de software (sistema operacional, banco de dados,  middleware e outros aplicativos). </a:t>
            </a:r>
          </a:p>
          <a:p>
            <a:pPr algn="just" eaLnBrk="1" hangingPunct="1"/>
            <a:r>
              <a:rPr lang="pt-BR" altLang="pt-BR" dirty="0"/>
              <a:t>P</a:t>
            </a:r>
            <a:r>
              <a:rPr lang="pt-BR" altLang="pt-BR" dirty="0" smtClean="0"/>
              <a:t>lataforma de software - ambiente em que o software será executado: Informações sobre a plataforma são entradas essenciais para o processo de projeto. Projetistas devem decidir a melhor forma de integrá-la ao ambiente do software. </a:t>
            </a:r>
          </a:p>
          <a:p>
            <a:pPr algn="just" eaLnBrk="1" hangingPunct="1"/>
            <a:r>
              <a:rPr lang="pt-BR" altLang="pt-BR" dirty="0" smtClean="0"/>
              <a:t>Especificação de requisitos: descrição das funcionalidades do software, requisitos de desempenho e confiança. </a:t>
            </a:r>
          </a:p>
          <a:p>
            <a:pPr algn="just" eaLnBrk="1" hangingPunct="1"/>
            <a:r>
              <a:rPr lang="pt-BR" altLang="pt-BR" dirty="0" smtClean="0"/>
              <a:t>Sistema de processamento de dados existente: sua descrição poderia ser incluída na especificação da plataforma; caso contrário, a descrição dos dados deve ser uma entrada para o processo de projeto, para que a organização dos dados do sistema seja definida.</a:t>
            </a:r>
          </a:p>
          <a:p>
            <a:pPr algn="just"/>
            <a:r>
              <a:rPr lang="pt-BR" altLang="pt-BR" dirty="0"/>
              <a:t>As atividades no processo de projeto podem variar, dependendo do tipo de sistema a ser desenvolvido. </a:t>
            </a:r>
          </a:p>
          <a:p>
            <a:pPr algn="just"/>
            <a:r>
              <a:rPr lang="pt-BR" altLang="pt-BR" dirty="0" err="1" smtClean="0"/>
              <a:t>Ex</a:t>
            </a:r>
            <a:r>
              <a:rPr lang="pt-BR" altLang="pt-BR" dirty="0"/>
              <a:t>: sistemas de tempo real demandam projeto de timing, </a:t>
            </a:r>
            <a:r>
              <a:rPr lang="pt-BR" altLang="pt-BR" dirty="0" smtClean="0"/>
              <a:t>podem </a:t>
            </a:r>
            <a:r>
              <a:rPr lang="pt-BR" altLang="pt-BR" dirty="0"/>
              <a:t>não incluir uma base de </a:t>
            </a:r>
            <a:r>
              <a:rPr lang="pt-BR" altLang="pt-BR" dirty="0" smtClean="0"/>
              <a:t>dados não havendo um </a:t>
            </a:r>
            <a:r>
              <a:rPr lang="pt-BR" altLang="pt-BR" dirty="0"/>
              <a:t>projeto de banco de dados envolvido.</a:t>
            </a:r>
            <a:endParaRPr lang="pt-PT" altLang="pt-BR" dirty="0"/>
          </a:p>
          <a:p>
            <a:pPr algn="just" eaLnBrk="1" hangingPunct="1"/>
            <a:endParaRPr lang="pt-PT" altLang="pt-BR" dirty="0" smtClean="0"/>
          </a:p>
        </p:txBody>
      </p:sp>
    </p:spTree>
    <p:extLst>
      <p:ext uri="{BB962C8B-B14F-4D97-AF65-F5344CB8AC3E}">
        <p14:creationId xmlns:p14="http://schemas.microsoft.com/office/powerpoint/2010/main" val="13738050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DE6F40D-4E17-41F9-BA1D-E1A9A8BBF7F4}" type="slidenum">
              <a:rPr lang="pt-PT" altLang="pt-BR" sz="1400"/>
              <a:pPr>
                <a:spcBef>
                  <a:spcPct val="0"/>
                </a:spcBef>
                <a:buFontTx/>
                <a:buNone/>
              </a:pPr>
              <a:t>32</a:t>
            </a:fld>
            <a:endParaRPr lang="pt-PT" altLang="pt-BR" sz="1400"/>
          </a:p>
        </p:txBody>
      </p:sp>
      <p:sp>
        <p:nvSpPr>
          <p:cNvPr id="52227"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r>
              <a:rPr lang="pt-BR" altLang="pt-BR" sz="3600"/>
              <a:t> </a:t>
            </a:r>
            <a:endParaRPr lang="pt-PT" altLang="pt-BR" sz="3600"/>
          </a:p>
        </p:txBody>
      </p:sp>
      <p:sp>
        <p:nvSpPr>
          <p:cNvPr id="52228" name="Rectangle 3"/>
          <p:cNvSpPr>
            <a:spLocks noGrp="1" noChangeArrowheads="1"/>
          </p:cNvSpPr>
          <p:nvPr>
            <p:ph type="subTitle" idx="1"/>
          </p:nvPr>
        </p:nvSpPr>
        <p:spPr>
          <a:xfrm>
            <a:off x="198409" y="1143000"/>
            <a:ext cx="11671538" cy="4531744"/>
          </a:xfrm>
        </p:spPr>
        <p:txBody>
          <a:bodyPr>
            <a:normAutofit fontScale="92500" lnSpcReduction="10000"/>
          </a:bodyPr>
          <a:lstStyle/>
          <a:p>
            <a:pPr algn="just" eaLnBrk="1" hangingPunct="1"/>
            <a:r>
              <a:rPr lang="pt-BR" altLang="pt-BR" dirty="0" smtClean="0"/>
              <a:t>As atividades do processo de projeto de sistemas de informação: </a:t>
            </a:r>
          </a:p>
          <a:p>
            <a:pPr algn="just" eaLnBrk="1" hangingPunct="1"/>
            <a:r>
              <a:rPr lang="pt-BR" altLang="pt-BR" dirty="0" smtClean="0"/>
              <a:t>1. Projeto de arquitetura: identifica a estrutura geral do sistema, dos componentes principais (subsistemas ou módulos), seus relacionamentos e como eles são distribuídos. </a:t>
            </a:r>
          </a:p>
          <a:p>
            <a:pPr algn="just" eaLnBrk="1" hangingPunct="1"/>
            <a:r>
              <a:rPr lang="pt-BR" altLang="pt-BR" dirty="0" smtClean="0"/>
              <a:t>2. Projeto de interface: define as interfaces dos componentes do sistema. Interface precisa: componente pode ser usado de maneira que outros componentes não precisam saber como ele é implementado. Especificações de interface acordadas:  os componentes podem ser projetados e desenvolvidos simultaneamente.</a:t>
            </a:r>
          </a:p>
          <a:p>
            <a:pPr algn="just"/>
            <a:r>
              <a:rPr lang="pt-BR" altLang="pt-BR" dirty="0"/>
              <a:t>3. Projeto de componente: projeta o funcionamento de cada componente do sistema, podendo ser uma declaração da funcionalidade que se espera implementar, para cada programador. </a:t>
            </a:r>
            <a:r>
              <a:rPr lang="pt-BR" altLang="pt-BR" dirty="0" smtClean="0"/>
              <a:t>Pode </a:t>
            </a:r>
            <a:r>
              <a:rPr lang="pt-BR" altLang="pt-BR" dirty="0"/>
              <a:t>ser uma lista de alterações a serem feitas em um componente </a:t>
            </a:r>
            <a:r>
              <a:rPr lang="pt-BR" altLang="pt-BR" dirty="0" err="1"/>
              <a:t>reusável</a:t>
            </a:r>
            <a:r>
              <a:rPr lang="pt-BR" altLang="pt-BR" dirty="0"/>
              <a:t> ou um modelo de projeto detalhado que pode ser usado para gerar automaticamente uma implementação. </a:t>
            </a:r>
          </a:p>
          <a:p>
            <a:pPr algn="just"/>
            <a:r>
              <a:rPr lang="pt-BR" altLang="pt-BR" dirty="0"/>
              <a:t>4. Projeto de banco de dados: projeto das estruturas de dados do sistema e como eles devem ser representados no banco de dados. Depende da existência de um banco de dados a ser reusado ou da criação de um novo banco de dados.</a:t>
            </a:r>
            <a:endParaRPr lang="pt-PT" altLang="pt-BR" dirty="0"/>
          </a:p>
          <a:p>
            <a:pPr algn="just" eaLnBrk="1" hangingPunct="1"/>
            <a:endParaRPr lang="pt-PT" altLang="pt-BR" dirty="0" smtClean="0"/>
          </a:p>
        </p:txBody>
      </p:sp>
    </p:spTree>
    <p:extLst>
      <p:ext uri="{BB962C8B-B14F-4D97-AF65-F5344CB8AC3E}">
        <p14:creationId xmlns:p14="http://schemas.microsoft.com/office/powerpoint/2010/main" val="7636838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DA4C879-B195-4BD6-A5DB-A9C79024F63D}" type="slidenum">
              <a:rPr lang="pt-PT" altLang="pt-BR" sz="1400"/>
              <a:pPr>
                <a:spcBef>
                  <a:spcPct val="0"/>
                </a:spcBef>
                <a:buFontTx/>
                <a:buNone/>
              </a:pPr>
              <a:t>33</a:t>
            </a:fld>
            <a:endParaRPr lang="pt-PT" altLang="pt-BR" sz="1400"/>
          </a:p>
        </p:txBody>
      </p:sp>
      <p:sp>
        <p:nvSpPr>
          <p:cNvPr id="54275"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endParaRPr lang="pt-PT" altLang="pt-BR" sz="3600"/>
          </a:p>
        </p:txBody>
      </p:sp>
      <p:sp>
        <p:nvSpPr>
          <p:cNvPr id="54276" name="Rectangle 3"/>
          <p:cNvSpPr>
            <a:spLocks noGrp="1" noChangeArrowheads="1"/>
          </p:cNvSpPr>
          <p:nvPr>
            <p:ph type="subTitle" idx="1"/>
          </p:nvPr>
        </p:nvSpPr>
        <p:spPr>
          <a:xfrm>
            <a:off x="267419" y="1647645"/>
            <a:ext cx="11205713" cy="4600756"/>
          </a:xfrm>
        </p:spPr>
        <p:txBody>
          <a:bodyPr/>
          <a:lstStyle/>
          <a:p>
            <a:pPr algn="just" eaLnBrk="1" hangingPunct="1"/>
            <a:r>
              <a:rPr lang="pt-BR" altLang="pt-BR" dirty="0" smtClean="0"/>
              <a:t>Essas atividades conduzem a um conjunto de saídas do projeto. O detalhe e a apresentação de cada uma varia consideravelmente. </a:t>
            </a:r>
          </a:p>
          <a:p>
            <a:pPr algn="just" eaLnBrk="1" hangingPunct="1"/>
            <a:endParaRPr lang="pt-BR" altLang="pt-BR" dirty="0" smtClean="0"/>
          </a:p>
          <a:p>
            <a:pPr algn="just" eaLnBrk="1" hangingPunct="1"/>
            <a:r>
              <a:rPr lang="pt-BR" altLang="pt-BR" dirty="0" smtClean="0"/>
              <a:t>Sistemas críticos: produz-se documentos detalhados de projeto, indicando as descrições precisas e exatas do sistema. </a:t>
            </a:r>
          </a:p>
          <a:p>
            <a:pPr algn="just" eaLnBrk="1" hangingPunct="1"/>
            <a:endParaRPr lang="pt-BR" altLang="pt-BR" dirty="0" smtClean="0"/>
          </a:p>
          <a:p>
            <a:pPr algn="just" eaLnBrk="1" hangingPunct="1"/>
            <a:r>
              <a:rPr lang="pt-BR" altLang="pt-BR" dirty="0" smtClean="0"/>
              <a:t>Abordagem dirigida a modelos: as saídas podem ser majoritariamente diagramas. </a:t>
            </a:r>
          </a:p>
          <a:p>
            <a:pPr algn="just" eaLnBrk="1" hangingPunct="1"/>
            <a:endParaRPr lang="pt-BR" altLang="pt-BR" dirty="0" smtClean="0"/>
          </a:p>
          <a:p>
            <a:pPr algn="just" eaLnBrk="1" hangingPunct="1"/>
            <a:r>
              <a:rPr lang="pt-BR" altLang="pt-BR" dirty="0" smtClean="0"/>
              <a:t>Métodos ágeis de desenvolvimento: as saídas do processo de projeto podem não ser documentos de especificação separados, mas ser representadas no código do programa. </a:t>
            </a:r>
            <a:endParaRPr lang="pt-PT" altLang="pt-BR" dirty="0" smtClean="0"/>
          </a:p>
        </p:txBody>
      </p:sp>
    </p:spTree>
    <p:extLst>
      <p:ext uri="{BB962C8B-B14F-4D97-AF65-F5344CB8AC3E}">
        <p14:creationId xmlns:p14="http://schemas.microsoft.com/office/powerpoint/2010/main" val="40082928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61A61DC-44C4-411A-9E26-8041A8078992}" type="slidenum">
              <a:rPr lang="pt-PT" altLang="pt-BR" sz="1400"/>
              <a:pPr>
                <a:spcBef>
                  <a:spcPct val="0"/>
                </a:spcBef>
                <a:buFontTx/>
                <a:buNone/>
              </a:pPr>
              <a:t>34</a:t>
            </a:fld>
            <a:endParaRPr lang="pt-PT" altLang="pt-BR" sz="1400"/>
          </a:p>
        </p:txBody>
      </p:sp>
      <p:sp>
        <p:nvSpPr>
          <p:cNvPr id="55299"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r>
              <a:rPr lang="pt-BR" altLang="pt-BR" sz="3600"/>
              <a:t> </a:t>
            </a:r>
            <a:endParaRPr lang="pt-PT" altLang="pt-BR" sz="3600"/>
          </a:p>
        </p:txBody>
      </p:sp>
      <p:sp>
        <p:nvSpPr>
          <p:cNvPr id="55300" name="Rectangle 3"/>
          <p:cNvSpPr>
            <a:spLocks noGrp="1" noChangeArrowheads="1"/>
          </p:cNvSpPr>
          <p:nvPr>
            <p:ph type="subTitle" idx="1"/>
          </p:nvPr>
        </p:nvSpPr>
        <p:spPr>
          <a:xfrm>
            <a:off x="310551" y="1043795"/>
            <a:ext cx="11568023" cy="5661805"/>
          </a:xfrm>
        </p:spPr>
        <p:txBody>
          <a:bodyPr>
            <a:normAutofit lnSpcReduction="10000"/>
          </a:bodyPr>
          <a:lstStyle/>
          <a:p>
            <a:pPr algn="just" eaLnBrk="1" hangingPunct="1"/>
            <a:r>
              <a:rPr lang="pt-BR" altLang="pt-BR" dirty="0" smtClean="0"/>
              <a:t>Métodos estruturados: desenvolvidos nas décadas de 1970 e 1980</a:t>
            </a:r>
          </a:p>
          <a:p>
            <a:pPr algn="just" eaLnBrk="1" hangingPunct="1"/>
            <a:r>
              <a:rPr lang="pt-BR" altLang="pt-BR" dirty="0" smtClean="0"/>
              <a:t>Precursores da UML e do projeto orientado a objetos (BUDGEN, 2003). Relacionados com a produção de modelos gráficos do sistema, podem gerar códigos automaticamente a partir dos modelos. </a:t>
            </a:r>
          </a:p>
          <a:p>
            <a:pPr algn="just" eaLnBrk="1" hangingPunct="1"/>
            <a:endParaRPr lang="pt-BR" altLang="pt-BR" dirty="0" smtClean="0"/>
          </a:p>
          <a:p>
            <a:pPr algn="just" eaLnBrk="1" hangingPunct="1"/>
            <a:r>
              <a:rPr lang="pt-BR" altLang="pt-BR" dirty="0" smtClean="0"/>
              <a:t>Desenvolvimento dirigido a modelos – MDD (</a:t>
            </a:r>
            <a:r>
              <a:rPr lang="pt-BR" altLang="pt-BR" dirty="0" err="1" smtClean="0"/>
              <a:t>model-driven</a:t>
            </a:r>
            <a:r>
              <a:rPr lang="pt-BR" altLang="pt-BR" dirty="0" smtClean="0"/>
              <a:t> </a:t>
            </a:r>
            <a:r>
              <a:rPr lang="pt-BR" altLang="pt-BR" dirty="0" err="1" smtClean="0"/>
              <a:t>development</a:t>
            </a:r>
            <a:r>
              <a:rPr lang="pt-BR" altLang="pt-BR" dirty="0" smtClean="0"/>
              <a:t>) ou engenharia dirigida a modelos (SCHMIDT, 2006):  modelos de software: criados em diferentes níveis de abstração;</a:t>
            </a:r>
          </a:p>
          <a:p>
            <a:pPr algn="just" eaLnBrk="1" hangingPunct="1"/>
            <a:r>
              <a:rPr lang="pt-BR" altLang="pt-BR" dirty="0" smtClean="0"/>
              <a:t>Evolução dos métodos estruturados. </a:t>
            </a:r>
          </a:p>
          <a:p>
            <a:pPr algn="just"/>
            <a:r>
              <a:rPr lang="pt-BR" dirty="0" smtClean="0"/>
              <a:t>MDD: </a:t>
            </a:r>
            <a:r>
              <a:rPr lang="pt-BR" dirty="0"/>
              <a:t>transformação de modelos de maiores níveis de abstração (domínio do problema) em modelos mais concretos (domínio da solução) até se obter, por fim, o código do sistema</a:t>
            </a:r>
            <a:r>
              <a:rPr lang="pt-BR" dirty="0" smtClean="0"/>
              <a:t>.</a:t>
            </a:r>
          </a:p>
          <a:p>
            <a:pPr algn="just"/>
            <a:r>
              <a:rPr lang="pt-BR" dirty="0" smtClean="0"/>
              <a:t>MDD: </a:t>
            </a:r>
            <a:r>
              <a:rPr lang="pt-BR" dirty="0"/>
              <a:t>preconiza que o desenvolvimento inicial e modificações futuras da aplicação sejam efetuados apenas no modelo mais abstrato. </a:t>
            </a:r>
            <a:endParaRPr lang="pt-BR" altLang="pt-BR" dirty="0" smtClean="0"/>
          </a:p>
          <a:p>
            <a:pPr algn="just" eaLnBrk="1" hangingPunct="1"/>
            <a:r>
              <a:rPr lang="pt-BR" altLang="pt-BR" dirty="0" smtClean="0"/>
              <a:t>Modelos desenvolvidos em detalhes para que o sistema executável possa ser gerado a partir deles. </a:t>
            </a:r>
            <a:endParaRPr lang="pt-PT" altLang="pt-BR" dirty="0" smtClean="0"/>
          </a:p>
        </p:txBody>
      </p:sp>
    </p:spTree>
    <p:extLst>
      <p:ext uri="{BB962C8B-B14F-4D97-AF65-F5344CB8AC3E}">
        <p14:creationId xmlns:p14="http://schemas.microsoft.com/office/powerpoint/2010/main" val="21179823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1FA9B89-44DF-4C50-9C5B-3F4C1BD8A01E}" type="slidenum">
              <a:rPr lang="pt-PT" altLang="pt-BR" sz="1400"/>
              <a:pPr>
                <a:spcBef>
                  <a:spcPct val="0"/>
                </a:spcBef>
                <a:buFontTx/>
                <a:buNone/>
              </a:pPr>
              <a:t>35</a:t>
            </a:fld>
            <a:endParaRPr lang="pt-PT" altLang="pt-BR" sz="1400"/>
          </a:p>
        </p:txBody>
      </p:sp>
      <p:sp>
        <p:nvSpPr>
          <p:cNvPr id="5632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r>
              <a:rPr lang="pt-BR" altLang="pt-BR" sz="3600"/>
              <a:t> </a:t>
            </a:r>
            <a:endParaRPr lang="pt-PT" altLang="pt-BR" sz="3600"/>
          </a:p>
        </p:txBody>
      </p:sp>
      <p:sp>
        <p:nvSpPr>
          <p:cNvPr id="56324" name="Rectangle 3"/>
          <p:cNvSpPr>
            <a:spLocks noGrp="1" noChangeArrowheads="1"/>
          </p:cNvSpPr>
          <p:nvPr>
            <p:ph type="subTitle" idx="1"/>
          </p:nvPr>
        </p:nvSpPr>
        <p:spPr>
          <a:xfrm>
            <a:off x="319177" y="1423358"/>
            <a:ext cx="11800936" cy="4825043"/>
          </a:xfrm>
        </p:spPr>
        <p:txBody>
          <a:bodyPr/>
          <a:lstStyle/>
          <a:p>
            <a:pPr algn="just" eaLnBrk="1" hangingPunct="1"/>
            <a:r>
              <a:rPr lang="pt-BR" altLang="pt-BR" dirty="0" smtClean="0"/>
              <a:t>Programação: atividade pessoal, não existe um processo geral a ser seguido. Os desenvolvedores:</a:t>
            </a:r>
          </a:p>
          <a:p>
            <a:pPr marL="342900" indent="-342900" algn="just" eaLnBrk="1" hangingPunct="1">
              <a:buFont typeface="Arial" panose="020B0604020202020204" pitchFamily="34" charset="0"/>
              <a:buChar char="•"/>
            </a:pPr>
            <a:r>
              <a:rPr lang="pt-BR" altLang="pt-BR" dirty="0" smtClean="0"/>
              <a:t>Começam com componentes que compreendem, desenvolvem e depois passam para os componentes menos compreendidos. </a:t>
            </a:r>
          </a:p>
          <a:p>
            <a:pPr marL="342900" indent="-342900" algn="just" eaLnBrk="1" hangingPunct="1">
              <a:buFont typeface="Arial" panose="020B0604020202020204" pitchFamily="34" charset="0"/>
              <a:buChar char="•"/>
            </a:pPr>
            <a:r>
              <a:rPr lang="pt-BR" altLang="pt-BR" dirty="0" smtClean="0"/>
              <a:t>Deixam para o fim os componentes familiares, pois sabem como desenvolvê-los. </a:t>
            </a:r>
          </a:p>
          <a:p>
            <a:pPr marL="342900" indent="-342900" algn="just" eaLnBrk="1" hangingPunct="1">
              <a:buFont typeface="Arial" panose="020B0604020202020204" pitchFamily="34" charset="0"/>
              <a:buChar char="•"/>
            </a:pPr>
            <a:r>
              <a:rPr lang="pt-BR" altLang="pt-BR" dirty="0" smtClean="0"/>
              <a:t>Definem os dados no início do processo e usam no desenvolvimento do programa; </a:t>
            </a:r>
          </a:p>
          <a:p>
            <a:pPr marL="342900" indent="-342900" algn="just" eaLnBrk="1" hangingPunct="1">
              <a:buFont typeface="Arial" panose="020B0604020202020204" pitchFamily="34" charset="0"/>
              <a:buChar char="•"/>
            </a:pPr>
            <a:r>
              <a:rPr lang="pt-BR" altLang="pt-BR" dirty="0" smtClean="0"/>
              <a:t>Outros deixam os dados não especificados durante o maior período de tempo possível.</a:t>
            </a:r>
            <a:endParaRPr lang="pt-PT" altLang="pt-BR" dirty="0" smtClean="0"/>
          </a:p>
        </p:txBody>
      </p:sp>
    </p:spTree>
    <p:extLst>
      <p:ext uri="{BB962C8B-B14F-4D97-AF65-F5344CB8AC3E}">
        <p14:creationId xmlns:p14="http://schemas.microsoft.com/office/powerpoint/2010/main" val="5524622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FD3EFC9-C081-4332-BEC9-4AC82F3D4150}" type="slidenum">
              <a:rPr lang="pt-PT" altLang="pt-BR" sz="1400"/>
              <a:pPr>
                <a:spcBef>
                  <a:spcPct val="0"/>
                </a:spcBef>
                <a:buFontTx/>
                <a:buNone/>
              </a:pPr>
              <a:t>36</a:t>
            </a:fld>
            <a:endParaRPr lang="pt-PT" altLang="pt-BR" sz="1400"/>
          </a:p>
        </p:txBody>
      </p:sp>
      <p:sp>
        <p:nvSpPr>
          <p:cNvPr id="57347"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a:t>2 Processos de Software -Projeto e implementação de software </a:t>
            </a:r>
            <a:br>
              <a:rPr lang="pt-BR" altLang="pt-BR" sz="3600"/>
            </a:br>
            <a:r>
              <a:rPr lang="pt-BR" altLang="pt-BR" sz="3600"/>
              <a:t> </a:t>
            </a:r>
            <a:endParaRPr lang="pt-PT" altLang="pt-BR" sz="3600"/>
          </a:p>
        </p:txBody>
      </p:sp>
      <p:sp>
        <p:nvSpPr>
          <p:cNvPr id="57348" name="Rectangle 3"/>
          <p:cNvSpPr>
            <a:spLocks noGrp="1" noChangeArrowheads="1"/>
          </p:cNvSpPr>
          <p:nvPr>
            <p:ph type="subTitle" idx="1"/>
          </p:nvPr>
        </p:nvSpPr>
        <p:spPr>
          <a:xfrm>
            <a:off x="293298" y="1302590"/>
            <a:ext cx="11680165" cy="4945812"/>
          </a:xfrm>
        </p:spPr>
        <p:txBody>
          <a:bodyPr/>
          <a:lstStyle/>
          <a:p>
            <a:pPr algn="just" eaLnBrk="1" hangingPunct="1"/>
            <a:r>
              <a:rPr lang="pt-BR" altLang="pt-BR" dirty="0" smtClean="0"/>
              <a:t>Testes: Revelam defeitos que devem ser retirados do programa. Isso é chamado </a:t>
            </a:r>
            <a:r>
              <a:rPr lang="pt-BR" altLang="pt-BR" dirty="0" err="1" smtClean="0"/>
              <a:t>debugging</a:t>
            </a:r>
            <a:r>
              <a:rPr lang="pt-BR" altLang="pt-BR" dirty="0" smtClean="0"/>
              <a:t>. </a:t>
            </a:r>
          </a:p>
          <a:p>
            <a:pPr algn="just" eaLnBrk="1" hangingPunct="1"/>
            <a:r>
              <a:rPr lang="pt-BR" altLang="pt-BR" dirty="0" smtClean="0"/>
              <a:t>Testes estabelecem a existência de defeitos x </a:t>
            </a:r>
            <a:r>
              <a:rPr lang="pt-BR" altLang="pt-BR" dirty="0" err="1" smtClean="0"/>
              <a:t>debugging</a:t>
            </a:r>
            <a:r>
              <a:rPr lang="pt-BR" altLang="pt-BR" dirty="0" smtClean="0"/>
              <a:t> diz respeito à localização e correção desses defeitos.</a:t>
            </a:r>
          </a:p>
          <a:p>
            <a:pPr algn="just" eaLnBrk="1" hangingPunct="1"/>
            <a:r>
              <a:rPr lang="pt-BR" altLang="pt-BR" dirty="0" err="1" smtClean="0"/>
              <a:t>Debugging</a:t>
            </a:r>
            <a:r>
              <a:rPr lang="pt-BR" altLang="pt-BR" dirty="0" smtClean="0"/>
              <a:t>: precisa gerar hipóteses sobre o comportamento observável do programa; testar essas hipóteses na esperança de encontrar um defeito que tenha causado uma saída anormal. </a:t>
            </a:r>
          </a:p>
          <a:p>
            <a:pPr algn="just" eaLnBrk="1" hangingPunct="1"/>
            <a:r>
              <a:rPr lang="pt-BR" altLang="pt-BR" dirty="0" smtClean="0"/>
              <a:t>Teste das hipóteses: rastreio manual do código do programa, exige novos casos de teste para localização do problema. </a:t>
            </a:r>
          </a:p>
          <a:p>
            <a:pPr algn="just" eaLnBrk="1" hangingPunct="1"/>
            <a:r>
              <a:rPr lang="pt-BR" altLang="pt-BR" dirty="0" smtClean="0"/>
              <a:t>Ferramentas interativas de depuração (mostram os valores intermediários das variáveis e lista das instruções executadas) podem ser usadas para apoiar o processo de depuração.</a:t>
            </a:r>
            <a:endParaRPr lang="pt-PT" altLang="pt-BR" dirty="0" smtClean="0"/>
          </a:p>
        </p:txBody>
      </p:sp>
    </p:spTree>
    <p:extLst>
      <p:ext uri="{BB962C8B-B14F-4D97-AF65-F5344CB8AC3E}">
        <p14:creationId xmlns:p14="http://schemas.microsoft.com/office/powerpoint/2010/main" val="3243613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7CB667A-149B-4EB3-A457-BFEA871EDE2F}" type="slidenum">
              <a:rPr lang="pt-PT" altLang="pt-BR" sz="1400"/>
              <a:pPr>
                <a:spcBef>
                  <a:spcPct val="0"/>
                </a:spcBef>
                <a:buFontTx/>
                <a:buNone/>
              </a:pPr>
              <a:t>37</a:t>
            </a:fld>
            <a:endParaRPr lang="pt-PT" altLang="pt-BR" sz="1400"/>
          </a:p>
        </p:txBody>
      </p:sp>
      <p:sp>
        <p:nvSpPr>
          <p:cNvPr id="5837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58372" name="Rectangle 3"/>
          <p:cNvSpPr>
            <a:spLocks noGrp="1" noChangeArrowheads="1"/>
          </p:cNvSpPr>
          <p:nvPr>
            <p:ph type="subTitle" idx="1"/>
          </p:nvPr>
        </p:nvSpPr>
        <p:spPr>
          <a:xfrm>
            <a:off x="599280" y="1440611"/>
            <a:ext cx="11279293" cy="4721525"/>
          </a:xfrm>
        </p:spPr>
        <p:txBody>
          <a:bodyPr/>
          <a:lstStyle/>
          <a:p>
            <a:pPr algn="just" eaLnBrk="1" hangingPunct="1"/>
            <a:r>
              <a:rPr lang="pt-BR" altLang="pt-BR" dirty="0" smtClean="0"/>
              <a:t>Validação de Software  ou verificação e validação (V&amp;V): mostra que o software se adequa a suas especificações e satisfaz as especificações do cliente. </a:t>
            </a:r>
          </a:p>
          <a:p>
            <a:pPr algn="just" eaLnBrk="1" hangingPunct="1"/>
            <a:r>
              <a:rPr lang="pt-BR" altLang="pt-BR" dirty="0" smtClean="0"/>
              <a:t>Teste de programa: o sistema é executado com dados de testes simulados, sendo a principal técnica de validação. </a:t>
            </a:r>
          </a:p>
          <a:p>
            <a:pPr algn="just" eaLnBrk="1" hangingPunct="1"/>
            <a:r>
              <a:rPr lang="pt-BR" altLang="pt-BR" dirty="0" smtClean="0"/>
              <a:t>Validação envolve processos de verificação (inspeções e revisões) em cada estágio do processo de software, da definição dos requisitos de usuários até o desenvolvimento do programa. </a:t>
            </a:r>
          </a:p>
          <a:p>
            <a:pPr algn="just" eaLnBrk="1" hangingPunct="1"/>
            <a:r>
              <a:rPr lang="pt-BR" altLang="pt-BR" dirty="0" smtClean="0"/>
              <a:t>Devido à predominância dos testes, a maior parte dos custos de validação incorre durante e após a implementação.</a:t>
            </a:r>
            <a:endParaRPr lang="pt-PT" altLang="pt-BR" dirty="0" smtClean="0"/>
          </a:p>
        </p:txBody>
      </p:sp>
    </p:spTree>
    <p:extLst>
      <p:ext uri="{BB962C8B-B14F-4D97-AF65-F5344CB8AC3E}">
        <p14:creationId xmlns:p14="http://schemas.microsoft.com/office/powerpoint/2010/main" val="195046136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3523540-CFDA-4791-92A3-7EF312B26BCF}" type="slidenum">
              <a:rPr lang="pt-PT" altLang="pt-BR" sz="1400"/>
              <a:pPr>
                <a:spcBef>
                  <a:spcPct val="0"/>
                </a:spcBef>
                <a:buFontTx/>
                <a:buNone/>
              </a:pPr>
              <a:t>38</a:t>
            </a:fld>
            <a:endParaRPr lang="pt-PT" altLang="pt-BR" sz="1400"/>
          </a:p>
        </p:txBody>
      </p:sp>
      <p:sp>
        <p:nvSpPr>
          <p:cNvPr id="5939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59396" name="Rectangle 3"/>
          <p:cNvSpPr>
            <a:spLocks noGrp="1" noChangeArrowheads="1"/>
          </p:cNvSpPr>
          <p:nvPr>
            <p:ph type="subTitle" idx="1"/>
          </p:nvPr>
        </p:nvSpPr>
        <p:spPr>
          <a:xfrm>
            <a:off x="215660" y="1143000"/>
            <a:ext cx="11671539" cy="5105401"/>
          </a:xfrm>
        </p:spPr>
        <p:txBody>
          <a:bodyPr/>
          <a:lstStyle/>
          <a:p>
            <a:pPr algn="just" eaLnBrk="1" hangingPunct="1"/>
            <a:r>
              <a:rPr lang="pt-BR" altLang="pt-BR" dirty="0" smtClean="0"/>
              <a:t>Com exceção de pequenos programas, sistemas não devem ser testados como uma unidade única e monolítica. </a:t>
            </a:r>
          </a:p>
          <a:p>
            <a:pPr algn="just" eaLnBrk="1" hangingPunct="1"/>
            <a:r>
              <a:rPr lang="pt-BR" altLang="pt-BR" dirty="0" smtClean="0"/>
              <a:t>No processo de teste aparecem três estágios: 1)Teste de componentes do sistema; 2) Teste do sistema integrado; 3) Teste do sistema com os dados do cliente.</a:t>
            </a:r>
          </a:p>
          <a:p>
            <a:pPr algn="just" eaLnBrk="1" hangingPunct="1"/>
            <a:r>
              <a:rPr lang="pt-BR" altLang="pt-BR" dirty="0" smtClean="0"/>
              <a:t> Defeitos de componentes são descobertos no início do processo</a:t>
            </a:r>
          </a:p>
          <a:p>
            <a:pPr algn="just" eaLnBrk="1" hangingPunct="1"/>
            <a:r>
              <a:rPr lang="pt-BR" altLang="pt-BR" dirty="0" smtClean="0"/>
              <a:t>Problemas de interface são encontrados quando o sistema é integrado. </a:t>
            </a:r>
          </a:p>
          <a:p>
            <a:pPr algn="just" eaLnBrk="1" hangingPunct="1"/>
            <a:r>
              <a:rPr lang="pt-BR" altLang="pt-BR" dirty="0" smtClean="0"/>
              <a:t>Defeitos descobertos: o programa deve ser depurado, e isso pode requerer que outros estágios do processo de testes sejam repetidos. Erros em componentes de programa podem vir à luz durante os testes de sistema. </a:t>
            </a:r>
          </a:p>
          <a:p>
            <a:pPr algn="just" eaLnBrk="1" hangingPunct="1"/>
            <a:r>
              <a:rPr lang="pt-BR" altLang="pt-BR" dirty="0" smtClean="0"/>
              <a:t>O processo de testes é iterativo, com informações realimentadas de estágios posteriores para partes anteriores do processo.</a:t>
            </a:r>
            <a:endParaRPr lang="pt-PT" altLang="pt-BR" dirty="0" smtClean="0"/>
          </a:p>
        </p:txBody>
      </p:sp>
    </p:spTree>
    <p:extLst>
      <p:ext uri="{BB962C8B-B14F-4D97-AF65-F5344CB8AC3E}">
        <p14:creationId xmlns:p14="http://schemas.microsoft.com/office/powerpoint/2010/main" val="30767220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FE33EFD-C224-40C7-8229-176FEB4C0FFB}" type="slidenum">
              <a:rPr lang="pt-PT" altLang="pt-BR" sz="1400"/>
              <a:pPr>
                <a:spcBef>
                  <a:spcPct val="0"/>
                </a:spcBef>
                <a:buFontTx/>
                <a:buNone/>
              </a:pPr>
              <a:t>39</a:t>
            </a:fld>
            <a:endParaRPr lang="pt-PT" altLang="pt-BR" sz="1400"/>
          </a:p>
        </p:txBody>
      </p:sp>
      <p:sp>
        <p:nvSpPr>
          <p:cNvPr id="6041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59396" name="Rectangle 3"/>
          <p:cNvSpPr>
            <a:spLocks noGrp="1" noChangeArrowheads="1"/>
          </p:cNvSpPr>
          <p:nvPr>
            <p:ph type="subTitle" idx="1"/>
          </p:nvPr>
        </p:nvSpPr>
        <p:spPr>
          <a:xfrm>
            <a:off x="133021" y="1143000"/>
            <a:ext cx="11637034" cy="4833669"/>
          </a:xfrm>
        </p:spPr>
        <p:txBody>
          <a:bodyPr/>
          <a:lstStyle/>
          <a:p>
            <a:pPr algn="just" eaLnBrk="1" hangingPunct="1">
              <a:defRPr/>
            </a:pPr>
            <a:r>
              <a:rPr lang="pt-BR" altLang="pt-BR" dirty="0"/>
              <a:t>E</a:t>
            </a:r>
            <a:r>
              <a:rPr lang="pt-BR" altLang="pt-BR" dirty="0" smtClean="0"/>
              <a:t>stágios do processo de teste: </a:t>
            </a:r>
          </a:p>
          <a:p>
            <a:pPr marL="457200" indent="-457200" algn="just">
              <a:buFontTx/>
              <a:buAutoNum type="arabicPeriod"/>
              <a:defRPr/>
            </a:pPr>
            <a:r>
              <a:rPr lang="pt-BR" altLang="pt-BR" dirty="0" smtClean="0"/>
              <a:t>Testes de desenvolvimento: Os componentes do sistema são testados pelas pessoas que o desenvolveram. Cada componente é testado de forma independente, separado dos outros. Os componentes podem ser entidades simples, como funções ou classes de objetos, ou podem ser agrupamentos coerentes dessas entidades. </a:t>
            </a:r>
          </a:p>
          <a:p>
            <a:pPr algn="just" eaLnBrk="1" hangingPunct="1">
              <a:defRPr/>
            </a:pPr>
            <a:r>
              <a:rPr lang="pt-BR" altLang="pt-BR" dirty="0" smtClean="0"/>
              <a:t>Ferramentas de automação de teste, como </a:t>
            </a:r>
            <a:r>
              <a:rPr lang="pt-BR" altLang="pt-BR" dirty="0" err="1" smtClean="0"/>
              <a:t>JUnit</a:t>
            </a:r>
            <a:r>
              <a:rPr lang="pt-BR" altLang="pt-BR" dirty="0" smtClean="0"/>
              <a:t> reexecutam testes de componentes quando as novas versões dos componentes são criadas</a:t>
            </a:r>
            <a:endParaRPr lang="pt-PT" altLang="pt-BR" dirty="0" smtClean="0"/>
          </a:p>
        </p:txBody>
      </p:sp>
    </p:spTree>
    <p:extLst>
      <p:ext uri="{BB962C8B-B14F-4D97-AF65-F5344CB8AC3E}">
        <p14:creationId xmlns:p14="http://schemas.microsoft.com/office/powerpoint/2010/main" val="26501647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432321A-3FCA-429D-B756-73F4742A995C}" type="slidenum">
              <a:rPr lang="pt-PT" altLang="pt-BR" sz="1400"/>
              <a:pPr>
                <a:spcBef>
                  <a:spcPct val="0"/>
                </a:spcBef>
                <a:buFontTx/>
                <a:buNone/>
              </a:pPr>
              <a:t>40</a:t>
            </a:fld>
            <a:endParaRPr lang="pt-PT" altLang="pt-BR" sz="1400"/>
          </a:p>
        </p:txBody>
      </p:sp>
      <p:sp>
        <p:nvSpPr>
          <p:cNvPr id="6144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61444" name="Rectangle 3"/>
          <p:cNvSpPr>
            <a:spLocks noGrp="1" noChangeArrowheads="1"/>
          </p:cNvSpPr>
          <p:nvPr>
            <p:ph type="subTitle" idx="1"/>
          </p:nvPr>
        </p:nvSpPr>
        <p:spPr>
          <a:xfrm>
            <a:off x="250167" y="1143000"/>
            <a:ext cx="11576648" cy="5105401"/>
          </a:xfrm>
        </p:spPr>
        <p:txBody>
          <a:bodyPr/>
          <a:lstStyle/>
          <a:p>
            <a:pPr algn="just" eaLnBrk="1" hangingPunct="1"/>
            <a:r>
              <a:rPr lang="pt-BR" altLang="pt-BR" dirty="0"/>
              <a:t>E</a:t>
            </a:r>
            <a:r>
              <a:rPr lang="pt-BR" altLang="pt-BR" dirty="0" smtClean="0"/>
              <a:t>stágios do processo de teste: </a:t>
            </a:r>
          </a:p>
          <a:p>
            <a:pPr algn="just" eaLnBrk="1" hangingPunct="1"/>
            <a:r>
              <a:rPr lang="pt-BR" altLang="pt-BR" dirty="0" smtClean="0"/>
              <a:t>2.Testes de sistema: Componentes do sistema são integrados para criar um sistema completo. </a:t>
            </a:r>
          </a:p>
          <a:p>
            <a:pPr algn="just" eaLnBrk="1" hangingPunct="1"/>
            <a:r>
              <a:rPr lang="pt-BR" altLang="pt-BR" dirty="0" smtClean="0"/>
              <a:t>Preocupa-se em encontrar os erros resultantes das interações inesperadas entre componentes e problemas de interface do componente.</a:t>
            </a:r>
          </a:p>
          <a:p>
            <a:pPr algn="just" eaLnBrk="1" hangingPunct="1"/>
            <a:r>
              <a:rPr lang="pt-BR" altLang="pt-BR" dirty="0" smtClean="0"/>
              <a:t>Visa mostrar que o sistema satisfaz os requisitos funcionais e não funcionais,</a:t>
            </a:r>
          </a:p>
          <a:p>
            <a:pPr algn="just" eaLnBrk="1" hangingPunct="1"/>
            <a:r>
              <a:rPr lang="pt-BR" altLang="pt-BR" dirty="0" smtClean="0"/>
              <a:t>Testa as propriedades emergentes do sistema. </a:t>
            </a:r>
          </a:p>
          <a:p>
            <a:pPr algn="just" eaLnBrk="1" hangingPunct="1"/>
            <a:r>
              <a:rPr lang="pt-BR" altLang="pt-BR" dirty="0" smtClean="0"/>
              <a:t>Sistemas de grande porte: processo </a:t>
            </a:r>
            <a:r>
              <a:rPr lang="pt-BR" altLang="pt-BR" dirty="0" err="1" smtClean="0"/>
              <a:t>multiestágios</a:t>
            </a:r>
            <a:r>
              <a:rPr lang="pt-BR" altLang="pt-BR" dirty="0" smtClean="0"/>
              <a:t> (integração de componentes para formar subsistemas, individualmente testados, antes de serem integrados para formar o sistema final).</a:t>
            </a:r>
            <a:endParaRPr lang="pt-PT" altLang="pt-BR" dirty="0" smtClean="0"/>
          </a:p>
        </p:txBody>
      </p:sp>
    </p:spTree>
    <p:extLst>
      <p:ext uri="{BB962C8B-B14F-4D97-AF65-F5344CB8AC3E}">
        <p14:creationId xmlns:p14="http://schemas.microsoft.com/office/powerpoint/2010/main" val="28731199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870CA4F-4EF1-4F2C-A0CB-BD9E70897A10}" type="slidenum">
              <a:rPr lang="pt-PT" altLang="pt-BR" sz="1400"/>
              <a:pPr>
                <a:spcBef>
                  <a:spcPct val="0"/>
                </a:spcBef>
                <a:buFontTx/>
                <a:buNone/>
              </a:pPr>
              <a:t>41</a:t>
            </a:fld>
            <a:endParaRPr lang="pt-PT" altLang="pt-BR" sz="1400"/>
          </a:p>
        </p:txBody>
      </p:sp>
      <p:sp>
        <p:nvSpPr>
          <p:cNvPr id="6246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62468" name="Rectangle 3"/>
          <p:cNvSpPr>
            <a:spLocks noGrp="1" noChangeArrowheads="1"/>
          </p:cNvSpPr>
          <p:nvPr>
            <p:ph type="subTitle" idx="1"/>
          </p:nvPr>
        </p:nvSpPr>
        <p:spPr>
          <a:xfrm>
            <a:off x="86265" y="1224951"/>
            <a:ext cx="11938958" cy="5023450"/>
          </a:xfrm>
        </p:spPr>
        <p:txBody>
          <a:bodyPr/>
          <a:lstStyle/>
          <a:p>
            <a:pPr algn="just" eaLnBrk="1" hangingPunct="1"/>
            <a:r>
              <a:rPr lang="pt-BR" altLang="pt-BR" dirty="0"/>
              <a:t>E</a:t>
            </a:r>
            <a:r>
              <a:rPr lang="pt-BR" altLang="pt-BR" dirty="0" smtClean="0"/>
              <a:t>stágios do processo de teste: </a:t>
            </a:r>
          </a:p>
          <a:p>
            <a:pPr algn="just" eaLnBrk="1" hangingPunct="1"/>
            <a:r>
              <a:rPr lang="pt-BR" altLang="pt-BR" dirty="0" smtClean="0"/>
              <a:t>3. Testes de aceitação: estágio final do processo de testes, antes que o sistema seja aceito para uso operacional. </a:t>
            </a:r>
          </a:p>
          <a:p>
            <a:pPr algn="just" eaLnBrk="1" hangingPunct="1"/>
            <a:r>
              <a:rPr lang="pt-BR" altLang="pt-BR" dirty="0" smtClean="0"/>
              <a:t>Testes com dados do cliente, não com dados de testes simulados.</a:t>
            </a:r>
          </a:p>
          <a:p>
            <a:pPr algn="just" eaLnBrk="1" hangingPunct="1"/>
            <a:r>
              <a:rPr lang="pt-BR" altLang="pt-BR" dirty="0" smtClean="0"/>
              <a:t> Pode revelar:</a:t>
            </a:r>
          </a:p>
          <a:p>
            <a:pPr algn="just" eaLnBrk="1" hangingPunct="1"/>
            <a:r>
              <a:rPr lang="pt-BR" altLang="pt-BR" dirty="0" smtClean="0"/>
              <a:t> a) erros e omissões na definição dos requisitos do sistema (dados reais exercitam o sistema de formas diferentes dos dados de teste). </a:t>
            </a:r>
          </a:p>
          <a:p>
            <a:pPr algn="just" eaLnBrk="1" hangingPunct="1"/>
            <a:r>
              <a:rPr lang="pt-BR" altLang="pt-BR" dirty="0" smtClean="0"/>
              <a:t>b) problemas de requisitos em que os recursos do sistema não atendam às necessidades do usuário ou o desempenho do sistema seja inaceitável.</a:t>
            </a:r>
            <a:endParaRPr lang="pt-PT" altLang="pt-BR" dirty="0" smtClean="0"/>
          </a:p>
        </p:txBody>
      </p:sp>
    </p:spTree>
    <p:extLst>
      <p:ext uri="{BB962C8B-B14F-4D97-AF65-F5344CB8AC3E}">
        <p14:creationId xmlns:p14="http://schemas.microsoft.com/office/powerpoint/2010/main" val="163323134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A3D57B2-9208-4D84-9B59-947536734117}" type="slidenum">
              <a:rPr lang="pt-PT" altLang="pt-BR" sz="1400"/>
              <a:pPr>
                <a:spcBef>
                  <a:spcPct val="0"/>
                </a:spcBef>
                <a:buFontTx/>
                <a:buNone/>
              </a:pPr>
              <a:t>42</a:t>
            </a:fld>
            <a:endParaRPr lang="pt-PT" altLang="pt-BR" sz="1400"/>
          </a:p>
        </p:txBody>
      </p:sp>
      <p:sp>
        <p:nvSpPr>
          <p:cNvPr id="6349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63492" name="Rectangle 3"/>
          <p:cNvSpPr>
            <a:spLocks noGrp="1" noChangeArrowheads="1"/>
          </p:cNvSpPr>
          <p:nvPr>
            <p:ph type="subTitle" idx="1"/>
          </p:nvPr>
        </p:nvSpPr>
        <p:spPr>
          <a:xfrm>
            <a:off x="189781" y="1216325"/>
            <a:ext cx="11731925" cy="5032076"/>
          </a:xfrm>
        </p:spPr>
        <p:txBody>
          <a:bodyPr/>
          <a:lstStyle/>
          <a:p>
            <a:pPr algn="just" eaLnBrk="1" hangingPunct="1"/>
            <a:r>
              <a:rPr lang="pt-BR" altLang="pt-BR" dirty="0" smtClean="0"/>
              <a:t>Os processos de desenvolvimento de componentes e testes geralmente são intercalados. Os programadores criam dados para testes e, </a:t>
            </a:r>
            <a:r>
              <a:rPr lang="pt-BR" altLang="pt-BR" dirty="0" err="1" smtClean="0"/>
              <a:t>incrementalmente</a:t>
            </a:r>
            <a:r>
              <a:rPr lang="pt-BR" altLang="pt-BR" dirty="0" smtClean="0"/>
              <a:t>, testam o código enquanto ele é desenvolvido. </a:t>
            </a:r>
          </a:p>
          <a:p>
            <a:pPr algn="just" eaLnBrk="1" hangingPunct="1"/>
            <a:endParaRPr lang="pt-BR" altLang="pt-BR" dirty="0" smtClean="0"/>
          </a:p>
          <a:p>
            <a:pPr algn="just" eaLnBrk="1" hangingPunct="1"/>
            <a:r>
              <a:rPr lang="pt-BR" altLang="pt-BR" dirty="0" smtClean="0"/>
              <a:t>Abordagem incremental: cada incremento deve ser testado enquanto é desenvolvido. Os testes devem ser baseados nos requisitos para esse incremento. </a:t>
            </a:r>
          </a:p>
          <a:p>
            <a:pPr algn="just" eaLnBrk="1" hangingPunct="1"/>
            <a:endParaRPr lang="pt-BR" altLang="pt-BR" dirty="0" smtClean="0"/>
          </a:p>
          <a:p>
            <a:pPr algn="just" eaLnBrk="1" hangingPunct="1"/>
            <a:r>
              <a:rPr lang="pt-BR" altLang="pt-BR" dirty="0" smtClean="0"/>
              <a:t>Extreme </a:t>
            </a:r>
            <a:r>
              <a:rPr lang="pt-BR" altLang="pt-BR" dirty="0" err="1" smtClean="0"/>
              <a:t>Programming</a:t>
            </a:r>
            <a:r>
              <a:rPr lang="pt-BR" altLang="pt-BR" dirty="0" smtClean="0"/>
              <a:t>: testes desenvolvidos paralelamente aos requisitos, antes de se iniciar o desenvolvimento, o que ajuda testadores e desenvolvedores a compreender os requisitos. Garante o cumprimento dos prazos enquanto são criados os casos de teste. </a:t>
            </a:r>
            <a:endParaRPr lang="pt-PT" altLang="pt-BR" dirty="0" smtClean="0"/>
          </a:p>
        </p:txBody>
      </p:sp>
    </p:spTree>
    <p:extLst>
      <p:ext uri="{BB962C8B-B14F-4D97-AF65-F5344CB8AC3E}">
        <p14:creationId xmlns:p14="http://schemas.microsoft.com/office/powerpoint/2010/main" val="24057389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FA0FA07-A5D6-4386-B980-97EDDA247E4B}" type="slidenum">
              <a:rPr lang="pt-PT" altLang="pt-BR" sz="1400"/>
              <a:pPr>
                <a:spcBef>
                  <a:spcPct val="0"/>
                </a:spcBef>
                <a:buFontTx/>
                <a:buNone/>
              </a:pPr>
              <a:t>43</a:t>
            </a:fld>
            <a:endParaRPr lang="pt-PT" altLang="pt-BR" sz="1400"/>
          </a:p>
        </p:txBody>
      </p:sp>
      <p:sp>
        <p:nvSpPr>
          <p:cNvPr id="6451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64516" name="Rectangle 3"/>
          <p:cNvSpPr>
            <a:spLocks noGrp="1" noChangeArrowheads="1"/>
          </p:cNvSpPr>
          <p:nvPr>
            <p:ph type="subTitle" idx="1"/>
          </p:nvPr>
        </p:nvSpPr>
        <p:spPr>
          <a:xfrm>
            <a:off x="215660" y="1242204"/>
            <a:ext cx="11887199" cy="5006197"/>
          </a:xfrm>
        </p:spPr>
        <p:txBody>
          <a:bodyPr/>
          <a:lstStyle/>
          <a:p>
            <a:pPr algn="just" eaLnBrk="1" hangingPunct="1"/>
            <a:r>
              <a:rPr lang="pt-BR" altLang="pt-BR" dirty="0" smtClean="0"/>
              <a:t>Processo de software dirigido a planos (por exemplo, para o desenvolvimento de sistemas críticos): o teste é impulsionado por um conjunto de planos de testes. </a:t>
            </a:r>
          </a:p>
          <a:p>
            <a:pPr algn="just" eaLnBrk="1" hangingPunct="1"/>
            <a:r>
              <a:rPr lang="pt-BR" altLang="pt-BR" dirty="0" smtClean="0"/>
              <a:t>Equipe independente de testadores trabalha a partir de planos de teste </a:t>
            </a:r>
            <a:r>
              <a:rPr lang="pt-BR" altLang="pt-BR" dirty="0" err="1" smtClean="0"/>
              <a:t>pré</a:t>
            </a:r>
            <a:r>
              <a:rPr lang="pt-BR" altLang="pt-BR" dirty="0" smtClean="0"/>
              <a:t>-formulados, desenvolvidos a partir das especificações e do projeto. </a:t>
            </a:r>
          </a:p>
          <a:p>
            <a:pPr algn="just" eaLnBrk="1" hangingPunct="1"/>
            <a:r>
              <a:rPr lang="pt-BR" altLang="pt-BR" dirty="0" smtClean="0"/>
              <a:t>Chamado modelo V de desenvolvimento (gire a figura de lado para ver o V). </a:t>
            </a:r>
          </a:p>
          <a:p>
            <a:pPr algn="just" eaLnBrk="1" hangingPunct="1"/>
            <a:r>
              <a:rPr lang="pt-BR" altLang="pt-BR" dirty="0" smtClean="0"/>
              <a:t>Teste de aceitação (‘teste alfa’): Sistemas sob encomenda são desenvolvidos para um único cliente. O processo de testes-alfa continua até que o desenvolvedor do sistema e o cliente concordem que o sistema entregue é uma implementação aceitável dos requisitos.</a:t>
            </a:r>
            <a:endParaRPr lang="pt-PT" altLang="pt-BR" dirty="0" smtClean="0"/>
          </a:p>
        </p:txBody>
      </p:sp>
    </p:spTree>
    <p:extLst>
      <p:ext uri="{BB962C8B-B14F-4D97-AF65-F5344CB8AC3E}">
        <p14:creationId xmlns:p14="http://schemas.microsoft.com/office/powerpoint/2010/main" val="31256689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2B15B9F-DF3F-489E-918A-52F81B5A1604}" type="slidenum">
              <a:rPr lang="pt-PT" altLang="pt-BR" sz="1400"/>
              <a:pPr>
                <a:spcBef>
                  <a:spcPct val="0"/>
                </a:spcBef>
                <a:buFontTx/>
                <a:buNone/>
              </a:pPr>
              <a:t>44</a:t>
            </a:fld>
            <a:endParaRPr lang="pt-PT" altLang="pt-BR" sz="1400"/>
          </a:p>
        </p:txBody>
      </p:sp>
      <p:sp>
        <p:nvSpPr>
          <p:cNvPr id="6553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pic>
        <p:nvPicPr>
          <p:cNvPr id="65540"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412875"/>
            <a:ext cx="866775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Rectangle 3"/>
          <p:cNvSpPr>
            <a:spLocks noGrp="1" noChangeArrowheads="1"/>
          </p:cNvSpPr>
          <p:nvPr>
            <p:ph type="subTitle" idx="1"/>
          </p:nvPr>
        </p:nvSpPr>
        <p:spPr>
          <a:xfrm>
            <a:off x="1524001" y="981076"/>
            <a:ext cx="9180513" cy="5267325"/>
          </a:xfrm>
        </p:spPr>
        <p:txBody>
          <a:bodyPr/>
          <a:lstStyle/>
          <a:p>
            <a:pPr algn="just" eaLnBrk="1" hangingPunct="1"/>
            <a:endParaRPr lang="pt-PT" altLang="pt-BR" smtClean="0"/>
          </a:p>
        </p:txBody>
      </p:sp>
    </p:spTree>
    <p:extLst>
      <p:ext uri="{BB962C8B-B14F-4D97-AF65-F5344CB8AC3E}">
        <p14:creationId xmlns:p14="http://schemas.microsoft.com/office/powerpoint/2010/main" val="39032990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21C9261-D602-419D-A6C1-2D73E46591AF}" type="slidenum">
              <a:rPr lang="pt-PT" altLang="pt-BR" sz="1400"/>
              <a:pPr>
                <a:spcBef>
                  <a:spcPct val="0"/>
                </a:spcBef>
                <a:buFontTx/>
                <a:buNone/>
              </a:pPr>
              <a:t>45</a:t>
            </a:fld>
            <a:endParaRPr lang="pt-PT" altLang="pt-BR" sz="1400"/>
          </a:p>
        </p:txBody>
      </p:sp>
      <p:sp>
        <p:nvSpPr>
          <p:cNvPr id="6656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Validação de Software</a:t>
            </a:r>
            <a:endParaRPr lang="pt-PT" altLang="pt-BR" sz="3600"/>
          </a:p>
        </p:txBody>
      </p:sp>
      <p:sp>
        <p:nvSpPr>
          <p:cNvPr id="66564" name="Rectangle 3"/>
          <p:cNvSpPr>
            <a:spLocks noGrp="1" noChangeArrowheads="1"/>
          </p:cNvSpPr>
          <p:nvPr>
            <p:ph type="subTitle" idx="1"/>
          </p:nvPr>
        </p:nvSpPr>
        <p:spPr>
          <a:xfrm>
            <a:off x="388189" y="1250830"/>
            <a:ext cx="10316325" cy="4997571"/>
          </a:xfrm>
        </p:spPr>
        <p:txBody>
          <a:bodyPr/>
          <a:lstStyle/>
          <a:p>
            <a:pPr algn="just"/>
            <a:r>
              <a:rPr lang="pt-BR" dirty="0"/>
              <a:t>T</a:t>
            </a:r>
            <a:r>
              <a:rPr lang="pt-BR" dirty="0" smtClean="0"/>
              <a:t>este alfa: </a:t>
            </a:r>
            <a:r>
              <a:rPr lang="pt-BR" dirty="0"/>
              <a:t>primeira fase dos testes formais, durante a qual o software é testado internamente usando técnicas de caixa </a:t>
            </a:r>
            <a:r>
              <a:rPr lang="pt-BR" dirty="0" smtClean="0"/>
              <a:t>branca. </a:t>
            </a:r>
          </a:p>
          <a:p>
            <a:pPr algn="just"/>
            <a:r>
              <a:rPr lang="pt-BR" dirty="0" smtClean="0"/>
              <a:t>Teste beta:  é </a:t>
            </a:r>
            <a:r>
              <a:rPr lang="pt-BR" dirty="0"/>
              <a:t>a próxima fase, na qual o software é testado por um grupo maior de usuários, normalmente fora da organização que o desenvolveu</a:t>
            </a:r>
            <a:r>
              <a:rPr lang="pt-BR" dirty="0" smtClean="0"/>
              <a:t>.</a:t>
            </a:r>
          </a:p>
          <a:p>
            <a:pPr algn="just"/>
            <a:r>
              <a:rPr lang="pt-BR" altLang="pt-BR" dirty="0" smtClean="0"/>
              <a:t>Teste </a:t>
            </a:r>
            <a:r>
              <a:rPr lang="pt-BR" altLang="pt-BR" dirty="0" smtClean="0"/>
              <a:t>Beta: usado quando um sistema está pronto para ser comercializado como um produto de software</a:t>
            </a:r>
          </a:p>
          <a:p>
            <a:pPr algn="just" eaLnBrk="1" hangingPunct="1"/>
            <a:r>
              <a:rPr lang="pt-BR" altLang="pt-BR" dirty="0" smtClean="0"/>
              <a:t> Envolve a entrega de um sistema a um número de potenciais clientes que concordaram em usá-lo. Eles relatam problemas para os desenvolvedores dos sistemas. O produto é exposto para uso real. Erros não antecipados pelos construtores do sistema são detectados. </a:t>
            </a:r>
          </a:p>
          <a:p>
            <a:pPr algn="just" eaLnBrk="1" hangingPunct="1"/>
            <a:r>
              <a:rPr lang="pt-BR" altLang="pt-BR" dirty="0" smtClean="0"/>
              <a:t>Após esse feedback, o sistema é modificado e liberado para outros testes-beta ou para venda em geral. </a:t>
            </a:r>
            <a:endParaRPr lang="pt-PT" altLang="pt-BR" dirty="0" smtClean="0"/>
          </a:p>
        </p:txBody>
      </p:sp>
    </p:spTree>
    <p:extLst>
      <p:ext uri="{BB962C8B-B14F-4D97-AF65-F5344CB8AC3E}">
        <p14:creationId xmlns:p14="http://schemas.microsoft.com/office/powerpoint/2010/main" val="15377477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FEA7967-323C-411E-A12D-F27BF3EB8005}" type="slidenum">
              <a:rPr lang="pt-PT" altLang="pt-BR" sz="1400"/>
              <a:pPr>
                <a:spcBef>
                  <a:spcPct val="0"/>
                </a:spcBef>
                <a:buFontTx/>
                <a:buNone/>
              </a:pPr>
              <a:t>46</a:t>
            </a:fld>
            <a:endParaRPr lang="pt-PT" altLang="pt-BR" sz="1400"/>
          </a:p>
        </p:txBody>
      </p:sp>
      <p:sp>
        <p:nvSpPr>
          <p:cNvPr id="6758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Evolução de Software</a:t>
            </a:r>
            <a:endParaRPr lang="pt-PT" altLang="pt-BR" sz="3600"/>
          </a:p>
        </p:txBody>
      </p:sp>
      <p:sp>
        <p:nvSpPr>
          <p:cNvPr id="67588" name="Rectangle 3"/>
          <p:cNvSpPr>
            <a:spLocks noGrp="1" noChangeArrowheads="1"/>
          </p:cNvSpPr>
          <p:nvPr>
            <p:ph type="subTitle" idx="1"/>
          </p:nvPr>
        </p:nvSpPr>
        <p:spPr>
          <a:xfrm>
            <a:off x="232913" y="1143000"/>
            <a:ext cx="11507638" cy="5096774"/>
          </a:xfrm>
        </p:spPr>
        <p:txBody>
          <a:bodyPr/>
          <a:lstStyle/>
          <a:p>
            <a:pPr algn="just" eaLnBrk="1" hangingPunct="1"/>
            <a:r>
              <a:rPr lang="pt-BR" altLang="pt-BR" dirty="0" smtClean="0"/>
              <a:t>Flexibilidade dos sistemas: uma das principais razões pelas quais os softwares vêm sendo incorporados em sistemas grandes e complexos. </a:t>
            </a:r>
          </a:p>
          <a:p>
            <a:pPr algn="just" eaLnBrk="1" hangingPunct="1"/>
            <a:r>
              <a:rPr lang="pt-BR" altLang="pt-BR" dirty="0" smtClean="0"/>
              <a:t>Alteração no projeto de hardware é cara. </a:t>
            </a:r>
          </a:p>
          <a:p>
            <a:pPr algn="just" eaLnBrk="1" hangingPunct="1"/>
            <a:r>
              <a:rPr lang="pt-BR" altLang="pt-BR" dirty="0" smtClean="0"/>
              <a:t>Mudanças no software podem ser feitas a qualquer momento durante ou após o desenvolvimento do sistema. </a:t>
            </a:r>
          </a:p>
          <a:p>
            <a:pPr algn="just" eaLnBrk="1" hangingPunct="1"/>
            <a:r>
              <a:rPr lang="pt-BR" altLang="pt-BR" dirty="0"/>
              <a:t>G</a:t>
            </a:r>
            <a:r>
              <a:rPr lang="pt-BR" altLang="pt-BR" dirty="0" smtClean="0"/>
              <a:t>randes mudanças no software são muito mais baratas do que no hardware.</a:t>
            </a:r>
            <a:endParaRPr lang="pt-PT" altLang="pt-BR" dirty="0" smtClean="0"/>
          </a:p>
        </p:txBody>
      </p:sp>
    </p:spTree>
    <p:extLst>
      <p:ext uri="{BB962C8B-B14F-4D97-AF65-F5344CB8AC3E}">
        <p14:creationId xmlns:p14="http://schemas.microsoft.com/office/powerpoint/2010/main" val="387311577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7905D5E-A64D-4502-8914-E89418EA5AEE}" type="slidenum">
              <a:rPr lang="pt-PT" altLang="pt-BR" sz="1400"/>
              <a:pPr>
                <a:spcBef>
                  <a:spcPct val="0"/>
                </a:spcBef>
                <a:buFontTx/>
                <a:buNone/>
              </a:pPr>
              <a:t>47</a:t>
            </a:fld>
            <a:endParaRPr lang="pt-PT" altLang="pt-BR" sz="1400"/>
          </a:p>
        </p:txBody>
      </p:sp>
      <p:sp>
        <p:nvSpPr>
          <p:cNvPr id="6861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Evolução de Software</a:t>
            </a:r>
            <a:endParaRPr lang="pt-PT" altLang="pt-BR" sz="3600"/>
          </a:p>
        </p:txBody>
      </p:sp>
      <p:sp>
        <p:nvSpPr>
          <p:cNvPr id="68612" name="Rectangle 3"/>
          <p:cNvSpPr>
            <a:spLocks noGrp="1" noChangeArrowheads="1"/>
          </p:cNvSpPr>
          <p:nvPr>
            <p:ph type="subTitle" idx="1"/>
          </p:nvPr>
        </p:nvSpPr>
        <p:spPr>
          <a:xfrm>
            <a:off x="103517" y="1143000"/>
            <a:ext cx="11938958" cy="5105401"/>
          </a:xfrm>
        </p:spPr>
        <p:txBody>
          <a:bodyPr/>
          <a:lstStyle/>
          <a:p>
            <a:pPr algn="just" eaLnBrk="1" hangingPunct="1"/>
            <a:r>
              <a:rPr lang="pt-BR" altLang="pt-BR" dirty="0"/>
              <a:t>P</a:t>
            </a:r>
            <a:r>
              <a:rPr lang="pt-BR" altLang="pt-BR" dirty="0" smtClean="0"/>
              <a:t>rocesso de desenvolvimento (atividade criativa). O processo de evolução do software (manutenção (maçante)). O sistema é desenvolvido a partir de um conceito inicial até um sistema funcional. Custos de manutenção são mais altos que os custos iniciais de desenvolvimento</a:t>
            </a:r>
          </a:p>
          <a:p>
            <a:pPr algn="just" eaLnBrk="1" hangingPunct="1"/>
            <a:r>
              <a:rPr lang="pt-BR" altLang="pt-BR" dirty="0" smtClean="0"/>
              <a:t>Processos de manutenção são considerados menos desafiadores do que o desenvolvimento do software. </a:t>
            </a:r>
          </a:p>
          <a:p>
            <a:pPr algn="just" eaLnBrk="1" hangingPunct="1"/>
            <a:r>
              <a:rPr lang="pt-BR" altLang="pt-BR" dirty="0" smtClean="0"/>
              <a:t>Poucos sistemas de software são completamente novos. </a:t>
            </a:r>
          </a:p>
          <a:p>
            <a:pPr algn="just" eaLnBrk="1" hangingPunct="1"/>
            <a:r>
              <a:rPr lang="pt-BR" altLang="pt-BR" dirty="0" smtClean="0"/>
              <a:t>Desenvolvimento e a manutenção são processos contínuos, evolutivos.  O software é constantemente alterado durante seu período de vida em resposta às mudanças de requisitos e às necessidades do cliente.</a:t>
            </a:r>
            <a:endParaRPr lang="pt-PT" altLang="pt-BR" dirty="0" smtClean="0"/>
          </a:p>
        </p:txBody>
      </p:sp>
    </p:spTree>
    <p:extLst>
      <p:ext uri="{BB962C8B-B14F-4D97-AF65-F5344CB8AC3E}">
        <p14:creationId xmlns:p14="http://schemas.microsoft.com/office/powerpoint/2010/main" val="12298124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57975CA-A4F2-4B19-997D-F36DB2458F13}" type="slidenum">
              <a:rPr lang="pt-PT" altLang="pt-BR" sz="1400"/>
              <a:pPr>
                <a:spcBef>
                  <a:spcPct val="0"/>
                </a:spcBef>
                <a:buFontTx/>
                <a:buNone/>
              </a:pPr>
              <a:t>48</a:t>
            </a:fld>
            <a:endParaRPr lang="pt-PT" altLang="pt-BR" sz="1400"/>
          </a:p>
        </p:txBody>
      </p:sp>
      <p:sp>
        <p:nvSpPr>
          <p:cNvPr id="6963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Lidando com mudanças</a:t>
            </a:r>
            <a:endParaRPr lang="pt-PT" altLang="pt-BR" sz="3600"/>
          </a:p>
        </p:txBody>
      </p:sp>
      <p:sp>
        <p:nvSpPr>
          <p:cNvPr id="69636" name="Rectangle 3"/>
          <p:cNvSpPr>
            <a:spLocks noGrp="1" noChangeArrowheads="1"/>
          </p:cNvSpPr>
          <p:nvPr>
            <p:ph type="subTitle" idx="1"/>
          </p:nvPr>
        </p:nvSpPr>
        <p:spPr>
          <a:xfrm>
            <a:off x="207035" y="1142999"/>
            <a:ext cx="11861320" cy="5105401"/>
          </a:xfrm>
        </p:spPr>
        <p:txBody>
          <a:bodyPr>
            <a:normAutofit lnSpcReduction="10000"/>
          </a:bodyPr>
          <a:lstStyle/>
          <a:p>
            <a:pPr algn="just" eaLnBrk="1" hangingPunct="1"/>
            <a:endParaRPr lang="pt-BR" altLang="pt-BR" dirty="0" smtClean="0"/>
          </a:p>
          <a:p>
            <a:pPr algn="just" eaLnBrk="1" hangingPunct="1"/>
            <a:r>
              <a:rPr lang="pt-BR" altLang="pt-BR" dirty="0" smtClean="0"/>
              <a:t>A mudança é inevitável em todos os grandes projetos de software. </a:t>
            </a:r>
          </a:p>
          <a:p>
            <a:pPr algn="just" eaLnBrk="1" hangingPunct="1"/>
            <a:r>
              <a:rPr lang="pt-BR" altLang="pt-BR" dirty="0" smtClean="0"/>
              <a:t>Requisitos do sistema mudam,  negócio responde a pressões externas e mudam as prioridades de gerenciamento. </a:t>
            </a:r>
          </a:p>
          <a:p>
            <a:pPr algn="just" eaLnBrk="1" hangingPunct="1"/>
            <a:r>
              <a:rPr lang="pt-BR" altLang="pt-BR" dirty="0" smtClean="0"/>
              <a:t>Novas tecnologias levam a novos projetos e possibilidades de implementação. </a:t>
            </a:r>
          </a:p>
          <a:p>
            <a:pPr algn="just" eaLnBrk="1" hangingPunct="1"/>
            <a:r>
              <a:rPr lang="pt-BR" altLang="pt-BR" dirty="0" smtClean="0"/>
              <a:t>Todo modelo de software deve acomodar mudanças.</a:t>
            </a:r>
          </a:p>
          <a:p>
            <a:pPr algn="just"/>
            <a:r>
              <a:rPr lang="pt-BR" altLang="pt-BR" dirty="0"/>
              <a:t>Mudança aumenta os custos de desenvolvimento de software: trabalho deve ser refeito (retrabalho</a:t>
            </a:r>
            <a:r>
              <a:rPr lang="pt-BR" altLang="pt-BR" dirty="0" smtClean="0"/>
              <a:t>).</a:t>
            </a:r>
          </a:p>
          <a:p>
            <a:pPr algn="just"/>
            <a:endParaRPr lang="pt-BR" altLang="pt-BR" dirty="0"/>
          </a:p>
          <a:p>
            <a:pPr algn="just"/>
            <a:r>
              <a:rPr lang="pt-BR" altLang="pt-BR" dirty="0" err="1"/>
              <a:t>Ex</a:t>
            </a:r>
            <a:r>
              <a:rPr lang="pt-BR" altLang="pt-BR" dirty="0"/>
              <a:t>: se os relacionamentos entre os requisitos do sistema foram analisados e novos requisitos foram identificados, alguma ou toda análise de requisitos deve ser repetida. </a:t>
            </a:r>
            <a:r>
              <a:rPr lang="pt-BR" altLang="pt-BR" dirty="0" smtClean="0"/>
              <a:t>Pode ser </a:t>
            </a:r>
            <a:r>
              <a:rPr lang="pt-BR" altLang="pt-BR" dirty="0"/>
              <a:t>necessário </a:t>
            </a:r>
            <a:r>
              <a:rPr lang="pt-BR" altLang="pt-BR" dirty="0" err="1"/>
              <a:t>reprojetar</a:t>
            </a:r>
            <a:r>
              <a:rPr lang="pt-BR" altLang="pt-BR" dirty="0"/>
              <a:t> o sistema de acordo com os novos requisitos, mudar qualquer programa que tenha sido desenvolvido e testar novamente o sistema.</a:t>
            </a:r>
            <a:endParaRPr lang="pt-PT" altLang="pt-BR" dirty="0"/>
          </a:p>
          <a:p>
            <a:pPr algn="just" eaLnBrk="1" hangingPunct="1"/>
            <a:endParaRPr lang="pt-PT" altLang="pt-BR" dirty="0" smtClean="0"/>
          </a:p>
        </p:txBody>
      </p:sp>
    </p:spTree>
    <p:extLst>
      <p:ext uri="{BB962C8B-B14F-4D97-AF65-F5344CB8AC3E}">
        <p14:creationId xmlns:p14="http://schemas.microsoft.com/office/powerpoint/2010/main" val="189810880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917FCAD-CBF0-4571-9AAF-8370B87AD039}" type="slidenum">
              <a:rPr lang="pt-PT" altLang="pt-BR" sz="1400"/>
              <a:pPr>
                <a:spcBef>
                  <a:spcPct val="0"/>
                </a:spcBef>
                <a:buFontTx/>
                <a:buNone/>
              </a:pPr>
              <a:t>49</a:t>
            </a:fld>
            <a:endParaRPr lang="pt-PT" altLang="pt-BR" sz="1400"/>
          </a:p>
        </p:txBody>
      </p:sp>
      <p:sp>
        <p:nvSpPr>
          <p:cNvPr id="7168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Lidando com mudanças</a:t>
            </a:r>
            <a:endParaRPr lang="pt-PT" altLang="pt-BR" sz="3600"/>
          </a:p>
        </p:txBody>
      </p:sp>
      <p:sp>
        <p:nvSpPr>
          <p:cNvPr id="27652" name="Rectangle 3"/>
          <p:cNvSpPr>
            <a:spLocks noGrp="1" noChangeArrowheads="1"/>
          </p:cNvSpPr>
          <p:nvPr>
            <p:ph type="subTitle" idx="1"/>
          </p:nvPr>
        </p:nvSpPr>
        <p:spPr>
          <a:xfrm>
            <a:off x="207034" y="1216325"/>
            <a:ext cx="11852693" cy="5322587"/>
          </a:xfrm>
        </p:spPr>
        <p:txBody>
          <a:bodyPr/>
          <a:lstStyle/>
          <a:p>
            <a:pPr algn="just" eaLnBrk="1" hangingPunct="1">
              <a:defRPr/>
            </a:pPr>
            <a:r>
              <a:rPr lang="pt-BR" dirty="0" smtClean="0"/>
              <a:t>Mudanças </a:t>
            </a:r>
            <a:r>
              <a:rPr lang="pt-BR" dirty="0"/>
              <a:t>nos requisitos do </a:t>
            </a:r>
            <a:r>
              <a:rPr lang="pt-BR" dirty="0" smtClean="0"/>
              <a:t>sistema</a:t>
            </a:r>
            <a:r>
              <a:rPr lang="pt-BR" dirty="0"/>
              <a:t>:</a:t>
            </a:r>
            <a:endParaRPr lang="pt-BR" dirty="0" smtClean="0"/>
          </a:p>
          <a:p>
            <a:pPr marL="457200" indent="-457200" algn="just">
              <a:buFontTx/>
              <a:buAutoNum type="arabicPeriod"/>
              <a:defRPr/>
            </a:pPr>
            <a:r>
              <a:rPr lang="pt-BR" dirty="0" smtClean="0"/>
              <a:t>Prototipação </a:t>
            </a:r>
            <a:r>
              <a:rPr lang="pt-BR" dirty="0"/>
              <a:t>de </a:t>
            </a:r>
            <a:r>
              <a:rPr lang="pt-BR" dirty="0" smtClean="0"/>
              <a:t>sistema: </a:t>
            </a:r>
            <a:r>
              <a:rPr lang="pt-BR" dirty="0"/>
              <a:t>uma versão do sistema ou de parte </a:t>
            </a:r>
            <a:r>
              <a:rPr lang="pt-BR" dirty="0" smtClean="0"/>
              <a:t>é </a:t>
            </a:r>
            <a:r>
              <a:rPr lang="pt-BR" dirty="0"/>
              <a:t>desenvolvida rapidamente para verificar as necessidades do cliente e a viabilidade de algumas decisões de projeto. </a:t>
            </a:r>
            <a:r>
              <a:rPr lang="pt-BR" dirty="0" smtClean="0"/>
              <a:t>Previne </a:t>
            </a:r>
            <a:r>
              <a:rPr lang="pt-BR" dirty="0"/>
              <a:t>mudanças, </a:t>
            </a:r>
            <a:r>
              <a:rPr lang="pt-BR" dirty="0" smtClean="0"/>
              <a:t>permitindo </a:t>
            </a:r>
            <a:r>
              <a:rPr lang="pt-BR" dirty="0"/>
              <a:t>aos usuários experimentarem o sistema antes da entrega </a:t>
            </a:r>
            <a:r>
              <a:rPr lang="pt-BR" dirty="0" smtClean="0"/>
              <a:t>e </a:t>
            </a:r>
            <a:r>
              <a:rPr lang="pt-BR" dirty="0"/>
              <a:t>refinarem seus requisitos. </a:t>
            </a:r>
            <a:r>
              <a:rPr lang="pt-BR" dirty="0" smtClean="0"/>
              <a:t>As </a:t>
            </a:r>
            <a:r>
              <a:rPr lang="pt-BR" dirty="0"/>
              <a:t>mudanças de requisitos </a:t>
            </a:r>
            <a:r>
              <a:rPr lang="pt-BR" dirty="0" smtClean="0"/>
              <a:t>após </a:t>
            </a:r>
            <a:r>
              <a:rPr lang="pt-BR" dirty="0"/>
              <a:t>a entrega </a:t>
            </a:r>
            <a:r>
              <a:rPr lang="pt-BR" dirty="0" smtClean="0"/>
              <a:t>é </a:t>
            </a:r>
            <a:r>
              <a:rPr lang="pt-BR" dirty="0"/>
              <a:t>suscetível de </a:t>
            </a:r>
            <a:r>
              <a:rPr lang="pt-BR" dirty="0" smtClean="0"/>
              <a:t>redução. </a:t>
            </a:r>
          </a:p>
          <a:p>
            <a:pPr marL="457200" indent="-457200" algn="just">
              <a:buFontTx/>
              <a:buAutoNum type="arabicPeriod"/>
              <a:defRPr/>
            </a:pPr>
            <a:r>
              <a:rPr lang="pt-BR" dirty="0" smtClean="0"/>
              <a:t>Entrega incremental: </a:t>
            </a:r>
            <a:r>
              <a:rPr lang="pt-BR" dirty="0"/>
              <a:t>incrementos do sistema são entregues aos clientes para comentários e </a:t>
            </a:r>
            <a:r>
              <a:rPr lang="pt-BR" dirty="0" smtClean="0"/>
              <a:t>experimentação, dando suporte </a:t>
            </a:r>
            <a:r>
              <a:rPr lang="pt-BR" dirty="0"/>
              <a:t>para a prevenção </a:t>
            </a:r>
            <a:r>
              <a:rPr lang="pt-BR" dirty="0" smtClean="0"/>
              <a:t>e a tolerância </a:t>
            </a:r>
            <a:r>
              <a:rPr lang="pt-BR" dirty="0"/>
              <a:t>à</a:t>
            </a:r>
            <a:r>
              <a:rPr lang="pt-BR" dirty="0" smtClean="0"/>
              <a:t> </a:t>
            </a:r>
            <a:r>
              <a:rPr lang="pt-BR" dirty="0"/>
              <a:t>mudanças. </a:t>
            </a:r>
            <a:r>
              <a:rPr lang="pt-BR" dirty="0" smtClean="0"/>
              <a:t>Evita </a:t>
            </a:r>
            <a:r>
              <a:rPr lang="pt-BR" dirty="0"/>
              <a:t>o comprometimento prematuro com requisitos para todo o sistema e permite que mudanças sejam incorporadas nos incrementos posteriores com um custo relativamente baixo</a:t>
            </a:r>
            <a:endParaRPr lang="pt-PT" altLang="pt-BR" dirty="0" smtClean="0"/>
          </a:p>
        </p:txBody>
      </p:sp>
    </p:spTree>
    <p:extLst>
      <p:ext uri="{BB962C8B-B14F-4D97-AF65-F5344CB8AC3E}">
        <p14:creationId xmlns:p14="http://schemas.microsoft.com/office/powerpoint/2010/main" val="26881334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1624E4A-EFD8-4722-A33B-AD38EE123A01}" type="slidenum">
              <a:rPr lang="pt-PT" altLang="pt-BR" sz="1400"/>
              <a:pPr>
                <a:spcBef>
                  <a:spcPct val="0"/>
                </a:spcBef>
                <a:buFontTx/>
                <a:buNone/>
              </a:pPr>
              <a:t>50</a:t>
            </a:fld>
            <a:endParaRPr lang="pt-PT" altLang="pt-BR" sz="1400"/>
          </a:p>
        </p:txBody>
      </p:sp>
      <p:sp>
        <p:nvSpPr>
          <p:cNvPr id="7270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Lidando com mudanças</a:t>
            </a:r>
            <a:endParaRPr lang="pt-PT" altLang="pt-BR" sz="3600"/>
          </a:p>
        </p:txBody>
      </p:sp>
      <p:sp>
        <p:nvSpPr>
          <p:cNvPr id="72708" name="Rectangle 3"/>
          <p:cNvSpPr>
            <a:spLocks noGrp="1" noChangeArrowheads="1"/>
          </p:cNvSpPr>
          <p:nvPr>
            <p:ph type="subTitle" idx="1"/>
          </p:nvPr>
        </p:nvSpPr>
        <p:spPr>
          <a:xfrm>
            <a:off x="120770" y="1406105"/>
            <a:ext cx="11723297" cy="4842295"/>
          </a:xfrm>
        </p:spPr>
        <p:txBody>
          <a:bodyPr>
            <a:normAutofit/>
          </a:bodyPr>
          <a:lstStyle/>
          <a:p>
            <a:pPr algn="just" eaLnBrk="1" hangingPunct="1"/>
            <a:r>
              <a:rPr lang="pt-BR" altLang="pt-BR" dirty="0" smtClean="0"/>
              <a:t>Abordagens para a redução de custos de retrabalho: </a:t>
            </a:r>
          </a:p>
          <a:p>
            <a:pPr algn="just" eaLnBrk="1" hangingPunct="1"/>
            <a:r>
              <a:rPr lang="pt-BR" altLang="pt-BR" dirty="0" smtClean="0"/>
              <a:t>1. Prevenção de mudanças: processo de software inclui atividades capazes de antecipar as mudanças possíveis antes de qualquer retrabalho. </a:t>
            </a:r>
            <a:r>
              <a:rPr lang="pt-BR" altLang="pt-BR" dirty="0" err="1" smtClean="0"/>
              <a:t>Ex</a:t>
            </a:r>
            <a:r>
              <a:rPr lang="pt-BR" altLang="pt-BR" dirty="0" smtClean="0"/>
              <a:t>: um protótipo de sistema pode ser desenvolvido para mostrar algumas características-chave do sistema para os clientes. Clientes podem experimentar o protótipo e refinar seus requisitos antes de comprometer elevados custos de produção de software. </a:t>
            </a:r>
          </a:p>
          <a:p>
            <a:pPr algn="just" eaLnBrk="1" hangingPunct="1"/>
            <a:r>
              <a:rPr lang="pt-BR" altLang="pt-BR" dirty="0" smtClean="0"/>
              <a:t>2. Tolerância a mudanças: processo projetado para que as mudanças possam ser acomodadas a um custo relativamente baixo (desenvolvimento incremental). As alterações podem ser aplicadas em incrementos que ainda não foram desenvolvidos ou apenas um incremento (uma pequena parte do sistema) deve ser alterado para incorporar as mudanças.</a:t>
            </a:r>
          </a:p>
          <a:p>
            <a:pPr algn="just" eaLnBrk="1" hangingPunct="1"/>
            <a:r>
              <a:rPr lang="pt-BR" altLang="pt-BR" dirty="0" smtClean="0"/>
              <a:t>A </a:t>
            </a:r>
            <a:r>
              <a:rPr lang="pt-BR" altLang="pt-BR" dirty="0" err="1" smtClean="0"/>
              <a:t>refatoração</a:t>
            </a:r>
            <a:r>
              <a:rPr lang="pt-BR" altLang="pt-BR" dirty="0" smtClean="0"/>
              <a:t> (melhoria da estrutura e organização de um programa), é um importante mecanismo que suporta mudanças.</a:t>
            </a:r>
            <a:endParaRPr lang="pt-PT" altLang="pt-BR" dirty="0" smtClean="0"/>
          </a:p>
        </p:txBody>
      </p:sp>
    </p:spTree>
    <p:extLst>
      <p:ext uri="{BB962C8B-B14F-4D97-AF65-F5344CB8AC3E}">
        <p14:creationId xmlns:p14="http://schemas.microsoft.com/office/powerpoint/2010/main" val="19231826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E1A3B08-B497-4012-AE79-BE0A05C4C280}" type="slidenum">
              <a:rPr lang="pt-PT" altLang="pt-BR" sz="1400"/>
              <a:pPr>
                <a:spcBef>
                  <a:spcPct val="0"/>
                </a:spcBef>
                <a:buFontTx/>
                <a:buNone/>
              </a:pPr>
              <a:t>51</a:t>
            </a:fld>
            <a:endParaRPr lang="pt-PT" altLang="pt-BR" sz="1400"/>
          </a:p>
        </p:txBody>
      </p:sp>
      <p:sp>
        <p:nvSpPr>
          <p:cNvPr id="7373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71684" name="Rectangle 3"/>
          <p:cNvSpPr>
            <a:spLocks noGrp="1" noChangeArrowheads="1"/>
          </p:cNvSpPr>
          <p:nvPr>
            <p:ph type="subTitle" idx="1"/>
          </p:nvPr>
        </p:nvSpPr>
        <p:spPr>
          <a:xfrm>
            <a:off x="189781" y="1311215"/>
            <a:ext cx="11826815" cy="5502336"/>
          </a:xfrm>
        </p:spPr>
        <p:txBody>
          <a:bodyPr/>
          <a:lstStyle/>
          <a:p>
            <a:pPr algn="just" eaLnBrk="1" hangingPunct="1">
              <a:defRPr/>
            </a:pPr>
            <a:r>
              <a:rPr lang="pt-BR" dirty="0" smtClean="0"/>
              <a:t>Protótipo: versão </a:t>
            </a:r>
            <a:r>
              <a:rPr lang="pt-BR" dirty="0"/>
              <a:t>inicial de um sistema de software, usado para demonstrar conceitos, </a:t>
            </a:r>
            <a:r>
              <a:rPr lang="pt-BR" dirty="0" smtClean="0"/>
              <a:t>experimen</a:t>
            </a:r>
            <a:r>
              <a:rPr lang="pt-BR" dirty="0"/>
              <a:t>t</a:t>
            </a:r>
            <a:r>
              <a:rPr lang="pt-BR" dirty="0" smtClean="0"/>
              <a:t>ar </a:t>
            </a:r>
            <a:r>
              <a:rPr lang="pt-BR" dirty="0"/>
              <a:t>opções de projeto e descobrir mais sobre o problema e suas possíveis soluções. </a:t>
            </a:r>
            <a:endParaRPr lang="pt-BR" dirty="0" smtClean="0"/>
          </a:p>
          <a:p>
            <a:pPr algn="just" eaLnBrk="1" hangingPunct="1">
              <a:defRPr/>
            </a:pPr>
            <a:r>
              <a:rPr lang="pt-BR" dirty="0" smtClean="0"/>
              <a:t>O </a:t>
            </a:r>
            <a:r>
              <a:rPr lang="pt-BR" dirty="0"/>
              <a:t>desenvolvimento rápido e iterativo do protótipo é essencial para que os custos sejam controlados e os </a:t>
            </a:r>
            <a:r>
              <a:rPr lang="pt-BR" dirty="0" err="1" smtClean="0"/>
              <a:t>stakeholders</a:t>
            </a:r>
            <a:r>
              <a:rPr lang="pt-BR" dirty="0" smtClean="0"/>
              <a:t> </a:t>
            </a:r>
            <a:r>
              <a:rPr lang="pt-BR" dirty="0"/>
              <a:t>possam experimentá-lo no início do processo de software. </a:t>
            </a:r>
            <a:endParaRPr lang="pt-BR" dirty="0" smtClean="0"/>
          </a:p>
          <a:p>
            <a:pPr algn="just" eaLnBrk="1" hangingPunct="1">
              <a:defRPr/>
            </a:pPr>
            <a:r>
              <a:rPr lang="pt-BR" dirty="0" smtClean="0"/>
              <a:t>Protótipo pode ser usado no </a:t>
            </a:r>
            <a:r>
              <a:rPr lang="pt-BR" dirty="0"/>
              <a:t>processo de desenvolvimento de software para ajudar a antecipar as mudanças que podem ser requisitadas: </a:t>
            </a:r>
            <a:endParaRPr lang="pt-BR" dirty="0" smtClean="0"/>
          </a:p>
          <a:p>
            <a:pPr marL="457200" indent="-457200" algn="just">
              <a:buFontTx/>
              <a:buAutoNum type="arabicPeriod"/>
              <a:defRPr/>
            </a:pPr>
            <a:r>
              <a:rPr lang="pt-BR" dirty="0" smtClean="0"/>
              <a:t>No </a:t>
            </a:r>
            <a:r>
              <a:rPr lang="pt-BR" dirty="0"/>
              <a:t>processo de engenharia de </a:t>
            </a:r>
            <a:r>
              <a:rPr lang="pt-BR" dirty="0" smtClean="0"/>
              <a:t>requisitos: ajuda </a:t>
            </a:r>
            <a:r>
              <a:rPr lang="pt-BR" dirty="0"/>
              <a:t>na </a:t>
            </a:r>
            <a:r>
              <a:rPr lang="pt-BR" dirty="0" err="1"/>
              <a:t>elicitação</a:t>
            </a:r>
            <a:r>
              <a:rPr lang="pt-BR" dirty="0"/>
              <a:t> e validação de requisitos de sistema. </a:t>
            </a:r>
            <a:endParaRPr lang="pt-BR" dirty="0" smtClean="0"/>
          </a:p>
          <a:p>
            <a:pPr marL="457200" indent="-457200" algn="just">
              <a:buFontTx/>
              <a:buAutoNum type="arabicPeriod"/>
              <a:defRPr/>
            </a:pPr>
            <a:r>
              <a:rPr lang="pt-BR" dirty="0" smtClean="0"/>
              <a:t>No </a:t>
            </a:r>
            <a:r>
              <a:rPr lang="pt-BR" dirty="0"/>
              <a:t>processo de projeto de </a:t>
            </a:r>
            <a:r>
              <a:rPr lang="pt-BR" dirty="0" smtClean="0"/>
              <a:t>sistema: </a:t>
            </a:r>
            <a:r>
              <a:rPr lang="pt-BR" dirty="0"/>
              <a:t>usado para estudar soluções específicas do software e para apoiar o projeto de interface de usuário</a:t>
            </a:r>
            <a:endParaRPr lang="pt-PT" altLang="pt-BR" dirty="0" smtClean="0"/>
          </a:p>
        </p:txBody>
      </p:sp>
    </p:spTree>
    <p:extLst>
      <p:ext uri="{BB962C8B-B14F-4D97-AF65-F5344CB8AC3E}">
        <p14:creationId xmlns:p14="http://schemas.microsoft.com/office/powerpoint/2010/main" val="34114662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D328ABE-2AC7-430F-8B91-803A1AC184F7}" type="slidenum">
              <a:rPr lang="pt-PT" altLang="pt-BR" sz="1400"/>
              <a:pPr>
                <a:spcBef>
                  <a:spcPct val="0"/>
                </a:spcBef>
                <a:buFontTx/>
                <a:buNone/>
              </a:pPr>
              <a:t>52</a:t>
            </a:fld>
            <a:endParaRPr lang="pt-PT" altLang="pt-BR" sz="1400"/>
          </a:p>
        </p:txBody>
      </p:sp>
      <p:sp>
        <p:nvSpPr>
          <p:cNvPr id="7475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74756" name="Rectangle 3"/>
          <p:cNvSpPr>
            <a:spLocks noGrp="1" noChangeArrowheads="1"/>
          </p:cNvSpPr>
          <p:nvPr>
            <p:ph type="subTitle" idx="1"/>
          </p:nvPr>
        </p:nvSpPr>
        <p:spPr>
          <a:xfrm>
            <a:off x="120770" y="1143000"/>
            <a:ext cx="11964837" cy="5670551"/>
          </a:xfrm>
        </p:spPr>
        <p:txBody>
          <a:bodyPr/>
          <a:lstStyle/>
          <a:p>
            <a:pPr algn="just" eaLnBrk="1" hangingPunct="1"/>
            <a:r>
              <a:rPr lang="pt-BR" altLang="pt-BR" dirty="0" smtClean="0"/>
              <a:t>Protótipos do sistema:</a:t>
            </a:r>
          </a:p>
          <a:p>
            <a:pPr algn="just" eaLnBrk="1" hangingPunct="1"/>
            <a:r>
              <a:rPr lang="pt-BR" altLang="pt-BR" dirty="0" smtClean="0"/>
              <a:t>Permitem aos usuários ver quão bem o sistema dá suporte a seu trabalho. Obtém novas ideias para requisitos e encontra pontos fortes e fracos do software. Propõe novos requisitos ao sistema. </a:t>
            </a:r>
          </a:p>
          <a:p>
            <a:pPr algn="just" eaLnBrk="1" hangingPunct="1"/>
            <a:r>
              <a:rPr lang="pt-BR" altLang="pt-BR" dirty="0" smtClean="0"/>
              <a:t>Pode revelar erros e omissões nos requisitos propostos. A função descrita em uma especificação pode parecer útil e bem definida. </a:t>
            </a:r>
          </a:p>
          <a:p>
            <a:pPr algn="just" eaLnBrk="1" hangingPunct="1"/>
            <a:r>
              <a:rPr lang="pt-BR" altLang="pt-BR" dirty="0" smtClean="0"/>
              <a:t>Quando a função é combinada com outras, os usuários podem perceber que sua visão inicial foi incorreta ou incompleta. </a:t>
            </a:r>
          </a:p>
          <a:p>
            <a:pPr algn="just" eaLnBrk="1" hangingPunct="1"/>
            <a:r>
              <a:rPr lang="pt-BR" altLang="pt-BR" dirty="0" smtClean="0"/>
              <a:t>A especificação do sistema pode ser modificada para refletir o entendimento dos requisitos alterados. </a:t>
            </a:r>
          </a:p>
        </p:txBody>
      </p:sp>
    </p:spTree>
    <p:extLst>
      <p:ext uri="{BB962C8B-B14F-4D97-AF65-F5344CB8AC3E}">
        <p14:creationId xmlns:p14="http://schemas.microsoft.com/office/powerpoint/2010/main" val="2733024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8D48BE-0107-4476-B6D4-5C3ADAB449EE}" type="slidenum">
              <a:rPr lang="pt-PT" altLang="pt-BR" sz="1400"/>
              <a:pPr>
                <a:spcBef>
                  <a:spcPct val="0"/>
                </a:spcBef>
                <a:buFontTx/>
                <a:buNone/>
              </a:pPr>
              <a:t>53</a:t>
            </a:fld>
            <a:endParaRPr lang="pt-PT" altLang="pt-BR" sz="1400"/>
          </a:p>
        </p:txBody>
      </p:sp>
      <p:sp>
        <p:nvSpPr>
          <p:cNvPr id="7577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75780" name="Rectangle 3"/>
          <p:cNvSpPr>
            <a:spLocks noGrp="1" noChangeArrowheads="1"/>
          </p:cNvSpPr>
          <p:nvPr>
            <p:ph type="subTitle" idx="1"/>
          </p:nvPr>
        </p:nvSpPr>
        <p:spPr>
          <a:xfrm>
            <a:off x="1" y="862642"/>
            <a:ext cx="12076980" cy="5950909"/>
          </a:xfrm>
        </p:spPr>
        <p:txBody>
          <a:bodyPr/>
          <a:lstStyle/>
          <a:p>
            <a:pPr algn="just" eaLnBrk="1" hangingPunct="1"/>
            <a:r>
              <a:rPr lang="pt-BR" altLang="pt-BR" dirty="0" smtClean="0"/>
              <a:t>Protótipos do sistema:</a:t>
            </a:r>
          </a:p>
          <a:p>
            <a:pPr algn="just" eaLnBrk="1" hangingPunct="1"/>
            <a:r>
              <a:rPr lang="pt-BR" altLang="pt-BR" dirty="0" smtClean="0"/>
              <a:t>No projeto, um protótipo do sistema pode ser usado para a realização de experimentos visando à verificação da viabilidade da proposta. </a:t>
            </a:r>
          </a:p>
          <a:p>
            <a:pPr algn="just" eaLnBrk="1" hangingPunct="1"/>
            <a:r>
              <a:rPr lang="pt-BR" altLang="pt-BR" dirty="0" err="1" smtClean="0"/>
              <a:t>Ex</a:t>
            </a:r>
            <a:r>
              <a:rPr lang="pt-BR" altLang="pt-BR" dirty="0" smtClean="0"/>
              <a:t>: projeto de banco de dados pode ser </a:t>
            </a:r>
            <a:r>
              <a:rPr lang="pt-BR" altLang="pt-BR" dirty="0" err="1" smtClean="0"/>
              <a:t>prototipado</a:t>
            </a:r>
            <a:r>
              <a:rPr lang="pt-BR" altLang="pt-BR" dirty="0" smtClean="0"/>
              <a:t> e testado para verificar se suporta o acesso aos dados para as consultas mais comuns dos usuários. </a:t>
            </a:r>
          </a:p>
          <a:p>
            <a:pPr algn="just" eaLnBrk="1" hangingPunct="1"/>
            <a:r>
              <a:rPr lang="pt-BR" altLang="pt-BR" dirty="0" smtClean="0"/>
              <a:t>Parte essencial do processo de projeto da interface de usuário: Interfaces tem natureza dinâmica: descrições textuais e diagramas não são bons para expressar seus requisitos. </a:t>
            </a:r>
          </a:p>
          <a:p>
            <a:pPr algn="just" eaLnBrk="1" hangingPunct="1"/>
            <a:r>
              <a:rPr lang="pt-BR" altLang="pt-BR" dirty="0" smtClean="0"/>
              <a:t>A prototipação com envolvimento do usuário final é a única maneira sensata de desenvolver interfaces gráficas de usuário</a:t>
            </a:r>
            <a:endParaRPr lang="pt-PT" altLang="pt-BR" dirty="0" smtClean="0"/>
          </a:p>
        </p:txBody>
      </p:sp>
    </p:spTree>
    <p:extLst>
      <p:ext uri="{BB962C8B-B14F-4D97-AF65-F5344CB8AC3E}">
        <p14:creationId xmlns:p14="http://schemas.microsoft.com/office/powerpoint/2010/main" val="242077356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0885AAC-D49A-4861-A068-5855911F5306}" type="slidenum">
              <a:rPr lang="pt-PT" altLang="pt-BR" sz="1400"/>
              <a:pPr>
                <a:spcBef>
                  <a:spcPct val="0"/>
                </a:spcBef>
                <a:buFontTx/>
                <a:buNone/>
              </a:pPr>
              <a:t>54</a:t>
            </a:fld>
            <a:endParaRPr lang="pt-PT" altLang="pt-BR" sz="1400"/>
          </a:p>
        </p:txBody>
      </p:sp>
      <p:sp>
        <p:nvSpPr>
          <p:cNvPr id="7680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76804" name="Rectangle 3"/>
          <p:cNvSpPr>
            <a:spLocks noGrp="1" noChangeArrowheads="1"/>
          </p:cNvSpPr>
          <p:nvPr>
            <p:ph type="subTitle" idx="1"/>
          </p:nvPr>
        </p:nvSpPr>
        <p:spPr>
          <a:xfrm>
            <a:off x="0" y="1026544"/>
            <a:ext cx="11844067" cy="5787008"/>
          </a:xfrm>
        </p:spPr>
        <p:txBody>
          <a:bodyPr/>
          <a:lstStyle/>
          <a:p>
            <a:pPr algn="just" eaLnBrk="1" hangingPunct="1"/>
            <a:r>
              <a:rPr lang="pt-BR" altLang="pt-BR" dirty="0" smtClean="0"/>
              <a:t>Protótipos do sistema:</a:t>
            </a:r>
          </a:p>
          <a:p>
            <a:pPr algn="just" eaLnBrk="1" hangingPunct="1"/>
            <a:r>
              <a:rPr lang="pt-BR" altLang="pt-BR" dirty="0" smtClean="0"/>
              <a:t>Os objetivos da prototipação: explicitados desde o início do processo. </a:t>
            </a:r>
          </a:p>
          <a:p>
            <a:pPr algn="just" eaLnBrk="1" hangingPunct="1"/>
            <a:r>
              <a:rPr lang="pt-BR" altLang="pt-BR" dirty="0" err="1" smtClean="0"/>
              <a:t>Ex</a:t>
            </a:r>
            <a:r>
              <a:rPr lang="pt-BR" altLang="pt-BR" dirty="0" smtClean="0"/>
              <a:t>: desenvolvimento de sistema para </a:t>
            </a:r>
            <a:r>
              <a:rPr lang="pt-BR" altLang="pt-BR" dirty="0" err="1" smtClean="0"/>
              <a:t>prototipar</a:t>
            </a:r>
            <a:r>
              <a:rPr lang="pt-BR" altLang="pt-BR" dirty="0" smtClean="0"/>
              <a:t> a interface de usuário, o desenvolvimento de sistema para validar requisitos funcionais do sistema ou o desenvolvimento de sistema para demonstrar aos gerentes a viabilidade da aplicação. </a:t>
            </a:r>
          </a:p>
          <a:p>
            <a:pPr algn="just" eaLnBrk="1" hangingPunct="1"/>
            <a:r>
              <a:rPr lang="pt-BR" altLang="pt-BR" dirty="0" smtClean="0"/>
              <a:t>O mesmo protótipo não pode cumprir todos os objetivos. Se os objetivos não são declarados, a gerência ou os usuários finais podem não entender a função do protótipo, não obtendo os benefícios que esperavam do desenvolvimento do protótipo.</a:t>
            </a:r>
          </a:p>
          <a:p>
            <a:pPr algn="just" eaLnBrk="1" hangingPunct="1"/>
            <a:r>
              <a:rPr lang="pt-BR" altLang="pt-BR" dirty="0" smtClean="0"/>
              <a:t>Próximo estágio: decidir o que colocar e o que deixar de fora do protótipo. </a:t>
            </a:r>
          </a:p>
          <a:p>
            <a:pPr algn="just" eaLnBrk="1" hangingPunct="1"/>
            <a:r>
              <a:rPr lang="pt-BR" altLang="pt-BR" dirty="0" smtClean="0"/>
              <a:t>Para reduzir os custos de prototipação e acelerar o cronograma de entrega, pode-se deixar  funcionalidade fora do protótipo. </a:t>
            </a:r>
            <a:endParaRPr lang="pt-PT" altLang="pt-BR" dirty="0" smtClean="0"/>
          </a:p>
        </p:txBody>
      </p:sp>
    </p:spTree>
    <p:extLst>
      <p:ext uri="{BB962C8B-B14F-4D97-AF65-F5344CB8AC3E}">
        <p14:creationId xmlns:p14="http://schemas.microsoft.com/office/powerpoint/2010/main" val="18163368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E836FD3-305E-4629-A8F6-BDD74C3226C5}" type="slidenum">
              <a:rPr lang="pt-PT" altLang="pt-BR" sz="1400"/>
              <a:pPr>
                <a:spcBef>
                  <a:spcPct val="0"/>
                </a:spcBef>
                <a:buFontTx/>
                <a:buNone/>
              </a:pPr>
              <a:t>55</a:t>
            </a:fld>
            <a:endParaRPr lang="pt-PT" altLang="pt-BR" sz="1400"/>
          </a:p>
        </p:txBody>
      </p:sp>
      <p:sp>
        <p:nvSpPr>
          <p:cNvPr id="7782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pic>
        <p:nvPicPr>
          <p:cNvPr id="77828"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81137" y="1628776"/>
            <a:ext cx="9191626"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9" name="Rectangle 3"/>
          <p:cNvSpPr>
            <a:spLocks noGrp="1" noChangeArrowheads="1"/>
          </p:cNvSpPr>
          <p:nvPr>
            <p:ph type="subTitle" idx="1"/>
          </p:nvPr>
        </p:nvSpPr>
        <p:spPr>
          <a:xfrm>
            <a:off x="1524001" y="981076"/>
            <a:ext cx="9180513" cy="5832475"/>
          </a:xfrm>
        </p:spPr>
        <p:txBody>
          <a:bodyPr/>
          <a:lstStyle/>
          <a:p>
            <a:pPr algn="just" eaLnBrk="1" hangingPunct="1"/>
            <a:endParaRPr lang="pt-PT" altLang="pt-BR" smtClean="0"/>
          </a:p>
        </p:txBody>
      </p:sp>
    </p:spTree>
    <p:extLst>
      <p:ext uri="{BB962C8B-B14F-4D97-AF65-F5344CB8AC3E}">
        <p14:creationId xmlns:p14="http://schemas.microsoft.com/office/powerpoint/2010/main" val="389423012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5ED3BB0-D89C-4FA7-95D8-989374B2233D}" type="slidenum">
              <a:rPr lang="pt-PT" altLang="pt-BR" sz="1400"/>
              <a:pPr>
                <a:spcBef>
                  <a:spcPct val="0"/>
                </a:spcBef>
                <a:buFontTx/>
                <a:buNone/>
              </a:pPr>
              <a:t>56</a:t>
            </a:fld>
            <a:endParaRPr lang="pt-PT" altLang="pt-BR" sz="1400"/>
          </a:p>
        </p:txBody>
      </p:sp>
      <p:sp>
        <p:nvSpPr>
          <p:cNvPr id="7885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78852" name="Rectangle 3"/>
          <p:cNvSpPr>
            <a:spLocks noGrp="1" noChangeArrowheads="1"/>
          </p:cNvSpPr>
          <p:nvPr>
            <p:ph type="subTitle" idx="1"/>
          </p:nvPr>
        </p:nvSpPr>
        <p:spPr>
          <a:xfrm>
            <a:off x="284673" y="1285335"/>
            <a:ext cx="11749176" cy="5528215"/>
          </a:xfrm>
        </p:spPr>
        <p:txBody>
          <a:bodyPr/>
          <a:lstStyle/>
          <a:p>
            <a:pPr algn="just" eaLnBrk="1" hangingPunct="1"/>
            <a:r>
              <a:rPr lang="pt-BR" altLang="pt-BR" dirty="0" smtClean="0"/>
              <a:t>Protótipos do sistema:</a:t>
            </a:r>
          </a:p>
          <a:p>
            <a:pPr algn="just" eaLnBrk="1" hangingPunct="1"/>
            <a:r>
              <a:rPr lang="pt-BR" altLang="pt-BR" dirty="0" smtClean="0"/>
              <a:t>Requisitos não funcionais (tempo de resposta e utilização de memória) podem não ser incluídos</a:t>
            </a:r>
          </a:p>
          <a:p>
            <a:pPr algn="just" eaLnBrk="1" hangingPunct="1"/>
            <a:r>
              <a:rPr lang="pt-BR" altLang="pt-BR" dirty="0" smtClean="0"/>
              <a:t>Gerenciamento e tratamento de erros podem ser ignorados, a menos que o objetivo do protótipo seja estabelecer uma interface de usuário. </a:t>
            </a:r>
          </a:p>
          <a:p>
            <a:pPr algn="just" eaLnBrk="1" hangingPunct="1"/>
            <a:r>
              <a:rPr lang="pt-BR" altLang="pt-BR" dirty="0" smtClean="0"/>
              <a:t>Padrões de confiabilidade e qualidade de programa podem ser reduzidos. </a:t>
            </a:r>
          </a:p>
          <a:p>
            <a:pPr algn="just" eaLnBrk="1" hangingPunct="1"/>
            <a:endParaRPr lang="pt-BR" altLang="pt-BR" dirty="0" smtClean="0"/>
          </a:p>
          <a:p>
            <a:pPr algn="just" eaLnBrk="1" hangingPunct="1"/>
            <a:r>
              <a:rPr lang="pt-BR" altLang="pt-BR" dirty="0" smtClean="0"/>
              <a:t>Estágio final: avaliação do protótipo. Provisões devem ser feitas para o treinamento do usuário, e os objetivos do protótipo devem ser usados para derivar um plano de avaliação. Os usuários necessitam de um tempo para se sentirem confortáveis com um sistema novo e para se situarem em um padrão normal de uso. Usando o sistema normalmente, eles descobrem erros e omissões de requisitos</a:t>
            </a:r>
            <a:endParaRPr lang="pt-PT" altLang="pt-BR" dirty="0" smtClean="0"/>
          </a:p>
        </p:txBody>
      </p:sp>
    </p:spTree>
    <p:extLst>
      <p:ext uri="{BB962C8B-B14F-4D97-AF65-F5344CB8AC3E}">
        <p14:creationId xmlns:p14="http://schemas.microsoft.com/office/powerpoint/2010/main" val="42752433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04B29FA-2530-4E9B-8C9C-9ACEBA3DABD2}" type="slidenum">
              <a:rPr lang="pt-PT" altLang="pt-BR" sz="1400"/>
              <a:pPr>
                <a:spcBef>
                  <a:spcPct val="0"/>
                </a:spcBef>
                <a:buFontTx/>
                <a:buNone/>
              </a:pPr>
              <a:t>57</a:t>
            </a:fld>
            <a:endParaRPr lang="pt-PT" altLang="pt-BR" sz="1400"/>
          </a:p>
        </p:txBody>
      </p:sp>
      <p:sp>
        <p:nvSpPr>
          <p:cNvPr id="7987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79876" name="Rectangle 3"/>
          <p:cNvSpPr>
            <a:spLocks noGrp="1" noChangeArrowheads="1"/>
          </p:cNvSpPr>
          <p:nvPr>
            <p:ph type="subTitle" idx="1"/>
          </p:nvPr>
        </p:nvSpPr>
        <p:spPr>
          <a:xfrm>
            <a:off x="267419" y="1268083"/>
            <a:ext cx="11766430" cy="5545468"/>
          </a:xfrm>
        </p:spPr>
        <p:txBody>
          <a:bodyPr/>
          <a:lstStyle/>
          <a:p>
            <a:pPr algn="just" eaLnBrk="1" hangingPunct="1"/>
            <a:r>
              <a:rPr lang="pt-BR" altLang="pt-BR" dirty="0" smtClean="0"/>
              <a:t>Protótipo pode não ser usado como o sistema final. </a:t>
            </a:r>
          </a:p>
          <a:p>
            <a:pPr algn="just" eaLnBrk="1" hangingPunct="1"/>
            <a:r>
              <a:rPr lang="pt-BR" altLang="pt-BR" dirty="0" smtClean="0"/>
              <a:t>Testador do protótipo pode não ser um usuário típico do sistema</a:t>
            </a:r>
          </a:p>
          <a:p>
            <a:pPr algn="just" eaLnBrk="1" hangingPunct="1"/>
            <a:r>
              <a:rPr lang="pt-BR" altLang="pt-BR" dirty="0" smtClean="0"/>
              <a:t>O tempo de treinamento durante a avaliação do protótipo deve ser suficiente.</a:t>
            </a:r>
          </a:p>
          <a:p>
            <a:pPr algn="just" eaLnBrk="1" hangingPunct="1"/>
            <a:r>
              <a:rPr lang="pt-BR" altLang="pt-BR" dirty="0" smtClean="0"/>
              <a:t>Protótipo lento: avaliadores ajustam o modo de trabalho e evitam recursos do sistema que têm tempos de resposta lentos. </a:t>
            </a:r>
          </a:p>
          <a:p>
            <a:pPr algn="just" eaLnBrk="1" hangingPunct="1"/>
            <a:r>
              <a:rPr lang="pt-BR" altLang="pt-BR" dirty="0" smtClean="0"/>
              <a:t>Melhores respostas no sistema final: avaliadores podem usá-lo de forma diferente. </a:t>
            </a:r>
          </a:p>
          <a:p>
            <a:pPr algn="just" eaLnBrk="1" hangingPunct="1"/>
            <a:r>
              <a:rPr lang="pt-BR" altLang="pt-BR" dirty="0" smtClean="0"/>
              <a:t>Às vezes, os desenvolvedores são pressionados pelos gerentes para entregar protótipos descartáveis, especialmente quando há atrasos na entrega da versão final do software. </a:t>
            </a:r>
            <a:endParaRPr lang="pt-PT" altLang="pt-BR" dirty="0" smtClean="0"/>
          </a:p>
        </p:txBody>
      </p:sp>
    </p:spTree>
    <p:extLst>
      <p:ext uri="{BB962C8B-B14F-4D97-AF65-F5344CB8AC3E}">
        <p14:creationId xmlns:p14="http://schemas.microsoft.com/office/powerpoint/2010/main" val="11518974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BD59B48-71E9-40B0-85D5-126195F48800}" type="slidenum">
              <a:rPr lang="pt-PT" altLang="pt-BR" sz="1400"/>
              <a:pPr>
                <a:spcBef>
                  <a:spcPct val="0"/>
                </a:spcBef>
                <a:buFontTx/>
                <a:buNone/>
              </a:pPr>
              <a:t>58</a:t>
            </a:fld>
            <a:endParaRPr lang="pt-PT" altLang="pt-BR" sz="1400"/>
          </a:p>
        </p:txBody>
      </p:sp>
      <p:sp>
        <p:nvSpPr>
          <p:cNvPr id="8089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80900" name="Rectangle 3"/>
          <p:cNvSpPr>
            <a:spLocks noGrp="1" noChangeArrowheads="1"/>
          </p:cNvSpPr>
          <p:nvPr>
            <p:ph type="subTitle" idx="1"/>
          </p:nvPr>
        </p:nvSpPr>
        <p:spPr>
          <a:xfrm>
            <a:off x="301925" y="1285336"/>
            <a:ext cx="11792309" cy="5528215"/>
          </a:xfrm>
        </p:spPr>
        <p:txBody>
          <a:bodyPr/>
          <a:lstStyle/>
          <a:p>
            <a:pPr algn="just" eaLnBrk="1" hangingPunct="1"/>
            <a:r>
              <a:rPr lang="pt-BR" altLang="pt-BR" dirty="0" smtClean="0"/>
              <a:t>Problemas</a:t>
            </a:r>
          </a:p>
          <a:p>
            <a:pPr algn="just" eaLnBrk="1" hangingPunct="1"/>
            <a:endParaRPr lang="pt-BR" altLang="pt-BR" dirty="0" smtClean="0"/>
          </a:p>
          <a:p>
            <a:pPr algn="just" eaLnBrk="1" hangingPunct="1"/>
            <a:r>
              <a:rPr lang="pt-BR" altLang="pt-BR" dirty="0" smtClean="0"/>
              <a:t>1. Pode ser impossível ajustar o protótipo para atender os requisitos não funcionais (desempenho, proteção, robustez e confiabilidade), ignorados durante o desenvolvimento do protótipo. </a:t>
            </a:r>
          </a:p>
          <a:p>
            <a:pPr algn="just" eaLnBrk="1" hangingPunct="1"/>
            <a:r>
              <a:rPr lang="pt-BR" altLang="pt-BR" dirty="0" smtClean="0"/>
              <a:t>2. Mudanças rápidas durante o desenvolvimento significam que o protótipo não está documentado. A única especificação de projeto é o código do protótipo. Para a manutenção a longo prazo, isso não é suficiente </a:t>
            </a:r>
          </a:p>
          <a:p>
            <a:pPr algn="just" eaLnBrk="1" hangingPunct="1"/>
            <a:r>
              <a:rPr lang="pt-BR" altLang="pt-BR" dirty="0" smtClean="0"/>
              <a:t>3. Mudanças no desenvolvimento do protótipo provavelmente terão degradado a estrutura do sistema. O sistema será difícil e custoso de ser mantido. </a:t>
            </a:r>
          </a:p>
          <a:p>
            <a:pPr algn="just" eaLnBrk="1" hangingPunct="1"/>
            <a:r>
              <a:rPr lang="pt-BR" altLang="pt-BR" dirty="0" smtClean="0"/>
              <a:t>4. Padrões de qualidade organizacional são relaxados para o desenvolvimento do protótipo</a:t>
            </a:r>
            <a:endParaRPr lang="pt-PT" altLang="pt-BR" dirty="0" smtClean="0"/>
          </a:p>
        </p:txBody>
      </p:sp>
    </p:spTree>
    <p:extLst>
      <p:ext uri="{BB962C8B-B14F-4D97-AF65-F5344CB8AC3E}">
        <p14:creationId xmlns:p14="http://schemas.microsoft.com/office/powerpoint/2010/main" val="261570438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767A047-1BE0-4D6D-A2AA-96B829BC4ECC}" type="slidenum">
              <a:rPr lang="pt-PT" altLang="pt-BR" sz="1400"/>
              <a:pPr>
                <a:spcBef>
                  <a:spcPct val="0"/>
                </a:spcBef>
                <a:buFontTx/>
                <a:buNone/>
              </a:pPr>
              <a:t>59</a:t>
            </a:fld>
            <a:endParaRPr lang="pt-PT" altLang="pt-BR" sz="1400"/>
          </a:p>
        </p:txBody>
      </p:sp>
      <p:sp>
        <p:nvSpPr>
          <p:cNvPr id="8192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Prototipação</a:t>
            </a:r>
            <a:endParaRPr lang="pt-PT" altLang="pt-BR" sz="3600"/>
          </a:p>
        </p:txBody>
      </p:sp>
      <p:sp>
        <p:nvSpPr>
          <p:cNvPr id="81924" name="Rectangle 3"/>
          <p:cNvSpPr>
            <a:spLocks noGrp="1" noChangeArrowheads="1"/>
          </p:cNvSpPr>
          <p:nvPr>
            <p:ph type="subTitle" idx="1"/>
          </p:nvPr>
        </p:nvSpPr>
        <p:spPr>
          <a:xfrm>
            <a:off x="276046" y="1440611"/>
            <a:ext cx="11757803" cy="5387197"/>
          </a:xfrm>
        </p:spPr>
        <p:txBody>
          <a:bodyPr/>
          <a:lstStyle/>
          <a:p>
            <a:pPr algn="just" eaLnBrk="1" hangingPunct="1"/>
            <a:endParaRPr lang="pt-BR" altLang="pt-BR" dirty="0" smtClean="0"/>
          </a:p>
          <a:p>
            <a:pPr algn="just" eaLnBrk="1" hangingPunct="1"/>
            <a:r>
              <a:rPr lang="pt-BR" altLang="pt-BR" dirty="0" smtClean="0"/>
              <a:t>Protótipos não precisam ser executáveis para serem úteis. </a:t>
            </a:r>
          </a:p>
          <a:p>
            <a:pPr algn="just" eaLnBrk="1" hangingPunct="1"/>
            <a:r>
              <a:rPr lang="pt-BR" altLang="pt-BR" dirty="0" smtClean="0"/>
              <a:t>Maquetes em papel da interface de usuário do sistema podem ser eficazes em ajudar os usuários a refinar o projeto de interface e trabalhar por meio de cenários de uso. </a:t>
            </a:r>
          </a:p>
          <a:p>
            <a:pPr algn="just" eaLnBrk="1" hangingPunct="1"/>
            <a:r>
              <a:rPr lang="pt-BR" altLang="pt-BR" dirty="0" smtClean="0"/>
              <a:t>Estes são muito baratos de se desenvolver e podem ser construídos em poucos dias. </a:t>
            </a:r>
          </a:p>
          <a:p>
            <a:pPr algn="just" eaLnBrk="1" hangingPunct="1"/>
            <a:r>
              <a:rPr lang="pt-BR" altLang="pt-BR" dirty="0" smtClean="0"/>
              <a:t>Uma extensão dessa técnica é o protótipo Mágico de Oz, no qual apenas a interface de usuário é desenvolvida. Os usuários interagem com essa interface e as suas solicitações são passadas para uma pessoa que os interpreta e produz a resposta adequada.</a:t>
            </a:r>
            <a:endParaRPr lang="pt-PT" altLang="pt-BR" dirty="0" smtClean="0"/>
          </a:p>
        </p:txBody>
      </p:sp>
    </p:spTree>
    <p:extLst>
      <p:ext uri="{BB962C8B-B14F-4D97-AF65-F5344CB8AC3E}">
        <p14:creationId xmlns:p14="http://schemas.microsoft.com/office/powerpoint/2010/main" val="312172906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663214-17EF-488E-9CEE-40B42F5E0CD2}" type="slidenum">
              <a:rPr lang="pt-PT" altLang="pt-BR" sz="1400"/>
              <a:pPr>
                <a:spcBef>
                  <a:spcPct val="0"/>
                </a:spcBef>
                <a:buFontTx/>
                <a:buNone/>
              </a:pPr>
              <a:t>60</a:t>
            </a:fld>
            <a:endParaRPr lang="pt-PT" altLang="pt-BR" sz="1400"/>
          </a:p>
        </p:txBody>
      </p:sp>
      <p:sp>
        <p:nvSpPr>
          <p:cNvPr id="8294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Entrega Incremental</a:t>
            </a:r>
            <a:endParaRPr lang="pt-PT" altLang="pt-BR" sz="3600"/>
          </a:p>
        </p:txBody>
      </p:sp>
      <p:sp>
        <p:nvSpPr>
          <p:cNvPr id="82948" name="Rectangle 3"/>
          <p:cNvSpPr>
            <a:spLocks noGrp="1" noChangeArrowheads="1"/>
          </p:cNvSpPr>
          <p:nvPr>
            <p:ph type="subTitle" idx="1"/>
          </p:nvPr>
        </p:nvSpPr>
        <p:spPr>
          <a:xfrm>
            <a:off x="276045" y="1388853"/>
            <a:ext cx="11818189" cy="5424698"/>
          </a:xfrm>
        </p:spPr>
        <p:txBody>
          <a:bodyPr/>
          <a:lstStyle/>
          <a:p>
            <a:pPr algn="just" eaLnBrk="1" hangingPunct="1"/>
            <a:endParaRPr lang="pt-BR" altLang="pt-BR" dirty="0" smtClean="0"/>
          </a:p>
          <a:p>
            <a:pPr algn="just" eaLnBrk="1" hangingPunct="1"/>
            <a:r>
              <a:rPr lang="pt-BR" altLang="pt-BR" dirty="0" smtClean="0"/>
              <a:t>Abordagem de desenvolvimento de software: alguns dos incrementos desenvolvidos são entregues ao cliente e implantados para uso em um ambiente operacional. </a:t>
            </a:r>
          </a:p>
          <a:p>
            <a:pPr algn="just" eaLnBrk="1" hangingPunct="1"/>
            <a:r>
              <a:rPr lang="pt-BR" altLang="pt-BR" dirty="0" smtClean="0"/>
              <a:t>Clientes: identificam, em linhas gerais, os serviços a serem fornecidos pelo sistema (os mais e menos importantes)</a:t>
            </a:r>
          </a:p>
          <a:p>
            <a:pPr algn="just" eaLnBrk="1" hangingPunct="1"/>
            <a:r>
              <a:rPr lang="pt-BR" altLang="pt-BR" dirty="0" smtClean="0"/>
              <a:t>Uma série de incrementos de entrega são definidos: subconjunto da funcionalidade do sistema. </a:t>
            </a:r>
          </a:p>
          <a:p>
            <a:pPr algn="just" eaLnBrk="1" hangingPunct="1"/>
            <a:r>
              <a:rPr lang="pt-BR" altLang="pt-BR" dirty="0" smtClean="0"/>
              <a:t>Atribuição de serviços aos incrementos depende da ordem de prioridade dos serviços: os serviços de mais alta prioridade são implementados e entregues em primeiro lugar</a:t>
            </a:r>
            <a:endParaRPr lang="pt-PT" altLang="pt-BR" dirty="0" smtClean="0"/>
          </a:p>
        </p:txBody>
      </p:sp>
    </p:spTree>
    <p:extLst>
      <p:ext uri="{BB962C8B-B14F-4D97-AF65-F5344CB8AC3E}">
        <p14:creationId xmlns:p14="http://schemas.microsoft.com/office/powerpoint/2010/main" val="6481631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F4A9B32-A87E-435E-8915-BC9F2699B801}" type="slidenum">
              <a:rPr lang="pt-PT" altLang="pt-BR" sz="1400"/>
              <a:pPr>
                <a:spcBef>
                  <a:spcPct val="0"/>
                </a:spcBef>
                <a:buFontTx/>
                <a:buNone/>
              </a:pPr>
              <a:t>61</a:t>
            </a:fld>
            <a:endParaRPr lang="pt-PT" altLang="pt-BR" sz="1400"/>
          </a:p>
        </p:txBody>
      </p:sp>
      <p:sp>
        <p:nvSpPr>
          <p:cNvPr id="8397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Entrega Incremental</a:t>
            </a:r>
            <a:endParaRPr lang="pt-PT" altLang="pt-BR" sz="3600"/>
          </a:p>
        </p:txBody>
      </p:sp>
      <p:pic>
        <p:nvPicPr>
          <p:cNvPr id="83972"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09813" y="1238250"/>
            <a:ext cx="8178800"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Rectangle 3"/>
          <p:cNvSpPr>
            <a:spLocks noGrp="1" noChangeArrowheads="1"/>
          </p:cNvSpPr>
          <p:nvPr>
            <p:ph type="subTitle" idx="1"/>
          </p:nvPr>
        </p:nvSpPr>
        <p:spPr>
          <a:xfrm>
            <a:off x="1524001" y="981076"/>
            <a:ext cx="9180513" cy="5832475"/>
          </a:xfrm>
        </p:spPr>
        <p:txBody>
          <a:bodyPr/>
          <a:lstStyle/>
          <a:p>
            <a:pPr algn="just" eaLnBrk="1" hangingPunct="1"/>
            <a:endParaRPr lang="pt-BR" altLang="pt-BR" smtClean="0"/>
          </a:p>
        </p:txBody>
      </p:sp>
    </p:spTree>
    <p:extLst>
      <p:ext uri="{BB962C8B-B14F-4D97-AF65-F5344CB8AC3E}">
        <p14:creationId xmlns:p14="http://schemas.microsoft.com/office/powerpoint/2010/main" val="41839385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7D7269B-BC5A-4F27-BEDC-2F8ACCC4CFB8}" type="slidenum">
              <a:rPr lang="pt-PT" altLang="pt-BR" sz="1400"/>
              <a:pPr>
                <a:spcBef>
                  <a:spcPct val="0"/>
                </a:spcBef>
                <a:buFontTx/>
                <a:buNone/>
              </a:pPr>
              <a:t>62</a:t>
            </a:fld>
            <a:endParaRPr lang="pt-PT" altLang="pt-BR" sz="1400"/>
          </a:p>
        </p:txBody>
      </p:sp>
      <p:sp>
        <p:nvSpPr>
          <p:cNvPr id="8499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Entrega Incremental</a:t>
            </a:r>
            <a:endParaRPr lang="pt-PT" altLang="pt-BR" sz="3600"/>
          </a:p>
        </p:txBody>
      </p:sp>
      <p:sp>
        <p:nvSpPr>
          <p:cNvPr id="84996" name="Rectangle 3"/>
          <p:cNvSpPr>
            <a:spLocks noGrp="1" noChangeArrowheads="1"/>
          </p:cNvSpPr>
          <p:nvPr>
            <p:ph type="subTitle" idx="1"/>
          </p:nvPr>
        </p:nvSpPr>
        <p:spPr>
          <a:xfrm>
            <a:off x="138023" y="1259457"/>
            <a:ext cx="11775056" cy="5554094"/>
          </a:xfrm>
        </p:spPr>
        <p:txBody>
          <a:bodyPr/>
          <a:lstStyle/>
          <a:p>
            <a:pPr algn="just" eaLnBrk="1" hangingPunct="1"/>
            <a:r>
              <a:rPr lang="pt-BR" altLang="pt-BR" dirty="0" smtClean="0"/>
              <a:t>Incrementos identificados: os requisitos dos serviços a serem entregues no primeiro incremento são definidos em detalhes, e desenvolvido. </a:t>
            </a:r>
          </a:p>
          <a:p>
            <a:pPr algn="just" eaLnBrk="1" hangingPunct="1"/>
            <a:r>
              <a:rPr lang="pt-BR" altLang="pt-BR" dirty="0" smtClean="0"/>
              <a:t>No desenvolvimento: podem ocorrer mais análises de requisitos para incrementos posteriores. Mudanças nos requisitos do incremento atual não são aceitas. </a:t>
            </a:r>
          </a:p>
          <a:p>
            <a:pPr algn="just" eaLnBrk="1" hangingPunct="1"/>
            <a:r>
              <a:rPr lang="pt-BR" altLang="pt-BR" dirty="0" smtClean="0"/>
              <a:t>Incremento concluído e entregue: clientes podem colocá-lo em operação. Isso significa aceitar a entrega antecipada de uma parte da funcionalidade do sistema. Os clientes podem experimentar o sistema, e isso os ajuda a compreender suas necessidades para incrementos posteriores. </a:t>
            </a:r>
          </a:p>
          <a:p>
            <a:pPr algn="just" eaLnBrk="1" hangingPunct="1"/>
            <a:r>
              <a:rPr lang="pt-BR" altLang="pt-BR" dirty="0" smtClean="0"/>
              <a:t>Novos incrementos concluídos: são integrados aos incrementos existentes para que a funcionalidade do sistema melhore com cada incremento entregue</a:t>
            </a:r>
            <a:endParaRPr lang="pt-PT" altLang="pt-BR" dirty="0" smtClean="0"/>
          </a:p>
        </p:txBody>
      </p:sp>
    </p:spTree>
    <p:extLst>
      <p:ext uri="{BB962C8B-B14F-4D97-AF65-F5344CB8AC3E}">
        <p14:creationId xmlns:p14="http://schemas.microsoft.com/office/powerpoint/2010/main" val="138525424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BA5DBD7-392B-4055-8DB3-71A2FD1D3611}" type="slidenum">
              <a:rPr lang="pt-PT" altLang="pt-BR" sz="1400"/>
              <a:pPr>
                <a:spcBef>
                  <a:spcPct val="0"/>
                </a:spcBef>
                <a:buFontTx/>
                <a:buNone/>
              </a:pPr>
              <a:t>63</a:t>
            </a:fld>
            <a:endParaRPr lang="pt-PT" altLang="pt-BR" sz="1400"/>
          </a:p>
        </p:txBody>
      </p:sp>
      <p:sp>
        <p:nvSpPr>
          <p:cNvPr id="8601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Entrega Incremental</a:t>
            </a:r>
            <a:endParaRPr lang="pt-PT" altLang="pt-BR" sz="3600"/>
          </a:p>
        </p:txBody>
      </p:sp>
      <p:sp>
        <p:nvSpPr>
          <p:cNvPr id="71684" name="Rectangle 3"/>
          <p:cNvSpPr>
            <a:spLocks noGrp="1" noChangeArrowheads="1"/>
          </p:cNvSpPr>
          <p:nvPr>
            <p:ph type="subTitle" idx="1"/>
          </p:nvPr>
        </p:nvSpPr>
        <p:spPr>
          <a:xfrm>
            <a:off x="310551" y="1078301"/>
            <a:ext cx="11550770" cy="5735249"/>
          </a:xfrm>
        </p:spPr>
        <p:txBody>
          <a:bodyPr/>
          <a:lstStyle/>
          <a:p>
            <a:pPr algn="just" eaLnBrk="1" hangingPunct="1">
              <a:defRPr/>
            </a:pPr>
            <a:r>
              <a:rPr lang="pt-BR" dirty="0"/>
              <a:t>V</a:t>
            </a:r>
            <a:r>
              <a:rPr lang="pt-BR" dirty="0" smtClean="0"/>
              <a:t>antagens</a:t>
            </a:r>
            <a:r>
              <a:rPr lang="pt-BR" dirty="0"/>
              <a:t>: </a:t>
            </a:r>
            <a:endParaRPr lang="pt-BR" dirty="0" smtClean="0"/>
          </a:p>
          <a:p>
            <a:pPr marL="457200" indent="-457200" algn="just">
              <a:buFontTx/>
              <a:buAutoNum type="arabicPeriod"/>
              <a:defRPr/>
            </a:pPr>
            <a:r>
              <a:rPr lang="pt-BR" dirty="0"/>
              <a:t>C</a:t>
            </a:r>
            <a:r>
              <a:rPr lang="pt-BR" dirty="0" smtClean="0"/>
              <a:t>lientes usam </a:t>
            </a:r>
            <a:r>
              <a:rPr lang="pt-BR" dirty="0"/>
              <a:t>os incrementos iniciais como protótipos </a:t>
            </a:r>
            <a:r>
              <a:rPr lang="pt-BR" dirty="0" smtClean="0"/>
              <a:t>para </a:t>
            </a:r>
            <a:r>
              <a:rPr lang="pt-BR" dirty="0"/>
              <a:t>ganhar </a:t>
            </a:r>
            <a:r>
              <a:rPr lang="pt-BR" dirty="0" smtClean="0"/>
              <a:t>experiência (informa </a:t>
            </a:r>
            <a:r>
              <a:rPr lang="pt-BR" dirty="0"/>
              <a:t>requisitos para incrementos </a:t>
            </a:r>
            <a:r>
              <a:rPr lang="pt-BR" dirty="0" smtClean="0"/>
              <a:t>posteriores). </a:t>
            </a:r>
            <a:r>
              <a:rPr lang="pt-BR" dirty="0"/>
              <a:t>Ao contrário de protótipos, </a:t>
            </a:r>
            <a:r>
              <a:rPr lang="pt-BR" dirty="0" smtClean="0"/>
              <a:t>trata-se </a:t>
            </a:r>
            <a:r>
              <a:rPr lang="pt-BR" dirty="0"/>
              <a:t>de partes do sistema </a:t>
            </a:r>
            <a:r>
              <a:rPr lang="pt-BR" dirty="0" smtClean="0"/>
              <a:t>real. </a:t>
            </a:r>
          </a:p>
          <a:p>
            <a:pPr marL="457200" indent="-457200" algn="just">
              <a:buFontTx/>
              <a:buAutoNum type="arabicPeriod"/>
              <a:defRPr/>
            </a:pPr>
            <a:r>
              <a:rPr lang="pt-BR" dirty="0"/>
              <a:t>C</a:t>
            </a:r>
            <a:r>
              <a:rPr lang="pt-BR" dirty="0" smtClean="0"/>
              <a:t>lientes </a:t>
            </a:r>
            <a:r>
              <a:rPr lang="pt-BR" dirty="0"/>
              <a:t>não </a:t>
            </a:r>
            <a:r>
              <a:rPr lang="pt-BR" dirty="0" smtClean="0"/>
              <a:t>esperam a entrega do sistema total para </a:t>
            </a:r>
            <a:r>
              <a:rPr lang="pt-BR" dirty="0"/>
              <a:t>obter </a:t>
            </a:r>
            <a:r>
              <a:rPr lang="pt-BR" dirty="0" smtClean="0"/>
              <a:t>ganhos. </a:t>
            </a:r>
            <a:r>
              <a:rPr lang="pt-BR" dirty="0"/>
              <a:t>O </a:t>
            </a:r>
            <a:r>
              <a:rPr lang="pt-BR" dirty="0" smtClean="0"/>
              <a:t>primeiro </a:t>
            </a:r>
            <a:r>
              <a:rPr lang="pt-BR" dirty="0"/>
              <a:t>incremento satisfaz os requisitos mais </a:t>
            </a:r>
            <a:r>
              <a:rPr lang="pt-BR" dirty="0" smtClean="0"/>
              <a:t>críticos podendo </a:t>
            </a:r>
            <a:r>
              <a:rPr lang="pt-BR" dirty="0"/>
              <a:t>usar o software imediatamente. </a:t>
            </a:r>
            <a:endParaRPr lang="pt-BR" dirty="0" smtClean="0"/>
          </a:p>
          <a:p>
            <a:pPr marL="457200" indent="-457200" algn="just">
              <a:buFontTx/>
              <a:buAutoNum type="arabicPeriod"/>
              <a:defRPr/>
            </a:pPr>
            <a:r>
              <a:rPr lang="pt-BR" dirty="0" smtClean="0"/>
              <a:t>O </a:t>
            </a:r>
            <a:r>
              <a:rPr lang="pt-BR" dirty="0"/>
              <a:t>processo mantém os benefícios do desenvolvimento incremental, o que deve facilitar a incorporação das mudanças no sistema. </a:t>
            </a:r>
            <a:endParaRPr lang="pt-BR" dirty="0" smtClean="0"/>
          </a:p>
          <a:p>
            <a:pPr marL="457200" indent="-457200" algn="just">
              <a:buFontTx/>
              <a:buAutoNum type="arabicPeriod"/>
              <a:defRPr/>
            </a:pPr>
            <a:r>
              <a:rPr lang="pt-BR" dirty="0" smtClean="0"/>
              <a:t>Quanto </a:t>
            </a:r>
            <a:r>
              <a:rPr lang="pt-BR" dirty="0"/>
              <a:t>maior a prioridade dos serviços entregues e, em seguida, incrementos integrados, os serviços mais importantes recebem a maioria dos testes. Isso significa que a probabilidade de os clientes encontrarem falhas de software nas partes mais importantes do sistema é menor</a:t>
            </a:r>
            <a:endParaRPr lang="pt-PT" altLang="pt-BR" dirty="0" smtClean="0"/>
          </a:p>
        </p:txBody>
      </p:sp>
    </p:spTree>
    <p:extLst>
      <p:ext uri="{BB962C8B-B14F-4D97-AF65-F5344CB8AC3E}">
        <p14:creationId xmlns:p14="http://schemas.microsoft.com/office/powerpoint/2010/main" val="22811917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F64ECFB-FBFB-4543-98B0-1D233B918DBD}" type="slidenum">
              <a:rPr lang="pt-PT" altLang="pt-BR" sz="1400"/>
              <a:pPr>
                <a:spcBef>
                  <a:spcPct val="0"/>
                </a:spcBef>
                <a:buFontTx/>
                <a:buNone/>
              </a:pPr>
              <a:t>64</a:t>
            </a:fld>
            <a:endParaRPr lang="pt-PT" altLang="pt-BR" sz="1400"/>
          </a:p>
        </p:txBody>
      </p:sp>
      <p:sp>
        <p:nvSpPr>
          <p:cNvPr id="8704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Entrega Incremental</a:t>
            </a:r>
            <a:endParaRPr lang="pt-PT" altLang="pt-BR" sz="3600"/>
          </a:p>
        </p:txBody>
      </p:sp>
      <p:sp>
        <p:nvSpPr>
          <p:cNvPr id="71684" name="Rectangle 3"/>
          <p:cNvSpPr>
            <a:spLocks noGrp="1" noChangeArrowheads="1"/>
          </p:cNvSpPr>
          <p:nvPr>
            <p:ph type="subTitle" idx="1"/>
          </p:nvPr>
        </p:nvSpPr>
        <p:spPr>
          <a:xfrm>
            <a:off x="232913" y="1216325"/>
            <a:ext cx="11654287" cy="5597226"/>
          </a:xfrm>
        </p:spPr>
        <p:txBody>
          <a:bodyPr/>
          <a:lstStyle/>
          <a:p>
            <a:pPr algn="just" eaLnBrk="1" hangingPunct="1">
              <a:defRPr/>
            </a:pPr>
            <a:r>
              <a:rPr lang="pt-BR" dirty="0" smtClean="0"/>
              <a:t>Problemas</a:t>
            </a:r>
          </a:p>
          <a:p>
            <a:pPr marL="457200" indent="-457200" algn="just">
              <a:buFontTx/>
              <a:buAutoNum type="arabicPeriod"/>
              <a:defRPr/>
            </a:pPr>
            <a:r>
              <a:rPr lang="pt-BR" dirty="0" smtClean="0"/>
              <a:t>A </a:t>
            </a:r>
            <a:r>
              <a:rPr lang="pt-BR" dirty="0"/>
              <a:t>maioria dos sistemas exige um conjunto de recursos básicos, usados </a:t>
            </a:r>
            <a:r>
              <a:rPr lang="pt-BR" dirty="0" smtClean="0"/>
              <a:t>em suas </a:t>
            </a:r>
            <a:r>
              <a:rPr lang="pt-BR" dirty="0"/>
              <a:t>diferentes </a:t>
            </a:r>
            <a:r>
              <a:rPr lang="pt-BR" dirty="0" smtClean="0"/>
              <a:t>partes. </a:t>
            </a:r>
            <a:r>
              <a:rPr lang="pt-BR" dirty="0"/>
              <a:t>Como os requisitos não são definidos em detalhes até que um incremento possa ser implementado, pode ser difícil identificar recursos comuns, necessários a todos os incrementos. </a:t>
            </a:r>
            <a:endParaRPr lang="pt-BR" dirty="0" smtClean="0"/>
          </a:p>
          <a:p>
            <a:pPr marL="457200" indent="-457200" algn="just">
              <a:buFontTx/>
              <a:buAutoNum type="arabicPeriod"/>
              <a:defRPr/>
            </a:pPr>
            <a:r>
              <a:rPr lang="pt-BR" dirty="0" smtClean="0"/>
              <a:t>O </a:t>
            </a:r>
            <a:r>
              <a:rPr lang="pt-BR" dirty="0"/>
              <a:t>desenvolvimento iterativo </a:t>
            </a:r>
            <a:r>
              <a:rPr lang="pt-BR" dirty="0" smtClean="0"/>
              <a:t>pode </a:t>
            </a:r>
            <a:r>
              <a:rPr lang="pt-BR" dirty="0"/>
              <a:t>ser difícil quando um sistema substituto está sendo desenvolvido. Usuários </a:t>
            </a:r>
            <a:r>
              <a:rPr lang="pt-BR" dirty="0" smtClean="0"/>
              <a:t>querem as funcionalidades </a:t>
            </a:r>
            <a:r>
              <a:rPr lang="pt-BR" dirty="0"/>
              <a:t>do sistema antigo e, muitas vezes, ficam relutantes em experimentar um novo sistema incompleto. Portanto, é difícil obter feedbacks úteis dos clientes. </a:t>
            </a:r>
            <a:endParaRPr lang="pt-BR" dirty="0" smtClean="0"/>
          </a:p>
          <a:p>
            <a:pPr marL="457200" indent="-457200" algn="just">
              <a:buFontTx/>
              <a:buAutoNum type="arabicPeriod"/>
              <a:defRPr/>
            </a:pPr>
            <a:r>
              <a:rPr lang="pt-BR" altLang="pt-BR" dirty="0" smtClean="0"/>
              <a:t>Essência </a:t>
            </a:r>
            <a:r>
              <a:rPr lang="pt-BR" altLang="pt-BR" dirty="0"/>
              <a:t>do processo iterativo: especificação desenvolvida em conjunto com o software causa </a:t>
            </a:r>
            <a:r>
              <a:rPr lang="pt-BR" altLang="pt-BR" dirty="0" smtClean="0"/>
              <a:t>conflitos quando a </a:t>
            </a:r>
            <a:r>
              <a:rPr lang="pt-BR" altLang="pt-BR" dirty="0"/>
              <a:t>especificação </a:t>
            </a:r>
            <a:r>
              <a:rPr lang="pt-BR" altLang="pt-BR" dirty="0" smtClean="0"/>
              <a:t>completa </a:t>
            </a:r>
            <a:r>
              <a:rPr lang="pt-BR" altLang="pt-BR" dirty="0"/>
              <a:t>é parte do contrato de desenvolvimento do sistema. Na abordagem incremental, não há especificação completa do sistema até que o último incremento seja especificado, o que requer uma nova forma de contrato, à qual os grandes clientes, como agências governamentais, podem achar difícil de se adaptar</a:t>
            </a:r>
            <a:endParaRPr lang="pt-PT" altLang="pt-BR" dirty="0"/>
          </a:p>
          <a:p>
            <a:pPr marL="457200" indent="-457200" algn="just">
              <a:buFontTx/>
              <a:buAutoNum type="arabicPeriod"/>
              <a:defRPr/>
            </a:pPr>
            <a:endParaRPr lang="pt-PT" altLang="pt-BR" dirty="0" smtClean="0"/>
          </a:p>
        </p:txBody>
      </p:sp>
    </p:spTree>
    <p:extLst>
      <p:ext uri="{BB962C8B-B14F-4D97-AF65-F5344CB8AC3E}">
        <p14:creationId xmlns:p14="http://schemas.microsoft.com/office/powerpoint/2010/main" val="125424454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FE40E5E-7A51-40CD-AAAE-A70CB7A1E0A2}" type="slidenum">
              <a:rPr lang="pt-PT" altLang="pt-BR" sz="1400"/>
              <a:pPr>
                <a:spcBef>
                  <a:spcPct val="0"/>
                </a:spcBef>
                <a:buFontTx/>
                <a:buNone/>
              </a:pPr>
              <a:t>65</a:t>
            </a:fld>
            <a:endParaRPr lang="pt-PT" altLang="pt-BR" sz="1400"/>
          </a:p>
        </p:txBody>
      </p:sp>
      <p:sp>
        <p:nvSpPr>
          <p:cNvPr id="8909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Entrega Incremental</a:t>
            </a:r>
            <a:endParaRPr lang="pt-PT" altLang="pt-BR" sz="3600"/>
          </a:p>
        </p:txBody>
      </p:sp>
      <p:sp>
        <p:nvSpPr>
          <p:cNvPr id="89092" name="Rectangle 3"/>
          <p:cNvSpPr>
            <a:spLocks noGrp="1" noChangeArrowheads="1"/>
          </p:cNvSpPr>
          <p:nvPr>
            <p:ph type="subTitle" idx="1"/>
          </p:nvPr>
        </p:nvSpPr>
        <p:spPr>
          <a:xfrm>
            <a:off x="181155" y="1035169"/>
            <a:ext cx="11792309" cy="5778381"/>
          </a:xfrm>
        </p:spPr>
        <p:txBody>
          <a:bodyPr/>
          <a:lstStyle/>
          <a:p>
            <a:pPr algn="just" eaLnBrk="1" hangingPunct="1"/>
            <a:r>
              <a:rPr lang="pt-BR" altLang="pt-BR" dirty="0" smtClean="0"/>
              <a:t>Desenvolvimento e entrega incrementais não são a melhor abordagem para os Tipos de sistema: </a:t>
            </a:r>
          </a:p>
          <a:p>
            <a:pPr algn="just" eaLnBrk="1" hangingPunct="1"/>
            <a:r>
              <a:rPr lang="pt-BR" altLang="pt-BR" dirty="0" smtClean="0"/>
              <a:t>Sistemas grandes: equipes trabalhando em locais diferentes</a:t>
            </a:r>
          </a:p>
          <a:p>
            <a:pPr algn="just" eaLnBrk="1" hangingPunct="1"/>
            <a:r>
              <a:rPr lang="pt-BR" altLang="pt-BR" dirty="0" smtClean="0"/>
              <a:t>Sistemas embutidos: software depende do desenvolvimento de hardware, e de sistemas críticos. </a:t>
            </a:r>
            <a:r>
              <a:rPr lang="pt-BR" altLang="pt-BR" dirty="0"/>
              <a:t>R</a:t>
            </a:r>
            <a:r>
              <a:rPr lang="pt-BR" altLang="pt-BR" dirty="0" smtClean="0"/>
              <a:t>equisitos devem ser analisados na busca por interações capazes de comprometer a proteção ou a segurança. Problemas de requisitos incertos e mutáveis. </a:t>
            </a:r>
          </a:p>
          <a:p>
            <a:pPr algn="just" eaLnBrk="1" hangingPunct="1"/>
            <a:endParaRPr lang="pt-BR" altLang="pt-BR" dirty="0" smtClean="0"/>
          </a:p>
          <a:p>
            <a:pPr algn="just" eaLnBrk="1" hangingPunct="1"/>
            <a:r>
              <a:rPr lang="pt-BR" altLang="pt-BR" dirty="0" smtClean="0"/>
              <a:t>Solução e obtenção dos benefícios do desenvolvimento incremental:</a:t>
            </a:r>
          </a:p>
          <a:p>
            <a:pPr algn="just" eaLnBrk="1" hangingPunct="1"/>
            <a:r>
              <a:rPr lang="pt-BR" altLang="pt-BR" dirty="0" smtClean="0"/>
              <a:t>Usa-se processo de desenvolvimento interativo do protótipo de sistema como uma plataforma de experimentos com os requisitos e projeto do sistema. Com a experiência adquirida a partir do protótipo, requisitos definitivos podem ser acordados.</a:t>
            </a:r>
            <a:endParaRPr lang="pt-PT" altLang="pt-BR" dirty="0" smtClean="0"/>
          </a:p>
        </p:txBody>
      </p:sp>
    </p:spTree>
    <p:extLst>
      <p:ext uri="{BB962C8B-B14F-4D97-AF65-F5344CB8AC3E}">
        <p14:creationId xmlns:p14="http://schemas.microsoft.com/office/powerpoint/2010/main" val="246531310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D419B34-523A-4274-8F50-AB464E04BBE8}" type="slidenum">
              <a:rPr lang="pt-PT" altLang="pt-BR" sz="1400"/>
              <a:pPr>
                <a:spcBef>
                  <a:spcPct val="0"/>
                </a:spcBef>
                <a:buFontTx/>
                <a:buNone/>
              </a:pPr>
              <a:t>66</a:t>
            </a:fld>
            <a:endParaRPr lang="pt-PT" altLang="pt-BR" sz="1400"/>
          </a:p>
        </p:txBody>
      </p:sp>
      <p:sp>
        <p:nvSpPr>
          <p:cNvPr id="9011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Espiral de Boehm</a:t>
            </a:r>
            <a:endParaRPr lang="pt-PT" altLang="pt-BR" sz="3600"/>
          </a:p>
        </p:txBody>
      </p:sp>
      <p:sp>
        <p:nvSpPr>
          <p:cNvPr id="90116" name="Rectangle 3"/>
          <p:cNvSpPr>
            <a:spLocks noGrp="1" noChangeArrowheads="1"/>
          </p:cNvSpPr>
          <p:nvPr>
            <p:ph type="subTitle" idx="1"/>
          </p:nvPr>
        </p:nvSpPr>
        <p:spPr>
          <a:xfrm>
            <a:off x="69011" y="1143000"/>
            <a:ext cx="11809563" cy="5670552"/>
          </a:xfrm>
        </p:spPr>
        <p:txBody>
          <a:bodyPr/>
          <a:lstStyle/>
          <a:p>
            <a:pPr algn="just" eaLnBrk="1" hangingPunct="1"/>
            <a:r>
              <a:rPr lang="pt-BR" altLang="pt-BR" dirty="0" err="1" smtClean="0"/>
              <a:t>Boehm</a:t>
            </a:r>
            <a:r>
              <a:rPr lang="pt-BR" altLang="pt-BR" dirty="0" smtClean="0"/>
              <a:t> (1988): framework de processo de software dirigido a riscos (o modelo em espiral) </a:t>
            </a:r>
          </a:p>
          <a:p>
            <a:pPr algn="just" eaLnBrk="1" hangingPunct="1"/>
            <a:r>
              <a:rPr lang="pt-BR" altLang="pt-BR" dirty="0" smtClean="0"/>
              <a:t>Processo de software espiral: não uma sequência de atividades com alguns retornos de uma para outra</a:t>
            </a:r>
          </a:p>
          <a:p>
            <a:pPr algn="just" eaLnBrk="1" hangingPunct="1"/>
            <a:r>
              <a:rPr lang="pt-BR" altLang="pt-BR" dirty="0" smtClean="0"/>
              <a:t>Volta na espiral: fase do processo de software. </a:t>
            </a:r>
          </a:p>
          <a:p>
            <a:pPr algn="just" eaLnBrk="1" hangingPunct="1"/>
            <a:r>
              <a:rPr lang="pt-BR" altLang="pt-BR" dirty="0" smtClean="0"/>
              <a:t>Volta mais interna: viabilidade do sistema; </a:t>
            </a:r>
          </a:p>
          <a:p>
            <a:pPr algn="just" eaLnBrk="1" hangingPunct="1"/>
            <a:r>
              <a:rPr lang="pt-BR" altLang="pt-BR" dirty="0" smtClean="0"/>
              <a:t>O ciclo seguinte: definição de requisitos; </a:t>
            </a:r>
          </a:p>
          <a:p>
            <a:pPr algn="just" eaLnBrk="1" hangingPunct="1"/>
            <a:r>
              <a:rPr lang="pt-BR" altLang="pt-BR" dirty="0" smtClean="0"/>
              <a:t>O seguinte: projeto do sistema, e assim por diante. </a:t>
            </a:r>
          </a:p>
          <a:p>
            <a:pPr algn="just" eaLnBrk="1" hangingPunct="1"/>
            <a:r>
              <a:rPr lang="pt-BR" altLang="pt-BR" dirty="0" smtClean="0"/>
              <a:t>Modelo em espiral combina prevenção e tolerância a mudanças, assume que mudanças são um resultado de riscos de projeto e inclui atividades explícitas de gerenciamento de riscos para sua redução</a:t>
            </a:r>
            <a:endParaRPr lang="pt-PT" altLang="pt-BR" dirty="0" smtClean="0"/>
          </a:p>
        </p:txBody>
      </p:sp>
    </p:spTree>
    <p:extLst>
      <p:ext uri="{BB962C8B-B14F-4D97-AF65-F5344CB8AC3E}">
        <p14:creationId xmlns:p14="http://schemas.microsoft.com/office/powerpoint/2010/main" val="428691401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A5A7A34-3C15-441D-93E1-737EF606A80F}" type="slidenum">
              <a:rPr lang="pt-PT" altLang="pt-BR" sz="1400"/>
              <a:pPr>
                <a:spcBef>
                  <a:spcPct val="0"/>
                </a:spcBef>
                <a:buFontTx/>
                <a:buNone/>
              </a:pPr>
              <a:t>67</a:t>
            </a:fld>
            <a:endParaRPr lang="pt-PT" altLang="pt-BR" sz="1400"/>
          </a:p>
        </p:txBody>
      </p:sp>
      <p:sp>
        <p:nvSpPr>
          <p:cNvPr id="9113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Espiral de Boehm</a:t>
            </a:r>
            <a:endParaRPr lang="pt-PT" altLang="pt-BR" sz="3600"/>
          </a:p>
        </p:txBody>
      </p:sp>
      <p:pic>
        <p:nvPicPr>
          <p:cNvPr id="91140"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3413" y="1143001"/>
            <a:ext cx="8096250" cy="566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 name="Rectangle 3"/>
          <p:cNvSpPr>
            <a:spLocks noGrp="1" noChangeArrowheads="1"/>
          </p:cNvSpPr>
          <p:nvPr>
            <p:ph type="subTitle" idx="1"/>
          </p:nvPr>
        </p:nvSpPr>
        <p:spPr>
          <a:xfrm>
            <a:off x="1524001" y="981076"/>
            <a:ext cx="9180513" cy="5832475"/>
          </a:xfrm>
        </p:spPr>
        <p:txBody>
          <a:bodyPr/>
          <a:lstStyle/>
          <a:p>
            <a:pPr algn="just" eaLnBrk="1" hangingPunct="1"/>
            <a:endParaRPr lang="pt-PT" altLang="pt-BR" smtClean="0"/>
          </a:p>
        </p:txBody>
      </p:sp>
    </p:spTree>
    <p:extLst>
      <p:ext uri="{BB962C8B-B14F-4D97-AF65-F5344CB8AC3E}">
        <p14:creationId xmlns:p14="http://schemas.microsoft.com/office/powerpoint/2010/main" val="38977603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E148C0D-1CCC-4048-9892-0987CAA3DF32}" type="slidenum">
              <a:rPr lang="pt-PT" altLang="pt-BR" sz="1400"/>
              <a:pPr>
                <a:spcBef>
                  <a:spcPct val="0"/>
                </a:spcBef>
                <a:buFontTx/>
                <a:buNone/>
              </a:pPr>
              <a:t>68</a:t>
            </a:fld>
            <a:endParaRPr lang="pt-PT" altLang="pt-BR" sz="1400"/>
          </a:p>
        </p:txBody>
      </p:sp>
      <p:sp>
        <p:nvSpPr>
          <p:cNvPr id="9216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Espiral de Boehm</a:t>
            </a:r>
            <a:endParaRPr lang="pt-PT" altLang="pt-BR" sz="3600"/>
          </a:p>
        </p:txBody>
      </p:sp>
      <p:sp>
        <p:nvSpPr>
          <p:cNvPr id="71684" name="Rectangle 3"/>
          <p:cNvSpPr>
            <a:spLocks noGrp="1" noChangeArrowheads="1"/>
          </p:cNvSpPr>
          <p:nvPr>
            <p:ph type="subTitle" idx="1"/>
          </p:nvPr>
        </p:nvSpPr>
        <p:spPr>
          <a:xfrm>
            <a:off x="129396" y="1293961"/>
            <a:ext cx="11800935" cy="5519589"/>
          </a:xfrm>
        </p:spPr>
        <p:txBody>
          <a:bodyPr>
            <a:normAutofit lnSpcReduction="10000"/>
          </a:bodyPr>
          <a:lstStyle/>
          <a:p>
            <a:pPr algn="just" eaLnBrk="1" hangingPunct="1">
              <a:defRPr/>
            </a:pPr>
            <a:r>
              <a:rPr lang="pt-BR" dirty="0" smtClean="0"/>
              <a:t>Setores de cada </a:t>
            </a:r>
            <a:r>
              <a:rPr lang="pt-BR" dirty="0"/>
              <a:t>volta da </a:t>
            </a:r>
            <a:r>
              <a:rPr lang="pt-BR" dirty="0" smtClean="0"/>
              <a:t>espiral:</a:t>
            </a:r>
          </a:p>
          <a:p>
            <a:pPr marL="457200" indent="-457200" algn="just">
              <a:buFontTx/>
              <a:buAutoNum type="arabicPeriod"/>
              <a:defRPr/>
            </a:pPr>
            <a:r>
              <a:rPr lang="pt-BR" dirty="0" smtClean="0"/>
              <a:t>Definição </a:t>
            </a:r>
            <a:r>
              <a:rPr lang="pt-BR" dirty="0"/>
              <a:t>de </a:t>
            </a:r>
            <a:r>
              <a:rPr lang="pt-BR" dirty="0" smtClean="0"/>
              <a:t>objetivos específicos: identifica restrições </a:t>
            </a:r>
            <a:r>
              <a:rPr lang="pt-BR" dirty="0"/>
              <a:t>ao processo e ao </a:t>
            </a:r>
            <a:r>
              <a:rPr lang="pt-BR" dirty="0" smtClean="0"/>
              <a:t>produto, </a:t>
            </a:r>
            <a:r>
              <a:rPr lang="pt-BR" dirty="0"/>
              <a:t>e </a:t>
            </a:r>
            <a:r>
              <a:rPr lang="pt-BR" dirty="0" smtClean="0"/>
              <a:t>elabora de </a:t>
            </a:r>
            <a:r>
              <a:rPr lang="pt-BR" dirty="0"/>
              <a:t>plano de gerenciamento </a:t>
            </a:r>
            <a:r>
              <a:rPr lang="pt-BR" dirty="0" smtClean="0"/>
              <a:t>detalhado; </a:t>
            </a:r>
            <a:r>
              <a:rPr lang="pt-BR" dirty="0"/>
              <a:t>os riscos do projeto são identificados. Podem ser planejadas estratégias alternativas em função desses riscos</a:t>
            </a:r>
            <a:r>
              <a:rPr lang="pt-BR" dirty="0" smtClean="0"/>
              <a:t>.</a:t>
            </a:r>
          </a:p>
          <a:p>
            <a:pPr marL="457200" indent="-457200" algn="just">
              <a:buFontTx/>
              <a:buAutoNum type="arabicPeriod"/>
              <a:defRPr/>
            </a:pPr>
            <a:r>
              <a:rPr lang="pt-BR" dirty="0" smtClean="0"/>
              <a:t>Avaliação </a:t>
            </a:r>
            <a:r>
              <a:rPr lang="pt-BR" dirty="0"/>
              <a:t>e redução de </a:t>
            </a:r>
            <a:r>
              <a:rPr lang="pt-BR" dirty="0" smtClean="0"/>
              <a:t>riscos: </a:t>
            </a:r>
            <a:r>
              <a:rPr lang="pt-BR" dirty="0"/>
              <a:t>Para cada um dos riscos identificados do projeto, é feita uma análise detalhada. Medidas para redução do risco são tomadas. </a:t>
            </a:r>
            <a:r>
              <a:rPr lang="pt-BR" dirty="0" err="1" smtClean="0"/>
              <a:t>Ex</a:t>
            </a:r>
            <a:r>
              <a:rPr lang="pt-BR" dirty="0" smtClean="0"/>
              <a:t>: se </a:t>
            </a:r>
            <a:r>
              <a:rPr lang="pt-BR" dirty="0"/>
              <a:t>houver risco </a:t>
            </a:r>
            <a:r>
              <a:rPr lang="pt-BR" dirty="0" smtClean="0"/>
              <a:t>de requisitos </a:t>
            </a:r>
            <a:r>
              <a:rPr lang="pt-BR" dirty="0"/>
              <a:t>inadequados, um protótipo de sistema pode ser </a:t>
            </a:r>
            <a:r>
              <a:rPr lang="pt-BR" dirty="0" smtClean="0"/>
              <a:t>desenvolvido.</a:t>
            </a:r>
          </a:p>
          <a:p>
            <a:pPr algn="just"/>
            <a:r>
              <a:rPr lang="pt-BR" altLang="pt-BR" dirty="0"/>
              <a:t>3. Desenvolvimento e validação: Seleção de um modelo de desenvolvimento para o sistema. </a:t>
            </a:r>
            <a:r>
              <a:rPr lang="pt-BR" altLang="pt-BR" dirty="0" err="1" smtClean="0"/>
              <a:t>Ex</a:t>
            </a:r>
            <a:r>
              <a:rPr lang="pt-BR" altLang="pt-BR" dirty="0" smtClean="0"/>
              <a:t>: </a:t>
            </a:r>
            <a:r>
              <a:rPr lang="pt-BR" altLang="pt-BR" dirty="0"/>
              <a:t>prototipação descartável pode ser a melhor abordagem de desenvolvimento de interface de usuário se os riscos forem dominantes. Se os riscos de segurança forem a principal consideração, o desenvolvimento baseado em transformações formais pode ser o processo mais </a:t>
            </a:r>
            <a:r>
              <a:rPr lang="pt-BR" altLang="pt-BR" dirty="0" smtClean="0"/>
              <a:t>adequado. </a:t>
            </a:r>
            <a:r>
              <a:rPr lang="pt-BR" altLang="pt-BR" dirty="0"/>
              <a:t>Se o principal risco identificado for a integração de subsistemas, o modelo em cascata pode ser a melhor opção. </a:t>
            </a:r>
          </a:p>
          <a:p>
            <a:pPr algn="just"/>
            <a:r>
              <a:rPr lang="pt-BR" altLang="pt-BR" dirty="0"/>
              <a:t>4. Planejamento: O projeto é revisado, e uma decisão é tomada a respeito da continuidade do modelo com mais uma volta da espiral. Caso se decida pela continuidade, planos são elaborados para a próxima fase </a:t>
            </a:r>
            <a:endParaRPr lang="pt-PT" altLang="pt-BR" dirty="0"/>
          </a:p>
          <a:p>
            <a:pPr marL="457200" indent="-457200" algn="just">
              <a:buFontTx/>
              <a:buAutoNum type="arabicPeriod"/>
              <a:defRPr/>
            </a:pPr>
            <a:endParaRPr lang="pt-BR" dirty="0" smtClean="0"/>
          </a:p>
        </p:txBody>
      </p:sp>
    </p:spTree>
    <p:extLst>
      <p:ext uri="{BB962C8B-B14F-4D97-AF65-F5344CB8AC3E}">
        <p14:creationId xmlns:p14="http://schemas.microsoft.com/office/powerpoint/2010/main" val="373176609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284EB7D-2BBB-48F7-91EC-7CC17AE3759B}" type="slidenum">
              <a:rPr lang="pt-PT" altLang="pt-BR" sz="1400"/>
              <a:pPr>
                <a:spcBef>
                  <a:spcPct val="0"/>
                </a:spcBef>
                <a:buFontTx/>
                <a:buNone/>
              </a:pPr>
              <a:t>69</a:t>
            </a:fld>
            <a:endParaRPr lang="pt-PT" altLang="pt-BR" sz="1400"/>
          </a:p>
        </p:txBody>
      </p:sp>
      <p:sp>
        <p:nvSpPr>
          <p:cNvPr id="9421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Espiral de Boehm</a:t>
            </a:r>
            <a:endParaRPr lang="pt-PT" altLang="pt-BR" sz="3600"/>
          </a:p>
        </p:txBody>
      </p:sp>
      <p:sp>
        <p:nvSpPr>
          <p:cNvPr id="94212" name="Rectangle 3"/>
          <p:cNvSpPr>
            <a:spLocks noGrp="1" noChangeArrowheads="1"/>
          </p:cNvSpPr>
          <p:nvPr>
            <p:ph type="subTitle" idx="1"/>
          </p:nvPr>
        </p:nvSpPr>
        <p:spPr>
          <a:xfrm>
            <a:off x="181155" y="1009292"/>
            <a:ext cx="11740551" cy="5804260"/>
          </a:xfrm>
        </p:spPr>
        <p:txBody>
          <a:bodyPr/>
          <a:lstStyle/>
          <a:p>
            <a:pPr algn="just" eaLnBrk="1" hangingPunct="1"/>
            <a:r>
              <a:rPr lang="pt-BR" altLang="pt-BR" dirty="0" smtClean="0"/>
              <a:t>Diferença do modelo espiral e de outros modelos de processo de software: reconhecimento explícito do risco. </a:t>
            </a:r>
          </a:p>
          <a:p>
            <a:pPr algn="just" eaLnBrk="1" hangingPunct="1"/>
            <a:r>
              <a:rPr lang="pt-BR" altLang="pt-BR" dirty="0" smtClean="0"/>
              <a:t>Ciclo da espiral: começa com a definição de objetivos, como desempenho e funcionalidade. </a:t>
            </a:r>
          </a:p>
          <a:p>
            <a:pPr algn="just" eaLnBrk="1" hangingPunct="1"/>
            <a:r>
              <a:rPr lang="pt-BR" altLang="pt-BR" dirty="0" smtClean="0"/>
              <a:t>Em seguida, são enumeradas formas alternativas de atingir tais objetivos e de lidar com as restrições de cada um deles. </a:t>
            </a:r>
          </a:p>
          <a:p>
            <a:pPr algn="just" eaLnBrk="1" hangingPunct="1"/>
            <a:r>
              <a:rPr lang="pt-BR" altLang="pt-BR" dirty="0" smtClean="0"/>
              <a:t>Cada alternativa é avaliada em função de cada objetivo, e as fontes de risco do projeto são identificadas. </a:t>
            </a:r>
          </a:p>
          <a:p>
            <a:pPr algn="just" eaLnBrk="1" hangingPunct="1"/>
            <a:r>
              <a:rPr lang="pt-BR" altLang="pt-BR" dirty="0" smtClean="0"/>
              <a:t>O próximo passo é resolver esses riscos por meio de atividades de coleta de informações, como análise mais detalhada, prototipação e simulação. </a:t>
            </a:r>
            <a:endParaRPr lang="pt-PT" altLang="pt-BR" dirty="0" smtClean="0"/>
          </a:p>
        </p:txBody>
      </p:sp>
    </p:spTree>
    <p:extLst>
      <p:ext uri="{BB962C8B-B14F-4D97-AF65-F5344CB8AC3E}">
        <p14:creationId xmlns:p14="http://schemas.microsoft.com/office/powerpoint/2010/main" val="270625773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4E546F-939D-42DC-8D71-ECB7B2924A1D}" type="slidenum">
              <a:rPr lang="pt-PT" altLang="pt-BR" sz="1400"/>
              <a:pPr>
                <a:spcBef>
                  <a:spcPct val="0"/>
                </a:spcBef>
                <a:buFontTx/>
                <a:buNone/>
              </a:pPr>
              <a:t>70</a:t>
            </a:fld>
            <a:endParaRPr lang="pt-PT" altLang="pt-BR" sz="1400"/>
          </a:p>
        </p:txBody>
      </p:sp>
      <p:sp>
        <p:nvSpPr>
          <p:cNvPr id="9523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Modelo Espiral de Boehm</a:t>
            </a:r>
            <a:endParaRPr lang="pt-PT" altLang="pt-BR" sz="3600"/>
          </a:p>
        </p:txBody>
      </p:sp>
      <p:sp>
        <p:nvSpPr>
          <p:cNvPr id="95236" name="Rectangle 3"/>
          <p:cNvSpPr>
            <a:spLocks noGrp="1" noChangeArrowheads="1"/>
          </p:cNvSpPr>
          <p:nvPr>
            <p:ph type="subTitle" idx="1"/>
          </p:nvPr>
        </p:nvSpPr>
        <p:spPr>
          <a:xfrm>
            <a:off x="327804" y="1207698"/>
            <a:ext cx="11568021" cy="5605853"/>
          </a:xfrm>
        </p:spPr>
        <p:txBody>
          <a:bodyPr/>
          <a:lstStyle/>
          <a:p>
            <a:pPr algn="just" eaLnBrk="1" hangingPunct="1"/>
            <a:r>
              <a:rPr lang="pt-BR" altLang="pt-BR" dirty="0" smtClean="0"/>
              <a:t>Após a avaliação dos riscos: algum desenvolvimento é efetivado, seguido por uma atividade de planejamento para a próxima fase do processo. </a:t>
            </a:r>
          </a:p>
          <a:p>
            <a:pPr algn="just" eaLnBrk="1" hangingPunct="1"/>
            <a:r>
              <a:rPr lang="pt-BR" altLang="pt-BR" dirty="0" smtClean="0"/>
              <a:t>Risco: algo que pode dar errado. </a:t>
            </a:r>
          </a:p>
          <a:p>
            <a:pPr algn="just" eaLnBrk="1" hangingPunct="1"/>
            <a:r>
              <a:rPr lang="pt-BR" altLang="pt-BR" dirty="0" err="1" smtClean="0"/>
              <a:t>Ex</a:t>
            </a:r>
            <a:r>
              <a:rPr lang="pt-BR" altLang="pt-BR" dirty="0" smtClean="0"/>
              <a:t>: se a intenção é usar uma nova linguagem de programação, um risco é o de os compiladores disponíveis não serem confiáveis ou não produzirem um código-objeto eficiente o bastante. </a:t>
            </a:r>
          </a:p>
          <a:p>
            <a:pPr algn="just" eaLnBrk="1" hangingPunct="1"/>
            <a:r>
              <a:rPr lang="pt-BR" altLang="pt-BR" dirty="0" smtClean="0"/>
              <a:t>Riscos levam a mudanças no software e problemas de projeto, como estouro de prazos e custos. </a:t>
            </a:r>
          </a:p>
          <a:p>
            <a:pPr algn="just" eaLnBrk="1" hangingPunct="1"/>
            <a:r>
              <a:rPr lang="pt-BR" altLang="pt-BR" dirty="0" smtClean="0"/>
              <a:t>Gerenciamento de riscos constitui-se uma das partes essenciais do gerenciamento de projetos</a:t>
            </a:r>
            <a:endParaRPr lang="pt-PT" altLang="pt-BR" dirty="0" smtClean="0"/>
          </a:p>
        </p:txBody>
      </p:sp>
    </p:spTree>
    <p:extLst>
      <p:ext uri="{BB962C8B-B14F-4D97-AF65-F5344CB8AC3E}">
        <p14:creationId xmlns:p14="http://schemas.microsoft.com/office/powerpoint/2010/main" val="22376049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AFE9871-ECB4-41FE-ADD2-2AC877D52326}" type="slidenum">
              <a:rPr lang="pt-PT" altLang="pt-BR" sz="1400"/>
              <a:pPr>
                <a:spcBef>
                  <a:spcPct val="0"/>
                </a:spcBef>
                <a:buFontTx/>
                <a:buNone/>
              </a:pPr>
              <a:t>71</a:t>
            </a:fld>
            <a:endParaRPr lang="pt-PT" altLang="pt-BR" sz="1400"/>
          </a:p>
        </p:txBody>
      </p:sp>
      <p:sp>
        <p:nvSpPr>
          <p:cNvPr id="96259" name="Rectangle 2"/>
          <p:cNvSpPr>
            <a:spLocks noGrp="1" noChangeArrowheads="1"/>
          </p:cNvSpPr>
          <p:nvPr>
            <p:ph type="ctrTitle"/>
          </p:nvPr>
        </p:nvSpPr>
        <p:spPr>
          <a:xfrm>
            <a:off x="1343026" y="0"/>
            <a:ext cx="9217025" cy="1143000"/>
          </a:xfrm>
        </p:spPr>
        <p:txBody>
          <a:bodyPr anchor="ctr"/>
          <a:lstStyle/>
          <a:p>
            <a:pPr eaLnBrk="1" hangingPunct="1"/>
            <a:r>
              <a:rPr lang="pt-BR" altLang="pt-BR" sz="3600" dirty="0"/>
              <a:t>2 Processos de Software – </a:t>
            </a:r>
            <a:r>
              <a:rPr lang="pt-BR" altLang="pt-BR" sz="3600" dirty="0" err="1"/>
              <a:t>Rational</a:t>
            </a:r>
            <a:r>
              <a:rPr lang="pt-BR" altLang="pt-BR" sz="3600" dirty="0"/>
              <a:t> </a:t>
            </a:r>
            <a:r>
              <a:rPr lang="pt-BR" altLang="pt-BR" sz="3600" dirty="0" err="1" smtClean="0"/>
              <a:t>Unified</a:t>
            </a:r>
            <a:r>
              <a:rPr lang="pt-BR" altLang="pt-BR" sz="3600" dirty="0" smtClean="0"/>
              <a:t> </a:t>
            </a:r>
            <a:r>
              <a:rPr lang="pt-BR" altLang="pt-BR" sz="3600" dirty="0" err="1"/>
              <a:t>Process</a:t>
            </a:r>
            <a:r>
              <a:rPr lang="pt-BR" altLang="pt-BR" sz="3600" dirty="0"/>
              <a:t> (RUP) </a:t>
            </a:r>
            <a:endParaRPr lang="pt-PT" altLang="pt-BR" sz="3600" dirty="0"/>
          </a:p>
        </p:txBody>
      </p:sp>
      <p:sp>
        <p:nvSpPr>
          <p:cNvPr id="71684" name="Rectangle 3"/>
          <p:cNvSpPr>
            <a:spLocks noGrp="1" noChangeArrowheads="1"/>
          </p:cNvSpPr>
          <p:nvPr>
            <p:ph type="subTitle" idx="1"/>
          </p:nvPr>
        </p:nvSpPr>
        <p:spPr>
          <a:xfrm>
            <a:off x="241540" y="1242204"/>
            <a:ext cx="11637033" cy="5571347"/>
          </a:xfrm>
        </p:spPr>
        <p:txBody>
          <a:bodyPr/>
          <a:lstStyle/>
          <a:p>
            <a:pPr algn="just" eaLnBrk="1" hangingPunct="1">
              <a:defRPr/>
            </a:pPr>
            <a:r>
              <a:rPr lang="pt-BR" dirty="0"/>
              <a:t>M</a:t>
            </a:r>
            <a:r>
              <a:rPr lang="pt-BR" dirty="0" smtClean="0"/>
              <a:t>odelo </a:t>
            </a:r>
            <a:r>
              <a:rPr lang="pt-BR" dirty="0"/>
              <a:t>de </a:t>
            </a:r>
            <a:r>
              <a:rPr lang="pt-BR" dirty="0" smtClean="0"/>
              <a:t>processo derivado </a:t>
            </a:r>
            <a:r>
              <a:rPr lang="pt-BR" dirty="0"/>
              <a:t>de trabalhos d</a:t>
            </a:r>
            <a:r>
              <a:rPr lang="pt-BR" dirty="0" smtClean="0"/>
              <a:t>a </a:t>
            </a:r>
            <a:r>
              <a:rPr lang="pt-BR" dirty="0"/>
              <a:t>UML e </a:t>
            </a:r>
            <a:r>
              <a:rPr lang="pt-BR" dirty="0" smtClean="0"/>
              <a:t>do </a:t>
            </a:r>
            <a:r>
              <a:rPr lang="pt-BR" dirty="0" err="1"/>
              <a:t>Unified</a:t>
            </a:r>
            <a:r>
              <a:rPr lang="pt-BR" dirty="0"/>
              <a:t> Software </a:t>
            </a:r>
            <a:r>
              <a:rPr lang="pt-BR" dirty="0" err="1"/>
              <a:t>Development</a:t>
            </a:r>
            <a:r>
              <a:rPr lang="pt-BR" dirty="0"/>
              <a:t> </a:t>
            </a:r>
            <a:r>
              <a:rPr lang="pt-BR" dirty="0" err="1"/>
              <a:t>Process</a:t>
            </a:r>
            <a:r>
              <a:rPr lang="pt-BR" dirty="0"/>
              <a:t> </a:t>
            </a:r>
            <a:r>
              <a:rPr lang="pt-BR" dirty="0" smtClean="0"/>
              <a:t>associado: processo híbrido</a:t>
            </a:r>
            <a:endParaRPr lang="pt-BR" dirty="0"/>
          </a:p>
          <a:p>
            <a:pPr algn="just" eaLnBrk="1" hangingPunct="1">
              <a:defRPr/>
            </a:pPr>
            <a:endParaRPr lang="pt-BR" dirty="0" smtClean="0"/>
          </a:p>
          <a:p>
            <a:pPr algn="just" eaLnBrk="1" hangingPunct="1">
              <a:defRPr/>
            </a:pPr>
            <a:r>
              <a:rPr lang="pt-BR" dirty="0" smtClean="0"/>
              <a:t> </a:t>
            </a:r>
            <a:r>
              <a:rPr lang="pt-BR" dirty="0"/>
              <a:t>R</a:t>
            </a:r>
            <a:r>
              <a:rPr lang="pt-BR" dirty="0" smtClean="0"/>
              <a:t>eúne elementos dos </a:t>
            </a:r>
            <a:r>
              <a:rPr lang="pt-BR" dirty="0"/>
              <a:t>modelos de processo </a:t>
            </a:r>
            <a:r>
              <a:rPr lang="pt-BR" dirty="0" smtClean="0"/>
              <a:t>genéricos, </a:t>
            </a:r>
            <a:r>
              <a:rPr lang="pt-BR" dirty="0"/>
              <a:t>ilustra boas práticas na especificação e no </a:t>
            </a:r>
            <a:r>
              <a:rPr lang="pt-BR" dirty="0" smtClean="0"/>
              <a:t>projeto, </a:t>
            </a:r>
            <a:r>
              <a:rPr lang="pt-BR" dirty="0"/>
              <a:t>apoia a prototipação e a entrega </a:t>
            </a:r>
            <a:r>
              <a:rPr lang="pt-BR" dirty="0" smtClean="0"/>
              <a:t>incremental.</a:t>
            </a:r>
          </a:p>
          <a:p>
            <a:pPr algn="just" eaLnBrk="1" hangingPunct="1">
              <a:defRPr/>
            </a:pPr>
            <a:r>
              <a:rPr lang="pt-BR" dirty="0"/>
              <a:t>R</a:t>
            </a:r>
            <a:r>
              <a:rPr lang="pt-BR" dirty="0" smtClean="0"/>
              <a:t>econhece </a:t>
            </a:r>
            <a:r>
              <a:rPr lang="pt-BR" dirty="0"/>
              <a:t>que os modelos de processo convencionais apresentam uma visão única do processo. </a:t>
            </a:r>
            <a:endParaRPr lang="pt-BR" dirty="0" smtClean="0"/>
          </a:p>
          <a:p>
            <a:pPr algn="just" eaLnBrk="1" hangingPunct="1">
              <a:defRPr/>
            </a:pPr>
            <a:r>
              <a:rPr lang="pt-BR" dirty="0"/>
              <a:t>D</a:t>
            </a:r>
            <a:r>
              <a:rPr lang="pt-BR" dirty="0" smtClean="0"/>
              <a:t>escrito </a:t>
            </a:r>
            <a:r>
              <a:rPr lang="pt-BR" dirty="0"/>
              <a:t>em três perspectivas: </a:t>
            </a:r>
            <a:endParaRPr lang="pt-BR" dirty="0" smtClean="0"/>
          </a:p>
          <a:p>
            <a:pPr marL="457200" indent="-457200" algn="just">
              <a:buFontTx/>
              <a:buAutoNum type="arabicPeriod"/>
              <a:defRPr/>
            </a:pPr>
            <a:r>
              <a:rPr lang="pt-BR" dirty="0" smtClean="0"/>
              <a:t>Dinâmica: </a:t>
            </a:r>
            <a:r>
              <a:rPr lang="pt-BR" dirty="0"/>
              <a:t>mostra as fases do modelo ao longo do tempo. </a:t>
            </a:r>
            <a:endParaRPr lang="pt-BR" dirty="0" smtClean="0"/>
          </a:p>
          <a:p>
            <a:pPr marL="457200" indent="-457200" algn="just">
              <a:buFontTx/>
              <a:buAutoNum type="arabicPeriod"/>
              <a:defRPr/>
            </a:pPr>
            <a:r>
              <a:rPr lang="pt-BR" dirty="0" smtClean="0"/>
              <a:t>Estática: </a:t>
            </a:r>
            <a:r>
              <a:rPr lang="pt-BR" dirty="0"/>
              <a:t>mostra as atividades </a:t>
            </a:r>
            <a:r>
              <a:rPr lang="pt-BR" dirty="0" smtClean="0"/>
              <a:t>realizadas </a:t>
            </a:r>
            <a:r>
              <a:rPr lang="pt-BR" dirty="0"/>
              <a:t>no processo. </a:t>
            </a:r>
            <a:endParaRPr lang="pt-BR" dirty="0" smtClean="0"/>
          </a:p>
          <a:p>
            <a:pPr marL="457200" indent="-457200" algn="just">
              <a:buFontTx/>
              <a:buAutoNum type="arabicPeriod"/>
              <a:defRPr/>
            </a:pPr>
            <a:r>
              <a:rPr lang="pt-BR" dirty="0" smtClean="0"/>
              <a:t>Prática: </a:t>
            </a:r>
            <a:r>
              <a:rPr lang="pt-BR" dirty="0"/>
              <a:t>sugere boas práticas a serem usadas durante o processo</a:t>
            </a:r>
            <a:endParaRPr lang="pt-PT" altLang="pt-BR" dirty="0" smtClean="0"/>
          </a:p>
        </p:txBody>
      </p:sp>
    </p:spTree>
    <p:extLst>
      <p:ext uri="{BB962C8B-B14F-4D97-AF65-F5344CB8AC3E}">
        <p14:creationId xmlns:p14="http://schemas.microsoft.com/office/powerpoint/2010/main" val="321534411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3E75BE9-5A97-4218-95E6-B15E9EEEDECB}" type="slidenum">
              <a:rPr lang="pt-PT" altLang="pt-BR" sz="1400"/>
              <a:pPr>
                <a:spcBef>
                  <a:spcPct val="0"/>
                </a:spcBef>
                <a:buFontTx/>
                <a:buNone/>
              </a:pPr>
              <a:t>72</a:t>
            </a:fld>
            <a:endParaRPr lang="pt-PT" altLang="pt-BR" sz="1400"/>
          </a:p>
        </p:txBody>
      </p:sp>
      <p:sp>
        <p:nvSpPr>
          <p:cNvPr id="9728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71684" name="Rectangle 3"/>
          <p:cNvSpPr>
            <a:spLocks noGrp="1" noChangeArrowheads="1"/>
          </p:cNvSpPr>
          <p:nvPr>
            <p:ph type="subTitle" idx="1"/>
          </p:nvPr>
        </p:nvSpPr>
        <p:spPr>
          <a:xfrm>
            <a:off x="207034" y="1483743"/>
            <a:ext cx="11714671" cy="5329808"/>
          </a:xfrm>
        </p:spPr>
        <p:txBody>
          <a:bodyPr/>
          <a:lstStyle/>
          <a:p>
            <a:pPr algn="just" eaLnBrk="1" hangingPunct="1">
              <a:defRPr/>
            </a:pPr>
            <a:r>
              <a:rPr lang="pt-BR" dirty="0" smtClean="0"/>
              <a:t>Modelo </a:t>
            </a:r>
            <a:r>
              <a:rPr lang="pt-BR" dirty="0"/>
              <a:t>constituído </a:t>
            </a:r>
            <a:r>
              <a:rPr lang="pt-BR" dirty="0" smtClean="0"/>
              <a:t>de 4 fases. </a:t>
            </a:r>
            <a:r>
              <a:rPr lang="pt-BR" dirty="0"/>
              <a:t>A</a:t>
            </a:r>
            <a:r>
              <a:rPr lang="pt-BR" dirty="0" smtClean="0"/>
              <a:t>o </a:t>
            </a:r>
            <a:r>
              <a:rPr lang="pt-BR" dirty="0"/>
              <a:t>contrário do modelo em </a:t>
            </a:r>
            <a:r>
              <a:rPr lang="pt-BR" dirty="0" smtClean="0"/>
              <a:t>cascata (fases </a:t>
            </a:r>
            <a:r>
              <a:rPr lang="pt-BR" dirty="0"/>
              <a:t>são equalizadas com as atividades do </a:t>
            </a:r>
            <a:r>
              <a:rPr lang="pt-BR" dirty="0" smtClean="0"/>
              <a:t>processo), </a:t>
            </a:r>
            <a:r>
              <a:rPr lang="pt-BR" dirty="0"/>
              <a:t>as fases do RUP são estreitamente relacionadas ao negócio, e não a assuntos técnicos. </a:t>
            </a:r>
            <a:endParaRPr lang="pt-BR" dirty="0" smtClean="0"/>
          </a:p>
          <a:p>
            <a:pPr algn="just" eaLnBrk="1" hangingPunct="1">
              <a:defRPr/>
            </a:pPr>
            <a:r>
              <a:rPr lang="pt-BR" dirty="0" smtClean="0"/>
              <a:t>São </a:t>
            </a:r>
            <a:r>
              <a:rPr lang="pt-BR" dirty="0"/>
              <a:t>elas: </a:t>
            </a:r>
            <a:endParaRPr lang="pt-BR" dirty="0" smtClean="0"/>
          </a:p>
          <a:p>
            <a:pPr marL="457200" indent="-457200" algn="just">
              <a:buFontTx/>
              <a:buAutoNum type="arabicPeriod"/>
              <a:defRPr/>
            </a:pPr>
            <a:r>
              <a:rPr lang="pt-BR" dirty="0" smtClean="0"/>
              <a:t>Concepção: estabelece </a:t>
            </a:r>
            <a:r>
              <a:rPr lang="pt-BR" dirty="0"/>
              <a:t>um business case para o sistema. </a:t>
            </a:r>
            <a:r>
              <a:rPr lang="pt-BR" dirty="0" smtClean="0"/>
              <a:t>Deve-se identificar </a:t>
            </a:r>
            <a:r>
              <a:rPr lang="pt-BR" dirty="0"/>
              <a:t>todas as entidades externas (pessoas e sistemas) que vão interagir com o sistema e definir as </a:t>
            </a:r>
            <a:r>
              <a:rPr lang="pt-BR" dirty="0" smtClean="0"/>
              <a:t>interações para </a:t>
            </a:r>
            <a:r>
              <a:rPr lang="pt-BR" dirty="0"/>
              <a:t>avaliar a contribuição do sistema para o negócio. Se essa </a:t>
            </a:r>
            <a:r>
              <a:rPr lang="pt-BR" dirty="0" smtClean="0"/>
              <a:t>contribuição </a:t>
            </a:r>
            <a:r>
              <a:rPr lang="pt-BR" dirty="0"/>
              <a:t>for pequena, então o projeto poderá ser cancelado depois dessa fase. </a:t>
            </a:r>
            <a:endParaRPr lang="pt-BR" dirty="0" smtClean="0"/>
          </a:p>
          <a:p>
            <a:pPr marL="457200" indent="-457200" algn="just">
              <a:buFontTx/>
              <a:buAutoNum type="arabicPeriod"/>
              <a:defRPr/>
            </a:pPr>
            <a:r>
              <a:rPr lang="pt-BR" dirty="0" smtClean="0"/>
              <a:t>Elaboração: desenvolver </a:t>
            </a:r>
            <a:r>
              <a:rPr lang="pt-BR" dirty="0"/>
              <a:t>uma compreensão do problema dominante, </a:t>
            </a:r>
            <a:r>
              <a:rPr lang="pt-BR" dirty="0" smtClean="0"/>
              <a:t>estabelecer </a:t>
            </a:r>
            <a:r>
              <a:rPr lang="pt-BR" dirty="0"/>
              <a:t>um framework da arquitetura para o sistema, desenvolver o plano do projeto e identificar os maiores riscos do projeto. </a:t>
            </a:r>
            <a:r>
              <a:rPr lang="pt-BR" dirty="0" smtClean="0"/>
              <a:t>Obtém-se </a:t>
            </a:r>
            <a:r>
              <a:rPr lang="pt-BR" dirty="0"/>
              <a:t>modelo de requisitos </a:t>
            </a:r>
            <a:r>
              <a:rPr lang="pt-BR" dirty="0" smtClean="0"/>
              <a:t>do sistema (conjunto </a:t>
            </a:r>
            <a:r>
              <a:rPr lang="pt-BR" dirty="0"/>
              <a:t>de casos de uso da UML, </a:t>
            </a:r>
            <a:r>
              <a:rPr lang="pt-BR" dirty="0" smtClean="0"/>
              <a:t>descrição </a:t>
            </a:r>
            <a:r>
              <a:rPr lang="pt-BR" dirty="0"/>
              <a:t>da arquitetura </a:t>
            </a:r>
            <a:r>
              <a:rPr lang="pt-BR" dirty="0" smtClean="0"/>
              <a:t>ou </a:t>
            </a:r>
            <a:r>
              <a:rPr lang="pt-BR" dirty="0"/>
              <a:t>plano de desenvolvimento do </a:t>
            </a:r>
            <a:r>
              <a:rPr lang="pt-BR" dirty="0" smtClean="0"/>
              <a:t>software)</a:t>
            </a:r>
            <a:endParaRPr lang="pt-PT" altLang="pt-BR" dirty="0" smtClean="0"/>
          </a:p>
        </p:txBody>
      </p:sp>
    </p:spTree>
    <p:extLst>
      <p:ext uri="{BB962C8B-B14F-4D97-AF65-F5344CB8AC3E}">
        <p14:creationId xmlns:p14="http://schemas.microsoft.com/office/powerpoint/2010/main" val="21743882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B76862D-345C-4258-922D-543FB8E982DB}" type="slidenum">
              <a:rPr lang="pt-PT" altLang="pt-BR" sz="1400"/>
              <a:pPr>
                <a:spcBef>
                  <a:spcPct val="0"/>
                </a:spcBef>
                <a:buFontTx/>
                <a:buNone/>
              </a:pPr>
              <a:t>73</a:t>
            </a:fld>
            <a:endParaRPr lang="pt-PT" altLang="pt-BR" sz="1400"/>
          </a:p>
        </p:txBody>
      </p:sp>
      <p:sp>
        <p:nvSpPr>
          <p:cNvPr id="9830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98308" name="Rectangle 3"/>
          <p:cNvSpPr>
            <a:spLocks noGrp="1" noChangeArrowheads="1"/>
          </p:cNvSpPr>
          <p:nvPr>
            <p:ph type="subTitle" idx="1"/>
          </p:nvPr>
        </p:nvSpPr>
        <p:spPr>
          <a:xfrm>
            <a:off x="310551" y="1371599"/>
            <a:ext cx="11723298" cy="5441951"/>
          </a:xfrm>
        </p:spPr>
        <p:txBody>
          <a:bodyPr/>
          <a:lstStyle/>
          <a:p>
            <a:pPr algn="just" eaLnBrk="1" hangingPunct="1"/>
            <a:r>
              <a:rPr lang="pt-BR" altLang="pt-BR" dirty="0" smtClean="0"/>
              <a:t>Fases: São elas: </a:t>
            </a:r>
          </a:p>
          <a:p>
            <a:pPr algn="just" eaLnBrk="1" hangingPunct="1"/>
            <a:r>
              <a:rPr lang="pt-BR" altLang="pt-BR" dirty="0" smtClean="0"/>
              <a:t>3. Construção: projeto, programação e testes do sistema. As partes do sistema são desenvolvidas em paralelo e integradas. Na conclusão dessa fase, o sistema já estará funcionando, e a documentação associada pronta para ser entregue aos usuários. </a:t>
            </a:r>
          </a:p>
          <a:p>
            <a:pPr algn="just" eaLnBrk="1" hangingPunct="1"/>
            <a:r>
              <a:rPr lang="pt-BR" altLang="pt-BR" dirty="0" smtClean="0"/>
              <a:t>4. Transição: fase final que implica transferência do sistema da comunidade de desenvolvimento para a comunidade de usuários, funcionando em um ambiente real. Isso é ignorado na maioria dos modelos de processo de software. É atividade cara e, às vezes, problemática. Na conclusão dessa fase, tem-se um sistema de software documentado e funcionando corretamente em seu ambiente operacional.</a:t>
            </a:r>
            <a:endParaRPr lang="pt-PT" altLang="pt-BR" dirty="0" smtClean="0"/>
          </a:p>
        </p:txBody>
      </p:sp>
    </p:spTree>
    <p:extLst>
      <p:ext uri="{BB962C8B-B14F-4D97-AF65-F5344CB8AC3E}">
        <p14:creationId xmlns:p14="http://schemas.microsoft.com/office/powerpoint/2010/main" val="132840741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00AD85D-DEA2-48E5-B99D-CCE9910116BF}" type="slidenum">
              <a:rPr lang="pt-PT" altLang="pt-BR" sz="1400"/>
              <a:pPr>
                <a:spcBef>
                  <a:spcPct val="0"/>
                </a:spcBef>
                <a:buFontTx/>
                <a:buNone/>
              </a:pPr>
              <a:t>74</a:t>
            </a:fld>
            <a:endParaRPr lang="pt-PT" altLang="pt-BR" sz="1400"/>
          </a:p>
        </p:txBody>
      </p:sp>
      <p:sp>
        <p:nvSpPr>
          <p:cNvPr id="9933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pic>
        <p:nvPicPr>
          <p:cNvPr id="99332"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3" name="Rectangle 3"/>
          <p:cNvSpPr>
            <a:spLocks noGrp="1" noChangeArrowheads="1"/>
          </p:cNvSpPr>
          <p:nvPr>
            <p:ph type="subTitle" idx="1"/>
          </p:nvPr>
        </p:nvSpPr>
        <p:spPr>
          <a:xfrm>
            <a:off x="1774825" y="1628776"/>
            <a:ext cx="8929688" cy="5184775"/>
          </a:xfrm>
        </p:spPr>
        <p:txBody>
          <a:bodyPr/>
          <a:lstStyle/>
          <a:p>
            <a:pPr algn="just" eaLnBrk="1" hangingPunct="1"/>
            <a:endParaRPr lang="pt-PT" altLang="pt-BR" smtClean="0"/>
          </a:p>
        </p:txBody>
      </p:sp>
    </p:spTree>
    <p:extLst>
      <p:ext uri="{BB962C8B-B14F-4D97-AF65-F5344CB8AC3E}">
        <p14:creationId xmlns:p14="http://schemas.microsoft.com/office/powerpoint/2010/main" val="393651395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2AE45B4-D602-4E61-84E9-C6D3D4002475}" type="slidenum">
              <a:rPr lang="pt-PT" altLang="pt-BR" sz="1400"/>
              <a:pPr>
                <a:spcBef>
                  <a:spcPct val="0"/>
                </a:spcBef>
                <a:buFontTx/>
                <a:buNone/>
              </a:pPr>
              <a:t>75</a:t>
            </a:fld>
            <a:endParaRPr lang="pt-PT" altLang="pt-BR" sz="1400"/>
          </a:p>
        </p:txBody>
      </p:sp>
      <p:sp>
        <p:nvSpPr>
          <p:cNvPr id="10035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100356" name="Rectangle 3"/>
          <p:cNvSpPr>
            <a:spLocks noGrp="1" noChangeArrowheads="1"/>
          </p:cNvSpPr>
          <p:nvPr>
            <p:ph type="subTitle" idx="1"/>
          </p:nvPr>
        </p:nvSpPr>
        <p:spPr>
          <a:xfrm>
            <a:off x="224287" y="1302589"/>
            <a:ext cx="11723298" cy="5510962"/>
          </a:xfrm>
        </p:spPr>
        <p:txBody>
          <a:bodyPr/>
          <a:lstStyle/>
          <a:p>
            <a:pPr algn="just" eaLnBrk="1" hangingPunct="1"/>
            <a:r>
              <a:rPr lang="pt-BR" altLang="pt-BR" dirty="0" smtClean="0"/>
              <a:t>Iteração é apoiada de duas maneiras:</a:t>
            </a:r>
          </a:p>
          <a:p>
            <a:pPr algn="just" eaLnBrk="1" hangingPunct="1"/>
            <a:r>
              <a:rPr lang="pt-BR" altLang="pt-BR" dirty="0" smtClean="0"/>
              <a:t>1)Cada fase pode ser executada de forma iterativa com os resultados desenvolvidos de forma incremental. </a:t>
            </a:r>
          </a:p>
          <a:p>
            <a:pPr algn="just" eaLnBrk="1" hangingPunct="1"/>
            <a:r>
              <a:rPr lang="pt-BR" altLang="pt-BR" dirty="0" smtClean="0"/>
              <a:t>2)Todo o conjunto de fases pode ser executado de forma incremental.</a:t>
            </a:r>
          </a:p>
          <a:p>
            <a:pPr algn="just" eaLnBrk="1" hangingPunct="1"/>
            <a:endParaRPr lang="pt-BR" altLang="pt-BR" dirty="0" smtClean="0"/>
          </a:p>
          <a:p>
            <a:pPr algn="just" eaLnBrk="1" hangingPunct="1"/>
            <a:r>
              <a:rPr lang="pt-BR" altLang="pt-BR" dirty="0" smtClean="0"/>
              <a:t>Visão estática: prioriza as atividades que ocorrem durante o processo de desenvolvimento, chamadas workflows </a:t>
            </a:r>
          </a:p>
          <a:p>
            <a:pPr algn="just" eaLnBrk="1" hangingPunct="1"/>
            <a:r>
              <a:rPr lang="pt-BR" altLang="pt-BR" dirty="0" smtClean="0"/>
              <a:t>Projetado em conjunto com a UML: a descrição do workflow é orientada com modelos associados à UML (modelos de sequência, modelos de objetos </a:t>
            </a:r>
            <a:r>
              <a:rPr lang="pt-BR" altLang="pt-BR" dirty="0" err="1" smtClean="0"/>
              <a:t>etc</a:t>
            </a:r>
            <a:r>
              <a:rPr lang="pt-BR" altLang="pt-BR" dirty="0" smtClean="0"/>
              <a:t>). </a:t>
            </a:r>
            <a:endParaRPr lang="pt-PT" altLang="pt-BR" dirty="0" smtClean="0"/>
          </a:p>
        </p:txBody>
      </p:sp>
    </p:spTree>
    <p:extLst>
      <p:ext uri="{BB962C8B-B14F-4D97-AF65-F5344CB8AC3E}">
        <p14:creationId xmlns:p14="http://schemas.microsoft.com/office/powerpoint/2010/main" val="50786741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49E8392-5C03-40B6-A702-3B39B11AFAE7}" type="slidenum">
              <a:rPr lang="pt-PT" altLang="pt-BR" sz="1400"/>
              <a:pPr>
                <a:spcBef>
                  <a:spcPct val="0"/>
                </a:spcBef>
                <a:buFontTx/>
                <a:buNone/>
              </a:pPr>
              <a:t>76</a:t>
            </a:fld>
            <a:endParaRPr lang="pt-PT" altLang="pt-BR" sz="1400"/>
          </a:p>
        </p:txBody>
      </p:sp>
      <p:sp>
        <p:nvSpPr>
          <p:cNvPr id="10137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101380" name="Rectangle 3"/>
          <p:cNvSpPr>
            <a:spLocks noGrp="1" noChangeArrowheads="1"/>
          </p:cNvSpPr>
          <p:nvPr>
            <p:ph type="subTitle" idx="1"/>
          </p:nvPr>
        </p:nvSpPr>
        <p:spPr>
          <a:xfrm>
            <a:off x="189781" y="1142999"/>
            <a:ext cx="11852694" cy="5670551"/>
          </a:xfrm>
        </p:spPr>
        <p:txBody>
          <a:bodyPr/>
          <a:lstStyle/>
          <a:p>
            <a:pPr algn="just" eaLnBrk="1" hangingPunct="1"/>
            <a:r>
              <a:rPr lang="pt-BR" altLang="pt-BR" dirty="0" smtClean="0"/>
              <a:t>WORKFLOW  e DESCRIÇÃO</a:t>
            </a:r>
          </a:p>
          <a:p>
            <a:pPr algn="just" eaLnBrk="1" hangingPunct="1"/>
            <a:r>
              <a:rPr lang="pt-BR" altLang="pt-BR" dirty="0" smtClean="0"/>
              <a:t>1) Modelagem de negócios:  Os processos de negócio são modelados com casos de uso.</a:t>
            </a:r>
          </a:p>
          <a:p>
            <a:pPr algn="just" eaLnBrk="1" hangingPunct="1"/>
            <a:r>
              <a:rPr lang="pt-BR" altLang="pt-BR" dirty="0" smtClean="0"/>
              <a:t>2) Requisitos: Atores que interagem com o sistema são identificados e casos de uso são desenvolvidos para modelar os  requisitos do sistema.</a:t>
            </a:r>
          </a:p>
          <a:p>
            <a:pPr algn="just" eaLnBrk="1" hangingPunct="1"/>
            <a:r>
              <a:rPr lang="pt-BR" altLang="pt-BR" dirty="0" smtClean="0"/>
              <a:t>3) Análise e projeto: Um modelo de projeto é criado e documentado com modelos de arquitetura, modelos de componentes,  modelos de objetos e modelos de sequência.</a:t>
            </a:r>
          </a:p>
          <a:p>
            <a:pPr algn="just" eaLnBrk="1" hangingPunct="1"/>
            <a:r>
              <a:rPr lang="pt-BR" altLang="pt-BR" dirty="0" smtClean="0"/>
              <a:t>4)Implementação: Os componentes do sistema são implementados e estruturados em subsistemas de implementação. A  geração automática de código a partir de modelos de projeto ajuda a acelerar esse processo.</a:t>
            </a:r>
          </a:p>
          <a:p>
            <a:pPr algn="just" eaLnBrk="1" hangingPunct="1"/>
            <a:r>
              <a:rPr lang="pt-BR" altLang="pt-BR" dirty="0" smtClean="0"/>
              <a:t>5) Teste: processo iterativo feito em conjunto com a implementação. O teste do sistema segue a conclusão da implementação.</a:t>
            </a:r>
          </a:p>
          <a:p>
            <a:pPr algn="just" eaLnBrk="1" hangingPunct="1"/>
            <a:endParaRPr lang="pt-PT" altLang="pt-BR" dirty="0" smtClean="0"/>
          </a:p>
        </p:txBody>
      </p:sp>
    </p:spTree>
    <p:extLst>
      <p:ext uri="{BB962C8B-B14F-4D97-AF65-F5344CB8AC3E}">
        <p14:creationId xmlns:p14="http://schemas.microsoft.com/office/powerpoint/2010/main" val="158487990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EC0D3A-70DA-4C00-9AF3-E5B256A2AF28}" type="slidenum">
              <a:rPr lang="pt-PT" altLang="pt-BR" sz="1400"/>
              <a:pPr>
                <a:spcBef>
                  <a:spcPct val="0"/>
                </a:spcBef>
                <a:buFontTx/>
                <a:buNone/>
              </a:pPr>
              <a:t>77</a:t>
            </a:fld>
            <a:endParaRPr lang="pt-PT" altLang="pt-BR" sz="1400"/>
          </a:p>
        </p:txBody>
      </p:sp>
      <p:sp>
        <p:nvSpPr>
          <p:cNvPr id="10240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102404" name="Rectangle 3"/>
          <p:cNvSpPr>
            <a:spLocks noGrp="1" noChangeArrowheads="1"/>
          </p:cNvSpPr>
          <p:nvPr>
            <p:ph type="subTitle" idx="1"/>
          </p:nvPr>
        </p:nvSpPr>
        <p:spPr>
          <a:xfrm>
            <a:off x="1" y="1268083"/>
            <a:ext cx="11731924" cy="5545468"/>
          </a:xfrm>
        </p:spPr>
        <p:txBody>
          <a:bodyPr/>
          <a:lstStyle/>
          <a:p>
            <a:pPr algn="just" eaLnBrk="1" hangingPunct="1"/>
            <a:r>
              <a:rPr lang="pt-BR" altLang="pt-BR" dirty="0" smtClean="0"/>
              <a:t>WORKFLOW  e DESCRIÇÃO</a:t>
            </a:r>
          </a:p>
          <a:p>
            <a:pPr algn="just" eaLnBrk="1" hangingPunct="1"/>
            <a:r>
              <a:rPr lang="pt-BR" altLang="pt-BR" dirty="0" smtClean="0"/>
              <a:t>6) Implantação: Um release do produto é criado, distribuído aos usuários e instalado em seu local de trabalho.</a:t>
            </a:r>
          </a:p>
          <a:p>
            <a:pPr algn="just" eaLnBrk="1" hangingPunct="1"/>
            <a:r>
              <a:rPr lang="pt-BR" altLang="pt-BR" dirty="0" smtClean="0"/>
              <a:t>7) Gerenciamento de configuração e mudanças:  gerencia as mudanças do sistema </a:t>
            </a:r>
          </a:p>
          <a:p>
            <a:pPr algn="just" eaLnBrk="1" hangingPunct="1"/>
            <a:r>
              <a:rPr lang="pt-BR" altLang="pt-BR" dirty="0" smtClean="0"/>
              <a:t>8) Gerenciamento de projeto: gerencia o desenvolvimento do sistema </a:t>
            </a:r>
          </a:p>
          <a:p>
            <a:pPr algn="just" eaLnBrk="1" hangingPunct="1"/>
            <a:r>
              <a:rPr lang="pt-BR" altLang="pt-BR" dirty="0" smtClean="0"/>
              <a:t>9) Meio ambiente: disponibilização de ferramentas apropriadas para a equipe de desenvolvimento de software</a:t>
            </a:r>
            <a:endParaRPr lang="pt-PT" altLang="pt-BR" dirty="0" smtClean="0"/>
          </a:p>
        </p:txBody>
      </p:sp>
    </p:spTree>
    <p:extLst>
      <p:ext uri="{BB962C8B-B14F-4D97-AF65-F5344CB8AC3E}">
        <p14:creationId xmlns:p14="http://schemas.microsoft.com/office/powerpoint/2010/main" val="338350510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9081F79-34AB-4F05-9113-026593A41403}" type="slidenum">
              <a:rPr lang="pt-PT" altLang="pt-BR" sz="1400"/>
              <a:pPr>
                <a:spcBef>
                  <a:spcPct val="0"/>
                </a:spcBef>
                <a:buFontTx/>
                <a:buNone/>
              </a:pPr>
              <a:t>78</a:t>
            </a:fld>
            <a:endParaRPr lang="pt-PT" altLang="pt-BR" sz="1400"/>
          </a:p>
        </p:txBody>
      </p:sp>
      <p:sp>
        <p:nvSpPr>
          <p:cNvPr id="10342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103428" name="Rectangle 3"/>
          <p:cNvSpPr>
            <a:spLocks noGrp="1" noChangeArrowheads="1"/>
          </p:cNvSpPr>
          <p:nvPr>
            <p:ph type="subTitle" idx="1"/>
          </p:nvPr>
        </p:nvSpPr>
        <p:spPr>
          <a:xfrm>
            <a:off x="198408" y="1354347"/>
            <a:ext cx="11757803" cy="6028547"/>
          </a:xfrm>
        </p:spPr>
        <p:txBody>
          <a:bodyPr/>
          <a:lstStyle/>
          <a:p>
            <a:pPr algn="just" eaLnBrk="1" hangingPunct="1"/>
            <a:r>
              <a:rPr lang="pt-BR" altLang="pt-BR" dirty="0" smtClean="0"/>
              <a:t>Proporciona visões estáticas e dinâmicas: fases do processo de desenvolvimento não estão associadas a workflows específicos. </a:t>
            </a:r>
          </a:p>
          <a:p>
            <a:pPr algn="just" eaLnBrk="1" hangingPunct="1"/>
            <a:r>
              <a:rPr lang="pt-BR" altLang="pt-BR" dirty="0" smtClean="0"/>
              <a:t>Todos os workflows do RUP podem estar ativos em todas as fases do processo. </a:t>
            </a:r>
          </a:p>
          <a:p>
            <a:pPr algn="just" eaLnBrk="1" hangingPunct="1"/>
            <a:r>
              <a:rPr lang="pt-BR" altLang="pt-BR" dirty="0" smtClean="0"/>
              <a:t>Fases iniciais: maiores esforços serão empenhados em workflows, como modelagem de negócios e requisitos</a:t>
            </a:r>
          </a:p>
          <a:p>
            <a:pPr algn="just" eaLnBrk="1" hangingPunct="1"/>
            <a:r>
              <a:rPr lang="pt-BR" altLang="pt-BR" dirty="0" smtClean="0"/>
              <a:t>Fases posteriores: maiores esforços no teste e na implantação.</a:t>
            </a:r>
            <a:endParaRPr lang="pt-PT" altLang="pt-BR" dirty="0" smtClean="0"/>
          </a:p>
        </p:txBody>
      </p:sp>
    </p:spTree>
    <p:extLst>
      <p:ext uri="{BB962C8B-B14F-4D97-AF65-F5344CB8AC3E}">
        <p14:creationId xmlns:p14="http://schemas.microsoft.com/office/powerpoint/2010/main" val="327455437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4DFB637-C09D-4F53-802C-123A149C2EDE}" type="slidenum">
              <a:rPr lang="pt-PT" altLang="pt-BR" sz="1400"/>
              <a:pPr>
                <a:spcBef>
                  <a:spcPct val="0"/>
                </a:spcBef>
                <a:buFontTx/>
                <a:buNone/>
              </a:pPr>
              <a:t>79</a:t>
            </a:fld>
            <a:endParaRPr lang="pt-PT" altLang="pt-BR" sz="1400"/>
          </a:p>
        </p:txBody>
      </p:sp>
      <p:sp>
        <p:nvSpPr>
          <p:cNvPr id="10445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104452" name="Rectangle 3"/>
          <p:cNvSpPr>
            <a:spLocks noGrp="1" noChangeArrowheads="1"/>
          </p:cNvSpPr>
          <p:nvPr>
            <p:ph type="subTitle" idx="1"/>
          </p:nvPr>
        </p:nvSpPr>
        <p:spPr>
          <a:xfrm>
            <a:off x="163903" y="1518249"/>
            <a:ext cx="11861320" cy="5193702"/>
          </a:xfrm>
        </p:spPr>
        <p:txBody>
          <a:bodyPr/>
          <a:lstStyle/>
          <a:p>
            <a:pPr algn="just" eaLnBrk="1" hangingPunct="1"/>
            <a:r>
              <a:rPr lang="pt-BR" altLang="pt-BR" dirty="0" smtClean="0"/>
              <a:t>Seis boas práticas fundamentais são recomendadas: </a:t>
            </a:r>
          </a:p>
          <a:p>
            <a:pPr algn="just" eaLnBrk="1" hangingPunct="1"/>
            <a:r>
              <a:rPr lang="pt-BR" altLang="pt-BR" dirty="0" smtClean="0"/>
              <a:t>1Desenvolver software iterativamente: Planejar os incrementos do sistema com base nas prioridades do cliente e desenvolver os recursos de alta prioridade no início do processo de desenvolvimento. </a:t>
            </a:r>
          </a:p>
          <a:p>
            <a:pPr algn="just" eaLnBrk="1" hangingPunct="1"/>
            <a:r>
              <a:rPr lang="pt-BR" altLang="pt-BR" dirty="0" smtClean="0"/>
              <a:t>2 Gerenciar os requisitos: Documentar os requisitos do cliente e acompanhar mudanças, analisando impacto antes de aceitá-las. </a:t>
            </a:r>
          </a:p>
          <a:p>
            <a:pPr algn="just" eaLnBrk="1" hangingPunct="1"/>
            <a:r>
              <a:rPr lang="pt-BR" altLang="pt-BR" dirty="0" smtClean="0"/>
              <a:t>3 Estruturar a arquitetura do sistema em componentes.</a:t>
            </a:r>
          </a:p>
          <a:p>
            <a:pPr algn="just" eaLnBrk="1" hangingPunct="1"/>
            <a:r>
              <a:rPr lang="pt-BR" altLang="pt-BR" dirty="0" smtClean="0"/>
              <a:t>4 Modelar o software visualmente: Usar modelos gráficos da UML para apresentar visões estáticas e dinâmicas do software. </a:t>
            </a:r>
          </a:p>
          <a:p>
            <a:pPr algn="just" eaLnBrk="1" hangingPunct="1"/>
            <a:r>
              <a:rPr lang="pt-BR" altLang="pt-BR" dirty="0" smtClean="0"/>
              <a:t>5 Verificar a qualidade do software: Assegurar que o software atenda aos padrões de qualidade organizacional. </a:t>
            </a:r>
          </a:p>
          <a:p>
            <a:pPr algn="just" eaLnBrk="1" hangingPunct="1"/>
            <a:r>
              <a:rPr lang="pt-BR" altLang="pt-BR" dirty="0" smtClean="0"/>
              <a:t>6 Gerenciar as mudanças do software: usar sistema de gerenciamento de mudanças de procedimentos e ferramentas de gerenciamento de configuração</a:t>
            </a:r>
            <a:endParaRPr lang="pt-PT" altLang="pt-BR" dirty="0" smtClean="0"/>
          </a:p>
        </p:txBody>
      </p:sp>
    </p:spTree>
    <p:extLst>
      <p:ext uri="{BB962C8B-B14F-4D97-AF65-F5344CB8AC3E}">
        <p14:creationId xmlns:p14="http://schemas.microsoft.com/office/powerpoint/2010/main" val="204050004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08F32F4-9A6D-4586-96C2-7E70309CE36C}" type="slidenum">
              <a:rPr lang="pt-PT" altLang="pt-BR" sz="1400"/>
              <a:pPr>
                <a:spcBef>
                  <a:spcPct val="0"/>
                </a:spcBef>
                <a:buFontTx/>
                <a:buNone/>
              </a:pPr>
              <a:t>80</a:t>
            </a:fld>
            <a:endParaRPr lang="pt-PT" altLang="pt-BR" sz="1400"/>
          </a:p>
        </p:txBody>
      </p:sp>
      <p:sp>
        <p:nvSpPr>
          <p:cNvPr id="10547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2 Processos de Software – Rational Unifed Process (RUP) </a:t>
            </a:r>
            <a:endParaRPr lang="pt-PT" altLang="pt-BR" sz="3600"/>
          </a:p>
        </p:txBody>
      </p:sp>
      <p:sp>
        <p:nvSpPr>
          <p:cNvPr id="105476" name="Rectangle 3"/>
          <p:cNvSpPr>
            <a:spLocks noGrp="1" noChangeArrowheads="1"/>
          </p:cNvSpPr>
          <p:nvPr>
            <p:ph type="subTitle" idx="1"/>
          </p:nvPr>
        </p:nvSpPr>
        <p:spPr>
          <a:xfrm>
            <a:off x="258792" y="1406106"/>
            <a:ext cx="11809563" cy="5569370"/>
          </a:xfrm>
        </p:spPr>
        <p:txBody>
          <a:bodyPr/>
          <a:lstStyle/>
          <a:p>
            <a:pPr algn="just" eaLnBrk="1" hangingPunct="1"/>
            <a:r>
              <a:rPr lang="pt-BR" altLang="pt-BR" dirty="0" smtClean="0"/>
              <a:t>Não é um processo adequado para todos os tipos de desenvolvimento, (</a:t>
            </a:r>
            <a:r>
              <a:rPr lang="pt-BR" altLang="pt-BR" dirty="0" err="1" smtClean="0"/>
              <a:t>ex</a:t>
            </a:r>
            <a:r>
              <a:rPr lang="pt-BR" altLang="pt-BR" dirty="0" smtClean="0"/>
              <a:t>: desenvolvimento de software embutido). </a:t>
            </a:r>
          </a:p>
          <a:p>
            <a:pPr algn="just" eaLnBrk="1" hangingPunct="1"/>
            <a:r>
              <a:rPr lang="pt-BR" altLang="pt-BR" smtClean="0"/>
              <a:t>Inovações</a:t>
            </a:r>
            <a:r>
              <a:rPr lang="pt-BR" altLang="pt-BR" dirty="0" smtClean="0"/>
              <a:t>: separação de fases e workflows e o reconhecimento de que a implantação de software em um ambiente do usuário é parte do processo. </a:t>
            </a:r>
          </a:p>
          <a:p>
            <a:pPr algn="just" eaLnBrk="1" hangingPunct="1"/>
            <a:r>
              <a:rPr lang="pt-BR" altLang="pt-BR" dirty="0" smtClean="0"/>
              <a:t>As fases são dinâmicas e têm metas. </a:t>
            </a:r>
          </a:p>
          <a:p>
            <a:pPr algn="just" eaLnBrk="1" hangingPunct="1"/>
            <a:r>
              <a:rPr lang="pt-BR" altLang="pt-BR" dirty="0" smtClean="0"/>
              <a:t>Os workflows são estáticos e são atividades técnicas que não são associadas a uma única fase, sendo utilizadas durante todo o desenvolvimento para alcançar as metas específicas.</a:t>
            </a:r>
            <a:endParaRPr lang="pt-PT" altLang="pt-BR" dirty="0" smtClean="0"/>
          </a:p>
        </p:txBody>
      </p:sp>
    </p:spTree>
    <p:extLst>
      <p:ext uri="{BB962C8B-B14F-4D97-AF65-F5344CB8AC3E}">
        <p14:creationId xmlns:p14="http://schemas.microsoft.com/office/powerpoint/2010/main" val="4006759084"/>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3918</TotalTime>
  <Words>7576</Words>
  <Application>Microsoft Office PowerPoint</Application>
  <PresentationFormat>Widescreen</PresentationFormat>
  <Paragraphs>528</Paragraphs>
  <Slides>80</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80</vt:i4>
      </vt:variant>
    </vt:vector>
  </HeadingPairs>
  <TitlesOfParts>
    <vt:vector size="85" baseType="lpstr">
      <vt:lpstr>Arial</vt:lpstr>
      <vt:lpstr>Calibri</vt:lpstr>
      <vt:lpstr>Calibri Light</vt:lpstr>
      <vt:lpstr>Times New Roman</vt:lpstr>
      <vt:lpstr>Tema do Office</vt:lpstr>
      <vt:lpstr>2 Processos de Software </vt:lpstr>
      <vt:lpstr>2 Processos de Software - Descrição</vt:lpstr>
      <vt:lpstr>2 Processos de Software - Modelos</vt:lpstr>
      <vt:lpstr>2 Processos de Software - Modelos</vt:lpstr>
      <vt:lpstr>2 Processos de Software </vt:lpstr>
      <vt:lpstr>2 Processos de Software – Modelo em Cascata ou ciclo de vida do software</vt:lpstr>
      <vt:lpstr>2 Processos de Software – Modelo em Cascata ou ciclo de vida do software</vt:lpstr>
      <vt:lpstr>Ciclo de Vida – Modelo em Cascata</vt:lpstr>
      <vt:lpstr>2 Processos de Software – Modelo em Cascata ou ciclo de vida do software </vt:lpstr>
      <vt:lpstr>2 Processos de Software – Desenvolvimento Incremental</vt:lpstr>
      <vt:lpstr>2 Processos de Software – Desenvolvimento Incremental</vt:lpstr>
      <vt:lpstr>2 Processos de Software – Desenvolvimento Incremental </vt:lpstr>
      <vt:lpstr>Apresentação do PowerPoint</vt:lpstr>
      <vt:lpstr>2 Processos de Software – Desenvolvimento Incremental </vt:lpstr>
      <vt:lpstr>2 Processos de Software – Desenvolvimento Incremental </vt:lpstr>
      <vt:lpstr>2 Processos de Software - ES orientada a reuso</vt:lpstr>
      <vt:lpstr>2 Processos de Software - ES orientada a reuso</vt:lpstr>
      <vt:lpstr>2 Processos de Software - ES orientada a reuso </vt:lpstr>
      <vt:lpstr>2 Processos de Software - ES orientada a reuso </vt:lpstr>
      <vt:lpstr>2 Processos de Software - ES orientada a reuso </vt:lpstr>
      <vt:lpstr>2 Processos de Software - ES orientada a reuso</vt:lpstr>
      <vt:lpstr>2 Processos de Software - ES orientada a reuso </vt:lpstr>
      <vt:lpstr>2 Processos de Software - ES orientada a reuso </vt:lpstr>
      <vt:lpstr>2 Processos de Software -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-Projeto e implementação de software  </vt:lpstr>
      <vt:lpstr>2 Processos de Software -Projeto e implementação de software  </vt:lpstr>
      <vt:lpstr>2 Processos de Software -Projeto e implementação de software   </vt:lpstr>
      <vt:lpstr>2 Processos de Software -Projeto e implementação de software   </vt:lpstr>
      <vt:lpstr>2 Processos de Software  -Projeto e implementação de software  </vt:lpstr>
      <vt:lpstr>2 Processos de Software -Projeto e implementação de software   </vt:lpstr>
      <vt:lpstr>2 Processos de Software -Projeto e implementação de software   </vt:lpstr>
      <vt:lpstr>2 Processos de Software -Projeto e implementação de software   </vt:lpstr>
      <vt:lpstr>2 Processos de Software – Validação de Software</vt:lpstr>
      <vt:lpstr>2 Processos de Software – Validação de Software</vt:lpstr>
      <vt:lpstr>2 Processos de Software – Validação de Software</vt:lpstr>
      <vt:lpstr>2 Processos de Software – Validação de Software</vt:lpstr>
      <vt:lpstr>2 Processos de Software – Validação de Software</vt:lpstr>
      <vt:lpstr>2 Processos de Software – Validação de Software</vt:lpstr>
      <vt:lpstr>2 Processos de Software – Validação de Software</vt:lpstr>
      <vt:lpstr>2 Processos de Software – Validação de Software</vt:lpstr>
      <vt:lpstr>2 Processos de Software – Validação de Software</vt:lpstr>
      <vt:lpstr>2 Processos de Software – Evolução de Software</vt:lpstr>
      <vt:lpstr>2 Processos de Software – Evolução de Software</vt:lpstr>
      <vt:lpstr>2 Processos de Software – Lidando com mudanças</vt:lpstr>
      <vt:lpstr>2 Processos de Software – Lidando com mudanças</vt:lpstr>
      <vt:lpstr>2 Processos de Software – Lidando com mudanças</vt:lpstr>
      <vt:lpstr>2 Processos de Software – Prototipação</vt:lpstr>
      <vt:lpstr>2 Processos de Software – Prototipação</vt:lpstr>
      <vt:lpstr>2 Processos de Software – Prototipação</vt:lpstr>
      <vt:lpstr>2 Processos de Software – Prototipação</vt:lpstr>
      <vt:lpstr>2 Processos de Software – Prototipação</vt:lpstr>
      <vt:lpstr>2 Processos de Software – Prototipação</vt:lpstr>
      <vt:lpstr>2 Processos de Software – Prototipação</vt:lpstr>
      <vt:lpstr>2 Processos de Software – Prototipação</vt:lpstr>
      <vt:lpstr>2 Processos de Software – Prototipação</vt:lpstr>
      <vt:lpstr>2 Processos de Software – Entrega Incremental</vt:lpstr>
      <vt:lpstr>2 Processos de Software – Entrega Incremental</vt:lpstr>
      <vt:lpstr>2 Processos de Software – Entrega Incremental</vt:lpstr>
      <vt:lpstr>2 Processos de Software – Entrega Incremental</vt:lpstr>
      <vt:lpstr>2 Processos de Software – Entrega Incremental</vt:lpstr>
      <vt:lpstr>2 Processos de Software – Entrega Incremental</vt:lpstr>
      <vt:lpstr>2 Processos de Software – Modelo Espiral de Boehm</vt:lpstr>
      <vt:lpstr>2 Processos de Software – Modelo Espiral de Boehm</vt:lpstr>
      <vt:lpstr>2 Processos de Software – Modelo Espiral de Boehm</vt:lpstr>
      <vt:lpstr>2 Processos de Software – Modelo Espiral de Boehm</vt:lpstr>
      <vt:lpstr>2 Processos de Software – Modelo Espiral de Boehm</vt:lpstr>
      <vt:lpstr>2 Processos de Software – Rational Unified Process (RUP) </vt:lpstr>
      <vt:lpstr>2 Processos de Software – Rational Unifed Process (RUP) </vt:lpstr>
      <vt:lpstr>2 Processos de Software – Rational Unifed Process (RUP) </vt:lpstr>
      <vt:lpstr>2 Processos de Software – Rational Unifed Process (RUP) </vt:lpstr>
      <vt:lpstr>2 Processos de Software – Rational Unifed Process (RUP) </vt:lpstr>
      <vt:lpstr>2 Processos de Software – Rational Unifed Process (RUP) </vt:lpstr>
      <vt:lpstr>2 Processos de Software – Rational Unifed Process (RUP) </vt:lpstr>
      <vt:lpstr>2 Processos de Software – Rational Unifed Process (RUP) </vt:lpstr>
      <vt:lpstr>2 Processos de Software – Rational Unifed Process (RUP) </vt:lpstr>
      <vt:lpstr>2 Processos de Software – Rational Unifed Process (RUP)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Processos de Software</dc:title>
  <dc:creator>Marilee</dc:creator>
  <cp:lastModifiedBy>Marilee</cp:lastModifiedBy>
  <cp:revision>55</cp:revision>
  <dcterms:created xsi:type="dcterms:W3CDTF">2024-11-19T11:36:21Z</dcterms:created>
  <dcterms:modified xsi:type="dcterms:W3CDTF">2025-08-11T13:21:28Z</dcterms:modified>
</cp:coreProperties>
</file>