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7" r:id="rId31"/>
    <p:sldId id="289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5" r:id="rId65"/>
    <p:sldId id="326" r:id="rId66"/>
    <p:sldId id="327" r:id="rId67"/>
    <p:sldId id="328" r:id="rId68"/>
    <p:sldId id="330" r:id="rId69"/>
    <p:sldId id="331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39" r:id="rId78"/>
    <p:sldId id="340" r:id="rId79"/>
    <p:sldId id="341" r:id="rId8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1DB0-BA34-4C02-AE14-99AF74A184C3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CFC2-5CA9-42AF-B636-8FB3A3DF6E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178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1DB0-BA34-4C02-AE14-99AF74A184C3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CFC2-5CA9-42AF-B636-8FB3A3DF6E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388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1DB0-BA34-4C02-AE14-99AF74A184C3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CFC2-5CA9-42AF-B636-8FB3A3DF6E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007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1DB0-BA34-4C02-AE14-99AF74A184C3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CFC2-5CA9-42AF-B636-8FB3A3DF6E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77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1DB0-BA34-4C02-AE14-99AF74A184C3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CFC2-5CA9-42AF-B636-8FB3A3DF6E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3781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1DB0-BA34-4C02-AE14-99AF74A184C3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CFC2-5CA9-42AF-B636-8FB3A3DF6E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7675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1DB0-BA34-4C02-AE14-99AF74A184C3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CFC2-5CA9-42AF-B636-8FB3A3DF6E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81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1DB0-BA34-4C02-AE14-99AF74A184C3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CFC2-5CA9-42AF-B636-8FB3A3DF6E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8105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1DB0-BA34-4C02-AE14-99AF74A184C3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CFC2-5CA9-42AF-B636-8FB3A3DF6E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4880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1DB0-BA34-4C02-AE14-99AF74A184C3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CFC2-5CA9-42AF-B636-8FB3A3DF6E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9192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11DB0-BA34-4C02-AE14-99AF74A184C3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CFC2-5CA9-42AF-B636-8FB3A3DF6E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453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11DB0-BA34-4C02-AE14-99AF74A184C3}" type="datetimeFigureOut">
              <a:rPr lang="pt-BR" smtClean="0"/>
              <a:t>24/02/2025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1CFC2-5CA9-42AF-B636-8FB3A3DF6E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012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AC1EE3-3D24-499C-82D0-25572166EF2F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pt-PT" altLang="pt-BR" sz="140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</a:t>
            </a:r>
            <a:endParaRPr lang="pt-PT" altLang="pt-BR" sz="360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1" y="981076"/>
            <a:ext cx="9180513" cy="5267325"/>
          </a:xfrm>
        </p:spPr>
        <p:txBody>
          <a:bodyPr/>
          <a:lstStyle/>
          <a:p>
            <a:pPr algn="just" eaLnBrk="1" hangingPunct="1"/>
            <a:r>
              <a:rPr lang="pt-PT" altLang="pt-BR" sz="2800"/>
              <a:t>Conjunto de atividades relacionadas para a produção do software:</a:t>
            </a:r>
          </a:p>
          <a:p>
            <a:pPr algn="just" eaLnBrk="1" hangingPunct="1"/>
            <a:r>
              <a:rPr lang="pt-PT" altLang="pt-BR" sz="2800"/>
              <a:t>1)Especificação das funcionalidades e restrições do software</a:t>
            </a:r>
          </a:p>
          <a:p>
            <a:pPr algn="just" eaLnBrk="1" hangingPunct="1"/>
            <a:r>
              <a:rPr lang="pt-PT" altLang="pt-BR" sz="2800"/>
              <a:t>2) Projeto e implementação: produção para atendimento as especificações</a:t>
            </a:r>
          </a:p>
          <a:p>
            <a:pPr algn="just" eaLnBrk="1" hangingPunct="1"/>
            <a:r>
              <a:rPr lang="pt-PT" altLang="pt-BR" sz="2800"/>
              <a:t>3)Validação para garantir que atende as demandas do cliente</a:t>
            </a:r>
          </a:p>
          <a:p>
            <a:pPr algn="just" eaLnBrk="1" hangingPunct="1"/>
            <a:r>
              <a:rPr lang="pt-PT" altLang="pt-BR" sz="2800"/>
              <a:t>4)Evolução do software para atendimento as mudanças</a:t>
            </a:r>
          </a:p>
          <a:p>
            <a:pPr algn="just" eaLnBrk="1" hangingPunct="1"/>
            <a:endParaRPr lang="pt-PT" altLang="pt-BR" sz="2800"/>
          </a:p>
          <a:p>
            <a:pPr algn="just" eaLnBrk="1" hangingPunct="1"/>
            <a:r>
              <a:rPr lang="pt-PT" altLang="pt-BR" sz="2800"/>
              <a:t>As 4 atividades fazem parte de todos os processos de software</a:t>
            </a:r>
          </a:p>
        </p:txBody>
      </p:sp>
    </p:spTree>
    <p:extLst>
      <p:ext uri="{BB962C8B-B14F-4D97-AF65-F5344CB8AC3E}">
        <p14:creationId xmlns:p14="http://schemas.microsoft.com/office/powerpoint/2010/main" val="411414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1FE0A7-F229-4D37-B07B-123C6B124833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pt-PT" altLang="pt-BR" sz="14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- Descrição</a:t>
            </a:r>
            <a:endParaRPr lang="pt-PT" altLang="pt-BR" sz="3600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1" y="981076"/>
            <a:ext cx="9180513" cy="5267325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pt-PT" altLang="pt-BR" sz="2800" dirty="0"/>
              <a:t>Produtos: são os resultados de uma atividade do processo. Ex: a atividade de arquitetura do software resulta no modelo de arquitetura - UML.</a:t>
            </a:r>
          </a:p>
          <a:p>
            <a:pPr algn="just" eaLnBrk="1" hangingPunct="1"/>
            <a:r>
              <a:rPr lang="pt-PT" altLang="pt-BR" sz="2800" dirty="0"/>
              <a:t>Papéis: definem as responsabilidades das pessoas envolvidas no processo. Ex: gerente de projeto, gerente de configuração, programador, analista...</a:t>
            </a:r>
          </a:p>
          <a:p>
            <a:pPr algn="just" eaLnBrk="1" hangingPunct="1"/>
            <a:r>
              <a:rPr lang="pt-PT" altLang="pt-BR" sz="2800" dirty="0"/>
              <a:t>Pré e pós-condições: declarações verdadeiras antes e depois de uma determinada atividade do processo ou produção de um produto. </a:t>
            </a:r>
            <a:endParaRPr lang="pt-PT" altLang="pt-BR" sz="2800" dirty="0" smtClean="0"/>
          </a:p>
          <a:p>
            <a:pPr algn="just" eaLnBrk="1" hangingPunct="1"/>
            <a:r>
              <a:rPr lang="pt-PT" altLang="pt-BR" sz="2800" dirty="0" smtClean="0"/>
              <a:t>Ex</a:t>
            </a:r>
            <a:r>
              <a:rPr lang="pt-PT" altLang="pt-BR" sz="2800" dirty="0"/>
              <a:t>: antes do projeto de arquitetura ser iniciado,  a pré-condição é a aprovação dos requisitos pelos usuários e a pós-condição é a revisão dos diagramas UML de arquitetura de software</a:t>
            </a:r>
          </a:p>
        </p:txBody>
      </p:sp>
    </p:spTree>
    <p:extLst>
      <p:ext uri="{BB962C8B-B14F-4D97-AF65-F5344CB8AC3E}">
        <p14:creationId xmlns:p14="http://schemas.microsoft.com/office/powerpoint/2010/main" val="44644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BB8B1D-BCB0-4578-98F1-148953CECCA8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pt-PT" altLang="pt-BR" sz="14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- Modelos</a:t>
            </a:r>
            <a:endParaRPr lang="pt-PT" altLang="pt-BR" sz="360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1" y="981076"/>
            <a:ext cx="9180513" cy="5267325"/>
          </a:xfrm>
        </p:spPr>
        <p:txBody>
          <a:bodyPr/>
          <a:lstStyle/>
          <a:p>
            <a:pPr algn="just" eaLnBrk="1" hangingPunct="1">
              <a:defRPr/>
            </a:pPr>
            <a:r>
              <a:rPr lang="pt-PT" altLang="pt-BR" sz="2800" dirty="0"/>
              <a:t>É a representação  de uma perspectiva particular do processo que fornece informações parciais sobre ele. </a:t>
            </a:r>
            <a:endParaRPr lang="pt-PT" altLang="pt-BR" sz="2800" dirty="0" smtClean="0"/>
          </a:p>
          <a:p>
            <a:pPr algn="just" eaLnBrk="1" hangingPunct="1">
              <a:defRPr/>
            </a:pPr>
            <a:r>
              <a:rPr lang="pt-PT" altLang="pt-BR" sz="2800" dirty="0" smtClean="0"/>
              <a:t>Ex</a:t>
            </a:r>
            <a:r>
              <a:rPr lang="pt-PT" altLang="pt-BR" sz="2800" dirty="0"/>
              <a:t>: modelo de atividade mostra a sequencia de atividades mas não os papéis das pessoas.</a:t>
            </a:r>
          </a:p>
          <a:p>
            <a:pPr algn="just" eaLnBrk="1" hangingPunct="1">
              <a:defRPr/>
            </a:pPr>
            <a:r>
              <a:rPr lang="pt-PT" altLang="pt-BR" sz="2800" dirty="0"/>
              <a:t>Modelos são abstrações:</a:t>
            </a:r>
          </a:p>
          <a:p>
            <a:pPr marL="514350" indent="-514350" algn="just">
              <a:buFontTx/>
              <a:buAutoNum type="arabicParenR"/>
              <a:defRPr/>
            </a:pPr>
            <a:r>
              <a:rPr lang="pt-PT" altLang="pt-BR" sz="2800" dirty="0"/>
              <a:t>Modelo em cascata: considera atividades fundamentais de especificação, desenvolvimento, validação em fases distintas.</a:t>
            </a:r>
          </a:p>
          <a:p>
            <a:pPr marL="514350" indent="-514350" algn="just">
              <a:buFontTx/>
              <a:buAutoNum type="arabicParenR"/>
              <a:defRPr/>
            </a:pPr>
            <a:r>
              <a:rPr lang="pt-PT" altLang="pt-BR" sz="2800" dirty="0"/>
              <a:t>Incremental: intercala a especificação, desenvolvimento e valdação. O sistema desenvolvido é uma série de incrementos, com varias versões, adicionando funcionalidades a versão anterior</a:t>
            </a:r>
          </a:p>
        </p:txBody>
      </p:sp>
    </p:spTree>
    <p:extLst>
      <p:ext uri="{BB962C8B-B14F-4D97-AF65-F5344CB8AC3E}">
        <p14:creationId xmlns:p14="http://schemas.microsoft.com/office/powerpoint/2010/main" val="10200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564460-7075-4773-8E95-E5633AB35B3C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pt-PT" altLang="pt-BR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- Modelos</a:t>
            </a:r>
            <a:endParaRPr lang="pt-PT" altLang="pt-BR" sz="360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1" y="981076"/>
            <a:ext cx="9180513" cy="5267325"/>
          </a:xfrm>
        </p:spPr>
        <p:txBody>
          <a:bodyPr/>
          <a:lstStyle/>
          <a:p>
            <a:pPr algn="just" eaLnBrk="1" hangingPunct="1"/>
            <a:r>
              <a:rPr lang="pt-PT" altLang="pt-BR" sz="2800"/>
              <a:t>Modelos são abstrações:</a:t>
            </a:r>
          </a:p>
          <a:p>
            <a:pPr algn="just" eaLnBrk="1" hangingPunct="1"/>
            <a:r>
              <a:rPr lang="pt-PT" altLang="pt-BR" sz="2800"/>
              <a:t>3) Engenharia de software orientada ao reuso: baseia-se em componentes reusaveis de forma a integrar os componentes no sistema em desenvolvimento</a:t>
            </a:r>
          </a:p>
          <a:p>
            <a:pPr algn="just" eaLnBrk="1" hangingPunct="1"/>
            <a:endParaRPr lang="pt-PT" altLang="pt-BR" sz="2800"/>
          </a:p>
          <a:p>
            <a:pPr algn="just" eaLnBrk="1" hangingPunct="1"/>
            <a:r>
              <a:rPr lang="pt-PT" altLang="pt-BR" sz="2800"/>
              <a:t>Tais modelos não são mutuamente excludentes e muitas vezes, são usados e conjunto.</a:t>
            </a:r>
          </a:p>
        </p:txBody>
      </p:sp>
    </p:spTree>
    <p:extLst>
      <p:ext uri="{BB962C8B-B14F-4D97-AF65-F5344CB8AC3E}">
        <p14:creationId xmlns:p14="http://schemas.microsoft.com/office/powerpoint/2010/main" val="16417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49094F-6ACC-46AA-91AC-4FC14EA214A3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pt-PT" altLang="pt-BR" sz="14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</a:t>
            </a:r>
            <a:endParaRPr lang="pt-PT" altLang="pt-BR" sz="3600"/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12475" y="1207697"/>
            <a:ext cx="10808899" cy="5040703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Projeto e implementação de software </a:t>
            </a:r>
          </a:p>
          <a:p>
            <a:pPr algn="just" eaLnBrk="1" hangingPunct="1"/>
            <a:r>
              <a:rPr lang="pt-BR" altLang="pt-BR" dirty="0" smtClean="0"/>
              <a:t>Implementar sistema decorre dos processos de projeto de sistema. </a:t>
            </a:r>
          </a:p>
          <a:p>
            <a:pPr algn="just" eaLnBrk="1" hangingPunct="1"/>
            <a:r>
              <a:rPr lang="pt-BR" altLang="pt-BR" dirty="0" smtClean="0"/>
              <a:t>Classes de programa (</a:t>
            </a:r>
            <a:r>
              <a:rPr lang="pt-BR" altLang="pt-BR" dirty="0" err="1" smtClean="0"/>
              <a:t>ex</a:t>
            </a:r>
            <a:r>
              <a:rPr lang="pt-BR" altLang="pt-BR" dirty="0" smtClean="0"/>
              <a:t>: sistemas críticos de segurança), são normalmente projetadas em detalhe antes de se iniciar qualquer implementação.</a:t>
            </a:r>
          </a:p>
          <a:p>
            <a:pPr algn="just" eaLnBrk="1" hangingPunct="1"/>
            <a:r>
              <a:rPr lang="pt-BR" altLang="pt-BR" dirty="0" smtClean="0"/>
              <a:t>Ferramentas de desenvolvimento de software podem ser usadas para gerar um esqueleto do programa a partir do projeto, incluindo a definição das interfaces.</a:t>
            </a:r>
          </a:p>
          <a:p>
            <a:pPr algn="just" eaLnBrk="1" hangingPunct="1"/>
            <a:r>
              <a:rPr lang="pt-BR" altLang="pt-BR" dirty="0" smtClean="0"/>
              <a:t>Em muitos casos, o desenvolvedor precisa apenas acrescentar detalhes da operação de cada componente do programa.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06554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DFBB6A-C778-40EB-9D7C-0B057101BBB4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pt-PT" altLang="pt-BR" sz="14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Modelo em Cascata ou ciclo de vida do software</a:t>
            </a:r>
            <a:endParaRPr lang="pt-PT" altLang="pt-BR" sz="360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1" y="981076"/>
            <a:ext cx="9180513" cy="5267325"/>
          </a:xfrm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endParaRPr lang="pt-PT" altLang="pt-BR" sz="2800" dirty="0"/>
          </a:p>
          <a:p>
            <a:pPr algn="just" eaLnBrk="1" hangingPunct="1">
              <a:defRPr/>
            </a:pPr>
            <a:r>
              <a:rPr lang="pt-PT" altLang="pt-BR" sz="2800" dirty="0"/>
              <a:t>Encadeamento da fase anterior a proxima fase</a:t>
            </a:r>
          </a:p>
          <a:p>
            <a:pPr algn="just" eaLnBrk="1" hangingPunct="1">
              <a:defRPr/>
            </a:pPr>
            <a:r>
              <a:rPr lang="pt-PT" altLang="pt-BR" sz="2800" dirty="0"/>
              <a:t>Inclui planejar e programar todas as atividades do processo.</a:t>
            </a:r>
          </a:p>
          <a:p>
            <a:pPr algn="just" eaLnBrk="1" hangingPunct="1">
              <a:defRPr/>
            </a:pPr>
            <a:endParaRPr lang="pt-PT" altLang="pt-BR" sz="2800" dirty="0"/>
          </a:p>
          <a:p>
            <a:pPr algn="just" eaLnBrk="1" hangingPunct="1">
              <a:defRPr/>
            </a:pPr>
            <a:r>
              <a:rPr lang="pt-PT" altLang="pt-BR" sz="2800" dirty="0"/>
              <a:t>Estagios:</a:t>
            </a:r>
          </a:p>
          <a:p>
            <a:pPr marL="514350" indent="-514350" algn="just">
              <a:buFontTx/>
              <a:buAutoNum type="arabicParenR"/>
              <a:defRPr/>
            </a:pPr>
            <a:r>
              <a:rPr lang="pt-PT" altLang="pt-BR" sz="2800" dirty="0"/>
              <a:t>Análise e definição de requisitos: definem metas e restrições com base em consultas aos usuários. Especificação do sistema</a:t>
            </a:r>
          </a:p>
          <a:p>
            <a:pPr marL="514350" indent="-514350" algn="just">
              <a:buFontTx/>
              <a:buAutoNum type="arabicParenR"/>
              <a:defRPr/>
            </a:pPr>
            <a:r>
              <a:rPr lang="pt-PT" altLang="pt-BR" sz="2800" dirty="0"/>
              <a:t>Projeto de implementação: aloca recursos para o hardware e software com uso de arquitetura geral do sistema. Identifica e descreve abstrações fundamentais do sistema e seus relacionamentos</a:t>
            </a:r>
          </a:p>
        </p:txBody>
      </p:sp>
    </p:spTree>
    <p:extLst>
      <p:ext uri="{BB962C8B-B14F-4D97-AF65-F5344CB8AC3E}">
        <p14:creationId xmlns:p14="http://schemas.microsoft.com/office/powerpoint/2010/main" val="1066176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97671F-6CFD-40BB-8583-0B03F89D9F89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pt-PT" altLang="pt-BR" sz="140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Modelo em Cascata ou ciclo de vida do software</a:t>
            </a:r>
            <a:endParaRPr lang="pt-PT" altLang="pt-BR" sz="3600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1" y="981076"/>
            <a:ext cx="9180513" cy="5267325"/>
          </a:xfrm>
        </p:spPr>
        <p:txBody>
          <a:bodyPr/>
          <a:lstStyle/>
          <a:p>
            <a:pPr algn="just" eaLnBrk="1" hangingPunct="1"/>
            <a:r>
              <a:rPr lang="pt-PT" altLang="pt-BR" sz="2800"/>
              <a:t>Estagios:</a:t>
            </a:r>
          </a:p>
          <a:p>
            <a:pPr algn="just" eaLnBrk="1" hangingPunct="1"/>
            <a:r>
              <a:rPr lang="pt-PT" altLang="pt-BR" sz="2800"/>
              <a:t>3) Implementação e teste unitário: implementa-se e testa-se cada unidade  do software</a:t>
            </a:r>
          </a:p>
          <a:p>
            <a:pPr algn="just" eaLnBrk="1" hangingPunct="1"/>
            <a:r>
              <a:rPr lang="pt-PT" altLang="pt-BR" sz="2800"/>
              <a:t>4)Integração e teste do sistema: integram-se as unidades e testa-se o sistema completo para assegurar que os requisitos do software foram atendidos para ser entregue ao cliente</a:t>
            </a:r>
          </a:p>
          <a:p>
            <a:pPr algn="just" eaLnBrk="1" hangingPunct="1"/>
            <a:r>
              <a:rPr lang="pt-PT" altLang="pt-BR" sz="2800"/>
              <a:t>5) Operação e Manutenção: fase mais longa do ciclo de vida do software. Instala-se e coloca-se o software em uso. Manutenção: correção de erros</a:t>
            </a:r>
          </a:p>
        </p:txBody>
      </p:sp>
    </p:spTree>
    <p:extLst>
      <p:ext uri="{BB962C8B-B14F-4D97-AF65-F5344CB8AC3E}">
        <p14:creationId xmlns:p14="http://schemas.microsoft.com/office/powerpoint/2010/main" val="236924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E80FD7-5D29-479B-9584-0F127F49B63D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pt-PT" altLang="pt-BR" sz="14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0"/>
            <a:ext cx="9144000" cy="1143000"/>
          </a:xfrm>
        </p:spPr>
        <p:txBody>
          <a:bodyPr anchor="ctr"/>
          <a:lstStyle/>
          <a:p>
            <a:pPr eaLnBrk="1" hangingPunct="1"/>
            <a:r>
              <a:rPr lang="pt-BR" altLang="pt-BR" sz="4400"/>
              <a:t>Ciclo de Vida – Modelo em Cascata</a:t>
            </a:r>
            <a:endParaRPr lang="pt-PT" altLang="pt-BR" sz="4400"/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2057401" y="1219201"/>
            <a:ext cx="4183063" cy="461963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2400"/>
              <a:t>Definição de requisitos</a:t>
            </a:r>
            <a:endParaRPr lang="pt-PT" altLang="pt-BR" sz="2400"/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581400" y="2209801"/>
            <a:ext cx="4572000" cy="461963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2400"/>
              <a:t>Projeto de sistema e sftware</a:t>
            </a:r>
            <a:endParaRPr lang="pt-PT" altLang="pt-BR" sz="2400"/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5486401" y="3429001"/>
            <a:ext cx="4930775" cy="461963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2400"/>
              <a:t>Implementação e teste unitário</a:t>
            </a:r>
            <a:endParaRPr lang="pt-PT" altLang="pt-BR" sz="2400"/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6781800" y="4495801"/>
            <a:ext cx="3778250" cy="461963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2400"/>
              <a:t>Integração e Teste de sistema</a:t>
            </a:r>
            <a:endParaRPr lang="pt-PT" altLang="pt-BR" sz="2400"/>
          </a:p>
        </p:txBody>
      </p:sp>
      <p:cxnSp>
        <p:nvCxnSpPr>
          <p:cNvPr id="3" name="Conector de seta reta 2"/>
          <p:cNvCxnSpPr/>
          <p:nvPr/>
        </p:nvCxnSpPr>
        <p:spPr>
          <a:xfrm flipH="1">
            <a:off x="2279650" y="6130926"/>
            <a:ext cx="5949950" cy="34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/>
          <p:cNvCxnSpPr/>
          <p:nvPr/>
        </p:nvCxnSpPr>
        <p:spPr>
          <a:xfrm flipV="1">
            <a:off x="2279650" y="1773238"/>
            <a:ext cx="71438" cy="4392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>
            <a:stCxn id="26628" idx="3"/>
          </p:cNvCxnSpPr>
          <p:nvPr/>
        </p:nvCxnSpPr>
        <p:spPr>
          <a:xfrm flipV="1">
            <a:off x="6240464" y="1412876"/>
            <a:ext cx="769937" cy="36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>
            <a:off x="6959600" y="1484314"/>
            <a:ext cx="0" cy="649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26629" idx="3"/>
          </p:cNvCxnSpPr>
          <p:nvPr/>
        </p:nvCxnSpPr>
        <p:spPr>
          <a:xfrm flipV="1">
            <a:off x="8153400" y="2438400"/>
            <a:ext cx="750888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/>
          <p:nvPr/>
        </p:nvCxnSpPr>
        <p:spPr>
          <a:xfrm>
            <a:off x="8904288" y="2438400"/>
            <a:ext cx="0" cy="990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angulado 14"/>
          <p:cNvCxnSpPr/>
          <p:nvPr/>
        </p:nvCxnSpPr>
        <p:spPr>
          <a:xfrm rot="16200000" flipH="1">
            <a:off x="9394032" y="4193382"/>
            <a:ext cx="533400" cy="714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>
            <a:off x="9917114" y="4957764"/>
            <a:ext cx="65087" cy="757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640" name="Picture 18" descr="COM210 - Aula 12 - Modelo Cascata - Vídeo 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62" y="223838"/>
            <a:ext cx="10658476" cy="599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468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57AF92-C1DD-44B5-A0D3-F21C0950997A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pt-PT" altLang="pt-BR" sz="140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Modelo em Cascata ou ciclo de vida do software </a:t>
            </a:r>
            <a:endParaRPr lang="pt-PT" altLang="pt-BR" sz="3600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1" y="981076"/>
            <a:ext cx="9180513" cy="5267325"/>
          </a:xfrm>
        </p:spPr>
        <p:txBody>
          <a:bodyPr/>
          <a:lstStyle/>
          <a:p>
            <a:pPr algn="just" eaLnBrk="1" hangingPunct="1"/>
            <a:endParaRPr lang="pt-PT" altLang="pt-BR" sz="2800" dirty="0"/>
          </a:p>
          <a:p>
            <a:pPr algn="just" eaLnBrk="1" hangingPunct="1"/>
            <a:r>
              <a:rPr lang="pt-PT" altLang="pt-BR" sz="2800" dirty="0"/>
              <a:t>Deve ser usado somente se os requisitos forem muito bem compreendidos e pouco provavelmente serão alterados</a:t>
            </a:r>
          </a:p>
          <a:p>
            <a:pPr algn="just" eaLnBrk="1" hangingPunct="1"/>
            <a:r>
              <a:rPr lang="pt-PT" altLang="pt-BR" sz="2800" dirty="0" smtClean="0"/>
              <a:t>Processos </a:t>
            </a:r>
            <a:r>
              <a:rPr lang="pt-PT" altLang="pt-BR" sz="2800" dirty="0"/>
              <a:t>de software em cascata são comumente utilizados</a:t>
            </a:r>
          </a:p>
        </p:txBody>
      </p:sp>
    </p:spTree>
    <p:extLst>
      <p:ext uri="{BB962C8B-B14F-4D97-AF65-F5344CB8AC3E}">
        <p14:creationId xmlns:p14="http://schemas.microsoft.com/office/powerpoint/2010/main" val="302121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14E850-DC58-4227-8639-7286D6084D7F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pt-PT" altLang="pt-BR" sz="140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Desenvolvimento Incremental</a:t>
            </a:r>
            <a:endParaRPr lang="pt-PT" altLang="pt-BR" sz="3600"/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1" y="981076"/>
            <a:ext cx="9180513" cy="5267325"/>
          </a:xfrm>
        </p:spPr>
        <p:txBody>
          <a:bodyPr/>
          <a:lstStyle/>
          <a:p>
            <a:pPr algn="just" eaLnBrk="1" hangingPunct="1"/>
            <a:r>
              <a:rPr lang="pt-PT" altLang="pt-BR" sz="2800"/>
              <a:t>Auxilia:</a:t>
            </a:r>
          </a:p>
          <a:p>
            <a:pPr algn="just" eaLnBrk="1" hangingPunct="1"/>
            <a:r>
              <a:rPr lang="pt-PT" altLang="pt-BR" sz="2800"/>
              <a:t>Abordagens ágeis </a:t>
            </a:r>
          </a:p>
          <a:p>
            <a:pPr algn="just" eaLnBrk="1" hangingPunct="1"/>
            <a:r>
              <a:rPr lang="pt-PT" altLang="pt-BR" sz="2800"/>
              <a:t>Desenvolvimento de e-commerce</a:t>
            </a:r>
          </a:p>
          <a:p>
            <a:pPr algn="just" eaLnBrk="1" hangingPunct="1"/>
            <a:r>
              <a:rPr lang="pt-PT" altLang="pt-BR" sz="2800"/>
              <a:t>Sistemas pessoais</a:t>
            </a:r>
          </a:p>
          <a:p>
            <a:pPr algn="just" eaLnBrk="1" hangingPunct="1"/>
            <a:endParaRPr lang="pt-PT" altLang="pt-BR" sz="2800"/>
          </a:p>
          <a:p>
            <a:pPr algn="just" eaLnBrk="1" hangingPunct="1"/>
            <a:r>
              <a:rPr lang="pt-PT" altLang="pt-BR" sz="2800"/>
              <a:t>Mais fácil e mais barato fazer mudanças.</a:t>
            </a:r>
          </a:p>
          <a:p>
            <a:pPr algn="just" eaLnBrk="1" hangingPunct="1"/>
            <a:endParaRPr lang="pt-PT" altLang="pt-BR" sz="2800"/>
          </a:p>
        </p:txBody>
      </p:sp>
    </p:spTree>
    <p:extLst>
      <p:ext uri="{BB962C8B-B14F-4D97-AF65-F5344CB8AC3E}">
        <p14:creationId xmlns:p14="http://schemas.microsoft.com/office/powerpoint/2010/main" val="3967870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20C609-5002-41D3-9E42-032397366C59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pt-PT" altLang="pt-BR" sz="14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Desenvolvimento Incremental</a:t>
            </a:r>
            <a:endParaRPr lang="pt-PT" altLang="pt-BR" sz="3600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1687" y="1386518"/>
            <a:ext cx="10552113" cy="5267325"/>
          </a:xfrm>
        </p:spPr>
        <p:txBody>
          <a:bodyPr/>
          <a:lstStyle/>
          <a:p>
            <a:pPr algn="just" eaLnBrk="1" hangingPunct="1"/>
            <a:r>
              <a:rPr lang="pt-PT" altLang="pt-BR" sz="2800" dirty="0"/>
              <a:t>Versão inicial </a:t>
            </a:r>
            <a:r>
              <a:rPr lang="pt-PT" altLang="pt-BR" sz="2800" dirty="0" smtClean="0"/>
              <a:t>do sistema inclui </a:t>
            </a:r>
            <a:r>
              <a:rPr lang="pt-PT" altLang="pt-BR" sz="2800" dirty="0"/>
              <a:t>funcionalidades mais necessárias e urgentes, facilitando a avaliação do cliente em relação as suas necessidades</a:t>
            </a:r>
          </a:p>
          <a:p>
            <a:pPr algn="just" eaLnBrk="1" hangingPunct="1"/>
            <a:r>
              <a:rPr lang="pt-PT" altLang="pt-BR" sz="2800" dirty="0"/>
              <a:t>Caso o cliente aponte problemas, o incremento em desenvolvimento passa a ser alterado, visando incluir as devidas correções ou nova funcionalidade deverá ser definida.</a:t>
            </a:r>
          </a:p>
          <a:p>
            <a:pPr algn="just" eaLnBrk="1" hangingPunct="1"/>
            <a:endParaRPr lang="pt-PT" altLang="pt-BR" sz="2800" dirty="0"/>
          </a:p>
        </p:txBody>
      </p:sp>
    </p:spTree>
    <p:extLst>
      <p:ext uri="{BB962C8B-B14F-4D97-AF65-F5344CB8AC3E}">
        <p14:creationId xmlns:p14="http://schemas.microsoft.com/office/powerpoint/2010/main" val="274665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7B5A3F-6E37-460C-AA38-89C425B0F3FA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pt-PT" altLang="pt-BR" sz="140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Desenvolvimento Incremental </a:t>
            </a:r>
            <a:endParaRPr lang="pt-PT" altLang="pt-BR" sz="3600"/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9050" y="1794294"/>
            <a:ext cx="11588150" cy="5063706"/>
          </a:xfrm>
        </p:spPr>
        <p:txBody>
          <a:bodyPr/>
          <a:lstStyle/>
          <a:p>
            <a:pPr algn="just" eaLnBrk="1" hangingPunct="1"/>
            <a:r>
              <a:rPr lang="pt-PT" altLang="pt-BR" sz="2800" dirty="0"/>
              <a:t>Abordagem mais usada para aplicativos: dirigida por planos ágil ou </a:t>
            </a:r>
            <a:r>
              <a:rPr lang="pt-PT" altLang="pt-BR" sz="2800" dirty="0" smtClean="0"/>
              <a:t>mescla </a:t>
            </a:r>
            <a:r>
              <a:rPr lang="pt-PT" altLang="pt-BR" sz="2800" dirty="0"/>
              <a:t>de abordagem</a:t>
            </a:r>
          </a:p>
          <a:p>
            <a:pPr algn="just" eaLnBrk="1" hangingPunct="1"/>
            <a:endParaRPr lang="pt-PT" altLang="pt-BR" sz="2800" dirty="0"/>
          </a:p>
          <a:p>
            <a:pPr algn="just" eaLnBrk="1" hangingPunct="1"/>
            <a:r>
              <a:rPr lang="pt-PT" altLang="pt-BR" sz="2800" dirty="0"/>
              <a:t>Abordagem dirigida por planos: </a:t>
            </a:r>
            <a:r>
              <a:rPr lang="pt-PT" altLang="pt-BR" sz="2800" dirty="0" smtClean="0"/>
              <a:t>incrementos </a:t>
            </a:r>
            <a:r>
              <a:rPr lang="pt-PT" altLang="pt-BR" sz="2800" dirty="0"/>
              <a:t>são identificados previamente</a:t>
            </a:r>
          </a:p>
          <a:p>
            <a:pPr algn="just" eaLnBrk="1" hangingPunct="1"/>
            <a:endParaRPr lang="pt-PT" altLang="pt-BR" sz="2800" dirty="0" smtClean="0"/>
          </a:p>
          <a:p>
            <a:pPr algn="just" eaLnBrk="1" hangingPunct="1"/>
            <a:r>
              <a:rPr lang="pt-PT" altLang="pt-BR" sz="2800" dirty="0" smtClean="0"/>
              <a:t>Abordagem </a:t>
            </a:r>
            <a:r>
              <a:rPr lang="pt-PT" altLang="pt-BR" sz="2800" dirty="0"/>
              <a:t>àgil: incrementos iniciais são identificados, mas o desenvolvimento de incrementos posteriores depende do progresso e das prioridades do cliente</a:t>
            </a:r>
          </a:p>
          <a:p>
            <a:pPr algn="just" eaLnBrk="1" hangingPunct="1"/>
            <a:r>
              <a:rPr lang="pt-PT" altLang="pt-BR" sz="2800" dirty="0"/>
              <a:t>	</a:t>
            </a:r>
          </a:p>
          <a:p>
            <a:pPr algn="just" eaLnBrk="1" hangingPunct="1"/>
            <a:endParaRPr lang="pt-PT" altLang="pt-BR" sz="2800" dirty="0"/>
          </a:p>
          <a:p>
            <a:pPr algn="just" eaLnBrk="1" hangingPunct="1"/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360904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08C74A-9214-4A5B-BCD1-EA90012F53B1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pt-PT" altLang="pt-BR" sz="140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7488" y="23814"/>
            <a:ext cx="9180513" cy="5267325"/>
          </a:xfrm>
        </p:spPr>
        <p:txBody>
          <a:bodyPr/>
          <a:lstStyle/>
          <a:p>
            <a:pPr algn="just" eaLnBrk="1" hangingPunct="1"/>
            <a:endParaRPr lang="pt-PT" altLang="pt-BR" sz="2800"/>
          </a:p>
        </p:txBody>
      </p:sp>
      <p:pic>
        <p:nvPicPr>
          <p:cNvPr id="31748" name="Picture 6" descr="Processos de Software Profa. Cintia Carvalho Oliveira - ppt carre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164" y="115889"/>
            <a:ext cx="7031037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351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E4CFAB-6662-4631-BDD4-2DB45A26D978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pt-PT" altLang="pt-BR" sz="14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Desenvolvimento Incremental </a:t>
            </a:r>
            <a:endParaRPr lang="pt-PT" altLang="pt-BR" sz="3600"/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1687" y="1673525"/>
            <a:ext cx="10818094" cy="5118340"/>
          </a:xfrm>
        </p:spPr>
        <p:txBody>
          <a:bodyPr/>
          <a:lstStyle/>
          <a:p>
            <a:pPr algn="just" eaLnBrk="1" hangingPunct="1"/>
            <a:r>
              <a:rPr lang="pt-PT" altLang="pt-BR" sz="2800" dirty="0" smtClean="0"/>
              <a:t>Vantagens: </a:t>
            </a:r>
            <a:r>
              <a:rPr lang="pt-PT" altLang="pt-BR" sz="2800" dirty="0"/>
              <a:t>Desenvolvimento Incremental </a:t>
            </a:r>
            <a:r>
              <a:rPr lang="pt-PT" altLang="pt-BR" sz="2800" dirty="0" smtClean="0"/>
              <a:t>x </a:t>
            </a:r>
            <a:r>
              <a:rPr lang="pt-PT" altLang="pt-BR" sz="2800" dirty="0"/>
              <a:t>modelo em cascata:</a:t>
            </a:r>
          </a:p>
          <a:p>
            <a:pPr algn="just" eaLnBrk="1" hangingPunct="1"/>
            <a:r>
              <a:rPr lang="pt-PT" altLang="pt-BR" dirty="0" smtClean="0"/>
              <a:t>Custo de acomodar mudanças do cliente é reduzido. A quantidade e análise de documentação a ser refeita é muito menor</a:t>
            </a:r>
          </a:p>
          <a:p>
            <a:pPr algn="just" eaLnBrk="1" hangingPunct="1"/>
            <a:r>
              <a:rPr lang="pt-PT" altLang="pt-BR" dirty="0" smtClean="0"/>
              <a:t>Mais fácil obter feedback do cliente sobre as funcionalidades do sistema. </a:t>
            </a:r>
          </a:p>
          <a:p>
            <a:pPr algn="just" eaLnBrk="1" hangingPunct="1"/>
            <a:r>
              <a:rPr lang="pt-PT" altLang="pt-BR" dirty="0" smtClean="0"/>
              <a:t>Clientes podem fazer comentários sobre a demonstração do software e verificar o quanto foi implementado. </a:t>
            </a:r>
          </a:p>
          <a:p>
            <a:pPr algn="just" eaLnBrk="1" hangingPunct="1"/>
            <a:r>
              <a:rPr lang="pt-PT" altLang="pt-BR" dirty="0" smtClean="0"/>
              <a:t>Clientes tem dificuldade de acompanhar a evolução dos trabalhos com os documentos de projeto de software</a:t>
            </a:r>
          </a:p>
          <a:p>
            <a:pPr algn="just" eaLnBrk="1" hangingPunct="1"/>
            <a:r>
              <a:rPr lang="pt-PT" altLang="pt-BR" dirty="0" smtClean="0"/>
              <a:t>É possível a implementação e entrega rápida ao cliente mesmo antes da inclusão de todas as funcionalidades. </a:t>
            </a:r>
          </a:p>
          <a:p>
            <a:pPr algn="just" eaLnBrk="1" hangingPunct="1"/>
            <a:r>
              <a:rPr lang="pt-PT" altLang="pt-BR" dirty="0" smtClean="0"/>
              <a:t>Os clientes podem usar o software inicial e já obter ganhos, o que não ocorre no modelo em cascata</a:t>
            </a:r>
          </a:p>
        </p:txBody>
      </p:sp>
    </p:spTree>
    <p:extLst>
      <p:ext uri="{BB962C8B-B14F-4D97-AF65-F5344CB8AC3E}">
        <p14:creationId xmlns:p14="http://schemas.microsoft.com/office/powerpoint/2010/main" val="3433330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991EF3-D28D-4590-B32B-8ED4F76FEB1B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pt-PT" altLang="pt-BR" sz="14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Desenvolvimento Incremental </a:t>
            </a:r>
            <a:endParaRPr lang="pt-PT" altLang="pt-BR" sz="3600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1321" y="1544128"/>
            <a:ext cx="11231592" cy="4704273"/>
          </a:xfrm>
        </p:spPr>
        <p:txBody>
          <a:bodyPr/>
          <a:lstStyle/>
          <a:p>
            <a:pPr algn="just" eaLnBrk="1" hangingPunct="1">
              <a:defRPr/>
            </a:pPr>
            <a:r>
              <a:rPr lang="pt-PT" altLang="pt-BR" sz="2800" dirty="0"/>
              <a:t>Problemas</a:t>
            </a:r>
          </a:p>
          <a:p>
            <a:pPr marL="514350" indent="-514350" algn="just">
              <a:buFontTx/>
              <a:buAutoNum type="arabicParenR"/>
              <a:defRPr/>
            </a:pPr>
            <a:r>
              <a:rPr lang="pt-PT" altLang="pt-BR" sz="2800" dirty="0"/>
              <a:t>Processo não é visivel: gerentes precisam de entrega regulares para mensurar o processo. Se o sistema é desenvolvido rapidamente, não </a:t>
            </a:r>
            <a:r>
              <a:rPr lang="pt-PT" altLang="pt-BR" sz="2800" dirty="0" smtClean="0"/>
              <a:t>sendo </a:t>
            </a:r>
            <a:r>
              <a:rPr lang="pt-PT" altLang="pt-BR" sz="2800" dirty="0"/>
              <a:t>viável prduzir documentação de cada versão do sistema</a:t>
            </a:r>
          </a:p>
          <a:p>
            <a:pPr marL="514350" indent="-514350" algn="just">
              <a:buFontTx/>
              <a:buAutoNum type="arabicParenR"/>
              <a:defRPr/>
            </a:pPr>
            <a:r>
              <a:rPr lang="pt-PT" altLang="pt-BR" sz="2800" dirty="0"/>
              <a:t>A estrutura do sistema tende a se degradar com novos incrementos, tornando-se cada vez mais oneroso incorporar mudanças no software	</a:t>
            </a:r>
          </a:p>
          <a:p>
            <a:pPr algn="just" eaLnBrk="1" hangingPunct="1">
              <a:defRPr/>
            </a:pPr>
            <a:endParaRPr lang="pt-PT" altLang="pt-BR" sz="2800" dirty="0"/>
          </a:p>
          <a:p>
            <a:pPr algn="just" eaLnBrk="1" hangingPunct="1">
              <a:defRPr/>
            </a:pP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50292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308A2B-0982-43BC-9E32-1AEFD46A1548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pt-PT" altLang="pt-BR" sz="140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- </a:t>
            </a:r>
            <a:r>
              <a:rPr lang="pt-PT" altLang="pt-BR" sz="3600"/>
              <a:t>ES orientada a reuso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409" y="1233578"/>
            <a:ext cx="11878572" cy="5014824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Na maioria dos projeto, há algum </a:t>
            </a:r>
            <a:r>
              <a:rPr lang="pt-BR" altLang="pt-BR" dirty="0" err="1" smtClean="0"/>
              <a:t>reúso</a:t>
            </a:r>
            <a:r>
              <a:rPr lang="pt-BR" altLang="pt-BR" dirty="0" smtClean="0"/>
              <a:t> de software. As pessoas envolvidas no projeto sabem de projetos ou códigos semelhantes. Elas os buscam, fazem as modificações necessárias e incorporam-nos a seus sistemas.</a:t>
            </a:r>
          </a:p>
          <a:p>
            <a:pPr algn="just" eaLnBrk="1" hangingPunct="1"/>
            <a:r>
              <a:rPr lang="pt-BR" altLang="pt-BR" dirty="0" smtClean="0"/>
              <a:t>Reuso informal ocorre independentemente do processo de desenvolvimento em uso. </a:t>
            </a:r>
          </a:p>
          <a:p>
            <a:pPr algn="just" eaLnBrk="1" hangingPunct="1"/>
            <a:r>
              <a:rPr lang="pt-BR" altLang="pt-BR" dirty="0" smtClean="0"/>
              <a:t>Século XXI: foco no reuso nos processos de desenvolvimento de software. </a:t>
            </a:r>
          </a:p>
          <a:p>
            <a:pPr algn="just" eaLnBrk="1" hangingPunct="1"/>
            <a:r>
              <a:rPr lang="pt-BR" altLang="pt-BR" dirty="0" smtClean="0"/>
              <a:t>Abordagens orientadas a reuso: dependem de ampla base de componentes reusáveis de software e de um framework de integração para a composição desses componentes. </a:t>
            </a:r>
          </a:p>
          <a:p>
            <a:pPr algn="just"/>
            <a:r>
              <a:rPr lang="pt-BR" altLang="pt-BR" dirty="0" smtClean="0"/>
              <a:t>Componentes: unidade modular que desempenha função específica ou sistemas completos (COTS (</a:t>
            </a:r>
            <a:r>
              <a:rPr lang="pt-BR" dirty="0"/>
              <a:t>Software comercial pronto para uso</a:t>
            </a:r>
            <a:r>
              <a:rPr lang="pt-BR" altLang="pt-BR" dirty="0" smtClean="0"/>
              <a:t>) ou de prateleira), capazes de fornecer funcionalidade específica, como processamento de texto ou planilha.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244898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B67E14-2924-4A58-B1A3-A0F108850419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pt-PT" altLang="pt-BR" sz="140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- </a:t>
            </a:r>
            <a:r>
              <a:rPr lang="pt-PT" altLang="pt-BR" sz="3600"/>
              <a:t>ES orientada a reuso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5660" y="1380226"/>
            <a:ext cx="11800935" cy="4868175"/>
          </a:xfrm>
        </p:spPr>
        <p:txBody>
          <a:bodyPr/>
          <a:lstStyle/>
          <a:p>
            <a:pPr algn="just" eaLnBrk="1" hangingPunct="1">
              <a:defRPr/>
            </a:pPr>
            <a:r>
              <a:rPr lang="pt-PT" altLang="pt-BR" sz="2800" dirty="0"/>
              <a:t>Estágios:</a:t>
            </a:r>
          </a:p>
          <a:p>
            <a:pPr marL="514350" indent="-514350" algn="just">
              <a:buFontTx/>
              <a:buAutoNum type="arabicPeriod"/>
              <a:defRPr/>
            </a:pPr>
            <a:r>
              <a:rPr lang="pt-BR" sz="2800" dirty="0"/>
              <a:t>Análise de componentes: especificação de requisitos;  busca por componentes para implementar a especificação. Em geral, não há correspondência exata, e os componentes que podem ser usados fornecem alguma funcionalidade necessária. </a:t>
            </a:r>
          </a:p>
          <a:p>
            <a:pPr marL="514350" indent="-514350" algn="just">
              <a:buFontTx/>
              <a:buAutoNum type="arabicPeriod"/>
              <a:defRPr/>
            </a:pPr>
            <a:r>
              <a:rPr lang="pt-BR" sz="2800" dirty="0"/>
              <a:t>Modificação de requisitos: análise de requisitos usa informações dos componentes descobertos;  requisitos serão modificados para refletir os componentes disponíveis. No caso de modificações impossíveis, a atividade de análise dos componentes pode ser reinserida na busca por soluções alternativas.</a:t>
            </a:r>
            <a:endParaRPr lang="pt-PT" altLang="pt-BR" sz="2800" dirty="0"/>
          </a:p>
        </p:txBody>
      </p:sp>
    </p:spTree>
    <p:extLst>
      <p:ext uri="{BB962C8B-B14F-4D97-AF65-F5344CB8AC3E}">
        <p14:creationId xmlns:p14="http://schemas.microsoft.com/office/powerpoint/2010/main" val="54587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91071A-BD88-416C-BF3D-1D1912779162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pt-PT" altLang="pt-BR" sz="140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- </a:t>
            </a:r>
            <a:r>
              <a:rPr lang="pt-PT" altLang="pt-BR" sz="3600"/>
              <a:t>ES orientada a reuso</a:t>
            </a:r>
            <a:r>
              <a:rPr lang="pt-BR" altLang="pt-BR" sz="3600"/>
              <a:t> </a:t>
            </a:r>
            <a:endParaRPr lang="pt-PT" altLang="pt-BR" sz="3600"/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9011" y="1535502"/>
            <a:ext cx="11542144" cy="4712899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pt-PT" altLang="pt-BR" sz="2800" dirty="0"/>
              <a:t> Estágios:</a:t>
            </a:r>
          </a:p>
          <a:p>
            <a:pPr algn="just" eaLnBrk="1" hangingPunct="1"/>
            <a:r>
              <a:rPr lang="pt-BR" altLang="pt-BR" sz="2800" dirty="0"/>
              <a:t>3. Projeto do sistema com reuso: projeto do framework do sistema ou algo existente é reusado. Os projetistas têm em mente os componentes que serão reusados e organizam o framework para </a:t>
            </a:r>
            <a:r>
              <a:rPr lang="pt-BR" altLang="pt-BR" sz="2800" dirty="0" smtClean="0"/>
              <a:t>reuso. </a:t>
            </a:r>
            <a:r>
              <a:rPr lang="pt-BR" altLang="pt-BR" sz="2800" dirty="0"/>
              <a:t>Alguns softwares novos podem ser </a:t>
            </a:r>
            <a:r>
              <a:rPr lang="pt-BR" altLang="pt-BR" sz="2800" dirty="0" smtClean="0"/>
              <a:t>necessários </a:t>
            </a:r>
            <a:r>
              <a:rPr lang="pt-BR" altLang="pt-BR" sz="2800" dirty="0"/>
              <a:t>se componentes reusáveis não estiverem disponíveis. </a:t>
            </a:r>
          </a:p>
          <a:p>
            <a:pPr algn="just" eaLnBrk="1" hangingPunct="1"/>
            <a:r>
              <a:rPr lang="pt-BR" altLang="pt-BR" sz="2800" dirty="0"/>
              <a:t>4. Desenvolvimento e integração: Softwares que não podem ser adquiridos externamente são desenvolvidos, e os componentes e sistemas COTS são integrados para criar o novo sistema. A integração de sistemas pode ser parte do processo de desenvolvimento, </a:t>
            </a:r>
            <a:r>
              <a:rPr lang="pt-BR" altLang="pt-BR" sz="2800" dirty="0" smtClean="0"/>
              <a:t>não sendo </a:t>
            </a:r>
            <a:r>
              <a:rPr lang="pt-BR" altLang="pt-BR" sz="2800" dirty="0"/>
              <a:t>uma atividade separada.</a:t>
            </a:r>
            <a:endParaRPr lang="pt-PT" altLang="pt-BR" sz="2800" dirty="0"/>
          </a:p>
        </p:txBody>
      </p:sp>
    </p:spTree>
    <p:extLst>
      <p:ext uri="{BB962C8B-B14F-4D97-AF65-F5344CB8AC3E}">
        <p14:creationId xmlns:p14="http://schemas.microsoft.com/office/powerpoint/2010/main" val="971367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6DF8FB-D938-46AF-8B7D-55D7AE686569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pt-PT" altLang="pt-BR" sz="140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- </a:t>
            </a:r>
            <a:r>
              <a:rPr lang="pt-PT" altLang="pt-BR" sz="3600"/>
              <a:t>ES orientada a reuso</a:t>
            </a:r>
            <a:r>
              <a:rPr lang="pt-BR" altLang="pt-BR" sz="3600"/>
              <a:t> </a:t>
            </a:r>
            <a:endParaRPr lang="pt-PT" altLang="pt-BR" sz="3600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1155" y="1328468"/>
            <a:ext cx="11913079" cy="4919933"/>
          </a:xfrm>
        </p:spPr>
        <p:txBody>
          <a:bodyPr/>
          <a:lstStyle/>
          <a:p>
            <a:pPr algn="just" eaLnBrk="1" hangingPunct="1">
              <a:defRPr/>
            </a:pPr>
            <a:r>
              <a:rPr lang="pt-BR" sz="2800" dirty="0"/>
              <a:t>Existem três tipos de componentes de software que podem ser usados em um processo orientado a reuso: </a:t>
            </a:r>
          </a:p>
          <a:p>
            <a:pPr marL="514350" indent="-514350" algn="just">
              <a:buFontTx/>
              <a:buAutoNum type="arabicPeriod"/>
              <a:defRPr/>
            </a:pPr>
            <a:r>
              <a:rPr lang="pt-BR" sz="2800" dirty="0"/>
              <a:t>Web </a:t>
            </a:r>
            <a:r>
              <a:rPr lang="pt-BR" sz="2800" dirty="0" err="1"/>
              <a:t>services</a:t>
            </a:r>
            <a:r>
              <a:rPr lang="pt-BR" sz="2800" dirty="0"/>
              <a:t>: desenvolvidos de acordo com os padrões de serviço e que estão disponíveis para invocação remota.</a:t>
            </a:r>
          </a:p>
          <a:p>
            <a:pPr marL="514350" indent="-514350" algn="just">
              <a:buFontTx/>
              <a:buAutoNum type="arabicPeriod"/>
              <a:defRPr/>
            </a:pPr>
            <a:r>
              <a:rPr lang="pt-BR" sz="2800" dirty="0"/>
              <a:t>Coleções de objetos: desenvolvidas como um pacote a ser integrado com um framework de componentes, como .NET ou J2EE. </a:t>
            </a:r>
          </a:p>
          <a:p>
            <a:pPr marL="514350" indent="-514350" algn="just">
              <a:buFontTx/>
              <a:buAutoNum type="arabicPeriod"/>
              <a:defRPr/>
            </a:pPr>
            <a:r>
              <a:rPr lang="pt-BR" sz="2800" dirty="0"/>
              <a:t>Sistemas de software </a:t>
            </a:r>
            <a:r>
              <a:rPr lang="pt-BR" sz="2800" dirty="0" smtClean="0"/>
              <a:t>stand-</a:t>
            </a:r>
            <a:r>
              <a:rPr lang="pt-BR" sz="2800" dirty="0" err="1" smtClean="0"/>
              <a:t>alone</a:t>
            </a:r>
            <a:r>
              <a:rPr lang="pt-BR" sz="2800" dirty="0" smtClean="0"/>
              <a:t> ( programa autossuficiente que funciona sem estar conectado a outro software, sendo relevante em ambientes de simplicidade e </a:t>
            </a:r>
            <a:r>
              <a:rPr lang="pt-BR" sz="2800" dirty="0" err="1" smtClean="0"/>
              <a:t>autonimia</a:t>
            </a:r>
            <a:r>
              <a:rPr lang="pt-BR" sz="2800" dirty="0" smtClean="0"/>
              <a:t>): </a:t>
            </a:r>
            <a:r>
              <a:rPr lang="pt-BR" sz="2800" dirty="0"/>
              <a:t>configurados para uso em um ambiente particular.</a:t>
            </a:r>
            <a:endParaRPr lang="pt-PT" altLang="pt-BR" sz="2800" dirty="0"/>
          </a:p>
        </p:txBody>
      </p:sp>
    </p:spTree>
    <p:extLst>
      <p:ext uri="{BB962C8B-B14F-4D97-AF65-F5344CB8AC3E}">
        <p14:creationId xmlns:p14="http://schemas.microsoft.com/office/powerpoint/2010/main" val="39124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B7AD52-9BDC-4E9C-9DE8-B31F2477D65B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pt-PT" altLang="pt-BR" sz="140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- </a:t>
            </a:r>
            <a:r>
              <a:rPr lang="pt-PT" altLang="pt-BR" sz="3600"/>
              <a:t>ES orientada a reuso</a:t>
            </a:r>
            <a:r>
              <a:rPr lang="pt-BR" altLang="pt-BR" sz="3600"/>
              <a:t> </a:t>
            </a:r>
            <a:endParaRPr lang="pt-PT" altLang="pt-BR" sz="3600"/>
          </a:p>
        </p:txBody>
      </p:sp>
      <p:sp>
        <p:nvSpPr>
          <p:cNvPr id="38916" name="AutoShape 4" descr="Modelos de Processo de Software - ppt carregar"/>
          <p:cNvSpPr>
            <a:spLocks noGrp="1" noChangeAspect="1" noChangeArrowheads="1"/>
          </p:cNvSpPr>
          <p:nvPr>
            <p:ph type="subTitle" idx="1"/>
          </p:nvPr>
        </p:nvSpPr>
        <p:spPr>
          <a:xfrm>
            <a:off x="2185989" y="6599239"/>
            <a:ext cx="8340725" cy="47847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 altLang="pt-BR" smtClean="0"/>
          </a:p>
        </p:txBody>
      </p:sp>
      <p:pic>
        <p:nvPicPr>
          <p:cNvPr id="38917" name="Picture 6" descr="Modelos de Processo de Software - ppt carreg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1052514"/>
            <a:ext cx="8307388" cy="623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728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59D168-625D-42AB-9E5E-363D914A5B63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pt-PT" altLang="pt-BR" sz="140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- </a:t>
            </a:r>
            <a:r>
              <a:rPr lang="pt-PT" altLang="pt-BR" sz="3600"/>
              <a:t>ES orientada a reuso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7804" y="1224951"/>
            <a:ext cx="11481757" cy="5023450"/>
          </a:xfrm>
        </p:spPr>
        <p:txBody>
          <a:bodyPr/>
          <a:lstStyle/>
          <a:p>
            <a:pPr algn="just" eaLnBrk="1" hangingPunct="1"/>
            <a:r>
              <a:rPr lang="pt-BR" altLang="pt-BR" sz="2800" dirty="0"/>
              <a:t>Vantagens:  </a:t>
            </a:r>
          </a:p>
          <a:p>
            <a:pPr algn="just" eaLnBrk="1" hangingPunct="1"/>
            <a:r>
              <a:rPr lang="pt-BR" altLang="pt-BR" sz="2800" dirty="0"/>
              <a:t>Reduz a quantidade de software a ser desenvolvido, custos e riscos. </a:t>
            </a:r>
          </a:p>
          <a:p>
            <a:pPr algn="just" eaLnBrk="1" hangingPunct="1"/>
            <a:r>
              <a:rPr lang="pt-BR" altLang="pt-BR" sz="2800" dirty="0"/>
              <a:t>Pode haver a entrega mais rápida do software. </a:t>
            </a:r>
          </a:p>
          <a:p>
            <a:pPr algn="just" eaLnBrk="1" hangingPunct="1"/>
            <a:endParaRPr lang="pt-BR" altLang="pt-BR" sz="2800" dirty="0" smtClean="0"/>
          </a:p>
          <a:p>
            <a:pPr algn="just" eaLnBrk="1" hangingPunct="1"/>
            <a:r>
              <a:rPr lang="pt-BR" altLang="pt-BR" sz="2800" dirty="0" smtClean="0"/>
              <a:t>Desvantagens</a:t>
            </a:r>
            <a:r>
              <a:rPr lang="pt-BR" altLang="pt-BR" sz="2800" dirty="0"/>
              <a:t>:</a:t>
            </a:r>
          </a:p>
          <a:p>
            <a:pPr algn="just" eaLnBrk="1" hangingPunct="1"/>
            <a:r>
              <a:rPr lang="pt-BR" altLang="pt-BR" sz="2800" dirty="0"/>
              <a:t>Compromissos com os requisitos são inevitáveis, e isso pode levar a um sistema que não atende às reais necessidades dos usuários. </a:t>
            </a:r>
          </a:p>
          <a:p>
            <a:pPr algn="just" eaLnBrk="1" hangingPunct="1"/>
            <a:r>
              <a:rPr lang="pt-BR" altLang="pt-BR" sz="2800" dirty="0"/>
              <a:t>Pode haver perda de controle sobre a evolução do sistema, pois as novas versões dos componentes reusáveis não estão sob o controle da organização que os está utilizando. </a:t>
            </a:r>
            <a:endParaRPr lang="pt-PT" altLang="pt-BR" sz="2800" dirty="0"/>
          </a:p>
        </p:txBody>
      </p:sp>
    </p:spTree>
    <p:extLst>
      <p:ext uri="{BB962C8B-B14F-4D97-AF65-F5344CB8AC3E}">
        <p14:creationId xmlns:p14="http://schemas.microsoft.com/office/powerpoint/2010/main" val="341631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9A310A-A883-4BFA-8493-E0CBC37C59ED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pt-PT" altLang="pt-BR" sz="140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- </a:t>
            </a:r>
            <a:r>
              <a:rPr lang="pt-PT" altLang="pt-BR" sz="3600"/>
              <a:t>ES orientada a reuso</a:t>
            </a:r>
            <a:r>
              <a:rPr lang="pt-BR" altLang="pt-BR" sz="3600"/>
              <a:t> </a:t>
            </a:r>
            <a:endParaRPr lang="pt-PT" altLang="pt-BR" sz="3600"/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2913" y="1250830"/>
            <a:ext cx="11792310" cy="4997571"/>
          </a:xfrm>
        </p:spPr>
        <p:txBody>
          <a:bodyPr/>
          <a:lstStyle/>
          <a:p>
            <a:pPr algn="just" eaLnBrk="1" hangingPunct="1"/>
            <a:r>
              <a:rPr lang="pt-BR" altLang="pt-BR" sz="2800" dirty="0"/>
              <a:t>Atividades:</a:t>
            </a:r>
          </a:p>
          <a:p>
            <a:pPr algn="just" eaLnBrk="1" hangingPunct="1"/>
            <a:r>
              <a:rPr lang="pt-BR" altLang="pt-BR" dirty="0" smtClean="0"/>
              <a:t>Especificação, Desenvolvimento, Validação e Evolução: organizadas conforme o processo de desenvolvimento. </a:t>
            </a:r>
          </a:p>
          <a:p>
            <a:pPr algn="just" eaLnBrk="1" hangingPunct="1"/>
            <a:r>
              <a:rPr lang="pt-BR" altLang="pt-BR" dirty="0" smtClean="0"/>
              <a:t>Modelo em cascata: organizadas em sequência</a:t>
            </a:r>
          </a:p>
          <a:p>
            <a:pPr algn="just" eaLnBrk="1" hangingPunct="1"/>
            <a:r>
              <a:rPr lang="pt-BR" altLang="pt-BR" dirty="0" smtClean="0"/>
              <a:t>Desenvolvimento incremental: são intercaladas. </a:t>
            </a:r>
          </a:p>
          <a:p>
            <a:pPr algn="just" eaLnBrk="1" hangingPunct="1"/>
            <a:r>
              <a:rPr lang="pt-BR" altLang="pt-BR" dirty="0" smtClean="0"/>
              <a:t>A maneira como essas atividades serão feitas depende do tipo de software, das pessoas e das estruturas organizacionais envolvidas. </a:t>
            </a:r>
          </a:p>
          <a:p>
            <a:pPr algn="just" eaLnBrk="1" hangingPunct="1"/>
            <a:r>
              <a:rPr lang="pt-BR" altLang="pt-BR" dirty="0" smtClean="0"/>
              <a:t>Extreme </a:t>
            </a:r>
            <a:r>
              <a:rPr lang="pt-BR" altLang="pt-BR" dirty="0" err="1" smtClean="0"/>
              <a:t>programming</a:t>
            </a:r>
            <a:r>
              <a:rPr lang="pt-BR" altLang="pt-BR" dirty="0" smtClean="0"/>
              <a:t> - XP: especificações escritas em cartões. Testes são executáveis e desenvolvidos antes do próprio programa. </a:t>
            </a:r>
            <a:r>
              <a:rPr lang="pt-BR" altLang="pt-BR" dirty="0"/>
              <a:t>E</a:t>
            </a:r>
            <a:r>
              <a:rPr lang="pt-BR" altLang="pt-BR" dirty="0" smtClean="0"/>
              <a:t>volução pode demandar </a:t>
            </a:r>
            <a:r>
              <a:rPr lang="pt-BR" altLang="pt-BR" dirty="0" err="1" smtClean="0"/>
              <a:t>refatoração</a:t>
            </a:r>
            <a:r>
              <a:rPr lang="pt-BR" altLang="pt-BR" dirty="0" smtClean="0"/>
              <a:t> (reestruturação substancial do código).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56092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7846F6-0BD3-4C6A-88A3-41A67D988C1B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pt-PT" altLang="pt-BR" sz="140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pt-BR" altLang="pt-BR" sz="3600"/>
              <a:t>2 Processos de Software - Especificação de software ou engenharia de requisitos</a:t>
            </a:r>
            <a:br>
              <a:rPr lang="pt-BR" altLang="pt-BR" sz="3600"/>
            </a:br>
            <a:endParaRPr lang="pt-PT" altLang="pt-BR" sz="3600"/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7639" y="948906"/>
            <a:ext cx="11904452" cy="5299496"/>
          </a:xfrm>
        </p:spPr>
        <p:txBody>
          <a:bodyPr>
            <a:normAutofit/>
          </a:bodyPr>
          <a:lstStyle/>
          <a:p>
            <a:pPr algn="just"/>
            <a:r>
              <a:rPr lang="pt-BR" dirty="0" smtClean="0"/>
              <a:t>Requisito: </a:t>
            </a:r>
            <a:r>
              <a:rPr lang="pt-BR" dirty="0"/>
              <a:t>definição documentada </a:t>
            </a:r>
            <a:r>
              <a:rPr lang="pt-BR" dirty="0" smtClean="0"/>
              <a:t>de </a:t>
            </a:r>
            <a:r>
              <a:rPr lang="pt-BR" dirty="0"/>
              <a:t>propriedade ou comportamento que um produto deve atender. </a:t>
            </a:r>
            <a:r>
              <a:rPr lang="pt-BR" dirty="0" smtClean="0"/>
              <a:t>Definem </a:t>
            </a:r>
            <a:r>
              <a:rPr lang="pt-BR" dirty="0"/>
              <a:t>o que é necessário e dão foco à equipe do projeto</a:t>
            </a:r>
            <a:r>
              <a:rPr lang="pt-BR" dirty="0" smtClean="0"/>
              <a:t>., sendo </a:t>
            </a:r>
            <a:r>
              <a:rPr lang="pt-BR" dirty="0"/>
              <a:t>método primário para comunicar os objetivos do projeto para </a:t>
            </a:r>
            <a:r>
              <a:rPr lang="pt-BR" dirty="0" smtClean="0"/>
              <a:t>a </a:t>
            </a:r>
            <a:r>
              <a:rPr lang="pt-BR" dirty="0"/>
              <a:t>equipe</a:t>
            </a:r>
            <a:r>
              <a:rPr lang="pt-BR" dirty="0" smtClean="0"/>
              <a:t>.</a:t>
            </a:r>
          </a:p>
          <a:p>
            <a:pPr algn="just"/>
            <a:r>
              <a:rPr lang="pt-BR" altLang="pt-BR" dirty="0"/>
              <a:t>E</a:t>
            </a:r>
            <a:r>
              <a:rPr lang="pt-BR" altLang="pt-BR" dirty="0" smtClean="0"/>
              <a:t>ngenharia de Requisitos: Processo de compreensão e definição dos serviços requisitados ao sistema, da identificação de restrições relativas à operação e ao desenvolvimento do sistema. </a:t>
            </a:r>
          </a:p>
          <a:p>
            <a:pPr algn="just" eaLnBrk="1" hangingPunct="1"/>
            <a:r>
              <a:rPr lang="pt-BR" altLang="pt-BR" dirty="0" smtClean="0"/>
              <a:t>Estágio crítico do processo de software: erros nessa fase geram problemas no projeto e na implementação do sistema. </a:t>
            </a:r>
          </a:p>
          <a:p>
            <a:pPr algn="just" eaLnBrk="1" hangingPunct="1"/>
            <a:r>
              <a:rPr lang="pt-BR" altLang="pt-BR" dirty="0" smtClean="0"/>
              <a:t>Objetivo: produzir um documento de requisitos acordados que especificação do sistema satisfaz os requisitos dos </a:t>
            </a:r>
            <a:r>
              <a:rPr lang="pt-BR" altLang="pt-BR" dirty="0" err="1" smtClean="0"/>
              <a:t>stakeholders</a:t>
            </a:r>
            <a:r>
              <a:rPr lang="pt-BR" altLang="pt-BR" dirty="0" smtClean="0"/>
              <a:t>. </a:t>
            </a:r>
          </a:p>
          <a:p>
            <a:pPr algn="just" eaLnBrk="1" hangingPunct="1"/>
            <a:r>
              <a:rPr lang="pt-BR" altLang="pt-BR" dirty="0" smtClean="0"/>
              <a:t>Requisitos em dois níveis de detalhe: </a:t>
            </a:r>
          </a:p>
          <a:p>
            <a:pPr marL="457200" indent="-457200" algn="just" eaLnBrk="1" hangingPunct="1">
              <a:buAutoNum type="arabicParenR"/>
            </a:pPr>
            <a:r>
              <a:rPr lang="pt-BR" altLang="pt-BR" dirty="0" smtClean="0"/>
              <a:t>Os usuários finais e os clientes precisam de uma declaração de requisitos em alto nível; </a:t>
            </a:r>
          </a:p>
          <a:p>
            <a:pPr marL="457200" indent="-457200" algn="just" eaLnBrk="1" hangingPunct="1">
              <a:buAutoNum type="arabicParenR"/>
            </a:pPr>
            <a:r>
              <a:rPr lang="pt-BR" altLang="pt-BR" dirty="0" smtClean="0"/>
              <a:t>desenvolvedores de sistemas precisam de uma especificação mais detalhada do sistema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33645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FF0EF3-4175-42AE-92D1-135043A84669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pt-PT" altLang="pt-BR" sz="140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pt-BR" altLang="pt-BR" sz="3600"/>
              <a:t>2 Processos de Software Especificação de software ou engenharia de requisitos</a:t>
            </a:r>
            <a:br>
              <a:rPr lang="pt-BR" altLang="pt-BR" sz="3600"/>
            </a:br>
            <a:r>
              <a:rPr lang="pt-BR" altLang="pt-BR" sz="3600"/>
              <a:t> </a:t>
            </a:r>
            <a:endParaRPr lang="pt-PT" altLang="pt-BR" sz="3600"/>
          </a:p>
        </p:txBody>
      </p:sp>
      <p:pic>
        <p:nvPicPr>
          <p:cNvPr id="43012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1133475"/>
            <a:ext cx="828198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AutoShape 2" descr="T.I em foco: Engenharia de Requisitos"/>
          <p:cNvSpPr>
            <a:spLocks noGrp="1" noChangeAspect="1" noChangeArrowheads="1"/>
          </p:cNvSpPr>
          <p:nvPr>
            <p:ph type="subTitle" idx="1"/>
          </p:nvPr>
        </p:nvSpPr>
        <p:spPr>
          <a:xfrm>
            <a:off x="1524001" y="981076"/>
            <a:ext cx="9180513" cy="52673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 altLang="pt-BR" smtClean="0"/>
          </a:p>
        </p:txBody>
      </p:sp>
    </p:spTree>
    <p:extLst>
      <p:ext uri="{BB962C8B-B14F-4D97-AF65-F5344CB8AC3E}">
        <p14:creationId xmlns:p14="http://schemas.microsoft.com/office/powerpoint/2010/main" val="3709531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DA2850-FE67-45A0-8CB6-DDC937D0853B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pt-PT" altLang="pt-BR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pt-BR" altLang="pt-BR" sz="3600"/>
              <a:t>2 Processos de Software Especificação de software ou engenharia de requisitos</a:t>
            </a:r>
            <a:br>
              <a:rPr lang="pt-BR" altLang="pt-BR" sz="3600"/>
            </a:br>
            <a:r>
              <a:rPr lang="pt-BR" altLang="pt-BR" sz="3600"/>
              <a:t> </a:t>
            </a:r>
            <a:endParaRPr lang="pt-PT" altLang="pt-BR" sz="3600"/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2529" y="1143000"/>
            <a:ext cx="11852694" cy="5105401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Atividades:</a:t>
            </a:r>
          </a:p>
          <a:p>
            <a:pPr algn="just" eaLnBrk="1" hangingPunct="1"/>
            <a:r>
              <a:rPr lang="pt-BR" altLang="pt-BR" dirty="0" smtClean="0"/>
              <a:t>1 Estudo de viabilidade: Estimativa da possibilidade de atendimento as necessidades do usuário incluindo tecnologias de software e hardware. Verifica-se a rentabilidade do sistema a partir de um ponto de vista de negócio e se ele pode ser desenvolvido no âmbito das atuais restrições orçamentais. Deve ser relativamente barato e rápido. O resultado deve informar a decisão de avançar ou não, com uma análise mais detalhada. </a:t>
            </a:r>
          </a:p>
          <a:p>
            <a:pPr algn="just" eaLnBrk="1" hangingPunct="1"/>
            <a:r>
              <a:rPr lang="pt-BR" altLang="pt-BR" dirty="0" smtClean="0"/>
              <a:t>2 </a:t>
            </a:r>
            <a:r>
              <a:rPr lang="pt-BR" altLang="pt-BR" dirty="0" err="1" smtClean="0"/>
              <a:t>Elicitação</a:t>
            </a:r>
            <a:r>
              <a:rPr lang="pt-BR" altLang="pt-BR" dirty="0" smtClean="0"/>
              <a:t> e análise de requisitos: Processo de derivação dos requisitos do sistema por meio da observação dos sistemas existentes, além de discussões com os potenciais usuários e compradores, análise de tarefas, entre outras etapas. </a:t>
            </a:r>
            <a:r>
              <a:rPr lang="pt-BR" altLang="pt-BR" dirty="0"/>
              <a:t>P</a:t>
            </a:r>
            <a:r>
              <a:rPr lang="pt-BR" altLang="pt-BR" dirty="0" smtClean="0"/>
              <a:t>ode envolver o desenvolvimento de um ou mais modelos de sistemas e protótipos que ajudam a entender o sistema a ser especificado.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71964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7BED8B-F0E9-4507-AD04-84E4B985D5B3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pt-PT" altLang="pt-BR" sz="1400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31951" y="188913"/>
            <a:ext cx="9217025" cy="114300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pt-BR" altLang="pt-BR" sz="3600"/>
              <a:t>2 Processos de Software Especificação de software ou engenharia de requisitos</a:t>
            </a:r>
            <a:br>
              <a:rPr lang="pt-BR" altLang="pt-BR" sz="3600"/>
            </a:br>
            <a:r>
              <a:rPr lang="pt-BR" altLang="pt-BR" sz="3600"/>
              <a:t> </a:t>
            </a:r>
            <a:endParaRPr lang="pt-PT" altLang="pt-BR" sz="3600"/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397" y="1216324"/>
            <a:ext cx="11852694" cy="5322587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Atividades</a:t>
            </a:r>
          </a:p>
          <a:p>
            <a:pPr algn="just" eaLnBrk="1" hangingPunct="1"/>
            <a:r>
              <a:rPr lang="pt-BR" altLang="pt-BR" dirty="0" smtClean="0"/>
              <a:t>3 Especificação de requisitos: traduz as informações obtidas durante a atividade de análise em um documento que define um conjunto de requisitos. Dois tipos de requisitos podem ser incluídos nesse documento: </a:t>
            </a:r>
          </a:p>
          <a:p>
            <a:pPr algn="just" eaLnBrk="1" hangingPunct="1"/>
            <a:r>
              <a:rPr lang="pt-BR" altLang="pt-BR" dirty="0"/>
              <a:t>	</a:t>
            </a:r>
            <a:r>
              <a:rPr lang="pt-BR" altLang="pt-BR" dirty="0" smtClean="0"/>
              <a:t>a) Requisitos do usuário (declarações abstratas dos requisitos do sistema para o cliente e usuário final); </a:t>
            </a:r>
          </a:p>
          <a:p>
            <a:pPr algn="just" eaLnBrk="1" hangingPunct="1"/>
            <a:r>
              <a:rPr lang="pt-BR" altLang="pt-BR" dirty="0"/>
              <a:t>	b</a:t>
            </a:r>
            <a:r>
              <a:rPr lang="pt-BR" altLang="pt-BR" dirty="0" smtClean="0"/>
              <a:t>) requisitos de sistema (descrição mais detalhada da funcionalidade a ser provida).</a:t>
            </a:r>
          </a:p>
          <a:p>
            <a:pPr algn="just" eaLnBrk="1" hangingPunct="1"/>
            <a:r>
              <a:rPr lang="pt-BR" altLang="pt-BR" dirty="0" smtClean="0"/>
              <a:t>4. Validação de requisitos: verifica realismo, consistência e completude dos requisitos. Durante esse processo, os erros no documento de requisitos são descobertos fazendo-se a correção e modificando o documento.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339692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9828F0-C811-4B3B-8A9B-51B7F50880AE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pt-PT" altLang="pt-BR" sz="140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pt-BR" altLang="pt-BR" sz="3600"/>
              <a:t>2 Processos de Software Especificação de software ou engenharia de requisitos</a:t>
            </a:r>
            <a:br>
              <a:rPr lang="pt-BR" altLang="pt-BR" sz="3600"/>
            </a:br>
            <a:r>
              <a:rPr lang="pt-BR" altLang="pt-BR" sz="3600"/>
              <a:t> </a:t>
            </a:r>
            <a:endParaRPr lang="pt-PT" altLang="pt-BR" sz="3600"/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2143" y="1362974"/>
            <a:ext cx="11938959" cy="4885427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Atividades</a:t>
            </a:r>
          </a:p>
          <a:p>
            <a:pPr algn="just" eaLnBrk="1" hangingPunct="1"/>
            <a:r>
              <a:rPr lang="pt-BR" altLang="pt-BR" dirty="0" smtClean="0"/>
              <a:t>Atividades no processo de requisitos não são feitas em apenas uma sequência: análise de requisitos continua durante a definição e especificação, e novos requisitos emergem durante o processo. </a:t>
            </a:r>
          </a:p>
          <a:p>
            <a:pPr algn="just" eaLnBrk="1" hangingPunct="1"/>
            <a:r>
              <a:rPr lang="pt-BR" altLang="pt-BR" dirty="0" smtClean="0"/>
              <a:t>Atividades de análise, definição e especificação são intercaladas. </a:t>
            </a:r>
          </a:p>
          <a:p>
            <a:pPr algn="just" eaLnBrk="1" hangingPunct="1"/>
            <a:r>
              <a:rPr lang="pt-BR" altLang="pt-BR" dirty="0" smtClean="0"/>
              <a:t>Métodos ágeis (Extreme </a:t>
            </a:r>
            <a:r>
              <a:rPr lang="pt-BR" altLang="pt-BR" dirty="0" err="1" smtClean="0"/>
              <a:t>Programming</a:t>
            </a:r>
            <a:r>
              <a:rPr lang="pt-BR" altLang="pt-BR" dirty="0" smtClean="0"/>
              <a:t>): requisitos são desenvolvidos de forma incremental, de acordo com as prioridades do usuário, e a </a:t>
            </a:r>
            <a:r>
              <a:rPr lang="pt-BR" altLang="pt-BR" dirty="0" err="1" smtClean="0"/>
              <a:t>elicitação</a:t>
            </a:r>
            <a:r>
              <a:rPr lang="pt-BR" altLang="pt-BR" dirty="0" smtClean="0"/>
              <a:t> de requisitos é feita pelos usuários que integram com a equipe de desenvolvimento.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193332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137BC9-1068-4CF9-9D97-D12302594EF3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pt-PT" altLang="pt-BR" sz="140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pt-BR" altLang="pt-BR" sz="3600"/>
              <a:t>2 Processos de Software -Projeto e implementação de software </a:t>
            </a:r>
            <a:br>
              <a:rPr lang="pt-BR" altLang="pt-BR" sz="3600"/>
            </a:br>
            <a:endParaRPr lang="pt-PT" altLang="pt-BR" sz="3600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409" y="1000664"/>
            <a:ext cx="11783682" cy="5247737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pt-BR" altLang="pt-BR" dirty="0" smtClean="0"/>
              <a:t>Processo de conversão da especificação do sistema em um sistema executável. Envolve processos de projeto e programação de software</a:t>
            </a:r>
          </a:p>
          <a:p>
            <a:pPr algn="just" eaLnBrk="1" hangingPunct="1"/>
            <a:r>
              <a:rPr lang="pt-BR" altLang="pt-BR" dirty="0"/>
              <a:t>A</a:t>
            </a:r>
            <a:r>
              <a:rPr lang="pt-BR" altLang="pt-BR" dirty="0" smtClean="0"/>
              <a:t>bordagem incremental: pode envolver o refinamento da especificação do software. </a:t>
            </a:r>
          </a:p>
          <a:p>
            <a:pPr algn="just" eaLnBrk="1" hangingPunct="1"/>
            <a:r>
              <a:rPr lang="pt-BR" altLang="pt-BR" dirty="0" smtClean="0"/>
              <a:t>Projeto de software: descrição da estrutura do software a ser implementado, dos modelos e estruturas de dados usados pelo sistema, das interfaces entre os componentes do sistema e, às vezes, dos algoritmos usados. </a:t>
            </a:r>
          </a:p>
          <a:p>
            <a:pPr algn="just" eaLnBrk="1" hangingPunct="1"/>
            <a:r>
              <a:rPr lang="pt-BR" altLang="pt-BR" dirty="0" smtClean="0"/>
              <a:t>Projetistas: desenvolvem o projeto de forma iterativa; acrescentam formalidade e detalhes; desenvolvem o projeto por meio de revisões constantes para correção de projetos anteriores.</a:t>
            </a:r>
          </a:p>
          <a:p>
            <a:pPr algn="just"/>
            <a:r>
              <a:rPr lang="pt-BR" altLang="pt-BR" dirty="0"/>
              <a:t>Elabora-se modelo abstrato do projeto: mostra as entradas, suas atividades e os documentos produzidos como saídas. </a:t>
            </a:r>
          </a:p>
          <a:p>
            <a:pPr algn="just"/>
            <a:r>
              <a:rPr lang="pt-BR" altLang="pt-BR" dirty="0"/>
              <a:t>Diagrama sugere que os estágios do processo de projeto são sequenciais: as atividades do processo são intercaladas. </a:t>
            </a:r>
          </a:p>
          <a:p>
            <a:pPr algn="just"/>
            <a:r>
              <a:rPr lang="pt-BR" altLang="pt-BR" dirty="0"/>
              <a:t>Feedback de um estágio para outro e consequente retrabalho são inevitáveis em todos os processos.</a:t>
            </a:r>
          </a:p>
          <a:p>
            <a:pPr algn="just" eaLnBrk="1" hangingPunct="1"/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153639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FE3D4C-6B03-4F29-82EE-78DF18261B05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pt-PT" altLang="pt-BR" sz="140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pt-BR" altLang="pt-BR" sz="3600"/>
              <a:t>2 Processos de Software -Projeto e implementação de software </a:t>
            </a:r>
            <a:br>
              <a:rPr lang="pt-BR" altLang="pt-BR" sz="3600"/>
            </a:br>
            <a:endParaRPr lang="pt-PT" altLang="pt-BR" sz="3600"/>
          </a:p>
        </p:txBody>
      </p:sp>
      <p:pic>
        <p:nvPicPr>
          <p:cNvPr id="49156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996950"/>
            <a:ext cx="8064500" cy="570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3849" y="750498"/>
            <a:ext cx="10187795" cy="5497902"/>
          </a:xfrm>
        </p:spPr>
        <p:txBody>
          <a:bodyPr/>
          <a:lstStyle/>
          <a:p>
            <a:pPr algn="just" eaLnBrk="1" hangingPunct="1"/>
            <a:r>
              <a:rPr lang="pt-PT" altLang="pt-BR" dirty="0" smtClean="0"/>
              <a:t>Pag 40</a:t>
            </a:r>
          </a:p>
        </p:txBody>
      </p:sp>
    </p:spTree>
    <p:extLst>
      <p:ext uri="{BB962C8B-B14F-4D97-AF65-F5344CB8AC3E}">
        <p14:creationId xmlns:p14="http://schemas.microsoft.com/office/powerpoint/2010/main" val="1759946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D7C110-2FEA-4BB6-B579-954688DB37F1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pt-PT" altLang="pt-BR" sz="140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pt-BR" altLang="pt-BR" sz="3600"/>
              <a:t>2 Processos de Software -Projeto e implementação de software </a:t>
            </a:r>
            <a:br>
              <a:rPr lang="pt-BR" altLang="pt-BR" sz="3600"/>
            </a:br>
            <a:r>
              <a:rPr lang="pt-BR" altLang="pt-BR" sz="3600"/>
              <a:t> </a:t>
            </a:r>
            <a:endParaRPr lang="pt-PT" altLang="pt-BR" sz="3600"/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191" y="1143000"/>
            <a:ext cx="11852693" cy="4928559"/>
          </a:xfrm>
        </p:spPr>
        <p:txBody>
          <a:bodyPr>
            <a:normAutofit fontScale="92500" lnSpcReduction="10000"/>
          </a:bodyPr>
          <a:lstStyle/>
          <a:p>
            <a:pPr algn="just" eaLnBrk="1" hangingPunct="1"/>
            <a:r>
              <a:rPr lang="pt-BR" altLang="pt-BR" dirty="0" smtClean="0"/>
              <a:t>Softwares interagem com outros sistemas de software (sistema operacional, banco de dados,  middleware e outros aplicativos). </a:t>
            </a:r>
          </a:p>
          <a:p>
            <a:pPr algn="just" eaLnBrk="1" hangingPunct="1"/>
            <a:r>
              <a:rPr lang="pt-BR" altLang="pt-BR" dirty="0"/>
              <a:t>P</a:t>
            </a:r>
            <a:r>
              <a:rPr lang="pt-BR" altLang="pt-BR" dirty="0" smtClean="0"/>
              <a:t>lataforma de software - ambiente em que o software será executado: Informações sobre a plataforma são entradas essenciais para o processo de projeto. Projetistas devem decidir a melhor forma de integrá-la ao ambiente do software. </a:t>
            </a:r>
          </a:p>
          <a:p>
            <a:pPr algn="just" eaLnBrk="1" hangingPunct="1"/>
            <a:r>
              <a:rPr lang="pt-BR" altLang="pt-BR" dirty="0" smtClean="0"/>
              <a:t>Especificação de requisitos: descrição das funcionalidades do software, requisitos de desempenho e confiança. </a:t>
            </a:r>
          </a:p>
          <a:p>
            <a:pPr algn="just" eaLnBrk="1" hangingPunct="1"/>
            <a:r>
              <a:rPr lang="pt-BR" altLang="pt-BR" dirty="0" smtClean="0"/>
              <a:t>Sistema de processamento de dados existente: sua descrição poderia ser incluída na especificação da plataforma; caso contrário, a descrição dos dados deve ser uma entrada para o processo de projeto, para que a organização dos dados do sistema seja definida.</a:t>
            </a:r>
          </a:p>
          <a:p>
            <a:pPr algn="just"/>
            <a:r>
              <a:rPr lang="pt-BR" altLang="pt-BR" dirty="0"/>
              <a:t>As atividades no processo de projeto podem variar, dependendo do tipo de sistema a ser desenvolvido. </a:t>
            </a:r>
          </a:p>
          <a:p>
            <a:pPr algn="just"/>
            <a:r>
              <a:rPr lang="pt-BR" altLang="pt-BR" dirty="0" err="1" smtClean="0"/>
              <a:t>Ex</a:t>
            </a:r>
            <a:r>
              <a:rPr lang="pt-BR" altLang="pt-BR" dirty="0"/>
              <a:t>: sistemas de tempo real demandam projeto de timing, </a:t>
            </a:r>
            <a:r>
              <a:rPr lang="pt-BR" altLang="pt-BR" dirty="0" smtClean="0"/>
              <a:t>podem </a:t>
            </a:r>
            <a:r>
              <a:rPr lang="pt-BR" altLang="pt-BR" dirty="0"/>
              <a:t>não incluir uma base de </a:t>
            </a:r>
            <a:r>
              <a:rPr lang="pt-BR" altLang="pt-BR" dirty="0" smtClean="0"/>
              <a:t>dados não havendo um </a:t>
            </a:r>
            <a:r>
              <a:rPr lang="pt-BR" altLang="pt-BR" dirty="0"/>
              <a:t>projeto de banco de dados envolvido.</a:t>
            </a:r>
            <a:endParaRPr lang="pt-PT" altLang="pt-BR" dirty="0"/>
          </a:p>
          <a:p>
            <a:pPr algn="just" eaLnBrk="1" hangingPunct="1"/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137380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E6F40D-4E17-41F9-BA1D-E1A9A8BBF7F4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pt-PT" altLang="pt-BR" sz="140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pt-BR" altLang="pt-BR" sz="3600"/>
              <a:t>2 Processos de Software -Projeto e implementação de software </a:t>
            </a:r>
            <a:br>
              <a:rPr lang="pt-BR" altLang="pt-BR" sz="3600"/>
            </a:br>
            <a:r>
              <a:rPr lang="pt-BR" altLang="pt-BR" sz="3600"/>
              <a:t> </a:t>
            </a:r>
            <a:endParaRPr lang="pt-PT" altLang="pt-BR" sz="3600"/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409" y="1143000"/>
            <a:ext cx="11671538" cy="4531744"/>
          </a:xfrm>
        </p:spPr>
        <p:txBody>
          <a:bodyPr>
            <a:normAutofit fontScale="92500" lnSpcReduction="10000"/>
          </a:bodyPr>
          <a:lstStyle/>
          <a:p>
            <a:pPr algn="just" eaLnBrk="1" hangingPunct="1"/>
            <a:r>
              <a:rPr lang="pt-BR" altLang="pt-BR" dirty="0" smtClean="0"/>
              <a:t>As atividades do processo de projeto de sistemas de informação: </a:t>
            </a:r>
          </a:p>
          <a:p>
            <a:pPr algn="just" eaLnBrk="1" hangingPunct="1"/>
            <a:r>
              <a:rPr lang="pt-BR" altLang="pt-BR" dirty="0" smtClean="0"/>
              <a:t>1. Projeto de arquitetura: identifica a estrutura geral do sistema, dos componentes principais (subsistemas ou módulos), seus relacionamentos e como eles são distribuídos. </a:t>
            </a:r>
          </a:p>
          <a:p>
            <a:pPr algn="just" eaLnBrk="1" hangingPunct="1"/>
            <a:r>
              <a:rPr lang="pt-BR" altLang="pt-BR" dirty="0" smtClean="0"/>
              <a:t>2. Projeto de interface: define as interfaces dos componentes do sistema. Interface precisa: componente pode ser usado de maneira que outros componentes não precisam saber como ele é implementado. Especificações de interface acordadas:  os componentes podem ser projetados e desenvolvidos simultaneamente.</a:t>
            </a:r>
          </a:p>
          <a:p>
            <a:pPr algn="just"/>
            <a:r>
              <a:rPr lang="pt-BR" altLang="pt-BR" dirty="0"/>
              <a:t>3. Projeto de componente: projeta o funcionamento de cada componente do sistema, podendo ser uma declaração da funcionalidade que se espera implementar, para cada programador. </a:t>
            </a:r>
            <a:r>
              <a:rPr lang="pt-BR" altLang="pt-BR" dirty="0" smtClean="0"/>
              <a:t>Pode </a:t>
            </a:r>
            <a:r>
              <a:rPr lang="pt-BR" altLang="pt-BR" dirty="0"/>
              <a:t>ser uma lista de alterações a serem feitas em um componente </a:t>
            </a:r>
            <a:r>
              <a:rPr lang="pt-BR" altLang="pt-BR" dirty="0" err="1"/>
              <a:t>reusável</a:t>
            </a:r>
            <a:r>
              <a:rPr lang="pt-BR" altLang="pt-BR" dirty="0"/>
              <a:t> ou um modelo de projeto detalhado que pode ser usado para gerar automaticamente uma implementação. </a:t>
            </a:r>
          </a:p>
          <a:p>
            <a:pPr algn="just"/>
            <a:r>
              <a:rPr lang="pt-BR" altLang="pt-BR" dirty="0"/>
              <a:t>4. Projeto de banco de dados: projeto das estruturas de dados do sistema e como eles devem ser representados no banco de dados. Depende da existência de um banco de dados a ser reusado ou da criação de um novo banco de dados.</a:t>
            </a:r>
            <a:endParaRPr lang="pt-PT" altLang="pt-BR" dirty="0"/>
          </a:p>
          <a:p>
            <a:pPr algn="just" eaLnBrk="1" hangingPunct="1"/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763683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A4C879-B195-4BD6-A5DB-A9C79024F63D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pt-PT" altLang="pt-BR" sz="1400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pt-BR" altLang="pt-BR" sz="3600"/>
              <a:t>2 Processos de Software  -Projeto e implementação de software </a:t>
            </a:r>
            <a:br>
              <a:rPr lang="pt-BR" altLang="pt-BR" sz="3600"/>
            </a:br>
            <a:endParaRPr lang="pt-PT" altLang="pt-BR" sz="3600"/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7419" y="1647645"/>
            <a:ext cx="11205713" cy="4600756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Essas atividades conduzem a um conjunto de saídas do projeto. O detalhe e a apresentação de cada uma varia consideravelmente. </a:t>
            </a:r>
          </a:p>
          <a:p>
            <a:pPr algn="just" eaLnBrk="1" hangingPunct="1"/>
            <a:endParaRPr lang="pt-BR" altLang="pt-BR" dirty="0" smtClean="0"/>
          </a:p>
          <a:p>
            <a:pPr algn="just" eaLnBrk="1" hangingPunct="1"/>
            <a:r>
              <a:rPr lang="pt-BR" altLang="pt-BR" dirty="0" smtClean="0"/>
              <a:t>Sistemas críticos: produz-se documentos detalhados de projeto, indicando as descrições precisas e exatas do sistema. </a:t>
            </a:r>
          </a:p>
          <a:p>
            <a:pPr algn="just" eaLnBrk="1" hangingPunct="1"/>
            <a:endParaRPr lang="pt-BR" altLang="pt-BR" dirty="0" smtClean="0"/>
          </a:p>
          <a:p>
            <a:pPr algn="just" eaLnBrk="1" hangingPunct="1"/>
            <a:r>
              <a:rPr lang="pt-BR" altLang="pt-BR" dirty="0" smtClean="0"/>
              <a:t>Abordagem dirigida a modelos: as saídas podem ser majoritariamente diagramas. </a:t>
            </a:r>
          </a:p>
          <a:p>
            <a:pPr algn="just" eaLnBrk="1" hangingPunct="1"/>
            <a:endParaRPr lang="pt-BR" altLang="pt-BR" dirty="0" smtClean="0"/>
          </a:p>
          <a:p>
            <a:pPr algn="just" eaLnBrk="1" hangingPunct="1"/>
            <a:r>
              <a:rPr lang="pt-BR" altLang="pt-BR" dirty="0" smtClean="0"/>
              <a:t>Métodos ágeis de desenvolvimento: as saídas do processo de projeto podem não ser documentos de especificação separados, mas ser representadas no código do programa. 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400829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1A61DC-44C4-411A-9E26-8041A8078992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pt-PT" altLang="pt-BR" sz="1400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pt-BR" altLang="pt-BR" sz="3600"/>
              <a:t>2 Processos de Software -Projeto e implementação de software </a:t>
            </a:r>
            <a:br>
              <a:rPr lang="pt-BR" altLang="pt-BR" sz="3600"/>
            </a:br>
            <a:r>
              <a:rPr lang="pt-BR" altLang="pt-BR" sz="3600"/>
              <a:t> </a:t>
            </a:r>
            <a:endParaRPr lang="pt-PT" altLang="pt-BR" sz="3600"/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0551" y="1043795"/>
            <a:ext cx="11568023" cy="5661805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Métodos estruturados: desenvolvidos nas décadas de 1970 e 1980</a:t>
            </a:r>
          </a:p>
          <a:p>
            <a:pPr algn="just" eaLnBrk="1" hangingPunct="1"/>
            <a:r>
              <a:rPr lang="pt-BR" altLang="pt-BR" dirty="0" smtClean="0"/>
              <a:t>Precursores da UML e do projeto orientado a objetos (BUDGEN, 2003). Relacionados com a produção de modelos gráficos do sistema e podem gerar códigos automaticamente a partir dos modelos. </a:t>
            </a:r>
          </a:p>
          <a:p>
            <a:pPr algn="just" eaLnBrk="1" hangingPunct="1"/>
            <a:endParaRPr lang="pt-BR" altLang="pt-BR" dirty="0" smtClean="0"/>
          </a:p>
          <a:p>
            <a:pPr algn="just" eaLnBrk="1" hangingPunct="1"/>
            <a:r>
              <a:rPr lang="pt-BR" altLang="pt-BR" dirty="0" smtClean="0"/>
              <a:t>Desenvolvimento dirigido a modelos – MDD (</a:t>
            </a:r>
            <a:r>
              <a:rPr lang="pt-BR" altLang="pt-BR" dirty="0" err="1" smtClean="0"/>
              <a:t>model-driven</a:t>
            </a:r>
            <a:r>
              <a:rPr lang="pt-BR" altLang="pt-BR" dirty="0" smtClean="0"/>
              <a:t> </a:t>
            </a:r>
            <a:r>
              <a:rPr lang="pt-BR" altLang="pt-BR" dirty="0" err="1" smtClean="0"/>
              <a:t>development</a:t>
            </a:r>
            <a:r>
              <a:rPr lang="pt-BR" altLang="pt-BR" dirty="0" smtClean="0"/>
              <a:t>) ou engenharia dirigida a modelos (SCHMIDT, 2006):  modelos de software: criados em diferentes níveis de abstração;</a:t>
            </a:r>
          </a:p>
          <a:p>
            <a:pPr algn="just" eaLnBrk="1" hangingPunct="1"/>
            <a:r>
              <a:rPr lang="pt-BR" altLang="pt-BR" dirty="0" smtClean="0"/>
              <a:t>Evolução dos métodos estruturados. </a:t>
            </a:r>
          </a:p>
          <a:p>
            <a:pPr algn="just" eaLnBrk="1" hangingPunct="1"/>
            <a:r>
              <a:rPr lang="pt-BR" altLang="pt-BR" dirty="0" smtClean="0"/>
              <a:t> </a:t>
            </a:r>
          </a:p>
          <a:p>
            <a:pPr algn="just" eaLnBrk="1" hangingPunct="1"/>
            <a:r>
              <a:rPr lang="pt-BR" altLang="pt-BR" dirty="0" smtClean="0"/>
              <a:t>Modelos desenvolvidos em detalhes para que o sistema executável possa ser gerado a partir deles. 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11798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FA9B89-44DF-4C50-9C5B-3F4C1BD8A01E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pt-PT" altLang="pt-BR" sz="140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pt-BR" altLang="pt-BR" sz="3600"/>
              <a:t>2 Processos de Software -Projeto e implementação de software </a:t>
            </a:r>
            <a:br>
              <a:rPr lang="pt-BR" altLang="pt-BR" sz="3600"/>
            </a:br>
            <a:r>
              <a:rPr lang="pt-BR" altLang="pt-BR" sz="3600"/>
              <a:t> </a:t>
            </a:r>
            <a:endParaRPr lang="pt-PT" altLang="pt-BR" sz="3600"/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9177" y="1423358"/>
            <a:ext cx="11800936" cy="4825043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Programação: atividade pessoal, não existe um processo geral a ser seguido. Os desenvolvedores:</a:t>
            </a:r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pt-BR" altLang="pt-BR" dirty="0" smtClean="0"/>
              <a:t>Começam com componentes que compreendem, desenvolvem e depois passam para os componentes menos compreendidos. </a:t>
            </a:r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pt-BR" altLang="pt-BR" dirty="0" smtClean="0"/>
              <a:t>Deixam para o fim os componentes familiares, pois sabem como desenvolvê-los. </a:t>
            </a:r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pt-BR" altLang="pt-BR" dirty="0" smtClean="0"/>
              <a:t>Definem os dados no início do processo e usam no desenvolvimento do programa; </a:t>
            </a:r>
          </a:p>
          <a:p>
            <a:pPr marL="342900" indent="-342900" algn="just" eaLnBrk="1" hangingPunct="1">
              <a:buFont typeface="Arial" panose="020B0604020202020204" pitchFamily="34" charset="0"/>
              <a:buChar char="•"/>
            </a:pPr>
            <a:r>
              <a:rPr lang="pt-BR" altLang="pt-BR" dirty="0" smtClean="0"/>
              <a:t>Outros deixam os dados não especificados durante o maior período de tempo possível.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55246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D3EFC9-C081-4332-BEC9-4AC82F3D4150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pt-PT" altLang="pt-BR" sz="140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pt-BR" altLang="pt-BR" sz="3600"/>
              <a:t>2 Processos de Software -Projeto e implementação de software </a:t>
            </a:r>
            <a:br>
              <a:rPr lang="pt-BR" altLang="pt-BR" sz="3600"/>
            </a:br>
            <a:r>
              <a:rPr lang="pt-BR" altLang="pt-BR" sz="3600"/>
              <a:t> </a:t>
            </a:r>
            <a:endParaRPr lang="pt-PT" altLang="pt-BR" sz="3600"/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3298" y="1302590"/>
            <a:ext cx="11680165" cy="4945812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Testes: Revelam defeitos que devem ser retirados do programa. Isso é chamado </a:t>
            </a:r>
            <a:r>
              <a:rPr lang="pt-BR" altLang="pt-BR" dirty="0" err="1" smtClean="0"/>
              <a:t>debugging</a:t>
            </a:r>
            <a:r>
              <a:rPr lang="pt-BR" altLang="pt-BR" dirty="0" smtClean="0"/>
              <a:t>. </a:t>
            </a:r>
          </a:p>
          <a:p>
            <a:pPr algn="just" eaLnBrk="1" hangingPunct="1"/>
            <a:r>
              <a:rPr lang="pt-BR" altLang="pt-BR" dirty="0" smtClean="0"/>
              <a:t>Testes estabelecem a existência de defeitos x </a:t>
            </a:r>
            <a:r>
              <a:rPr lang="pt-BR" altLang="pt-BR" dirty="0" err="1" smtClean="0"/>
              <a:t>debugging</a:t>
            </a:r>
            <a:r>
              <a:rPr lang="pt-BR" altLang="pt-BR" dirty="0" smtClean="0"/>
              <a:t> diz respeito à localização e correção desses defeitos.</a:t>
            </a:r>
          </a:p>
          <a:p>
            <a:pPr algn="just" eaLnBrk="1" hangingPunct="1"/>
            <a:r>
              <a:rPr lang="pt-BR" altLang="pt-BR" dirty="0" err="1" smtClean="0"/>
              <a:t>Debugging</a:t>
            </a:r>
            <a:r>
              <a:rPr lang="pt-BR" altLang="pt-BR" dirty="0" smtClean="0"/>
              <a:t>: precisa gerar hipóteses sobre o comportamento observável do programa; testar essas hipóteses na esperança de encontrar um defeito que tenha causado uma saída anormal. </a:t>
            </a:r>
          </a:p>
          <a:p>
            <a:pPr algn="just" eaLnBrk="1" hangingPunct="1"/>
            <a:r>
              <a:rPr lang="pt-BR" altLang="pt-BR" dirty="0" smtClean="0"/>
              <a:t>Teste das hipóteses: rastreio manual do código do programa, exige novos casos de teste para localização do problema. </a:t>
            </a:r>
          </a:p>
          <a:p>
            <a:pPr algn="just" eaLnBrk="1" hangingPunct="1"/>
            <a:r>
              <a:rPr lang="pt-BR" altLang="pt-BR" dirty="0" smtClean="0"/>
              <a:t>Ferramentas interativas de depuração (mostram os valores intermediários das variáveis e lista das instruções executadas) podem ser usadas para apoiar o processo de depuração.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324361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CB667A-149B-4EB3-A457-BFEA871EDE2F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pt-PT" altLang="pt-BR" sz="1400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Validação de Software</a:t>
            </a:r>
            <a:endParaRPr lang="pt-PT" altLang="pt-BR" sz="3600"/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99280" y="1440611"/>
            <a:ext cx="11279293" cy="4721525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Validação de Software  ou verificação e validação (V&amp;V): mostra que o software se adequa a suas especificações e satisfaz as especificações do cliente. </a:t>
            </a:r>
          </a:p>
          <a:p>
            <a:pPr algn="just" eaLnBrk="1" hangingPunct="1"/>
            <a:r>
              <a:rPr lang="pt-BR" altLang="pt-BR" dirty="0" smtClean="0"/>
              <a:t>Teste de programa: o sistema é executado com dados de testes simulados, sendo a principal técnica de validação. </a:t>
            </a:r>
          </a:p>
          <a:p>
            <a:pPr algn="just" eaLnBrk="1" hangingPunct="1"/>
            <a:r>
              <a:rPr lang="pt-BR" altLang="pt-BR" dirty="0" smtClean="0"/>
              <a:t>Validação envolve processos de verificação (inspeções e revisões) em cada estágio do processo de software, da definição dos requisitos de usuários até o desenvolvimento do programa. </a:t>
            </a:r>
          </a:p>
          <a:p>
            <a:pPr algn="just" eaLnBrk="1" hangingPunct="1"/>
            <a:r>
              <a:rPr lang="pt-BR" altLang="pt-BR" dirty="0" smtClean="0"/>
              <a:t>Devido à predominância dos testes, a maior parte dos custos de validação incorre durante e após a implementação.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1950461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523540-CFDA-4791-92A3-7EF312B26BCF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pt-PT" altLang="pt-BR" sz="1400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Validação de Software</a:t>
            </a:r>
            <a:endParaRPr lang="pt-PT" altLang="pt-BR" sz="3600"/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5660" y="1143000"/>
            <a:ext cx="11671539" cy="5105401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Com exceção de pequenos programas, sistemas não devem ser testados como uma unidade única e monolítica. </a:t>
            </a:r>
          </a:p>
          <a:p>
            <a:pPr algn="just" eaLnBrk="1" hangingPunct="1"/>
            <a:r>
              <a:rPr lang="pt-BR" altLang="pt-BR" dirty="0" smtClean="0"/>
              <a:t>No processo de teste aparecem três estágios: 1)Teste de componentes do sistema; 2) Teste do sistema integrado; 3) Teste do sistema com os dados do cliente.</a:t>
            </a:r>
          </a:p>
          <a:p>
            <a:pPr algn="just" eaLnBrk="1" hangingPunct="1"/>
            <a:r>
              <a:rPr lang="pt-BR" altLang="pt-BR" dirty="0" smtClean="0"/>
              <a:t> Defeitos de componentes são descobertos no início do processo</a:t>
            </a:r>
          </a:p>
          <a:p>
            <a:pPr algn="just" eaLnBrk="1" hangingPunct="1"/>
            <a:r>
              <a:rPr lang="pt-BR" altLang="pt-BR" dirty="0" smtClean="0"/>
              <a:t>Problemas de interface são encontrados quando o sistema é integrado. </a:t>
            </a:r>
          </a:p>
          <a:p>
            <a:pPr algn="just" eaLnBrk="1" hangingPunct="1"/>
            <a:r>
              <a:rPr lang="pt-BR" altLang="pt-BR" dirty="0" smtClean="0"/>
              <a:t>Defeitos descobertos: o programa deve ser depurado, e isso pode requerer que outros estágios do processo de testes sejam repetidos. Erros em componentes de programa podem vir à luz durante os testes de sistema. </a:t>
            </a:r>
          </a:p>
          <a:p>
            <a:pPr algn="just" eaLnBrk="1" hangingPunct="1"/>
            <a:r>
              <a:rPr lang="pt-BR" altLang="pt-BR" dirty="0" smtClean="0"/>
              <a:t>O processo de testes é iterativo, com informações realimentadas de estágios posteriores para partes anteriores do processo.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307672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E33EFD-C224-40C7-8229-176FEB4C0FFB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pt-PT" altLang="pt-BR" sz="1400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Validação de Software</a:t>
            </a:r>
            <a:endParaRPr lang="pt-PT" altLang="pt-BR" sz="3600"/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3021" y="1143000"/>
            <a:ext cx="11637034" cy="4833669"/>
          </a:xfrm>
        </p:spPr>
        <p:txBody>
          <a:bodyPr/>
          <a:lstStyle/>
          <a:p>
            <a:pPr algn="just" eaLnBrk="1" hangingPunct="1">
              <a:defRPr/>
            </a:pPr>
            <a:r>
              <a:rPr lang="pt-BR" altLang="pt-BR" dirty="0"/>
              <a:t>E</a:t>
            </a:r>
            <a:r>
              <a:rPr lang="pt-BR" altLang="pt-BR" dirty="0" smtClean="0"/>
              <a:t>stágios do processo de teste: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pt-BR" altLang="pt-BR" dirty="0" smtClean="0"/>
              <a:t>Testes de desenvolvimento: Os componentes do sistema são testados pelas pessoas que o desenvolveram. Cada componente é testado de forma independente, separado dos outros. Os componentes podem ser entidades simples, como funções ou classes de objetos, ou podem ser agrupamentos coerentes dessas entidades. </a:t>
            </a:r>
          </a:p>
          <a:p>
            <a:pPr algn="just" eaLnBrk="1" hangingPunct="1">
              <a:defRPr/>
            </a:pPr>
            <a:r>
              <a:rPr lang="pt-BR" altLang="pt-BR" dirty="0" smtClean="0"/>
              <a:t>Ferramentas de automação de teste, como </a:t>
            </a:r>
            <a:r>
              <a:rPr lang="pt-BR" altLang="pt-BR" dirty="0" err="1" smtClean="0"/>
              <a:t>JUnit</a:t>
            </a:r>
            <a:r>
              <a:rPr lang="pt-BR" altLang="pt-BR" dirty="0" smtClean="0"/>
              <a:t> reexecutam testes de componentes quando as novas versões dos componentes são criadas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650164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32321A-3FCA-429D-B756-73F4742A995C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pt-PT" altLang="pt-BR" sz="1400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Validação de Software</a:t>
            </a:r>
            <a:endParaRPr lang="pt-PT" altLang="pt-BR" sz="3600"/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0167" y="1143000"/>
            <a:ext cx="11576648" cy="5105401"/>
          </a:xfrm>
        </p:spPr>
        <p:txBody>
          <a:bodyPr/>
          <a:lstStyle/>
          <a:p>
            <a:pPr algn="just" eaLnBrk="1" hangingPunct="1"/>
            <a:r>
              <a:rPr lang="pt-BR" altLang="pt-BR" dirty="0"/>
              <a:t>E</a:t>
            </a:r>
            <a:r>
              <a:rPr lang="pt-BR" altLang="pt-BR" dirty="0" smtClean="0"/>
              <a:t>stágios do processo de teste: </a:t>
            </a:r>
          </a:p>
          <a:p>
            <a:pPr algn="just" eaLnBrk="1" hangingPunct="1"/>
            <a:r>
              <a:rPr lang="pt-BR" altLang="pt-BR" dirty="0" smtClean="0"/>
              <a:t>2.Testes de sistema: Componentes do sistema são integrados para criar um sistema completo. </a:t>
            </a:r>
          </a:p>
          <a:p>
            <a:pPr algn="just" eaLnBrk="1" hangingPunct="1"/>
            <a:r>
              <a:rPr lang="pt-BR" altLang="pt-BR" dirty="0" smtClean="0"/>
              <a:t>Preocupa-se em encontrar os erros resultantes das interações inesperadas entre componentes e problemas de interface do componente.</a:t>
            </a:r>
          </a:p>
          <a:p>
            <a:pPr algn="just" eaLnBrk="1" hangingPunct="1"/>
            <a:r>
              <a:rPr lang="pt-BR" altLang="pt-BR" dirty="0" smtClean="0"/>
              <a:t>Visa mostrar que o sistema satisfaz os requisitos funcionais e não funcionais,</a:t>
            </a:r>
          </a:p>
          <a:p>
            <a:pPr algn="just" eaLnBrk="1" hangingPunct="1"/>
            <a:r>
              <a:rPr lang="pt-BR" altLang="pt-BR" dirty="0" smtClean="0"/>
              <a:t>Testa as propriedades emergentes do sistema. </a:t>
            </a:r>
          </a:p>
          <a:p>
            <a:pPr algn="just" eaLnBrk="1" hangingPunct="1"/>
            <a:r>
              <a:rPr lang="pt-BR" altLang="pt-BR" dirty="0" smtClean="0"/>
              <a:t>Sistemas de grande porte: processo </a:t>
            </a:r>
            <a:r>
              <a:rPr lang="pt-BR" altLang="pt-BR" dirty="0" err="1" smtClean="0"/>
              <a:t>multiestágios</a:t>
            </a:r>
            <a:r>
              <a:rPr lang="pt-BR" altLang="pt-BR" dirty="0" smtClean="0"/>
              <a:t> (integração de componentes para formar subsistemas, individualmente testados, antes de serem integrados para formar o sistema final).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873119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70CA4F-4EF1-4F2C-A0CB-BD9E70897A10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pt-PT" altLang="pt-BR" sz="1400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Validação de Software</a:t>
            </a:r>
            <a:endParaRPr lang="pt-PT" altLang="pt-BR" sz="3600"/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6265" y="1224951"/>
            <a:ext cx="11938958" cy="5023450"/>
          </a:xfrm>
        </p:spPr>
        <p:txBody>
          <a:bodyPr/>
          <a:lstStyle/>
          <a:p>
            <a:pPr algn="just" eaLnBrk="1" hangingPunct="1"/>
            <a:r>
              <a:rPr lang="pt-BR" altLang="pt-BR" dirty="0"/>
              <a:t>E</a:t>
            </a:r>
            <a:r>
              <a:rPr lang="pt-BR" altLang="pt-BR" dirty="0" smtClean="0"/>
              <a:t>stágios do processo de teste: </a:t>
            </a:r>
          </a:p>
          <a:p>
            <a:pPr algn="just" eaLnBrk="1" hangingPunct="1"/>
            <a:r>
              <a:rPr lang="pt-BR" altLang="pt-BR" dirty="0" smtClean="0"/>
              <a:t>3. Testes de aceitação: estágio final do processo de testes, antes que o sistema seja aceito para uso operacional. </a:t>
            </a:r>
          </a:p>
          <a:p>
            <a:pPr algn="just" eaLnBrk="1" hangingPunct="1"/>
            <a:r>
              <a:rPr lang="pt-BR" altLang="pt-BR" dirty="0" smtClean="0"/>
              <a:t>Testes com dados do cliente, não com dados de testes simulados.</a:t>
            </a:r>
          </a:p>
          <a:p>
            <a:pPr algn="just" eaLnBrk="1" hangingPunct="1"/>
            <a:r>
              <a:rPr lang="pt-BR" altLang="pt-BR" dirty="0" smtClean="0"/>
              <a:t> Pode revelar:</a:t>
            </a:r>
          </a:p>
          <a:p>
            <a:pPr algn="just" eaLnBrk="1" hangingPunct="1"/>
            <a:r>
              <a:rPr lang="pt-BR" altLang="pt-BR" dirty="0" smtClean="0"/>
              <a:t> a) erros e omissões na definição dos requisitos do sistema (dados reais exercitam o sistema de formas diferentes dos dados de teste). </a:t>
            </a:r>
          </a:p>
          <a:p>
            <a:pPr algn="just" eaLnBrk="1" hangingPunct="1"/>
            <a:r>
              <a:rPr lang="pt-BR" altLang="pt-BR" dirty="0" smtClean="0"/>
              <a:t>b) problemas de requisitos em que os recursos do sistema não atendam às necessidades do usuário ou o desempenho do sistema seja inaceitável.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163323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3D57B2-9208-4D84-9B59-947536734117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pt-PT" altLang="pt-BR" sz="1400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Validação de Software</a:t>
            </a:r>
            <a:endParaRPr lang="pt-PT" altLang="pt-BR" sz="3600"/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9781" y="1216325"/>
            <a:ext cx="11731925" cy="5032076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Os processos de desenvolvimento de componentes e testes geralmente são intercalados. Os programadores criam dados para testes e, </a:t>
            </a:r>
            <a:r>
              <a:rPr lang="pt-BR" altLang="pt-BR" dirty="0" err="1" smtClean="0"/>
              <a:t>incrementalmente</a:t>
            </a:r>
            <a:r>
              <a:rPr lang="pt-BR" altLang="pt-BR" dirty="0" smtClean="0"/>
              <a:t>, testam o código enquanto ele é desenvolvido. </a:t>
            </a:r>
          </a:p>
          <a:p>
            <a:pPr algn="just" eaLnBrk="1" hangingPunct="1"/>
            <a:endParaRPr lang="pt-BR" altLang="pt-BR" dirty="0" smtClean="0"/>
          </a:p>
          <a:p>
            <a:pPr algn="just" eaLnBrk="1" hangingPunct="1"/>
            <a:r>
              <a:rPr lang="pt-BR" altLang="pt-BR" dirty="0" smtClean="0"/>
              <a:t>Abordagem incremental: cada incremento deve ser testado enquanto é desenvolvido. Os testes devem ser baseados nos requisitos para esse incremento. </a:t>
            </a:r>
          </a:p>
          <a:p>
            <a:pPr algn="just" eaLnBrk="1" hangingPunct="1"/>
            <a:endParaRPr lang="pt-BR" altLang="pt-BR" dirty="0" smtClean="0"/>
          </a:p>
          <a:p>
            <a:pPr algn="just" eaLnBrk="1" hangingPunct="1"/>
            <a:r>
              <a:rPr lang="pt-BR" altLang="pt-BR" dirty="0" smtClean="0"/>
              <a:t>Extreme </a:t>
            </a:r>
            <a:r>
              <a:rPr lang="pt-BR" altLang="pt-BR" dirty="0" err="1" smtClean="0"/>
              <a:t>Programming</a:t>
            </a:r>
            <a:r>
              <a:rPr lang="pt-BR" altLang="pt-BR" dirty="0" smtClean="0"/>
              <a:t>: testes desenvolvidos paralelamente aos requisitos, antes de se iniciar o desenvolvimento, o que ajuda testadores e desenvolvedores a compreender os requisitos. Garante o cumprimento dos prazos enquanto são criados os casos de teste. 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405738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A0FA07-A5D6-4386-B980-97EDDA247E4B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pt-PT" altLang="pt-BR" sz="1400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Validação de Software</a:t>
            </a:r>
            <a:endParaRPr lang="pt-PT" altLang="pt-BR" sz="3600"/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5660" y="1242204"/>
            <a:ext cx="11887199" cy="5006197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Processo de software dirigido a planos (por exemplo, para o desenvolvimento de sistemas críticos): o teste é impulsionado por um conjunto de planos de testes. </a:t>
            </a:r>
          </a:p>
          <a:p>
            <a:pPr algn="just" eaLnBrk="1" hangingPunct="1"/>
            <a:r>
              <a:rPr lang="pt-BR" altLang="pt-BR" dirty="0" smtClean="0"/>
              <a:t>Equipe independente de testadores trabalha a partir de planos de teste </a:t>
            </a:r>
            <a:r>
              <a:rPr lang="pt-BR" altLang="pt-BR" dirty="0" err="1" smtClean="0"/>
              <a:t>pré</a:t>
            </a:r>
            <a:r>
              <a:rPr lang="pt-BR" altLang="pt-BR" dirty="0" smtClean="0"/>
              <a:t>-formulados, desenvolvidos a partir das especificações e do projeto. </a:t>
            </a:r>
          </a:p>
          <a:p>
            <a:pPr algn="just" eaLnBrk="1" hangingPunct="1"/>
            <a:r>
              <a:rPr lang="pt-BR" altLang="pt-BR" dirty="0" smtClean="0"/>
              <a:t>Chamado modelo V de desenvolvimento (gire a figura de lado para ver o V). </a:t>
            </a:r>
          </a:p>
          <a:p>
            <a:pPr algn="just" eaLnBrk="1" hangingPunct="1"/>
            <a:r>
              <a:rPr lang="pt-BR" altLang="pt-BR" dirty="0" smtClean="0"/>
              <a:t>Teste de aceitação (‘teste alfa’): Sistemas sob encomenda são desenvolvidos para um único cliente. O processo de testes-alfa continua até que o desenvolvedor do sistema e o cliente concordem que o sistema entregue é uma implementação aceitável dos requisitos.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3125668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B15B9F-DF3F-489E-918A-52F81B5A1604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pt-PT" altLang="pt-BR" sz="1400"/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Validação de Software</a:t>
            </a:r>
            <a:endParaRPr lang="pt-PT" altLang="pt-BR" sz="3600"/>
          </a:p>
        </p:txBody>
      </p:sp>
      <p:pic>
        <p:nvPicPr>
          <p:cNvPr id="65540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1412875"/>
            <a:ext cx="8667750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1" y="981076"/>
            <a:ext cx="9180513" cy="5267325"/>
          </a:xfrm>
        </p:spPr>
        <p:txBody>
          <a:bodyPr/>
          <a:lstStyle/>
          <a:p>
            <a:pPr algn="just" eaLnBrk="1" hangingPunct="1"/>
            <a:endParaRPr lang="pt-PT" altLang="pt-BR" smtClean="0"/>
          </a:p>
        </p:txBody>
      </p:sp>
    </p:spTree>
    <p:extLst>
      <p:ext uri="{BB962C8B-B14F-4D97-AF65-F5344CB8AC3E}">
        <p14:creationId xmlns:p14="http://schemas.microsoft.com/office/powerpoint/2010/main" val="390329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1C9261-D602-419D-A6C1-2D73E46591AF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pt-PT" altLang="pt-BR" sz="1400"/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Validação de Software</a:t>
            </a:r>
            <a:endParaRPr lang="pt-PT" altLang="pt-BR" sz="3600"/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8189" y="1250830"/>
            <a:ext cx="10316325" cy="4997571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Teste Beta: usado quando um sistema está pronto para ser comercializado como um produto de software</a:t>
            </a:r>
          </a:p>
          <a:p>
            <a:pPr algn="just" eaLnBrk="1" hangingPunct="1"/>
            <a:r>
              <a:rPr lang="pt-BR" altLang="pt-BR" dirty="0" smtClean="0"/>
              <a:t> Envolve a entrega de um sistema a um número de potenciais clientes que concordaram em usá-lo. Eles relatam problemas para os desenvolvedores dos sistemas. O produto é exposto para uso real. Erros não antecipados pelos construtores do sistema são detectados. </a:t>
            </a:r>
          </a:p>
          <a:p>
            <a:pPr algn="just" eaLnBrk="1" hangingPunct="1"/>
            <a:r>
              <a:rPr lang="pt-BR" altLang="pt-BR" dirty="0" smtClean="0"/>
              <a:t>Após esse feedback, o sistema é modificado e liberado para outros testes-beta ou para venda em geral. 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153774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EA7967-323C-411E-A12D-F27BF3EB8005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pt-PT" altLang="pt-BR" sz="1400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Evolução de Software</a:t>
            </a:r>
            <a:endParaRPr lang="pt-PT" altLang="pt-BR" sz="3600"/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2913" y="1143000"/>
            <a:ext cx="11507638" cy="5096774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Flexibilidade dos sistemas: uma das principais razões pelas quais os softwares vêm sendo incorporados em sistemas grandes e complexos. </a:t>
            </a:r>
          </a:p>
          <a:p>
            <a:pPr algn="just" eaLnBrk="1" hangingPunct="1"/>
            <a:r>
              <a:rPr lang="pt-BR" altLang="pt-BR" dirty="0" smtClean="0"/>
              <a:t>Alteração no projeto de hardware é cara. </a:t>
            </a:r>
          </a:p>
          <a:p>
            <a:pPr algn="just" eaLnBrk="1" hangingPunct="1"/>
            <a:r>
              <a:rPr lang="pt-BR" altLang="pt-BR" dirty="0" smtClean="0"/>
              <a:t>Mudanças no software podem ser feitas a qualquer momento durante ou após o desenvolvimento do sistema. </a:t>
            </a:r>
          </a:p>
          <a:p>
            <a:pPr algn="just" eaLnBrk="1" hangingPunct="1"/>
            <a:r>
              <a:rPr lang="pt-BR" altLang="pt-BR" dirty="0"/>
              <a:t>G</a:t>
            </a:r>
            <a:r>
              <a:rPr lang="pt-BR" altLang="pt-BR" dirty="0" smtClean="0"/>
              <a:t>randes mudanças no software são muito mais baratas do que no hardware.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387311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905D5E-A64D-4502-8914-E89418EA5AEE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pt-PT" altLang="pt-BR" sz="1400"/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Evolução de Software</a:t>
            </a:r>
            <a:endParaRPr lang="pt-PT" altLang="pt-BR" sz="3600"/>
          </a:p>
        </p:txBody>
      </p:sp>
      <p:sp>
        <p:nvSpPr>
          <p:cNvPr id="686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3517" y="1143000"/>
            <a:ext cx="11938958" cy="5105401"/>
          </a:xfrm>
        </p:spPr>
        <p:txBody>
          <a:bodyPr/>
          <a:lstStyle/>
          <a:p>
            <a:pPr algn="just" eaLnBrk="1" hangingPunct="1"/>
            <a:r>
              <a:rPr lang="pt-BR" altLang="pt-BR" dirty="0"/>
              <a:t>P</a:t>
            </a:r>
            <a:r>
              <a:rPr lang="pt-BR" altLang="pt-BR" dirty="0" smtClean="0"/>
              <a:t>rocesso de desenvolvimento (atividade criativa). O processo de evolução do software (manutenção (maçante)). O sistema é desenvolvido a partir de um conceito inicial até um sistema funcional. Custos de manutenção são mais altos que os custos iniciais de desenvolvimento</a:t>
            </a:r>
          </a:p>
          <a:p>
            <a:pPr algn="just" eaLnBrk="1" hangingPunct="1"/>
            <a:r>
              <a:rPr lang="pt-BR" altLang="pt-BR" dirty="0" smtClean="0"/>
              <a:t>Processos de manutenção são considerados menos desafiadores do que o desenvolvimento do software. </a:t>
            </a:r>
          </a:p>
          <a:p>
            <a:pPr algn="just" eaLnBrk="1" hangingPunct="1"/>
            <a:r>
              <a:rPr lang="pt-BR" altLang="pt-BR" dirty="0" smtClean="0"/>
              <a:t>Poucos sistemas de software são completamente novos. </a:t>
            </a:r>
          </a:p>
          <a:p>
            <a:pPr algn="just" eaLnBrk="1" hangingPunct="1"/>
            <a:r>
              <a:rPr lang="pt-BR" altLang="pt-BR" dirty="0" smtClean="0"/>
              <a:t>Desenvolvimento e a manutenção são processos contínuos, evolutivos.  O software é constantemente alterado durante seu período de vida em resposta às mudanças de requisitos e às necessidades do cliente.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122981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7975CA-A4F2-4B19-997D-F36DB2458F13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pt-PT" altLang="pt-BR" sz="1400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Lidando com mudanças</a:t>
            </a:r>
            <a:endParaRPr lang="pt-PT" altLang="pt-BR" sz="3600"/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7035" y="1142999"/>
            <a:ext cx="11861320" cy="5105401"/>
          </a:xfrm>
        </p:spPr>
        <p:txBody>
          <a:bodyPr>
            <a:normAutofit lnSpcReduction="10000"/>
          </a:bodyPr>
          <a:lstStyle/>
          <a:p>
            <a:pPr algn="just" eaLnBrk="1" hangingPunct="1"/>
            <a:endParaRPr lang="pt-BR" altLang="pt-BR" dirty="0" smtClean="0"/>
          </a:p>
          <a:p>
            <a:pPr algn="just" eaLnBrk="1" hangingPunct="1"/>
            <a:r>
              <a:rPr lang="pt-BR" altLang="pt-BR" dirty="0" smtClean="0"/>
              <a:t>A mudança é inevitável em todos os grandes projetos de software. </a:t>
            </a:r>
          </a:p>
          <a:p>
            <a:pPr algn="just" eaLnBrk="1" hangingPunct="1"/>
            <a:r>
              <a:rPr lang="pt-BR" altLang="pt-BR" dirty="0" smtClean="0"/>
              <a:t>Requisitos do sistema mudam,  negócio responde a pressões externas e mudam as prioridades de gerenciamento. </a:t>
            </a:r>
          </a:p>
          <a:p>
            <a:pPr algn="just" eaLnBrk="1" hangingPunct="1"/>
            <a:r>
              <a:rPr lang="pt-BR" altLang="pt-BR" dirty="0" smtClean="0"/>
              <a:t>Novas tecnologias levam a novos projetos e possibilidades de implementação. </a:t>
            </a:r>
          </a:p>
          <a:p>
            <a:pPr algn="just" eaLnBrk="1" hangingPunct="1"/>
            <a:r>
              <a:rPr lang="pt-BR" altLang="pt-BR" dirty="0" smtClean="0"/>
              <a:t>Todo modelo de software deve acomodar mudanças.</a:t>
            </a:r>
          </a:p>
          <a:p>
            <a:pPr algn="just"/>
            <a:r>
              <a:rPr lang="pt-BR" altLang="pt-BR" dirty="0"/>
              <a:t>Mudança aumenta os custos de desenvolvimento de software: trabalho deve ser refeito (retrabalho</a:t>
            </a:r>
            <a:r>
              <a:rPr lang="pt-BR" altLang="pt-BR" dirty="0" smtClean="0"/>
              <a:t>).</a:t>
            </a:r>
          </a:p>
          <a:p>
            <a:pPr algn="just"/>
            <a:endParaRPr lang="pt-BR" altLang="pt-BR" dirty="0"/>
          </a:p>
          <a:p>
            <a:pPr algn="just"/>
            <a:r>
              <a:rPr lang="pt-BR" altLang="pt-BR" dirty="0" err="1"/>
              <a:t>Ex</a:t>
            </a:r>
            <a:r>
              <a:rPr lang="pt-BR" altLang="pt-BR" dirty="0"/>
              <a:t>: se os relacionamentos entre os requisitos do sistema foram analisados e novos requisitos foram identificados, alguma ou toda análise de requisitos deve ser repetida. </a:t>
            </a:r>
            <a:r>
              <a:rPr lang="pt-BR" altLang="pt-BR" dirty="0" smtClean="0"/>
              <a:t>Pode ser </a:t>
            </a:r>
            <a:r>
              <a:rPr lang="pt-BR" altLang="pt-BR" dirty="0"/>
              <a:t>necessário </a:t>
            </a:r>
            <a:r>
              <a:rPr lang="pt-BR" altLang="pt-BR" dirty="0" err="1"/>
              <a:t>reprojetar</a:t>
            </a:r>
            <a:r>
              <a:rPr lang="pt-BR" altLang="pt-BR" dirty="0"/>
              <a:t> o sistema de acordo com os novos requisitos, mudar qualquer programa que tenha sido desenvolvido e testar novamente o sistema.</a:t>
            </a:r>
            <a:endParaRPr lang="pt-PT" altLang="pt-BR" dirty="0"/>
          </a:p>
          <a:p>
            <a:pPr algn="just" eaLnBrk="1" hangingPunct="1"/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189810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17FCAD-CBF0-4571-9AAF-8370B87AD039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48</a:t>
            </a:fld>
            <a:endParaRPr lang="pt-PT" altLang="pt-BR" sz="1400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Lidando com mudanças</a:t>
            </a:r>
            <a:endParaRPr lang="pt-PT" altLang="pt-BR" sz="3600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7034" y="1216325"/>
            <a:ext cx="11852693" cy="5322587"/>
          </a:xfrm>
        </p:spPr>
        <p:txBody>
          <a:bodyPr/>
          <a:lstStyle/>
          <a:p>
            <a:pPr algn="just" eaLnBrk="1" hangingPunct="1">
              <a:defRPr/>
            </a:pPr>
            <a:r>
              <a:rPr lang="pt-BR" dirty="0" smtClean="0"/>
              <a:t>Mudanças </a:t>
            </a:r>
            <a:r>
              <a:rPr lang="pt-BR" dirty="0"/>
              <a:t>nos requisitos do </a:t>
            </a:r>
            <a:r>
              <a:rPr lang="pt-BR" dirty="0" smtClean="0"/>
              <a:t>sistema</a:t>
            </a:r>
            <a:r>
              <a:rPr lang="pt-BR" dirty="0"/>
              <a:t>:</a:t>
            </a:r>
            <a:endParaRPr lang="pt-BR" dirty="0" smtClean="0"/>
          </a:p>
          <a:p>
            <a:pPr marL="457200" indent="-457200" algn="just">
              <a:buFontTx/>
              <a:buAutoNum type="arabicPeriod"/>
              <a:defRPr/>
            </a:pPr>
            <a:r>
              <a:rPr lang="pt-BR" dirty="0" smtClean="0"/>
              <a:t>Prototipação </a:t>
            </a:r>
            <a:r>
              <a:rPr lang="pt-BR" dirty="0"/>
              <a:t>de </a:t>
            </a:r>
            <a:r>
              <a:rPr lang="pt-BR" dirty="0" smtClean="0"/>
              <a:t>sistema: </a:t>
            </a:r>
            <a:r>
              <a:rPr lang="pt-BR" dirty="0"/>
              <a:t>uma versão do sistema ou de parte </a:t>
            </a:r>
            <a:r>
              <a:rPr lang="pt-BR" dirty="0" smtClean="0"/>
              <a:t>é </a:t>
            </a:r>
            <a:r>
              <a:rPr lang="pt-BR" dirty="0"/>
              <a:t>desenvolvida rapidamente para verificar as necessidades do cliente e a viabilidade de algumas decisões de projeto. </a:t>
            </a:r>
            <a:r>
              <a:rPr lang="pt-BR" dirty="0" smtClean="0"/>
              <a:t>Previne </a:t>
            </a:r>
            <a:r>
              <a:rPr lang="pt-BR" dirty="0"/>
              <a:t>mudanças, </a:t>
            </a:r>
            <a:r>
              <a:rPr lang="pt-BR" dirty="0" smtClean="0"/>
              <a:t>permitindo </a:t>
            </a:r>
            <a:r>
              <a:rPr lang="pt-BR" dirty="0"/>
              <a:t>aos usuários experimentarem o sistema antes da entrega </a:t>
            </a:r>
            <a:r>
              <a:rPr lang="pt-BR" dirty="0" smtClean="0"/>
              <a:t>e </a:t>
            </a:r>
            <a:r>
              <a:rPr lang="pt-BR" dirty="0"/>
              <a:t>refinarem seus requisitos. </a:t>
            </a:r>
            <a:r>
              <a:rPr lang="pt-BR" dirty="0" smtClean="0"/>
              <a:t>As </a:t>
            </a:r>
            <a:r>
              <a:rPr lang="pt-BR" dirty="0"/>
              <a:t>mudanças de requisitos </a:t>
            </a:r>
            <a:r>
              <a:rPr lang="pt-BR" dirty="0" smtClean="0"/>
              <a:t>após </a:t>
            </a:r>
            <a:r>
              <a:rPr lang="pt-BR" dirty="0"/>
              <a:t>a entrega </a:t>
            </a:r>
            <a:r>
              <a:rPr lang="pt-BR" dirty="0" smtClean="0"/>
              <a:t>é </a:t>
            </a:r>
            <a:r>
              <a:rPr lang="pt-BR" dirty="0"/>
              <a:t>suscetível de </a:t>
            </a:r>
            <a:r>
              <a:rPr lang="pt-BR" dirty="0" smtClean="0"/>
              <a:t>redução.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pt-BR" dirty="0" smtClean="0"/>
              <a:t>Entrega incremental: </a:t>
            </a:r>
            <a:r>
              <a:rPr lang="pt-BR" dirty="0"/>
              <a:t>incrementos do sistema são entregues aos clientes para comentários e </a:t>
            </a:r>
            <a:r>
              <a:rPr lang="pt-BR" dirty="0" smtClean="0"/>
              <a:t>experimentação, dando suporte </a:t>
            </a:r>
            <a:r>
              <a:rPr lang="pt-BR" dirty="0"/>
              <a:t>para a prevenção </a:t>
            </a:r>
            <a:r>
              <a:rPr lang="pt-BR" dirty="0" smtClean="0"/>
              <a:t>e a tolerância </a:t>
            </a:r>
            <a:r>
              <a:rPr lang="pt-BR" dirty="0"/>
              <a:t>à</a:t>
            </a:r>
            <a:r>
              <a:rPr lang="pt-BR" dirty="0" smtClean="0"/>
              <a:t> </a:t>
            </a:r>
            <a:r>
              <a:rPr lang="pt-BR" dirty="0"/>
              <a:t>mudanças. </a:t>
            </a:r>
            <a:r>
              <a:rPr lang="pt-BR" dirty="0" smtClean="0"/>
              <a:t>Evita </a:t>
            </a:r>
            <a:r>
              <a:rPr lang="pt-BR" dirty="0"/>
              <a:t>o comprometimento prematuro com requisitos para todo o sistema e permite que mudanças sejam incorporadas nos incrementos posteriores com um custo relativamente baixo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688133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624E4A-EFD8-4722-A33B-AD38EE123A01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pt-PT" altLang="pt-BR" sz="1400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Lidando com mudanças</a:t>
            </a:r>
            <a:endParaRPr lang="pt-PT" altLang="pt-BR" sz="3600"/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0770" y="1406105"/>
            <a:ext cx="11723297" cy="4842295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pt-BR" altLang="pt-BR" dirty="0" smtClean="0"/>
              <a:t>Abordagens para a redução de custos de retrabalho: </a:t>
            </a:r>
          </a:p>
          <a:p>
            <a:pPr algn="just" eaLnBrk="1" hangingPunct="1"/>
            <a:r>
              <a:rPr lang="pt-BR" altLang="pt-BR" dirty="0" smtClean="0"/>
              <a:t>1. Prevenção de mudanças: processo de software inclui atividades capazes de antecipar as mudanças possíveis antes de qualquer retrabalho. </a:t>
            </a:r>
            <a:r>
              <a:rPr lang="pt-BR" altLang="pt-BR" dirty="0" err="1" smtClean="0"/>
              <a:t>Ex</a:t>
            </a:r>
            <a:r>
              <a:rPr lang="pt-BR" altLang="pt-BR" dirty="0" smtClean="0"/>
              <a:t>: um protótipo de sistema pode ser desenvolvido para mostrar algumas características-chave do sistema para os clientes. Clientes podem experimentar o protótipo e refinar seus requisitos antes de comprometer elevados custos de produção de software. </a:t>
            </a:r>
          </a:p>
          <a:p>
            <a:pPr algn="just" eaLnBrk="1" hangingPunct="1"/>
            <a:r>
              <a:rPr lang="pt-BR" altLang="pt-BR" dirty="0" smtClean="0"/>
              <a:t>2. Tolerância a mudanças: processo projetado para que as mudanças possam ser acomodadas a um custo relativamente baixo (desenvolvimento incremental). As alterações podem ser aplicadas em incrementos que ainda não foram </a:t>
            </a:r>
            <a:r>
              <a:rPr lang="pt-BR" altLang="pt-BR" dirty="0" smtClean="0"/>
              <a:t>desenvolvidos ou apenas </a:t>
            </a:r>
            <a:r>
              <a:rPr lang="pt-BR" altLang="pt-BR" dirty="0" smtClean="0"/>
              <a:t>um incremento (uma pequena parte do sistema) deve ser alterado para incorporar as mudanças.</a:t>
            </a:r>
          </a:p>
          <a:p>
            <a:pPr algn="just" eaLnBrk="1" hangingPunct="1"/>
            <a:r>
              <a:rPr lang="pt-BR" altLang="pt-BR" dirty="0" smtClean="0"/>
              <a:t>A </a:t>
            </a:r>
            <a:r>
              <a:rPr lang="pt-BR" altLang="pt-BR" dirty="0" err="1" smtClean="0"/>
              <a:t>refatoração</a:t>
            </a:r>
            <a:r>
              <a:rPr lang="pt-BR" altLang="pt-BR" dirty="0" smtClean="0"/>
              <a:t> (melhoria da estrutura e organização de um programa), é um importante mecanismo que suporta mudanças.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192318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1A3B08-B497-4012-AE79-BE0A05C4C280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pt-PT" altLang="pt-BR" sz="1400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Prototipação</a:t>
            </a:r>
            <a:endParaRPr lang="pt-PT" altLang="pt-BR" sz="3600"/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9781" y="1311215"/>
            <a:ext cx="11826815" cy="5502336"/>
          </a:xfrm>
        </p:spPr>
        <p:txBody>
          <a:bodyPr/>
          <a:lstStyle/>
          <a:p>
            <a:pPr algn="just" eaLnBrk="1" hangingPunct="1">
              <a:defRPr/>
            </a:pPr>
            <a:r>
              <a:rPr lang="pt-BR" dirty="0" smtClean="0"/>
              <a:t>Protótipo: versão </a:t>
            </a:r>
            <a:r>
              <a:rPr lang="pt-BR" dirty="0"/>
              <a:t>inicial de um sistema de software, usado para demonstrar conceitos, </a:t>
            </a:r>
            <a:r>
              <a:rPr lang="pt-BR" dirty="0" smtClean="0"/>
              <a:t>experimen</a:t>
            </a:r>
            <a:r>
              <a:rPr lang="pt-BR" dirty="0"/>
              <a:t>t</a:t>
            </a:r>
            <a:r>
              <a:rPr lang="pt-BR" dirty="0" smtClean="0"/>
              <a:t>ar </a:t>
            </a:r>
            <a:r>
              <a:rPr lang="pt-BR" dirty="0"/>
              <a:t>opções de projeto e descobrir mais sobre o problema e suas possíveis soluções. </a:t>
            </a:r>
            <a:endParaRPr lang="pt-BR" dirty="0" smtClean="0"/>
          </a:p>
          <a:p>
            <a:pPr algn="just" eaLnBrk="1" hangingPunct="1">
              <a:defRPr/>
            </a:pPr>
            <a:r>
              <a:rPr lang="pt-BR" dirty="0" smtClean="0"/>
              <a:t>O </a:t>
            </a:r>
            <a:r>
              <a:rPr lang="pt-BR" dirty="0"/>
              <a:t>desenvolvimento rápido e iterativo do protótipo é essencial para que os custos sejam controlados e os </a:t>
            </a:r>
            <a:r>
              <a:rPr lang="pt-BR" dirty="0" err="1" smtClean="0"/>
              <a:t>stakeholders</a:t>
            </a:r>
            <a:r>
              <a:rPr lang="pt-BR" dirty="0" smtClean="0"/>
              <a:t> </a:t>
            </a:r>
            <a:r>
              <a:rPr lang="pt-BR" dirty="0"/>
              <a:t>possam experimentá-lo no início do processo de software. </a:t>
            </a:r>
            <a:endParaRPr lang="pt-BR" dirty="0" smtClean="0"/>
          </a:p>
          <a:p>
            <a:pPr algn="just" eaLnBrk="1" hangingPunct="1">
              <a:defRPr/>
            </a:pPr>
            <a:r>
              <a:rPr lang="pt-BR" dirty="0" smtClean="0"/>
              <a:t>Protótipo pode ser usado no </a:t>
            </a:r>
            <a:r>
              <a:rPr lang="pt-BR" dirty="0"/>
              <a:t>processo de desenvolvimento de software para ajudar a antecipar as mudanças que podem ser requisitadas: </a:t>
            </a:r>
            <a:endParaRPr lang="pt-BR" dirty="0" smtClean="0"/>
          </a:p>
          <a:p>
            <a:pPr marL="457200" indent="-457200" algn="just">
              <a:buFontTx/>
              <a:buAutoNum type="arabicPeriod"/>
              <a:defRPr/>
            </a:pPr>
            <a:r>
              <a:rPr lang="pt-BR" dirty="0" smtClean="0"/>
              <a:t>No </a:t>
            </a:r>
            <a:r>
              <a:rPr lang="pt-BR" dirty="0"/>
              <a:t>processo de engenharia de </a:t>
            </a:r>
            <a:r>
              <a:rPr lang="pt-BR" dirty="0" smtClean="0"/>
              <a:t>requisitos: ajuda </a:t>
            </a:r>
            <a:r>
              <a:rPr lang="pt-BR" dirty="0"/>
              <a:t>na </a:t>
            </a:r>
            <a:r>
              <a:rPr lang="pt-BR" dirty="0" err="1"/>
              <a:t>elicitação</a:t>
            </a:r>
            <a:r>
              <a:rPr lang="pt-BR" dirty="0"/>
              <a:t> e validação de requisitos de sistema. </a:t>
            </a:r>
            <a:endParaRPr lang="pt-BR" dirty="0" smtClean="0"/>
          </a:p>
          <a:p>
            <a:pPr marL="457200" indent="-457200" algn="just">
              <a:buFontTx/>
              <a:buAutoNum type="arabicPeriod"/>
              <a:defRPr/>
            </a:pPr>
            <a:r>
              <a:rPr lang="pt-BR" dirty="0" smtClean="0"/>
              <a:t>No </a:t>
            </a:r>
            <a:r>
              <a:rPr lang="pt-BR" dirty="0"/>
              <a:t>processo de projeto de </a:t>
            </a:r>
            <a:r>
              <a:rPr lang="pt-BR" dirty="0" smtClean="0"/>
              <a:t>sistema: </a:t>
            </a:r>
            <a:r>
              <a:rPr lang="pt-BR" dirty="0"/>
              <a:t>usado para estudar soluções específicas do software e para apoiar o projeto de interface de usuário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3411466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328ABE-2AC7-430F-8B91-803A1AC184F7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51</a:t>
            </a:fld>
            <a:endParaRPr lang="pt-PT" altLang="pt-BR" sz="1400"/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Prototipação</a:t>
            </a:r>
            <a:endParaRPr lang="pt-PT" altLang="pt-BR" sz="3600"/>
          </a:p>
        </p:txBody>
      </p:sp>
      <p:sp>
        <p:nvSpPr>
          <p:cNvPr id="7475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0770" y="1143000"/>
            <a:ext cx="11964837" cy="5670551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Protótipos do sistema:</a:t>
            </a:r>
          </a:p>
          <a:p>
            <a:pPr algn="just" eaLnBrk="1" hangingPunct="1"/>
            <a:r>
              <a:rPr lang="pt-BR" altLang="pt-BR" dirty="0" smtClean="0"/>
              <a:t>Permitem aos usuários ver quão bem o sistema dá suporte a seu trabalho. Obtém novas ideias para requisitos e encontra pontos fortes e fracos do software. Propõe novos requisitos ao sistema. </a:t>
            </a:r>
          </a:p>
          <a:p>
            <a:pPr algn="just" eaLnBrk="1" hangingPunct="1"/>
            <a:r>
              <a:rPr lang="pt-BR" altLang="pt-BR" dirty="0" smtClean="0"/>
              <a:t>Pode revelar erros e omissões nos requisitos propostos. A função descrita em uma especificação pode parecer útil e bem definida. </a:t>
            </a:r>
          </a:p>
          <a:p>
            <a:pPr algn="just" eaLnBrk="1" hangingPunct="1"/>
            <a:r>
              <a:rPr lang="pt-BR" altLang="pt-BR" dirty="0" smtClean="0"/>
              <a:t>Quando a função é combinada com outras, os usuários podem perceber que sua visão inicial foi incorreta ou incompleta. </a:t>
            </a:r>
          </a:p>
          <a:p>
            <a:pPr algn="just" eaLnBrk="1" hangingPunct="1"/>
            <a:r>
              <a:rPr lang="pt-BR" altLang="pt-BR" dirty="0" smtClean="0"/>
              <a:t>A especificação do sistema pode ser modificada para refletir o entendimento dos requisitos alterados. </a:t>
            </a:r>
          </a:p>
        </p:txBody>
      </p:sp>
    </p:spTree>
    <p:extLst>
      <p:ext uri="{BB962C8B-B14F-4D97-AF65-F5344CB8AC3E}">
        <p14:creationId xmlns:p14="http://schemas.microsoft.com/office/powerpoint/2010/main" val="27330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8D48BE-0107-4476-B6D4-5C3ADAB449EE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52</a:t>
            </a:fld>
            <a:endParaRPr lang="pt-PT" altLang="pt-BR" sz="1400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Prototipação</a:t>
            </a:r>
            <a:endParaRPr lang="pt-PT" altLang="pt-BR" sz="3600"/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" y="862642"/>
            <a:ext cx="12076980" cy="5950909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Protótipos do sistema:</a:t>
            </a:r>
          </a:p>
          <a:p>
            <a:pPr algn="just" eaLnBrk="1" hangingPunct="1"/>
            <a:r>
              <a:rPr lang="pt-BR" altLang="pt-BR" dirty="0" smtClean="0"/>
              <a:t>No projeto, um protótipo do sistema pode ser usado para a realização de </a:t>
            </a:r>
            <a:r>
              <a:rPr lang="pt-BR" altLang="pt-BR" dirty="0" smtClean="0"/>
              <a:t>experimentos </a:t>
            </a:r>
            <a:r>
              <a:rPr lang="pt-BR" altLang="pt-BR" dirty="0" smtClean="0"/>
              <a:t>visando à verificação da viabilidade da proposta. </a:t>
            </a:r>
          </a:p>
          <a:p>
            <a:pPr algn="just" eaLnBrk="1" hangingPunct="1"/>
            <a:r>
              <a:rPr lang="pt-BR" altLang="pt-BR" dirty="0" err="1" smtClean="0"/>
              <a:t>Ex</a:t>
            </a:r>
            <a:r>
              <a:rPr lang="pt-BR" altLang="pt-BR" dirty="0" smtClean="0"/>
              <a:t>: projeto de banco de dados pode ser </a:t>
            </a:r>
            <a:r>
              <a:rPr lang="pt-BR" altLang="pt-BR" dirty="0" err="1" smtClean="0"/>
              <a:t>prototipado</a:t>
            </a:r>
            <a:r>
              <a:rPr lang="pt-BR" altLang="pt-BR" dirty="0" smtClean="0"/>
              <a:t> e testado para verificar se </a:t>
            </a:r>
            <a:r>
              <a:rPr lang="pt-BR" altLang="pt-BR" dirty="0" smtClean="0"/>
              <a:t>suporta </a:t>
            </a:r>
            <a:r>
              <a:rPr lang="pt-BR" altLang="pt-BR" dirty="0" smtClean="0"/>
              <a:t>o acesso aos dados para as consultas mais comuns dos usuários. </a:t>
            </a:r>
          </a:p>
          <a:p>
            <a:pPr algn="just" eaLnBrk="1" hangingPunct="1"/>
            <a:r>
              <a:rPr lang="pt-BR" altLang="pt-BR" dirty="0" smtClean="0"/>
              <a:t>Parte essencial do processo de projeto da interface de usuário: Interfaces tem natureza dinâmica: descrições textuais e diagramas não são bons para expressar seus requisitos. </a:t>
            </a:r>
          </a:p>
          <a:p>
            <a:pPr algn="just" eaLnBrk="1" hangingPunct="1"/>
            <a:r>
              <a:rPr lang="pt-BR" altLang="pt-BR" dirty="0" smtClean="0"/>
              <a:t>A prototipação com envolvimento do usuário final é a única maneira sensata de desenvolver interfaces gráficas de usuário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42077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885AAC-D49A-4861-A068-5855911F5306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53</a:t>
            </a:fld>
            <a:endParaRPr lang="pt-PT" altLang="pt-BR" sz="140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Prototipação</a:t>
            </a:r>
            <a:endParaRPr lang="pt-PT" altLang="pt-BR" sz="3600"/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1026544"/>
            <a:ext cx="11844067" cy="5787008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Protótipos do sistema:</a:t>
            </a:r>
          </a:p>
          <a:p>
            <a:pPr algn="just" eaLnBrk="1" hangingPunct="1"/>
            <a:r>
              <a:rPr lang="pt-BR" altLang="pt-BR" dirty="0" smtClean="0"/>
              <a:t>Os objetivos da prototipação: explicitados desde o início do processo. </a:t>
            </a:r>
          </a:p>
          <a:p>
            <a:pPr algn="just" eaLnBrk="1" hangingPunct="1"/>
            <a:r>
              <a:rPr lang="pt-BR" altLang="pt-BR" dirty="0" err="1" smtClean="0"/>
              <a:t>Ex</a:t>
            </a:r>
            <a:r>
              <a:rPr lang="pt-BR" altLang="pt-BR" dirty="0" smtClean="0"/>
              <a:t>: desenvolvimento de sistema para </a:t>
            </a:r>
            <a:r>
              <a:rPr lang="pt-BR" altLang="pt-BR" dirty="0" err="1" smtClean="0"/>
              <a:t>prototipar</a:t>
            </a:r>
            <a:r>
              <a:rPr lang="pt-BR" altLang="pt-BR" dirty="0" smtClean="0"/>
              <a:t> a interface de usuário, o desenvolvimento de sistema para validar requisitos funcionais do sistema ou o desenvolvimento de sistema para demonstrar aos gerentes a viabilidade da aplicação. </a:t>
            </a:r>
          </a:p>
          <a:p>
            <a:pPr algn="just" eaLnBrk="1" hangingPunct="1"/>
            <a:r>
              <a:rPr lang="pt-BR" altLang="pt-BR" dirty="0" smtClean="0"/>
              <a:t>O mesmo protótipo não pode cumprir todos os objetivos. Se os objetivos não são declarados, a gerência ou os usuários finais podem não entender a função do protótipo, não obtendo os benefícios que esperavam do desenvolvimento do protótipo.</a:t>
            </a:r>
          </a:p>
          <a:p>
            <a:pPr algn="just" eaLnBrk="1" hangingPunct="1"/>
            <a:r>
              <a:rPr lang="pt-BR" altLang="pt-BR" dirty="0" smtClean="0"/>
              <a:t>Próximo estágio: decidir o que colocar e o que deixar de fora do protótipo. </a:t>
            </a:r>
          </a:p>
          <a:p>
            <a:pPr algn="just" eaLnBrk="1" hangingPunct="1"/>
            <a:r>
              <a:rPr lang="pt-BR" altLang="pt-BR" dirty="0" smtClean="0"/>
              <a:t>Para reduzir os custos de prototipação e acelerar o cronograma de entrega, pode-se deixar  funcionalidade fora do protótipo. 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181633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836FD3-305E-4629-A8F6-BDD74C3226C5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54</a:t>
            </a:fld>
            <a:endParaRPr lang="pt-PT" altLang="pt-BR" sz="1400"/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Prototipação</a:t>
            </a:r>
            <a:endParaRPr lang="pt-PT" altLang="pt-BR" sz="3600"/>
          </a:p>
        </p:txBody>
      </p:sp>
      <p:pic>
        <p:nvPicPr>
          <p:cNvPr id="77828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7" y="1628776"/>
            <a:ext cx="9191626" cy="312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1" y="981076"/>
            <a:ext cx="9180513" cy="5832475"/>
          </a:xfrm>
        </p:spPr>
        <p:txBody>
          <a:bodyPr/>
          <a:lstStyle/>
          <a:p>
            <a:pPr algn="just" eaLnBrk="1" hangingPunct="1"/>
            <a:endParaRPr lang="pt-PT" altLang="pt-BR" smtClean="0"/>
          </a:p>
        </p:txBody>
      </p:sp>
    </p:spTree>
    <p:extLst>
      <p:ext uri="{BB962C8B-B14F-4D97-AF65-F5344CB8AC3E}">
        <p14:creationId xmlns:p14="http://schemas.microsoft.com/office/powerpoint/2010/main" val="3894230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ED3BB0-D89C-4FA7-95D8-989374B2233D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55</a:t>
            </a:fld>
            <a:endParaRPr lang="pt-PT" altLang="pt-BR" sz="1400"/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Prototipação</a:t>
            </a:r>
            <a:endParaRPr lang="pt-PT" altLang="pt-BR" sz="3600"/>
          </a:p>
        </p:txBody>
      </p:sp>
      <p:sp>
        <p:nvSpPr>
          <p:cNvPr id="7885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4673" y="1285335"/>
            <a:ext cx="11749176" cy="5528215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Protótipos do sistema:</a:t>
            </a:r>
          </a:p>
          <a:p>
            <a:pPr algn="just" eaLnBrk="1" hangingPunct="1"/>
            <a:r>
              <a:rPr lang="pt-BR" altLang="pt-BR" dirty="0" smtClean="0"/>
              <a:t>Requisitos não funcionais (tempo de resposta e utilização de memória) podem não ser incluídos</a:t>
            </a:r>
          </a:p>
          <a:p>
            <a:pPr algn="just" eaLnBrk="1" hangingPunct="1"/>
            <a:r>
              <a:rPr lang="pt-BR" altLang="pt-BR" dirty="0" smtClean="0"/>
              <a:t>Gerenciamento e tratamento de erros podem ser ignorados, a menos que o objetivo do protótipo seja estabelecer uma interface de usuário. </a:t>
            </a:r>
          </a:p>
          <a:p>
            <a:pPr algn="just" eaLnBrk="1" hangingPunct="1"/>
            <a:r>
              <a:rPr lang="pt-BR" altLang="pt-BR" dirty="0" smtClean="0"/>
              <a:t>Padrões de confiabilidade e qualidade de programa podem ser reduzidos. </a:t>
            </a:r>
          </a:p>
          <a:p>
            <a:pPr algn="just" eaLnBrk="1" hangingPunct="1"/>
            <a:endParaRPr lang="pt-BR" altLang="pt-BR" dirty="0" smtClean="0"/>
          </a:p>
          <a:p>
            <a:pPr algn="just" eaLnBrk="1" hangingPunct="1"/>
            <a:r>
              <a:rPr lang="pt-BR" altLang="pt-BR" dirty="0" smtClean="0"/>
              <a:t>Estágio final: avaliação do protótipo. Provisões devem ser feitas para o treinamento do usuário, e os objetivos do protótipo devem ser usados para derivar um plano de avaliação. Os usuários necessitam de um tempo para se sentirem confortáveis com um sistema novo e para se situarem em um padrão normal de uso. Usando o sistema normalmente, eles descobrem erros e omissões de requisitos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42752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4B29FA-2530-4E9B-8C9C-9ACEBA3DABD2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56</a:t>
            </a:fld>
            <a:endParaRPr lang="pt-PT" altLang="pt-BR" sz="1400"/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Prototipação</a:t>
            </a:r>
            <a:endParaRPr lang="pt-PT" altLang="pt-BR" sz="3600"/>
          </a:p>
        </p:txBody>
      </p:sp>
      <p:sp>
        <p:nvSpPr>
          <p:cNvPr id="798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7419" y="1268083"/>
            <a:ext cx="11766430" cy="5545468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Protótipo pode não ser usado como o sistema final. </a:t>
            </a:r>
          </a:p>
          <a:p>
            <a:pPr algn="just" eaLnBrk="1" hangingPunct="1"/>
            <a:r>
              <a:rPr lang="pt-BR" altLang="pt-BR" dirty="0" smtClean="0"/>
              <a:t>Testador do protótipo pode não ser um usuário típico do sistema</a:t>
            </a:r>
          </a:p>
          <a:p>
            <a:pPr algn="just" eaLnBrk="1" hangingPunct="1"/>
            <a:r>
              <a:rPr lang="pt-BR" altLang="pt-BR" dirty="0" smtClean="0"/>
              <a:t>O tempo de treinamento durante a avaliação do protótipo </a:t>
            </a:r>
            <a:r>
              <a:rPr lang="pt-BR" altLang="pt-BR" dirty="0" smtClean="0"/>
              <a:t>deve </a:t>
            </a:r>
            <a:r>
              <a:rPr lang="pt-BR" altLang="pt-BR" dirty="0" smtClean="0"/>
              <a:t>ser </a:t>
            </a:r>
            <a:r>
              <a:rPr lang="pt-BR" altLang="pt-BR" dirty="0" smtClean="0"/>
              <a:t>suficiente</a:t>
            </a:r>
            <a:r>
              <a:rPr lang="pt-BR" altLang="pt-BR" dirty="0" smtClean="0"/>
              <a:t>.</a:t>
            </a:r>
          </a:p>
          <a:p>
            <a:pPr algn="just" eaLnBrk="1" hangingPunct="1"/>
            <a:r>
              <a:rPr lang="pt-BR" altLang="pt-BR" dirty="0" smtClean="0"/>
              <a:t>Protótipo lento: avaliadores ajustam o modo de trabalho e evitam recursos do sistema que têm tempos de resposta lentos. </a:t>
            </a:r>
          </a:p>
          <a:p>
            <a:pPr algn="just" eaLnBrk="1" hangingPunct="1"/>
            <a:r>
              <a:rPr lang="pt-BR" altLang="pt-BR" dirty="0" smtClean="0"/>
              <a:t>Melhores respostas no sistema final: avaliadores podem usá-lo de forma diferente. </a:t>
            </a:r>
          </a:p>
          <a:p>
            <a:pPr algn="just" eaLnBrk="1" hangingPunct="1"/>
            <a:r>
              <a:rPr lang="pt-BR" altLang="pt-BR" dirty="0" smtClean="0"/>
              <a:t>Às vezes, os desenvolvedores são pressionados pelos gerentes para entregar protótipos descartáveis, especialmente quando há atrasos na entrega da versão final do software. 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115189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D59B48-71E9-40B0-85D5-126195F48800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57</a:t>
            </a:fld>
            <a:endParaRPr lang="pt-PT" altLang="pt-BR" sz="1400"/>
          </a:p>
        </p:txBody>
      </p:sp>
      <p:sp>
        <p:nvSpPr>
          <p:cNvPr id="808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Prototipação</a:t>
            </a:r>
            <a:endParaRPr lang="pt-PT" altLang="pt-BR" sz="3600"/>
          </a:p>
        </p:txBody>
      </p:sp>
      <p:sp>
        <p:nvSpPr>
          <p:cNvPr id="8090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1925" y="1285336"/>
            <a:ext cx="11792309" cy="5528215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Problemas</a:t>
            </a:r>
          </a:p>
          <a:p>
            <a:pPr algn="just" eaLnBrk="1" hangingPunct="1"/>
            <a:endParaRPr lang="pt-BR" altLang="pt-BR" dirty="0" smtClean="0"/>
          </a:p>
          <a:p>
            <a:pPr algn="just" eaLnBrk="1" hangingPunct="1"/>
            <a:r>
              <a:rPr lang="pt-BR" altLang="pt-BR" dirty="0" smtClean="0"/>
              <a:t>1. Pode ser impossível ajustar o protótipo para atender </a:t>
            </a:r>
            <a:r>
              <a:rPr lang="pt-BR" altLang="pt-BR" dirty="0" smtClean="0"/>
              <a:t>os </a:t>
            </a:r>
            <a:r>
              <a:rPr lang="pt-BR" altLang="pt-BR" dirty="0" smtClean="0"/>
              <a:t>requisitos não funcionais (desempenho, proteção, robustez e confiabilidade), ignorados durante o desenvolvimento do protótipo. </a:t>
            </a:r>
          </a:p>
          <a:p>
            <a:pPr algn="just" eaLnBrk="1" hangingPunct="1"/>
            <a:r>
              <a:rPr lang="pt-BR" altLang="pt-BR" dirty="0" smtClean="0"/>
              <a:t>2. Mudanças rápidas durante o desenvolvimento significam que o protótipo não está documentado. A única especificação de projeto é o código do protótipo. Para a manutenção a longo prazo, isso não é suficiente </a:t>
            </a:r>
          </a:p>
          <a:p>
            <a:pPr algn="just" eaLnBrk="1" hangingPunct="1"/>
            <a:r>
              <a:rPr lang="pt-BR" altLang="pt-BR" dirty="0" smtClean="0"/>
              <a:t>3. Mudanças no desenvolvimento do protótipo provavelmente terão degradado a estrutura do sistema. O sistema será difícil e custoso de ser mantido. </a:t>
            </a:r>
          </a:p>
          <a:p>
            <a:pPr algn="just" eaLnBrk="1" hangingPunct="1"/>
            <a:r>
              <a:rPr lang="pt-BR" altLang="pt-BR" dirty="0" smtClean="0"/>
              <a:t>4. Padrões de qualidade organizacional são relaxados para o desenvolvimento do protótipo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61570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67A047-1BE0-4D6D-A2AA-96B829BC4ECC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58</a:t>
            </a:fld>
            <a:endParaRPr lang="pt-PT" altLang="pt-BR" sz="1400"/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Prototipação</a:t>
            </a:r>
            <a:endParaRPr lang="pt-PT" altLang="pt-BR" sz="3600"/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6046" y="1440611"/>
            <a:ext cx="11757803" cy="5387197"/>
          </a:xfrm>
        </p:spPr>
        <p:txBody>
          <a:bodyPr/>
          <a:lstStyle/>
          <a:p>
            <a:pPr algn="just" eaLnBrk="1" hangingPunct="1"/>
            <a:endParaRPr lang="pt-BR" altLang="pt-BR" dirty="0" smtClean="0"/>
          </a:p>
          <a:p>
            <a:pPr algn="just" eaLnBrk="1" hangingPunct="1"/>
            <a:r>
              <a:rPr lang="pt-BR" altLang="pt-BR" dirty="0" smtClean="0"/>
              <a:t>Protótipos não precisam ser executáveis para serem úteis. </a:t>
            </a:r>
          </a:p>
          <a:p>
            <a:pPr algn="just" eaLnBrk="1" hangingPunct="1"/>
            <a:r>
              <a:rPr lang="pt-BR" altLang="pt-BR" dirty="0" smtClean="0"/>
              <a:t>Maquetes em papel da interface de usuário do sistema podem ser eficazes em ajudar os usuários a refinar o projeto de interface e trabalhar por meio de cenários de uso. </a:t>
            </a:r>
          </a:p>
          <a:p>
            <a:pPr algn="just" eaLnBrk="1" hangingPunct="1"/>
            <a:r>
              <a:rPr lang="pt-BR" altLang="pt-BR" dirty="0" smtClean="0"/>
              <a:t>Estes são muito baratos de se desenvolver e podem ser construídos em poucos dias. </a:t>
            </a:r>
          </a:p>
          <a:p>
            <a:pPr algn="just" eaLnBrk="1" hangingPunct="1"/>
            <a:r>
              <a:rPr lang="pt-BR" altLang="pt-BR" dirty="0" smtClean="0"/>
              <a:t>Uma extensão dessa técnica é o protótipo Mágico de Oz, no qual apenas a interface de usuário é desenvolvida. Os usuários interagem com essa interface e as suas solicitações são passadas para uma pessoa que os interpreta e produz a resposta adequada.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3121729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663214-17EF-488E-9CEE-40B42F5E0CD2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59</a:t>
            </a:fld>
            <a:endParaRPr lang="pt-PT" altLang="pt-BR" sz="1400"/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Entrega Incremental</a:t>
            </a:r>
            <a:endParaRPr lang="pt-PT" altLang="pt-BR" sz="3600"/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6045" y="1388853"/>
            <a:ext cx="11818189" cy="5424698"/>
          </a:xfrm>
        </p:spPr>
        <p:txBody>
          <a:bodyPr/>
          <a:lstStyle/>
          <a:p>
            <a:pPr algn="just" eaLnBrk="1" hangingPunct="1"/>
            <a:endParaRPr lang="pt-BR" altLang="pt-BR" dirty="0" smtClean="0"/>
          </a:p>
          <a:p>
            <a:pPr algn="just" eaLnBrk="1" hangingPunct="1"/>
            <a:r>
              <a:rPr lang="pt-BR" altLang="pt-BR" dirty="0" smtClean="0"/>
              <a:t>Abordagem de desenvolvimento de software: alguns dos incrementos desenvolvidos são entregues ao cliente e implantados para uso em um ambiente operacional. </a:t>
            </a:r>
          </a:p>
          <a:p>
            <a:pPr algn="just" eaLnBrk="1" hangingPunct="1"/>
            <a:r>
              <a:rPr lang="pt-BR" altLang="pt-BR" dirty="0" smtClean="0"/>
              <a:t>Clientes: identificam, em linhas gerais, os serviços a serem fornecidos pelo sistema (os mais e menos importantes)</a:t>
            </a:r>
          </a:p>
          <a:p>
            <a:pPr algn="just" eaLnBrk="1" hangingPunct="1"/>
            <a:r>
              <a:rPr lang="pt-BR" altLang="pt-BR" dirty="0" smtClean="0"/>
              <a:t>Uma série de incrementos de entrega são definidos: subconjunto da funcionalidade do sistema. </a:t>
            </a:r>
          </a:p>
          <a:p>
            <a:pPr algn="just" eaLnBrk="1" hangingPunct="1"/>
            <a:r>
              <a:rPr lang="pt-BR" altLang="pt-BR" dirty="0" smtClean="0"/>
              <a:t>Atribuição de serviços aos incrementos depende da ordem de prioridade dos serviços: os serviços de mais alta prioridade são implementados e entregues em primeiro lugar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6481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4A9B32-A87E-435E-8915-BC9F2699B801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60</a:t>
            </a:fld>
            <a:endParaRPr lang="pt-PT" altLang="pt-BR" sz="1400"/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Entrega Incremental</a:t>
            </a:r>
            <a:endParaRPr lang="pt-PT" altLang="pt-BR" sz="3600"/>
          </a:p>
        </p:txBody>
      </p:sp>
      <p:pic>
        <p:nvPicPr>
          <p:cNvPr id="8397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3" y="1238250"/>
            <a:ext cx="8178800" cy="561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1" y="981076"/>
            <a:ext cx="9180513" cy="5832475"/>
          </a:xfrm>
        </p:spPr>
        <p:txBody>
          <a:bodyPr/>
          <a:lstStyle/>
          <a:p>
            <a:pPr algn="just" eaLnBrk="1" hangingPunct="1"/>
            <a:endParaRPr lang="pt-BR" altLang="pt-BR" smtClean="0"/>
          </a:p>
        </p:txBody>
      </p:sp>
    </p:spTree>
    <p:extLst>
      <p:ext uri="{BB962C8B-B14F-4D97-AF65-F5344CB8AC3E}">
        <p14:creationId xmlns:p14="http://schemas.microsoft.com/office/powerpoint/2010/main" val="4183938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D7269B-BC5A-4F27-BEDC-2F8ACCC4CFB8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61</a:t>
            </a:fld>
            <a:endParaRPr lang="pt-PT" altLang="pt-BR" sz="1400"/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Entrega Incremental</a:t>
            </a:r>
            <a:endParaRPr lang="pt-PT" altLang="pt-BR" sz="3600"/>
          </a:p>
        </p:txBody>
      </p:sp>
      <p:sp>
        <p:nvSpPr>
          <p:cNvPr id="8499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8023" y="1259457"/>
            <a:ext cx="11775056" cy="5554094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Incrementos identificados: os requisitos dos serviços a serem entregues no primeiro incremento são definidos em detalhes, e desenvolvido. </a:t>
            </a:r>
          </a:p>
          <a:p>
            <a:pPr algn="just" eaLnBrk="1" hangingPunct="1"/>
            <a:r>
              <a:rPr lang="pt-BR" altLang="pt-BR" dirty="0" smtClean="0"/>
              <a:t>No desenvolvimento: podem ocorrer mais análises de requisitos para incrementos posteriores. Mudanças nos requisitos do incremento atual não são aceitas. </a:t>
            </a:r>
          </a:p>
          <a:p>
            <a:pPr algn="just" eaLnBrk="1" hangingPunct="1"/>
            <a:r>
              <a:rPr lang="pt-BR" altLang="pt-BR" dirty="0" smtClean="0"/>
              <a:t>Incremento concluído e entregue: clientes podem colocá-lo em operação. Isso significa aceitar a entrega antecipada de uma parte da funcionalidade do sistema. Os clientes podem experimentar o sistema, e isso os ajuda a compreender suas necessidades para incrementos posteriores. </a:t>
            </a:r>
          </a:p>
          <a:p>
            <a:pPr algn="just" eaLnBrk="1" hangingPunct="1"/>
            <a:r>
              <a:rPr lang="pt-BR" altLang="pt-BR" dirty="0" smtClean="0"/>
              <a:t>Novos incrementos concluídos: são integrados aos incrementos existentes para que a funcionalidade do sistema melhore com cada incremento entregue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138525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A5DBD7-392B-4055-8DB3-71A2FD1D3611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62</a:t>
            </a:fld>
            <a:endParaRPr lang="pt-PT" altLang="pt-BR" sz="1400"/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Entrega Incremental</a:t>
            </a:r>
            <a:endParaRPr lang="pt-PT" altLang="pt-BR" sz="3600"/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0551" y="1078301"/>
            <a:ext cx="11550770" cy="5735249"/>
          </a:xfrm>
        </p:spPr>
        <p:txBody>
          <a:bodyPr/>
          <a:lstStyle/>
          <a:p>
            <a:pPr algn="just" eaLnBrk="1" hangingPunct="1">
              <a:defRPr/>
            </a:pPr>
            <a:r>
              <a:rPr lang="pt-BR" dirty="0"/>
              <a:t>V</a:t>
            </a:r>
            <a:r>
              <a:rPr lang="pt-BR" dirty="0" smtClean="0"/>
              <a:t>antagens</a:t>
            </a:r>
            <a:r>
              <a:rPr lang="pt-BR" dirty="0"/>
              <a:t>: </a:t>
            </a:r>
            <a:endParaRPr lang="pt-BR" dirty="0" smtClean="0"/>
          </a:p>
          <a:p>
            <a:pPr marL="457200" indent="-457200" algn="just">
              <a:buFontTx/>
              <a:buAutoNum type="arabicPeriod"/>
              <a:defRPr/>
            </a:pPr>
            <a:r>
              <a:rPr lang="pt-BR" dirty="0"/>
              <a:t>C</a:t>
            </a:r>
            <a:r>
              <a:rPr lang="pt-BR" dirty="0" smtClean="0"/>
              <a:t>lientes usam </a:t>
            </a:r>
            <a:r>
              <a:rPr lang="pt-BR" dirty="0"/>
              <a:t>os incrementos iniciais como protótipos </a:t>
            </a:r>
            <a:r>
              <a:rPr lang="pt-BR" dirty="0" smtClean="0"/>
              <a:t>para </a:t>
            </a:r>
            <a:r>
              <a:rPr lang="pt-BR" dirty="0"/>
              <a:t>ganhar </a:t>
            </a:r>
            <a:r>
              <a:rPr lang="pt-BR" dirty="0" smtClean="0"/>
              <a:t>experiência (informa </a:t>
            </a:r>
            <a:r>
              <a:rPr lang="pt-BR" dirty="0"/>
              <a:t>requisitos para incrementos </a:t>
            </a:r>
            <a:r>
              <a:rPr lang="pt-BR" dirty="0" smtClean="0"/>
              <a:t>posteriores). </a:t>
            </a:r>
            <a:r>
              <a:rPr lang="pt-BR" dirty="0"/>
              <a:t>Ao contrário de protótipos, </a:t>
            </a:r>
            <a:r>
              <a:rPr lang="pt-BR" dirty="0" smtClean="0"/>
              <a:t>trata-se </a:t>
            </a:r>
            <a:r>
              <a:rPr lang="pt-BR" dirty="0"/>
              <a:t>de partes do sistema </a:t>
            </a:r>
            <a:r>
              <a:rPr lang="pt-BR" dirty="0" smtClean="0"/>
              <a:t>real.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pt-BR" dirty="0"/>
              <a:t>C</a:t>
            </a:r>
            <a:r>
              <a:rPr lang="pt-BR" dirty="0" smtClean="0"/>
              <a:t>lientes </a:t>
            </a:r>
            <a:r>
              <a:rPr lang="pt-BR" dirty="0"/>
              <a:t>não </a:t>
            </a:r>
            <a:r>
              <a:rPr lang="pt-BR" dirty="0" smtClean="0"/>
              <a:t>esperam a entrega do sistema total para </a:t>
            </a:r>
            <a:r>
              <a:rPr lang="pt-BR" dirty="0"/>
              <a:t>obter </a:t>
            </a:r>
            <a:r>
              <a:rPr lang="pt-BR" dirty="0" smtClean="0"/>
              <a:t>ganhos. </a:t>
            </a:r>
            <a:r>
              <a:rPr lang="pt-BR" dirty="0"/>
              <a:t>O </a:t>
            </a:r>
            <a:r>
              <a:rPr lang="pt-BR" dirty="0" smtClean="0"/>
              <a:t>primeiro </a:t>
            </a:r>
            <a:r>
              <a:rPr lang="pt-BR" dirty="0"/>
              <a:t>incremento satisfaz os requisitos mais </a:t>
            </a:r>
            <a:r>
              <a:rPr lang="pt-BR" dirty="0" smtClean="0"/>
              <a:t>críticos podendo </a:t>
            </a:r>
            <a:r>
              <a:rPr lang="pt-BR" dirty="0"/>
              <a:t>usar o software imediatamente. </a:t>
            </a:r>
            <a:endParaRPr lang="pt-BR" dirty="0" smtClean="0"/>
          </a:p>
          <a:p>
            <a:pPr marL="457200" indent="-457200" algn="just">
              <a:buFontTx/>
              <a:buAutoNum type="arabicPeriod"/>
              <a:defRPr/>
            </a:pPr>
            <a:r>
              <a:rPr lang="pt-BR" dirty="0" smtClean="0"/>
              <a:t>O </a:t>
            </a:r>
            <a:r>
              <a:rPr lang="pt-BR" dirty="0"/>
              <a:t>processo mantém os benefícios do desenvolvimento incremental, o que deve facilitar a incorporação das mudanças no sistema. </a:t>
            </a:r>
            <a:endParaRPr lang="pt-BR" dirty="0" smtClean="0"/>
          </a:p>
          <a:p>
            <a:pPr marL="457200" indent="-457200" algn="just">
              <a:buFontTx/>
              <a:buAutoNum type="arabicPeriod"/>
              <a:defRPr/>
            </a:pPr>
            <a:r>
              <a:rPr lang="pt-BR" dirty="0" smtClean="0"/>
              <a:t>Quanto </a:t>
            </a:r>
            <a:r>
              <a:rPr lang="pt-BR" dirty="0"/>
              <a:t>maior a prioridade dos serviços entregues e, em seguida, incrementos integrados, os serviços mais importantes recebem a maioria dos testes. Isso significa que a probabilidade de os clientes encontrarem falhas de software nas partes mais importantes do sistema é menor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28119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64ECFB-FBFB-4543-98B0-1D233B918DBD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63</a:t>
            </a:fld>
            <a:endParaRPr lang="pt-PT" altLang="pt-BR" sz="1400"/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Entrega Incremental</a:t>
            </a:r>
            <a:endParaRPr lang="pt-PT" altLang="pt-BR" sz="3600"/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2913" y="1216325"/>
            <a:ext cx="11654287" cy="5597226"/>
          </a:xfrm>
        </p:spPr>
        <p:txBody>
          <a:bodyPr/>
          <a:lstStyle/>
          <a:p>
            <a:pPr algn="just" eaLnBrk="1" hangingPunct="1">
              <a:defRPr/>
            </a:pPr>
            <a:r>
              <a:rPr lang="pt-BR" dirty="0" smtClean="0"/>
              <a:t>Problemas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pt-BR" dirty="0" smtClean="0"/>
              <a:t>A </a:t>
            </a:r>
            <a:r>
              <a:rPr lang="pt-BR" dirty="0"/>
              <a:t>maioria dos sistemas exige um conjunto de recursos básicos, usados </a:t>
            </a:r>
            <a:r>
              <a:rPr lang="pt-BR" dirty="0" smtClean="0"/>
              <a:t>em suas </a:t>
            </a:r>
            <a:r>
              <a:rPr lang="pt-BR" dirty="0"/>
              <a:t>diferentes </a:t>
            </a:r>
            <a:r>
              <a:rPr lang="pt-BR" dirty="0" smtClean="0"/>
              <a:t>partes. </a:t>
            </a:r>
            <a:r>
              <a:rPr lang="pt-BR" dirty="0"/>
              <a:t>Como os requisitos não são definidos em detalhes até que um incremento possa ser implementado, pode ser difícil identificar recursos comuns, necessários a todos os incrementos. </a:t>
            </a:r>
            <a:endParaRPr lang="pt-BR" dirty="0" smtClean="0"/>
          </a:p>
          <a:p>
            <a:pPr marL="457200" indent="-457200" algn="just">
              <a:buFontTx/>
              <a:buAutoNum type="arabicPeriod"/>
              <a:defRPr/>
            </a:pPr>
            <a:r>
              <a:rPr lang="pt-BR" dirty="0" smtClean="0"/>
              <a:t>O </a:t>
            </a:r>
            <a:r>
              <a:rPr lang="pt-BR" dirty="0"/>
              <a:t>desenvolvimento iterativo </a:t>
            </a:r>
            <a:r>
              <a:rPr lang="pt-BR" dirty="0" smtClean="0"/>
              <a:t>pode </a:t>
            </a:r>
            <a:r>
              <a:rPr lang="pt-BR" dirty="0"/>
              <a:t>ser difícil quando um sistema substituto está sendo desenvolvido. Usuários </a:t>
            </a:r>
            <a:r>
              <a:rPr lang="pt-BR" dirty="0" smtClean="0"/>
              <a:t>querem as funcionalidades </a:t>
            </a:r>
            <a:r>
              <a:rPr lang="pt-BR" dirty="0"/>
              <a:t>do sistema antigo e, muitas vezes, ficam relutantes em experimentar um novo sistema incompleto. Portanto, é difícil obter feedbacks úteis dos clientes. </a:t>
            </a:r>
            <a:endParaRPr lang="pt-BR" dirty="0" smtClean="0"/>
          </a:p>
          <a:p>
            <a:pPr marL="457200" indent="-457200" algn="just">
              <a:buFontTx/>
              <a:buAutoNum type="arabicPeriod"/>
              <a:defRPr/>
            </a:pPr>
            <a:r>
              <a:rPr lang="pt-BR" altLang="pt-BR" dirty="0" smtClean="0"/>
              <a:t>Essência </a:t>
            </a:r>
            <a:r>
              <a:rPr lang="pt-BR" altLang="pt-BR" dirty="0"/>
              <a:t>do processo iterativo: especificação desenvolvida em conjunto com o software causa </a:t>
            </a:r>
            <a:r>
              <a:rPr lang="pt-BR" altLang="pt-BR" dirty="0" smtClean="0"/>
              <a:t>conflitos quando a </a:t>
            </a:r>
            <a:r>
              <a:rPr lang="pt-BR" altLang="pt-BR" dirty="0"/>
              <a:t>especificação </a:t>
            </a:r>
            <a:r>
              <a:rPr lang="pt-BR" altLang="pt-BR" dirty="0" smtClean="0"/>
              <a:t>completa </a:t>
            </a:r>
            <a:r>
              <a:rPr lang="pt-BR" altLang="pt-BR" dirty="0"/>
              <a:t>é parte do contrato de desenvolvimento do sistema. Na abordagem incremental, não há especificação completa do sistema até que o último incremento seja especificado, o que requer uma nova forma de contrato, à qual os grandes clientes, como agências governamentais, podem achar difícil de se adaptar</a:t>
            </a:r>
            <a:endParaRPr lang="pt-PT" altLang="pt-BR" dirty="0"/>
          </a:p>
          <a:p>
            <a:pPr marL="457200" indent="-457200" algn="just">
              <a:buFontTx/>
              <a:buAutoNum type="arabicPeriod"/>
              <a:defRPr/>
            </a:pP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125424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E40E5E-7A51-40CD-AAAE-A70CB7A1E0A2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64</a:t>
            </a:fld>
            <a:endParaRPr lang="pt-PT" altLang="pt-BR" sz="1400"/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Entrega Incremental</a:t>
            </a:r>
            <a:endParaRPr lang="pt-PT" altLang="pt-BR" sz="3600"/>
          </a:p>
        </p:txBody>
      </p:sp>
      <p:sp>
        <p:nvSpPr>
          <p:cNvPr id="8909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1155" y="1035169"/>
            <a:ext cx="11792309" cy="5778381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Desenvolvimento e entrega incrementais não são a melhor abordagem para os Tipos de sistema: </a:t>
            </a:r>
          </a:p>
          <a:p>
            <a:pPr algn="just" eaLnBrk="1" hangingPunct="1"/>
            <a:r>
              <a:rPr lang="pt-BR" altLang="pt-BR" dirty="0" smtClean="0"/>
              <a:t>Sistemas grandes: equipes trabalhando em locais diferentes</a:t>
            </a:r>
          </a:p>
          <a:p>
            <a:pPr algn="just" eaLnBrk="1" hangingPunct="1"/>
            <a:r>
              <a:rPr lang="pt-BR" altLang="pt-BR" dirty="0" smtClean="0"/>
              <a:t>Sistemas embutidos: software depende do desenvolvimento de hardware, e de sistemas críticos. </a:t>
            </a:r>
            <a:r>
              <a:rPr lang="pt-BR" altLang="pt-BR" dirty="0"/>
              <a:t>R</a:t>
            </a:r>
            <a:r>
              <a:rPr lang="pt-BR" altLang="pt-BR" dirty="0" smtClean="0"/>
              <a:t>equisitos devem ser analisados na busca por interações capazes de comprometer a proteção ou a segurança. Problemas de requisitos incertos e mutáveis. </a:t>
            </a:r>
          </a:p>
          <a:p>
            <a:pPr algn="just" eaLnBrk="1" hangingPunct="1"/>
            <a:endParaRPr lang="pt-BR" altLang="pt-BR" dirty="0" smtClean="0"/>
          </a:p>
          <a:p>
            <a:pPr algn="just" eaLnBrk="1" hangingPunct="1"/>
            <a:r>
              <a:rPr lang="pt-BR" altLang="pt-BR" dirty="0" smtClean="0"/>
              <a:t>Solução e obtenção dos benefícios do desenvolvimento incremental:</a:t>
            </a:r>
          </a:p>
          <a:p>
            <a:pPr algn="just" eaLnBrk="1" hangingPunct="1"/>
            <a:r>
              <a:rPr lang="pt-BR" altLang="pt-BR" dirty="0" smtClean="0"/>
              <a:t>Usa-se processo de desenvolvimento interativo do protótipo de sistema como uma plataforma de experimentos com os requisitos e projeto do sistema. Com a experiência adquirida a partir do protótipo, requisitos definitivos podem ser acordados.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465313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419B34-523A-4274-8F50-AB464E04BBE8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65</a:t>
            </a:fld>
            <a:endParaRPr lang="pt-PT" altLang="pt-BR" sz="1400"/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Modelo Espiral de Boehm</a:t>
            </a:r>
            <a:endParaRPr lang="pt-PT" altLang="pt-BR" sz="3600"/>
          </a:p>
        </p:txBody>
      </p:sp>
      <p:sp>
        <p:nvSpPr>
          <p:cNvPr id="9011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9011" y="1143000"/>
            <a:ext cx="11809563" cy="5670552"/>
          </a:xfrm>
        </p:spPr>
        <p:txBody>
          <a:bodyPr/>
          <a:lstStyle/>
          <a:p>
            <a:pPr algn="just" eaLnBrk="1" hangingPunct="1"/>
            <a:r>
              <a:rPr lang="pt-BR" altLang="pt-BR" dirty="0" err="1" smtClean="0"/>
              <a:t>Boehm</a:t>
            </a:r>
            <a:r>
              <a:rPr lang="pt-BR" altLang="pt-BR" dirty="0" smtClean="0"/>
              <a:t> (1988): framework de processo de software dirigido a riscos (o modelo em espiral) </a:t>
            </a:r>
          </a:p>
          <a:p>
            <a:pPr algn="just" eaLnBrk="1" hangingPunct="1"/>
            <a:r>
              <a:rPr lang="pt-BR" altLang="pt-BR" dirty="0" smtClean="0"/>
              <a:t>Processo de software espiral: não uma sequência de atividades com alguns retornos de uma para outra</a:t>
            </a:r>
          </a:p>
          <a:p>
            <a:pPr algn="just" eaLnBrk="1" hangingPunct="1"/>
            <a:r>
              <a:rPr lang="pt-BR" altLang="pt-BR" dirty="0" smtClean="0"/>
              <a:t>Volta na espiral: fase do processo de software. </a:t>
            </a:r>
          </a:p>
          <a:p>
            <a:pPr algn="just" eaLnBrk="1" hangingPunct="1"/>
            <a:r>
              <a:rPr lang="pt-BR" altLang="pt-BR" dirty="0" smtClean="0"/>
              <a:t>Volta mais interna: viabilidade do sistema; </a:t>
            </a:r>
          </a:p>
          <a:p>
            <a:pPr algn="just" eaLnBrk="1" hangingPunct="1"/>
            <a:r>
              <a:rPr lang="pt-BR" altLang="pt-BR" dirty="0" smtClean="0"/>
              <a:t>O ciclo seguinte: definição de requisitos; </a:t>
            </a:r>
          </a:p>
          <a:p>
            <a:pPr algn="just" eaLnBrk="1" hangingPunct="1"/>
            <a:r>
              <a:rPr lang="pt-BR" altLang="pt-BR" dirty="0" smtClean="0"/>
              <a:t>O seguinte: projeto do sistema, e assim por diante. </a:t>
            </a:r>
          </a:p>
          <a:p>
            <a:pPr algn="just" eaLnBrk="1" hangingPunct="1"/>
            <a:r>
              <a:rPr lang="pt-BR" altLang="pt-BR" dirty="0" smtClean="0"/>
              <a:t>Modelo em espiral combina prevenção e tolerância a mudanças, assume que mudanças são um resultado de riscos de projeto e inclui atividades explícitas de gerenciamento de riscos para sua redução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428691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5A7A34-3C15-441D-93E1-737EF606A80F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66</a:t>
            </a:fld>
            <a:endParaRPr lang="pt-PT" altLang="pt-BR" sz="1400"/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Modelo Espiral de Boehm</a:t>
            </a:r>
            <a:endParaRPr lang="pt-PT" altLang="pt-BR" sz="3600"/>
          </a:p>
        </p:txBody>
      </p:sp>
      <p:pic>
        <p:nvPicPr>
          <p:cNvPr id="91140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13" y="1143001"/>
            <a:ext cx="8096250" cy="566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4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1" y="981076"/>
            <a:ext cx="9180513" cy="5832475"/>
          </a:xfrm>
        </p:spPr>
        <p:txBody>
          <a:bodyPr/>
          <a:lstStyle/>
          <a:p>
            <a:pPr algn="just" eaLnBrk="1" hangingPunct="1"/>
            <a:endParaRPr lang="pt-PT" altLang="pt-BR" smtClean="0"/>
          </a:p>
        </p:txBody>
      </p:sp>
    </p:spTree>
    <p:extLst>
      <p:ext uri="{BB962C8B-B14F-4D97-AF65-F5344CB8AC3E}">
        <p14:creationId xmlns:p14="http://schemas.microsoft.com/office/powerpoint/2010/main" val="38977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148C0D-1CCC-4048-9892-0987CAA3DF32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67</a:t>
            </a:fld>
            <a:endParaRPr lang="pt-PT" altLang="pt-BR" sz="1400"/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Modelo Espiral de Boehm</a:t>
            </a:r>
            <a:endParaRPr lang="pt-PT" altLang="pt-BR" sz="3600"/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396" y="1293961"/>
            <a:ext cx="11800935" cy="5519589"/>
          </a:xfrm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pt-BR" dirty="0" smtClean="0"/>
              <a:t>Setores de cada </a:t>
            </a:r>
            <a:r>
              <a:rPr lang="pt-BR" dirty="0"/>
              <a:t>volta da </a:t>
            </a:r>
            <a:r>
              <a:rPr lang="pt-BR" dirty="0" smtClean="0"/>
              <a:t>espiral: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pt-BR" dirty="0" smtClean="0"/>
              <a:t>Definição </a:t>
            </a:r>
            <a:r>
              <a:rPr lang="pt-BR" dirty="0"/>
              <a:t>de </a:t>
            </a:r>
            <a:r>
              <a:rPr lang="pt-BR" dirty="0" smtClean="0"/>
              <a:t>objetivos específicos: identifica restrições </a:t>
            </a:r>
            <a:r>
              <a:rPr lang="pt-BR" dirty="0"/>
              <a:t>ao processo e ao </a:t>
            </a:r>
            <a:r>
              <a:rPr lang="pt-BR" dirty="0" smtClean="0"/>
              <a:t>produto, </a:t>
            </a:r>
            <a:r>
              <a:rPr lang="pt-BR" dirty="0"/>
              <a:t>e </a:t>
            </a:r>
            <a:r>
              <a:rPr lang="pt-BR" dirty="0" smtClean="0"/>
              <a:t>elabora de </a:t>
            </a:r>
            <a:r>
              <a:rPr lang="pt-BR" dirty="0"/>
              <a:t>plano de gerenciamento </a:t>
            </a:r>
            <a:r>
              <a:rPr lang="pt-BR" dirty="0" smtClean="0"/>
              <a:t>detalhado; </a:t>
            </a:r>
            <a:r>
              <a:rPr lang="pt-BR" dirty="0"/>
              <a:t>os riscos do projeto são identificados. Podem ser planejadas estratégias alternativas em função desses riscos</a:t>
            </a:r>
            <a:r>
              <a:rPr lang="pt-BR" dirty="0" smtClean="0"/>
              <a:t>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pt-BR" dirty="0" smtClean="0"/>
              <a:t>Avaliação </a:t>
            </a:r>
            <a:r>
              <a:rPr lang="pt-BR" dirty="0"/>
              <a:t>e redução de </a:t>
            </a:r>
            <a:r>
              <a:rPr lang="pt-BR" dirty="0" smtClean="0"/>
              <a:t>riscos: </a:t>
            </a:r>
            <a:r>
              <a:rPr lang="pt-BR" dirty="0"/>
              <a:t>Para cada um dos riscos identificados do projeto, é feita uma análise detalhada. Medidas para redução do risco são tomadas. </a:t>
            </a:r>
            <a:r>
              <a:rPr lang="pt-BR" dirty="0" err="1" smtClean="0"/>
              <a:t>Ex</a:t>
            </a:r>
            <a:r>
              <a:rPr lang="pt-BR" dirty="0" smtClean="0"/>
              <a:t>: se </a:t>
            </a:r>
            <a:r>
              <a:rPr lang="pt-BR" dirty="0"/>
              <a:t>houver risco </a:t>
            </a:r>
            <a:r>
              <a:rPr lang="pt-BR" dirty="0" smtClean="0"/>
              <a:t>de requisitos </a:t>
            </a:r>
            <a:r>
              <a:rPr lang="pt-BR" dirty="0"/>
              <a:t>inadequados, um protótipo de sistema pode ser </a:t>
            </a:r>
            <a:r>
              <a:rPr lang="pt-BR" dirty="0" smtClean="0"/>
              <a:t>desenvolvido.</a:t>
            </a:r>
          </a:p>
          <a:p>
            <a:pPr algn="just"/>
            <a:r>
              <a:rPr lang="pt-BR" altLang="pt-BR" dirty="0"/>
              <a:t>3. Desenvolvimento e validação: Seleção de um modelo de desenvolvimento para o sistema. </a:t>
            </a:r>
            <a:r>
              <a:rPr lang="pt-BR" altLang="pt-BR" dirty="0" err="1" smtClean="0"/>
              <a:t>Ex</a:t>
            </a:r>
            <a:r>
              <a:rPr lang="pt-BR" altLang="pt-BR" dirty="0" smtClean="0"/>
              <a:t>: </a:t>
            </a:r>
            <a:r>
              <a:rPr lang="pt-BR" altLang="pt-BR" dirty="0"/>
              <a:t>prototipação descartável pode ser a melhor abordagem de desenvolvimento de interface de usuário se os riscos forem dominantes. Se os riscos de segurança forem a principal consideração, o desenvolvimento baseado em transformações formais pode ser o processo mais </a:t>
            </a:r>
            <a:r>
              <a:rPr lang="pt-BR" altLang="pt-BR" dirty="0" smtClean="0"/>
              <a:t>adequado. </a:t>
            </a:r>
            <a:r>
              <a:rPr lang="pt-BR" altLang="pt-BR" dirty="0"/>
              <a:t>Se o principal risco identificado for a integração de subsistemas, o modelo em cascata pode ser a melhor opção. </a:t>
            </a:r>
          </a:p>
          <a:p>
            <a:pPr algn="just"/>
            <a:r>
              <a:rPr lang="pt-BR" altLang="pt-BR" dirty="0"/>
              <a:t>4. Planejamento: O projeto é revisado, e uma decisão é tomada a respeito da continuidade do modelo com mais uma volta da espiral. Caso se decida pela continuidade, planos são elaborados para a próxima fase </a:t>
            </a:r>
            <a:endParaRPr lang="pt-PT" altLang="pt-BR" dirty="0"/>
          </a:p>
          <a:p>
            <a:pPr marL="457200" indent="-457200" algn="just">
              <a:buFontTx/>
              <a:buAutoNum type="arabicPeriod"/>
              <a:defRPr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731766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84EB7D-2BBB-48F7-91EC-7CC17AE3759B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68</a:t>
            </a:fld>
            <a:endParaRPr lang="pt-PT" altLang="pt-BR" sz="1400"/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Modelo Espiral de Boehm</a:t>
            </a:r>
            <a:endParaRPr lang="pt-PT" altLang="pt-BR" sz="3600"/>
          </a:p>
        </p:txBody>
      </p:sp>
      <p:sp>
        <p:nvSpPr>
          <p:cNvPr id="942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1155" y="1009292"/>
            <a:ext cx="11740551" cy="5804260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Diferença do modelo espiral e de outros modelos de processo de software: reconhecimento explícito do risco. </a:t>
            </a:r>
          </a:p>
          <a:p>
            <a:pPr algn="just" eaLnBrk="1" hangingPunct="1"/>
            <a:r>
              <a:rPr lang="pt-BR" altLang="pt-BR" dirty="0" smtClean="0"/>
              <a:t>Ciclo da espiral: começa com a definição de objetivos, como desempenho e funcionalidade. </a:t>
            </a:r>
          </a:p>
          <a:p>
            <a:pPr algn="just" eaLnBrk="1" hangingPunct="1"/>
            <a:r>
              <a:rPr lang="pt-BR" altLang="pt-BR" dirty="0" smtClean="0"/>
              <a:t>Em seguida, são enumeradas formas alternativas de atingir tais objetivos e de lidar com as restrições de cada um deles. </a:t>
            </a:r>
          </a:p>
          <a:p>
            <a:pPr algn="just" eaLnBrk="1" hangingPunct="1"/>
            <a:r>
              <a:rPr lang="pt-BR" altLang="pt-BR" dirty="0" smtClean="0"/>
              <a:t>Cada alternativa é avaliada em função de cada objetivo, e as fontes de risco do projeto são identificadas. </a:t>
            </a:r>
          </a:p>
          <a:p>
            <a:pPr algn="just" eaLnBrk="1" hangingPunct="1"/>
            <a:r>
              <a:rPr lang="pt-BR" altLang="pt-BR" dirty="0" smtClean="0"/>
              <a:t>O próximo passo é resolver esses riscos por meio de atividades de coleta de informações, como análise mais detalhada, prototipação e simulação. 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706257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4E546F-939D-42DC-8D71-ECB7B2924A1D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69</a:t>
            </a:fld>
            <a:endParaRPr lang="pt-PT" altLang="pt-BR" sz="1400"/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Modelo Espiral de Boehm</a:t>
            </a:r>
            <a:endParaRPr lang="pt-PT" altLang="pt-BR" sz="3600"/>
          </a:p>
        </p:txBody>
      </p:sp>
      <p:sp>
        <p:nvSpPr>
          <p:cNvPr id="9523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7804" y="1207698"/>
            <a:ext cx="11568021" cy="5605853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Após a avaliação dos riscos: algum desenvolvimento é efetivado, seguido por uma atividade de planejamento para a próxima fase do processo. </a:t>
            </a:r>
          </a:p>
          <a:p>
            <a:pPr algn="just" eaLnBrk="1" hangingPunct="1"/>
            <a:r>
              <a:rPr lang="pt-BR" altLang="pt-BR" dirty="0" smtClean="0"/>
              <a:t>Risco: algo que pode dar errado. </a:t>
            </a:r>
          </a:p>
          <a:p>
            <a:pPr algn="just" eaLnBrk="1" hangingPunct="1"/>
            <a:r>
              <a:rPr lang="pt-BR" altLang="pt-BR" dirty="0" err="1" smtClean="0"/>
              <a:t>Ex</a:t>
            </a:r>
            <a:r>
              <a:rPr lang="pt-BR" altLang="pt-BR" dirty="0" smtClean="0"/>
              <a:t>: se a intenção é usar uma nova linguagem de programação, um risco é o de os compiladores disponíveis não serem confiáveis ou não produzirem um código-objeto eficiente o bastante. </a:t>
            </a:r>
          </a:p>
          <a:p>
            <a:pPr algn="just" eaLnBrk="1" hangingPunct="1"/>
            <a:r>
              <a:rPr lang="pt-BR" altLang="pt-BR" dirty="0" smtClean="0"/>
              <a:t>Riscos levam a mudanças no software e problemas de projeto, como estouro de prazos e custos. </a:t>
            </a:r>
          </a:p>
          <a:p>
            <a:pPr algn="just" eaLnBrk="1" hangingPunct="1"/>
            <a:r>
              <a:rPr lang="pt-BR" altLang="pt-BR" dirty="0" smtClean="0"/>
              <a:t>Gerenciamento de riscos constitui-se uma das partes essenciais do gerenciamento de projetos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23760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FE9871-ECB4-41FE-ADD2-2AC877D52326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70</a:t>
            </a:fld>
            <a:endParaRPr lang="pt-PT" altLang="pt-BR" sz="1400"/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 dirty="0"/>
              <a:t>2 Processos de Software – </a:t>
            </a:r>
            <a:r>
              <a:rPr lang="pt-BR" altLang="pt-BR" sz="3600" dirty="0" err="1"/>
              <a:t>Rational</a:t>
            </a:r>
            <a:r>
              <a:rPr lang="pt-BR" altLang="pt-BR" sz="3600" dirty="0"/>
              <a:t> </a:t>
            </a:r>
            <a:r>
              <a:rPr lang="pt-BR" altLang="pt-BR" sz="3600" dirty="0" err="1" smtClean="0"/>
              <a:t>Unified</a:t>
            </a:r>
            <a:r>
              <a:rPr lang="pt-BR" altLang="pt-BR" sz="3600" dirty="0" smtClean="0"/>
              <a:t> </a:t>
            </a:r>
            <a:r>
              <a:rPr lang="pt-BR" altLang="pt-BR" sz="3600" dirty="0" err="1"/>
              <a:t>Process</a:t>
            </a:r>
            <a:r>
              <a:rPr lang="pt-BR" altLang="pt-BR" sz="3600" dirty="0"/>
              <a:t> (RUP) </a:t>
            </a:r>
            <a:endParaRPr lang="pt-PT" altLang="pt-BR" sz="3600" dirty="0"/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1540" y="1242204"/>
            <a:ext cx="11637033" cy="5571347"/>
          </a:xfrm>
        </p:spPr>
        <p:txBody>
          <a:bodyPr/>
          <a:lstStyle/>
          <a:p>
            <a:pPr algn="just" eaLnBrk="1" hangingPunct="1">
              <a:defRPr/>
            </a:pPr>
            <a:r>
              <a:rPr lang="pt-BR" dirty="0"/>
              <a:t>M</a:t>
            </a:r>
            <a:r>
              <a:rPr lang="pt-BR" dirty="0" smtClean="0"/>
              <a:t>odelo </a:t>
            </a:r>
            <a:r>
              <a:rPr lang="pt-BR" dirty="0"/>
              <a:t>de </a:t>
            </a:r>
            <a:r>
              <a:rPr lang="pt-BR" dirty="0" smtClean="0"/>
              <a:t>processo derivado </a:t>
            </a:r>
            <a:r>
              <a:rPr lang="pt-BR" dirty="0"/>
              <a:t>de trabalhos d</a:t>
            </a:r>
            <a:r>
              <a:rPr lang="pt-BR" dirty="0" smtClean="0"/>
              <a:t>a </a:t>
            </a:r>
            <a:r>
              <a:rPr lang="pt-BR" dirty="0"/>
              <a:t>UML e </a:t>
            </a:r>
            <a:r>
              <a:rPr lang="pt-BR" dirty="0" smtClean="0"/>
              <a:t>do </a:t>
            </a:r>
            <a:r>
              <a:rPr lang="pt-BR" dirty="0" err="1"/>
              <a:t>Unified</a:t>
            </a:r>
            <a:r>
              <a:rPr lang="pt-BR" dirty="0"/>
              <a:t> Software </a:t>
            </a:r>
            <a:r>
              <a:rPr lang="pt-BR" dirty="0" err="1"/>
              <a:t>Development</a:t>
            </a:r>
            <a:r>
              <a:rPr lang="pt-BR" dirty="0"/>
              <a:t> </a:t>
            </a:r>
            <a:r>
              <a:rPr lang="pt-BR" dirty="0" err="1"/>
              <a:t>Process</a:t>
            </a:r>
            <a:r>
              <a:rPr lang="pt-BR" dirty="0"/>
              <a:t> </a:t>
            </a:r>
            <a:r>
              <a:rPr lang="pt-BR" dirty="0" smtClean="0"/>
              <a:t>associado: processo híbrido</a:t>
            </a:r>
            <a:endParaRPr lang="pt-BR" dirty="0"/>
          </a:p>
          <a:p>
            <a:pPr algn="just" eaLnBrk="1" hangingPunct="1">
              <a:defRPr/>
            </a:pPr>
            <a:endParaRPr lang="pt-BR" dirty="0" smtClean="0"/>
          </a:p>
          <a:p>
            <a:pPr algn="just" eaLnBrk="1" hangingPunct="1">
              <a:defRPr/>
            </a:pPr>
            <a:r>
              <a:rPr lang="pt-BR" dirty="0" smtClean="0"/>
              <a:t> </a:t>
            </a:r>
            <a:r>
              <a:rPr lang="pt-BR" dirty="0"/>
              <a:t>R</a:t>
            </a:r>
            <a:r>
              <a:rPr lang="pt-BR" dirty="0" smtClean="0"/>
              <a:t>eúne elementos dos </a:t>
            </a:r>
            <a:r>
              <a:rPr lang="pt-BR" dirty="0"/>
              <a:t>modelos de processo </a:t>
            </a:r>
            <a:r>
              <a:rPr lang="pt-BR" dirty="0" smtClean="0"/>
              <a:t>genéricos, </a:t>
            </a:r>
            <a:r>
              <a:rPr lang="pt-BR" dirty="0"/>
              <a:t>ilustra boas práticas na especificação e no </a:t>
            </a:r>
            <a:r>
              <a:rPr lang="pt-BR" dirty="0" smtClean="0"/>
              <a:t>projeto, </a:t>
            </a:r>
            <a:r>
              <a:rPr lang="pt-BR" dirty="0"/>
              <a:t>apoia a prototipação e a entrega </a:t>
            </a:r>
            <a:r>
              <a:rPr lang="pt-BR" dirty="0" smtClean="0"/>
              <a:t>incremental.</a:t>
            </a:r>
          </a:p>
          <a:p>
            <a:pPr algn="just" eaLnBrk="1" hangingPunct="1">
              <a:defRPr/>
            </a:pPr>
            <a:r>
              <a:rPr lang="pt-BR" dirty="0"/>
              <a:t>R</a:t>
            </a:r>
            <a:r>
              <a:rPr lang="pt-BR" dirty="0" smtClean="0"/>
              <a:t>econhece </a:t>
            </a:r>
            <a:r>
              <a:rPr lang="pt-BR" dirty="0"/>
              <a:t>que os modelos de processo convencionais apresentam uma visão única do processo. </a:t>
            </a:r>
            <a:endParaRPr lang="pt-BR" dirty="0" smtClean="0"/>
          </a:p>
          <a:p>
            <a:pPr algn="just" eaLnBrk="1" hangingPunct="1">
              <a:defRPr/>
            </a:pPr>
            <a:r>
              <a:rPr lang="pt-BR" dirty="0"/>
              <a:t>D</a:t>
            </a:r>
            <a:r>
              <a:rPr lang="pt-BR" dirty="0" smtClean="0"/>
              <a:t>escrito </a:t>
            </a:r>
            <a:r>
              <a:rPr lang="pt-BR" dirty="0"/>
              <a:t>em três perspectivas: </a:t>
            </a:r>
            <a:endParaRPr lang="pt-BR" dirty="0" smtClean="0"/>
          </a:p>
          <a:p>
            <a:pPr marL="457200" indent="-457200" algn="just">
              <a:buFontTx/>
              <a:buAutoNum type="arabicPeriod"/>
              <a:defRPr/>
            </a:pPr>
            <a:r>
              <a:rPr lang="pt-BR" dirty="0" smtClean="0"/>
              <a:t>Dinâmica: </a:t>
            </a:r>
            <a:r>
              <a:rPr lang="pt-BR" dirty="0"/>
              <a:t>mostra as fases do modelo ao longo do tempo. </a:t>
            </a:r>
            <a:endParaRPr lang="pt-BR" dirty="0" smtClean="0"/>
          </a:p>
          <a:p>
            <a:pPr marL="457200" indent="-457200" algn="just">
              <a:buFontTx/>
              <a:buAutoNum type="arabicPeriod"/>
              <a:defRPr/>
            </a:pPr>
            <a:r>
              <a:rPr lang="pt-BR" dirty="0" smtClean="0"/>
              <a:t>Estática: </a:t>
            </a:r>
            <a:r>
              <a:rPr lang="pt-BR" dirty="0"/>
              <a:t>mostra as atividades </a:t>
            </a:r>
            <a:r>
              <a:rPr lang="pt-BR" dirty="0" smtClean="0"/>
              <a:t>realizadas </a:t>
            </a:r>
            <a:r>
              <a:rPr lang="pt-BR" dirty="0"/>
              <a:t>no processo. </a:t>
            </a:r>
            <a:endParaRPr lang="pt-BR" dirty="0" smtClean="0"/>
          </a:p>
          <a:p>
            <a:pPr marL="457200" indent="-457200" algn="just">
              <a:buFontTx/>
              <a:buAutoNum type="arabicPeriod"/>
              <a:defRPr/>
            </a:pPr>
            <a:r>
              <a:rPr lang="pt-BR" dirty="0" smtClean="0"/>
              <a:t>Prática: </a:t>
            </a:r>
            <a:r>
              <a:rPr lang="pt-BR" dirty="0"/>
              <a:t>sugere boas práticas a serem usadas durante o processo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321534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E75BE9-5A97-4218-95E6-B15E9EEEDECB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71</a:t>
            </a:fld>
            <a:endParaRPr lang="pt-PT" altLang="pt-BR" sz="1400"/>
          </a:p>
        </p:txBody>
      </p:sp>
      <p:sp>
        <p:nvSpPr>
          <p:cNvPr id="9728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Rational Unifed Process (RUP) </a:t>
            </a:r>
            <a:endParaRPr lang="pt-PT" altLang="pt-BR" sz="3600"/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7034" y="1483743"/>
            <a:ext cx="11714671" cy="5329808"/>
          </a:xfrm>
        </p:spPr>
        <p:txBody>
          <a:bodyPr/>
          <a:lstStyle/>
          <a:p>
            <a:pPr algn="just" eaLnBrk="1" hangingPunct="1">
              <a:defRPr/>
            </a:pPr>
            <a:r>
              <a:rPr lang="pt-BR" dirty="0" smtClean="0"/>
              <a:t>Modelo </a:t>
            </a:r>
            <a:r>
              <a:rPr lang="pt-BR" dirty="0"/>
              <a:t>constituído </a:t>
            </a:r>
            <a:r>
              <a:rPr lang="pt-BR" dirty="0" smtClean="0"/>
              <a:t>de 4 fases. </a:t>
            </a:r>
            <a:r>
              <a:rPr lang="pt-BR" dirty="0"/>
              <a:t>A</a:t>
            </a:r>
            <a:r>
              <a:rPr lang="pt-BR" dirty="0" smtClean="0"/>
              <a:t>o </a:t>
            </a:r>
            <a:r>
              <a:rPr lang="pt-BR" dirty="0"/>
              <a:t>contrário do modelo em </a:t>
            </a:r>
            <a:r>
              <a:rPr lang="pt-BR" dirty="0" smtClean="0"/>
              <a:t>cascata (fases </a:t>
            </a:r>
            <a:r>
              <a:rPr lang="pt-BR" dirty="0"/>
              <a:t>são equalizadas com as atividades do </a:t>
            </a:r>
            <a:r>
              <a:rPr lang="pt-BR" dirty="0" smtClean="0"/>
              <a:t>processo), </a:t>
            </a:r>
            <a:r>
              <a:rPr lang="pt-BR" dirty="0"/>
              <a:t>as fases do RUP são estreitamente relacionadas ao negócio, e não a assuntos técnicos. </a:t>
            </a:r>
            <a:endParaRPr lang="pt-BR" dirty="0" smtClean="0"/>
          </a:p>
          <a:p>
            <a:pPr algn="just" eaLnBrk="1" hangingPunct="1">
              <a:defRPr/>
            </a:pPr>
            <a:r>
              <a:rPr lang="pt-BR" dirty="0" smtClean="0"/>
              <a:t>São </a:t>
            </a:r>
            <a:r>
              <a:rPr lang="pt-BR" dirty="0"/>
              <a:t>elas: </a:t>
            </a:r>
            <a:endParaRPr lang="pt-BR" dirty="0" smtClean="0"/>
          </a:p>
          <a:p>
            <a:pPr marL="457200" indent="-457200" algn="just">
              <a:buFontTx/>
              <a:buAutoNum type="arabicPeriod"/>
              <a:defRPr/>
            </a:pPr>
            <a:r>
              <a:rPr lang="pt-BR" dirty="0" smtClean="0"/>
              <a:t>Concepção: estabelece </a:t>
            </a:r>
            <a:r>
              <a:rPr lang="pt-BR" dirty="0"/>
              <a:t>um business case para o sistema. </a:t>
            </a:r>
            <a:r>
              <a:rPr lang="pt-BR" dirty="0" smtClean="0"/>
              <a:t>Deve-se identificar </a:t>
            </a:r>
            <a:r>
              <a:rPr lang="pt-BR" dirty="0"/>
              <a:t>todas as entidades externas (pessoas e sistemas) que vão interagir com o sistema e definir as </a:t>
            </a:r>
            <a:r>
              <a:rPr lang="pt-BR" dirty="0" smtClean="0"/>
              <a:t>interações para </a:t>
            </a:r>
            <a:r>
              <a:rPr lang="pt-BR" dirty="0"/>
              <a:t>avaliar a contribuição do sistema para o negócio. Se essa </a:t>
            </a:r>
            <a:r>
              <a:rPr lang="pt-BR" dirty="0" smtClean="0"/>
              <a:t>contribuição </a:t>
            </a:r>
            <a:r>
              <a:rPr lang="pt-BR" dirty="0"/>
              <a:t>for pequena, então o projeto poderá ser cancelado depois dessa fase. </a:t>
            </a:r>
            <a:endParaRPr lang="pt-BR" dirty="0" smtClean="0"/>
          </a:p>
          <a:p>
            <a:pPr marL="457200" indent="-457200" algn="just">
              <a:buFontTx/>
              <a:buAutoNum type="arabicPeriod"/>
              <a:defRPr/>
            </a:pPr>
            <a:r>
              <a:rPr lang="pt-BR" dirty="0" smtClean="0"/>
              <a:t>Elaboração: desenvolver </a:t>
            </a:r>
            <a:r>
              <a:rPr lang="pt-BR" dirty="0"/>
              <a:t>uma compreensão do problema dominante, </a:t>
            </a:r>
            <a:r>
              <a:rPr lang="pt-BR" dirty="0" smtClean="0"/>
              <a:t>estabelecer </a:t>
            </a:r>
            <a:r>
              <a:rPr lang="pt-BR" dirty="0"/>
              <a:t>um framework da arquitetura para o sistema, desenvolver o plano do projeto e identificar os maiores riscos do projeto. </a:t>
            </a:r>
            <a:r>
              <a:rPr lang="pt-BR" dirty="0" smtClean="0"/>
              <a:t>Obtém-se </a:t>
            </a:r>
            <a:r>
              <a:rPr lang="pt-BR" dirty="0"/>
              <a:t>modelo de requisitos </a:t>
            </a:r>
            <a:r>
              <a:rPr lang="pt-BR" dirty="0" smtClean="0"/>
              <a:t>do sistema (conjunto </a:t>
            </a:r>
            <a:r>
              <a:rPr lang="pt-BR" dirty="0"/>
              <a:t>de casos de uso da UML, </a:t>
            </a:r>
            <a:r>
              <a:rPr lang="pt-BR" dirty="0" smtClean="0"/>
              <a:t>descrição </a:t>
            </a:r>
            <a:r>
              <a:rPr lang="pt-BR" dirty="0"/>
              <a:t>da arquitetura </a:t>
            </a:r>
            <a:r>
              <a:rPr lang="pt-BR" dirty="0" smtClean="0"/>
              <a:t>ou </a:t>
            </a:r>
            <a:r>
              <a:rPr lang="pt-BR" dirty="0"/>
              <a:t>plano de desenvolvimento do </a:t>
            </a:r>
            <a:r>
              <a:rPr lang="pt-BR" dirty="0" smtClean="0"/>
              <a:t>software)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174388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76862D-345C-4258-922D-543FB8E982DB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72</a:t>
            </a:fld>
            <a:endParaRPr lang="pt-PT" altLang="pt-BR" sz="1400"/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Rational Unifed Process (RUP) </a:t>
            </a:r>
            <a:endParaRPr lang="pt-PT" altLang="pt-BR" sz="3600"/>
          </a:p>
        </p:txBody>
      </p:sp>
      <p:sp>
        <p:nvSpPr>
          <p:cNvPr id="9830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0551" y="1371599"/>
            <a:ext cx="11723298" cy="5441951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Fases: São elas: </a:t>
            </a:r>
          </a:p>
          <a:p>
            <a:pPr algn="just" eaLnBrk="1" hangingPunct="1"/>
            <a:r>
              <a:rPr lang="pt-BR" altLang="pt-BR" dirty="0" smtClean="0"/>
              <a:t>3. Construção: projeto, programação e testes do sistema. As partes do sistema são desenvolvidas em paralelo e integradas. Na conclusão dessa fase, o sistema já estará funcionando, e a documentação associada pronta para ser entregue aos usuários. </a:t>
            </a:r>
          </a:p>
          <a:p>
            <a:pPr algn="just" eaLnBrk="1" hangingPunct="1"/>
            <a:r>
              <a:rPr lang="pt-BR" altLang="pt-BR" dirty="0" smtClean="0"/>
              <a:t>4. Transição: fase final que implica transferência do sistema da comunidade de desenvolvimento para a comunidade de usuários, funcionando em um ambiente real. Isso é ignorado na maioria dos modelos de processo de software. É atividade cara e, às vezes, problemática. Na conclusão dessa fase, tem-se um sistema de software documentado e funcionando corretamente em seu ambiente operacional.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1328407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0AD85D-DEA2-48E5-B99D-CCE9910116BF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73</a:t>
            </a:fld>
            <a:endParaRPr lang="pt-PT" altLang="pt-BR" sz="1400"/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Rational Unifed Process (RUP) </a:t>
            </a:r>
            <a:endParaRPr lang="pt-PT" altLang="pt-BR" sz="3600"/>
          </a:p>
        </p:txBody>
      </p:sp>
      <p:pic>
        <p:nvPicPr>
          <p:cNvPr id="9933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74825" y="1628776"/>
            <a:ext cx="8929688" cy="5184775"/>
          </a:xfrm>
        </p:spPr>
        <p:txBody>
          <a:bodyPr/>
          <a:lstStyle/>
          <a:p>
            <a:pPr algn="just" eaLnBrk="1" hangingPunct="1"/>
            <a:endParaRPr lang="pt-PT" altLang="pt-BR" smtClean="0"/>
          </a:p>
        </p:txBody>
      </p:sp>
    </p:spTree>
    <p:extLst>
      <p:ext uri="{BB962C8B-B14F-4D97-AF65-F5344CB8AC3E}">
        <p14:creationId xmlns:p14="http://schemas.microsoft.com/office/powerpoint/2010/main" val="3936513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AE45B4-D602-4E61-84E9-C6D3D4002475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74</a:t>
            </a:fld>
            <a:endParaRPr lang="pt-PT" altLang="pt-BR" sz="1400"/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Rational Unifed Process (RUP) </a:t>
            </a:r>
            <a:endParaRPr lang="pt-PT" altLang="pt-BR" sz="3600"/>
          </a:p>
        </p:txBody>
      </p:sp>
      <p:sp>
        <p:nvSpPr>
          <p:cNvPr id="10035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4287" y="1302589"/>
            <a:ext cx="11723298" cy="5510962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Iteração é apoiada de duas maneiras:</a:t>
            </a:r>
          </a:p>
          <a:p>
            <a:pPr algn="just" eaLnBrk="1" hangingPunct="1"/>
            <a:r>
              <a:rPr lang="pt-BR" altLang="pt-BR" dirty="0" smtClean="0"/>
              <a:t>1)Cada fase pode ser executada de forma iterativa com os resultados desenvolvidos de forma incremental. </a:t>
            </a:r>
          </a:p>
          <a:p>
            <a:pPr algn="just" eaLnBrk="1" hangingPunct="1"/>
            <a:r>
              <a:rPr lang="pt-BR" altLang="pt-BR" dirty="0" smtClean="0"/>
              <a:t>2)Todo o conjunto de fases pode ser executado de forma incremental.</a:t>
            </a:r>
          </a:p>
          <a:p>
            <a:pPr algn="just" eaLnBrk="1" hangingPunct="1"/>
            <a:endParaRPr lang="pt-BR" altLang="pt-BR" dirty="0" smtClean="0"/>
          </a:p>
          <a:p>
            <a:pPr algn="just" eaLnBrk="1" hangingPunct="1"/>
            <a:r>
              <a:rPr lang="pt-BR" altLang="pt-BR" dirty="0" smtClean="0"/>
              <a:t>Visão estática: prioriza as atividades que ocorrem durante o processo de desenvolvimento, chamadas workflows </a:t>
            </a:r>
          </a:p>
          <a:p>
            <a:pPr algn="just" eaLnBrk="1" hangingPunct="1"/>
            <a:r>
              <a:rPr lang="pt-BR" altLang="pt-BR" dirty="0" smtClean="0"/>
              <a:t>Projetado em conjunto com a UML: a descrição do workflow é orientada com modelos associados à UML (modelos de sequência, modelos de objetos </a:t>
            </a:r>
            <a:r>
              <a:rPr lang="pt-BR" altLang="pt-BR" dirty="0" err="1" smtClean="0"/>
              <a:t>etc</a:t>
            </a:r>
            <a:r>
              <a:rPr lang="pt-BR" altLang="pt-BR" dirty="0" smtClean="0"/>
              <a:t>). 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50786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9E8392-5C03-40B6-A702-3B39B11AFAE7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75</a:t>
            </a:fld>
            <a:endParaRPr lang="pt-PT" altLang="pt-BR" sz="1400"/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Rational Unifed Process (RUP) </a:t>
            </a:r>
            <a:endParaRPr lang="pt-PT" altLang="pt-BR" sz="3600"/>
          </a:p>
        </p:txBody>
      </p:sp>
      <p:sp>
        <p:nvSpPr>
          <p:cNvPr id="10138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9781" y="1142999"/>
            <a:ext cx="11852694" cy="5670551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WORKFLOW  e DESCRIÇÃO</a:t>
            </a:r>
          </a:p>
          <a:p>
            <a:pPr algn="just" eaLnBrk="1" hangingPunct="1"/>
            <a:r>
              <a:rPr lang="pt-BR" altLang="pt-BR" dirty="0" smtClean="0"/>
              <a:t>1) Modelagem de negócios:  Os processos de negócio são modelados com casos de uso.</a:t>
            </a:r>
          </a:p>
          <a:p>
            <a:pPr algn="just" eaLnBrk="1" hangingPunct="1"/>
            <a:r>
              <a:rPr lang="pt-BR" altLang="pt-BR" dirty="0" smtClean="0"/>
              <a:t>2) Requisitos: Atores que interagem com o sistema são identificados e casos de uso são desenvolvidos para modelar os  requisitos do sistema.</a:t>
            </a:r>
          </a:p>
          <a:p>
            <a:pPr algn="just" eaLnBrk="1" hangingPunct="1"/>
            <a:r>
              <a:rPr lang="pt-BR" altLang="pt-BR" dirty="0" smtClean="0"/>
              <a:t>3) Análise e projeto: Um modelo de projeto é criado e documentado com modelos de arquitetura, modelos de componentes,  modelos de objetos e modelos de sequência.</a:t>
            </a:r>
          </a:p>
          <a:p>
            <a:pPr algn="just" eaLnBrk="1" hangingPunct="1"/>
            <a:r>
              <a:rPr lang="pt-BR" altLang="pt-BR" dirty="0" smtClean="0"/>
              <a:t>4)Implementação: Os componentes do sistema são implementados e estruturados em subsistemas de implementação. A  geração automática de código a partir de modelos de projeto ajuda a acelerar esse processo.</a:t>
            </a:r>
          </a:p>
          <a:p>
            <a:pPr algn="just" eaLnBrk="1" hangingPunct="1"/>
            <a:r>
              <a:rPr lang="pt-BR" altLang="pt-BR" dirty="0" smtClean="0"/>
              <a:t>5) Teste: processo iterativo feito em conjunto com a implementação. O teste do sistema segue a conclusão da implementação.</a:t>
            </a:r>
          </a:p>
          <a:p>
            <a:pPr algn="just" eaLnBrk="1" hangingPunct="1"/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158487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EC0D3A-70DA-4C00-9AF3-E5B256A2AF28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76</a:t>
            </a:fld>
            <a:endParaRPr lang="pt-PT" altLang="pt-BR" sz="1400"/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Rational Unifed Process (RUP) </a:t>
            </a:r>
            <a:endParaRPr lang="pt-PT" altLang="pt-BR" sz="3600"/>
          </a:p>
        </p:txBody>
      </p:sp>
      <p:sp>
        <p:nvSpPr>
          <p:cNvPr id="10240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" y="1268083"/>
            <a:ext cx="11731924" cy="5545468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WORKFLOW  e DESCRIÇÃO</a:t>
            </a:r>
          </a:p>
          <a:p>
            <a:pPr algn="just" eaLnBrk="1" hangingPunct="1"/>
            <a:r>
              <a:rPr lang="pt-BR" altLang="pt-BR" dirty="0" smtClean="0"/>
              <a:t>6) Implantação: Um release do produto é criado, distribuído aos usuários e instalado em seu local de trabalho.</a:t>
            </a:r>
          </a:p>
          <a:p>
            <a:pPr algn="just" eaLnBrk="1" hangingPunct="1"/>
            <a:r>
              <a:rPr lang="pt-BR" altLang="pt-BR" dirty="0" smtClean="0"/>
              <a:t>7) Gerenciamento de configuração e mudanças:  gerencia as mudanças do sistema </a:t>
            </a:r>
          </a:p>
          <a:p>
            <a:pPr algn="just" eaLnBrk="1" hangingPunct="1"/>
            <a:r>
              <a:rPr lang="pt-BR" altLang="pt-BR" dirty="0" smtClean="0"/>
              <a:t>8) Gerenciamento de projeto: gerencia o desenvolvimento do sistema </a:t>
            </a:r>
          </a:p>
          <a:p>
            <a:pPr algn="just" eaLnBrk="1" hangingPunct="1"/>
            <a:r>
              <a:rPr lang="pt-BR" altLang="pt-BR" dirty="0" smtClean="0"/>
              <a:t>9) Meio ambiente: disponibilização de ferramentas apropriadas para a equipe de desenvolvimento de software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338350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081F79-34AB-4F05-9113-026593A41403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77</a:t>
            </a:fld>
            <a:endParaRPr lang="pt-PT" altLang="pt-BR" sz="1400"/>
          </a:p>
        </p:txBody>
      </p:sp>
      <p:sp>
        <p:nvSpPr>
          <p:cNvPr id="10342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Rational Unifed Process (RUP) </a:t>
            </a:r>
            <a:endParaRPr lang="pt-PT" altLang="pt-BR" sz="3600"/>
          </a:p>
        </p:txBody>
      </p:sp>
      <p:sp>
        <p:nvSpPr>
          <p:cNvPr id="10342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408" y="1354347"/>
            <a:ext cx="11757803" cy="6028547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Proporciona visões estáticas e dinâmicas: fases do processo de desenvolvimento não estão associadas a workflows específicos. </a:t>
            </a:r>
          </a:p>
          <a:p>
            <a:pPr algn="just" eaLnBrk="1" hangingPunct="1"/>
            <a:r>
              <a:rPr lang="pt-BR" altLang="pt-BR" dirty="0" smtClean="0"/>
              <a:t>Todos os workflows do RUP podem estar ativos em todas as fases do processo. </a:t>
            </a:r>
          </a:p>
          <a:p>
            <a:pPr algn="just" eaLnBrk="1" hangingPunct="1"/>
            <a:r>
              <a:rPr lang="pt-BR" altLang="pt-BR" dirty="0" smtClean="0"/>
              <a:t>Fases iniciais: maiores esforços serão empenhados em workflows, como modelagem de negócios e requisitos</a:t>
            </a:r>
          </a:p>
          <a:p>
            <a:pPr algn="just" eaLnBrk="1" hangingPunct="1"/>
            <a:r>
              <a:rPr lang="pt-BR" altLang="pt-BR" dirty="0" smtClean="0"/>
              <a:t>Fases posteriores: maiores esforços no teste e na implantação.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3274554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DFB637-C09D-4F53-802C-123A149C2EDE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78</a:t>
            </a:fld>
            <a:endParaRPr lang="pt-PT" altLang="pt-BR" sz="1400"/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Rational Unifed Process (RUP) </a:t>
            </a:r>
            <a:endParaRPr lang="pt-PT" altLang="pt-BR" sz="3600"/>
          </a:p>
        </p:txBody>
      </p:sp>
      <p:sp>
        <p:nvSpPr>
          <p:cNvPr id="10445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3903" y="1518249"/>
            <a:ext cx="11861320" cy="5193702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Seis boas práticas fundamentais são recomendadas: </a:t>
            </a:r>
          </a:p>
          <a:p>
            <a:pPr algn="just" eaLnBrk="1" hangingPunct="1"/>
            <a:r>
              <a:rPr lang="pt-BR" altLang="pt-BR" dirty="0" smtClean="0"/>
              <a:t>1Desenvolver software iterativamente: Planejar os incrementos do sistema com base nas prioridades do cliente e desenvolver os recursos de alta prioridade no início do processo de desenvolvimento. </a:t>
            </a:r>
          </a:p>
          <a:p>
            <a:pPr algn="just" eaLnBrk="1" hangingPunct="1"/>
            <a:r>
              <a:rPr lang="pt-BR" altLang="pt-BR" dirty="0" smtClean="0"/>
              <a:t>2 Gerenciar os requisitos: Documentar os requisitos do cliente e acompanhar mudanças, analisando impacto antes de aceitá-las. </a:t>
            </a:r>
          </a:p>
          <a:p>
            <a:pPr algn="just" eaLnBrk="1" hangingPunct="1"/>
            <a:r>
              <a:rPr lang="pt-BR" altLang="pt-BR" dirty="0" smtClean="0"/>
              <a:t>3 Estruturar a arquitetura do sistema em componentes.</a:t>
            </a:r>
          </a:p>
          <a:p>
            <a:pPr algn="just" eaLnBrk="1" hangingPunct="1"/>
            <a:r>
              <a:rPr lang="pt-BR" altLang="pt-BR" dirty="0" smtClean="0"/>
              <a:t>4 Modelar o software visualmente: Usar modelos gráficos da UML para apresentar visões estáticas e dinâmicas do software. </a:t>
            </a:r>
          </a:p>
          <a:p>
            <a:pPr algn="just" eaLnBrk="1" hangingPunct="1"/>
            <a:r>
              <a:rPr lang="pt-BR" altLang="pt-BR" dirty="0" smtClean="0"/>
              <a:t>5 Verificar a qualidade do software: Assegurar que o software atenda aos padrões de qualidade organizacional. </a:t>
            </a:r>
          </a:p>
          <a:p>
            <a:pPr algn="just" eaLnBrk="1" hangingPunct="1"/>
            <a:r>
              <a:rPr lang="pt-BR" altLang="pt-BR" dirty="0" smtClean="0"/>
              <a:t>6 Gerenciar as mudanças do software: usar sistema de gerenciamento de mudanças de procedimentos e ferramentas de gerenciamento de configuração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204050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8F32F4-9A6D-4586-96C2-7E70309CE36C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79</a:t>
            </a:fld>
            <a:endParaRPr lang="pt-PT" altLang="pt-BR" sz="1400"/>
          </a:p>
        </p:txBody>
      </p:sp>
      <p:sp>
        <p:nvSpPr>
          <p:cNvPr id="1054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2 Processos de Software – Rational Unifed Process (RUP) </a:t>
            </a:r>
            <a:endParaRPr lang="pt-PT" altLang="pt-BR" sz="3600"/>
          </a:p>
        </p:txBody>
      </p:sp>
      <p:sp>
        <p:nvSpPr>
          <p:cNvPr id="1054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8792" y="1406106"/>
            <a:ext cx="11809563" cy="5569370"/>
          </a:xfrm>
        </p:spPr>
        <p:txBody>
          <a:bodyPr/>
          <a:lstStyle/>
          <a:p>
            <a:pPr algn="just" eaLnBrk="1" hangingPunct="1"/>
            <a:r>
              <a:rPr lang="pt-BR" altLang="pt-BR" dirty="0" smtClean="0"/>
              <a:t>Não é um processo adequado para todos os tipos de desenvolvimento, (</a:t>
            </a:r>
            <a:r>
              <a:rPr lang="pt-BR" altLang="pt-BR" dirty="0" err="1" smtClean="0"/>
              <a:t>ex</a:t>
            </a:r>
            <a:r>
              <a:rPr lang="pt-BR" altLang="pt-BR" dirty="0" smtClean="0"/>
              <a:t>: desenvolvimento de software embutido). </a:t>
            </a:r>
          </a:p>
          <a:p>
            <a:pPr algn="just" eaLnBrk="1" hangingPunct="1"/>
            <a:r>
              <a:rPr lang="pt-BR" altLang="pt-BR" smtClean="0"/>
              <a:t>Inovações</a:t>
            </a:r>
            <a:r>
              <a:rPr lang="pt-BR" altLang="pt-BR" dirty="0" smtClean="0"/>
              <a:t>: separação de fases e workflows e o reconhecimento de que a implantação de software em um ambiente do usuário é parte do processo. </a:t>
            </a:r>
          </a:p>
          <a:p>
            <a:pPr algn="just" eaLnBrk="1" hangingPunct="1"/>
            <a:r>
              <a:rPr lang="pt-BR" altLang="pt-BR" dirty="0" smtClean="0"/>
              <a:t>As fases são dinâmicas e têm metas. </a:t>
            </a:r>
          </a:p>
          <a:p>
            <a:pPr algn="just" eaLnBrk="1" hangingPunct="1"/>
            <a:r>
              <a:rPr lang="pt-BR" altLang="pt-BR" dirty="0" smtClean="0"/>
              <a:t>Os workflows são estáticos e são atividades técnicas que não são associadas a uma única fase, sendo utilizadas durante todo o desenvolvimento para alcançar as metas específicas.</a:t>
            </a:r>
            <a:endParaRPr lang="pt-PT" altLang="pt-BR" dirty="0" smtClean="0"/>
          </a:p>
        </p:txBody>
      </p:sp>
    </p:spTree>
    <p:extLst>
      <p:ext uri="{BB962C8B-B14F-4D97-AF65-F5344CB8AC3E}">
        <p14:creationId xmlns:p14="http://schemas.microsoft.com/office/powerpoint/2010/main" val="4006759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</TotalTime>
  <Words>7574</Words>
  <Application>Microsoft Office PowerPoint</Application>
  <PresentationFormat>Widescreen</PresentationFormat>
  <Paragraphs>511</Paragraphs>
  <Slides>79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79</vt:i4>
      </vt:variant>
    </vt:vector>
  </HeadingPairs>
  <TitlesOfParts>
    <vt:vector size="84" baseType="lpstr">
      <vt:lpstr>Arial</vt:lpstr>
      <vt:lpstr>Calibri</vt:lpstr>
      <vt:lpstr>Calibri Light</vt:lpstr>
      <vt:lpstr>Times New Roman</vt:lpstr>
      <vt:lpstr>Tema do Office</vt:lpstr>
      <vt:lpstr>2 Processos de Software </vt:lpstr>
      <vt:lpstr>2 Processos de Software - Descrição</vt:lpstr>
      <vt:lpstr>2 Processos de Software - Modelos</vt:lpstr>
      <vt:lpstr>2 Processos de Software - Modelos</vt:lpstr>
      <vt:lpstr>2 Processos de Software </vt:lpstr>
      <vt:lpstr>2 Processos de Software – Modelo em Cascata ou ciclo de vida do software</vt:lpstr>
      <vt:lpstr>2 Processos de Software – Modelo em Cascata ou ciclo de vida do software</vt:lpstr>
      <vt:lpstr>Ciclo de Vida – Modelo em Cascata</vt:lpstr>
      <vt:lpstr>2 Processos de Software – Modelo em Cascata ou ciclo de vida do software </vt:lpstr>
      <vt:lpstr>2 Processos de Software – Desenvolvimento Incremental</vt:lpstr>
      <vt:lpstr>2 Processos de Software – Desenvolvimento Incremental</vt:lpstr>
      <vt:lpstr>2 Processos de Software – Desenvolvimento Incremental </vt:lpstr>
      <vt:lpstr>Apresentação do PowerPoint</vt:lpstr>
      <vt:lpstr>2 Processos de Software – Desenvolvimento Incremental </vt:lpstr>
      <vt:lpstr>2 Processos de Software – Desenvolvimento Incremental </vt:lpstr>
      <vt:lpstr>2 Processos de Software - ES orientada a reuso</vt:lpstr>
      <vt:lpstr>2 Processos de Software - ES orientada a reuso</vt:lpstr>
      <vt:lpstr>2 Processos de Software - ES orientada a reuso </vt:lpstr>
      <vt:lpstr>2 Processos de Software - ES orientada a reuso </vt:lpstr>
      <vt:lpstr>2 Processos de Software - ES orientada a reuso </vt:lpstr>
      <vt:lpstr>2 Processos de Software - ES orientada a reuso</vt:lpstr>
      <vt:lpstr>2 Processos de Software - ES orientada a reuso </vt:lpstr>
      <vt:lpstr>2 Processos de Software - Especificação de software ou engenharia de requisitos </vt:lpstr>
      <vt:lpstr>2 Processos de Software Especificação de software ou engenharia de requisitos  </vt:lpstr>
      <vt:lpstr>2 Processos de Software Especificação de software ou engenharia de requisitos  </vt:lpstr>
      <vt:lpstr>2 Processos de Software Especificação de software ou engenharia de requisitos  </vt:lpstr>
      <vt:lpstr>2 Processos de Software Especificação de software ou engenharia de requisitos  </vt:lpstr>
      <vt:lpstr>2 Processos de Software -Projeto e implementação de software  </vt:lpstr>
      <vt:lpstr>2 Processos de Software -Projeto e implementação de software  </vt:lpstr>
      <vt:lpstr>2 Processos de Software -Projeto e implementação de software   </vt:lpstr>
      <vt:lpstr>2 Processos de Software -Projeto e implementação de software   </vt:lpstr>
      <vt:lpstr>2 Processos de Software  -Projeto e implementação de software  </vt:lpstr>
      <vt:lpstr>2 Processos de Software -Projeto e implementação de software   </vt:lpstr>
      <vt:lpstr>2 Processos de Software -Projeto e implementação de software   </vt:lpstr>
      <vt:lpstr>2 Processos de Software -Projeto e implementação de software   </vt:lpstr>
      <vt:lpstr>2 Processos de Software – Validação de Software</vt:lpstr>
      <vt:lpstr>2 Processos de Software – Validação de Software</vt:lpstr>
      <vt:lpstr>2 Processos de Software – Validação de Software</vt:lpstr>
      <vt:lpstr>2 Processos de Software – Validação de Software</vt:lpstr>
      <vt:lpstr>2 Processos de Software – Validação de Software</vt:lpstr>
      <vt:lpstr>2 Processos de Software – Validação de Software</vt:lpstr>
      <vt:lpstr>2 Processos de Software – Validação de Software</vt:lpstr>
      <vt:lpstr>2 Processos de Software – Validação de Software</vt:lpstr>
      <vt:lpstr>2 Processos de Software – Validação de Software</vt:lpstr>
      <vt:lpstr>2 Processos de Software – Evolução de Software</vt:lpstr>
      <vt:lpstr>2 Processos de Software – Evolução de Software</vt:lpstr>
      <vt:lpstr>2 Processos de Software – Lidando com mudanças</vt:lpstr>
      <vt:lpstr>2 Processos de Software – Lidando com mudanças</vt:lpstr>
      <vt:lpstr>2 Processos de Software – Lidando com mudanças</vt:lpstr>
      <vt:lpstr>2 Processos de Software – Prototipação</vt:lpstr>
      <vt:lpstr>2 Processos de Software – Prototipação</vt:lpstr>
      <vt:lpstr>2 Processos de Software – Prototipação</vt:lpstr>
      <vt:lpstr>2 Processos de Software – Prototipação</vt:lpstr>
      <vt:lpstr>2 Processos de Software – Prototipação</vt:lpstr>
      <vt:lpstr>2 Processos de Software – Prototipação</vt:lpstr>
      <vt:lpstr>2 Processos de Software – Prototipação</vt:lpstr>
      <vt:lpstr>2 Processos de Software – Prototipação</vt:lpstr>
      <vt:lpstr>2 Processos de Software – Prototipação</vt:lpstr>
      <vt:lpstr>2 Processos de Software – Entrega Incremental</vt:lpstr>
      <vt:lpstr>2 Processos de Software – Entrega Incremental</vt:lpstr>
      <vt:lpstr>2 Processos de Software – Entrega Incremental</vt:lpstr>
      <vt:lpstr>2 Processos de Software – Entrega Incremental</vt:lpstr>
      <vt:lpstr>2 Processos de Software – Entrega Incremental</vt:lpstr>
      <vt:lpstr>2 Processos de Software – Entrega Incremental</vt:lpstr>
      <vt:lpstr>2 Processos de Software – Modelo Espiral de Boehm</vt:lpstr>
      <vt:lpstr>2 Processos de Software – Modelo Espiral de Boehm</vt:lpstr>
      <vt:lpstr>2 Processos de Software – Modelo Espiral de Boehm</vt:lpstr>
      <vt:lpstr>2 Processos de Software – Modelo Espiral de Boehm</vt:lpstr>
      <vt:lpstr>2 Processos de Software – Modelo Espiral de Boehm</vt:lpstr>
      <vt:lpstr>2 Processos de Software – Rational Unified Process (RUP) </vt:lpstr>
      <vt:lpstr>2 Processos de Software – Rational Unifed Process (RUP) </vt:lpstr>
      <vt:lpstr>2 Processos de Software – Rational Unifed Process (RUP) </vt:lpstr>
      <vt:lpstr>2 Processos de Software – Rational Unifed Process (RUP) </vt:lpstr>
      <vt:lpstr>2 Processos de Software – Rational Unifed Process (RUP) </vt:lpstr>
      <vt:lpstr>2 Processos de Software – Rational Unifed Process (RUP) </vt:lpstr>
      <vt:lpstr>2 Processos de Software – Rational Unifed Process (RUP) </vt:lpstr>
      <vt:lpstr>2 Processos de Software – Rational Unifed Process (RUP) </vt:lpstr>
      <vt:lpstr>2 Processos de Software – Rational Unifed Process (RUP) </vt:lpstr>
      <vt:lpstr>2 Processos de Software – Rational Unifed Process (RUP)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Processos de Software </dc:title>
  <dc:creator>Marilee</dc:creator>
  <cp:lastModifiedBy>Marilee</cp:lastModifiedBy>
  <cp:revision>46</cp:revision>
  <dcterms:created xsi:type="dcterms:W3CDTF">2024-11-19T11:36:21Z</dcterms:created>
  <dcterms:modified xsi:type="dcterms:W3CDTF">2025-02-24T17:24:59Z</dcterms:modified>
</cp:coreProperties>
</file>