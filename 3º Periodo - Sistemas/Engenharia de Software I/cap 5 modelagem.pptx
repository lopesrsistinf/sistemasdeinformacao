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Override1.xml" ContentType="application/vnd.openxmlformats-officedocument.themeOverride+xml"/>
  <Override PartName="/ppt/theme/themeOverride2.xml" ContentType="application/vnd.openxmlformats-officedocument.themeOverr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7" r:id="rId2"/>
    <p:sldId id="258" r:id="rId3"/>
    <p:sldId id="259" r:id="rId4"/>
    <p:sldId id="261" r:id="rId5"/>
    <p:sldId id="262" r:id="rId6"/>
    <p:sldId id="264" r:id="rId7"/>
    <p:sldId id="266" r:id="rId8"/>
    <p:sldId id="267" r:id="rId9"/>
    <p:sldId id="269" r:id="rId10"/>
    <p:sldId id="270" r:id="rId11"/>
    <p:sldId id="271" r:id="rId12"/>
    <p:sldId id="272" r:id="rId13"/>
    <p:sldId id="274" r:id="rId14"/>
    <p:sldId id="276" r:id="rId15"/>
    <p:sldId id="278" r:id="rId16"/>
    <p:sldId id="279" r:id="rId17"/>
    <p:sldId id="280" r:id="rId18"/>
    <p:sldId id="282" r:id="rId19"/>
    <p:sldId id="283" r:id="rId20"/>
    <p:sldId id="284" r:id="rId21"/>
    <p:sldId id="325" r:id="rId22"/>
    <p:sldId id="285" r:id="rId23"/>
    <p:sldId id="288" r:id="rId24"/>
    <p:sldId id="289" r:id="rId25"/>
    <p:sldId id="290" r:id="rId26"/>
    <p:sldId id="292" r:id="rId27"/>
    <p:sldId id="293" r:id="rId28"/>
    <p:sldId id="294" r:id="rId29"/>
    <p:sldId id="295" r:id="rId30"/>
    <p:sldId id="296" r:id="rId31"/>
    <p:sldId id="297" r:id="rId32"/>
    <p:sldId id="300" r:id="rId33"/>
    <p:sldId id="301" r:id="rId34"/>
    <p:sldId id="302" r:id="rId35"/>
    <p:sldId id="304" r:id="rId36"/>
    <p:sldId id="305" r:id="rId37"/>
    <p:sldId id="306" r:id="rId38"/>
    <p:sldId id="308" r:id="rId39"/>
    <p:sldId id="309" r:id="rId40"/>
    <p:sldId id="310" r:id="rId41"/>
    <p:sldId id="311" r:id="rId42"/>
    <p:sldId id="314" r:id="rId43"/>
    <p:sldId id="316" r:id="rId44"/>
    <p:sldId id="317" r:id="rId45"/>
    <p:sldId id="318" r:id="rId46"/>
    <p:sldId id="319" r:id="rId47"/>
    <p:sldId id="320" r:id="rId48"/>
    <p:sldId id="322" r:id="rId49"/>
    <p:sldId id="326" r:id="rId50"/>
  </p:sldIdLst>
  <p:sldSz cx="12192000" cy="6858000"/>
  <p:notesSz cx="6858000" cy="9144000"/>
  <p:defaultTextStyle>
    <a:defPPr>
      <a:defRPr lang="pt-B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83" d="100"/>
          <a:sy n="83" d="100"/>
        </p:scale>
        <p:origin x="730"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Slide de título">
    <p:spTree>
      <p:nvGrpSpPr>
        <p:cNvPr id="1" name=""/>
        <p:cNvGrpSpPr/>
        <p:nvPr/>
      </p:nvGrpSpPr>
      <p:grpSpPr>
        <a:xfrm>
          <a:off x="0" y="0"/>
          <a:ext cx="0" cy="0"/>
          <a:chOff x="0" y="0"/>
          <a:chExt cx="0" cy="0"/>
        </a:xfrm>
      </p:grpSpPr>
      <p:sp>
        <p:nvSpPr>
          <p:cNvPr id="2" name="Título 1"/>
          <p:cNvSpPr>
            <a:spLocks noGrp="1"/>
          </p:cNvSpPr>
          <p:nvPr>
            <p:ph type="ctrTitle"/>
          </p:nvPr>
        </p:nvSpPr>
        <p:spPr>
          <a:xfrm>
            <a:off x="1524000" y="1122363"/>
            <a:ext cx="9144000" cy="2387600"/>
          </a:xfrm>
        </p:spPr>
        <p:txBody>
          <a:bodyPr anchor="b"/>
          <a:lstStyle>
            <a:lvl1pPr algn="ctr">
              <a:defRPr sz="6000"/>
            </a:lvl1pPr>
          </a:lstStyle>
          <a:p>
            <a:r>
              <a:rPr lang="pt-BR" smtClean="0"/>
              <a:t>Clique para editar o título mestre</a:t>
            </a:r>
            <a:endParaRPr lang="pt-BR"/>
          </a:p>
        </p:txBody>
      </p:sp>
      <p:sp>
        <p:nvSpPr>
          <p:cNvPr id="3" name="Subtítulo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pt-BR" smtClean="0"/>
              <a:t>Clique para editar o estilo do subtítulo mestre</a:t>
            </a:r>
            <a:endParaRPr lang="pt-BR"/>
          </a:p>
        </p:txBody>
      </p:sp>
      <p:sp>
        <p:nvSpPr>
          <p:cNvPr id="4" name="Espaço Reservado para Data 3"/>
          <p:cNvSpPr>
            <a:spLocks noGrp="1"/>
          </p:cNvSpPr>
          <p:nvPr>
            <p:ph type="dt" sz="half" idx="10"/>
          </p:nvPr>
        </p:nvSpPr>
        <p:spPr/>
        <p:txBody>
          <a:bodyPr/>
          <a:lstStyle/>
          <a:p>
            <a:fld id="{744F02D9-3828-4130-AE76-8162A3F5D00A}" type="datetimeFigureOut">
              <a:rPr lang="pt-BR" smtClean="0"/>
              <a:t>29/10/2025</a:t>
            </a:fld>
            <a:endParaRPr lang="pt-BR"/>
          </a:p>
        </p:txBody>
      </p:sp>
      <p:sp>
        <p:nvSpPr>
          <p:cNvPr id="5" name="Espaço Reservado para Rodapé 4"/>
          <p:cNvSpPr>
            <a:spLocks noGrp="1"/>
          </p:cNvSpPr>
          <p:nvPr>
            <p:ph type="ftr" sz="quarter" idx="11"/>
          </p:nvPr>
        </p:nvSpPr>
        <p:spPr/>
        <p:txBody>
          <a:bodyPr/>
          <a:lstStyle/>
          <a:p>
            <a:endParaRPr lang="pt-BR"/>
          </a:p>
        </p:txBody>
      </p:sp>
      <p:sp>
        <p:nvSpPr>
          <p:cNvPr id="6" name="Espaço Reservado para Número de Slide 5"/>
          <p:cNvSpPr>
            <a:spLocks noGrp="1"/>
          </p:cNvSpPr>
          <p:nvPr>
            <p:ph type="sldNum" sz="quarter" idx="12"/>
          </p:nvPr>
        </p:nvSpPr>
        <p:spPr/>
        <p:txBody>
          <a:bodyPr/>
          <a:lstStyle/>
          <a:p>
            <a:fld id="{A86666DF-FB0F-4A12-8C64-2F83CF2DF63F}" type="slidenum">
              <a:rPr lang="pt-BR" smtClean="0"/>
              <a:t>‹nº›</a:t>
            </a:fld>
            <a:endParaRPr lang="pt-BR"/>
          </a:p>
        </p:txBody>
      </p:sp>
    </p:spTree>
    <p:extLst>
      <p:ext uri="{BB962C8B-B14F-4D97-AF65-F5344CB8AC3E}">
        <p14:creationId xmlns:p14="http://schemas.microsoft.com/office/powerpoint/2010/main" val="200626987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e conteúdo">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smtClean="0"/>
              <a:t>Clique para editar o título mestre</a:t>
            </a:r>
            <a:endParaRPr lang="pt-BR"/>
          </a:p>
        </p:txBody>
      </p:sp>
      <p:sp>
        <p:nvSpPr>
          <p:cNvPr id="3" name="Espaço Reservado para Conteúdo 2"/>
          <p:cNvSpPr>
            <a:spLocks noGrp="1"/>
          </p:cNvSpPr>
          <p:nvPr>
            <p:ph idx="1"/>
          </p:nvPr>
        </p:nvSpPr>
        <p:spPr/>
        <p:txBody>
          <a:bodyPr/>
          <a:lstStyle/>
          <a:p>
            <a:pPr lvl="0"/>
            <a:r>
              <a:rPr lang="pt-BR" smtClean="0"/>
              <a:t>Clique para editar o texto mestre</a:t>
            </a:r>
          </a:p>
          <a:p>
            <a:pPr lvl="1"/>
            <a:r>
              <a:rPr lang="pt-BR" smtClean="0"/>
              <a:t>Segundo nível</a:t>
            </a:r>
          </a:p>
          <a:p>
            <a:pPr lvl="2"/>
            <a:r>
              <a:rPr lang="pt-BR" smtClean="0"/>
              <a:t>Terceiro nível</a:t>
            </a:r>
          </a:p>
          <a:p>
            <a:pPr lvl="3"/>
            <a:r>
              <a:rPr lang="pt-BR" smtClean="0"/>
              <a:t>Quarto nível</a:t>
            </a:r>
          </a:p>
          <a:p>
            <a:pPr lvl="4"/>
            <a:r>
              <a:rPr lang="pt-BR" smtClean="0"/>
              <a:t>Quinto nível</a:t>
            </a:r>
            <a:endParaRPr lang="pt-BR"/>
          </a:p>
        </p:txBody>
      </p:sp>
      <p:sp>
        <p:nvSpPr>
          <p:cNvPr id="4" name="Espaço Reservado para Data 3"/>
          <p:cNvSpPr>
            <a:spLocks noGrp="1"/>
          </p:cNvSpPr>
          <p:nvPr>
            <p:ph type="dt" sz="half" idx="10"/>
          </p:nvPr>
        </p:nvSpPr>
        <p:spPr/>
        <p:txBody>
          <a:bodyPr/>
          <a:lstStyle/>
          <a:p>
            <a:fld id="{744F02D9-3828-4130-AE76-8162A3F5D00A}" type="datetimeFigureOut">
              <a:rPr lang="pt-BR" smtClean="0"/>
              <a:t>29/10/2025</a:t>
            </a:fld>
            <a:endParaRPr lang="pt-BR"/>
          </a:p>
        </p:txBody>
      </p:sp>
      <p:sp>
        <p:nvSpPr>
          <p:cNvPr id="5" name="Espaço Reservado para Rodapé 4"/>
          <p:cNvSpPr>
            <a:spLocks noGrp="1"/>
          </p:cNvSpPr>
          <p:nvPr>
            <p:ph type="ftr" sz="quarter" idx="11"/>
          </p:nvPr>
        </p:nvSpPr>
        <p:spPr/>
        <p:txBody>
          <a:bodyPr/>
          <a:lstStyle/>
          <a:p>
            <a:endParaRPr lang="pt-BR"/>
          </a:p>
        </p:txBody>
      </p:sp>
      <p:sp>
        <p:nvSpPr>
          <p:cNvPr id="6" name="Espaço Reservado para Número de Slide 5"/>
          <p:cNvSpPr>
            <a:spLocks noGrp="1"/>
          </p:cNvSpPr>
          <p:nvPr>
            <p:ph type="sldNum" sz="quarter" idx="12"/>
          </p:nvPr>
        </p:nvSpPr>
        <p:spPr/>
        <p:txBody>
          <a:bodyPr/>
          <a:lstStyle/>
          <a:p>
            <a:fld id="{A86666DF-FB0F-4A12-8C64-2F83CF2DF63F}" type="slidenum">
              <a:rPr lang="pt-BR" smtClean="0"/>
              <a:t>‹nº›</a:t>
            </a:fld>
            <a:endParaRPr lang="pt-BR"/>
          </a:p>
        </p:txBody>
      </p:sp>
    </p:spTree>
    <p:extLst>
      <p:ext uri="{BB962C8B-B14F-4D97-AF65-F5344CB8AC3E}">
        <p14:creationId xmlns:p14="http://schemas.microsoft.com/office/powerpoint/2010/main" val="278747034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Cabeçalho da Seção">
    <p:spTree>
      <p:nvGrpSpPr>
        <p:cNvPr id="1" name=""/>
        <p:cNvGrpSpPr/>
        <p:nvPr/>
      </p:nvGrpSpPr>
      <p:grpSpPr>
        <a:xfrm>
          <a:off x="0" y="0"/>
          <a:ext cx="0" cy="0"/>
          <a:chOff x="0" y="0"/>
          <a:chExt cx="0" cy="0"/>
        </a:xfrm>
      </p:grpSpPr>
      <p:sp>
        <p:nvSpPr>
          <p:cNvPr id="2" name="Título 1"/>
          <p:cNvSpPr>
            <a:spLocks noGrp="1"/>
          </p:cNvSpPr>
          <p:nvPr>
            <p:ph type="title"/>
          </p:nvPr>
        </p:nvSpPr>
        <p:spPr>
          <a:xfrm>
            <a:off x="831850" y="1709738"/>
            <a:ext cx="10515600" cy="2852737"/>
          </a:xfrm>
        </p:spPr>
        <p:txBody>
          <a:bodyPr anchor="b"/>
          <a:lstStyle>
            <a:lvl1pPr>
              <a:defRPr sz="6000"/>
            </a:lvl1pPr>
          </a:lstStyle>
          <a:p>
            <a:r>
              <a:rPr lang="pt-BR" smtClean="0"/>
              <a:t>Clique para editar o título mestre</a:t>
            </a:r>
            <a:endParaRPr lang="pt-BR"/>
          </a:p>
        </p:txBody>
      </p:sp>
      <p:sp>
        <p:nvSpPr>
          <p:cNvPr id="3" name="Espaço Reservado para Texto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pt-BR" smtClean="0"/>
              <a:t>Clique para editar o texto mestre</a:t>
            </a:r>
          </a:p>
        </p:txBody>
      </p:sp>
      <p:sp>
        <p:nvSpPr>
          <p:cNvPr id="4" name="Espaço Reservado para Data 3"/>
          <p:cNvSpPr>
            <a:spLocks noGrp="1"/>
          </p:cNvSpPr>
          <p:nvPr>
            <p:ph type="dt" sz="half" idx="10"/>
          </p:nvPr>
        </p:nvSpPr>
        <p:spPr/>
        <p:txBody>
          <a:bodyPr/>
          <a:lstStyle/>
          <a:p>
            <a:fld id="{744F02D9-3828-4130-AE76-8162A3F5D00A}" type="datetimeFigureOut">
              <a:rPr lang="pt-BR" smtClean="0"/>
              <a:t>29/10/2025</a:t>
            </a:fld>
            <a:endParaRPr lang="pt-BR"/>
          </a:p>
        </p:txBody>
      </p:sp>
      <p:sp>
        <p:nvSpPr>
          <p:cNvPr id="5" name="Espaço Reservado para Rodapé 4"/>
          <p:cNvSpPr>
            <a:spLocks noGrp="1"/>
          </p:cNvSpPr>
          <p:nvPr>
            <p:ph type="ftr" sz="quarter" idx="11"/>
          </p:nvPr>
        </p:nvSpPr>
        <p:spPr/>
        <p:txBody>
          <a:bodyPr/>
          <a:lstStyle/>
          <a:p>
            <a:endParaRPr lang="pt-BR"/>
          </a:p>
        </p:txBody>
      </p:sp>
      <p:sp>
        <p:nvSpPr>
          <p:cNvPr id="6" name="Espaço Reservado para Número de Slide 5"/>
          <p:cNvSpPr>
            <a:spLocks noGrp="1"/>
          </p:cNvSpPr>
          <p:nvPr>
            <p:ph type="sldNum" sz="quarter" idx="12"/>
          </p:nvPr>
        </p:nvSpPr>
        <p:spPr/>
        <p:txBody>
          <a:bodyPr/>
          <a:lstStyle/>
          <a:p>
            <a:fld id="{A86666DF-FB0F-4A12-8C64-2F83CF2DF63F}" type="slidenum">
              <a:rPr lang="pt-BR" smtClean="0"/>
              <a:t>‹nº›</a:t>
            </a:fld>
            <a:endParaRPr lang="pt-BR"/>
          </a:p>
        </p:txBody>
      </p:sp>
    </p:spTree>
    <p:extLst>
      <p:ext uri="{BB962C8B-B14F-4D97-AF65-F5344CB8AC3E}">
        <p14:creationId xmlns:p14="http://schemas.microsoft.com/office/powerpoint/2010/main" val="210537420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uas Partes de Conteúdo">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smtClean="0"/>
              <a:t>Clique para editar o título mestre</a:t>
            </a:r>
            <a:endParaRPr lang="pt-BR"/>
          </a:p>
        </p:txBody>
      </p:sp>
      <p:sp>
        <p:nvSpPr>
          <p:cNvPr id="3" name="Espaço Reservado para Conteúdo 2"/>
          <p:cNvSpPr>
            <a:spLocks noGrp="1"/>
          </p:cNvSpPr>
          <p:nvPr>
            <p:ph sz="half" idx="1"/>
          </p:nvPr>
        </p:nvSpPr>
        <p:spPr>
          <a:xfrm>
            <a:off x="838200" y="1825625"/>
            <a:ext cx="5181600" cy="4351338"/>
          </a:xfrm>
        </p:spPr>
        <p:txBody>
          <a:bodyPr/>
          <a:lstStyle/>
          <a:p>
            <a:pPr lvl="0"/>
            <a:r>
              <a:rPr lang="pt-BR" smtClean="0"/>
              <a:t>Clique para editar o texto mestre</a:t>
            </a:r>
          </a:p>
          <a:p>
            <a:pPr lvl="1"/>
            <a:r>
              <a:rPr lang="pt-BR" smtClean="0"/>
              <a:t>Segundo nível</a:t>
            </a:r>
          </a:p>
          <a:p>
            <a:pPr lvl="2"/>
            <a:r>
              <a:rPr lang="pt-BR" smtClean="0"/>
              <a:t>Terceiro nível</a:t>
            </a:r>
          </a:p>
          <a:p>
            <a:pPr lvl="3"/>
            <a:r>
              <a:rPr lang="pt-BR" smtClean="0"/>
              <a:t>Quarto nível</a:t>
            </a:r>
          </a:p>
          <a:p>
            <a:pPr lvl="4"/>
            <a:r>
              <a:rPr lang="pt-BR" smtClean="0"/>
              <a:t>Quinto nível</a:t>
            </a:r>
            <a:endParaRPr lang="pt-BR"/>
          </a:p>
        </p:txBody>
      </p:sp>
      <p:sp>
        <p:nvSpPr>
          <p:cNvPr id="4" name="Espaço Reservado para Conteúdo 3"/>
          <p:cNvSpPr>
            <a:spLocks noGrp="1"/>
          </p:cNvSpPr>
          <p:nvPr>
            <p:ph sz="half" idx="2"/>
          </p:nvPr>
        </p:nvSpPr>
        <p:spPr>
          <a:xfrm>
            <a:off x="6172200" y="1825625"/>
            <a:ext cx="5181600" cy="4351338"/>
          </a:xfrm>
        </p:spPr>
        <p:txBody>
          <a:bodyPr/>
          <a:lstStyle/>
          <a:p>
            <a:pPr lvl="0"/>
            <a:r>
              <a:rPr lang="pt-BR" smtClean="0"/>
              <a:t>Clique para editar o texto mestre</a:t>
            </a:r>
          </a:p>
          <a:p>
            <a:pPr lvl="1"/>
            <a:r>
              <a:rPr lang="pt-BR" smtClean="0"/>
              <a:t>Segundo nível</a:t>
            </a:r>
          </a:p>
          <a:p>
            <a:pPr lvl="2"/>
            <a:r>
              <a:rPr lang="pt-BR" smtClean="0"/>
              <a:t>Terceiro nível</a:t>
            </a:r>
          </a:p>
          <a:p>
            <a:pPr lvl="3"/>
            <a:r>
              <a:rPr lang="pt-BR" smtClean="0"/>
              <a:t>Quarto nível</a:t>
            </a:r>
          </a:p>
          <a:p>
            <a:pPr lvl="4"/>
            <a:r>
              <a:rPr lang="pt-BR" smtClean="0"/>
              <a:t>Quinto nível</a:t>
            </a:r>
            <a:endParaRPr lang="pt-BR"/>
          </a:p>
        </p:txBody>
      </p:sp>
      <p:sp>
        <p:nvSpPr>
          <p:cNvPr id="5" name="Espaço Reservado para Data 4"/>
          <p:cNvSpPr>
            <a:spLocks noGrp="1"/>
          </p:cNvSpPr>
          <p:nvPr>
            <p:ph type="dt" sz="half" idx="10"/>
          </p:nvPr>
        </p:nvSpPr>
        <p:spPr/>
        <p:txBody>
          <a:bodyPr/>
          <a:lstStyle/>
          <a:p>
            <a:fld id="{744F02D9-3828-4130-AE76-8162A3F5D00A}" type="datetimeFigureOut">
              <a:rPr lang="pt-BR" smtClean="0"/>
              <a:t>29/10/2025</a:t>
            </a:fld>
            <a:endParaRPr lang="pt-BR"/>
          </a:p>
        </p:txBody>
      </p:sp>
      <p:sp>
        <p:nvSpPr>
          <p:cNvPr id="6" name="Espaço Reservado para Rodapé 5"/>
          <p:cNvSpPr>
            <a:spLocks noGrp="1"/>
          </p:cNvSpPr>
          <p:nvPr>
            <p:ph type="ftr" sz="quarter" idx="11"/>
          </p:nvPr>
        </p:nvSpPr>
        <p:spPr/>
        <p:txBody>
          <a:bodyPr/>
          <a:lstStyle/>
          <a:p>
            <a:endParaRPr lang="pt-BR"/>
          </a:p>
        </p:txBody>
      </p:sp>
      <p:sp>
        <p:nvSpPr>
          <p:cNvPr id="7" name="Espaço Reservado para Número de Slide 6"/>
          <p:cNvSpPr>
            <a:spLocks noGrp="1"/>
          </p:cNvSpPr>
          <p:nvPr>
            <p:ph type="sldNum" sz="quarter" idx="12"/>
          </p:nvPr>
        </p:nvSpPr>
        <p:spPr/>
        <p:txBody>
          <a:bodyPr/>
          <a:lstStyle/>
          <a:p>
            <a:fld id="{A86666DF-FB0F-4A12-8C64-2F83CF2DF63F}" type="slidenum">
              <a:rPr lang="pt-BR" smtClean="0"/>
              <a:t>‹nº›</a:t>
            </a:fld>
            <a:endParaRPr lang="pt-BR"/>
          </a:p>
        </p:txBody>
      </p:sp>
    </p:spTree>
    <p:extLst>
      <p:ext uri="{BB962C8B-B14F-4D97-AF65-F5344CB8AC3E}">
        <p14:creationId xmlns:p14="http://schemas.microsoft.com/office/powerpoint/2010/main" val="61726954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ção">
    <p:spTree>
      <p:nvGrpSpPr>
        <p:cNvPr id="1" name=""/>
        <p:cNvGrpSpPr/>
        <p:nvPr/>
      </p:nvGrpSpPr>
      <p:grpSpPr>
        <a:xfrm>
          <a:off x="0" y="0"/>
          <a:ext cx="0" cy="0"/>
          <a:chOff x="0" y="0"/>
          <a:chExt cx="0" cy="0"/>
        </a:xfrm>
      </p:grpSpPr>
      <p:sp>
        <p:nvSpPr>
          <p:cNvPr id="2" name="Título 1"/>
          <p:cNvSpPr>
            <a:spLocks noGrp="1"/>
          </p:cNvSpPr>
          <p:nvPr>
            <p:ph type="title"/>
          </p:nvPr>
        </p:nvSpPr>
        <p:spPr>
          <a:xfrm>
            <a:off x="839788" y="365125"/>
            <a:ext cx="10515600" cy="1325563"/>
          </a:xfrm>
        </p:spPr>
        <p:txBody>
          <a:bodyPr/>
          <a:lstStyle/>
          <a:p>
            <a:r>
              <a:rPr lang="pt-BR" smtClean="0"/>
              <a:t>Clique para editar o título mestre</a:t>
            </a:r>
            <a:endParaRPr lang="pt-BR"/>
          </a:p>
        </p:txBody>
      </p:sp>
      <p:sp>
        <p:nvSpPr>
          <p:cNvPr id="3" name="Espaço Reservado para Texto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t-BR" smtClean="0"/>
              <a:t>Clique para editar o texto mestre</a:t>
            </a:r>
          </a:p>
        </p:txBody>
      </p:sp>
      <p:sp>
        <p:nvSpPr>
          <p:cNvPr id="4" name="Espaço Reservado para Conteúdo 3"/>
          <p:cNvSpPr>
            <a:spLocks noGrp="1"/>
          </p:cNvSpPr>
          <p:nvPr>
            <p:ph sz="half" idx="2"/>
          </p:nvPr>
        </p:nvSpPr>
        <p:spPr>
          <a:xfrm>
            <a:off x="839788" y="2505075"/>
            <a:ext cx="5157787" cy="3684588"/>
          </a:xfrm>
        </p:spPr>
        <p:txBody>
          <a:bodyPr/>
          <a:lstStyle/>
          <a:p>
            <a:pPr lvl="0"/>
            <a:r>
              <a:rPr lang="pt-BR" smtClean="0"/>
              <a:t>Clique para editar o texto mestre</a:t>
            </a:r>
          </a:p>
          <a:p>
            <a:pPr lvl="1"/>
            <a:r>
              <a:rPr lang="pt-BR" smtClean="0"/>
              <a:t>Segundo nível</a:t>
            </a:r>
          </a:p>
          <a:p>
            <a:pPr lvl="2"/>
            <a:r>
              <a:rPr lang="pt-BR" smtClean="0"/>
              <a:t>Terceiro nível</a:t>
            </a:r>
          </a:p>
          <a:p>
            <a:pPr lvl="3"/>
            <a:r>
              <a:rPr lang="pt-BR" smtClean="0"/>
              <a:t>Quarto nível</a:t>
            </a:r>
          </a:p>
          <a:p>
            <a:pPr lvl="4"/>
            <a:r>
              <a:rPr lang="pt-BR" smtClean="0"/>
              <a:t>Quinto nível</a:t>
            </a:r>
            <a:endParaRPr lang="pt-BR"/>
          </a:p>
        </p:txBody>
      </p:sp>
      <p:sp>
        <p:nvSpPr>
          <p:cNvPr id="5" name="Espaço Reservado para Texto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t-BR" smtClean="0"/>
              <a:t>Clique para editar o texto mestre</a:t>
            </a:r>
          </a:p>
        </p:txBody>
      </p:sp>
      <p:sp>
        <p:nvSpPr>
          <p:cNvPr id="6" name="Espaço Reservado para Conteúdo 5"/>
          <p:cNvSpPr>
            <a:spLocks noGrp="1"/>
          </p:cNvSpPr>
          <p:nvPr>
            <p:ph sz="quarter" idx="4"/>
          </p:nvPr>
        </p:nvSpPr>
        <p:spPr>
          <a:xfrm>
            <a:off x="6172200" y="2505075"/>
            <a:ext cx="5183188" cy="3684588"/>
          </a:xfrm>
        </p:spPr>
        <p:txBody>
          <a:bodyPr/>
          <a:lstStyle/>
          <a:p>
            <a:pPr lvl="0"/>
            <a:r>
              <a:rPr lang="pt-BR" smtClean="0"/>
              <a:t>Clique para editar o texto mestre</a:t>
            </a:r>
          </a:p>
          <a:p>
            <a:pPr lvl="1"/>
            <a:r>
              <a:rPr lang="pt-BR" smtClean="0"/>
              <a:t>Segundo nível</a:t>
            </a:r>
          </a:p>
          <a:p>
            <a:pPr lvl="2"/>
            <a:r>
              <a:rPr lang="pt-BR" smtClean="0"/>
              <a:t>Terceiro nível</a:t>
            </a:r>
          </a:p>
          <a:p>
            <a:pPr lvl="3"/>
            <a:r>
              <a:rPr lang="pt-BR" smtClean="0"/>
              <a:t>Quarto nível</a:t>
            </a:r>
          </a:p>
          <a:p>
            <a:pPr lvl="4"/>
            <a:r>
              <a:rPr lang="pt-BR" smtClean="0"/>
              <a:t>Quinto nível</a:t>
            </a:r>
            <a:endParaRPr lang="pt-BR"/>
          </a:p>
        </p:txBody>
      </p:sp>
      <p:sp>
        <p:nvSpPr>
          <p:cNvPr id="7" name="Espaço Reservado para Data 6"/>
          <p:cNvSpPr>
            <a:spLocks noGrp="1"/>
          </p:cNvSpPr>
          <p:nvPr>
            <p:ph type="dt" sz="half" idx="10"/>
          </p:nvPr>
        </p:nvSpPr>
        <p:spPr/>
        <p:txBody>
          <a:bodyPr/>
          <a:lstStyle/>
          <a:p>
            <a:fld id="{744F02D9-3828-4130-AE76-8162A3F5D00A}" type="datetimeFigureOut">
              <a:rPr lang="pt-BR" smtClean="0"/>
              <a:t>29/10/2025</a:t>
            </a:fld>
            <a:endParaRPr lang="pt-BR"/>
          </a:p>
        </p:txBody>
      </p:sp>
      <p:sp>
        <p:nvSpPr>
          <p:cNvPr id="8" name="Espaço Reservado para Rodapé 7"/>
          <p:cNvSpPr>
            <a:spLocks noGrp="1"/>
          </p:cNvSpPr>
          <p:nvPr>
            <p:ph type="ftr" sz="quarter" idx="11"/>
          </p:nvPr>
        </p:nvSpPr>
        <p:spPr/>
        <p:txBody>
          <a:bodyPr/>
          <a:lstStyle/>
          <a:p>
            <a:endParaRPr lang="pt-BR"/>
          </a:p>
        </p:txBody>
      </p:sp>
      <p:sp>
        <p:nvSpPr>
          <p:cNvPr id="9" name="Espaço Reservado para Número de Slide 8"/>
          <p:cNvSpPr>
            <a:spLocks noGrp="1"/>
          </p:cNvSpPr>
          <p:nvPr>
            <p:ph type="sldNum" sz="quarter" idx="12"/>
          </p:nvPr>
        </p:nvSpPr>
        <p:spPr/>
        <p:txBody>
          <a:bodyPr/>
          <a:lstStyle/>
          <a:p>
            <a:fld id="{A86666DF-FB0F-4A12-8C64-2F83CF2DF63F}" type="slidenum">
              <a:rPr lang="pt-BR" smtClean="0"/>
              <a:t>‹nº›</a:t>
            </a:fld>
            <a:endParaRPr lang="pt-BR"/>
          </a:p>
        </p:txBody>
      </p:sp>
    </p:spTree>
    <p:extLst>
      <p:ext uri="{BB962C8B-B14F-4D97-AF65-F5344CB8AC3E}">
        <p14:creationId xmlns:p14="http://schemas.microsoft.com/office/powerpoint/2010/main" val="128679672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mente título">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smtClean="0"/>
              <a:t>Clique para editar o título mestre</a:t>
            </a:r>
            <a:endParaRPr lang="pt-BR"/>
          </a:p>
        </p:txBody>
      </p:sp>
      <p:sp>
        <p:nvSpPr>
          <p:cNvPr id="3" name="Espaço Reservado para Data 2"/>
          <p:cNvSpPr>
            <a:spLocks noGrp="1"/>
          </p:cNvSpPr>
          <p:nvPr>
            <p:ph type="dt" sz="half" idx="10"/>
          </p:nvPr>
        </p:nvSpPr>
        <p:spPr/>
        <p:txBody>
          <a:bodyPr/>
          <a:lstStyle/>
          <a:p>
            <a:fld id="{744F02D9-3828-4130-AE76-8162A3F5D00A}" type="datetimeFigureOut">
              <a:rPr lang="pt-BR" smtClean="0"/>
              <a:t>29/10/2025</a:t>
            </a:fld>
            <a:endParaRPr lang="pt-BR"/>
          </a:p>
        </p:txBody>
      </p:sp>
      <p:sp>
        <p:nvSpPr>
          <p:cNvPr id="4" name="Espaço Reservado para Rodapé 3"/>
          <p:cNvSpPr>
            <a:spLocks noGrp="1"/>
          </p:cNvSpPr>
          <p:nvPr>
            <p:ph type="ftr" sz="quarter" idx="11"/>
          </p:nvPr>
        </p:nvSpPr>
        <p:spPr/>
        <p:txBody>
          <a:bodyPr/>
          <a:lstStyle/>
          <a:p>
            <a:endParaRPr lang="pt-BR"/>
          </a:p>
        </p:txBody>
      </p:sp>
      <p:sp>
        <p:nvSpPr>
          <p:cNvPr id="5" name="Espaço Reservado para Número de Slide 4"/>
          <p:cNvSpPr>
            <a:spLocks noGrp="1"/>
          </p:cNvSpPr>
          <p:nvPr>
            <p:ph type="sldNum" sz="quarter" idx="12"/>
          </p:nvPr>
        </p:nvSpPr>
        <p:spPr/>
        <p:txBody>
          <a:bodyPr/>
          <a:lstStyle/>
          <a:p>
            <a:fld id="{A86666DF-FB0F-4A12-8C64-2F83CF2DF63F}" type="slidenum">
              <a:rPr lang="pt-BR" smtClean="0"/>
              <a:t>‹nº›</a:t>
            </a:fld>
            <a:endParaRPr lang="pt-BR"/>
          </a:p>
        </p:txBody>
      </p:sp>
    </p:spTree>
    <p:extLst>
      <p:ext uri="{BB962C8B-B14F-4D97-AF65-F5344CB8AC3E}">
        <p14:creationId xmlns:p14="http://schemas.microsoft.com/office/powerpoint/2010/main" val="134473024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m branco">
    <p:spTree>
      <p:nvGrpSpPr>
        <p:cNvPr id="1" name=""/>
        <p:cNvGrpSpPr/>
        <p:nvPr/>
      </p:nvGrpSpPr>
      <p:grpSpPr>
        <a:xfrm>
          <a:off x="0" y="0"/>
          <a:ext cx="0" cy="0"/>
          <a:chOff x="0" y="0"/>
          <a:chExt cx="0" cy="0"/>
        </a:xfrm>
      </p:grpSpPr>
      <p:sp>
        <p:nvSpPr>
          <p:cNvPr id="2" name="Espaço Reservado para Data 1"/>
          <p:cNvSpPr>
            <a:spLocks noGrp="1"/>
          </p:cNvSpPr>
          <p:nvPr>
            <p:ph type="dt" sz="half" idx="10"/>
          </p:nvPr>
        </p:nvSpPr>
        <p:spPr/>
        <p:txBody>
          <a:bodyPr/>
          <a:lstStyle/>
          <a:p>
            <a:fld id="{744F02D9-3828-4130-AE76-8162A3F5D00A}" type="datetimeFigureOut">
              <a:rPr lang="pt-BR" smtClean="0"/>
              <a:t>29/10/2025</a:t>
            </a:fld>
            <a:endParaRPr lang="pt-BR"/>
          </a:p>
        </p:txBody>
      </p:sp>
      <p:sp>
        <p:nvSpPr>
          <p:cNvPr id="3" name="Espaço Reservado para Rodapé 2"/>
          <p:cNvSpPr>
            <a:spLocks noGrp="1"/>
          </p:cNvSpPr>
          <p:nvPr>
            <p:ph type="ftr" sz="quarter" idx="11"/>
          </p:nvPr>
        </p:nvSpPr>
        <p:spPr/>
        <p:txBody>
          <a:bodyPr/>
          <a:lstStyle/>
          <a:p>
            <a:endParaRPr lang="pt-BR"/>
          </a:p>
        </p:txBody>
      </p:sp>
      <p:sp>
        <p:nvSpPr>
          <p:cNvPr id="4" name="Espaço Reservado para Número de Slide 3"/>
          <p:cNvSpPr>
            <a:spLocks noGrp="1"/>
          </p:cNvSpPr>
          <p:nvPr>
            <p:ph type="sldNum" sz="quarter" idx="12"/>
          </p:nvPr>
        </p:nvSpPr>
        <p:spPr/>
        <p:txBody>
          <a:bodyPr/>
          <a:lstStyle/>
          <a:p>
            <a:fld id="{A86666DF-FB0F-4A12-8C64-2F83CF2DF63F}" type="slidenum">
              <a:rPr lang="pt-BR" smtClean="0"/>
              <a:t>‹nº›</a:t>
            </a:fld>
            <a:endParaRPr lang="pt-BR"/>
          </a:p>
        </p:txBody>
      </p:sp>
    </p:spTree>
    <p:extLst>
      <p:ext uri="{BB962C8B-B14F-4D97-AF65-F5344CB8AC3E}">
        <p14:creationId xmlns:p14="http://schemas.microsoft.com/office/powerpoint/2010/main" val="126959213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údo com Legenda">
    <p:spTree>
      <p:nvGrpSpPr>
        <p:cNvPr id="1" name=""/>
        <p:cNvGrpSpPr/>
        <p:nvPr/>
      </p:nvGrpSpPr>
      <p:grpSpPr>
        <a:xfrm>
          <a:off x="0" y="0"/>
          <a:ext cx="0" cy="0"/>
          <a:chOff x="0" y="0"/>
          <a:chExt cx="0" cy="0"/>
        </a:xfrm>
      </p:grpSpPr>
      <p:sp>
        <p:nvSpPr>
          <p:cNvPr id="2" name="Título 1"/>
          <p:cNvSpPr>
            <a:spLocks noGrp="1"/>
          </p:cNvSpPr>
          <p:nvPr>
            <p:ph type="title"/>
          </p:nvPr>
        </p:nvSpPr>
        <p:spPr>
          <a:xfrm>
            <a:off x="839788" y="457200"/>
            <a:ext cx="3932237" cy="1600200"/>
          </a:xfrm>
        </p:spPr>
        <p:txBody>
          <a:bodyPr anchor="b"/>
          <a:lstStyle>
            <a:lvl1pPr>
              <a:defRPr sz="3200"/>
            </a:lvl1pPr>
          </a:lstStyle>
          <a:p>
            <a:r>
              <a:rPr lang="pt-BR" smtClean="0"/>
              <a:t>Clique para editar o título mestre</a:t>
            </a:r>
            <a:endParaRPr lang="pt-BR"/>
          </a:p>
        </p:txBody>
      </p:sp>
      <p:sp>
        <p:nvSpPr>
          <p:cNvPr id="3" name="Espaço Reservado para Conteúdo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pt-BR" smtClean="0"/>
              <a:t>Clique para editar o texto mestre</a:t>
            </a:r>
          </a:p>
          <a:p>
            <a:pPr lvl="1"/>
            <a:r>
              <a:rPr lang="pt-BR" smtClean="0"/>
              <a:t>Segundo nível</a:t>
            </a:r>
          </a:p>
          <a:p>
            <a:pPr lvl="2"/>
            <a:r>
              <a:rPr lang="pt-BR" smtClean="0"/>
              <a:t>Terceiro nível</a:t>
            </a:r>
          </a:p>
          <a:p>
            <a:pPr lvl="3"/>
            <a:r>
              <a:rPr lang="pt-BR" smtClean="0"/>
              <a:t>Quarto nível</a:t>
            </a:r>
          </a:p>
          <a:p>
            <a:pPr lvl="4"/>
            <a:r>
              <a:rPr lang="pt-BR" smtClean="0"/>
              <a:t>Quinto nível</a:t>
            </a:r>
            <a:endParaRPr lang="pt-BR"/>
          </a:p>
        </p:txBody>
      </p:sp>
      <p:sp>
        <p:nvSpPr>
          <p:cNvPr id="4" name="Espaço Reservado para Texto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pt-BR" smtClean="0"/>
              <a:t>Clique para editar o texto mestre</a:t>
            </a:r>
          </a:p>
        </p:txBody>
      </p:sp>
      <p:sp>
        <p:nvSpPr>
          <p:cNvPr id="5" name="Espaço Reservado para Data 4"/>
          <p:cNvSpPr>
            <a:spLocks noGrp="1"/>
          </p:cNvSpPr>
          <p:nvPr>
            <p:ph type="dt" sz="half" idx="10"/>
          </p:nvPr>
        </p:nvSpPr>
        <p:spPr/>
        <p:txBody>
          <a:bodyPr/>
          <a:lstStyle/>
          <a:p>
            <a:fld id="{744F02D9-3828-4130-AE76-8162A3F5D00A}" type="datetimeFigureOut">
              <a:rPr lang="pt-BR" smtClean="0"/>
              <a:t>29/10/2025</a:t>
            </a:fld>
            <a:endParaRPr lang="pt-BR"/>
          </a:p>
        </p:txBody>
      </p:sp>
      <p:sp>
        <p:nvSpPr>
          <p:cNvPr id="6" name="Espaço Reservado para Rodapé 5"/>
          <p:cNvSpPr>
            <a:spLocks noGrp="1"/>
          </p:cNvSpPr>
          <p:nvPr>
            <p:ph type="ftr" sz="quarter" idx="11"/>
          </p:nvPr>
        </p:nvSpPr>
        <p:spPr/>
        <p:txBody>
          <a:bodyPr/>
          <a:lstStyle/>
          <a:p>
            <a:endParaRPr lang="pt-BR"/>
          </a:p>
        </p:txBody>
      </p:sp>
      <p:sp>
        <p:nvSpPr>
          <p:cNvPr id="7" name="Espaço Reservado para Número de Slide 6"/>
          <p:cNvSpPr>
            <a:spLocks noGrp="1"/>
          </p:cNvSpPr>
          <p:nvPr>
            <p:ph type="sldNum" sz="quarter" idx="12"/>
          </p:nvPr>
        </p:nvSpPr>
        <p:spPr/>
        <p:txBody>
          <a:bodyPr/>
          <a:lstStyle/>
          <a:p>
            <a:fld id="{A86666DF-FB0F-4A12-8C64-2F83CF2DF63F}" type="slidenum">
              <a:rPr lang="pt-BR" smtClean="0"/>
              <a:t>‹nº›</a:t>
            </a:fld>
            <a:endParaRPr lang="pt-BR"/>
          </a:p>
        </p:txBody>
      </p:sp>
    </p:spTree>
    <p:extLst>
      <p:ext uri="{BB962C8B-B14F-4D97-AF65-F5344CB8AC3E}">
        <p14:creationId xmlns:p14="http://schemas.microsoft.com/office/powerpoint/2010/main" val="229902768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m com Legenda">
    <p:spTree>
      <p:nvGrpSpPr>
        <p:cNvPr id="1" name=""/>
        <p:cNvGrpSpPr/>
        <p:nvPr/>
      </p:nvGrpSpPr>
      <p:grpSpPr>
        <a:xfrm>
          <a:off x="0" y="0"/>
          <a:ext cx="0" cy="0"/>
          <a:chOff x="0" y="0"/>
          <a:chExt cx="0" cy="0"/>
        </a:xfrm>
      </p:grpSpPr>
      <p:sp>
        <p:nvSpPr>
          <p:cNvPr id="2" name="Título 1"/>
          <p:cNvSpPr>
            <a:spLocks noGrp="1"/>
          </p:cNvSpPr>
          <p:nvPr>
            <p:ph type="title"/>
          </p:nvPr>
        </p:nvSpPr>
        <p:spPr>
          <a:xfrm>
            <a:off x="839788" y="457200"/>
            <a:ext cx="3932237" cy="1600200"/>
          </a:xfrm>
        </p:spPr>
        <p:txBody>
          <a:bodyPr anchor="b"/>
          <a:lstStyle>
            <a:lvl1pPr>
              <a:defRPr sz="3200"/>
            </a:lvl1pPr>
          </a:lstStyle>
          <a:p>
            <a:r>
              <a:rPr lang="pt-BR" smtClean="0"/>
              <a:t>Clique para editar o título mestre</a:t>
            </a:r>
            <a:endParaRPr lang="pt-BR"/>
          </a:p>
        </p:txBody>
      </p:sp>
      <p:sp>
        <p:nvSpPr>
          <p:cNvPr id="3" name="Espaço Reservado para Imagem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pt-BR"/>
          </a:p>
        </p:txBody>
      </p:sp>
      <p:sp>
        <p:nvSpPr>
          <p:cNvPr id="4" name="Espaço Reservado para Texto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pt-BR" smtClean="0"/>
              <a:t>Clique para editar o texto mestre</a:t>
            </a:r>
          </a:p>
        </p:txBody>
      </p:sp>
      <p:sp>
        <p:nvSpPr>
          <p:cNvPr id="5" name="Espaço Reservado para Data 4"/>
          <p:cNvSpPr>
            <a:spLocks noGrp="1"/>
          </p:cNvSpPr>
          <p:nvPr>
            <p:ph type="dt" sz="half" idx="10"/>
          </p:nvPr>
        </p:nvSpPr>
        <p:spPr/>
        <p:txBody>
          <a:bodyPr/>
          <a:lstStyle/>
          <a:p>
            <a:fld id="{744F02D9-3828-4130-AE76-8162A3F5D00A}" type="datetimeFigureOut">
              <a:rPr lang="pt-BR" smtClean="0"/>
              <a:t>29/10/2025</a:t>
            </a:fld>
            <a:endParaRPr lang="pt-BR"/>
          </a:p>
        </p:txBody>
      </p:sp>
      <p:sp>
        <p:nvSpPr>
          <p:cNvPr id="6" name="Espaço Reservado para Rodapé 5"/>
          <p:cNvSpPr>
            <a:spLocks noGrp="1"/>
          </p:cNvSpPr>
          <p:nvPr>
            <p:ph type="ftr" sz="quarter" idx="11"/>
          </p:nvPr>
        </p:nvSpPr>
        <p:spPr/>
        <p:txBody>
          <a:bodyPr/>
          <a:lstStyle/>
          <a:p>
            <a:endParaRPr lang="pt-BR"/>
          </a:p>
        </p:txBody>
      </p:sp>
      <p:sp>
        <p:nvSpPr>
          <p:cNvPr id="7" name="Espaço Reservado para Número de Slide 6"/>
          <p:cNvSpPr>
            <a:spLocks noGrp="1"/>
          </p:cNvSpPr>
          <p:nvPr>
            <p:ph type="sldNum" sz="quarter" idx="12"/>
          </p:nvPr>
        </p:nvSpPr>
        <p:spPr/>
        <p:txBody>
          <a:bodyPr/>
          <a:lstStyle/>
          <a:p>
            <a:fld id="{A86666DF-FB0F-4A12-8C64-2F83CF2DF63F}" type="slidenum">
              <a:rPr lang="pt-BR" smtClean="0"/>
              <a:t>‹nº›</a:t>
            </a:fld>
            <a:endParaRPr lang="pt-BR"/>
          </a:p>
        </p:txBody>
      </p:sp>
    </p:spTree>
    <p:extLst>
      <p:ext uri="{BB962C8B-B14F-4D97-AF65-F5344CB8AC3E}">
        <p14:creationId xmlns:p14="http://schemas.microsoft.com/office/powerpoint/2010/main" val="188628610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e texto vertical">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smtClean="0"/>
              <a:t>Clique para editar o título mestre</a:t>
            </a:r>
            <a:endParaRPr lang="pt-BR"/>
          </a:p>
        </p:txBody>
      </p:sp>
      <p:sp>
        <p:nvSpPr>
          <p:cNvPr id="3" name="Espaço Reservado para Texto Vertical 2"/>
          <p:cNvSpPr>
            <a:spLocks noGrp="1"/>
          </p:cNvSpPr>
          <p:nvPr>
            <p:ph type="body" orient="vert" idx="1"/>
          </p:nvPr>
        </p:nvSpPr>
        <p:spPr/>
        <p:txBody>
          <a:bodyPr vert="eaVert"/>
          <a:lstStyle/>
          <a:p>
            <a:pPr lvl="0"/>
            <a:r>
              <a:rPr lang="pt-BR" smtClean="0"/>
              <a:t>Clique para editar o texto mestre</a:t>
            </a:r>
          </a:p>
          <a:p>
            <a:pPr lvl="1"/>
            <a:r>
              <a:rPr lang="pt-BR" smtClean="0"/>
              <a:t>Segundo nível</a:t>
            </a:r>
          </a:p>
          <a:p>
            <a:pPr lvl="2"/>
            <a:r>
              <a:rPr lang="pt-BR" smtClean="0"/>
              <a:t>Terceiro nível</a:t>
            </a:r>
          </a:p>
          <a:p>
            <a:pPr lvl="3"/>
            <a:r>
              <a:rPr lang="pt-BR" smtClean="0"/>
              <a:t>Quarto nível</a:t>
            </a:r>
          </a:p>
          <a:p>
            <a:pPr lvl="4"/>
            <a:r>
              <a:rPr lang="pt-BR" smtClean="0"/>
              <a:t>Quinto nível</a:t>
            </a:r>
            <a:endParaRPr lang="pt-BR"/>
          </a:p>
        </p:txBody>
      </p:sp>
      <p:sp>
        <p:nvSpPr>
          <p:cNvPr id="4" name="Espaço Reservado para Data 3"/>
          <p:cNvSpPr>
            <a:spLocks noGrp="1"/>
          </p:cNvSpPr>
          <p:nvPr>
            <p:ph type="dt" sz="half" idx="10"/>
          </p:nvPr>
        </p:nvSpPr>
        <p:spPr/>
        <p:txBody>
          <a:bodyPr/>
          <a:lstStyle/>
          <a:p>
            <a:fld id="{744F02D9-3828-4130-AE76-8162A3F5D00A}" type="datetimeFigureOut">
              <a:rPr lang="pt-BR" smtClean="0"/>
              <a:t>29/10/2025</a:t>
            </a:fld>
            <a:endParaRPr lang="pt-BR"/>
          </a:p>
        </p:txBody>
      </p:sp>
      <p:sp>
        <p:nvSpPr>
          <p:cNvPr id="5" name="Espaço Reservado para Rodapé 4"/>
          <p:cNvSpPr>
            <a:spLocks noGrp="1"/>
          </p:cNvSpPr>
          <p:nvPr>
            <p:ph type="ftr" sz="quarter" idx="11"/>
          </p:nvPr>
        </p:nvSpPr>
        <p:spPr/>
        <p:txBody>
          <a:bodyPr/>
          <a:lstStyle/>
          <a:p>
            <a:endParaRPr lang="pt-BR"/>
          </a:p>
        </p:txBody>
      </p:sp>
      <p:sp>
        <p:nvSpPr>
          <p:cNvPr id="6" name="Espaço Reservado para Número de Slide 5"/>
          <p:cNvSpPr>
            <a:spLocks noGrp="1"/>
          </p:cNvSpPr>
          <p:nvPr>
            <p:ph type="sldNum" sz="quarter" idx="12"/>
          </p:nvPr>
        </p:nvSpPr>
        <p:spPr/>
        <p:txBody>
          <a:bodyPr/>
          <a:lstStyle/>
          <a:p>
            <a:fld id="{A86666DF-FB0F-4A12-8C64-2F83CF2DF63F}" type="slidenum">
              <a:rPr lang="pt-BR" smtClean="0"/>
              <a:t>‹nº›</a:t>
            </a:fld>
            <a:endParaRPr lang="pt-BR"/>
          </a:p>
        </p:txBody>
      </p:sp>
    </p:spTree>
    <p:extLst>
      <p:ext uri="{BB962C8B-B14F-4D97-AF65-F5344CB8AC3E}">
        <p14:creationId xmlns:p14="http://schemas.microsoft.com/office/powerpoint/2010/main" val="328226022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e texto verticais">
    <p:spTree>
      <p:nvGrpSpPr>
        <p:cNvPr id="1" name=""/>
        <p:cNvGrpSpPr/>
        <p:nvPr/>
      </p:nvGrpSpPr>
      <p:grpSpPr>
        <a:xfrm>
          <a:off x="0" y="0"/>
          <a:ext cx="0" cy="0"/>
          <a:chOff x="0" y="0"/>
          <a:chExt cx="0" cy="0"/>
        </a:xfrm>
      </p:grpSpPr>
      <p:sp>
        <p:nvSpPr>
          <p:cNvPr id="2" name="Título Vertical 1"/>
          <p:cNvSpPr>
            <a:spLocks noGrp="1"/>
          </p:cNvSpPr>
          <p:nvPr>
            <p:ph type="title" orient="vert"/>
          </p:nvPr>
        </p:nvSpPr>
        <p:spPr>
          <a:xfrm>
            <a:off x="8724900" y="365125"/>
            <a:ext cx="2628900" cy="5811838"/>
          </a:xfrm>
        </p:spPr>
        <p:txBody>
          <a:bodyPr vert="eaVert"/>
          <a:lstStyle/>
          <a:p>
            <a:r>
              <a:rPr lang="pt-BR" smtClean="0"/>
              <a:t>Clique para editar o título mestre</a:t>
            </a:r>
            <a:endParaRPr lang="pt-BR"/>
          </a:p>
        </p:txBody>
      </p:sp>
      <p:sp>
        <p:nvSpPr>
          <p:cNvPr id="3" name="Espaço Reservado para Texto Vertical 2"/>
          <p:cNvSpPr>
            <a:spLocks noGrp="1"/>
          </p:cNvSpPr>
          <p:nvPr>
            <p:ph type="body" orient="vert" idx="1"/>
          </p:nvPr>
        </p:nvSpPr>
        <p:spPr>
          <a:xfrm>
            <a:off x="838200" y="365125"/>
            <a:ext cx="7734300" cy="5811838"/>
          </a:xfrm>
        </p:spPr>
        <p:txBody>
          <a:bodyPr vert="eaVert"/>
          <a:lstStyle/>
          <a:p>
            <a:pPr lvl="0"/>
            <a:r>
              <a:rPr lang="pt-BR" smtClean="0"/>
              <a:t>Clique para editar o texto mestre</a:t>
            </a:r>
          </a:p>
          <a:p>
            <a:pPr lvl="1"/>
            <a:r>
              <a:rPr lang="pt-BR" smtClean="0"/>
              <a:t>Segundo nível</a:t>
            </a:r>
          </a:p>
          <a:p>
            <a:pPr lvl="2"/>
            <a:r>
              <a:rPr lang="pt-BR" smtClean="0"/>
              <a:t>Terceiro nível</a:t>
            </a:r>
          </a:p>
          <a:p>
            <a:pPr lvl="3"/>
            <a:r>
              <a:rPr lang="pt-BR" smtClean="0"/>
              <a:t>Quarto nível</a:t>
            </a:r>
          </a:p>
          <a:p>
            <a:pPr lvl="4"/>
            <a:r>
              <a:rPr lang="pt-BR" smtClean="0"/>
              <a:t>Quinto nível</a:t>
            </a:r>
            <a:endParaRPr lang="pt-BR"/>
          </a:p>
        </p:txBody>
      </p:sp>
      <p:sp>
        <p:nvSpPr>
          <p:cNvPr id="4" name="Espaço Reservado para Data 3"/>
          <p:cNvSpPr>
            <a:spLocks noGrp="1"/>
          </p:cNvSpPr>
          <p:nvPr>
            <p:ph type="dt" sz="half" idx="10"/>
          </p:nvPr>
        </p:nvSpPr>
        <p:spPr/>
        <p:txBody>
          <a:bodyPr/>
          <a:lstStyle/>
          <a:p>
            <a:fld id="{744F02D9-3828-4130-AE76-8162A3F5D00A}" type="datetimeFigureOut">
              <a:rPr lang="pt-BR" smtClean="0"/>
              <a:t>29/10/2025</a:t>
            </a:fld>
            <a:endParaRPr lang="pt-BR"/>
          </a:p>
        </p:txBody>
      </p:sp>
      <p:sp>
        <p:nvSpPr>
          <p:cNvPr id="5" name="Espaço Reservado para Rodapé 4"/>
          <p:cNvSpPr>
            <a:spLocks noGrp="1"/>
          </p:cNvSpPr>
          <p:nvPr>
            <p:ph type="ftr" sz="quarter" idx="11"/>
          </p:nvPr>
        </p:nvSpPr>
        <p:spPr/>
        <p:txBody>
          <a:bodyPr/>
          <a:lstStyle/>
          <a:p>
            <a:endParaRPr lang="pt-BR"/>
          </a:p>
        </p:txBody>
      </p:sp>
      <p:sp>
        <p:nvSpPr>
          <p:cNvPr id="6" name="Espaço Reservado para Número de Slide 5"/>
          <p:cNvSpPr>
            <a:spLocks noGrp="1"/>
          </p:cNvSpPr>
          <p:nvPr>
            <p:ph type="sldNum" sz="quarter" idx="12"/>
          </p:nvPr>
        </p:nvSpPr>
        <p:spPr/>
        <p:txBody>
          <a:bodyPr/>
          <a:lstStyle/>
          <a:p>
            <a:fld id="{A86666DF-FB0F-4A12-8C64-2F83CF2DF63F}" type="slidenum">
              <a:rPr lang="pt-BR" smtClean="0"/>
              <a:t>‹nº›</a:t>
            </a:fld>
            <a:endParaRPr lang="pt-BR"/>
          </a:p>
        </p:txBody>
      </p:sp>
    </p:spTree>
    <p:extLst>
      <p:ext uri="{BB962C8B-B14F-4D97-AF65-F5344CB8AC3E}">
        <p14:creationId xmlns:p14="http://schemas.microsoft.com/office/powerpoint/2010/main" val="8835376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ço Reservado para Título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pt-BR" smtClean="0"/>
              <a:t>Clique para editar o título mestre</a:t>
            </a:r>
            <a:endParaRPr lang="pt-BR"/>
          </a:p>
        </p:txBody>
      </p:sp>
      <p:sp>
        <p:nvSpPr>
          <p:cNvPr id="3" name="Espaço Reservado para Texto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pt-BR" smtClean="0"/>
              <a:t>Clique para editar o texto mestre</a:t>
            </a:r>
          </a:p>
          <a:p>
            <a:pPr lvl="1"/>
            <a:r>
              <a:rPr lang="pt-BR" smtClean="0"/>
              <a:t>Segundo nível</a:t>
            </a:r>
          </a:p>
          <a:p>
            <a:pPr lvl="2"/>
            <a:r>
              <a:rPr lang="pt-BR" smtClean="0"/>
              <a:t>Terceiro nível</a:t>
            </a:r>
          </a:p>
          <a:p>
            <a:pPr lvl="3"/>
            <a:r>
              <a:rPr lang="pt-BR" smtClean="0"/>
              <a:t>Quarto nível</a:t>
            </a:r>
          </a:p>
          <a:p>
            <a:pPr lvl="4"/>
            <a:r>
              <a:rPr lang="pt-BR" smtClean="0"/>
              <a:t>Quinto nível</a:t>
            </a:r>
            <a:endParaRPr lang="pt-BR"/>
          </a:p>
        </p:txBody>
      </p:sp>
      <p:sp>
        <p:nvSpPr>
          <p:cNvPr id="4" name="Espaço Reservado para Data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44F02D9-3828-4130-AE76-8162A3F5D00A}" type="datetimeFigureOut">
              <a:rPr lang="pt-BR" smtClean="0"/>
              <a:t>29/10/2025</a:t>
            </a:fld>
            <a:endParaRPr lang="pt-BR"/>
          </a:p>
        </p:txBody>
      </p:sp>
      <p:sp>
        <p:nvSpPr>
          <p:cNvPr id="5" name="Espaço Reservado para Rodapé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pt-BR"/>
          </a:p>
        </p:txBody>
      </p:sp>
      <p:sp>
        <p:nvSpPr>
          <p:cNvPr id="6" name="Espaço Reservado para Número de Slide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86666DF-FB0F-4A12-8C64-2F83CF2DF63F}" type="slidenum">
              <a:rPr lang="pt-BR" smtClean="0"/>
              <a:t>‹nº›</a:t>
            </a:fld>
            <a:endParaRPr lang="pt-BR"/>
          </a:p>
        </p:txBody>
      </p:sp>
    </p:spTree>
    <p:extLst>
      <p:ext uri="{BB962C8B-B14F-4D97-AF65-F5344CB8AC3E}">
        <p14:creationId xmlns:p14="http://schemas.microsoft.com/office/powerpoint/2010/main" val="195899163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pt-B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hemeOverride" Target="../theme/themeOverride1.xml"/></Relationships>
</file>

<file path=ppt/slides/_rels/slide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hemeOverride" Target="../theme/themeOverride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4130" name="Espaço Reservado para Número de Slide 5"/>
          <p:cNvSpPr>
            <a:spLocks noGrp="1"/>
          </p:cNvSpPr>
          <p:nvPr>
            <p:ph type="sldNum"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90BC88C9-6A3B-4CBD-9E97-ED0EED65C404}" type="slidenum">
              <a:rPr lang="pt-PT" altLang="pt-BR" sz="1400"/>
              <a:pPr>
                <a:spcBef>
                  <a:spcPct val="0"/>
                </a:spcBef>
                <a:buFontTx/>
                <a:buNone/>
              </a:pPr>
              <a:t>1</a:t>
            </a:fld>
            <a:endParaRPr lang="pt-PT" altLang="pt-BR" sz="1400"/>
          </a:p>
        </p:txBody>
      </p:sp>
      <p:sp>
        <p:nvSpPr>
          <p:cNvPr id="304131" name="Rectangle 2"/>
          <p:cNvSpPr>
            <a:spLocks noGrp="1" noChangeArrowheads="1"/>
          </p:cNvSpPr>
          <p:nvPr>
            <p:ph type="ctrTitle"/>
          </p:nvPr>
        </p:nvSpPr>
        <p:spPr>
          <a:xfrm>
            <a:off x="1524001" y="1"/>
            <a:ext cx="9217025" cy="836613"/>
          </a:xfrm>
        </p:spPr>
        <p:txBody>
          <a:bodyPr anchor="ctr"/>
          <a:lstStyle/>
          <a:p>
            <a:pPr eaLnBrk="1" hangingPunct="1"/>
            <a:r>
              <a:rPr lang="pt-BR" altLang="pt-BR" sz="3600"/>
              <a:t>Modelagem de sistemas</a:t>
            </a:r>
            <a:endParaRPr lang="pt-PT" altLang="pt-BR" sz="3600"/>
          </a:p>
        </p:txBody>
      </p:sp>
      <p:sp>
        <p:nvSpPr>
          <p:cNvPr id="304132" name="Rectangle 3"/>
          <p:cNvSpPr>
            <a:spLocks noGrp="1" noChangeArrowheads="1"/>
          </p:cNvSpPr>
          <p:nvPr>
            <p:ph type="subTitle" idx="1"/>
          </p:nvPr>
        </p:nvSpPr>
        <p:spPr>
          <a:xfrm>
            <a:off x="112143" y="759125"/>
            <a:ext cx="11930332" cy="6197302"/>
          </a:xfrm>
        </p:spPr>
        <p:txBody>
          <a:bodyPr/>
          <a:lstStyle/>
          <a:p>
            <a:pPr algn="just" eaLnBrk="1" hangingPunct="1">
              <a:spcBef>
                <a:spcPct val="0"/>
              </a:spcBef>
            </a:pPr>
            <a:r>
              <a:rPr lang="pt-BR" altLang="pt-BR" dirty="0" smtClean="0"/>
              <a:t>Objetivos:</a:t>
            </a:r>
          </a:p>
          <a:p>
            <a:pPr algn="just" eaLnBrk="1" hangingPunct="1">
              <a:spcBef>
                <a:spcPct val="0"/>
              </a:spcBef>
            </a:pPr>
            <a:r>
              <a:rPr lang="pt-BR" altLang="pt-BR" dirty="0" smtClean="0"/>
              <a:t>Compreender como os modelos gráficos podem ser usados para representar sistemas de software;</a:t>
            </a:r>
          </a:p>
          <a:p>
            <a:pPr algn="just" eaLnBrk="1" hangingPunct="1">
              <a:spcBef>
                <a:spcPct val="0"/>
              </a:spcBef>
            </a:pPr>
            <a:endParaRPr lang="pt-BR" altLang="pt-BR" dirty="0" smtClean="0"/>
          </a:p>
          <a:p>
            <a:pPr algn="just" eaLnBrk="1" hangingPunct="1">
              <a:spcBef>
                <a:spcPct val="0"/>
              </a:spcBef>
            </a:pPr>
            <a:r>
              <a:rPr lang="pt-BR" altLang="pt-BR" dirty="0" smtClean="0"/>
              <a:t>Compreender por que diferentes tipos de modelo são necessários e as perspectivas fundamentais de modelagem de sistema de contexto, interação, estrutura e comportamento;</a:t>
            </a:r>
          </a:p>
          <a:p>
            <a:pPr algn="just" eaLnBrk="1" hangingPunct="1">
              <a:spcBef>
                <a:spcPct val="0"/>
              </a:spcBef>
            </a:pPr>
            <a:endParaRPr lang="pt-BR" altLang="pt-BR" dirty="0" smtClean="0"/>
          </a:p>
          <a:p>
            <a:pPr algn="just" eaLnBrk="1" hangingPunct="1">
              <a:spcBef>
                <a:spcPct val="0"/>
              </a:spcBef>
            </a:pPr>
            <a:r>
              <a:rPr lang="pt-BR" altLang="pt-BR" dirty="0" smtClean="0"/>
              <a:t>Conhecer alguns dos tipos de diagramas da </a:t>
            </a:r>
            <a:r>
              <a:rPr lang="pt-BR" altLang="pt-BR" dirty="0" err="1" smtClean="0"/>
              <a:t>Unified</a:t>
            </a:r>
            <a:r>
              <a:rPr lang="pt-BR" altLang="pt-BR" dirty="0" smtClean="0"/>
              <a:t> </a:t>
            </a:r>
            <a:r>
              <a:rPr lang="pt-BR" altLang="pt-BR" dirty="0" err="1" smtClean="0"/>
              <a:t>Modeling</a:t>
            </a:r>
            <a:r>
              <a:rPr lang="pt-BR" altLang="pt-BR" dirty="0" smtClean="0"/>
              <a:t> </a:t>
            </a:r>
            <a:r>
              <a:rPr lang="pt-BR" altLang="pt-BR" dirty="0" err="1" smtClean="0"/>
              <a:t>Language</a:t>
            </a:r>
            <a:r>
              <a:rPr lang="pt-BR" altLang="pt-BR" dirty="0" smtClean="0"/>
              <a:t> (UML), e como eles podem ser usados na modelagem de sistema; </a:t>
            </a:r>
          </a:p>
          <a:p>
            <a:pPr algn="just" eaLnBrk="1" hangingPunct="1">
              <a:spcBef>
                <a:spcPct val="0"/>
              </a:spcBef>
            </a:pPr>
            <a:endParaRPr lang="pt-BR" altLang="pt-BR" dirty="0" smtClean="0"/>
          </a:p>
          <a:p>
            <a:pPr algn="just" eaLnBrk="1" hangingPunct="1">
              <a:spcBef>
                <a:spcPct val="0"/>
              </a:spcBef>
            </a:pPr>
            <a:r>
              <a:rPr lang="pt-BR" altLang="pt-BR" dirty="0" smtClean="0"/>
              <a:t>Estar ciente das ideias subjacentes à engenharia dirigida a modelos, com a qual um sistema é gerado automaticamente a partir de modelos estruturais e comportamentais</a:t>
            </a:r>
          </a:p>
          <a:p>
            <a:pPr algn="just" eaLnBrk="1" hangingPunct="1">
              <a:spcBef>
                <a:spcPct val="0"/>
              </a:spcBef>
            </a:pPr>
            <a:endParaRPr lang="pt-BR" altLang="pt-BR" dirty="0" smtClean="0"/>
          </a:p>
        </p:txBody>
      </p:sp>
      <p:sp>
        <p:nvSpPr>
          <p:cNvPr id="304133" name="Retângulo 1"/>
          <p:cNvSpPr>
            <a:spLocks noChangeArrowheads="1"/>
          </p:cNvSpPr>
          <p:nvPr/>
        </p:nvSpPr>
        <p:spPr bwMode="auto">
          <a:xfrm>
            <a:off x="-1212850" y="3030539"/>
            <a:ext cx="339725"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just" eaLnBrk="1" hangingPunct="1">
              <a:spcBef>
                <a:spcPct val="0"/>
              </a:spcBef>
              <a:buFontTx/>
              <a:buNone/>
            </a:pPr>
            <a:r>
              <a:rPr lang="pt-BR" altLang="pt-BR" sz="2400"/>
              <a:t>. </a:t>
            </a:r>
          </a:p>
        </p:txBody>
      </p:sp>
    </p:spTree>
    <p:extLst>
      <p:ext uri="{BB962C8B-B14F-4D97-AF65-F5344CB8AC3E}">
        <p14:creationId xmlns:p14="http://schemas.microsoft.com/office/powerpoint/2010/main" val="1858104980"/>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5154" name="Espaço Reservado para Número de Slide 5"/>
          <p:cNvSpPr>
            <a:spLocks noGrp="1"/>
          </p:cNvSpPr>
          <p:nvPr>
            <p:ph type="sldNum"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E645BF7F-B4E3-4626-B15F-28897BAC3E45}" type="slidenum">
              <a:rPr lang="pt-PT" altLang="pt-BR" sz="1400"/>
              <a:pPr>
                <a:spcBef>
                  <a:spcPct val="0"/>
                </a:spcBef>
                <a:buFontTx/>
                <a:buNone/>
              </a:pPr>
              <a:t>2</a:t>
            </a:fld>
            <a:endParaRPr lang="pt-PT" altLang="pt-BR" sz="1400"/>
          </a:p>
        </p:txBody>
      </p:sp>
      <p:sp>
        <p:nvSpPr>
          <p:cNvPr id="305155" name="Rectangle 2"/>
          <p:cNvSpPr>
            <a:spLocks noGrp="1" noChangeArrowheads="1"/>
          </p:cNvSpPr>
          <p:nvPr>
            <p:ph type="ctrTitle"/>
          </p:nvPr>
        </p:nvSpPr>
        <p:spPr>
          <a:xfrm>
            <a:off x="1524001" y="1"/>
            <a:ext cx="9217025" cy="836613"/>
          </a:xfrm>
        </p:spPr>
        <p:txBody>
          <a:bodyPr anchor="ctr"/>
          <a:lstStyle/>
          <a:p>
            <a:pPr eaLnBrk="1" hangingPunct="1"/>
            <a:r>
              <a:rPr lang="pt-BR" altLang="pt-BR" sz="3600"/>
              <a:t>Modelagem de sistemas</a:t>
            </a:r>
            <a:endParaRPr lang="pt-PT" altLang="pt-BR" sz="3600"/>
          </a:p>
        </p:txBody>
      </p:sp>
      <p:sp>
        <p:nvSpPr>
          <p:cNvPr id="305156" name="Rectangle 3"/>
          <p:cNvSpPr>
            <a:spLocks noGrp="1" noChangeArrowheads="1"/>
          </p:cNvSpPr>
          <p:nvPr>
            <p:ph type="subTitle" idx="1"/>
          </p:nvPr>
        </p:nvSpPr>
        <p:spPr>
          <a:xfrm>
            <a:off x="86264" y="836614"/>
            <a:ext cx="12042476" cy="6024773"/>
          </a:xfrm>
        </p:spPr>
        <p:txBody>
          <a:bodyPr/>
          <a:lstStyle/>
          <a:p>
            <a:pPr algn="just" eaLnBrk="1" hangingPunct="1">
              <a:spcBef>
                <a:spcPct val="0"/>
              </a:spcBef>
            </a:pPr>
            <a:r>
              <a:rPr lang="pt-BR" altLang="pt-BR" dirty="0" smtClean="0"/>
              <a:t>Processo de desenvolvimento de modelos abstratos de um sistema</a:t>
            </a:r>
          </a:p>
          <a:p>
            <a:pPr algn="just" eaLnBrk="1" hangingPunct="1">
              <a:spcBef>
                <a:spcPct val="0"/>
              </a:spcBef>
            </a:pPr>
            <a:endParaRPr lang="pt-BR" altLang="pt-BR" dirty="0" smtClean="0"/>
          </a:p>
          <a:p>
            <a:pPr algn="just" eaLnBrk="1" hangingPunct="1">
              <a:spcBef>
                <a:spcPct val="0"/>
              </a:spcBef>
            </a:pPr>
            <a:r>
              <a:rPr lang="pt-BR" altLang="pt-BR" dirty="0" smtClean="0"/>
              <a:t>Cada modelo apresenta uma visão ou perspectiva do sistema.</a:t>
            </a:r>
          </a:p>
          <a:p>
            <a:pPr algn="just" eaLnBrk="1" hangingPunct="1">
              <a:spcBef>
                <a:spcPct val="0"/>
              </a:spcBef>
            </a:pPr>
            <a:endParaRPr lang="pt-BR" altLang="pt-BR" dirty="0" smtClean="0"/>
          </a:p>
          <a:p>
            <a:pPr algn="just" eaLnBrk="1" hangingPunct="1">
              <a:spcBef>
                <a:spcPct val="0"/>
              </a:spcBef>
            </a:pPr>
            <a:r>
              <a:rPr lang="pt-BR" altLang="pt-BR" dirty="0" smtClean="0"/>
              <a:t>Representa o sistema com algum tipo de notação gráfica: notações de UML (linguagem de modelagem unificada). </a:t>
            </a:r>
          </a:p>
          <a:p>
            <a:pPr algn="just" eaLnBrk="1" hangingPunct="1">
              <a:spcBef>
                <a:spcPct val="0"/>
              </a:spcBef>
            </a:pPr>
            <a:endParaRPr lang="pt-BR" altLang="pt-BR" dirty="0" smtClean="0"/>
          </a:p>
          <a:p>
            <a:pPr algn="just" eaLnBrk="1" hangingPunct="1">
              <a:spcBef>
                <a:spcPct val="0"/>
              </a:spcBef>
            </a:pPr>
            <a:r>
              <a:rPr lang="pt-BR" altLang="pt-BR" dirty="0" smtClean="0"/>
              <a:t>Pode-se desenvolver modelos (matemáticos) formais de um sistema, normalmente como uma especificação detalhada do sistema. </a:t>
            </a:r>
          </a:p>
          <a:p>
            <a:pPr algn="just" eaLnBrk="1" hangingPunct="1">
              <a:spcBef>
                <a:spcPct val="0"/>
              </a:spcBef>
            </a:pPr>
            <a:endParaRPr lang="pt-BR" altLang="pt-BR" dirty="0" smtClean="0"/>
          </a:p>
          <a:p>
            <a:pPr algn="just">
              <a:spcBef>
                <a:spcPct val="0"/>
              </a:spcBef>
            </a:pPr>
            <a:r>
              <a:rPr lang="pt-BR" altLang="pt-BR" dirty="0" smtClean="0"/>
              <a:t>Modelos são usados:</a:t>
            </a:r>
          </a:p>
          <a:p>
            <a:pPr algn="just">
              <a:spcBef>
                <a:spcPct val="0"/>
              </a:spcBef>
            </a:pPr>
            <a:r>
              <a:rPr lang="pt-BR" altLang="pt-BR" dirty="0" smtClean="0"/>
              <a:t> </a:t>
            </a:r>
            <a:r>
              <a:rPr lang="pt-BR" altLang="pt-BR" dirty="0"/>
              <a:t>no processo de engenharia de requisitos: extrair os requisitos do </a:t>
            </a:r>
            <a:r>
              <a:rPr lang="pt-BR" altLang="pt-BR" dirty="0" smtClean="0"/>
              <a:t>sistema;</a:t>
            </a:r>
          </a:p>
          <a:p>
            <a:pPr algn="just">
              <a:spcBef>
                <a:spcPct val="0"/>
              </a:spcBef>
            </a:pPr>
            <a:r>
              <a:rPr lang="pt-BR" altLang="pt-BR" dirty="0" smtClean="0"/>
              <a:t>pa</a:t>
            </a:r>
            <a:r>
              <a:rPr lang="pt-BR" altLang="pt-BR" dirty="0" smtClean="0"/>
              <a:t>ra </a:t>
            </a:r>
            <a:r>
              <a:rPr lang="pt-BR" altLang="pt-BR" dirty="0"/>
              <a:t>descrever o sistema para os engenheiros que o </a:t>
            </a:r>
            <a:r>
              <a:rPr lang="pt-BR" altLang="pt-BR" dirty="0" smtClean="0"/>
              <a:t>implementam;</a:t>
            </a:r>
          </a:p>
          <a:p>
            <a:pPr algn="just">
              <a:spcBef>
                <a:spcPct val="0"/>
              </a:spcBef>
            </a:pPr>
            <a:r>
              <a:rPr lang="pt-BR" altLang="pt-BR" dirty="0" smtClean="0"/>
              <a:t>para </a:t>
            </a:r>
            <a:r>
              <a:rPr lang="pt-BR" altLang="pt-BR" dirty="0"/>
              <a:t>documentar a estrutura e a operação do sistema. </a:t>
            </a:r>
          </a:p>
          <a:p>
            <a:pPr algn="just" eaLnBrk="1" hangingPunct="1">
              <a:spcBef>
                <a:spcPct val="0"/>
              </a:spcBef>
            </a:pPr>
            <a:endParaRPr lang="pt-BR" altLang="pt-BR" dirty="0" smtClean="0"/>
          </a:p>
        </p:txBody>
      </p:sp>
      <p:sp>
        <p:nvSpPr>
          <p:cNvPr id="305157" name="Retângulo 1"/>
          <p:cNvSpPr>
            <a:spLocks noChangeArrowheads="1"/>
          </p:cNvSpPr>
          <p:nvPr/>
        </p:nvSpPr>
        <p:spPr bwMode="auto">
          <a:xfrm>
            <a:off x="-1212850" y="3030539"/>
            <a:ext cx="339725"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just" eaLnBrk="1" hangingPunct="1">
              <a:spcBef>
                <a:spcPct val="0"/>
              </a:spcBef>
              <a:buFontTx/>
              <a:buNone/>
            </a:pPr>
            <a:r>
              <a:rPr lang="pt-BR" altLang="pt-BR" sz="2400"/>
              <a:t>. </a:t>
            </a:r>
          </a:p>
        </p:txBody>
      </p:sp>
    </p:spTree>
    <p:extLst>
      <p:ext uri="{BB962C8B-B14F-4D97-AF65-F5344CB8AC3E}">
        <p14:creationId xmlns:p14="http://schemas.microsoft.com/office/powerpoint/2010/main" val="2097088216"/>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6178" name="Espaço Reservado para Número de Slide 5"/>
          <p:cNvSpPr>
            <a:spLocks noGrp="1"/>
          </p:cNvSpPr>
          <p:nvPr>
            <p:ph type="sldNum"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6AAA166A-2D0A-407B-8E5D-5CC8F2DE100C}" type="slidenum">
              <a:rPr lang="pt-PT" altLang="pt-BR" sz="1400"/>
              <a:pPr>
                <a:spcBef>
                  <a:spcPct val="0"/>
                </a:spcBef>
                <a:buFontTx/>
                <a:buNone/>
              </a:pPr>
              <a:t>3</a:t>
            </a:fld>
            <a:endParaRPr lang="pt-PT" altLang="pt-BR" sz="1400"/>
          </a:p>
        </p:txBody>
      </p:sp>
      <p:sp>
        <p:nvSpPr>
          <p:cNvPr id="306179" name="Rectangle 2"/>
          <p:cNvSpPr>
            <a:spLocks noGrp="1" noChangeArrowheads="1"/>
          </p:cNvSpPr>
          <p:nvPr>
            <p:ph type="ctrTitle"/>
          </p:nvPr>
        </p:nvSpPr>
        <p:spPr>
          <a:xfrm>
            <a:off x="1524001" y="1"/>
            <a:ext cx="9217025" cy="836613"/>
          </a:xfrm>
        </p:spPr>
        <p:txBody>
          <a:bodyPr anchor="ctr"/>
          <a:lstStyle/>
          <a:p>
            <a:pPr eaLnBrk="1" hangingPunct="1"/>
            <a:r>
              <a:rPr lang="pt-BR" altLang="pt-BR" sz="3600"/>
              <a:t>Modelos</a:t>
            </a:r>
            <a:endParaRPr lang="pt-PT" altLang="pt-BR" sz="3600"/>
          </a:p>
        </p:txBody>
      </p:sp>
      <p:sp>
        <p:nvSpPr>
          <p:cNvPr id="306180" name="Rectangle 3"/>
          <p:cNvSpPr>
            <a:spLocks noGrp="1" noChangeArrowheads="1"/>
          </p:cNvSpPr>
          <p:nvPr>
            <p:ph type="subTitle" idx="1"/>
          </p:nvPr>
        </p:nvSpPr>
        <p:spPr>
          <a:xfrm>
            <a:off x="120770" y="836615"/>
            <a:ext cx="12007970" cy="6119812"/>
          </a:xfrm>
        </p:spPr>
        <p:txBody>
          <a:bodyPr>
            <a:normAutofit/>
          </a:bodyPr>
          <a:lstStyle/>
          <a:p>
            <a:pPr algn="just" eaLnBrk="1" hangingPunct="1">
              <a:spcBef>
                <a:spcPct val="0"/>
              </a:spcBef>
            </a:pPr>
            <a:r>
              <a:rPr lang="pt-BR" altLang="pt-BR" dirty="0" smtClean="0"/>
              <a:t>1.Modelos do sistema existente: usados na engenharia de requisitos, esclarecendo o que o sistema existente faz. São pontos de partida para discutir pontos fortes e fracos. Levam requisitos para o novo sistema.</a:t>
            </a:r>
          </a:p>
          <a:p>
            <a:pPr algn="just" eaLnBrk="1" hangingPunct="1">
              <a:spcBef>
                <a:spcPct val="0"/>
              </a:spcBef>
            </a:pPr>
            <a:endParaRPr lang="pt-BR" altLang="pt-BR" dirty="0" smtClean="0"/>
          </a:p>
          <a:p>
            <a:pPr algn="just" eaLnBrk="1" hangingPunct="1">
              <a:spcBef>
                <a:spcPct val="0"/>
              </a:spcBef>
            </a:pPr>
            <a:r>
              <a:rPr lang="pt-BR" altLang="pt-BR" dirty="0" smtClean="0"/>
              <a:t>2. Modelos do novo sistema: usados durante a engenharia de requisitos para ajudar a explicar os requisitos propostos para outros </a:t>
            </a:r>
            <a:r>
              <a:rPr lang="pt-BR" altLang="pt-BR" dirty="0" err="1" smtClean="0"/>
              <a:t>stakeholders</a:t>
            </a:r>
            <a:r>
              <a:rPr lang="pt-BR" altLang="pt-BR" dirty="0" smtClean="0"/>
              <a:t>. Com esses modelos discutem-se propostas de projeto e documenta-se o sistema para a implementação. </a:t>
            </a:r>
          </a:p>
          <a:p>
            <a:pPr algn="just" eaLnBrk="1" hangingPunct="1">
              <a:spcBef>
                <a:spcPct val="0"/>
              </a:spcBef>
            </a:pPr>
            <a:endParaRPr lang="pt-BR" altLang="pt-BR" dirty="0" smtClean="0"/>
          </a:p>
          <a:p>
            <a:pPr algn="just" eaLnBrk="1" hangingPunct="1">
              <a:spcBef>
                <a:spcPct val="0"/>
              </a:spcBef>
            </a:pPr>
            <a:r>
              <a:rPr lang="pt-BR" altLang="pt-BR" dirty="0" smtClean="0"/>
              <a:t>No Processo de engenharia dirigida a modelos: gera-se implementação completa ou parcial do sistema a partir do modelo de sistema. </a:t>
            </a:r>
          </a:p>
          <a:p>
            <a:pPr algn="just">
              <a:spcBef>
                <a:spcPct val="0"/>
              </a:spcBef>
            </a:pPr>
            <a:endParaRPr lang="pt-BR" altLang="pt-BR" dirty="0" smtClean="0"/>
          </a:p>
          <a:p>
            <a:pPr algn="just">
              <a:spcBef>
                <a:spcPct val="0"/>
              </a:spcBef>
            </a:pPr>
            <a:r>
              <a:rPr lang="pt-BR" altLang="pt-BR" dirty="0" smtClean="0"/>
              <a:t>Deixa </a:t>
            </a:r>
            <a:r>
              <a:rPr lang="pt-BR" altLang="pt-BR" dirty="0"/>
              <a:t>de fora os </a:t>
            </a:r>
            <a:r>
              <a:rPr lang="pt-BR" altLang="pt-BR" dirty="0" smtClean="0"/>
              <a:t>detalhes: abstração </a:t>
            </a:r>
            <a:r>
              <a:rPr lang="pt-BR" altLang="pt-BR" dirty="0"/>
              <a:t>do sistema a ser estudado, e não uma representação </a:t>
            </a:r>
            <a:r>
              <a:rPr lang="pt-BR" altLang="pt-BR" dirty="0" smtClean="0"/>
              <a:t>alternativa: Abstração </a:t>
            </a:r>
            <a:r>
              <a:rPr lang="pt-BR" altLang="pt-BR" dirty="0"/>
              <a:t>simplifica e seleciona as características mais salientes. </a:t>
            </a:r>
          </a:p>
          <a:p>
            <a:pPr algn="just">
              <a:spcBef>
                <a:spcPct val="0"/>
              </a:spcBef>
            </a:pPr>
            <a:endParaRPr lang="pt-BR" altLang="pt-BR" dirty="0"/>
          </a:p>
          <a:p>
            <a:pPr algn="just" eaLnBrk="1" hangingPunct="1">
              <a:spcBef>
                <a:spcPct val="0"/>
              </a:spcBef>
            </a:pPr>
            <a:endParaRPr lang="pt-BR" altLang="pt-BR" dirty="0" smtClean="0"/>
          </a:p>
        </p:txBody>
      </p:sp>
      <p:sp>
        <p:nvSpPr>
          <p:cNvPr id="306181" name="Retângulo 1"/>
          <p:cNvSpPr>
            <a:spLocks noChangeArrowheads="1"/>
          </p:cNvSpPr>
          <p:nvPr/>
        </p:nvSpPr>
        <p:spPr bwMode="auto">
          <a:xfrm>
            <a:off x="-1212850" y="3030539"/>
            <a:ext cx="339725"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just" eaLnBrk="1" hangingPunct="1">
              <a:spcBef>
                <a:spcPct val="0"/>
              </a:spcBef>
              <a:buFontTx/>
              <a:buNone/>
            </a:pPr>
            <a:r>
              <a:rPr lang="pt-BR" altLang="pt-BR" sz="2400"/>
              <a:t>. </a:t>
            </a:r>
          </a:p>
        </p:txBody>
      </p:sp>
    </p:spTree>
    <p:extLst>
      <p:ext uri="{BB962C8B-B14F-4D97-AF65-F5344CB8AC3E}">
        <p14:creationId xmlns:p14="http://schemas.microsoft.com/office/powerpoint/2010/main" val="3636558896"/>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8226" name="Espaço Reservado para Número de Slide 5"/>
          <p:cNvSpPr>
            <a:spLocks noGrp="1"/>
          </p:cNvSpPr>
          <p:nvPr>
            <p:ph type="sldNum"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F98F0A9B-1AA1-493A-978A-54DD37E837CC}" type="slidenum">
              <a:rPr lang="pt-PT" altLang="pt-BR" sz="1400"/>
              <a:pPr>
                <a:spcBef>
                  <a:spcPct val="0"/>
                </a:spcBef>
                <a:buFontTx/>
                <a:buNone/>
              </a:pPr>
              <a:t>4</a:t>
            </a:fld>
            <a:endParaRPr lang="pt-PT" altLang="pt-BR" sz="1400"/>
          </a:p>
        </p:txBody>
      </p:sp>
      <p:sp>
        <p:nvSpPr>
          <p:cNvPr id="308227" name="Rectangle 2"/>
          <p:cNvSpPr>
            <a:spLocks noGrp="1" noChangeArrowheads="1"/>
          </p:cNvSpPr>
          <p:nvPr>
            <p:ph type="ctrTitle"/>
          </p:nvPr>
        </p:nvSpPr>
        <p:spPr>
          <a:xfrm>
            <a:off x="1524001" y="1"/>
            <a:ext cx="9217025" cy="836613"/>
          </a:xfrm>
        </p:spPr>
        <p:txBody>
          <a:bodyPr anchor="ctr"/>
          <a:lstStyle/>
          <a:p>
            <a:pPr eaLnBrk="1" hangingPunct="1"/>
            <a:r>
              <a:rPr lang="pt-BR" altLang="pt-BR" sz="3600"/>
              <a:t>Modelos</a:t>
            </a:r>
            <a:endParaRPr lang="pt-PT" altLang="pt-BR" sz="3600"/>
          </a:p>
        </p:txBody>
      </p:sp>
      <p:sp>
        <p:nvSpPr>
          <p:cNvPr id="308228" name="Rectangle 3"/>
          <p:cNvSpPr>
            <a:spLocks noGrp="1" noChangeArrowheads="1"/>
          </p:cNvSpPr>
          <p:nvPr>
            <p:ph type="subTitle" idx="1"/>
          </p:nvPr>
        </p:nvSpPr>
        <p:spPr>
          <a:xfrm>
            <a:off x="172528" y="836614"/>
            <a:ext cx="11895827" cy="6119813"/>
          </a:xfrm>
        </p:spPr>
        <p:txBody>
          <a:bodyPr/>
          <a:lstStyle/>
          <a:p>
            <a:pPr algn="just" eaLnBrk="1" hangingPunct="1">
              <a:spcBef>
                <a:spcPct val="0"/>
              </a:spcBef>
            </a:pPr>
            <a:r>
              <a:rPr lang="pt-BR" altLang="pt-BR" dirty="0"/>
              <a:t>D</a:t>
            </a:r>
            <a:r>
              <a:rPr lang="pt-BR" altLang="pt-BR" dirty="0" smtClean="0"/>
              <a:t>esenvolvem-se diversos modelos para representar o sistema</a:t>
            </a:r>
            <a:r>
              <a:rPr lang="pt-BR" altLang="pt-BR" dirty="0"/>
              <a:t> </a:t>
            </a:r>
            <a:r>
              <a:rPr lang="pt-BR" altLang="pt-BR" dirty="0" smtClean="0"/>
              <a:t>– Perspectivas:</a:t>
            </a:r>
          </a:p>
          <a:p>
            <a:pPr algn="just" eaLnBrk="1" hangingPunct="1">
              <a:spcBef>
                <a:spcPct val="0"/>
              </a:spcBef>
            </a:pPr>
            <a:endParaRPr lang="pt-BR" altLang="pt-BR" dirty="0" smtClean="0"/>
          </a:p>
          <a:p>
            <a:pPr algn="just" eaLnBrk="1" hangingPunct="1">
              <a:spcBef>
                <a:spcPct val="0"/>
              </a:spcBef>
            </a:pPr>
            <a:r>
              <a:rPr lang="pt-BR" altLang="pt-BR" dirty="0" smtClean="0"/>
              <a:t>1.Externa: modela-se o contexto ou o ambiente do sistema. </a:t>
            </a:r>
          </a:p>
          <a:p>
            <a:pPr algn="just" eaLnBrk="1" hangingPunct="1">
              <a:spcBef>
                <a:spcPct val="0"/>
              </a:spcBef>
            </a:pPr>
            <a:r>
              <a:rPr lang="pt-BR" altLang="pt-BR" dirty="0" smtClean="0"/>
              <a:t>2.Interação: modelam-se as interações entre um sistema e seu ambiente, ou entre os componentes de um sistema.</a:t>
            </a:r>
          </a:p>
          <a:p>
            <a:pPr algn="just" eaLnBrk="1" hangingPunct="1">
              <a:spcBef>
                <a:spcPct val="0"/>
              </a:spcBef>
            </a:pPr>
            <a:r>
              <a:rPr lang="pt-BR" altLang="pt-BR" dirty="0" smtClean="0"/>
              <a:t>3. </a:t>
            </a:r>
            <a:r>
              <a:rPr lang="pt-BR" altLang="pt-BR" dirty="0"/>
              <a:t>E</a:t>
            </a:r>
            <a:r>
              <a:rPr lang="pt-BR" altLang="pt-BR" dirty="0" smtClean="0"/>
              <a:t>strutural: modela-se a organização de um sistema ou a estrutura dos dados processados pelo sistema.</a:t>
            </a:r>
          </a:p>
          <a:p>
            <a:pPr algn="just" eaLnBrk="1" hangingPunct="1">
              <a:spcBef>
                <a:spcPct val="0"/>
              </a:spcBef>
            </a:pPr>
            <a:r>
              <a:rPr lang="pt-BR" altLang="pt-BR" dirty="0" smtClean="0"/>
              <a:t>4. </a:t>
            </a:r>
            <a:r>
              <a:rPr lang="pt-BR" altLang="pt-BR" dirty="0"/>
              <a:t>C</a:t>
            </a:r>
            <a:r>
              <a:rPr lang="pt-BR" altLang="pt-BR" dirty="0" smtClean="0"/>
              <a:t>omportamental: modela-se o comportamento dinâmico do sistema e como ele reage aos eventos.</a:t>
            </a:r>
          </a:p>
        </p:txBody>
      </p:sp>
      <p:sp>
        <p:nvSpPr>
          <p:cNvPr id="308229" name="Retângulo 1"/>
          <p:cNvSpPr>
            <a:spLocks noChangeArrowheads="1"/>
          </p:cNvSpPr>
          <p:nvPr/>
        </p:nvSpPr>
        <p:spPr bwMode="auto">
          <a:xfrm>
            <a:off x="-1212850" y="3030539"/>
            <a:ext cx="339725"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just" eaLnBrk="1" hangingPunct="1">
              <a:spcBef>
                <a:spcPct val="0"/>
              </a:spcBef>
              <a:buFontTx/>
              <a:buNone/>
            </a:pPr>
            <a:r>
              <a:rPr lang="pt-BR" altLang="pt-BR" sz="2400"/>
              <a:t>. </a:t>
            </a:r>
          </a:p>
        </p:txBody>
      </p:sp>
    </p:spTree>
    <p:extLst>
      <p:ext uri="{BB962C8B-B14F-4D97-AF65-F5344CB8AC3E}">
        <p14:creationId xmlns:p14="http://schemas.microsoft.com/office/powerpoint/2010/main" val="1103299678"/>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9250" name="Espaço Reservado para Número de Slide 5"/>
          <p:cNvSpPr>
            <a:spLocks noGrp="1"/>
          </p:cNvSpPr>
          <p:nvPr>
            <p:ph type="sldNum"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77C7208C-6D31-4B75-8004-D7A1B1EA872E}" type="slidenum">
              <a:rPr lang="pt-PT" altLang="pt-BR" sz="1400"/>
              <a:pPr>
                <a:spcBef>
                  <a:spcPct val="0"/>
                </a:spcBef>
                <a:buFontTx/>
                <a:buNone/>
              </a:pPr>
              <a:t>5</a:t>
            </a:fld>
            <a:endParaRPr lang="pt-PT" altLang="pt-BR" sz="1400"/>
          </a:p>
        </p:txBody>
      </p:sp>
      <p:sp>
        <p:nvSpPr>
          <p:cNvPr id="309251" name="Rectangle 2"/>
          <p:cNvSpPr>
            <a:spLocks noGrp="1" noChangeArrowheads="1"/>
          </p:cNvSpPr>
          <p:nvPr>
            <p:ph type="ctrTitle"/>
          </p:nvPr>
        </p:nvSpPr>
        <p:spPr>
          <a:xfrm>
            <a:off x="1524001" y="1"/>
            <a:ext cx="9217025" cy="836613"/>
          </a:xfrm>
        </p:spPr>
        <p:txBody>
          <a:bodyPr anchor="ctr"/>
          <a:lstStyle/>
          <a:p>
            <a:pPr eaLnBrk="1" hangingPunct="1"/>
            <a:r>
              <a:rPr lang="pt-BR" altLang="pt-BR" sz="3600"/>
              <a:t>UML</a:t>
            </a:r>
            <a:endParaRPr lang="pt-PT" altLang="pt-BR" sz="3600"/>
          </a:p>
        </p:txBody>
      </p:sp>
      <p:sp>
        <p:nvSpPr>
          <p:cNvPr id="309252" name="Rectangle 3"/>
          <p:cNvSpPr>
            <a:spLocks noGrp="1" noChangeArrowheads="1"/>
          </p:cNvSpPr>
          <p:nvPr>
            <p:ph type="subTitle" idx="1"/>
          </p:nvPr>
        </p:nvSpPr>
        <p:spPr>
          <a:xfrm>
            <a:off x="0" y="733245"/>
            <a:ext cx="12051102" cy="6223182"/>
          </a:xfrm>
        </p:spPr>
        <p:txBody>
          <a:bodyPr/>
          <a:lstStyle/>
          <a:p>
            <a:pPr algn="just" eaLnBrk="1" hangingPunct="1">
              <a:spcBef>
                <a:spcPct val="0"/>
              </a:spcBef>
            </a:pPr>
            <a:r>
              <a:rPr lang="pt-BR" altLang="pt-BR" dirty="0" smtClean="0"/>
              <a:t>Diagramas UML (BOOCH et al., 2005; RUMBAUGH et al., 2004): da linguagem de modelagem padrão adaptou-se à modelagem orientada a objetos. </a:t>
            </a:r>
          </a:p>
          <a:p>
            <a:pPr algn="just" eaLnBrk="1" hangingPunct="1">
              <a:spcBef>
                <a:spcPct val="0"/>
              </a:spcBef>
            </a:pPr>
            <a:endParaRPr lang="pt-BR" altLang="pt-BR" dirty="0" smtClean="0"/>
          </a:p>
          <a:p>
            <a:pPr algn="just" eaLnBrk="1" hangingPunct="1">
              <a:spcBef>
                <a:spcPct val="0"/>
              </a:spcBef>
            </a:pPr>
            <a:r>
              <a:rPr lang="pt-BR" altLang="pt-BR" dirty="0" smtClean="0"/>
              <a:t>ERICKSON e SIAU (2007): maioria dos usuários de UML acredita que cinco tipos de diagramas podem representar a essência de um sistema:</a:t>
            </a:r>
          </a:p>
          <a:p>
            <a:pPr algn="just" eaLnBrk="1" hangingPunct="1">
              <a:spcBef>
                <a:spcPct val="0"/>
              </a:spcBef>
            </a:pPr>
            <a:r>
              <a:rPr lang="pt-BR" altLang="pt-BR" dirty="0" smtClean="0"/>
              <a:t>1.Atividades: atividades envolvidas em um processo ou no processamento de dados.</a:t>
            </a:r>
          </a:p>
          <a:p>
            <a:pPr algn="just" eaLnBrk="1" hangingPunct="1">
              <a:spcBef>
                <a:spcPct val="0"/>
              </a:spcBef>
            </a:pPr>
            <a:r>
              <a:rPr lang="pt-BR" altLang="pt-BR" dirty="0" smtClean="0"/>
              <a:t>2. Casos de uso: interações entre um sistema e seu ambiente.</a:t>
            </a:r>
          </a:p>
          <a:p>
            <a:pPr algn="just">
              <a:spcBef>
                <a:spcPct val="0"/>
              </a:spcBef>
            </a:pPr>
            <a:r>
              <a:rPr lang="pt-BR" altLang="pt-BR" dirty="0" smtClean="0"/>
              <a:t>3. Sequência: interações entre </a:t>
            </a:r>
            <a:r>
              <a:rPr lang="pt-BR" altLang="pt-BR" dirty="0"/>
              <a:t>o sistema e </a:t>
            </a:r>
            <a:r>
              <a:rPr lang="pt-BR" altLang="pt-BR" dirty="0" smtClean="0"/>
              <a:t>seus </a:t>
            </a:r>
            <a:r>
              <a:rPr lang="pt-BR" altLang="pt-BR" dirty="0"/>
              <a:t>atores </a:t>
            </a:r>
            <a:r>
              <a:rPr lang="pt-BR" altLang="pt-BR" dirty="0" smtClean="0"/>
              <a:t>e/ou</a:t>
            </a:r>
            <a:r>
              <a:rPr lang="pt-BR" altLang="pt-BR" dirty="0" smtClean="0"/>
              <a:t> </a:t>
            </a:r>
            <a:r>
              <a:rPr lang="pt-BR" altLang="pt-BR" dirty="0" smtClean="0"/>
              <a:t>entre os componentes do sistema.</a:t>
            </a:r>
          </a:p>
          <a:p>
            <a:pPr algn="just" eaLnBrk="1" hangingPunct="1">
              <a:spcBef>
                <a:spcPct val="0"/>
              </a:spcBef>
            </a:pPr>
            <a:r>
              <a:rPr lang="pt-BR" altLang="pt-BR" dirty="0" smtClean="0"/>
              <a:t>4. Classe: classes de objeto no sistema e as associações entre elas. </a:t>
            </a:r>
          </a:p>
          <a:p>
            <a:pPr algn="just" eaLnBrk="1" hangingPunct="1">
              <a:spcBef>
                <a:spcPct val="0"/>
              </a:spcBef>
            </a:pPr>
            <a:r>
              <a:rPr lang="pt-BR" altLang="pt-BR" dirty="0" smtClean="0"/>
              <a:t>5. Estado: como o sistema reage aos eventos internos e externos.</a:t>
            </a:r>
          </a:p>
          <a:p>
            <a:pPr algn="just" eaLnBrk="1" hangingPunct="1">
              <a:spcBef>
                <a:spcPct val="0"/>
              </a:spcBef>
            </a:pPr>
            <a:endParaRPr lang="pt-BR" altLang="pt-BR" dirty="0"/>
          </a:p>
          <a:p>
            <a:pPr algn="just">
              <a:spcBef>
                <a:spcPct val="0"/>
              </a:spcBef>
            </a:pPr>
            <a:r>
              <a:rPr lang="pt-BR" altLang="pt-BR" dirty="0" smtClean="0"/>
              <a:t>Os </a:t>
            </a:r>
            <a:r>
              <a:rPr lang="pt-BR" altLang="pt-BR" dirty="0"/>
              <a:t>modelos gráficos são comumente usados de três formas: </a:t>
            </a:r>
          </a:p>
          <a:p>
            <a:pPr algn="just">
              <a:spcBef>
                <a:spcPct val="0"/>
              </a:spcBef>
            </a:pPr>
            <a:r>
              <a:rPr lang="pt-BR" altLang="pt-BR" dirty="0" smtClean="0"/>
              <a:t>1. Facilitar </a:t>
            </a:r>
            <a:r>
              <a:rPr lang="pt-BR" altLang="pt-BR" dirty="0"/>
              <a:t>a discussão sobre um sistema existente ou proposto. </a:t>
            </a:r>
          </a:p>
          <a:p>
            <a:pPr algn="just">
              <a:spcBef>
                <a:spcPct val="0"/>
              </a:spcBef>
            </a:pPr>
            <a:r>
              <a:rPr lang="pt-BR" altLang="pt-BR" dirty="0"/>
              <a:t>2. D</a:t>
            </a:r>
            <a:r>
              <a:rPr lang="pt-BR" altLang="pt-BR" dirty="0" smtClean="0"/>
              <a:t>ocumentar </a:t>
            </a:r>
            <a:r>
              <a:rPr lang="pt-BR" altLang="pt-BR" dirty="0"/>
              <a:t>um sistema já existente.</a:t>
            </a:r>
          </a:p>
          <a:p>
            <a:pPr algn="just">
              <a:spcBef>
                <a:spcPct val="0"/>
              </a:spcBef>
            </a:pPr>
            <a:r>
              <a:rPr lang="pt-BR" altLang="pt-BR" dirty="0"/>
              <a:t>3. D</a:t>
            </a:r>
            <a:r>
              <a:rPr lang="pt-BR" altLang="pt-BR" dirty="0" smtClean="0"/>
              <a:t>escrição </a:t>
            </a:r>
            <a:r>
              <a:rPr lang="pt-BR" altLang="pt-BR" dirty="0"/>
              <a:t>detalhada de um sistema, que pode ser usada para gerar uma implementação do sistema.</a:t>
            </a:r>
          </a:p>
          <a:p>
            <a:pPr algn="just" eaLnBrk="1" hangingPunct="1">
              <a:spcBef>
                <a:spcPct val="0"/>
              </a:spcBef>
            </a:pPr>
            <a:endParaRPr lang="pt-BR" altLang="pt-BR" dirty="0" smtClean="0"/>
          </a:p>
        </p:txBody>
      </p:sp>
      <p:sp>
        <p:nvSpPr>
          <p:cNvPr id="309253" name="Retângulo 1"/>
          <p:cNvSpPr>
            <a:spLocks noChangeArrowheads="1"/>
          </p:cNvSpPr>
          <p:nvPr/>
        </p:nvSpPr>
        <p:spPr bwMode="auto">
          <a:xfrm>
            <a:off x="-1212850" y="3030539"/>
            <a:ext cx="339725"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just" eaLnBrk="1" hangingPunct="1">
              <a:spcBef>
                <a:spcPct val="0"/>
              </a:spcBef>
              <a:buFontTx/>
              <a:buNone/>
            </a:pPr>
            <a:r>
              <a:rPr lang="pt-BR" altLang="pt-BR" sz="2400"/>
              <a:t>. </a:t>
            </a:r>
          </a:p>
        </p:txBody>
      </p:sp>
    </p:spTree>
    <p:extLst>
      <p:ext uri="{BB962C8B-B14F-4D97-AF65-F5344CB8AC3E}">
        <p14:creationId xmlns:p14="http://schemas.microsoft.com/office/powerpoint/2010/main" val="2033170430"/>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1298" name="Espaço Reservado para Número de Slide 5"/>
          <p:cNvSpPr>
            <a:spLocks noGrp="1"/>
          </p:cNvSpPr>
          <p:nvPr>
            <p:ph type="sldNum"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5E98CDFB-1543-4C77-9B0B-4231A7C0057E}" type="slidenum">
              <a:rPr lang="pt-PT" altLang="pt-BR" sz="1400"/>
              <a:pPr>
                <a:spcBef>
                  <a:spcPct val="0"/>
                </a:spcBef>
                <a:buFontTx/>
                <a:buNone/>
              </a:pPr>
              <a:t>6</a:t>
            </a:fld>
            <a:endParaRPr lang="pt-PT" altLang="pt-BR" sz="1400"/>
          </a:p>
        </p:txBody>
      </p:sp>
      <p:sp>
        <p:nvSpPr>
          <p:cNvPr id="311299" name="Rectangle 2"/>
          <p:cNvSpPr>
            <a:spLocks noGrp="1" noChangeArrowheads="1"/>
          </p:cNvSpPr>
          <p:nvPr>
            <p:ph type="ctrTitle"/>
          </p:nvPr>
        </p:nvSpPr>
        <p:spPr>
          <a:xfrm>
            <a:off x="1524001" y="1"/>
            <a:ext cx="9217025" cy="836613"/>
          </a:xfrm>
        </p:spPr>
        <p:txBody>
          <a:bodyPr anchor="ctr"/>
          <a:lstStyle/>
          <a:p>
            <a:pPr eaLnBrk="1" hangingPunct="1"/>
            <a:r>
              <a:rPr lang="pt-BR" altLang="pt-BR" sz="3600"/>
              <a:t>UML – MODELO DE CONTEXTO</a:t>
            </a:r>
            <a:endParaRPr lang="pt-PT" altLang="pt-BR" sz="3600"/>
          </a:p>
        </p:txBody>
      </p:sp>
      <p:sp>
        <p:nvSpPr>
          <p:cNvPr id="311300" name="Rectangle 3"/>
          <p:cNvSpPr>
            <a:spLocks noGrp="1" noChangeArrowheads="1"/>
          </p:cNvSpPr>
          <p:nvPr>
            <p:ph type="subTitle" idx="1"/>
          </p:nvPr>
        </p:nvSpPr>
        <p:spPr>
          <a:xfrm>
            <a:off x="0" y="836614"/>
            <a:ext cx="12128740" cy="6119813"/>
          </a:xfrm>
        </p:spPr>
        <p:txBody>
          <a:bodyPr/>
          <a:lstStyle/>
          <a:p>
            <a:pPr algn="just" eaLnBrk="1" hangingPunct="1">
              <a:spcBef>
                <a:spcPct val="0"/>
              </a:spcBef>
            </a:pPr>
            <a:r>
              <a:rPr lang="pt-BR" altLang="pt-BR" dirty="0" smtClean="0"/>
              <a:t>Estágio inicial da especificação do sistema. Deve-se decidir no inicio do processo:</a:t>
            </a:r>
          </a:p>
          <a:p>
            <a:pPr algn="just" eaLnBrk="1" hangingPunct="1">
              <a:spcBef>
                <a:spcPct val="0"/>
              </a:spcBef>
            </a:pPr>
            <a:endParaRPr lang="pt-BR" altLang="pt-BR" dirty="0" smtClean="0"/>
          </a:p>
          <a:p>
            <a:pPr algn="just" eaLnBrk="1" hangingPunct="1">
              <a:spcBef>
                <a:spcPct val="0"/>
              </a:spcBef>
            </a:pPr>
            <a:r>
              <a:rPr lang="pt-BR" altLang="pt-BR" dirty="0"/>
              <a:t>L</a:t>
            </a:r>
            <a:r>
              <a:rPr lang="pt-BR" altLang="pt-BR" dirty="0" smtClean="0"/>
              <a:t>imites do sistema, suas funcionalidades</a:t>
            </a:r>
          </a:p>
          <a:p>
            <a:pPr algn="just" eaLnBrk="1" hangingPunct="1">
              <a:spcBef>
                <a:spcPct val="0"/>
              </a:spcBef>
            </a:pPr>
            <a:r>
              <a:rPr lang="pt-BR" altLang="pt-BR" dirty="0" smtClean="0"/>
              <a:t>Quais processos serão automatizados e quais devem ser manuais ou apoiados por sistemas diferentes. </a:t>
            </a:r>
          </a:p>
          <a:p>
            <a:pPr algn="just" eaLnBrk="1" hangingPunct="1">
              <a:spcBef>
                <a:spcPct val="0"/>
              </a:spcBef>
            </a:pPr>
            <a:r>
              <a:rPr lang="pt-BR" altLang="pt-BR" dirty="0" smtClean="0"/>
              <a:t>Verificar se há funcionalidade </a:t>
            </a:r>
            <a:r>
              <a:rPr lang="pt-BR" altLang="pt-BR" dirty="0" smtClean="0"/>
              <a:t>em sistemas existentes. Decidir onde a nova funcionalidade deve ser implementada. </a:t>
            </a:r>
          </a:p>
          <a:p>
            <a:pPr algn="just" eaLnBrk="1" hangingPunct="1">
              <a:spcBef>
                <a:spcPct val="0"/>
              </a:spcBef>
            </a:pPr>
            <a:endParaRPr lang="pt-BR" altLang="pt-BR" dirty="0" smtClean="0"/>
          </a:p>
          <a:p>
            <a:pPr algn="just">
              <a:spcBef>
                <a:spcPct val="0"/>
              </a:spcBef>
            </a:pPr>
            <a:r>
              <a:rPr lang="pt-BR" altLang="pt-BR" dirty="0"/>
              <a:t>Em alguns casos, a fronteira entre um sistema e seu ambiente é relativamente clara. </a:t>
            </a:r>
          </a:p>
          <a:p>
            <a:pPr algn="just">
              <a:spcBef>
                <a:spcPct val="0"/>
              </a:spcBef>
            </a:pPr>
            <a:endParaRPr lang="pt-BR" altLang="pt-BR" dirty="0"/>
          </a:p>
          <a:p>
            <a:pPr algn="just">
              <a:spcBef>
                <a:spcPct val="0"/>
              </a:spcBef>
            </a:pPr>
            <a:r>
              <a:rPr lang="pt-BR" altLang="pt-BR" dirty="0" smtClean="0"/>
              <a:t>Em </a:t>
            </a:r>
            <a:r>
              <a:rPr lang="pt-BR" altLang="pt-BR" dirty="0"/>
              <a:t>outros casos</a:t>
            </a:r>
            <a:r>
              <a:rPr lang="pt-BR" altLang="pt-BR" dirty="0" smtClean="0"/>
              <a:t>, </a:t>
            </a:r>
            <a:r>
              <a:rPr lang="pt-BR" altLang="pt-BR" dirty="0"/>
              <a:t>durante o processo de engenharia de requisitos, </a:t>
            </a:r>
            <a:r>
              <a:rPr lang="pt-BR" altLang="pt-BR" dirty="0" smtClean="0"/>
              <a:t>decide-se </a:t>
            </a:r>
            <a:r>
              <a:rPr lang="pt-BR" altLang="pt-BR" dirty="0"/>
              <a:t>o que constitui a fronteira entre o sistema e seu ambiente.</a:t>
            </a:r>
          </a:p>
          <a:p>
            <a:pPr algn="just" eaLnBrk="1" hangingPunct="1">
              <a:spcBef>
                <a:spcPct val="0"/>
              </a:spcBef>
            </a:pPr>
            <a:endParaRPr lang="pt-BR" altLang="pt-BR" dirty="0" smtClean="0"/>
          </a:p>
        </p:txBody>
      </p:sp>
      <p:sp>
        <p:nvSpPr>
          <p:cNvPr id="311301" name="Retângulo 1"/>
          <p:cNvSpPr>
            <a:spLocks noChangeArrowheads="1"/>
          </p:cNvSpPr>
          <p:nvPr/>
        </p:nvSpPr>
        <p:spPr bwMode="auto">
          <a:xfrm>
            <a:off x="-1212850" y="3030539"/>
            <a:ext cx="339725"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just" eaLnBrk="1" hangingPunct="1">
              <a:spcBef>
                <a:spcPct val="0"/>
              </a:spcBef>
              <a:buFontTx/>
              <a:buNone/>
            </a:pPr>
            <a:r>
              <a:rPr lang="pt-BR" altLang="pt-BR" sz="2400"/>
              <a:t>. </a:t>
            </a:r>
          </a:p>
        </p:txBody>
      </p:sp>
    </p:spTree>
    <p:extLst>
      <p:ext uri="{BB962C8B-B14F-4D97-AF65-F5344CB8AC3E}">
        <p14:creationId xmlns:p14="http://schemas.microsoft.com/office/powerpoint/2010/main" val="3450035226"/>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3346" name="Espaço Reservado para Número de Slide 5"/>
          <p:cNvSpPr>
            <a:spLocks noGrp="1"/>
          </p:cNvSpPr>
          <p:nvPr>
            <p:ph type="sldNum"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94A13F1A-02AB-42D5-9AD6-D81370A01A18}" type="slidenum">
              <a:rPr lang="pt-PT" altLang="pt-BR" sz="1400"/>
              <a:pPr>
                <a:spcBef>
                  <a:spcPct val="0"/>
                </a:spcBef>
                <a:buFontTx/>
                <a:buNone/>
              </a:pPr>
              <a:t>7</a:t>
            </a:fld>
            <a:endParaRPr lang="pt-PT" altLang="pt-BR" sz="1400"/>
          </a:p>
        </p:txBody>
      </p:sp>
      <p:sp>
        <p:nvSpPr>
          <p:cNvPr id="313347" name="Rectangle 2"/>
          <p:cNvSpPr>
            <a:spLocks noGrp="1" noChangeArrowheads="1"/>
          </p:cNvSpPr>
          <p:nvPr>
            <p:ph type="ctrTitle"/>
          </p:nvPr>
        </p:nvSpPr>
        <p:spPr>
          <a:xfrm>
            <a:off x="1298575" y="0"/>
            <a:ext cx="9217025" cy="836613"/>
          </a:xfrm>
        </p:spPr>
        <p:txBody>
          <a:bodyPr anchor="ctr"/>
          <a:lstStyle/>
          <a:p>
            <a:pPr eaLnBrk="1" hangingPunct="1"/>
            <a:r>
              <a:rPr lang="pt-BR" altLang="pt-BR" sz="3600"/>
              <a:t>UML – MODELO DE CONTEXTO</a:t>
            </a:r>
            <a:endParaRPr lang="pt-PT" altLang="pt-BR" sz="3600"/>
          </a:p>
        </p:txBody>
      </p:sp>
      <p:sp>
        <p:nvSpPr>
          <p:cNvPr id="313348" name="Rectangle 3"/>
          <p:cNvSpPr>
            <a:spLocks noGrp="1" noChangeArrowheads="1"/>
          </p:cNvSpPr>
          <p:nvPr>
            <p:ph type="subTitle" idx="1"/>
          </p:nvPr>
        </p:nvSpPr>
        <p:spPr>
          <a:xfrm>
            <a:off x="77638" y="1017917"/>
            <a:ext cx="12025222" cy="5938509"/>
          </a:xfrm>
        </p:spPr>
        <p:txBody>
          <a:bodyPr/>
          <a:lstStyle/>
          <a:p>
            <a:pPr algn="just" eaLnBrk="1" hangingPunct="1">
              <a:spcBef>
                <a:spcPct val="0"/>
              </a:spcBef>
            </a:pPr>
            <a:r>
              <a:rPr lang="pt-BR" altLang="pt-BR" dirty="0" err="1" smtClean="0"/>
              <a:t>Ex</a:t>
            </a:r>
            <a:r>
              <a:rPr lang="pt-BR" altLang="pt-BR" dirty="0" smtClean="0"/>
              <a:t>: Desenvolvimento de especificação para o sistema de informação de pacientes para a área da saúde mental. </a:t>
            </a:r>
          </a:p>
          <a:p>
            <a:pPr algn="just" eaLnBrk="1" hangingPunct="1">
              <a:spcBef>
                <a:spcPct val="0"/>
              </a:spcBef>
            </a:pPr>
            <a:endParaRPr lang="pt-BR" altLang="pt-BR" dirty="0" smtClean="0"/>
          </a:p>
          <a:p>
            <a:pPr algn="just" eaLnBrk="1" hangingPunct="1">
              <a:spcBef>
                <a:spcPct val="0"/>
              </a:spcBef>
            </a:pPr>
            <a:r>
              <a:rPr lang="pt-BR" altLang="pt-BR" dirty="0" smtClean="0"/>
              <a:t>Sistema destina-se a gerenciar informações sobre os pacientes que procuram clínicas de saúde mental e os tratamentos prescritos.</a:t>
            </a:r>
          </a:p>
          <a:p>
            <a:pPr algn="just" eaLnBrk="1" hangingPunct="1">
              <a:spcBef>
                <a:spcPct val="0"/>
              </a:spcBef>
            </a:pPr>
            <a:r>
              <a:rPr lang="pt-BR" altLang="pt-BR" dirty="0" smtClean="0"/>
              <a:t>Ao desenvolver a especificação é preciso decidir se ele deve se concentrar exclusivamente em coletar informações sobre as consultas (usando outros sistemas para coletar informações pessoais sobre os pacientes) ou se deve também coletar informações pessoais dos pacientes. A vantagem de se basear em outros sistemas de informação de pacientes é que se evita a duplicação de dados. A maior desvantagem é que o uso de outros sistemas pode torná-lo mais lento para o acesso a informações. Se esses sistemas não estão disponíveis, então o MHC-PMS não pode ser usado.</a:t>
            </a:r>
          </a:p>
        </p:txBody>
      </p:sp>
      <p:sp>
        <p:nvSpPr>
          <p:cNvPr id="313349" name="Retângulo 1"/>
          <p:cNvSpPr>
            <a:spLocks noChangeArrowheads="1"/>
          </p:cNvSpPr>
          <p:nvPr/>
        </p:nvSpPr>
        <p:spPr bwMode="auto">
          <a:xfrm>
            <a:off x="-1212850" y="3030539"/>
            <a:ext cx="339725"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just" eaLnBrk="1" hangingPunct="1">
              <a:spcBef>
                <a:spcPct val="0"/>
              </a:spcBef>
              <a:buFontTx/>
              <a:buNone/>
            </a:pPr>
            <a:r>
              <a:rPr lang="pt-BR" altLang="pt-BR" sz="2400"/>
              <a:t>. </a:t>
            </a:r>
          </a:p>
        </p:txBody>
      </p:sp>
    </p:spTree>
    <p:extLst>
      <p:ext uri="{BB962C8B-B14F-4D97-AF65-F5344CB8AC3E}">
        <p14:creationId xmlns:p14="http://schemas.microsoft.com/office/powerpoint/2010/main" val="25284418"/>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4370" name="Espaço Reservado para Número de Slide 5"/>
          <p:cNvSpPr>
            <a:spLocks noGrp="1"/>
          </p:cNvSpPr>
          <p:nvPr>
            <p:ph type="sldNum"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A05E7DEB-8CD5-4C9B-922B-1267EE27FD33}" type="slidenum">
              <a:rPr lang="pt-PT" altLang="pt-BR" sz="1400"/>
              <a:pPr>
                <a:spcBef>
                  <a:spcPct val="0"/>
                </a:spcBef>
                <a:buFontTx/>
                <a:buNone/>
              </a:pPr>
              <a:t>8</a:t>
            </a:fld>
            <a:endParaRPr lang="pt-PT" altLang="pt-BR" sz="1400"/>
          </a:p>
        </p:txBody>
      </p:sp>
      <p:sp>
        <p:nvSpPr>
          <p:cNvPr id="314371" name="Rectangle 2"/>
          <p:cNvSpPr>
            <a:spLocks noGrp="1" noChangeArrowheads="1"/>
          </p:cNvSpPr>
          <p:nvPr>
            <p:ph type="ctrTitle"/>
          </p:nvPr>
        </p:nvSpPr>
        <p:spPr>
          <a:xfrm>
            <a:off x="1524001" y="1"/>
            <a:ext cx="9217025" cy="836613"/>
          </a:xfrm>
        </p:spPr>
        <p:txBody>
          <a:bodyPr anchor="ctr"/>
          <a:lstStyle/>
          <a:p>
            <a:pPr eaLnBrk="1" hangingPunct="1"/>
            <a:r>
              <a:rPr lang="pt-BR" altLang="pt-BR" sz="3600"/>
              <a:t>UML – MODELO DE CONTEXTO</a:t>
            </a:r>
            <a:endParaRPr lang="pt-PT" altLang="pt-BR" sz="3600"/>
          </a:p>
        </p:txBody>
      </p:sp>
      <p:sp>
        <p:nvSpPr>
          <p:cNvPr id="314372" name="Rectangle 3"/>
          <p:cNvSpPr>
            <a:spLocks noGrp="1" noChangeArrowheads="1"/>
          </p:cNvSpPr>
          <p:nvPr>
            <p:ph type="subTitle" idx="1"/>
          </p:nvPr>
        </p:nvSpPr>
        <p:spPr>
          <a:xfrm>
            <a:off x="0" y="836613"/>
            <a:ext cx="12192000" cy="6119813"/>
          </a:xfrm>
        </p:spPr>
        <p:txBody>
          <a:bodyPr/>
          <a:lstStyle/>
          <a:p>
            <a:pPr algn="just" eaLnBrk="1" hangingPunct="1">
              <a:spcBef>
                <a:spcPct val="0"/>
              </a:spcBef>
            </a:pPr>
            <a:r>
              <a:rPr lang="pt-BR" altLang="pt-BR" dirty="0" smtClean="0"/>
              <a:t>Definição do limite do sistema pode ser determinada por fatores não técnicos. </a:t>
            </a:r>
          </a:p>
          <a:p>
            <a:pPr algn="just" eaLnBrk="1" hangingPunct="1">
              <a:spcBef>
                <a:spcPct val="0"/>
              </a:spcBef>
            </a:pPr>
            <a:endParaRPr lang="pt-BR" altLang="pt-BR" dirty="0" smtClean="0"/>
          </a:p>
          <a:p>
            <a:pPr algn="just" eaLnBrk="1" hangingPunct="1">
              <a:spcBef>
                <a:spcPct val="0"/>
              </a:spcBef>
            </a:pPr>
            <a:r>
              <a:rPr lang="pt-BR" altLang="pt-BR" dirty="0" err="1" smtClean="0"/>
              <a:t>Ex</a:t>
            </a:r>
            <a:r>
              <a:rPr lang="pt-BR" altLang="pt-BR" dirty="0" smtClean="0"/>
              <a:t>: limite do sistema pode ser posicionado de modo que o processo de análise possa ocorrer em um site, pode ser escolhido de forma que um gerente difícil não precise ser consultado, pode ser posicionado de modo que o custo do sistema seja maior e a equipe de desenvolvimento do sistema necessite expandir-se para projetar e implementar o sistema. </a:t>
            </a:r>
          </a:p>
          <a:p>
            <a:pPr algn="just" eaLnBrk="1" hangingPunct="1">
              <a:spcBef>
                <a:spcPct val="0"/>
              </a:spcBef>
            </a:pPr>
            <a:endParaRPr lang="pt-BR" altLang="pt-BR" dirty="0" smtClean="0"/>
          </a:p>
          <a:p>
            <a:pPr algn="just" eaLnBrk="1" hangingPunct="1">
              <a:spcBef>
                <a:spcPct val="0"/>
              </a:spcBef>
            </a:pPr>
            <a:r>
              <a:rPr lang="pt-BR" altLang="pt-BR" dirty="0"/>
              <a:t>D</a:t>
            </a:r>
            <a:r>
              <a:rPr lang="pt-BR" altLang="pt-BR" dirty="0" smtClean="0"/>
              <a:t>ecisões dos limites do sistema finalizadas: parte da atividade de análise é a definição do contexto e das dependências que o sistema tem em seu ambiente. </a:t>
            </a:r>
          </a:p>
          <a:p>
            <a:pPr algn="just">
              <a:spcBef>
                <a:spcPct val="0"/>
              </a:spcBef>
            </a:pPr>
            <a:r>
              <a:rPr lang="pt-BR" altLang="pt-BR" dirty="0" smtClean="0"/>
              <a:t>Produção de um modelo de arquitetura simples é o primeiro passo para essa atividade</a:t>
            </a:r>
            <a:r>
              <a:rPr lang="pt-BR" altLang="pt-BR" dirty="0"/>
              <a:t>. </a:t>
            </a:r>
            <a:endParaRPr lang="pt-BR" altLang="pt-BR" dirty="0" smtClean="0"/>
          </a:p>
          <a:p>
            <a:pPr algn="just">
              <a:spcBef>
                <a:spcPct val="0"/>
              </a:spcBef>
            </a:pPr>
            <a:endParaRPr lang="pt-BR" altLang="pt-BR" dirty="0"/>
          </a:p>
          <a:p>
            <a:pPr algn="just">
              <a:spcBef>
                <a:spcPct val="0"/>
              </a:spcBef>
            </a:pPr>
            <a:r>
              <a:rPr lang="pt-BR" altLang="pt-BR" dirty="0" smtClean="0"/>
              <a:t>Modelo </a:t>
            </a:r>
            <a:r>
              <a:rPr lang="pt-BR" altLang="pt-BR" dirty="0"/>
              <a:t>de contexto </a:t>
            </a:r>
            <a:r>
              <a:rPr lang="pt-BR" altLang="pt-BR" dirty="0" smtClean="0"/>
              <a:t>simples: </a:t>
            </a:r>
            <a:r>
              <a:rPr lang="pt-BR" altLang="pt-BR" dirty="0"/>
              <a:t>sistema de informação de pacientes e os outros sistemas em seu ambiente. </a:t>
            </a:r>
          </a:p>
          <a:p>
            <a:pPr algn="just" eaLnBrk="1" hangingPunct="1">
              <a:spcBef>
                <a:spcPct val="0"/>
              </a:spcBef>
            </a:pPr>
            <a:endParaRPr lang="pt-BR" altLang="pt-BR" dirty="0" smtClean="0"/>
          </a:p>
        </p:txBody>
      </p:sp>
      <p:sp>
        <p:nvSpPr>
          <p:cNvPr id="314373" name="Retângulo 1"/>
          <p:cNvSpPr>
            <a:spLocks noChangeArrowheads="1"/>
          </p:cNvSpPr>
          <p:nvPr/>
        </p:nvSpPr>
        <p:spPr bwMode="auto">
          <a:xfrm>
            <a:off x="-1212850" y="3030539"/>
            <a:ext cx="339725"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just" eaLnBrk="1" hangingPunct="1">
              <a:spcBef>
                <a:spcPct val="0"/>
              </a:spcBef>
              <a:buFontTx/>
              <a:buNone/>
            </a:pPr>
            <a:r>
              <a:rPr lang="pt-BR" altLang="pt-BR" sz="2400"/>
              <a:t>. </a:t>
            </a:r>
          </a:p>
        </p:txBody>
      </p:sp>
    </p:spTree>
    <p:extLst>
      <p:ext uri="{BB962C8B-B14F-4D97-AF65-F5344CB8AC3E}">
        <p14:creationId xmlns:p14="http://schemas.microsoft.com/office/powerpoint/2010/main" val="824143741"/>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6418" name="Espaço Reservado para Número de Slide 5"/>
          <p:cNvSpPr>
            <a:spLocks noGrp="1"/>
          </p:cNvSpPr>
          <p:nvPr>
            <p:ph type="sldNum"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EC830679-9739-48D6-9C50-0330F5BF7AB6}" type="slidenum">
              <a:rPr lang="pt-PT" altLang="pt-BR" sz="1400"/>
              <a:pPr>
                <a:spcBef>
                  <a:spcPct val="0"/>
                </a:spcBef>
                <a:buFontTx/>
                <a:buNone/>
              </a:pPr>
              <a:t>9</a:t>
            </a:fld>
            <a:endParaRPr lang="pt-PT" altLang="pt-BR" sz="1400"/>
          </a:p>
        </p:txBody>
      </p:sp>
      <p:sp>
        <p:nvSpPr>
          <p:cNvPr id="316419" name="Rectangle 2"/>
          <p:cNvSpPr>
            <a:spLocks noGrp="1" noChangeArrowheads="1"/>
          </p:cNvSpPr>
          <p:nvPr>
            <p:ph type="ctrTitle"/>
          </p:nvPr>
        </p:nvSpPr>
        <p:spPr>
          <a:xfrm>
            <a:off x="1524001" y="1"/>
            <a:ext cx="9217025" cy="836613"/>
          </a:xfrm>
        </p:spPr>
        <p:txBody>
          <a:bodyPr anchor="ctr"/>
          <a:lstStyle/>
          <a:p>
            <a:pPr eaLnBrk="1" hangingPunct="1"/>
            <a:r>
              <a:rPr lang="pt-BR" altLang="pt-BR" sz="3600"/>
              <a:t>UML – MODELO DE CONTEXTO</a:t>
            </a:r>
            <a:endParaRPr lang="pt-PT" altLang="pt-BR" sz="3600"/>
          </a:p>
        </p:txBody>
      </p:sp>
      <p:sp>
        <p:nvSpPr>
          <p:cNvPr id="316420" name="Rectangle 3"/>
          <p:cNvSpPr>
            <a:spLocks noGrp="1" noChangeArrowheads="1"/>
          </p:cNvSpPr>
          <p:nvPr>
            <p:ph type="subTitle" idx="1"/>
          </p:nvPr>
        </p:nvSpPr>
        <p:spPr>
          <a:xfrm>
            <a:off x="1541463" y="908051"/>
            <a:ext cx="8731250" cy="6048375"/>
          </a:xfrm>
        </p:spPr>
        <p:txBody>
          <a:bodyPr/>
          <a:lstStyle/>
          <a:p>
            <a:pPr algn="just" eaLnBrk="1" hangingPunct="1">
              <a:spcBef>
                <a:spcPct val="0"/>
              </a:spcBef>
            </a:pPr>
            <a:r>
              <a:rPr lang="pt-BR" altLang="pt-BR" smtClean="0"/>
              <a:t> </a:t>
            </a:r>
          </a:p>
        </p:txBody>
      </p:sp>
      <p:sp>
        <p:nvSpPr>
          <p:cNvPr id="316421" name="Retângulo 1"/>
          <p:cNvSpPr>
            <a:spLocks noChangeArrowheads="1"/>
          </p:cNvSpPr>
          <p:nvPr/>
        </p:nvSpPr>
        <p:spPr bwMode="auto">
          <a:xfrm>
            <a:off x="-1212850" y="3030539"/>
            <a:ext cx="339725"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just" eaLnBrk="1" hangingPunct="1">
              <a:spcBef>
                <a:spcPct val="0"/>
              </a:spcBef>
              <a:buFontTx/>
              <a:buNone/>
            </a:pPr>
            <a:r>
              <a:rPr lang="pt-BR" altLang="pt-BR" sz="2400"/>
              <a:t>. </a:t>
            </a:r>
          </a:p>
        </p:txBody>
      </p:sp>
      <p:pic>
        <p:nvPicPr>
          <p:cNvPr id="316422" name="Imagem 2"/>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4260940" y="1292226"/>
            <a:ext cx="6945312" cy="4679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Retângulo 1"/>
          <p:cNvSpPr/>
          <p:nvPr/>
        </p:nvSpPr>
        <p:spPr>
          <a:xfrm>
            <a:off x="26239" y="1220789"/>
            <a:ext cx="4234701" cy="5262979"/>
          </a:xfrm>
          <a:prstGeom prst="rect">
            <a:avLst/>
          </a:prstGeom>
        </p:spPr>
        <p:txBody>
          <a:bodyPr wrap="square">
            <a:spAutoFit/>
          </a:bodyPr>
          <a:lstStyle/>
          <a:p>
            <a:pPr algn="just">
              <a:spcBef>
                <a:spcPct val="0"/>
              </a:spcBef>
            </a:pPr>
            <a:r>
              <a:rPr lang="pt-BR" altLang="pt-BR" sz="2400" dirty="0" smtClean="0"/>
              <a:t>MHC-PMS conecta </a:t>
            </a:r>
            <a:r>
              <a:rPr lang="pt-BR" altLang="pt-BR" sz="2400" dirty="0"/>
              <a:t>a </a:t>
            </a:r>
            <a:r>
              <a:rPr lang="pt-BR" altLang="pt-BR" sz="2400" dirty="0" smtClean="0"/>
              <a:t>sistema de </a:t>
            </a:r>
            <a:r>
              <a:rPr lang="pt-BR" altLang="pt-BR" sz="2400" dirty="0"/>
              <a:t>agendamentos e a um sistema de registro de pacientes com o qual compartilha os dados. O sistema também </a:t>
            </a:r>
            <a:r>
              <a:rPr lang="pt-BR" altLang="pt-BR" sz="2400" dirty="0" smtClean="0"/>
              <a:t>conecta </a:t>
            </a:r>
            <a:r>
              <a:rPr lang="pt-BR" altLang="pt-BR" sz="2400" dirty="0"/>
              <a:t>a sistemas para gerenciamento de relatórios e de alocação de leitos hospitalares e a um sistema de estatísticas que coleta informações para a pesquisa. Faz uso de um sistema de prescrições para gerar receitas para a medicação dos pacientes. </a:t>
            </a:r>
          </a:p>
        </p:txBody>
      </p:sp>
    </p:spTree>
    <p:extLst>
      <p:ext uri="{BB962C8B-B14F-4D97-AF65-F5344CB8AC3E}">
        <p14:creationId xmlns:p14="http://schemas.microsoft.com/office/powerpoint/2010/main" val="2973783774"/>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17443" name="Rectangle 2"/>
          <p:cNvSpPr>
            <a:spLocks noGrp="1" noChangeArrowheads="1"/>
          </p:cNvSpPr>
          <p:nvPr>
            <p:ph type="ctrTitle"/>
          </p:nvPr>
        </p:nvSpPr>
        <p:spPr>
          <a:xfrm>
            <a:off x="1524001" y="1"/>
            <a:ext cx="9217025" cy="836613"/>
          </a:xfrm>
        </p:spPr>
        <p:txBody>
          <a:bodyPr anchor="ctr"/>
          <a:lstStyle/>
          <a:p>
            <a:pPr eaLnBrk="1" hangingPunct="1"/>
            <a:r>
              <a:rPr lang="pt-BR" altLang="pt-BR" sz="3600"/>
              <a:t>UML – MODELO DE CONTEXTO</a:t>
            </a:r>
            <a:endParaRPr lang="pt-PT" altLang="pt-BR" sz="3600"/>
          </a:p>
        </p:txBody>
      </p:sp>
      <p:sp>
        <p:nvSpPr>
          <p:cNvPr id="317442" name="Espaço Reservado para Número de Slide 5"/>
          <p:cNvSpPr>
            <a:spLocks noGrp="1"/>
          </p:cNvSpPr>
          <p:nvPr>
            <p:ph type="sldNum"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CB1DDA3A-48A9-42A6-BCB7-7639A2AA4103}" type="slidenum">
              <a:rPr lang="pt-PT" altLang="pt-BR" sz="1400"/>
              <a:pPr>
                <a:spcBef>
                  <a:spcPct val="0"/>
                </a:spcBef>
                <a:buFontTx/>
                <a:buNone/>
              </a:pPr>
              <a:t>10</a:t>
            </a:fld>
            <a:endParaRPr lang="pt-PT" altLang="pt-BR" sz="1400"/>
          </a:p>
        </p:txBody>
      </p:sp>
      <p:sp>
        <p:nvSpPr>
          <p:cNvPr id="317445" name="Retângulo 1"/>
          <p:cNvSpPr>
            <a:spLocks noChangeArrowheads="1"/>
          </p:cNvSpPr>
          <p:nvPr/>
        </p:nvSpPr>
        <p:spPr bwMode="auto">
          <a:xfrm>
            <a:off x="-1212850" y="3030539"/>
            <a:ext cx="339725"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just" eaLnBrk="1" hangingPunct="1">
              <a:spcBef>
                <a:spcPct val="0"/>
              </a:spcBef>
              <a:buFontTx/>
              <a:buNone/>
            </a:pPr>
            <a:r>
              <a:rPr lang="pt-BR" altLang="pt-BR" sz="2400"/>
              <a:t>. </a:t>
            </a:r>
          </a:p>
        </p:txBody>
      </p:sp>
      <p:sp>
        <p:nvSpPr>
          <p:cNvPr id="317446" name="Retângulo 1"/>
          <p:cNvSpPr>
            <a:spLocks noChangeArrowheads="1"/>
          </p:cNvSpPr>
          <p:nvPr/>
        </p:nvSpPr>
        <p:spPr bwMode="auto">
          <a:xfrm>
            <a:off x="86265" y="836614"/>
            <a:ext cx="11947584" cy="37856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pt-BR" altLang="pt-BR" sz="2400" dirty="0">
                <a:latin typeface="+mn-lt"/>
              </a:rPr>
              <a:t>Mostra que o ambiente inclui vários outros sistemas automatizados. </a:t>
            </a:r>
            <a:endParaRPr lang="pt-BR" altLang="pt-BR" sz="2400" dirty="0" smtClean="0">
              <a:latin typeface="+mn-lt"/>
            </a:endParaRPr>
          </a:p>
          <a:p>
            <a:pPr>
              <a:spcBef>
                <a:spcPct val="0"/>
              </a:spcBef>
              <a:buFontTx/>
              <a:buNone/>
            </a:pPr>
            <a:r>
              <a:rPr lang="pt-BR" altLang="pt-BR" sz="2400" dirty="0" smtClean="0">
                <a:latin typeface="+mn-lt"/>
              </a:rPr>
              <a:t>Não </a:t>
            </a:r>
            <a:r>
              <a:rPr lang="pt-BR" altLang="pt-BR" sz="2400" dirty="0">
                <a:latin typeface="+mn-lt"/>
              </a:rPr>
              <a:t>mostra os tipos de relacionamentos entre os sistemas no ambiente e o sistema que está sendo especificado. </a:t>
            </a:r>
          </a:p>
          <a:p>
            <a:pPr>
              <a:spcBef>
                <a:spcPct val="0"/>
              </a:spcBef>
              <a:buFontTx/>
              <a:buNone/>
            </a:pPr>
            <a:r>
              <a:rPr lang="pt-BR" altLang="pt-BR" sz="2400" dirty="0">
                <a:latin typeface="+mn-lt"/>
              </a:rPr>
              <a:t>Sistemas externos podem produzir ou consumir dados do sistema </a:t>
            </a:r>
            <a:endParaRPr lang="pt-BR" altLang="pt-BR" sz="2400" dirty="0" smtClean="0">
              <a:latin typeface="+mn-lt"/>
            </a:endParaRPr>
          </a:p>
          <a:p>
            <a:pPr>
              <a:spcBef>
                <a:spcPct val="0"/>
              </a:spcBef>
              <a:buFontTx/>
              <a:buNone/>
            </a:pPr>
            <a:r>
              <a:rPr lang="pt-BR" altLang="pt-BR" sz="2400" dirty="0" smtClean="0">
                <a:latin typeface="+mn-lt"/>
              </a:rPr>
              <a:t>Podem </a:t>
            </a:r>
            <a:r>
              <a:rPr lang="pt-BR" altLang="pt-BR" sz="2400" dirty="0">
                <a:latin typeface="+mn-lt"/>
              </a:rPr>
              <a:t>estar fisicamente no mesmo local ou localizados em prédios separados. </a:t>
            </a:r>
            <a:endParaRPr lang="pt-BR" altLang="pt-BR" sz="2400" dirty="0" smtClean="0">
              <a:latin typeface="+mn-lt"/>
            </a:endParaRPr>
          </a:p>
          <a:p>
            <a:pPr>
              <a:spcBef>
                <a:spcPct val="0"/>
              </a:spcBef>
              <a:buFontTx/>
              <a:buNone/>
            </a:pPr>
            <a:r>
              <a:rPr lang="pt-BR" altLang="pt-BR" sz="2400" dirty="0" smtClean="0">
                <a:latin typeface="+mn-lt"/>
              </a:rPr>
              <a:t>Todas </a:t>
            </a:r>
            <a:r>
              <a:rPr lang="pt-BR" altLang="pt-BR" sz="2400" dirty="0">
                <a:latin typeface="+mn-lt"/>
              </a:rPr>
              <a:t>essas relações podem afetar os requisitos e o projeto do sistema a ser definido e devem ser levadas em conta. </a:t>
            </a:r>
          </a:p>
          <a:p>
            <a:pPr>
              <a:spcBef>
                <a:spcPct val="0"/>
              </a:spcBef>
              <a:buFontTx/>
              <a:buNone/>
            </a:pPr>
            <a:r>
              <a:rPr lang="pt-BR" altLang="pt-BR" sz="2400" dirty="0">
                <a:latin typeface="+mn-lt"/>
              </a:rPr>
              <a:t>Modelos de contexto simples são usados com outros modelos, como modelos de processos de </a:t>
            </a:r>
            <a:r>
              <a:rPr lang="pt-BR" altLang="pt-BR" sz="2400" dirty="0" smtClean="0">
                <a:latin typeface="+mn-lt"/>
              </a:rPr>
              <a:t>negócio (descrevem </a:t>
            </a:r>
            <a:r>
              <a:rPr lang="pt-BR" altLang="pt-BR" sz="2400" dirty="0">
                <a:latin typeface="+mn-lt"/>
              </a:rPr>
              <a:t>os processos humanos e automatizados em que os sistemas de software específicos são </a:t>
            </a:r>
            <a:r>
              <a:rPr lang="pt-BR" altLang="pt-BR" sz="2400" dirty="0" smtClean="0">
                <a:latin typeface="+mn-lt"/>
              </a:rPr>
              <a:t>usados). </a:t>
            </a:r>
            <a:endParaRPr lang="pt-BR" altLang="pt-BR" sz="2400" dirty="0">
              <a:latin typeface="+mn-lt"/>
            </a:endParaRPr>
          </a:p>
        </p:txBody>
      </p:sp>
    </p:spTree>
    <p:extLst>
      <p:ext uri="{BB962C8B-B14F-4D97-AF65-F5344CB8AC3E}">
        <p14:creationId xmlns:p14="http://schemas.microsoft.com/office/powerpoint/2010/main" val="1406417347"/>
      </p:ext>
    </p:extLst>
  </p:cSld>
  <p:clrMapOvr>
    <a:overrideClrMapping bg1="lt1" tx1="dk1" bg2="lt2" tx2="dk2" accent1="accent1" accent2="accent2" accent3="accent3" accent4="accent4" accent5="accent5" accent6="accent6" hlink="hlink" folHlink="folHlink"/>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8466" name="Espaço Reservado para Número de Slide 5"/>
          <p:cNvSpPr>
            <a:spLocks noGrp="1"/>
          </p:cNvSpPr>
          <p:nvPr>
            <p:ph type="sldNum"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152DC910-9285-4DA4-9E61-C1F15ACD88FA}" type="slidenum">
              <a:rPr lang="pt-PT" altLang="pt-BR" sz="1400"/>
              <a:pPr>
                <a:spcBef>
                  <a:spcPct val="0"/>
                </a:spcBef>
                <a:buFontTx/>
                <a:buNone/>
              </a:pPr>
              <a:t>11</a:t>
            </a:fld>
            <a:endParaRPr lang="pt-PT" altLang="pt-BR" sz="1400"/>
          </a:p>
        </p:txBody>
      </p:sp>
      <p:sp>
        <p:nvSpPr>
          <p:cNvPr id="318467" name="Rectangle 2"/>
          <p:cNvSpPr>
            <a:spLocks noGrp="1" noChangeArrowheads="1"/>
          </p:cNvSpPr>
          <p:nvPr>
            <p:ph type="ctrTitle"/>
          </p:nvPr>
        </p:nvSpPr>
        <p:spPr>
          <a:xfrm>
            <a:off x="1524001" y="1"/>
            <a:ext cx="9217025" cy="836613"/>
          </a:xfrm>
        </p:spPr>
        <p:txBody>
          <a:bodyPr anchor="ctr"/>
          <a:lstStyle/>
          <a:p>
            <a:pPr eaLnBrk="1" hangingPunct="1"/>
            <a:r>
              <a:rPr lang="pt-BR" altLang="pt-BR" sz="3600"/>
              <a:t>UML – MODELO DE CONTEXTO</a:t>
            </a:r>
            <a:endParaRPr lang="pt-PT" altLang="pt-BR" sz="3600"/>
          </a:p>
        </p:txBody>
      </p:sp>
      <p:sp>
        <p:nvSpPr>
          <p:cNvPr id="318468" name="Rectangle 3"/>
          <p:cNvSpPr>
            <a:spLocks noGrp="1" noChangeArrowheads="1"/>
          </p:cNvSpPr>
          <p:nvPr>
            <p:ph type="subTitle" idx="1"/>
          </p:nvPr>
        </p:nvSpPr>
        <p:spPr>
          <a:xfrm>
            <a:off x="1541463" y="908051"/>
            <a:ext cx="8731250" cy="6048375"/>
          </a:xfrm>
        </p:spPr>
        <p:txBody>
          <a:bodyPr/>
          <a:lstStyle/>
          <a:p>
            <a:pPr algn="just" eaLnBrk="1" hangingPunct="1">
              <a:spcBef>
                <a:spcPct val="0"/>
              </a:spcBef>
            </a:pPr>
            <a:r>
              <a:rPr lang="pt-BR" altLang="pt-BR" smtClean="0"/>
              <a:t> </a:t>
            </a:r>
          </a:p>
        </p:txBody>
      </p:sp>
      <p:sp>
        <p:nvSpPr>
          <p:cNvPr id="318469" name="Retângulo 1"/>
          <p:cNvSpPr>
            <a:spLocks noChangeArrowheads="1"/>
          </p:cNvSpPr>
          <p:nvPr/>
        </p:nvSpPr>
        <p:spPr bwMode="auto">
          <a:xfrm>
            <a:off x="-1212850" y="3030539"/>
            <a:ext cx="339725"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just" eaLnBrk="1" hangingPunct="1">
              <a:spcBef>
                <a:spcPct val="0"/>
              </a:spcBef>
              <a:buFontTx/>
              <a:buNone/>
            </a:pPr>
            <a:r>
              <a:rPr lang="pt-BR" altLang="pt-BR" sz="2400"/>
              <a:t>. </a:t>
            </a:r>
          </a:p>
        </p:txBody>
      </p:sp>
      <p:sp>
        <p:nvSpPr>
          <p:cNvPr id="318470" name="Retângulo 1"/>
          <p:cNvSpPr>
            <a:spLocks noChangeArrowheads="1"/>
          </p:cNvSpPr>
          <p:nvPr/>
        </p:nvSpPr>
        <p:spPr bwMode="auto">
          <a:xfrm>
            <a:off x="1703389" y="1042988"/>
            <a:ext cx="8713787"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pt-BR" altLang="pt-BR" sz="2400"/>
              <a:t>. </a:t>
            </a:r>
          </a:p>
        </p:txBody>
      </p:sp>
      <p:pic>
        <p:nvPicPr>
          <p:cNvPr id="318471" name="Imagem 2"/>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819509" y="93570"/>
            <a:ext cx="9161253" cy="66263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363705734"/>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9490" name="Espaço Reservado para Número de Slide 5"/>
          <p:cNvSpPr>
            <a:spLocks noGrp="1"/>
          </p:cNvSpPr>
          <p:nvPr>
            <p:ph type="sldNum"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30E006EC-5704-416D-BFE9-A55A9CF0F3F8}" type="slidenum">
              <a:rPr lang="pt-PT" altLang="pt-BR" sz="1400"/>
              <a:pPr>
                <a:spcBef>
                  <a:spcPct val="0"/>
                </a:spcBef>
                <a:buFontTx/>
                <a:buNone/>
              </a:pPr>
              <a:t>12</a:t>
            </a:fld>
            <a:endParaRPr lang="pt-PT" altLang="pt-BR" sz="1400"/>
          </a:p>
        </p:txBody>
      </p:sp>
      <p:sp>
        <p:nvSpPr>
          <p:cNvPr id="319491" name="Rectangle 2"/>
          <p:cNvSpPr>
            <a:spLocks noGrp="1" noChangeArrowheads="1"/>
          </p:cNvSpPr>
          <p:nvPr>
            <p:ph type="ctrTitle"/>
          </p:nvPr>
        </p:nvSpPr>
        <p:spPr>
          <a:xfrm>
            <a:off x="1524001" y="1"/>
            <a:ext cx="9217025" cy="836613"/>
          </a:xfrm>
        </p:spPr>
        <p:txBody>
          <a:bodyPr anchor="ctr"/>
          <a:lstStyle/>
          <a:p>
            <a:pPr eaLnBrk="1" hangingPunct="1"/>
            <a:r>
              <a:rPr lang="pt-BR" altLang="pt-BR" sz="3600" dirty="0"/>
              <a:t>UML – </a:t>
            </a:r>
            <a:r>
              <a:rPr lang="pt-BR" altLang="pt-BR" sz="3600" dirty="0" smtClean="0"/>
              <a:t>DIAGRAMA DE ATIVIDADES</a:t>
            </a:r>
            <a:endParaRPr lang="pt-PT" altLang="pt-BR" sz="3600" dirty="0"/>
          </a:p>
        </p:txBody>
      </p:sp>
      <p:sp>
        <p:nvSpPr>
          <p:cNvPr id="319492" name="Rectangle 3"/>
          <p:cNvSpPr>
            <a:spLocks noGrp="1" noChangeArrowheads="1"/>
          </p:cNvSpPr>
          <p:nvPr>
            <p:ph type="subTitle" idx="1"/>
          </p:nvPr>
        </p:nvSpPr>
        <p:spPr>
          <a:xfrm>
            <a:off x="1541463" y="908051"/>
            <a:ext cx="8731250" cy="6048375"/>
          </a:xfrm>
        </p:spPr>
        <p:txBody>
          <a:bodyPr/>
          <a:lstStyle/>
          <a:p>
            <a:pPr algn="just" eaLnBrk="1" hangingPunct="1">
              <a:spcBef>
                <a:spcPct val="0"/>
              </a:spcBef>
            </a:pPr>
            <a:r>
              <a:rPr lang="pt-BR" altLang="pt-BR" smtClean="0"/>
              <a:t> </a:t>
            </a:r>
          </a:p>
        </p:txBody>
      </p:sp>
      <p:sp>
        <p:nvSpPr>
          <p:cNvPr id="319493" name="Retângulo 1"/>
          <p:cNvSpPr>
            <a:spLocks noChangeArrowheads="1"/>
          </p:cNvSpPr>
          <p:nvPr/>
        </p:nvSpPr>
        <p:spPr bwMode="auto">
          <a:xfrm>
            <a:off x="-1212850" y="3030539"/>
            <a:ext cx="339725"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just" eaLnBrk="1" hangingPunct="1">
              <a:spcBef>
                <a:spcPct val="0"/>
              </a:spcBef>
              <a:buFontTx/>
              <a:buNone/>
            </a:pPr>
            <a:r>
              <a:rPr lang="pt-BR" altLang="pt-BR" sz="2400"/>
              <a:t>. </a:t>
            </a:r>
          </a:p>
        </p:txBody>
      </p:sp>
      <p:sp>
        <p:nvSpPr>
          <p:cNvPr id="319494" name="Retângulo 1"/>
          <p:cNvSpPr>
            <a:spLocks noChangeArrowheads="1"/>
          </p:cNvSpPr>
          <p:nvPr/>
        </p:nvSpPr>
        <p:spPr bwMode="auto">
          <a:xfrm>
            <a:off x="1703389" y="1042988"/>
            <a:ext cx="8713787"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pt-BR" altLang="pt-BR" sz="2400"/>
              <a:t>. </a:t>
            </a:r>
          </a:p>
        </p:txBody>
      </p:sp>
      <p:sp>
        <p:nvSpPr>
          <p:cNvPr id="319495" name="Retângulo 3"/>
          <p:cNvSpPr>
            <a:spLocks noChangeArrowheads="1"/>
          </p:cNvSpPr>
          <p:nvPr/>
        </p:nvSpPr>
        <p:spPr bwMode="auto">
          <a:xfrm>
            <a:off x="145781" y="701016"/>
            <a:ext cx="11973464" cy="56323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pt-BR" altLang="pt-BR" sz="2400" dirty="0">
                <a:latin typeface="+mn-lt"/>
              </a:rPr>
              <a:t>Modelo de processo MHC-PMS: Diagrama de </a:t>
            </a:r>
            <a:r>
              <a:rPr lang="pt-BR" altLang="pt-BR" sz="2400" dirty="0" smtClean="0">
                <a:latin typeface="+mn-lt"/>
              </a:rPr>
              <a:t>Atividades  </a:t>
            </a:r>
            <a:r>
              <a:rPr lang="pt-BR" altLang="pt-BR" sz="2400" dirty="0" err="1" smtClean="0">
                <a:solidFill>
                  <a:srgbClr val="FF0000"/>
                </a:solidFill>
                <a:latin typeface="+mn-lt"/>
              </a:rPr>
              <a:t>pg</a:t>
            </a:r>
            <a:r>
              <a:rPr lang="pt-BR" altLang="pt-BR" sz="2400" dirty="0" smtClean="0">
                <a:solidFill>
                  <a:srgbClr val="FF0000"/>
                </a:solidFill>
                <a:latin typeface="+mn-lt"/>
              </a:rPr>
              <a:t> </a:t>
            </a:r>
            <a:r>
              <a:rPr lang="pt-BR" altLang="pt-BR" sz="2400" dirty="0" smtClean="0">
                <a:solidFill>
                  <a:srgbClr val="FF0000"/>
                </a:solidFill>
                <a:latin typeface="+mn-lt"/>
              </a:rPr>
              <a:t>99</a:t>
            </a:r>
            <a:endParaRPr lang="pt-BR" altLang="pt-BR" sz="2400" dirty="0" smtClean="0">
              <a:solidFill>
                <a:srgbClr val="FF0000"/>
              </a:solidFill>
              <a:latin typeface="+mn-lt"/>
            </a:endParaRPr>
          </a:p>
          <a:p>
            <a:pPr>
              <a:spcBef>
                <a:spcPct val="0"/>
              </a:spcBef>
              <a:buFontTx/>
              <a:buNone/>
            </a:pPr>
            <a:r>
              <a:rPr lang="pt-BR" altLang="pt-BR" sz="2400" dirty="0" smtClean="0">
                <a:latin typeface="+mn-lt"/>
              </a:rPr>
              <a:t>Pacientes com </a:t>
            </a:r>
            <a:r>
              <a:rPr lang="pt-BR" altLang="pt-BR" sz="2400" dirty="0">
                <a:latin typeface="+mn-lt"/>
              </a:rPr>
              <a:t>problemas de saúde mental podem ser um perigo para os outros e/ou para eles mesmos. </a:t>
            </a:r>
          </a:p>
          <a:p>
            <a:pPr>
              <a:spcBef>
                <a:spcPct val="0"/>
              </a:spcBef>
              <a:buFontTx/>
              <a:buNone/>
            </a:pPr>
            <a:r>
              <a:rPr lang="pt-BR" altLang="pt-BR" sz="2400" dirty="0" smtClean="0">
                <a:latin typeface="+mn-lt"/>
              </a:rPr>
              <a:t>Internação </a:t>
            </a:r>
            <a:r>
              <a:rPr lang="pt-BR" altLang="pt-BR" sz="2400" dirty="0">
                <a:latin typeface="+mn-lt"/>
              </a:rPr>
              <a:t>contra a vontade, </a:t>
            </a:r>
            <a:r>
              <a:rPr lang="pt-BR" altLang="pt-BR" sz="2400" dirty="0" smtClean="0">
                <a:latin typeface="+mn-lt"/>
              </a:rPr>
              <a:t>sujeita </a:t>
            </a:r>
            <a:r>
              <a:rPr lang="pt-BR" altLang="pt-BR" sz="2400" dirty="0">
                <a:latin typeface="+mn-lt"/>
              </a:rPr>
              <a:t>a severas salvaguardas </a:t>
            </a:r>
            <a:r>
              <a:rPr lang="pt-BR" altLang="pt-BR" sz="2400" dirty="0" smtClean="0">
                <a:latin typeface="+mn-lt"/>
              </a:rPr>
              <a:t>jurídicas. </a:t>
            </a:r>
            <a:r>
              <a:rPr lang="pt-BR" altLang="pt-BR" sz="2400" dirty="0" err="1" smtClean="0">
                <a:latin typeface="+mn-lt"/>
              </a:rPr>
              <a:t>Ex</a:t>
            </a:r>
            <a:r>
              <a:rPr lang="pt-BR" altLang="pt-BR" sz="2400" dirty="0" smtClean="0">
                <a:latin typeface="+mn-lt"/>
              </a:rPr>
              <a:t>: </a:t>
            </a:r>
            <a:r>
              <a:rPr lang="pt-BR" altLang="pt-BR" sz="2400" dirty="0">
                <a:latin typeface="+mn-lt"/>
              </a:rPr>
              <a:t>decisão de internar um paciente deve ser regularmente revista </a:t>
            </a:r>
            <a:endParaRPr lang="pt-BR" altLang="pt-BR" sz="2400" dirty="0" smtClean="0">
              <a:latin typeface="+mn-lt"/>
            </a:endParaRPr>
          </a:p>
          <a:p>
            <a:pPr>
              <a:spcBef>
                <a:spcPct val="0"/>
              </a:spcBef>
              <a:buFontTx/>
              <a:buNone/>
            </a:pPr>
            <a:r>
              <a:rPr lang="pt-BR" altLang="pt-BR" sz="2400" dirty="0" smtClean="0">
                <a:latin typeface="+mn-lt"/>
              </a:rPr>
              <a:t>Uma </a:t>
            </a:r>
            <a:r>
              <a:rPr lang="pt-BR" altLang="pt-BR" sz="2400" dirty="0">
                <a:latin typeface="+mn-lt"/>
              </a:rPr>
              <a:t>das funções do MHC-PMS é garantir que essas salvaguardas sejam implementadas. </a:t>
            </a:r>
          </a:p>
          <a:p>
            <a:pPr>
              <a:spcBef>
                <a:spcPct val="0"/>
              </a:spcBef>
              <a:buFontTx/>
              <a:buNone/>
            </a:pPr>
            <a:r>
              <a:rPr lang="pt-BR" altLang="pt-BR" sz="2400" dirty="0">
                <a:latin typeface="+mn-lt"/>
              </a:rPr>
              <a:t>D</a:t>
            </a:r>
            <a:r>
              <a:rPr lang="pt-BR" altLang="pt-BR" sz="2400" dirty="0" smtClean="0">
                <a:latin typeface="+mn-lt"/>
              </a:rPr>
              <a:t>iagramas </a:t>
            </a:r>
            <a:r>
              <a:rPr lang="pt-BR" altLang="pt-BR" sz="2400" dirty="0">
                <a:latin typeface="+mn-lt"/>
              </a:rPr>
              <a:t>de </a:t>
            </a:r>
            <a:r>
              <a:rPr lang="pt-BR" altLang="pt-BR" sz="2400" dirty="0" smtClean="0">
                <a:latin typeface="+mn-lt"/>
              </a:rPr>
              <a:t>atividades: mostram </a:t>
            </a:r>
            <a:r>
              <a:rPr lang="pt-BR" altLang="pt-BR" sz="2400" dirty="0">
                <a:latin typeface="+mn-lt"/>
              </a:rPr>
              <a:t>as atividades que compõem um processo de sistema e o fluxo de controle de uma atividade para a outra. </a:t>
            </a:r>
            <a:endParaRPr lang="pt-BR" altLang="pt-BR" sz="2400" dirty="0" smtClean="0">
              <a:latin typeface="+mn-lt"/>
            </a:endParaRPr>
          </a:p>
          <a:p>
            <a:pPr>
              <a:spcBef>
                <a:spcPct val="0"/>
              </a:spcBef>
              <a:buFontTx/>
              <a:buNone/>
            </a:pPr>
            <a:endParaRPr lang="pt-BR" altLang="pt-BR" sz="2400" dirty="0" smtClean="0">
              <a:latin typeface="+mn-lt"/>
            </a:endParaRPr>
          </a:p>
          <a:p>
            <a:pPr>
              <a:spcBef>
                <a:spcPct val="0"/>
              </a:spcBef>
              <a:buFontTx/>
              <a:buNone/>
            </a:pPr>
            <a:r>
              <a:rPr lang="pt-BR" altLang="pt-BR" sz="2400" dirty="0" smtClean="0">
                <a:latin typeface="+mn-lt"/>
              </a:rPr>
              <a:t>Início </a:t>
            </a:r>
            <a:r>
              <a:rPr lang="pt-BR" altLang="pt-BR" sz="2400" dirty="0">
                <a:latin typeface="+mn-lt"/>
              </a:rPr>
              <a:t>de um </a:t>
            </a:r>
            <a:r>
              <a:rPr lang="pt-BR" altLang="pt-BR" sz="2400" dirty="0" smtClean="0">
                <a:latin typeface="+mn-lt"/>
              </a:rPr>
              <a:t>processo: </a:t>
            </a:r>
            <a:r>
              <a:rPr lang="pt-BR" altLang="pt-BR" sz="2400" dirty="0">
                <a:latin typeface="+mn-lt"/>
              </a:rPr>
              <a:t>círculo preenchido;</a:t>
            </a:r>
          </a:p>
          <a:p>
            <a:pPr>
              <a:spcBef>
                <a:spcPct val="0"/>
              </a:spcBef>
              <a:buFontTx/>
              <a:buNone/>
            </a:pPr>
            <a:r>
              <a:rPr lang="pt-BR" altLang="pt-BR" sz="2400" dirty="0" smtClean="0">
                <a:latin typeface="+mn-lt"/>
              </a:rPr>
              <a:t>Fim: </a:t>
            </a:r>
            <a:r>
              <a:rPr lang="pt-BR" altLang="pt-BR" sz="2400" dirty="0">
                <a:latin typeface="+mn-lt"/>
              </a:rPr>
              <a:t>círculo preenchido dentro de outro círculo. </a:t>
            </a:r>
          </a:p>
          <a:p>
            <a:pPr>
              <a:spcBef>
                <a:spcPct val="0"/>
              </a:spcBef>
              <a:buFontTx/>
              <a:buNone/>
            </a:pPr>
            <a:r>
              <a:rPr lang="pt-BR" altLang="pt-BR" sz="2400" dirty="0">
                <a:latin typeface="+mn-lt"/>
              </a:rPr>
              <a:t>R</a:t>
            </a:r>
            <a:r>
              <a:rPr lang="pt-BR" altLang="pt-BR" sz="2400" dirty="0" smtClean="0">
                <a:latin typeface="+mn-lt"/>
              </a:rPr>
              <a:t>etângulos </a:t>
            </a:r>
            <a:r>
              <a:rPr lang="pt-BR" altLang="pt-BR" sz="2400" dirty="0">
                <a:latin typeface="+mn-lt"/>
              </a:rPr>
              <a:t>com cantos </a:t>
            </a:r>
            <a:r>
              <a:rPr lang="pt-BR" altLang="pt-BR" sz="2400" dirty="0" smtClean="0">
                <a:latin typeface="+mn-lt"/>
              </a:rPr>
              <a:t>arredondados: atividades, </a:t>
            </a:r>
            <a:r>
              <a:rPr lang="pt-BR" altLang="pt-BR" sz="2400" dirty="0" err="1">
                <a:latin typeface="+mn-lt"/>
              </a:rPr>
              <a:t>subprocessos</a:t>
            </a:r>
            <a:r>
              <a:rPr lang="pt-BR" altLang="pt-BR" sz="2400" dirty="0">
                <a:latin typeface="+mn-lt"/>
              </a:rPr>
              <a:t> específicos que devem ser realizados. </a:t>
            </a:r>
          </a:p>
          <a:p>
            <a:pPr>
              <a:spcBef>
                <a:spcPct val="0"/>
              </a:spcBef>
              <a:buFontTx/>
              <a:buNone/>
            </a:pPr>
            <a:r>
              <a:rPr lang="pt-BR" altLang="pt-BR" sz="2400" dirty="0" smtClean="0">
                <a:latin typeface="+mn-lt"/>
              </a:rPr>
              <a:t>Podem-se </a:t>
            </a:r>
            <a:r>
              <a:rPr lang="pt-BR" altLang="pt-BR" sz="2400" dirty="0">
                <a:latin typeface="+mn-lt"/>
              </a:rPr>
              <a:t>incluir objetos em diagramas de atividades. </a:t>
            </a:r>
          </a:p>
          <a:p>
            <a:pPr>
              <a:spcBef>
                <a:spcPct val="0"/>
              </a:spcBef>
              <a:buFontTx/>
              <a:buNone/>
            </a:pPr>
            <a:endParaRPr lang="pt-BR" altLang="pt-BR" sz="2400" dirty="0"/>
          </a:p>
        </p:txBody>
      </p:sp>
    </p:spTree>
    <p:extLst>
      <p:ext uri="{BB962C8B-B14F-4D97-AF65-F5344CB8AC3E}">
        <p14:creationId xmlns:p14="http://schemas.microsoft.com/office/powerpoint/2010/main" val="3651508702"/>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1538" name="Espaço Reservado para Número de Slide 5"/>
          <p:cNvSpPr>
            <a:spLocks noGrp="1"/>
          </p:cNvSpPr>
          <p:nvPr>
            <p:ph type="sldNum"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FA7A663D-365F-4291-9698-51B7DD2E4EED}" type="slidenum">
              <a:rPr lang="pt-PT" altLang="pt-BR" sz="1400"/>
              <a:pPr>
                <a:spcBef>
                  <a:spcPct val="0"/>
                </a:spcBef>
                <a:buFontTx/>
                <a:buNone/>
              </a:pPr>
              <a:t>13</a:t>
            </a:fld>
            <a:endParaRPr lang="pt-PT" altLang="pt-BR" sz="1400"/>
          </a:p>
        </p:txBody>
      </p:sp>
      <p:sp>
        <p:nvSpPr>
          <p:cNvPr id="321539" name="Rectangle 2"/>
          <p:cNvSpPr>
            <a:spLocks noGrp="1" noChangeArrowheads="1"/>
          </p:cNvSpPr>
          <p:nvPr>
            <p:ph type="ctrTitle"/>
          </p:nvPr>
        </p:nvSpPr>
        <p:spPr>
          <a:xfrm>
            <a:off x="1524001" y="1"/>
            <a:ext cx="9217025" cy="836613"/>
          </a:xfrm>
        </p:spPr>
        <p:txBody>
          <a:bodyPr anchor="ctr"/>
          <a:lstStyle/>
          <a:p>
            <a:r>
              <a:rPr lang="pt-BR" altLang="pt-BR" sz="3600" dirty="0"/>
              <a:t>UML – DIAGRAMA DE ATIVIDADES</a:t>
            </a:r>
            <a:endParaRPr lang="pt-PT" altLang="pt-BR" sz="3600" dirty="0"/>
          </a:p>
        </p:txBody>
      </p:sp>
      <p:sp>
        <p:nvSpPr>
          <p:cNvPr id="321540" name="Rectangle 3"/>
          <p:cNvSpPr>
            <a:spLocks noGrp="1" noChangeArrowheads="1"/>
          </p:cNvSpPr>
          <p:nvPr>
            <p:ph type="subTitle" idx="1"/>
          </p:nvPr>
        </p:nvSpPr>
        <p:spPr>
          <a:xfrm>
            <a:off x="1541463" y="908051"/>
            <a:ext cx="8731250" cy="6048375"/>
          </a:xfrm>
        </p:spPr>
        <p:txBody>
          <a:bodyPr/>
          <a:lstStyle/>
          <a:p>
            <a:pPr algn="just" eaLnBrk="1" hangingPunct="1">
              <a:spcBef>
                <a:spcPct val="0"/>
              </a:spcBef>
            </a:pPr>
            <a:r>
              <a:rPr lang="pt-BR" altLang="pt-BR" smtClean="0"/>
              <a:t> </a:t>
            </a:r>
          </a:p>
        </p:txBody>
      </p:sp>
      <p:sp>
        <p:nvSpPr>
          <p:cNvPr id="321541" name="Retângulo 1"/>
          <p:cNvSpPr>
            <a:spLocks noChangeArrowheads="1"/>
          </p:cNvSpPr>
          <p:nvPr/>
        </p:nvSpPr>
        <p:spPr bwMode="auto">
          <a:xfrm>
            <a:off x="-1212850" y="3030539"/>
            <a:ext cx="339725"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just" eaLnBrk="1" hangingPunct="1">
              <a:spcBef>
                <a:spcPct val="0"/>
              </a:spcBef>
              <a:buFontTx/>
              <a:buNone/>
            </a:pPr>
            <a:r>
              <a:rPr lang="pt-BR" altLang="pt-BR" sz="2400"/>
              <a:t>. </a:t>
            </a:r>
          </a:p>
        </p:txBody>
      </p:sp>
      <p:sp>
        <p:nvSpPr>
          <p:cNvPr id="321542" name="Retângulo 1"/>
          <p:cNvSpPr>
            <a:spLocks noChangeArrowheads="1"/>
          </p:cNvSpPr>
          <p:nvPr/>
        </p:nvSpPr>
        <p:spPr bwMode="auto">
          <a:xfrm>
            <a:off x="1703389" y="1042988"/>
            <a:ext cx="8713787"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pt-BR" altLang="pt-BR" sz="2400"/>
              <a:t>. </a:t>
            </a:r>
          </a:p>
        </p:txBody>
      </p:sp>
      <p:sp>
        <p:nvSpPr>
          <p:cNvPr id="321543" name="Retângulo 3"/>
          <p:cNvSpPr>
            <a:spLocks noChangeArrowheads="1"/>
          </p:cNvSpPr>
          <p:nvPr/>
        </p:nvSpPr>
        <p:spPr bwMode="auto">
          <a:xfrm>
            <a:off x="60385" y="836615"/>
            <a:ext cx="12051102" cy="52629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pt-BR" altLang="pt-BR" sz="2400" dirty="0" smtClean="0">
                <a:latin typeface="+mn-lt"/>
              </a:rPr>
              <a:t>Setas: </a:t>
            </a:r>
            <a:r>
              <a:rPr lang="pt-BR" altLang="pt-BR" sz="2400" dirty="0">
                <a:latin typeface="+mn-lt"/>
              </a:rPr>
              <a:t>fluxo de trabalho de uma atividade para outra. </a:t>
            </a:r>
            <a:endParaRPr lang="pt-BR" altLang="pt-BR" sz="2400" dirty="0" smtClean="0">
              <a:latin typeface="+mn-lt"/>
            </a:endParaRPr>
          </a:p>
          <a:p>
            <a:pPr>
              <a:spcBef>
                <a:spcPct val="0"/>
              </a:spcBef>
              <a:buFontTx/>
              <a:buNone/>
            </a:pPr>
            <a:r>
              <a:rPr lang="pt-BR" altLang="pt-BR" sz="2400" dirty="0" smtClean="0">
                <a:latin typeface="+mn-lt"/>
              </a:rPr>
              <a:t>Barra sólida: indica a </a:t>
            </a:r>
            <a:r>
              <a:rPr lang="pt-BR" altLang="pt-BR" sz="2400" dirty="0">
                <a:latin typeface="+mn-lt"/>
              </a:rPr>
              <a:t>coordenação de atividades.</a:t>
            </a:r>
          </a:p>
          <a:p>
            <a:pPr>
              <a:spcBef>
                <a:spcPct val="0"/>
              </a:spcBef>
              <a:buFontTx/>
              <a:buNone/>
            </a:pPr>
            <a:r>
              <a:rPr lang="pt-BR" altLang="pt-BR" sz="2400" dirty="0">
                <a:latin typeface="+mn-lt"/>
              </a:rPr>
              <a:t>F</a:t>
            </a:r>
            <a:r>
              <a:rPr lang="pt-BR" altLang="pt-BR" sz="2400" dirty="0" smtClean="0">
                <a:latin typeface="+mn-lt"/>
              </a:rPr>
              <a:t>luxo </a:t>
            </a:r>
            <a:r>
              <a:rPr lang="pt-BR" altLang="pt-BR" sz="2400" dirty="0">
                <a:latin typeface="+mn-lt"/>
              </a:rPr>
              <a:t>de mais de uma atividade </a:t>
            </a:r>
            <a:r>
              <a:rPr lang="pt-BR" altLang="pt-BR" sz="2400" dirty="0" smtClean="0">
                <a:latin typeface="+mn-lt"/>
              </a:rPr>
              <a:t>com </a:t>
            </a:r>
            <a:r>
              <a:rPr lang="pt-BR" altLang="pt-BR" sz="2400" dirty="0">
                <a:latin typeface="+mn-lt"/>
              </a:rPr>
              <a:t>barra </a:t>
            </a:r>
            <a:r>
              <a:rPr lang="pt-BR" altLang="pt-BR" sz="2400" dirty="0" smtClean="0">
                <a:latin typeface="+mn-lt"/>
              </a:rPr>
              <a:t>sólida: todas as </a:t>
            </a:r>
            <a:r>
              <a:rPr lang="pt-BR" altLang="pt-BR" sz="2400" dirty="0">
                <a:latin typeface="+mn-lt"/>
              </a:rPr>
              <a:t>atividades devem ser concluídas antes </a:t>
            </a:r>
            <a:r>
              <a:rPr lang="pt-BR" altLang="pt-BR" sz="2400" dirty="0" smtClean="0">
                <a:latin typeface="+mn-lt"/>
              </a:rPr>
              <a:t>do </a:t>
            </a:r>
            <a:r>
              <a:rPr lang="pt-BR" altLang="pt-BR" sz="2400" dirty="0">
                <a:latin typeface="+mn-lt"/>
              </a:rPr>
              <a:t>progresso ser possível. </a:t>
            </a:r>
          </a:p>
          <a:p>
            <a:pPr>
              <a:spcBef>
                <a:spcPct val="0"/>
              </a:spcBef>
              <a:buFontTx/>
              <a:buNone/>
            </a:pPr>
            <a:r>
              <a:rPr lang="pt-BR" altLang="pt-BR" sz="2400" dirty="0">
                <a:latin typeface="+mn-lt"/>
              </a:rPr>
              <a:t>F</a:t>
            </a:r>
            <a:r>
              <a:rPr lang="pt-BR" altLang="pt-BR" sz="2400" dirty="0" smtClean="0">
                <a:latin typeface="+mn-lt"/>
              </a:rPr>
              <a:t>luxo </a:t>
            </a:r>
            <a:r>
              <a:rPr lang="pt-BR" altLang="pt-BR" sz="2400" dirty="0">
                <a:latin typeface="+mn-lt"/>
              </a:rPr>
              <a:t>de uma barra sólida leva a uma série de </a:t>
            </a:r>
            <a:r>
              <a:rPr lang="pt-BR" altLang="pt-BR" sz="2400" dirty="0" smtClean="0">
                <a:latin typeface="+mn-lt"/>
              </a:rPr>
              <a:t>atividades: </a:t>
            </a:r>
            <a:r>
              <a:rPr lang="pt-BR" altLang="pt-BR" sz="2400" dirty="0">
                <a:latin typeface="+mn-lt"/>
              </a:rPr>
              <a:t>podem ser executadas em paralelo. </a:t>
            </a:r>
          </a:p>
          <a:p>
            <a:pPr>
              <a:spcBef>
                <a:spcPct val="0"/>
              </a:spcBef>
              <a:buFontTx/>
              <a:buNone/>
            </a:pPr>
            <a:r>
              <a:rPr lang="pt-BR" altLang="pt-BR" sz="2400" dirty="0">
                <a:latin typeface="+mn-lt"/>
              </a:rPr>
              <a:t>I</a:t>
            </a:r>
            <a:r>
              <a:rPr lang="pt-BR" altLang="pt-BR" sz="2400" dirty="0" smtClean="0">
                <a:latin typeface="+mn-lt"/>
              </a:rPr>
              <a:t>nformar </a:t>
            </a:r>
            <a:r>
              <a:rPr lang="pt-BR" altLang="pt-BR" sz="2400" dirty="0">
                <a:latin typeface="+mn-lt"/>
              </a:rPr>
              <a:t>a assistência social e os parentes próximos do paciente podem ser concorrentes à atualização do registo de internação. </a:t>
            </a:r>
          </a:p>
          <a:p>
            <a:pPr>
              <a:spcBef>
                <a:spcPct val="0"/>
              </a:spcBef>
              <a:buFontTx/>
              <a:buNone/>
            </a:pPr>
            <a:r>
              <a:rPr lang="pt-BR" altLang="pt-BR" sz="2400" dirty="0" smtClean="0">
                <a:latin typeface="+mn-lt"/>
              </a:rPr>
              <a:t>Setas: </a:t>
            </a:r>
            <a:r>
              <a:rPr lang="pt-BR" altLang="pt-BR" sz="2400" dirty="0">
                <a:latin typeface="+mn-lt"/>
              </a:rPr>
              <a:t>podem ser anotadas com guardas que indicam a condição de quando o fluxo é tomado. V</a:t>
            </a:r>
            <a:r>
              <a:rPr lang="pt-BR" altLang="pt-BR" sz="2400" dirty="0" smtClean="0">
                <a:latin typeface="+mn-lt"/>
              </a:rPr>
              <a:t>ê-se </a:t>
            </a:r>
            <a:r>
              <a:rPr lang="pt-BR" altLang="pt-BR" sz="2400" dirty="0">
                <a:latin typeface="+mn-lt"/>
              </a:rPr>
              <a:t>os guardas que mostram os fluxos para pacientes perigosos e não perigosos para a sociedade</a:t>
            </a:r>
            <a:r>
              <a:rPr lang="pt-BR" altLang="pt-BR" sz="2400" dirty="0" smtClean="0">
                <a:latin typeface="+mn-lt"/>
              </a:rPr>
              <a:t>.</a:t>
            </a:r>
          </a:p>
          <a:p>
            <a:pPr>
              <a:spcBef>
                <a:spcPct val="0"/>
              </a:spcBef>
              <a:buFontTx/>
              <a:buNone/>
            </a:pPr>
            <a:r>
              <a:rPr lang="pt-BR" altLang="pt-BR" sz="2400" dirty="0">
                <a:latin typeface="+mn-lt"/>
              </a:rPr>
              <a:t>Pacientes perigosos: internados em uma instalação segura. </a:t>
            </a:r>
          </a:p>
          <a:p>
            <a:pPr>
              <a:spcBef>
                <a:spcPct val="0"/>
              </a:spcBef>
              <a:buFontTx/>
              <a:buNone/>
            </a:pPr>
            <a:r>
              <a:rPr lang="pt-BR" altLang="pt-BR" sz="2400" dirty="0">
                <a:latin typeface="+mn-lt"/>
              </a:rPr>
              <a:t>Pacientes suicidas - perigosos para eles mesmos: internados em uma enfermaria apropriada de um hospital.</a:t>
            </a:r>
          </a:p>
          <a:p>
            <a:pPr>
              <a:spcBef>
                <a:spcPct val="0"/>
              </a:spcBef>
              <a:buFontTx/>
              <a:buNone/>
            </a:pPr>
            <a:endParaRPr lang="pt-BR" altLang="pt-BR" sz="2400" dirty="0"/>
          </a:p>
        </p:txBody>
      </p:sp>
    </p:spTree>
    <p:extLst>
      <p:ext uri="{BB962C8B-B14F-4D97-AF65-F5344CB8AC3E}">
        <p14:creationId xmlns:p14="http://schemas.microsoft.com/office/powerpoint/2010/main" val="3457671810"/>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3586" name="Espaço Reservado para Número de Slide 5"/>
          <p:cNvSpPr>
            <a:spLocks noGrp="1"/>
          </p:cNvSpPr>
          <p:nvPr>
            <p:ph type="sldNum"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F0B7F941-E3C5-447F-A007-C9AF971ADF6C}" type="slidenum">
              <a:rPr lang="pt-PT" altLang="pt-BR" sz="1400"/>
              <a:pPr>
                <a:spcBef>
                  <a:spcPct val="0"/>
                </a:spcBef>
                <a:buFontTx/>
                <a:buNone/>
              </a:pPr>
              <a:t>14</a:t>
            </a:fld>
            <a:endParaRPr lang="pt-PT" altLang="pt-BR" sz="1400"/>
          </a:p>
        </p:txBody>
      </p:sp>
      <p:sp>
        <p:nvSpPr>
          <p:cNvPr id="323587" name="Rectangle 2"/>
          <p:cNvSpPr>
            <a:spLocks noGrp="1" noChangeArrowheads="1"/>
          </p:cNvSpPr>
          <p:nvPr>
            <p:ph type="ctrTitle"/>
          </p:nvPr>
        </p:nvSpPr>
        <p:spPr>
          <a:xfrm>
            <a:off x="1524001" y="1"/>
            <a:ext cx="9217025" cy="836613"/>
          </a:xfrm>
        </p:spPr>
        <p:txBody>
          <a:bodyPr anchor="ctr"/>
          <a:lstStyle/>
          <a:p>
            <a:r>
              <a:rPr lang="pt-BR" altLang="pt-BR" sz="3600" dirty="0"/>
              <a:t>UML – </a:t>
            </a:r>
            <a:r>
              <a:rPr lang="pt-BR" altLang="pt-BR" sz="3600" dirty="0" smtClean="0"/>
              <a:t>MODELAGEM DE INTERAÇÃO</a:t>
            </a:r>
            <a:endParaRPr lang="pt-PT" altLang="pt-BR" sz="3600" dirty="0"/>
          </a:p>
        </p:txBody>
      </p:sp>
      <p:sp>
        <p:nvSpPr>
          <p:cNvPr id="323588" name="Rectangle 3"/>
          <p:cNvSpPr>
            <a:spLocks noGrp="1" noChangeArrowheads="1"/>
          </p:cNvSpPr>
          <p:nvPr>
            <p:ph type="subTitle" idx="1"/>
          </p:nvPr>
        </p:nvSpPr>
        <p:spPr>
          <a:xfrm>
            <a:off x="1541463" y="908051"/>
            <a:ext cx="8731250" cy="6048375"/>
          </a:xfrm>
        </p:spPr>
        <p:txBody>
          <a:bodyPr/>
          <a:lstStyle/>
          <a:p>
            <a:pPr algn="just" eaLnBrk="1" hangingPunct="1">
              <a:spcBef>
                <a:spcPct val="0"/>
              </a:spcBef>
            </a:pPr>
            <a:r>
              <a:rPr lang="pt-BR" altLang="pt-BR" smtClean="0"/>
              <a:t> </a:t>
            </a:r>
          </a:p>
        </p:txBody>
      </p:sp>
      <p:sp>
        <p:nvSpPr>
          <p:cNvPr id="323589" name="Retângulo 1"/>
          <p:cNvSpPr>
            <a:spLocks noChangeArrowheads="1"/>
          </p:cNvSpPr>
          <p:nvPr/>
        </p:nvSpPr>
        <p:spPr bwMode="auto">
          <a:xfrm>
            <a:off x="-1212850" y="3030539"/>
            <a:ext cx="339725"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just" eaLnBrk="1" hangingPunct="1">
              <a:spcBef>
                <a:spcPct val="0"/>
              </a:spcBef>
              <a:buFontTx/>
              <a:buNone/>
            </a:pPr>
            <a:r>
              <a:rPr lang="pt-BR" altLang="pt-BR" sz="2400"/>
              <a:t>. </a:t>
            </a:r>
          </a:p>
        </p:txBody>
      </p:sp>
      <p:sp>
        <p:nvSpPr>
          <p:cNvPr id="323590" name="Retângulo 1"/>
          <p:cNvSpPr>
            <a:spLocks noChangeArrowheads="1"/>
          </p:cNvSpPr>
          <p:nvPr/>
        </p:nvSpPr>
        <p:spPr bwMode="auto">
          <a:xfrm>
            <a:off x="1703389" y="1042988"/>
            <a:ext cx="8713787"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pt-BR" altLang="pt-BR" sz="2400"/>
              <a:t>. </a:t>
            </a:r>
          </a:p>
        </p:txBody>
      </p:sp>
      <p:sp>
        <p:nvSpPr>
          <p:cNvPr id="323591" name="Retângulo 3"/>
          <p:cNvSpPr>
            <a:spLocks noChangeArrowheads="1"/>
          </p:cNvSpPr>
          <p:nvPr/>
        </p:nvSpPr>
        <p:spPr bwMode="auto">
          <a:xfrm>
            <a:off x="0" y="741872"/>
            <a:ext cx="12059728" cy="45243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None/>
            </a:pPr>
            <a:r>
              <a:rPr lang="pt-BR" altLang="pt-BR" sz="2400" dirty="0">
                <a:latin typeface="+mn-lt"/>
              </a:rPr>
              <a:t>Todos os sistemas envolvem algum tipo de interação: </a:t>
            </a:r>
          </a:p>
          <a:p>
            <a:pPr>
              <a:spcBef>
                <a:spcPct val="0"/>
              </a:spcBef>
              <a:buNone/>
            </a:pPr>
            <a:r>
              <a:rPr lang="pt-BR" altLang="pt-BR" sz="2400" dirty="0">
                <a:latin typeface="+mn-lt"/>
              </a:rPr>
              <a:t>interação do usuário (envolve entradas e saídas</a:t>
            </a:r>
            <a:r>
              <a:rPr lang="pt-BR" altLang="pt-BR" sz="2400" dirty="0" smtClean="0">
                <a:latin typeface="+mn-lt"/>
              </a:rPr>
              <a:t>): </a:t>
            </a:r>
            <a:r>
              <a:rPr lang="pt-BR" altLang="pt-BR" sz="2400" dirty="0">
                <a:latin typeface="+mn-lt"/>
              </a:rPr>
              <a:t>Ajuda a identificar os requisitos do </a:t>
            </a:r>
            <a:r>
              <a:rPr lang="pt-BR" altLang="pt-BR" sz="2400" dirty="0" smtClean="0">
                <a:latin typeface="+mn-lt"/>
              </a:rPr>
              <a:t>usuário; </a:t>
            </a:r>
            <a:endParaRPr lang="pt-BR" altLang="pt-BR" sz="2400" dirty="0">
              <a:latin typeface="+mn-lt"/>
            </a:endParaRPr>
          </a:p>
          <a:p>
            <a:pPr>
              <a:spcBef>
                <a:spcPct val="0"/>
              </a:spcBef>
              <a:buNone/>
            </a:pPr>
            <a:r>
              <a:rPr lang="pt-BR" altLang="pt-BR" sz="2400" dirty="0">
                <a:latin typeface="+mn-lt"/>
              </a:rPr>
              <a:t>interação entre o sistema que está em desenvolvimento e outros </a:t>
            </a:r>
            <a:r>
              <a:rPr lang="pt-BR" altLang="pt-BR" sz="2400" dirty="0" smtClean="0">
                <a:latin typeface="+mn-lt"/>
              </a:rPr>
              <a:t>sistemas: </a:t>
            </a:r>
            <a:r>
              <a:rPr lang="pt-BR" altLang="pt-BR" sz="2400" dirty="0">
                <a:latin typeface="+mn-lt"/>
              </a:rPr>
              <a:t>destaca os problemas de comunicação que podem </a:t>
            </a:r>
            <a:r>
              <a:rPr lang="pt-BR" altLang="pt-BR" sz="2400" dirty="0" smtClean="0">
                <a:latin typeface="+mn-lt"/>
              </a:rPr>
              <a:t>surgir; </a:t>
            </a:r>
            <a:endParaRPr lang="pt-BR" altLang="pt-BR" sz="2400" dirty="0">
              <a:latin typeface="+mn-lt"/>
            </a:endParaRPr>
          </a:p>
          <a:p>
            <a:pPr>
              <a:spcBef>
                <a:spcPct val="0"/>
              </a:spcBef>
              <a:buNone/>
            </a:pPr>
            <a:r>
              <a:rPr lang="pt-BR" altLang="pt-BR" sz="2400" dirty="0">
                <a:latin typeface="+mn-lt"/>
              </a:rPr>
              <a:t>interação entre os componentes do </a:t>
            </a:r>
            <a:r>
              <a:rPr lang="pt-BR" altLang="pt-BR" sz="2400" dirty="0" smtClean="0">
                <a:latin typeface="+mn-lt"/>
              </a:rPr>
              <a:t>sistema</a:t>
            </a:r>
            <a:r>
              <a:rPr lang="pt-BR" altLang="pt-BR" sz="2400" dirty="0" smtClean="0">
                <a:latin typeface="+mn-lt"/>
              </a:rPr>
              <a:t>: </a:t>
            </a:r>
            <a:r>
              <a:rPr lang="pt-BR" altLang="pt-BR" sz="2400" dirty="0" smtClean="0">
                <a:latin typeface="+mn-lt"/>
              </a:rPr>
              <a:t>Ajuda </a:t>
            </a:r>
            <a:r>
              <a:rPr lang="pt-BR" altLang="pt-BR" sz="2400" dirty="0">
                <a:latin typeface="+mn-lt"/>
              </a:rPr>
              <a:t>a compreender se a estrutura proposta para o sistema produz o desempenho e a confiança requerida. </a:t>
            </a:r>
          </a:p>
          <a:p>
            <a:pPr>
              <a:spcBef>
                <a:spcPct val="0"/>
              </a:spcBef>
              <a:buNone/>
            </a:pPr>
            <a:endParaRPr lang="pt-BR" altLang="pt-BR" sz="2400" dirty="0">
              <a:latin typeface="+mn-lt"/>
            </a:endParaRPr>
          </a:p>
          <a:p>
            <a:pPr>
              <a:spcBef>
                <a:spcPct val="0"/>
              </a:spcBef>
              <a:buNone/>
            </a:pPr>
            <a:r>
              <a:rPr lang="pt-BR" altLang="pt-BR" sz="2400" dirty="0">
                <a:latin typeface="+mn-lt"/>
              </a:rPr>
              <a:t>Abordagens relacionadas à modelagem da interação:</a:t>
            </a:r>
          </a:p>
          <a:p>
            <a:pPr>
              <a:spcBef>
                <a:spcPct val="0"/>
              </a:spcBef>
              <a:buNone/>
            </a:pPr>
            <a:r>
              <a:rPr lang="pt-BR" altLang="pt-BR" sz="2400" dirty="0">
                <a:latin typeface="+mn-lt"/>
              </a:rPr>
              <a:t>1.Caso de uso: modela interações entre um sistema e atores externos (usuários ou outros sistemas). </a:t>
            </a:r>
          </a:p>
          <a:p>
            <a:pPr>
              <a:spcBef>
                <a:spcPct val="0"/>
              </a:spcBef>
              <a:buNone/>
            </a:pPr>
            <a:r>
              <a:rPr lang="pt-BR" altLang="pt-BR" sz="2400" dirty="0">
                <a:latin typeface="+mn-lt"/>
              </a:rPr>
              <a:t>2. Sequência: modela interações entre os componentes do sistema, embora os agentes externos também possam ser incluídos.</a:t>
            </a:r>
          </a:p>
        </p:txBody>
      </p:sp>
    </p:spTree>
    <p:extLst>
      <p:ext uri="{BB962C8B-B14F-4D97-AF65-F5344CB8AC3E}">
        <p14:creationId xmlns:p14="http://schemas.microsoft.com/office/powerpoint/2010/main" val="3550621643"/>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5634" name="Espaço Reservado para Número de Slide 5"/>
          <p:cNvSpPr>
            <a:spLocks noGrp="1"/>
          </p:cNvSpPr>
          <p:nvPr>
            <p:ph type="sldNum"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B743BDCE-2ADB-411B-9D04-5D783E333974}" type="slidenum">
              <a:rPr lang="pt-PT" altLang="pt-BR" sz="1400"/>
              <a:pPr>
                <a:spcBef>
                  <a:spcPct val="0"/>
                </a:spcBef>
                <a:buFontTx/>
                <a:buNone/>
              </a:pPr>
              <a:t>15</a:t>
            </a:fld>
            <a:endParaRPr lang="pt-PT" altLang="pt-BR" sz="1400"/>
          </a:p>
        </p:txBody>
      </p:sp>
      <p:sp>
        <p:nvSpPr>
          <p:cNvPr id="325635" name="Rectangle 2"/>
          <p:cNvSpPr>
            <a:spLocks noGrp="1" noChangeArrowheads="1"/>
          </p:cNvSpPr>
          <p:nvPr>
            <p:ph type="ctrTitle"/>
          </p:nvPr>
        </p:nvSpPr>
        <p:spPr>
          <a:xfrm>
            <a:off x="1524001" y="1"/>
            <a:ext cx="9217025" cy="836613"/>
          </a:xfrm>
        </p:spPr>
        <p:txBody>
          <a:bodyPr anchor="ctr"/>
          <a:lstStyle/>
          <a:p>
            <a:pPr eaLnBrk="1" hangingPunct="1"/>
            <a:r>
              <a:rPr lang="pt-BR" altLang="pt-BR" sz="3600" dirty="0"/>
              <a:t>UML – MODELO DE </a:t>
            </a:r>
            <a:r>
              <a:rPr lang="pt-BR" altLang="pt-BR" sz="3600" dirty="0" smtClean="0"/>
              <a:t>INTERAÇÃO- Casos de Uso</a:t>
            </a:r>
            <a:endParaRPr lang="pt-PT" altLang="pt-BR" sz="3600" dirty="0"/>
          </a:p>
        </p:txBody>
      </p:sp>
      <p:sp>
        <p:nvSpPr>
          <p:cNvPr id="325636" name="Rectangle 3"/>
          <p:cNvSpPr>
            <a:spLocks noGrp="1" noChangeArrowheads="1"/>
          </p:cNvSpPr>
          <p:nvPr>
            <p:ph type="subTitle" idx="1"/>
          </p:nvPr>
        </p:nvSpPr>
        <p:spPr>
          <a:xfrm>
            <a:off x="1541463" y="908051"/>
            <a:ext cx="8731250" cy="6048375"/>
          </a:xfrm>
        </p:spPr>
        <p:txBody>
          <a:bodyPr/>
          <a:lstStyle/>
          <a:p>
            <a:pPr algn="just" eaLnBrk="1" hangingPunct="1">
              <a:spcBef>
                <a:spcPct val="0"/>
              </a:spcBef>
            </a:pPr>
            <a:r>
              <a:rPr lang="pt-BR" altLang="pt-BR" smtClean="0"/>
              <a:t> </a:t>
            </a:r>
          </a:p>
        </p:txBody>
      </p:sp>
      <p:sp>
        <p:nvSpPr>
          <p:cNvPr id="325637" name="Retângulo 1"/>
          <p:cNvSpPr>
            <a:spLocks noChangeArrowheads="1"/>
          </p:cNvSpPr>
          <p:nvPr/>
        </p:nvSpPr>
        <p:spPr bwMode="auto">
          <a:xfrm>
            <a:off x="-1212850" y="3030539"/>
            <a:ext cx="339725"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just" eaLnBrk="1" hangingPunct="1">
              <a:spcBef>
                <a:spcPct val="0"/>
              </a:spcBef>
              <a:buFontTx/>
              <a:buNone/>
            </a:pPr>
            <a:r>
              <a:rPr lang="pt-BR" altLang="pt-BR" sz="2400"/>
              <a:t>. </a:t>
            </a:r>
          </a:p>
        </p:txBody>
      </p:sp>
      <p:sp>
        <p:nvSpPr>
          <p:cNvPr id="325638" name="Retângulo 1"/>
          <p:cNvSpPr>
            <a:spLocks noChangeArrowheads="1"/>
          </p:cNvSpPr>
          <p:nvPr/>
        </p:nvSpPr>
        <p:spPr bwMode="auto">
          <a:xfrm>
            <a:off x="1703389" y="1042988"/>
            <a:ext cx="8713787"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pt-BR" altLang="pt-BR" sz="2400"/>
              <a:t>. </a:t>
            </a:r>
          </a:p>
        </p:txBody>
      </p:sp>
      <p:sp>
        <p:nvSpPr>
          <p:cNvPr id="325639" name="Retângulo 3"/>
          <p:cNvSpPr>
            <a:spLocks noChangeArrowheads="1"/>
          </p:cNvSpPr>
          <p:nvPr/>
        </p:nvSpPr>
        <p:spPr bwMode="auto">
          <a:xfrm>
            <a:off x="112144" y="767751"/>
            <a:ext cx="12079856" cy="41549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pt-BR" altLang="pt-BR" sz="2400" dirty="0">
                <a:latin typeface="+mn-lt"/>
              </a:rPr>
              <a:t>Desenvolvido por Jacobson et al. (1993) na década de 1990, foi incorporado ao primeiro release da UML (RUMBAUGH et al., 1999). Apoia a </a:t>
            </a:r>
            <a:r>
              <a:rPr lang="pt-BR" altLang="pt-BR" sz="2400" dirty="0" err="1">
                <a:latin typeface="+mn-lt"/>
              </a:rPr>
              <a:t>elicitação</a:t>
            </a:r>
            <a:r>
              <a:rPr lang="pt-BR" altLang="pt-BR" sz="2400" dirty="0">
                <a:latin typeface="+mn-lt"/>
              </a:rPr>
              <a:t> de requisitos. </a:t>
            </a:r>
          </a:p>
          <a:p>
            <a:pPr>
              <a:spcBef>
                <a:spcPct val="0"/>
              </a:spcBef>
              <a:buFontTx/>
              <a:buNone/>
            </a:pPr>
            <a:r>
              <a:rPr lang="pt-BR" altLang="pt-BR" sz="2400" dirty="0">
                <a:latin typeface="+mn-lt"/>
              </a:rPr>
              <a:t>Cenário simples que descreve o que o usuário espera de um sistema. Cada caso de uso representa uma tarefa discreta que envolve a interação externa com um sistema. </a:t>
            </a:r>
          </a:p>
          <a:p>
            <a:pPr>
              <a:spcBef>
                <a:spcPct val="0"/>
              </a:spcBef>
              <a:buFontTx/>
              <a:buNone/>
            </a:pPr>
            <a:endParaRPr lang="pt-BR" altLang="pt-BR" sz="2400" dirty="0">
              <a:latin typeface="+mn-lt"/>
            </a:endParaRPr>
          </a:p>
          <a:p>
            <a:pPr>
              <a:spcBef>
                <a:spcPct val="0"/>
              </a:spcBef>
              <a:buFontTx/>
              <a:buNone/>
            </a:pPr>
            <a:r>
              <a:rPr lang="pt-BR" altLang="pt-BR" sz="2400" dirty="0">
                <a:latin typeface="+mn-lt"/>
              </a:rPr>
              <a:t>Caso de uso: elipse</a:t>
            </a:r>
          </a:p>
          <a:p>
            <a:pPr>
              <a:spcBef>
                <a:spcPct val="0"/>
              </a:spcBef>
              <a:buFontTx/>
              <a:buNone/>
            </a:pPr>
            <a:r>
              <a:rPr lang="pt-BR" altLang="pt-BR" sz="2400" dirty="0">
                <a:latin typeface="+mn-lt"/>
              </a:rPr>
              <a:t>Atores: figuras-palito. </a:t>
            </a:r>
          </a:p>
          <a:p>
            <a:pPr>
              <a:spcBef>
                <a:spcPct val="0"/>
              </a:spcBef>
              <a:buFontTx/>
              <a:buNone/>
            </a:pPr>
            <a:endParaRPr lang="pt-BR" altLang="pt-BR" sz="2400" dirty="0">
              <a:latin typeface="+mn-lt"/>
            </a:endParaRPr>
          </a:p>
          <a:p>
            <a:pPr>
              <a:spcBef>
                <a:spcPct val="0"/>
              </a:spcBef>
              <a:buFontTx/>
              <a:buNone/>
            </a:pPr>
            <a:r>
              <a:rPr lang="pt-BR" altLang="pt-BR" sz="2400" dirty="0">
                <a:latin typeface="+mn-lt"/>
              </a:rPr>
              <a:t>Figura 5.3: caso de uso que representa a tarefa de carregar os dados do MHC-PMS para um sistema mais geral de registro de pacientes que mantém um resumo dos dados do paciente, em vez de manter os dados sobre cada consulta, que são registrados no MHC-PMS.</a:t>
            </a:r>
          </a:p>
        </p:txBody>
      </p:sp>
    </p:spTree>
    <p:extLst>
      <p:ext uri="{BB962C8B-B14F-4D97-AF65-F5344CB8AC3E}">
        <p14:creationId xmlns:p14="http://schemas.microsoft.com/office/powerpoint/2010/main" val="144892894"/>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6658" name="Espaço Reservado para Número de Slide 5"/>
          <p:cNvSpPr>
            <a:spLocks noGrp="1"/>
          </p:cNvSpPr>
          <p:nvPr>
            <p:ph type="sldNum"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3BF7EA52-38AC-4609-9075-09D579255BAC}" type="slidenum">
              <a:rPr lang="pt-PT" altLang="pt-BR" sz="1400"/>
              <a:pPr>
                <a:spcBef>
                  <a:spcPct val="0"/>
                </a:spcBef>
                <a:buFontTx/>
                <a:buNone/>
              </a:pPr>
              <a:t>16</a:t>
            </a:fld>
            <a:endParaRPr lang="pt-PT" altLang="pt-BR" sz="1400"/>
          </a:p>
        </p:txBody>
      </p:sp>
      <p:sp>
        <p:nvSpPr>
          <p:cNvPr id="326659" name="Rectangle 2"/>
          <p:cNvSpPr>
            <a:spLocks noGrp="1" noChangeArrowheads="1"/>
          </p:cNvSpPr>
          <p:nvPr>
            <p:ph type="ctrTitle"/>
          </p:nvPr>
        </p:nvSpPr>
        <p:spPr>
          <a:xfrm>
            <a:off x="1524001" y="1"/>
            <a:ext cx="9217025" cy="836613"/>
          </a:xfrm>
        </p:spPr>
        <p:txBody>
          <a:bodyPr anchor="ctr"/>
          <a:lstStyle/>
          <a:p>
            <a:pPr eaLnBrk="1" hangingPunct="1"/>
            <a:r>
              <a:rPr lang="pt-BR" altLang="pt-BR" sz="3600" dirty="0"/>
              <a:t>UML – MODELO DE </a:t>
            </a:r>
            <a:r>
              <a:rPr lang="pt-BR" altLang="pt-BR" sz="3600" dirty="0" smtClean="0"/>
              <a:t>INTERAÇÃO – caso de uso</a:t>
            </a:r>
            <a:endParaRPr lang="pt-PT" altLang="pt-BR" sz="3600" dirty="0"/>
          </a:p>
        </p:txBody>
      </p:sp>
      <p:sp>
        <p:nvSpPr>
          <p:cNvPr id="326660" name="Rectangle 3"/>
          <p:cNvSpPr>
            <a:spLocks noGrp="1" noChangeArrowheads="1"/>
          </p:cNvSpPr>
          <p:nvPr>
            <p:ph type="subTitle" idx="1"/>
          </p:nvPr>
        </p:nvSpPr>
        <p:spPr>
          <a:xfrm>
            <a:off x="1541463" y="908051"/>
            <a:ext cx="8731250" cy="6048375"/>
          </a:xfrm>
        </p:spPr>
        <p:txBody>
          <a:bodyPr/>
          <a:lstStyle/>
          <a:p>
            <a:pPr algn="just" eaLnBrk="1" hangingPunct="1">
              <a:spcBef>
                <a:spcPct val="0"/>
              </a:spcBef>
            </a:pPr>
            <a:r>
              <a:rPr lang="pt-BR" altLang="pt-BR" smtClean="0"/>
              <a:t> </a:t>
            </a:r>
          </a:p>
        </p:txBody>
      </p:sp>
      <p:sp>
        <p:nvSpPr>
          <p:cNvPr id="326661" name="Retângulo 1"/>
          <p:cNvSpPr>
            <a:spLocks noChangeArrowheads="1"/>
          </p:cNvSpPr>
          <p:nvPr/>
        </p:nvSpPr>
        <p:spPr bwMode="auto">
          <a:xfrm>
            <a:off x="-1212850" y="3030539"/>
            <a:ext cx="339725"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just" eaLnBrk="1" hangingPunct="1">
              <a:spcBef>
                <a:spcPct val="0"/>
              </a:spcBef>
              <a:buFontTx/>
              <a:buNone/>
            </a:pPr>
            <a:r>
              <a:rPr lang="pt-BR" altLang="pt-BR" sz="2400"/>
              <a:t>. </a:t>
            </a:r>
          </a:p>
        </p:txBody>
      </p:sp>
      <p:sp>
        <p:nvSpPr>
          <p:cNvPr id="326662" name="Retângulo 1"/>
          <p:cNvSpPr>
            <a:spLocks noChangeArrowheads="1"/>
          </p:cNvSpPr>
          <p:nvPr/>
        </p:nvSpPr>
        <p:spPr bwMode="auto">
          <a:xfrm>
            <a:off x="1703389" y="1042988"/>
            <a:ext cx="8713787"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pt-BR" altLang="pt-BR" sz="2400"/>
              <a:t>. </a:t>
            </a:r>
          </a:p>
        </p:txBody>
      </p:sp>
      <p:pic>
        <p:nvPicPr>
          <p:cNvPr id="326663" name="Imagem 2"/>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2351088" y="1970088"/>
            <a:ext cx="811212" cy="811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26664" name="Imagem 8"/>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8218488" y="1992313"/>
            <a:ext cx="811212" cy="811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Elipse 4"/>
          <p:cNvSpPr/>
          <p:nvPr/>
        </p:nvSpPr>
        <p:spPr>
          <a:xfrm>
            <a:off x="4052889" y="1711326"/>
            <a:ext cx="3267075" cy="1285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pt-BR" dirty="0"/>
              <a:t>Transferir dados</a:t>
            </a:r>
          </a:p>
        </p:txBody>
      </p:sp>
      <p:sp>
        <p:nvSpPr>
          <p:cNvPr id="11" name="Retângulo 10"/>
          <p:cNvSpPr/>
          <p:nvPr/>
        </p:nvSpPr>
        <p:spPr>
          <a:xfrm>
            <a:off x="1847851" y="3260726"/>
            <a:ext cx="2303463" cy="103187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pt-BR" dirty="0"/>
              <a:t>Recepcionista do médico</a:t>
            </a:r>
          </a:p>
        </p:txBody>
      </p:sp>
      <p:sp>
        <p:nvSpPr>
          <p:cNvPr id="16" name="Retângulo 15"/>
          <p:cNvSpPr/>
          <p:nvPr/>
        </p:nvSpPr>
        <p:spPr>
          <a:xfrm>
            <a:off x="7319963" y="3063876"/>
            <a:ext cx="2305050" cy="103187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pt-BR" dirty="0"/>
              <a:t>Sistema de registro de paciente</a:t>
            </a:r>
          </a:p>
        </p:txBody>
      </p:sp>
      <p:cxnSp>
        <p:nvCxnSpPr>
          <p:cNvPr id="15" name="Conector de seta reta 14"/>
          <p:cNvCxnSpPr>
            <a:stCxn id="326663" idx="3"/>
          </p:cNvCxnSpPr>
          <p:nvPr/>
        </p:nvCxnSpPr>
        <p:spPr>
          <a:xfrm>
            <a:off x="3162300" y="2375694"/>
            <a:ext cx="659202"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8" name="Conector de seta reta 17"/>
          <p:cNvCxnSpPr/>
          <p:nvPr/>
        </p:nvCxnSpPr>
        <p:spPr>
          <a:xfrm>
            <a:off x="7548113" y="2375694"/>
            <a:ext cx="810883"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83030529"/>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682" name="Espaço Reservado para Número de Slide 5"/>
          <p:cNvSpPr>
            <a:spLocks noGrp="1"/>
          </p:cNvSpPr>
          <p:nvPr>
            <p:ph type="sldNum"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2BAB7FFF-0DEF-431E-BB29-A23029734DFA}" type="slidenum">
              <a:rPr lang="pt-PT" altLang="pt-BR" sz="1400"/>
              <a:pPr>
                <a:spcBef>
                  <a:spcPct val="0"/>
                </a:spcBef>
                <a:buFontTx/>
                <a:buNone/>
              </a:pPr>
              <a:t>17</a:t>
            </a:fld>
            <a:endParaRPr lang="pt-PT" altLang="pt-BR" sz="1400"/>
          </a:p>
        </p:txBody>
      </p:sp>
      <p:sp>
        <p:nvSpPr>
          <p:cNvPr id="327683" name="Rectangle 2"/>
          <p:cNvSpPr>
            <a:spLocks noGrp="1" noChangeArrowheads="1"/>
          </p:cNvSpPr>
          <p:nvPr>
            <p:ph type="ctrTitle"/>
          </p:nvPr>
        </p:nvSpPr>
        <p:spPr>
          <a:xfrm>
            <a:off x="1524001" y="1"/>
            <a:ext cx="9217025" cy="836613"/>
          </a:xfrm>
        </p:spPr>
        <p:txBody>
          <a:bodyPr anchor="ctr"/>
          <a:lstStyle/>
          <a:p>
            <a:pPr eaLnBrk="1" hangingPunct="1"/>
            <a:r>
              <a:rPr lang="pt-BR" altLang="pt-BR" sz="3600" dirty="0"/>
              <a:t>UML – MODELO DE </a:t>
            </a:r>
            <a:r>
              <a:rPr lang="pt-BR" altLang="pt-BR" sz="3600" dirty="0" smtClean="0"/>
              <a:t>INTERAÇÃO – caso de uso</a:t>
            </a:r>
            <a:endParaRPr lang="pt-PT" altLang="pt-BR" sz="3600" dirty="0"/>
          </a:p>
        </p:txBody>
      </p:sp>
      <p:sp>
        <p:nvSpPr>
          <p:cNvPr id="327684" name="Retângulo 1"/>
          <p:cNvSpPr>
            <a:spLocks noChangeArrowheads="1"/>
          </p:cNvSpPr>
          <p:nvPr/>
        </p:nvSpPr>
        <p:spPr bwMode="auto">
          <a:xfrm>
            <a:off x="-1212850" y="3030539"/>
            <a:ext cx="339725"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just" eaLnBrk="1" hangingPunct="1">
              <a:spcBef>
                <a:spcPct val="0"/>
              </a:spcBef>
              <a:buFontTx/>
              <a:buNone/>
            </a:pPr>
            <a:r>
              <a:rPr lang="pt-BR" altLang="pt-BR" sz="2400"/>
              <a:t>. </a:t>
            </a:r>
          </a:p>
        </p:txBody>
      </p:sp>
      <p:sp>
        <p:nvSpPr>
          <p:cNvPr id="327685" name="Retângulo 3"/>
          <p:cNvSpPr>
            <a:spLocks noChangeArrowheads="1"/>
          </p:cNvSpPr>
          <p:nvPr/>
        </p:nvSpPr>
        <p:spPr bwMode="auto">
          <a:xfrm>
            <a:off x="0" y="836614"/>
            <a:ext cx="12094234" cy="52629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pt-BR" altLang="pt-BR" sz="2400" dirty="0">
                <a:latin typeface="+mn-lt"/>
              </a:rPr>
              <a:t>Existem dois atores nesse caso de uso: o operador que transfere os dados e o sistema de registro de pacientes. </a:t>
            </a:r>
          </a:p>
          <a:p>
            <a:pPr>
              <a:spcBef>
                <a:spcPct val="0"/>
              </a:spcBef>
              <a:buFontTx/>
              <a:buNone/>
            </a:pPr>
            <a:endParaRPr lang="pt-BR" altLang="pt-BR" sz="2400" dirty="0">
              <a:latin typeface="+mn-lt"/>
            </a:endParaRPr>
          </a:p>
          <a:p>
            <a:pPr>
              <a:spcBef>
                <a:spcPct val="0"/>
              </a:spcBef>
              <a:buFontTx/>
              <a:buNone/>
            </a:pPr>
            <a:r>
              <a:rPr lang="pt-BR" altLang="pt-BR" sz="2400" dirty="0">
                <a:latin typeface="+mn-lt"/>
              </a:rPr>
              <a:t>Figura-palito: desenvolvida para cobrir a interação humana, mas também é usada para representar outros sistemas externos e hardware.</a:t>
            </a:r>
          </a:p>
          <a:p>
            <a:pPr>
              <a:spcBef>
                <a:spcPct val="0"/>
              </a:spcBef>
              <a:buFontTx/>
              <a:buNone/>
            </a:pPr>
            <a:r>
              <a:rPr lang="pt-BR" altLang="pt-BR" sz="2400" dirty="0">
                <a:latin typeface="+mn-lt"/>
              </a:rPr>
              <a:t>Linhas sem setas: setas indicam a direção do fluxo de mensagens: em um caso de uso, as mensagens seguem nas duas direções. </a:t>
            </a:r>
          </a:p>
          <a:p>
            <a:pPr>
              <a:spcBef>
                <a:spcPct val="0"/>
              </a:spcBef>
              <a:buFontTx/>
              <a:buNone/>
            </a:pPr>
            <a:r>
              <a:rPr lang="pt-BR" altLang="pt-BR" sz="2400" dirty="0" smtClean="0">
                <a:latin typeface="+mn-lt"/>
              </a:rPr>
              <a:t>Setas </a:t>
            </a:r>
            <a:r>
              <a:rPr lang="pt-BR" altLang="pt-BR" sz="2400" dirty="0">
                <a:latin typeface="+mn-lt"/>
              </a:rPr>
              <a:t>são usadas informalmente para indicar que a(o) recepcionista do médico inicia a operação e os dados são transferidos para o sistema de registro de pacientes</a:t>
            </a:r>
          </a:p>
          <a:p>
            <a:pPr>
              <a:spcBef>
                <a:spcPct val="0"/>
              </a:spcBef>
              <a:buFontTx/>
              <a:buNone/>
            </a:pPr>
            <a:endParaRPr lang="pt-BR" altLang="pt-BR" sz="2400" dirty="0">
              <a:latin typeface="+mn-lt"/>
            </a:endParaRPr>
          </a:p>
          <a:p>
            <a:pPr>
              <a:spcBef>
                <a:spcPct val="0"/>
              </a:spcBef>
              <a:buFontTx/>
              <a:buNone/>
            </a:pPr>
            <a:r>
              <a:rPr lang="pt-BR" altLang="pt-BR" sz="2400" dirty="0">
                <a:latin typeface="+mn-lt"/>
              </a:rPr>
              <a:t>Deve-se fornecer mais detalhes para entender o que está envolvido: simples descrição textual, descrição estruturada em uma tabela ou um diagrama de sequência.</a:t>
            </a:r>
          </a:p>
          <a:p>
            <a:pPr>
              <a:spcBef>
                <a:spcPct val="0"/>
              </a:spcBef>
              <a:buFontTx/>
              <a:buNone/>
            </a:pPr>
            <a:r>
              <a:rPr lang="pt-BR" altLang="pt-BR" sz="2400" dirty="0">
                <a:latin typeface="+mn-lt"/>
              </a:rPr>
              <a:t>Sugestão: formato-padrão de tabela 5.1 (descrição tabular do caso de uso ‘Transferir dados’). </a:t>
            </a:r>
          </a:p>
          <a:p>
            <a:pPr>
              <a:spcBef>
                <a:spcPct val="0"/>
              </a:spcBef>
              <a:buFontTx/>
              <a:buNone/>
            </a:pPr>
            <a:endParaRPr lang="pt-BR" altLang="pt-BR" sz="2400" dirty="0">
              <a:latin typeface="+mn-lt"/>
            </a:endParaRPr>
          </a:p>
        </p:txBody>
      </p:sp>
    </p:spTree>
    <p:extLst>
      <p:ext uri="{BB962C8B-B14F-4D97-AF65-F5344CB8AC3E}">
        <p14:creationId xmlns:p14="http://schemas.microsoft.com/office/powerpoint/2010/main" val="2843298054"/>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9730" name="Espaço Reservado para Número de Slide 5"/>
          <p:cNvSpPr>
            <a:spLocks noGrp="1"/>
          </p:cNvSpPr>
          <p:nvPr>
            <p:ph type="sldNum"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581C32C8-D04E-4E18-8C82-183087E236B4}" type="slidenum">
              <a:rPr lang="pt-PT" altLang="pt-BR" sz="1400"/>
              <a:pPr>
                <a:spcBef>
                  <a:spcPct val="0"/>
                </a:spcBef>
                <a:buFontTx/>
                <a:buNone/>
              </a:pPr>
              <a:t>18</a:t>
            </a:fld>
            <a:endParaRPr lang="pt-PT" altLang="pt-BR" sz="1400"/>
          </a:p>
        </p:txBody>
      </p:sp>
      <p:sp>
        <p:nvSpPr>
          <p:cNvPr id="329731" name="Rectangle 2"/>
          <p:cNvSpPr>
            <a:spLocks noGrp="1" noChangeArrowheads="1"/>
          </p:cNvSpPr>
          <p:nvPr>
            <p:ph type="ctrTitle"/>
          </p:nvPr>
        </p:nvSpPr>
        <p:spPr>
          <a:xfrm>
            <a:off x="1524001" y="1"/>
            <a:ext cx="9217025" cy="836613"/>
          </a:xfrm>
        </p:spPr>
        <p:txBody>
          <a:bodyPr anchor="ctr"/>
          <a:lstStyle/>
          <a:p>
            <a:pPr eaLnBrk="1" hangingPunct="1"/>
            <a:r>
              <a:rPr lang="pt-BR" altLang="pt-BR" sz="3600"/>
              <a:t>UML – MODELO DE INTERAÇÃO</a:t>
            </a:r>
            <a:endParaRPr lang="pt-PT" altLang="pt-BR" sz="3600"/>
          </a:p>
        </p:txBody>
      </p:sp>
      <p:sp>
        <p:nvSpPr>
          <p:cNvPr id="329732" name="Retângulo 1"/>
          <p:cNvSpPr>
            <a:spLocks noChangeArrowheads="1"/>
          </p:cNvSpPr>
          <p:nvPr/>
        </p:nvSpPr>
        <p:spPr bwMode="auto">
          <a:xfrm>
            <a:off x="-1212850" y="3030539"/>
            <a:ext cx="339725"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just" eaLnBrk="1" hangingPunct="1">
              <a:spcBef>
                <a:spcPct val="0"/>
              </a:spcBef>
              <a:buFontTx/>
              <a:buNone/>
            </a:pPr>
            <a:r>
              <a:rPr lang="pt-BR" altLang="pt-BR" sz="2400"/>
              <a:t>. </a:t>
            </a:r>
          </a:p>
        </p:txBody>
      </p:sp>
      <p:sp>
        <p:nvSpPr>
          <p:cNvPr id="329733" name="Retângulo 1"/>
          <p:cNvSpPr>
            <a:spLocks noChangeArrowheads="1"/>
          </p:cNvSpPr>
          <p:nvPr/>
        </p:nvSpPr>
        <p:spPr bwMode="auto">
          <a:xfrm>
            <a:off x="660400" y="966788"/>
            <a:ext cx="871220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pt-BR" altLang="pt-BR" sz="2400"/>
              <a:t>. </a:t>
            </a:r>
          </a:p>
        </p:txBody>
      </p:sp>
      <p:graphicFrame>
        <p:nvGraphicFramePr>
          <p:cNvPr id="3" name="Tabela 2"/>
          <p:cNvGraphicFramePr>
            <a:graphicFrameLocks noGrp="1"/>
          </p:cNvGraphicFramePr>
          <p:nvPr>
            <p:extLst>
              <p:ext uri="{D42A27DB-BD31-4B8C-83A1-F6EECF244321}">
                <p14:modId xmlns:p14="http://schemas.microsoft.com/office/powerpoint/2010/main" val="2307997834"/>
              </p:ext>
            </p:extLst>
          </p:nvPr>
        </p:nvGraphicFramePr>
        <p:xfrm>
          <a:off x="1919289" y="966788"/>
          <a:ext cx="8497887" cy="4359274"/>
        </p:xfrm>
        <a:graphic>
          <a:graphicData uri="http://schemas.openxmlformats.org/drawingml/2006/table">
            <a:tbl>
              <a:tblPr firstRow="1" bandRow="1">
                <a:tableStyleId>{5C22544A-7EE6-4342-B048-85BDC9FD1C3A}</a:tableStyleId>
              </a:tblPr>
              <a:tblGrid>
                <a:gridCol w="1839826"/>
                <a:gridCol w="6658061"/>
              </a:tblGrid>
              <a:tr h="640221">
                <a:tc>
                  <a:txBody>
                    <a:bodyPr/>
                    <a:lstStyle/>
                    <a:p>
                      <a:r>
                        <a:rPr lang="pt-BR" sz="1800" dirty="0" smtClean="0"/>
                        <a:t>Atores</a:t>
                      </a:r>
                      <a:endParaRPr lang="pt-BR" sz="1800" dirty="0"/>
                    </a:p>
                  </a:txBody>
                  <a:tcPr marL="91450" marR="91450" marT="45730" marB="45730"/>
                </a:tc>
                <a:tc>
                  <a:txBody>
                    <a:bodyPr/>
                    <a:lstStyle/>
                    <a:p>
                      <a:r>
                        <a:rPr lang="pt-BR" sz="1800" dirty="0" smtClean="0"/>
                        <a:t>Recepcionista do médico, sistema de registros de pacientes (PRS</a:t>
                      </a:r>
                      <a:r>
                        <a:rPr lang="pt-BR" sz="1800" baseline="0" dirty="0" smtClean="0"/>
                        <a:t> -</a:t>
                      </a:r>
                      <a:r>
                        <a:rPr lang="pt-BR" sz="1800" dirty="0" smtClean="0"/>
                        <a:t> </a:t>
                      </a:r>
                      <a:r>
                        <a:rPr lang="pt-BR" sz="1800" dirty="0" err="1" smtClean="0"/>
                        <a:t>patient</a:t>
                      </a:r>
                      <a:r>
                        <a:rPr lang="pt-BR" sz="1800" dirty="0" smtClean="0"/>
                        <a:t> </a:t>
                      </a:r>
                      <a:r>
                        <a:rPr lang="pt-BR" sz="1800" dirty="0" err="1" smtClean="0"/>
                        <a:t>records</a:t>
                      </a:r>
                      <a:r>
                        <a:rPr lang="pt-BR" sz="1800" dirty="0" smtClean="0"/>
                        <a:t> system)</a:t>
                      </a:r>
                      <a:endParaRPr lang="pt-BR" sz="1800" dirty="0"/>
                    </a:p>
                  </a:txBody>
                  <a:tcPr marL="91450" marR="91450" marT="45730" marB="45730"/>
                </a:tc>
              </a:tr>
              <a:tr h="1471372">
                <a:tc>
                  <a:txBody>
                    <a:bodyPr/>
                    <a:lstStyle/>
                    <a:p>
                      <a:r>
                        <a:rPr lang="pt-BR" sz="1800" dirty="0" smtClean="0"/>
                        <a:t>Descrição</a:t>
                      </a:r>
                      <a:endParaRPr lang="pt-BR" sz="1800" dirty="0"/>
                    </a:p>
                  </a:txBody>
                  <a:tcPr marL="91450" marR="91450" marT="45730" marB="45730"/>
                </a:tc>
                <a:tc>
                  <a:txBody>
                    <a:bodyPr/>
                    <a:lstStyle/>
                    <a:p>
                      <a:r>
                        <a:rPr lang="pt-BR" sz="1800" dirty="0" smtClean="0"/>
                        <a:t>Uma recepcionista pode transferir dados do MHC-PMS para um banco de dados geral de registros de pacientes mantido por uma autoridade de saúde. As informações transferidas podem ser atualizadas com as informações pessoais (endereço, telefone etc.) ou com um resumo do diagnóstico e tratamento do paciente.</a:t>
                      </a:r>
                      <a:endParaRPr lang="pt-BR" sz="1800" dirty="0"/>
                    </a:p>
                  </a:txBody>
                  <a:tcPr marL="91450" marR="91450" marT="45730" marB="45730"/>
                </a:tc>
              </a:tr>
              <a:tr h="401865">
                <a:tc>
                  <a:txBody>
                    <a:bodyPr/>
                    <a:lstStyle/>
                    <a:p>
                      <a:r>
                        <a:rPr lang="pt-BR" sz="1800" dirty="0" smtClean="0"/>
                        <a:t>Dados </a:t>
                      </a:r>
                      <a:endParaRPr lang="pt-BR" sz="1800" dirty="0"/>
                    </a:p>
                  </a:txBody>
                  <a:tcPr marL="91450" marR="91450" marT="45730" marB="45730"/>
                </a:tc>
                <a:tc>
                  <a:txBody>
                    <a:bodyPr/>
                    <a:lstStyle/>
                    <a:p>
                      <a:r>
                        <a:rPr lang="pt-BR" sz="1800" dirty="0" smtClean="0"/>
                        <a:t>Informações pessoais do paciente, resumo do tratamento.</a:t>
                      </a:r>
                      <a:endParaRPr lang="pt-BR" sz="1800" dirty="0"/>
                    </a:p>
                  </a:txBody>
                  <a:tcPr marL="91450" marR="91450" marT="45730" marB="45730"/>
                </a:tc>
              </a:tr>
              <a:tr h="401865">
                <a:tc>
                  <a:txBody>
                    <a:bodyPr/>
                    <a:lstStyle/>
                    <a:p>
                      <a:r>
                        <a:rPr lang="pt-BR" sz="1800" dirty="0" smtClean="0"/>
                        <a:t>Estímulos</a:t>
                      </a:r>
                      <a:endParaRPr lang="pt-BR" sz="1800" dirty="0"/>
                    </a:p>
                  </a:txBody>
                  <a:tcPr marL="91450" marR="91450" marT="45730" marB="45730"/>
                </a:tc>
                <a:tc>
                  <a:txBody>
                    <a:bodyPr/>
                    <a:lstStyle/>
                    <a:p>
                      <a:r>
                        <a:rPr lang="pt-BR" sz="1800" dirty="0" smtClean="0"/>
                        <a:t>Comando de usuário emitido pela recepcionista do médico.</a:t>
                      </a:r>
                      <a:endParaRPr lang="pt-BR" sz="1800" dirty="0"/>
                    </a:p>
                  </a:txBody>
                  <a:tcPr marL="91450" marR="91450" marT="45730" marB="45730"/>
                </a:tc>
              </a:tr>
              <a:tr h="401865">
                <a:tc>
                  <a:txBody>
                    <a:bodyPr/>
                    <a:lstStyle/>
                    <a:p>
                      <a:r>
                        <a:rPr lang="pt-BR" sz="1800" dirty="0" smtClean="0"/>
                        <a:t>Resposta </a:t>
                      </a:r>
                      <a:endParaRPr lang="pt-BR" sz="1800" dirty="0"/>
                    </a:p>
                  </a:txBody>
                  <a:tcPr marL="91450" marR="91450" marT="45730" marB="45730"/>
                </a:tc>
                <a:tc>
                  <a:txBody>
                    <a:bodyPr/>
                    <a:lstStyle/>
                    <a:p>
                      <a:r>
                        <a:rPr lang="pt-BR" sz="1800" dirty="0" smtClean="0"/>
                        <a:t>Confirmação de que o PRS foi atualizado.</a:t>
                      </a:r>
                      <a:endParaRPr lang="pt-BR" sz="1800" dirty="0"/>
                    </a:p>
                  </a:txBody>
                  <a:tcPr marL="91450" marR="91450" marT="45730" marB="45730"/>
                </a:tc>
              </a:tr>
              <a:tr h="640221">
                <a:tc>
                  <a:txBody>
                    <a:bodyPr/>
                    <a:lstStyle/>
                    <a:p>
                      <a:r>
                        <a:rPr lang="pt-BR" sz="1800" dirty="0" smtClean="0"/>
                        <a:t>Comentários </a:t>
                      </a:r>
                      <a:endParaRPr lang="pt-BR" sz="1800" dirty="0"/>
                    </a:p>
                  </a:txBody>
                  <a:tcPr marL="91450" marR="91450" marT="45730" marB="45730"/>
                </a:tc>
                <a:tc>
                  <a:txBody>
                    <a:bodyPr/>
                    <a:lstStyle/>
                    <a:p>
                      <a:r>
                        <a:rPr lang="pt-BR" sz="1800" dirty="0" smtClean="0"/>
                        <a:t>A recepcionista deve ter permissões de proteção adequadas para acessar as informações do paciente e o PRS. </a:t>
                      </a:r>
                      <a:endParaRPr lang="pt-BR" sz="1800" dirty="0"/>
                    </a:p>
                  </a:txBody>
                  <a:tcPr marL="91450" marR="91450" marT="45730" marB="45730"/>
                </a:tc>
              </a:tr>
              <a:tr h="401865">
                <a:tc>
                  <a:txBody>
                    <a:bodyPr/>
                    <a:lstStyle/>
                    <a:p>
                      <a:endParaRPr lang="pt-BR" sz="1800"/>
                    </a:p>
                  </a:txBody>
                  <a:tcPr marL="91450" marR="91450" marT="45730" marB="45730"/>
                </a:tc>
                <a:tc>
                  <a:txBody>
                    <a:bodyPr/>
                    <a:lstStyle/>
                    <a:p>
                      <a:endParaRPr lang="pt-BR" sz="1800" dirty="0"/>
                    </a:p>
                  </a:txBody>
                  <a:tcPr marL="91450" marR="91450" marT="45730" marB="45730"/>
                </a:tc>
              </a:tr>
            </a:tbl>
          </a:graphicData>
        </a:graphic>
      </p:graphicFrame>
    </p:spTree>
    <p:extLst>
      <p:ext uri="{BB962C8B-B14F-4D97-AF65-F5344CB8AC3E}">
        <p14:creationId xmlns:p14="http://schemas.microsoft.com/office/powerpoint/2010/main" val="1072331100"/>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0754" name="Espaço Reservado para Número de Slide 5"/>
          <p:cNvSpPr>
            <a:spLocks noGrp="1"/>
          </p:cNvSpPr>
          <p:nvPr>
            <p:ph type="sldNum"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74FCEAF9-2CE8-4EEF-A252-257BD2DAA78A}" type="slidenum">
              <a:rPr lang="pt-PT" altLang="pt-BR" sz="1400"/>
              <a:pPr>
                <a:spcBef>
                  <a:spcPct val="0"/>
                </a:spcBef>
                <a:buFontTx/>
                <a:buNone/>
              </a:pPr>
              <a:t>19</a:t>
            </a:fld>
            <a:endParaRPr lang="pt-PT" altLang="pt-BR" sz="1400"/>
          </a:p>
        </p:txBody>
      </p:sp>
      <p:sp>
        <p:nvSpPr>
          <p:cNvPr id="330755" name="Rectangle 2"/>
          <p:cNvSpPr>
            <a:spLocks noGrp="1" noChangeArrowheads="1"/>
          </p:cNvSpPr>
          <p:nvPr>
            <p:ph type="ctrTitle"/>
          </p:nvPr>
        </p:nvSpPr>
        <p:spPr>
          <a:xfrm>
            <a:off x="1524001" y="1"/>
            <a:ext cx="9217025" cy="836613"/>
          </a:xfrm>
        </p:spPr>
        <p:txBody>
          <a:bodyPr anchor="ctr"/>
          <a:lstStyle/>
          <a:p>
            <a:pPr eaLnBrk="1" hangingPunct="1"/>
            <a:r>
              <a:rPr lang="pt-BR" altLang="pt-BR" sz="3600"/>
              <a:t>UML – MODELO DE INTERAÇÃO</a:t>
            </a:r>
            <a:endParaRPr lang="pt-PT" altLang="pt-BR" sz="3600"/>
          </a:p>
        </p:txBody>
      </p:sp>
      <p:sp>
        <p:nvSpPr>
          <p:cNvPr id="330756" name="Retângulo 1"/>
          <p:cNvSpPr>
            <a:spLocks noChangeArrowheads="1"/>
          </p:cNvSpPr>
          <p:nvPr/>
        </p:nvSpPr>
        <p:spPr bwMode="auto">
          <a:xfrm>
            <a:off x="-1212850" y="3030539"/>
            <a:ext cx="339725"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just" eaLnBrk="1" hangingPunct="1">
              <a:spcBef>
                <a:spcPct val="0"/>
              </a:spcBef>
              <a:buFontTx/>
              <a:buNone/>
            </a:pPr>
            <a:r>
              <a:rPr lang="pt-BR" altLang="pt-BR" sz="2400"/>
              <a:t>. </a:t>
            </a:r>
          </a:p>
        </p:txBody>
      </p:sp>
      <p:sp>
        <p:nvSpPr>
          <p:cNvPr id="330757" name="Retângulo 1"/>
          <p:cNvSpPr>
            <a:spLocks noChangeArrowheads="1"/>
          </p:cNvSpPr>
          <p:nvPr/>
        </p:nvSpPr>
        <p:spPr bwMode="auto">
          <a:xfrm>
            <a:off x="660400" y="966788"/>
            <a:ext cx="871220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pt-BR" altLang="pt-BR" sz="2400"/>
              <a:t>. </a:t>
            </a:r>
          </a:p>
        </p:txBody>
      </p:sp>
      <p:pic>
        <p:nvPicPr>
          <p:cNvPr id="330758" name="Imagem 3"/>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524000" y="0"/>
            <a:ext cx="9144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053735022"/>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1778" name="Espaço Reservado para Número de Slide 5"/>
          <p:cNvSpPr>
            <a:spLocks noGrp="1"/>
          </p:cNvSpPr>
          <p:nvPr>
            <p:ph type="sldNum"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2E5E446E-BB24-44C4-9E0E-48E779168AA4}" type="slidenum">
              <a:rPr lang="pt-PT" altLang="pt-BR" sz="1400"/>
              <a:pPr>
                <a:spcBef>
                  <a:spcPct val="0"/>
                </a:spcBef>
                <a:buFontTx/>
                <a:buNone/>
              </a:pPr>
              <a:t>20</a:t>
            </a:fld>
            <a:endParaRPr lang="pt-PT" altLang="pt-BR" sz="1400"/>
          </a:p>
        </p:txBody>
      </p:sp>
      <p:sp>
        <p:nvSpPr>
          <p:cNvPr id="331779" name="Rectangle 2"/>
          <p:cNvSpPr>
            <a:spLocks noGrp="1" noChangeArrowheads="1"/>
          </p:cNvSpPr>
          <p:nvPr>
            <p:ph type="ctrTitle"/>
          </p:nvPr>
        </p:nvSpPr>
        <p:spPr>
          <a:xfrm>
            <a:off x="120770" y="0"/>
            <a:ext cx="11973464" cy="836613"/>
          </a:xfrm>
        </p:spPr>
        <p:txBody>
          <a:bodyPr anchor="ctr">
            <a:normAutofit/>
          </a:bodyPr>
          <a:lstStyle/>
          <a:p>
            <a:pPr eaLnBrk="1" hangingPunct="1"/>
            <a:r>
              <a:rPr lang="pt-BR" altLang="pt-BR" sz="3600" dirty="0"/>
              <a:t>UML – MODELO DE </a:t>
            </a:r>
            <a:r>
              <a:rPr lang="pt-BR" altLang="pt-BR" sz="3600" dirty="0" smtClean="0"/>
              <a:t>INTERAÇÃO Diagrama de Sequencia</a:t>
            </a:r>
            <a:endParaRPr lang="pt-PT" altLang="pt-BR" sz="3600" dirty="0"/>
          </a:p>
        </p:txBody>
      </p:sp>
      <p:sp>
        <p:nvSpPr>
          <p:cNvPr id="331780" name="Rectangle 3"/>
          <p:cNvSpPr>
            <a:spLocks noGrp="1" noChangeArrowheads="1"/>
          </p:cNvSpPr>
          <p:nvPr>
            <p:ph type="subTitle" idx="1"/>
          </p:nvPr>
        </p:nvSpPr>
        <p:spPr>
          <a:xfrm>
            <a:off x="120770" y="983411"/>
            <a:ext cx="12071230" cy="5973015"/>
          </a:xfrm>
        </p:spPr>
        <p:txBody>
          <a:bodyPr>
            <a:normAutofit lnSpcReduction="10000"/>
          </a:bodyPr>
          <a:lstStyle/>
          <a:p>
            <a:pPr algn="just" eaLnBrk="1" hangingPunct="1">
              <a:spcBef>
                <a:spcPct val="0"/>
              </a:spcBef>
            </a:pPr>
            <a:endParaRPr lang="pt-BR" altLang="pt-BR" dirty="0" smtClean="0"/>
          </a:p>
          <a:p>
            <a:pPr algn="just">
              <a:spcBef>
                <a:spcPct val="0"/>
              </a:spcBef>
            </a:pPr>
            <a:r>
              <a:rPr lang="pt-BR" altLang="pt-BR" dirty="0" smtClean="0"/>
              <a:t>Mostra sequência de interações que ocorrem durante um caso de uso em particular ou em uma instância de caso de </a:t>
            </a:r>
            <a:r>
              <a:rPr lang="pt-BR" altLang="pt-BR" dirty="0" smtClean="0"/>
              <a:t>uso</a:t>
            </a:r>
            <a:r>
              <a:rPr lang="pt-BR" altLang="pt-BR" dirty="0" smtClean="0"/>
              <a:t>: </a:t>
            </a:r>
            <a:r>
              <a:rPr lang="pt-BR" altLang="pt-BR" dirty="0"/>
              <a:t>Interações entre os atores e os objetos </a:t>
            </a:r>
            <a:r>
              <a:rPr lang="pt-BR" altLang="pt-BR" dirty="0" smtClean="0"/>
              <a:t>de </a:t>
            </a:r>
            <a:r>
              <a:rPr lang="pt-BR" altLang="pt-BR" dirty="0"/>
              <a:t>um </a:t>
            </a:r>
            <a:r>
              <a:rPr lang="pt-BR" altLang="pt-BR" dirty="0" smtClean="0"/>
              <a:t>sistema e  Interações </a:t>
            </a:r>
            <a:r>
              <a:rPr lang="pt-BR" altLang="pt-BR" dirty="0"/>
              <a:t>entre os próprios objetos. </a:t>
            </a:r>
          </a:p>
          <a:p>
            <a:pPr algn="just" eaLnBrk="1" hangingPunct="1">
              <a:spcBef>
                <a:spcPct val="0"/>
              </a:spcBef>
            </a:pPr>
            <a:endParaRPr lang="pt-BR" altLang="pt-BR" dirty="0" smtClean="0"/>
          </a:p>
          <a:p>
            <a:pPr algn="just" eaLnBrk="1" hangingPunct="1">
              <a:spcBef>
                <a:spcPct val="0"/>
              </a:spcBef>
            </a:pPr>
            <a:endParaRPr lang="pt-BR" altLang="pt-BR" dirty="0" smtClean="0"/>
          </a:p>
          <a:p>
            <a:pPr algn="just" eaLnBrk="1" hangingPunct="1">
              <a:spcBef>
                <a:spcPct val="0"/>
              </a:spcBef>
            </a:pPr>
            <a:r>
              <a:rPr lang="pt-BR" altLang="pt-BR" dirty="0" smtClean="0"/>
              <a:t>Figura 5.5 ilustra os conceitos básicos da notação. </a:t>
            </a:r>
          </a:p>
          <a:p>
            <a:pPr algn="just" eaLnBrk="1" hangingPunct="1">
              <a:spcBef>
                <a:spcPct val="0"/>
              </a:spcBef>
            </a:pPr>
            <a:r>
              <a:rPr lang="pt-BR" altLang="pt-BR" dirty="0" smtClean="0"/>
              <a:t>Modela as interações envolvidas no caso de uso ‘Ver informações de pacientes’, em que a recepcionista do médico pode ver algumas informações sobre o paciente.</a:t>
            </a:r>
          </a:p>
          <a:p>
            <a:pPr algn="just" eaLnBrk="1" hangingPunct="1">
              <a:spcBef>
                <a:spcPct val="0"/>
              </a:spcBef>
            </a:pPr>
            <a:endParaRPr lang="pt-BR" altLang="pt-BR" dirty="0"/>
          </a:p>
          <a:p>
            <a:pPr algn="just">
              <a:spcBef>
                <a:spcPct val="0"/>
              </a:spcBef>
            </a:pPr>
            <a:r>
              <a:rPr lang="pt-BR" altLang="pt-BR" dirty="0"/>
              <a:t>Objetos e atores </a:t>
            </a:r>
            <a:r>
              <a:rPr lang="pt-BR" altLang="pt-BR" dirty="0" smtClean="0"/>
              <a:t>envolvidos: </a:t>
            </a:r>
            <a:r>
              <a:rPr lang="pt-BR" altLang="pt-BR" dirty="0"/>
              <a:t>parte superior do diagrama, com uma linha tracejada verticalmente a partir deles. </a:t>
            </a:r>
            <a:endParaRPr lang="pt-BR" altLang="pt-BR" dirty="0" smtClean="0"/>
          </a:p>
          <a:p>
            <a:pPr algn="just">
              <a:spcBef>
                <a:spcPct val="0"/>
              </a:spcBef>
            </a:pPr>
            <a:r>
              <a:rPr lang="pt-BR" altLang="pt-BR" dirty="0" smtClean="0"/>
              <a:t>Interações </a:t>
            </a:r>
            <a:r>
              <a:rPr lang="pt-BR" altLang="pt-BR" dirty="0"/>
              <a:t>entre </a:t>
            </a:r>
            <a:r>
              <a:rPr lang="pt-BR" altLang="pt-BR" dirty="0" smtClean="0"/>
              <a:t>objetos: </a:t>
            </a:r>
            <a:r>
              <a:rPr lang="pt-BR" altLang="pt-BR" dirty="0"/>
              <a:t>setas anotadas</a:t>
            </a:r>
            <a:r>
              <a:rPr lang="pt-BR" altLang="pt-BR" dirty="0" smtClean="0"/>
              <a:t>.</a:t>
            </a:r>
          </a:p>
          <a:p>
            <a:pPr algn="just">
              <a:spcBef>
                <a:spcPct val="0"/>
              </a:spcBef>
            </a:pPr>
            <a:r>
              <a:rPr lang="pt-BR" altLang="pt-BR" dirty="0" smtClean="0"/>
              <a:t>Retângulo </a:t>
            </a:r>
            <a:r>
              <a:rPr lang="pt-BR" altLang="pt-BR" dirty="0"/>
              <a:t>na linha </a:t>
            </a:r>
            <a:r>
              <a:rPr lang="pt-BR" altLang="pt-BR" dirty="0" smtClean="0"/>
              <a:t>tracejada: </a:t>
            </a:r>
            <a:r>
              <a:rPr lang="pt-BR" altLang="pt-BR" dirty="0"/>
              <a:t>linha da vida do objeto em questão </a:t>
            </a:r>
            <a:r>
              <a:rPr lang="pt-BR" altLang="pt-BR" dirty="0" smtClean="0"/>
              <a:t>(o </a:t>
            </a:r>
            <a:r>
              <a:rPr lang="pt-BR" altLang="pt-BR" dirty="0"/>
              <a:t>tempo em que a instância do objeto está envolvida no processamento). </a:t>
            </a:r>
          </a:p>
          <a:p>
            <a:pPr algn="just">
              <a:spcBef>
                <a:spcPct val="0"/>
              </a:spcBef>
            </a:pPr>
            <a:r>
              <a:rPr lang="pt-BR" altLang="pt-BR" dirty="0"/>
              <a:t>Deve-se ler a sequência de interações de cima para baixo.</a:t>
            </a:r>
          </a:p>
          <a:p>
            <a:pPr algn="just">
              <a:spcBef>
                <a:spcPct val="0"/>
              </a:spcBef>
            </a:pPr>
            <a:r>
              <a:rPr lang="pt-BR" altLang="pt-BR" dirty="0"/>
              <a:t>Anotações sobre as setas: chamadas para os objetos, parâmetros e  valores de retorno. </a:t>
            </a:r>
          </a:p>
          <a:p>
            <a:pPr algn="just">
              <a:spcBef>
                <a:spcPct val="0"/>
              </a:spcBef>
            </a:pPr>
            <a:r>
              <a:rPr lang="pt-BR" altLang="pt-BR" dirty="0"/>
              <a:t>Notação para designar as alternativas: caixa nomeada ‘</a:t>
            </a:r>
            <a:r>
              <a:rPr lang="pt-BR" altLang="pt-BR" dirty="0" err="1"/>
              <a:t>alt</a:t>
            </a:r>
            <a:r>
              <a:rPr lang="pt-BR" altLang="pt-BR" dirty="0"/>
              <a:t>’ é usada com as condições indicadas entre colchetes. </a:t>
            </a:r>
          </a:p>
          <a:p>
            <a:pPr algn="just" eaLnBrk="1" hangingPunct="1">
              <a:spcBef>
                <a:spcPct val="0"/>
              </a:spcBef>
            </a:pPr>
            <a:endParaRPr lang="pt-BR" altLang="pt-BR" dirty="0" smtClean="0"/>
          </a:p>
        </p:txBody>
      </p:sp>
      <p:sp>
        <p:nvSpPr>
          <p:cNvPr id="331781" name="Retângulo 1"/>
          <p:cNvSpPr>
            <a:spLocks noChangeArrowheads="1"/>
          </p:cNvSpPr>
          <p:nvPr/>
        </p:nvSpPr>
        <p:spPr bwMode="auto">
          <a:xfrm>
            <a:off x="-1212850" y="3030539"/>
            <a:ext cx="339725"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just" eaLnBrk="1" hangingPunct="1">
              <a:spcBef>
                <a:spcPct val="0"/>
              </a:spcBef>
              <a:buFontTx/>
              <a:buNone/>
            </a:pPr>
            <a:r>
              <a:rPr lang="pt-BR" altLang="pt-BR" sz="2400"/>
              <a:t>. </a:t>
            </a:r>
          </a:p>
        </p:txBody>
      </p:sp>
    </p:spTree>
    <p:extLst>
      <p:ext uri="{BB962C8B-B14F-4D97-AF65-F5344CB8AC3E}">
        <p14:creationId xmlns:p14="http://schemas.microsoft.com/office/powerpoint/2010/main" val="1597934268"/>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4850" name="Espaço Reservado para Número de Slide 5"/>
          <p:cNvSpPr>
            <a:spLocks noGrp="1"/>
          </p:cNvSpPr>
          <p:nvPr>
            <p:ph type="sldNum"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CDFC670E-4361-4163-9448-87B39A865673}" type="slidenum">
              <a:rPr lang="pt-PT" altLang="pt-BR" sz="1400"/>
              <a:pPr>
                <a:spcBef>
                  <a:spcPct val="0"/>
                </a:spcBef>
                <a:buFontTx/>
                <a:buNone/>
              </a:pPr>
              <a:t>21</a:t>
            </a:fld>
            <a:endParaRPr lang="pt-PT" altLang="pt-BR" sz="1400"/>
          </a:p>
        </p:txBody>
      </p:sp>
      <p:sp>
        <p:nvSpPr>
          <p:cNvPr id="334851" name="Rectangle 2"/>
          <p:cNvSpPr>
            <a:spLocks noGrp="1" noChangeArrowheads="1"/>
          </p:cNvSpPr>
          <p:nvPr>
            <p:ph type="ctrTitle"/>
          </p:nvPr>
        </p:nvSpPr>
        <p:spPr>
          <a:xfrm>
            <a:off x="86264" y="1"/>
            <a:ext cx="12105735" cy="836613"/>
          </a:xfrm>
        </p:spPr>
        <p:txBody>
          <a:bodyPr anchor="ctr">
            <a:normAutofit/>
          </a:bodyPr>
          <a:lstStyle/>
          <a:p>
            <a:pPr eaLnBrk="1" hangingPunct="1"/>
            <a:r>
              <a:rPr lang="pt-BR" altLang="pt-BR" sz="3600" dirty="0"/>
              <a:t>UML – MODELO DE </a:t>
            </a:r>
            <a:r>
              <a:rPr lang="pt-BR" altLang="pt-BR" sz="3600" dirty="0" smtClean="0"/>
              <a:t>INTERAÇÃO – Diagrama de sequencia</a:t>
            </a:r>
            <a:endParaRPr lang="pt-PT" altLang="pt-BR" sz="3600" dirty="0"/>
          </a:p>
        </p:txBody>
      </p:sp>
      <p:sp>
        <p:nvSpPr>
          <p:cNvPr id="334852" name="Rectangle 3"/>
          <p:cNvSpPr>
            <a:spLocks noGrp="1" noChangeArrowheads="1"/>
          </p:cNvSpPr>
          <p:nvPr>
            <p:ph type="subTitle" idx="1"/>
          </p:nvPr>
        </p:nvSpPr>
        <p:spPr>
          <a:xfrm>
            <a:off x="0" y="836614"/>
            <a:ext cx="12192000" cy="6119813"/>
          </a:xfrm>
        </p:spPr>
        <p:txBody>
          <a:bodyPr/>
          <a:lstStyle/>
          <a:p>
            <a:pPr algn="just" eaLnBrk="1" hangingPunct="1">
              <a:spcBef>
                <a:spcPct val="0"/>
              </a:spcBef>
            </a:pPr>
            <a:endParaRPr lang="pt-BR" altLang="pt-BR" dirty="0" smtClean="0"/>
          </a:p>
          <a:p>
            <a:pPr algn="just" eaLnBrk="1" hangingPunct="1">
              <a:spcBef>
                <a:spcPct val="0"/>
              </a:spcBef>
            </a:pPr>
            <a:r>
              <a:rPr lang="pt-BR" altLang="pt-BR" dirty="0" smtClean="0"/>
              <a:t>Leitura da Figura 5.5</a:t>
            </a:r>
          </a:p>
          <a:p>
            <a:pPr algn="just" eaLnBrk="1" hangingPunct="1">
              <a:spcBef>
                <a:spcPct val="0"/>
              </a:spcBef>
            </a:pPr>
            <a:r>
              <a:rPr lang="pt-BR" altLang="pt-BR" dirty="0" smtClean="0"/>
              <a:t> 1. A recepcionista do médico aciona o método </a:t>
            </a:r>
            <a:r>
              <a:rPr lang="pt-BR" altLang="pt-BR" dirty="0" err="1" smtClean="0"/>
              <a:t>VerInfo</a:t>
            </a:r>
            <a:r>
              <a:rPr lang="pt-BR" altLang="pt-BR" dirty="0" smtClean="0"/>
              <a:t> em uma instância P da classe de objeto </a:t>
            </a:r>
            <a:r>
              <a:rPr lang="pt-BR" altLang="pt-BR" dirty="0" err="1" smtClean="0"/>
              <a:t>InfoPaciente</a:t>
            </a:r>
            <a:r>
              <a:rPr lang="pt-BR" altLang="pt-BR" dirty="0" smtClean="0"/>
              <a:t>, fornecendo o identificador do paciente (PID: </a:t>
            </a:r>
            <a:r>
              <a:rPr lang="pt-BR" altLang="pt-BR" dirty="0" err="1" smtClean="0"/>
              <a:t>patient’s</a:t>
            </a:r>
            <a:r>
              <a:rPr lang="pt-BR" altLang="pt-BR" dirty="0" smtClean="0"/>
              <a:t> </a:t>
            </a:r>
            <a:r>
              <a:rPr lang="pt-BR" altLang="pt-BR" dirty="0" err="1" smtClean="0"/>
              <a:t>identifier</a:t>
            </a:r>
            <a:r>
              <a:rPr lang="pt-BR" altLang="pt-BR" dirty="0" smtClean="0"/>
              <a:t>). P é um objeto de interface do usuário, exibido como um formulário que mostra os dados do paciente.</a:t>
            </a:r>
          </a:p>
          <a:p>
            <a:pPr algn="just" eaLnBrk="1" hangingPunct="1">
              <a:spcBef>
                <a:spcPct val="0"/>
              </a:spcBef>
            </a:pPr>
            <a:r>
              <a:rPr lang="pt-BR" altLang="pt-BR" dirty="0" smtClean="0"/>
              <a:t> 2. A instância P chama o banco de dados para retornar as informações necessárias, fornecendo o identificador da recepcionista, que permite a verificação de proteção (nessa fase, não importa de onde vem esse UID (</a:t>
            </a:r>
            <a:r>
              <a:rPr lang="pt-BR" altLang="pt-BR" dirty="0" err="1" smtClean="0"/>
              <a:t>user´s</a:t>
            </a:r>
            <a:r>
              <a:rPr lang="pt-BR" altLang="pt-BR" dirty="0" smtClean="0"/>
              <a:t> </a:t>
            </a:r>
            <a:r>
              <a:rPr lang="pt-BR" altLang="pt-BR" dirty="0" err="1" smtClean="0"/>
              <a:t>identifier</a:t>
            </a:r>
            <a:r>
              <a:rPr lang="pt-BR" altLang="pt-BR" dirty="0" smtClean="0"/>
              <a:t>). </a:t>
            </a:r>
          </a:p>
          <a:p>
            <a:pPr algn="just" eaLnBrk="1" hangingPunct="1">
              <a:spcBef>
                <a:spcPct val="0"/>
              </a:spcBef>
            </a:pPr>
            <a:r>
              <a:rPr lang="pt-BR" altLang="pt-BR" dirty="0" smtClean="0"/>
              <a:t>3. O banco de dados verifica, com um sistema de autorização, que o usuário está autorizado a essa ação. </a:t>
            </a:r>
          </a:p>
          <a:p>
            <a:pPr algn="just" eaLnBrk="1" hangingPunct="1">
              <a:spcBef>
                <a:spcPct val="0"/>
              </a:spcBef>
            </a:pPr>
            <a:r>
              <a:rPr lang="pt-BR" altLang="pt-BR" dirty="0" smtClean="0"/>
              <a:t>4. Se autorizado, as informações de pacientes são retornadas, e um formulário é preenchido na tela do usuário. Se falhar a autorização, aparece uma mensagem de erro</a:t>
            </a:r>
          </a:p>
        </p:txBody>
      </p:sp>
      <p:sp>
        <p:nvSpPr>
          <p:cNvPr id="334853" name="Retângulo 1"/>
          <p:cNvSpPr>
            <a:spLocks noChangeArrowheads="1"/>
          </p:cNvSpPr>
          <p:nvPr/>
        </p:nvSpPr>
        <p:spPr bwMode="auto">
          <a:xfrm>
            <a:off x="-1212850" y="3030539"/>
            <a:ext cx="339725"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just" eaLnBrk="1" hangingPunct="1">
              <a:spcBef>
                <a:spcPct val="0"/>
              </a:spcBef>
              <a:buFontTx/>
              <a:buNone/>
            </a:pPr>
            <a:r>
              <a:rPr lang="pt-BR" altLang="pt-BR" sz="2400"/>
              <a:t>. </a:t>
            </a:r>
          </a:p>
        </p:txBody>
      </p:sp>
      <p:sp>
        <p:nvSpPr>
          <p:cNvPr id="334854" name="Retângulo 1"/>
          <p:cNvSpPr>
            <a:spLocks noChangeArrowheads="1"/>
          </p:cNvSpPr>
          <p:nvPr/>
        </p:nvSpPr>
        <p:spPr bwMode="auto">
          <a:xfrm>
            <a:off x="1703389" y="1042988"/>
            <a:ext cx="8713787"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pt-BR" altLang="pt-BR" sz="2400"/>
              <a:t>. </a:t>
            </a:r>
          </a:p>
        </p:txBody>
      </p:sp>
    </p:spTree>
    <p:extLst>
      <p:ext uri="{BB962C8B-B14F-4D97-AF65-F5344CB8AC3E}">
        <p14:creationId xmlns:p14="http://schemas.microsoft.com/office/powerpoint/2010/main" val="3898263205"/>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2802" name="Espaço Reservado para Número de Slide 5"/>
          <p:cNvSpPr>
            <a:spLocks noGrp="1"/>
          </p:cNvSpPr>
          <p:nvPr>
            <p:ph type="sldNum"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98248DD7-3E8E-4EFE-8405-05A901049D80}" type="slidenum">
              <a:rPr lang="pt-PT" altLang="pt-BR" sz="1400"/>
              <a:pPr>
                <a:spcBef>
                  <a:spcPct val="0"/>
                </a:spcBef>
                <a:buFontTx/>
                <a:buNone/>
              </a:pPr>
              <a:t>22</a:t>
            </a:fld>
            <a:endParaRPr lang="pt-PT" altLang="pt-BR" sz="1400"/>
          </a:p>
        </p:txBody>
      </p:sp>
      <p:sp>
        <p:nvSpPr>
          <p:cNvPr id="332803" name="Rectangle 2"/>
          <p:cNvSpPr>
            <a:spLocks noGrp="1" noChangeArrowheads="1"/>
          </p:cNvSpPr>
          <p:nvPr>
            <p:ph type="ctrTitle"/>
          </p:nvPr>
        </p:nvSpPr>
        <p:spPr>
          <a:xfrm>
            <a:off x="1524001" y="1"/>
            <a:ext cx="9217025" cy="836613"/>
          </a:xfrm>
        </p:spPr>
        <p:txBody>
          <a:bodyPr anchor="ctr"/>
          <a:lstStyle/>
          <a:p>
            <a:pPr eaLnBrk="1" hangingPunct="1"/>
            <a:r>
              <a:rPr lang="pt-BR" altLang="pt-BR" sz="3600"/>
              <a:t>UML – MODELO DE INTERAÇÃO</a:t>
            </a:r>
            <a:endParaRPr lang="pt-PT" altLang="pt-BR" sz="3600"/>
          </a:p>
        </p:txBody>
      </p:sp>
      <p:pic>
        <p:nvPicPr>
          <p:cNvPr id="332804" name="Imagem 2"/>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524000" y="0"/>
            <a:ext cx="9144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32805" name="Retângulo 1"/>
          <p:cNvSpPr>
            <a:spLocks noChangeArrowheads="1"/>
          </p:cNvSpPr>
          <p:nvPr/>
        </p:nvSpPr>
        <p:spPr bwMode="auto">
          <a:xfrm>
            <a:off x="-1212850" y="3030539"/>
            <a:ext cx="339725"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just" eaLnBrk="1" hangingPunct="1">
              <a:spcBef>
                <a:spcPct val="0"/>
              </a:spcBef>
              <a:buFontTx/>
              <a:buNone/>
            </a:pPr>
            <a:r>
              <a:rPr lang="pt-BR" altLang="pt-BR" sz="2400"/>
              <a:t>. </a:t>
            </a:r>
          </a:p>
        </p:txBody>
      </p:sp>
      <p:sp>
        <p:nvSpPr>
          <p:cNvPr id="332806" name="Retângulo 1"/>
          <p:cNvSpPr>
            <a:spLocks noChangeArrowheads="1"/>
          </p:cNvSpPr>
          <p:nvPr/>
        </p:nvSpPr>
        <p:spPr bwMode="auto">
          <a:xfrm>
            <a:off x="1703389" y="1042988"/>
            <a:ext cx="8713787"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pt-BR" altLang="pt-BR" sz="2400"/>
              <a:t>. </a:t>
            </a:r>
          </a:p>
        </p:txBody>
      </p:sp>
    </p:spTree>
    <p:extLst>
      <p:ext uri="{BB962C8B-B14F-4D97-AF65-F5344CB8AC3E}">
        <p14:creationId xmlns:p14="http://schemas.microsoft.com/office/powerpoint/2010/main" val="3203219170"/>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35875" name="Rectangle 2"/>
          <p:cNvSpPr>
            <a:spLocks noGrp="1" noChangeArrowheads="1"/>
          </p:cNvSpPr>
          <p:nvPr>
            <p:ph type="ctrTitle"/>
          </p:nvPr>
        </p:nvSpPr>
        <p:spPr>
          <a:xfrm>
            <a:off x="1524001" y="1"/>
            <a:ext cx="9217025" cy="836613"/>
          </a:xfrm>
        </p:spPr>
        <p:txBody>
          <a:bodyPr anchor="ctr"/>
          <a:lstStyle/>
          <a:p>
            <a:pPr eaLnBrk="1" hangingPunct="1"/>
            <a:r>
              <a:rPr lang="pt-BR" altLang="pt-BR" sz="3600"/>
              <a:t>UML – MODELOS ESTRUTURAIS</a:t>
            </a:r>
            <a:endParaRPr lang="pt-PT" altLang="pt-BR" sz="3600"/>
          </a:p>
        </p:txBody>
      </p:sp>
      <p:sp>
        <p:nvSpPr>
          <p:cNvPr id="335874" name="Espaço Reservado para Número de Slide 5"/>
          <p:cNvSpPr>
            <a:spLocks noGrp="1"/>
          </p:cNvSpPr>
          <p:nvPr>
            <p:ph type="sldNum"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9CE8E552-EFE0-4BB3-8893-D542419DD973}" type="slidenum">
              <a:rPr lang="pt-PT" altLang="pt-BR" sz="1400"/>
              <a:pPr>
                <a:spcBef>
                  <a:spcPct val="0"/>
                </a:spcBef>
                <a:buFontTx/>
                <a:buNone/>
              </a:pPr>
              <a:t>23</a:t>
            </a:fld>
            <a:endParaRPr lang="pt-PT" altLang="pt-BR" sz="1400"/>
          </a:p>
        </p:txBody>
      </p:sp>
      <p:sp>
        <p:nvSpPr>
          <p:cNvPr id="335876" name="Retângulo 1"/>
          <p:cNvSpPr>
            <a:spLocks noChangeArrowheads="1"/>
          </p:cNvSpPr>
          <p:nvPr/>
        </p:nvSpPr>
        <p:spPr bwMode="auto">
          <a:xfrm>
            <a:off x="-1212850" y="3030539"/>
            <a:ext cx="339725"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just" eaLnBrk="1" hangingPunct="1">
              <a:spcBef>
                <a:spcPct val="0"/>
              </a:spcBef>
              <a:buFontTx/>
              <a:buNone/>
            </a:pPr>
            <a:r>
              <a:rPr lang="pt-BR" altLang="pt-BR" sz="2400"/>
              <a:t>. </a:t>
            </a:r>
          </a:p>
        </p:txBody>
      </p:sp>
      <p:sp>
        <p:nvSpPr>
          <p:cNvPr id="335877" name="Retângulo 1"/>
          <p:cNvSpPr>
            <a:spLocks noChangeArrowheads="1"/>
          </p:cNvSpPr>
          <p:nvPr/>
        </p:nvSpPr>
        <p:spPr bwMode="auto">
          <a:xfrm>
            <a:off x="155276" y="698740"/>
            <a:ext cx="12036724" cy="30814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pt-BR" altLang="pt-BR" sz="2400" dirty="0">
                <a:latin typeface="+mn-lt"/>
              </a:rPr>
              <a:t>Exibem a organização dos componentes de um sistema e seus relacionamentos. </a:t>
            </a:r>
          </a:p>
          <a:p>
            <a:pPr>
              <a:spcBef>
                <a:spcPct val="0"/>
              </a:spcBef>
              <a:buFontTx/>
              <a:buNone/>
            </a:pPr>
            <a:endParaRPr lang="pt-BR" altLang="pt-BR" sz="2400" dirty="0">
              <a:latin typeface="+mn-lt"/>
            </a:endParaRPr>
          </a:p>
          <a:p>
            <a:pPr>
              <a:spcBef>
                <a:spcPct val="0"/>
              </a:spcBef>
              <a:buFontTx/>
              <a:buNone/>
            </a:pPr>
            <a:r>
              <a:rPr lang="pt-BR" altLang="pt-BR" sz="2400" dirty="0">
                <a:latin typeface="+mn-lt"/>
              </a:rPr>
              <a:t>Modelos estáticos: mostram a estrutura do projeto do sistema</a:t>
            </a:r>
          </a:p>
          <a:p>
            <a:pPr>
              <a:spcBef>
                <a:spcPct val="0"/>
              </a:spcBef>
              <a:buFontTx/>
              <a:buNone/>
            </a:pPr>
            <a:r>
              <a:rPr lang="pt-BR" altLang="pt-BR" sz="2400" dirty="0">
                <a:latin typeface="+mn-lt"/>
              </a:rPr>
              <a:t>Modelos dinâmicos: mostram a organização do sistema quando ele está em execução. </a:t>
            </a:r>
          </a:p>
          <a:p>
            <a:pPr>
              <a:spcBef>
                <a:spcPct val="0"/>
              </a:spcBef>
              <a:buFontTx/>
              <a:buNone/>
            </a:pPr>
            <a:endParaRPr lang="pt-BR" altLang="pt-BR" sz="2400" dirty="0">
              <a:latin typeface="+mn-lt"/>
            </a:endParaRPr>
          </a:p>
          <a:p>
            <a:pPr>
              <a:spcBef>
                <a:spcPct val="0"/>
              </a:spcBef>
              <a:buFontTx/>
              <a:buNone/>
            </a:pPr>
            <a:r>
              <a:rPr lang="pt-BR" altLang="pt-BR" sz="2400" dirty="0">
                <a:latin typeface="+mn-lt"/>
              </a:rPr>
              <a:t>Essas são duas características distintas — a organização da dinâmica, conjunto de threads (pequenos processos) que interagem entre si, pode ser muito diferente do modelo estático de componentes do sistema </a:t>
            </a:r>
          </a:p>
        </p:txBody>
      </p:sp>
    </p:spTree>
    <p:extLst>
      <p:ext uri="{BB962C8B-B14F-4D97-AF65-F5344CB8AC3E}">
        <p14:creationId xmlns:p14="http://schemas.microsoft.com/office/powerpoint/2010/main" val="4083938111"/>
      </p:ext>
    </p:extLst>
  </p:cSld>
  <p:clrMapOvr>
    <a:overrideClrMapping bg1="lt1" tx1="dk1" bg2="lt2" tx2="dk2" accent1="accent1" accent2="accent2" accent3="accent3" accent4="accent4" accent5="accent5" accent6="accent6" hlink="hlink" folHlink="folHlink"/>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6898" name="Espaço Reservado para Número de Slide 5"/>
          <p:cNvSpPr>
            <a:spLocks noGrp="1"/>
          </p:cNvSpPr>
          <p:nvPr>
            <p:ph type="sldNum"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3E3E75D5-982D-427D-B444-5E78CAC428B4}" type="slidenum">
              <a:rPr lang="pt-PT" altLang="pt-BR" sz="1400"/>
              <a:pPr>
                <a:spcBef>
                  <a:spcPct val="0"/>
                </a:spcBef>
                <a:buFontTx/>
                <a:buNone/>
              </a:pPr>
              <a:t>24</a:t>
            </a:fld>
            <a:endParaRPr lang="pt-PT" altLang="pt-BR" sz="1400"/>
          </a:p>
        </p:txBody>
      </p:sp>
      <p:sp>
        <p:nvSpPr>
          <p:cNvPr id="336899" name="Rectangle 2"/>
          <p:cNvSpPr>
            <a:spLocks noGrp="1" noChangeArrowheads="1"/>
          </p:cNvSpPr>
          <p:nvPr>
            <p:ph type="ctrTitle"/>
          </p:nvPr>
        </p:nvSpPr>
        <p:spPr>
          <a:xfrm>
            <a:off x="1524001" y="1"/>
            <a:ext cx="9217025" cy="836613"/>
          </a:xfrm>
        </p:spPr>
        <p:txBody>
          <a:bodyPr anchor="ctr">
            <a:normAutofit fontScale="90000"/>
          </a:bodyPr>
          <a:lstStyle/>
          <a:p>
            <a:pPr eaLnBrk="1" hangingPunct="1"/>
            <a:r>
              <a:rPr lang="pt-BR" altLang="pt-BR" sz="3600"/>
              <a:t>UML – MODELOS ESTRUTURAIS – Diagrama de Classes</a:t>
            </a:r>
            <a:endParaRPr lang="pt-PT" altLang="pt-BR" sz="3600"/>
          </a:p>
        </p:txBody>
      </p:sp>
      <p:sp>
        <p:nvSpPr>
          <p:cNvPr id="336900" name="Retângulo 1"/>
          <p:cNvSpPr>
            <a:spLocks noChangeArrowheads="1"/>
          </p:cNvSpPr>
          <p:nvPr/>
        </p:nvSpPr>
        <p:spPr bwMode="auto">
          <a:xfrm>
            <a:off x="-1212850" y="3030539"/>
            <a:ext cx="339725"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just" eaLnBrk="1" hangingPunct="1">
              <a:spcBef>
                <a:spcPct val="0"/>
              </a:spcBef>
              <a:buFontTx/>
              <a:buNone/>
            </a:pPr>
            <a:r>
              <a:rPr lang="pt-BR" altLang="pt-BR" sz="2400"/>
              <a:t>. </a:t>
            </a:r>
          </a:p>
        </p:txBody>
      </p:sp>
      <p:sp>
        <p:nvSpPr>
          <p:cNvPr id="336901" name="Retângulo 1"/>
          <p:cNvSpPr>
            <a:spLocks noChangeArrowheads="1"/>
          </p:cNvSpPr>
          <p:nvPr/>
        </p:nvSpPr>
        <p:spPr bwMode="auto">
          <a:xfrm>
            <a:off x="94892" y="1000663"/>
            <a:ext cx="11964836" cy="48936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None/>
            </a:pPr>
            <a:r>
              <a:rPr lang="pt-BR" altLang="pt-BR" sz="2400" dirty="0">
                <a:latin typeface="+mn-lt"/>
              </a:rPr>
              <a:t>Usados no desenvolvimento de um modelo de sistema orientado a objetos</a:t>
            </a:r>
          </a:p>
          <a:p>
            <a:pPr>
              <a:spcBef>
                <a:spcPct val="0"/>
              </a:spcBef>
              <a:buNone/>
            </a:pPr>
            <a:r>
              <a:rPr lang="pt-BR" altLang="pt-BR" sz="2400" dirty="0">
                <a:latin typeface="+mn-lt"/>
              </a:rPr>
              <a:t>Mostra as classes de um sistema e suas associações. </a:t>
            </a:r>
          </a:p>
          <a:p>
            <a:pPr>
              <a:spcBef>
                <a:spcPct val="0"/>
              </a:spcBef>
              <a:buNone/>
            </a:pPr>
            <a:r>
              <a:rPr lang="pt-BR" altLang="pt-BR" sz="2400" dirty="0">
                <a:latin typeface="+mn-lt"/>
              </a:rPr>
              <a:t>Classe de objeto: tipo de objeto do sistema. </a:t>
            </a:r>
          </a:p>
          <a:p>
            <a:pPr>
              <a:spcBef>
                <a:spcPct val="0"/>
              </a:spcBef>
              <a:buNone/>
            </a:pPr>
            <a:r>
              <a:rPr lang="pt-BR" altLang="pt-BR" sz="2400" dirty="0">
                <a:latin typeface="+mn-lt"/>
              </a:rPr>
              <a:t>Associação: </a:t>
            </a:r>
            <a:r>
              <a:rPr lang="pt-BR" altLang="pt-BR" sz="2400" dirty="0" smtClean="0">
                <a:latin typeface="+mn-lt"/>
              </a:rPr>
              <a:t>relacionamento </a:t>
            </a:r>
            <a:r>
              <a:rPr lang="pt-BR" altLang="pt-BR" sz="2400" dirty="0">
                <a:latin typeface="+mn-lt"/>
              </a:rPr>
              <a:t>entre as classes. </a:t>
            </a:r>
          </a:p>
          <a:p>
            <a:pPr>
              <a:spcBef>
                <a:spcPct val="0"/>
              </a:spcBef>
              <a:buNone/>
            </a:pPr>
            <a:r>
              <a:rPr lang="pt-BR" altLang="pt-BR" sz="2400" dirty="0">
                <a:latin typeface="+mn-lt"/>
              </a:rPr>
              <a:t>Cada classe pode precisar de algum conhecimento sobre sua classe associada. </a:t>
            </a:r>
          </a:p>
          <a:p>
            <a:pPr>
              <a:spcBef>
                <a:spcPct val="0"/>
              </a:spcBef>
              <a:buNone/>
            </a:pPr>
            <a:r>
              <a:rPr lang="pt-BR" altLang="pt-BR" sz="2400" dirty="0">
                <a:latin typeface="+mn-lt"/>
              </a:rPr>
              <a:t>Modelos nos estágios iniciais do processo de engenharia de software: objetos representam algo no mundo real (paciente, receita médica, médico </a:t>
            </a:r>
            <a:r>
              <a:rPr lang="pt-BR" altLang="pt-BR" sz="2400" dirty="0" err="1">
                <a:latin typeface="+mn-lt"/>
              </a:rPr>
              <a:t>etc</a:t>
            </a:r>
            <a:r>
              <a:rPr lang="pt-BR" altLang="pt-BR" sz="2400" dirty="0">
                <a:latin typeface="+mn-lt"/>
              </a:rPr>
              <a:t>). </a:t>
            </a:r>
          </a:p>
          <a:p>
            <a:pPr>
              <a:spcBef>
                <a:spcPct val="0"/>
              </a:spcBef>
              <a:buNone/>
            </a:pPr>
            <a:r>
              <a:rPr lang="pt-BR" altLang="pt-BR" sz="2400" dirty="0">
                <a:latin typeface="+mn-lt"/>
              </a:rPr>
              <a:t>Desenvolvimento da aplicação: necessário definir objetos adicionais de implementação que são usa dos para fornecer a funcionalidade requerida do sistema. </a:t>
            </a:r>
            <a:endParaRPr lang="pt-BR" altLang="pt-BR" sz="2400" dirty="0" smtClean="0">
              <a:latin typeface="+mn-lt"/>
            </a:endParaRPr>
          </a:p>
          <a:p>
            <a:pPr>
              <a:spcBef>
                <a:spcPct val="0"/>
              </a:spcBef>
              <a:buFontTx/>
              <a:buNone/>
            </a:pPr>
            <a:r>
              <a:rPr lang="pt-BR" altLang="pt-BR" sz="2400" dirty="0">
                <a:latin typeface="+mn-lt"/>
              </a:rPr>
              <a:t>Expressos em diferentes níveis de detalhamento</a:t>
            </a:r>
            <a:r>
              <a:rPr lang="pt-BR" altLang="pt-BR" sz="2400" dirty="0"/>
              <a:t>. </a:t>
            </a:r>
          </a:p>
          <a:p>
            <a:pPr>
              <a:spcBef>
                <a:spcPct val="0"/>
              </a:spcBef>
              <a:buFontTx/>
              <a:buNone/>
            </a:pPr>
            <a:r>
              <a:rPr lang="pt-BR" altLang="pt-BR" sz="2400" dirty="0">
                <a:latin typeface="+mn-lt"/>
              </a:rPr>
              <a:t>Deve-se escrever o nome da classe em uma caixa. </a:t>
            </a:r>
          </a:p>
          <a:p>
            <a:pPr>
              <a:spcBef>
                <a:spcPct val="0"/>
              </a:spcBef>
              <a:buFontTx/>
              <a:buNone/>
            </a:pPr>
            <a:r>
              <a:rPr lang="pt-BR" altLang="pt-BR" sz="2400" dirty="0">
                <a:latin typeface="+mn-lt"/>
              </a:rPr>
              <a:t>Deve-se observar a existência de uma associação, traçando uma linha entre as classes. </a:t>
            </a:r>
          </a:p>
          <a:p>
            <a:pPr>
              <a:spcBef>
                <a:spcPct val="0"/>
              </a:spcBef>
              <a:buNone/>
            </a:pPr>
            <a:endParaRPr lang="pt-BR" altLang="pt-BR" sz="2400" dirty="0">
              <a:latin typeface="+mn-lt"/>
            </a:endParaRPr>
          </a:p>
        </p:txBody>
      </p:sp>
    </p:spTree>
    <p:extLst>
      <p:ext uri="{BB962C8B-B14F-4D97-AF65-F5344CB8AC3E}">
        <p14:creationId xmlns:p14="http://schemas.microsoft.com/office/powerpoint/2010/main" val="185462607"/>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22" name="Espaço Reservado para Número de Slide 5"/>
          <p:cNvSpPr>
            <a:spLocks noGrp="1"/>
          </p:cNvSpPr>
          <p:nvPr>
            <p:ph type="sldNum"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5E862322-93B8-4BAF-9F71-86A4F20F675E}" type="slidenum">
              <a:rPr lang="pt-PT" altLang="pt-BR" sz="1400"/>
              <a:pPr>
                <a:spcBef>
                  <a:spcPct val="0"/>
                </a:spcBef>
                <a:buFontTx/>
                <a:buNone/>
              </a:pPr>
              <a:t>25</a:t>
            </a:fld>
            <a:endParaRPr lang="pt-PT" altLang="pt-BR" sz="1400"/>
          </a:p>
        </p:txBody>
      </p:sp>
      <p:sp>
        <p:nvSpPr>
          <p:cNvPr id="337923" name="Rectangle 2"/>
          <p:cNvSpPr>
            <a:spLocks noGrp="1" noChangeArrowheads="1"/>
          </p:cNvSpPr>
          <p:nvPr>
            <p:ph type="ctrTitle"/>
          </p:nvPr>
        </p:nvSpPr>
        <p:spPr>
          <a:xfrm>
            <a:off x="1524001" y="1"/>
            <a:ext cx="9217025" cy="836613"/>
          </a:xfrm>
        </p:spPr>
        <p:txBody>
          <a:bodyPr anchor="ctr">
            <a:normAutofit fontScale="90000"/>
          </a:bodyPr>
          <a:lstStyle/>
          <a:p>
            <a:pPr eaLnBrk="1" hangingPunct="1"/>
            <a:r>
              <a:rPr lang="pt-BR" altLang="pt-BR" sz="3600"/>
              <a:t>UML – MODELOS ESTRUTURAIS – Diagrama de Classes UML</a:t>
            </a:r>
            <a:endParaRPr lang="pt-PT" altLang="pt-BR" sz="3600"/>
          </a:p>
        </p:txBody>
      </p:sp>
      <p:sp>
        <p:nvSpPr>
          <p:cNvPr id="337924" name="Retângulo 1"/>
          <p:cNvSpPr>
            <a:spLocks noChangeArrowheads="1"/>
          </p:cNvSpPr>
          <p:nvPr/>
        </p:nvSpPr>
        <p:spPr bwMode="auto">
          <a:xfrm>
            <a:off x="-1212850" y="3030539"/>
            <a:ext cx="339725"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just" eaLnBrk="1" hangingPunct="1">
              <a:spcBef>
                <a:spcPct val="0"/>
              </a:spcBef>
              <a:buFontTx/>
              <a:buNone/>
            </a:pPr>
            <a:r>
              <a:rPr lang="pt-BR" altLang="pt-BR" sz="2400"/>
              <a:t>. </a:t>
            </a:r>
          </a:p>
        </p:txBody>
      </p:sp>
      <p:sp>
        <p:nvSpPr>
          <p:cNvPr id="2" name="Retângulo 1"/>
          <p:cNvSpPr/>
          <p:nvPr/>
        </p:nvSpPr>
        <p:spPr>
          <a:xfrm>
            <a:off x="313426" y="962193"/>
            <a:ext cx="4698521" cy="4247317"/>
          </a:xfrm>
          <a:prstGeom prst="rect">
            <a:avLst/>
          </a:prstGeom>
        </p:spPr>
        <p:txBody>
          <a:bodyPr wrap="square">
            <a:spAutoFit/>
          </a:bodyPr>
          <a:lstStyle/>
          <a:p>
            <a:pPr>
              <a:spcBef>
                <a:spcPct val="0"/>
              </a:spcBef>
              <a:buFontTx/>
              <a:buNone/>
            </a:pPr>
            <a:r>
              <a:rPr lang="pt-BR" altLang="pt-BR" dirty="0"/>
              <a:t>Figura 5.7: diagrama de classes mostrando duas classes — ‘Paciente’ e ‘Registro de paciente’ — com uma associação entre elas. Mostra quantos objetos estão envolvidos na associação. Cada extremidade da associação é anotada com um 1 (existe um relacionamento 1:1 entre objetos dessas classes)</a:t>
            </a:r>
          </a:p>
          <a:p>
            <a:pPr>
              <a:spcBef>
                <a:spcPct val="0"/>
              </a:spcBef>
              <a:buFontTx/>
              <a:buNone/>
            </a:pPr>
            <a:r>
              <a:rPr lang="pt-BR" altLang="pt-BR" dirty="0"/>
              <a:t>Cada paciente tem exatamente um registro, e cada registro mantém informações sobre um mesmo paciente. </a:t>
            </a:r>
          </a:p>
          <a:p>
            <a:pPr>
              <a:spcBef>
                <a:spcPct val="0"/>
              </a:spcBef>
              <a:buFontTx/>
              <a:buNone/>
            </a:pPr>
            <a:r>
              <a:rPr lang="pt-BR" altLang="pt-BR" dirty="0"/>
              <a:t>Outras multiplicidades são possíveis: pode-se definir o número exato de objetos envolvidos ou, usando um * (Figura 5.8) que indica que há um número indefinido de objetos envolvidos na associação.</a:t>
            </a:r>
          </a:p>
        </p:txBody>
      </p:sp>
      <p:pic>
        <p:nvPicPr>
          <p:cNvPr id="7" name="Imagem 1"/>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5736565" y="1178720"/>
            <a:ext cx="5993653" cy="4624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543766225"/>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9970" name="Espaço Reservado para Número de Slide 5"/>
          <p:cNvSpPr>
            <a:spLocks noGrp="1"/>
          </p:cNvSpPr>
          <p:nvPr>
            <p:ph type="sldNum"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C24169F4-5C9A-47BA-96B0-3A41F2215BF0}" type="slidenum">
              <a:rPr lang="pt-PT" altLang="pt-BR" sz="1400"/>
              <a:pPr>
                <a:spcBef>
                  <a:spcPct val="0"/>
                </a:spcBef>
                <a:buFontTx/>
                <a:buNone/>
              </a:pPr>
              <a:t>26</a:t>
            </a:fld>
            <a:endParaRPr lang="pt-PT" altLang="pt-BR" sz="1400"/>
          </a:p>
        </p:txBody>
      </p:sp>
      <p:sp>
        <p:nvSpPr>
          <p:cNvPr id="339971" name="Rectangle 2"/>
          <p:cNvSpPr>
            <a:spLocks noGrp="1" noChangeArrowheads="1"/>
          </p:cNvSpPr>
          <p:nvPr>
            <p:ph type="ctrTitle"/>
          </p:nvPr>
        </p:nvSpPr>
        <p:spPr>
          <a:xfrm>
            <a:off x="1524001" y="1"/>
            <a:ext cx="9217025" cy="836613"/>
          </a:xfrm>
        </p:spPr>
        <p:txBody>
          <a:bodyPr anchor="ctr">
            <a:normAutofit fontScale="90000"/>
          </a:bodyPr>
          <a:lstStyle/>
          <a:p>
            <a:pPr eaLnBrk="1" hangingPunct="1"/>
            <a:r>
              <a:rPr lang="pt-BR" altLang="pt-BR" sz="3600"/>
              <a:t>UML – MODELOS ESTRUTURAIS – Diagrama de Classes UML</a:t>
            </a:r>
            <a:endParaRPr lang="pt-PT" altLang="pt-BR" sz="3600"/>
          </a:p>
        </p:txBody>
      </p:sp>
      <p:sp>
        <p:nvSpPr>
          <p:cNvPr id="339972" name="Retângulo 1"/>
          <p:cNvSpPr>
            <a:spLocks noChangeArrowheads="1"/>
          </p:cNvSpPr>
          <p:nvPr/>
        </p:nvSpPr>
        <p:spPr bwMode="auto">
          <a:xfrm>
            <a:off x="-1212850" y="3030539"/>
            <a:ext cx="339725"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just" eaLnBrk="1" hangingPunct="1">
              <a:spcBef>
                <a:spcPct val="0"/>
              </a:spcBef>
              <a:buFontTx/>
              <a:buNone/>
            </a:pPr>
            <a:r>
              <a:rPr lang="pt-BR" altLang="pt-BR" sz="2400"/>
              <a:t>. </a:t>
            </a:r>
          </a:p>
        </p:txBody>
      </p:sp>
      <p:pic>
        <p:nvPicPr>
          <p:cNvPr id="339973" name="Imagem 2"/>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524000" y="0"/>
            <a:ext cx="9144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270563911"/>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0994" name="Espaço Reservado para Número de Slide 5"/>
          <p:cNvSpPr>
            <a:spLocks noGrp="1"/>
          </p:cNvSpPr>
          <p:nvPr>
            <p:ph type="sldNum"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061B6782-67F1-4C45-A958-AF23EF4706F2}" type="slidenum">
              <a:rPr lang="pt-PT" altLang="pt-BR" sz="1400"/>
              <a:pPr>
                <a:spcBef>
                  <a:spcPct val="0"/>
                </a:spcBef>
                <a:buFontTx/>
                <a:buNone/>
              </a:pPr>
              <a:t>27</a:t>
            </a:fld>
            <a:endParaRPr lang="pt-PT" altLang="pt-BR" sz="1400"/>
          </a:p>
        </p:txBody>
      </p:sp>
      <p:sp>
        <p:nvSpPr>
          <p:cNvPr id="340995" name="Rectangle 2"/>
          <p:cNvSpPr>
            <a:spLocks noGrp="1" noChangeArrowheads="1"/>
          </p:cNvSpPr>
          <p:nvPr>
            <p:ph type="ctrTitle"/>
          </p:nvPr>
        </p:nvSpPr>
        <p:spPr>
          <a:xfrm>
            <a:off x="1524001" y="1"/>
            <a:ext cx="9217025" cy="836613"/>
          </a:xfrm>
        </p:spPr>
        <p:txBody>
          <a:bodyPr anchor="ctr">
            <a:normAutofit fontScale="90000"/>
          </a:bodyPr>
          <a:lstStyle/>
          <a:p>
            <a:pPr eaLnBrk="1" hangingPunct="1"/>
            <a:r>
              <a:rPr lang="pt-BR" altLang="pt-BR" sz="3600"/>
              <a:t>UML – MODELOS ESTRUTURAIS – Diagrama de Classes UML</a:t>
            </a:r>
            <a:endParaRPr lang="pt-PT" altLang="pt-BR" sz="3600"/>
          </a:p>
        </p:txBody>
      </p:sp>
      <p:sp>
        <p:nvSpPr>
          <p:cNvPr id="340996" name="Retângulo 1"/>
          <p:cNvSpPr>
            <a:spLocks noChangeArrowheads="1"/>
          </p:cNvSpPr>
          <p:nvPr/>
        </p:nvSpPr>
        <p:spPr bwMode="auto">
          <a:xfrm>
            <a:off x="-1212850" y="3030539"/>
            <a:ext cx="339725"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just" eaLnBrk="1" hangingPunct="1">
              <a:spcBef>
                <a:spcPct val="0"/>
              </a:spcBef>
              <a:buFontTx/>
              <a:buNone/>
            </a:pPr>
            <a:r>
              <a:rPr lang="pt-BR" altLang="pt-BR" sz="2400"/>
              <a:t>. </a:t>
            </a:r>
          </a:p>
        </p:txBody>
      </p:sp>
      <p:sp>
        <p:nvSpPr>
          <p:cNvPr id="340997" name="Retângulo 1"/>
          <p:cNvSpPr>
            <a:spLocks noChangeArrowheads="1"/>
          </p:cNvSpPr>
          <p:nvPr/>
        </p:nvSpPr>
        <p:spPr bwMode="auto">
          <a:xfrm>
            <a:off x="207034" y="836614"/>
            <a:ext cx="11844067" cy="37856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pt-BR" altLang="pt-BR" sz="2400" dirty="0">
                <a:latin typeface="+mn-lt"/>
              </a:rPr>
              <a:t>Diagramas de classe: parecidos com modelos semânticos de dados, usados no projeto de banco de </a:t>
            </a:r>
            <a:r>
              <a:rPr lang="pt-BR" altLang="pt-BR" sz="2400" dirty="0" smtClean="0">
                <a:latin typeface="+mn-lt"/>
              </a:rPr>
              <a:t>dados - </a:t>
            </a:r>
            <a:r>
              <a:rPr lang="pt-BR" altLang="pt-BR" sz="2400" dirty="0">
                <a:latin typeface="+mn-lt"/>
              </a:rPr>
              <a:t>Diagrama entidade relacionamento – der:</a:t>
            </a:r>
          </a:p>
          <a:p>
            <a:pPr>
              <a:spcBef>
                <a:spcPct val="0"/>
              </a:spcBef>
              <a:buFontTx/>
              <a:buNone/>
            </a:pPr>
            <a:r>
              <a:rPr lang="pt-BR" altLang="pt-BR" sz="2400" dirty="0">
                <a:latin typeface="+mn-lt"/>
              </a:rPr>
              <a:t>entidades dos dados,  atributos associados e as relações entre essas entidades. </a:t>
            </a:r>
          </a:p>
          <a:p>
            <a:pPr>
              <a:spcBef>
                <a:spcPct val="0"/>
              </a:spcBef>
              <a:buFontTx/>
              <a:buNone/>
            </a:pPr>
            <a:r>
              <a:rPr lang="pt-BR" altLang="pt-BR" sz="2400" dirty="0">
                <a:latin typeface="+mn-lt"/>
              </a:rPr>
              <a:t>DER: meados da década de 1970, por Chen (1976); diversas variantes desenvolvidas (CODD, 1979; HAMMER e </a:t>
            </a:r>
            <a:r>
              <a:rPr lang="pt-BR" altLang="pt-BR" sz="2400" dirty="0" err="1">
                <a:latin typeface="+mn-lt"/>
              </a:rPr>
              <a:t>McLEOD</a:t>
            </a:r>
            <a:r>
              <a:rPr lang="pt-BR" altLang="pt-BR" sz="2400" dirty="0">
                <a:latin typeface="+mn-lt"/>
              </a:rPr>
              <a:t>, 1981; HULL e KING, 1987)</a:t>
            </a:r>
          </a:p>
          <a:p>
            <a:pPr>
              <a:spcBef>
                <a:spcPct val="0"/>
              </a:spcBef>
              <a:buFontTx/>
              <a:buNone/>
            </a:pPr>
            <a:r>
              <a:rPr lang="pt-BR" altLang="pt-BR" sz="2400" dirty="0">
                <a:latin typeface="+mn-lt"/>
              </a:rPr>
              <a:t>A UML não inclui uma notação específica para essa modelagem de banco de dados, pois supõe um processo de desenvolvimento orientado a objetos e modela dados usando objetos e seus relacionamentos. </a:t>
            </a:r>
          </a:p>
          <a:p>
            <a:pPr>
              <a:spcBef>
                <a:spcPct val="0"/>
              </a:spcBef>
              <a:buFontTx/>
              <a:buNone/>
            </a:pPr>
            <a:r>
              <a:rPr lang="pt-BR" altLang="pt-BR" sz="2400" dirty="0">
                <a:latin typeface="+mn-lt"/>
              </a:rPr>
              <a:t>Pode-se usar a UML para representar um modelo semântico de dados (entidades =classes sem operações), (atributos= como atributos da classe de objetos), (relações = associações)</a:t>
            </a:r>
          </a:p>
        </p:txBody>
      </p:sp>
    </p:spTree>
    <p:extLst>
      <p:ext uri="{BB962C8B-B14F-4D97-AF65-F5344CB8AC3E}">
        <p14:creationId xmlns:p14="http://schemas.microsoft.com/office/powerpoint/2010/main" val="1686235173"/>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2018" name="Espaço Reservado para Número de Slide 5"/>
          <p:cNvSpPr>
            <a:spLocks noGrp="1"/>
          </p:cNvSpPr>
          <p:nvPr>
            <p:ph type="sldNum"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6A4A9002-514A-4E66-BCF0-446C8242712A}" type="slidenum">
              <a:rPr lang="pt-PT" altLang="pt-BR" sz="1400"/>
              <a:pPr>
                <a:spcBef>
                  <a:spcPct val="0"/>
                </a:spcBef>
                <a:buFontTx/>
                <a:buNone/>
              </a:pPr>
              <a:t>28</a:t>
            </a:fld>
            <a:endParaRPr lang="pt-PT" altLang="pt-BR" sz="1400"/>
          </a:p>
        </p:txBody>
      </p:sp>
      <p:sp>
        <p:nvSpPr>
          <p:cNvPr id="342019" name="Rectangle 2"/>
          <p:cNvSpPr>
            <a:spLocks noGrp="1" noChangeArrowheads="1"/>
          </p:cNvSpPr>
          <p:nvPr>
            <p:ph type="ctrTitle"/>
          </p:nvPr>
        </p:nvSpPr>
        <p:spPr>
          <a:xfrm>
            <a:off x="1524001" y="1"/>
            <a:ext cx="9217025" cy="836613"/>
          </a:xfrm>
        </p:spPr>
        <p:txBody>
          <a:bodyPr anchor="ctr">
            <a:normAutofit fontScale="90000"/>
          </a:bodyPr>
          <a:lstStyle/>
          <a:p>
            <a:pPr eaLnBrk="1" hangingPunct="1"/>
            <a:r>
              <a:rPr lang="pt-BR" altLang="pt-BR" sz="3600"/>
              <a:t>UML – MODELOS ESTRUTURAIS – Diagrama de Classes UML</a:t>
            </a:r>
            <a:endParaRPr lang="pt-PT" altLang="pt-BR" sz="3600"/>
          </a:p>
        </p:txBody>
      </p:sp>
      <p:sp>
        <p:nvSpPr>
          <p:cNvPr id="342020" name="Retângulo 1"/>
          <p:cNvSpPr>
            <a:spLocks noChangeArrowheads="1"/>
          </p:cNvSpPr>
          <p:nvPr/>
        </p:nvSpPr>
        <p:spPr bwMode="auto">
          <a:xfrm>
            <a:off x="-1212850" y="3030539"/>
            <a:ext cx="339725"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just" eaLnBrk="1" hangingPunct="1">
              <a:spcBef>
                <a:spcPct val="0"/>
              </a:spcBef>
              <a:buFontTx/>
              <a:buNone/>
            </a:pPr>
            <a:r>
              <a:rPr lang="pt-BR" altLang="pt-BR" sz="2400"/>
              <a:t>. </a:t>
            </a:r>
          </a:p>
        </p:txBody>
      </p:sp>
      <p:sp>
        <p:nvSpPr>
          <p:cNvPr id="342021" name="Retângulo 1"/>
          <p:cNvSpPr>
            <a:spLocks noChangeArrowheads="1"/>
          </p:cNvSpPr>
          <p:nvPr/>
        </p:nvSpPr>
        <p:spPr bwMode="auto">
          <a:xfrm>
            <a:off x="120770" y="1000664"/>
            <a:ext cx="11964837" cy="45243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pt-BR" altLang="pt-BR" sz="2400" dirty="0" err="1" smtClean="0">
                <a:latin typeface="+mn-lt"/>
              </a:rPr>
              <a:t>Representaçao</a:t>
            </a:r>
            <a:r>
              <a:rPr lang="pt-BR" altLang="pt-BR" sz="2400" dirty="0" smtClean="0">
                <a:latin typeface="+mn-lt"/>
              </a:rPr>
              <a:t> </a:t>
            </a:r>
            <a:r>
              <a:rPr lang="pt-BR" altLang="pt-BR" sz="2400" dirty="0">
                <a:latin typeface="+mn-lt"/>
              </a:rPr>
              <a:t>de classes: nome,  atributos (características de um objeto) e operações (as coisas que você pode pedir a um objeto). </a:t>
            </a:r>
          </a:p>
          <a:p>
            <a:pPr>
              <a:spcBef>
                <a:spcPct val="0"/>
              </a:spcBef>
              <a:buFontTx/>
              <a:buNone/>
            </a:pPr>
            <a:endParaRPr lang="pt-BR" altLang="pt-BR" sz="2400" dirty="0">
              <a:latin typeface="+mn-lt"/>
            </a:endParaRPr>
          </a:p>
          <a:p>
            <a:pPr>
              <a:spcBef>
                <a:spcPct val="0"/>
              </a:spcBef>
              <a:buFontTx/>
              <a:buNone/>
            </a:pPr>
            <a:r>
              <a:rPr lang="pt-BR" altLang="pt-BR" sz="2400" dirty="0">
                <a:latin typeface="+mn-lt"/>
              </a:rPr>
              <a:t>Objeto Paciente:</a:t>
            </a:r>
          </a:p>
          <a:p>
            <a:pPr>
              <a:spcBef>
                <a:spcPct val="0"/>
              </a:spcBef>
              <a:buFontTx/>
              <a:buNone/>
            </a:pPr>
            <a:r>
              <a:rPr lang="pt-BR" altLang="pt-BR" sz="2400" dirty="0">
                <a:latin typeface="+mn-lt"/>
              </a:rPr>
              <a:t> </a:t>
            </a:r>
            <a:r>
              <a:rPr lang="pt-BR" altLang="pt-BR" sz="2400" dirty="0" smtClean="0">
                <a:latin typeface="+mn-lt"/>
              </a:rPr>
              <a:t>atributo </a:t>
            </a:r>
            <a:r>
              <a:rPr lang="pt-BR" altLang="pt-BR" sz="2400" dirty="0">
                <a:latin typeface="+mn-lt"/>
              </a:rPr>
              <a:t>Endereço, o</a:t>
            </a:r>
            <a:r>
              <a:rPr lang="pt-BR" altLang="pt-BR" sz="2400" dirty="0" smtClean="0">
                <a:latin typeface="+mn-lt"/>
              </a:rPr>
              <a:t>peração </a:t>
            </a:r>
            <a:r>
              <a:rPr lang="pt-BR" altLang="pt-BR" sz="2400" dirty="0" err="1" smtClean="0">
                <a:latin typeface="+mn-lt"/>
              </a:rPr>
              <a:t>MudarEndereço</a:t>
            </a:r>
            <a:r>
              <a:rPr lang="pt-BR" altLang="pt-BR" sz="2400" dirty="0" smtClean="0">
                <a:latin typeface="+mn-lt"/>
              </a:rPr>
              <a:t> (chamada </a:t>
            </a:r>
            <a:r>
              <a:rPr lang="pt-BR" altLang="pt-BR" sz="2400" dirty="0">
                <a:latin typeface="+mn-lt"/>
              </a:rPr>
              <a:t>quando um paciente </a:t>
            </a:r>
            <a:r>
              <a:rPr lang="pt-BR" altLang="pt-BR" sz="2400" dirty="0" smtClean="0">
                <a:latin typeface="+mn-lt"/>
              </a:rPr>
              <a:t>indica </a:t>
            </a:r>
            <a:r>
              <a:rPr lang="pt-BR" altLang="pt-BR" sz="2400" dirty="0">
                <a:latin typeface="+mn-lt"/>
              </a:rPr>
              <a:t>ter mudado de </a:t>
            </a:r>
            <a:r>
              <a:rPr lang="pt-BR" altLang="pt-BR" sz="2400" dirty="0" smtClean="0">
                <a:latin typeface="+mn-lt"/>
              </a:rPr>
              <a:t>endereço). </a:t>
            </a:r>
            <a:endParaRPr lang="pt-BR" altLang="pt-BR" sz="2400" dirty="0">
              <a:latin typeface="+mn-lt"/>
            </a:endParaRPr>
          </a:p>
          <a:p>
            <a:pPr>
              <a:spcBef>
                <a:spcPct val="0"/>
              </a:spcBef>
              <a:buFontTx/>
              <a:buNone/>
            </a:pPr>
            <a:endParaRPr lang="pt-BR" altLang="pt-BR" sz="2400" dirty="0">
              <a:latin typeface="+mn-lt"/>
            </a:endParaRPr>
          </a:p>
          <a:p>
            <a:pPr>
              <a:spcBef>
                <a:spcPct val="0"/>
              </a:spcBef>
              <a:buFontTx/>
              <a:buNone/>
            </a:pPr>
            <a:r>
              <a:rPr lang="pt-BR" altLang="pt-BR" sz="2400" dirty="0">
                <a:latin typeface="+mn-lt"/>
              </a:rPr>
              <a:t>Classes em retângulo:</a:t>
            </a:r>
          </a:p>
          <a:p>
            <a:pPr>
              <a:spcBef>
                <a:spcPct val="0"/>
              </a:spcBef>
              <a:buFontTx/>
              <a:buNone/>
            </a:pPr>
            <a:r>
              <a:rPr lang="pt-BR" altLang="pt-BR" sz="2400" dirty="0">
                <a:latin typeface="+mn-lt"/>
              </a:rPr>
              <a:t>1. O nome da classe de objeto está na seção superior. </a:t>
            </a:r>
          </a:p>
          <a:p>
            <a:pPr>
              <a:spcBef>
                <a:spcPct val="0"/>
              </a:spcBef>
              <a:buFontTx/>
              <a:buNone/>
            </a:pPr>
            <a:r>
              <a:rPr lang="pt-BR" altLang="pt-BR" sz="2400" dirty="0">
                <a:latin typeface="+mn-lt"/>
              </a:rPr>
              <a:t>2. Os atributos de classe estão na seção do </a:t>
            </a:r>
            <a:r>
              <a:rPr lang="pt-BR" altLang="pt-BR" sz="2400" dirty="0" smtClean="0">
                <a:latin typeface="+mn-lt"/>
              </a:rPr>
              <a:t>meio: nomes </a:t>
            </a:r>
            <a:r>
              <a:rPr lang="pt-BR" altLang="pt-BR" sz="2400" dirty="0">
                <a:latin typeface="+mn-lt"/>
              </a:rPr>
              <a:t>e, opcionalmente, seus tipos. </a:t>
            </a:r>
          </a:p>
          <a:p>
            <a:pPr>
              <a:spcBef>
                <a:spcPct val="0"/>
              </a:spcBef>
              <a:buFontTx/>
              <a:buNone/>
            </a:pPr>
            <a:r>
              <a:rPr lang="pt-BR" altLang="pt-BR" sz="2400" dirty="0">
                <a:latin typeface="+mn-lt"/>
              </a:rPr>
              <a:t>3. As operações (chamadas métodos, em Java e em outras linguagens de programação OO) associadas à classe de objeto estão na seção inferior do retângulo.</a:t>
            </a:r>
          </a:p>
        </p:txBody>
      </p:sp>
    </p:spTree>
    <p:extLst>
      <p:ext uri="{BB962C8B-B14F-4D97-AF65-F5344CB8AC3E}">
        <p14:creationId xmlns:p14="http://schemas.microsoft.com/office/powerpoint/2010/main" val="702996713"/>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3042" name="Espaço Reservado para Número de Slide 5"/>
          <p:cNvSpPr>
            <a:spLocks noGrp="1"/>
          </p:cNvSpPr>
          <p:nvPr>
            <p:ph type="sldNum"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F9553DAE-8BEF-4F51-B939-C899F8CFD98E}" type="slidenum">
              <a:rPr lang="pt-PT" altLang="pt-BR" sz="1400"/>
              <a:pPr>
                <a:spcBef>
                  <a:spcPct val="0"/>
                </a:spcBef>
                <a:buFontTx/>
                <a:buNone/>
              </a:pPr>
              <a:t>29</a:t>
            </a:fld>
            <a:endParaRPr lang="pt-PT" altLang="pt-BR" sz="1400"/>
          </a:p>
        </p:txBody>
      </p:sp>
      <p:sp>
        <p:nvSpPr>
          <p:cNvPr id="343043" name="Rectangle 2"/>
          <p:cNvSpPr>
            <a:spLocks noGrp="1" noChangeArrowheads="1"/>
          </p:cNvSpPr>
          <p:nvPr>
            <p:ph type="ctrTitle"/>
          </p:nvPr>
        </p:nvSpPr>
        <p:spPr>
          <a:xfrm>
            <a:off x="1524001" y="1"/>
            <a:ext cx="9217025" cy="836613"/>
          </a:xfrm>
        </p:spPr>
        <p:txBody>
          <a:bodyPr anchor="ctr">
            <a:normAutofit fontScale="90000"/>
          </a:bodyPr>
          <a:lstStyle/>
          <a:p>
            <a:pPr eaLnBrk="1" hangingPunct="1"/>
            <a:r>
              <a:rPr lang="pt-BR" altLang="pt-BR" sz="3600"/>
              <a:t>UML – MODELOS ESTRUTURAIS – Diagrama de Classes UML</a:t>
            </a:r>
            <a:endParaRPr lang="pt-PT" altLang="pt-BR" sz="3600"/>
          </a:p>
        </p:txBody>
      </p:sp>
      <p:sp>
        <p:nvSpPr>
          <p:cNvPr id="343044" name="Retângulo 1"/>
          <p:cNvSpPr>
            <a:spLocks noChangeArrowheads="1"/>
          </p:cNvSpPr>
          <p:nvPr/>
        </p:nvSpPr>
        <p:spPr bwMode="auto">
          <a:xfrm>
            <a:off x="-1212850" y="3030539"/>
            <a:ext cx="339725"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just" eaLnBrk="1" hangingPunct="1">
              <a:spcBef>
                <a:spcPct val="0"/>
              </a:spcBef>
              <a:buFontTx/>
              <a:buNone/>
            </a:pPr>
            <a:r>
              <a:rPr lang="pt-BR" altLang="pt-BR" sz="2400"/>
              <a:t>. </a:t>
            </a:r>
          </a:p>
        </p:txBody>
      </p:sp>
      <p:sp>
        <p:nvSpPr>
          <p:cNvPr id="2" name="CaixaDeTexto 1"/>
          <p:cNvSpPr txBox="1"/>
          <p:nvPr/>
        </p:nvSpPr>
        <p:spPr>
          <a:xfrm>
            <a:off x="4655418" y="1110757"/>
            <a:ext cx="2952750" cy="369332"/>
          </a:xfrm>
          <a:prstGeom prst="rect">
            <a:avLst/>
          </a:prstGeom>
          <a:solidFill>
            <a:schemeClr val="accent3">
              <a:lumMod val="95000"/>
            </a:schemeClr>
          </a:solidFill>
          <a:ln w="57150">
            <a:solidFill>
              <a:schemeClr val="tx1"/>
            </a:solidFill>
          </a:ln>
        </p:spPr>
        <p:txBody>
          <a:bodyPr>
            <a:spAutoFit/>
          </a:bodyPr>
          <a:lstStyle/>
          <a:p>
            <a:pPr>
              <a:defRPr/>
            </a:pPr>
            <a:r>
              <a:rPr lang="pt-BR" dirty="0"/>
              <a:t>Consulta</a:t>
            </a:r>
          </a:p>
        </p:txBody>
      </p:sp>
      <p:sp>
        <p:nvSpPr>
          <p:cNvPr id="3" name="CaixaDeTexto 2"/>
          <p:cNvSpPr txBox="1"/>
          <p:nvPr/>
        </p:nvSpPr>
        <p:spPr>
          <a:xfrm>
            <a:off x="4655840" y="1550788"/>
            <a:ext cx="2952328" cy="2585323"/>
          </a:xfrm>
          <a:prstGeom prst="rect">
            <a:avLst/>
          </a:prstGeom>
          <a:noFill/>
          <a:ln w="76200">
            <a:solidFill>
              <a:schemeClr val="tx2"/>
            </a:solidFill>
          </a:ln>
          <a:effectLst>
            <a:softEdge rad="31750"/>
          </a:effectLst>
          <a:scene3d>
            <a:camera prst="orthographicFront"/>
            <a:lightRig rig="threePt" dir="t"/>
          </a:scene3d>
          <a:sp3d>
            <a:bevelT w="6350"/>
          </a:sp3d>
        </p:spPr>
        <p:txBody>
          <a:bodyPr>
            <a:spAutoFit/>
          </a:bodyPr>
          <a:lstStyle/>
          <a:p>
            <a:pPr>
              <a:defRPr/>
            </a:pPr>
            <a:r>
              <a:rPr lang="pt-BR" dirty="0"/>
              <a:t>Médicos </a:t>
            </a:r>
          </a:p>
          <a:p>
            <a:pPr>
              <a:defRPr/>
            </a:pPr>
            <a:r>
              <a:rPr lang="pt-BR" dirty="0"/>
              <a:t>Data </a:t>
            </a:r>
            <a:r>
              <a:rPr lang="pt-BR" dirty="0" smtClean="0"/>
              <a:t>Horário</a:t>
            </a:r>
          </a:p>
          <a:p>
            <a:pPr>
              <a:defRPr/>
            </a:pPr>
            <a:r>
              <a:rPr lang="pt-BR" dirty="0" smtClean="0"/>
              <a:t> </a:t>
            </a:r>
            <a:r>
              <a:rPr lang="pt-BR" dirty="0"/>
              <a:t>Clínica </a:t>
            </a:r>
            <a:endParaRPr lang="pt-BR" dirty="0" smtClean="0"/>
          </a:p>
          <a:p>
            <a:pPr>
              <a:defRPr/>
            </a:pPr>
            <a:r>
              <a:rPr lang="pt-BR" dirty="0" smtClean="0"/>
              <a:t>Motivo</a:t>
            </a:r>
            <a:endParaRPr lang="pt-BR" dirty="0"/>
          </a:p>
          <a:p>
            <a:pPr>
              <a:defRPr/>
            </a:pPr>
            <a:r>
              <a:rPr lang="pt-BR" dirty="0"/>
              <a:t> Medicação prescrita Tratamento prescrito Anotações de voz Transcrições</a:t>
            </a:r>
          </a:p>
          <a:p>
            <a:pPr>
              <a:defRPr/>
            </a:pPr>
            <a:r>
              <a:rPr lang="pt-BR" dirty="0"/>
              <a:t> ...</a:t>
            </a:r>
          </a:p>
        </p:txBody>
      </p:sp>
      <p:sp>
        <p:nvSpPr>
          <p:cNvPr id="343049" name="CaixaDeTexto 3"/>
          <p:cNvSpPr txBox="1">
            <a:spLocks noChangeArrowheads="1"/>
          </p:cNvSpPr>
          <p:nvPr/>
        </p:nvSpPr>
        <p:spPr bwMode="auto">
          <a:xfrm>
            <a:off x="4655418" y="4206810"/>
            <a:ext cx="2952750" cy="1754187"/>
          </a:xfrm>
          <a:prstGeom prst="rect">
            <a:avLst/>
          </a:prstGeom>
          <a:noFill/>
          <a:ln w="571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pt-BR" altLang="pt-BR" sz="1800"/>
              <a:t>Novo ( ) </a:t>
            </a:r>
          </a:p>
          <a:p>
            <a:pPr>
              <a:spcBef>
                <a:spcPct val="0"/>
              </a:spcBef>
              <a:buFontTx/>
              <a:buNone/>
            </a:pPr>
            <a:r>
              <a:rPr lang="pt-BR" altLang="pt-BR" sz="1800"/>
              <a:t>Prescrever ( ) </a:t>
            </a:r>
          </a:p>
          <a:p>
            <a:pPr>
              <a:spcBef>
                <a:spcPct val="0"/>
              </a:spcBef>
              <a:buFontTx/>
              <a:buNone/>
            </a:pPr>
            <a:r>
              <a:rPr lang="pt-BR" altLang="pt-BR" sz="1800"/>
              <a:t>Registrar</a:t>
            </a:r>
          </a:p>
          <a:p>
            <a:pPr>
              <a:spcBef>
                <a:spcPct val="0"/>
              </a:spcBef>
              <a:buFontTx/>
              <a:buNone/>
            </a:pPr>
            <a:r>
              <a:rPr lang="pt-BR" altLang="pt-BR" sz="1800"/>
              <a:t>Anotações ( ) </a:t>
            </a:r>
          </a:p>
          <a:p>
            <a:pPr>
              <a:spcBef>
                <a:spcPct val="0"/>
              </a:spcBef>
              <a:buFontTx/>
              <a:buNone/>
            </a:pPr>
            <a:r>
              <a:rPr lang="pt-BR" altLang="pt-BR" sz="1800"/>
              <a:t>Transcrever ( )</a:t>
            </a:r>
          </a:p>
          <a:p>
            <a:pPr>
              <a:spcBef>
                <a:spcPct val="0"/>
              </a:spcBef>
              <a:buFontTx/>
              <a:buNone/>
            </a:pPr>
            <a:r>
              <a:rPr lang="pt-BR" altLang="pt-BR" sz="1800"/>
              <a:t> ...</a:t>
            </a:r>
          </a:p>
        </p:txBody>
      </p:sp>
    </p:spTree>
    <p:extLst>
      <p:ext uri="{BB962C8B-B14F-4D97-AF65-F5344CB8AC3E}">
        <p14:creationId xmlns:p14="http://schemas.microsoft.com/office/powerpoint/2010/main" val="1906106406"/>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4066" name="Espaço Reservado para Número de Slide 5"/>
          <p:cNvSpPr>
            <a:spLocks noGrp="1"/>
          </p:cNvSpPr>
          <p:nvPr>
            <p:ph type="sldNum"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9FF1DC7F-7B1C-4798-B6E9-AE480EA8813F}" type="slidenum">
              <a:rPr lang="pt-PT" altLang="pt-BR" sz="1400"/>
              <a:pPr>
                <a:spcBef>
                  <a:spcPct val="0"/>
                </a:spcBef>
                <a:buFontTx/>
                <a:buNone/>
              </a:pPr>
              <a:t>30</a:t>
            </a:fld>
            <a:endParaRPr lang="pt-PT" altLang="pt-BR" sz="1400"/>
          </a:p>
        </p:txBody>
      </p:sp>
      <p:sp>
        <p:nvSpPr>
          <p:cNvPr id="344067" name="Rectangle 2"/>
          <p:cNvSpPr>
            <a:spLocks noGrp="1" noChangeArrowheads="1"/>
          </p:cNvSpPr>
          <p:nvPr>
            <p:ph type="ctrTitle"/>
          </p:nvPr>
        </p:nvSpPr>
        <p:spPr>
          <a:xfrm>
            <a:off x="1524001" y="1"/>
            <a:ext cx="9217025" cy="836613"/>
          </a:xfrm>
        </p:spPr>
        <p:txBody>
          <a:bodyPr anchor="ctr"/>
          <a:lstStyle/>
          <a:p>
            <a:pPr eaLnBrk="1" hangingPunct="1"/>
            <a:r>
              <a:rPr lang="pt-BR" altLang="pt-BR" sz="3600"/>
              <a:t>UML – MODELOS ESTRUTURAIS – Generalização</a:t>
            </a:r>
            <a:endParaRPr lang="pt-PT" altLang="pt-BR" sz="3600"/>
          </a:p>
        </p:txBody>
      </p:sp>
      <p:sp>
        <p:nvSpPr>
          <p:cNvPr id="344068" name="Retângulo 1"/>
          <p:cNvSpPr>
            <a:spLocks noChangeArrowheads="1"/>
          </p:cNvSpPr>
          <p:nvPr/>
        </p:nvSpPr>
        <p:spPr bwMode="auto">
          <a:xfrm>
            <a:off x="-1212850" y="3030539"/>
            <a:ext cx="339725"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just" eaLnBrk="1" hangingPunct="1">
              <a:spcBef>
                <a:spcPct val="0"/>
              </a:spcBef>
              <a:buFontTx/>
              <a:buNone/>
            </a:pPr>
            <a:r>
              <a:rPr lang="pt-BR" altLang="pt-BR" sz="2400"/>
              <a:t>. </a:t>
            </a:r>
          </a:p>
        </p:txBody>
      </p:sp>
      <p:sp>
        <p:nvSpPr>
          <p:cNvPr id="344069" name="Retângulo 1"/>
          <p:cNvSpPr>
            <a:spLocks noChangeArrowheads="1"/>
          </p:cNvSpPr>
          <p:nvPr/>
        </p:nvSpPr>
        <p:spPr bwMode="auto">
          <a:xfrm>
            <a:off x="112143" y="940279"/>
            <a:ext cx="11938959" cy="48936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pt-BR" altLang="pt-BR" sz="2400" dirty="0">
                <a:latin typeface="+mn-lt"/>
              </a:rPr>
              <a:t>Técnica para gerenciar a complexidade. </a:t>
            </a:r>
          </a:p>
          <a:p>
            <a:pPr>
              <a:spcBef>
                <a:spcPct val="0"/>
              </a:spcBef>
              <a:buFontTx/>
              <a:buNone/>
            </a:pPr>
            <a:r>
              <a:rPr lang="pt-BR" altLang="pt-BR" sz="2400" dirty="0">
                <a:latin typeface="+mn-lt"/>
              </a:rPr>
              <a:t>E</a:t>
            </a:r>
            <a:r>
              <a:rPr lang="pt-BR" altLang="pt-BR" sz="2400" dirty="0" smtClean="0">
                <a:latin typeface="+mn-lt"/>
              </a:rPr>
              <a:t>ntidades </a:t>
            </a:r>
            <a:r>
              <a:rPr lang="pt-BR" altLang="pt-BR" sz="2400" dirty="0">
                <a:latin typeface="+mn-lt"/>
              </a:rPr>
              <a:t>são inseridas em classes mais gerais (animais, carros, casas etc.)</a:t>
            </a:r>
          </a:p>
          <a:p>
            <a:pPr>
              <a:spcBef>
                <a:spcPct val="0"/>
              </a:spcBef>
              <a:buFontTx/>
              <a:buNone/>
            </a:pPr>
            <a:r>
              <a:rPr lang="pt-BR" altLang="pt-BR" sz="2400" dirty="0">
                <a:latin typeface="+mn-lt"/>
              </a:rPr>
              <a:t>Diferentes membros dessas classes têm algumas características em comum (os esquilos e os ratos são roedores). </a:t>
            </a:r>
          </a:p>
          <a:p>
            <a:pPr>
              <a:spcBef>
                <a:spcPct val="0"/>
              </a:spcBef>
              <a:buFontTx/>
              <a:buNone/>
            </a:pPr>
            <a:r>
              <a:rPr lang="pt-BR" altLang="pt-BR" sz="2400" dirty="0">
                <a:latin typeface="+mn-lt"/>
              </a:rPr>
              <a:t>Afirmações genéricas: se aplicam a todos os membros da classe (todos os roedores têm dentes para roer). </a:t>
            </a:r>
          </a:p>
          <a:p>
            <a:pPr>
              <a:spcBef>
                <a:spcPct val="0"/>
              </a:spcBef>
              <a:buFontTx/>
              <a:buNone/>
            </a:pPr>
            <a:r>
              <a:rPr lang="pt-BR" altLang="pt-BR" sz="2400" dirty="0">
                <a:latin typeface="+mn-lt"/>
              </a:rPr>
              <a:t>Deve-se examinar as classes para ver se há espaço para a generalização: informações comuns serão mantidas em um único </a:t>
            </a:r>
            <a:r>
              <a:rPr lang="pt-BR" altLang="pt-BR" sz="2400" dirty="0" smtClean="0">
                <a:latin typeface="+mn-lt"/>
              </a:rPr>
              <a:t>lugar (entidade ou classe)</a:t>
            </a:r>
            <a:endParaRPr lang="pt-BR" altLang="pt-BR" sz="2400" dirty="0">
              <a:latin typeface="+mn-lt"/>
            </a:endParaRPr>
          </a:p>
          <a:p>
            <a:pPr>
              <a:spcBef>
                <a:spcPct val="0"/>
              </a:spcBef>
              <a:buFontTx/>
              <a:buNone/>
            </a:pPr>
            <a:r>
              <a:rPr lang="pt-BR" altLang="pt-BR" sz="2400" dirty="0">
                <a:latin typeface="+mn-lt"/>
              </a:rPr>
              <a:t>Boa prática de projeto: mudanças no sistema não afetam todas as classes. </a:t>
            </a:r>
          </a:p>
          <a:p>
            <a:pPr>
              <a:spcBef>
                <a:spcPct val="0"/>
              </a:spcBef>
              <a:buFontTx/>
              <a:buNone/>
            </a:pPr>
            <a:r>
              <a:rPr lang="pt-BR" altLang="pt-BR" sz="2400" dirty="0">
                <a:latin typeface="+mn-lt"/>
              </a:rPr>
              <a:t>Linguagens orientadas a objeto como Java:  generalização é implementada usando os mecanismos de herança de </a:t>
            </a:r>
            <a:r>
              <a:rPr lang="pt-BR" altLang="pt-BR" sz="2400" dirty="0" smtClean="0">
                <a:latin typeface="+mn-lt"/>
              </a:rPr>
              <a:t>classe</a:t>
            </a:r>
          </a:p>
          <a:p>
            <a:pPr>
              <a:spcBef>
                <a:spcPct val="0"/>
              </a:spcBef>
              <a:buNone/>
            </a:pPr>
            <a:r>
              <a:rPr lang="pt-BR" altLang="pt-BR" sz="2400" dirty="0"/>
              <a:t>Representada como uma seta apontando para a classe mais geral.</a:t>
            </a:r>
          </a:p>
          <a:p>
            <a:pPr>
              <a:spcBef>
                <a:spcPct val="0"/>
              </a:spcBef>
              <a:buFontTx/>
              <a:buNone/>
            </a:pPr>
            <a:endParaRPr lang="pt-BR" altLang="pt-BR" sz="2400" dirty="0">
              <a:latin typeface="+mn-lt"/>
            </a:endParaRPr>
          </a:p>
        </p:txBody>
      </p:sp>
    </p:spTree>
    <p:extLst>
      <p:ext uri="{BB962C8B-B14F-4D97-AF65-F5344CB8AC3E}">
        <p14:creationId xmlns:p14="http://schemas.microsoft.com/office/powerpoint/2010/main" val="4147438276"/>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5090" name="Espaço Reservado para Número de Slide 5"/>
          <p:cNvSpPr>
            <a:spLocks noGrp="1"/>
          </p:cNvSpPr>
          <p:nvPr>
            <p:ph type="sldNum"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EC9762DB-E5F0-428E-A05D-98FBD5E875DD}" type="slidenum">
              <a:rPr lang="pt-PT" altLang="pt-BR" sz="1400"/>
              <a:pPr>
                <a:spcBef>
                  <a:spcPct val="0"/>
                </a:spcBef>
                <a:buFontTx/>
                <a:buNone/>
              </a:pPr>
              <a:t>31</a:t>
            </a:fld>
            <a:endParaRPr lang="pt-PT" altLang="pt-BR" sz="1400"/>
          </a:p>
        </p:txBody>
      </p:sp>
      <p:sp>
        <p:nvSpPr>
          <p:cNvPr id="345091" name="Rectangle 2"/>
          <p:cNvSpPr>
            <a:spLocks noGrp="1" noChangeArrowheads="1"/>
          </p:cNvSpPr>
          <p:nvPr>
            <p:ph type="ctrTitle"/>
          </p:nvPr>
        </p:nvSpPr>
        <p:spPr>
          <a:xfrm>
            <a:off x="1524001" y="1"/>
            <a:ext cx="9217025" cy="836613"/>
          </a:xfrm>
        </p:spPr>
        <p:txBody>
          <a:bodyPr anchor="ctr"/>
          <a:lstStyle/>
          <a:p>
            <a:pPr eaLnBrk="1" hangingPunct="1"/>
            <a:r>
              <a:rPr lang="pt-BR" altLang="pt-BR" sz="3600"/>
              <a:t>UML – MODELOS ESTRUTURAIS – Generalização</a:t>
            </a:r>
            <a:endParaRPr lang="pt-PT" altLang="pt-BR" sz="3600"/>
          </a:p>
        </p:txBody>
      </p:sp>
      <p:sp>
        <p:nvSpPr>
          <p:cNvPr id="345092" name="Retângulo 1"/>
          <p:cNvSpPr>
            <a:spLocks noChangeArrowheads="1"/>
          </p:cNvSpPr>
          <p:nvPr/>
        </p:nvSpPr>
        <p:spPr bwMode="auto">
          <a:xfrm>
            <a:off x="-1212850" y="3030539"/>
            <a:ext cx="339725"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just" eaLnBrk="1" hangingPunct="1">
              <a:spcBef>
                <a:spcPct val="0"/>
              </a:spcBef>
              <a:buFontTx/>
              <a:buNone/>
            </a:pPr>
            <a:r>
              <a:rPr lang="pt-BR" altLang="pt-BR" sz="2400"/>
              <a:t>. </a:t>
            </a:r>
          </a:p>
        </p:txBody>
      </p:sp>
      <p:sp>
        <p:nvSpPr>
          <p:cNvPr id="345093" name="Retângulo 1"/>
          <p:cNvSpPr>
            <a:spLocks noChangeArrowheads="1"/>
          </p:cNvSpPr>
          <p:nvPr/>
        </p:nvSpPr>
        <p:spPr bwMode="auto">
          <a:xfrm>
            <a:off x="120770" y="1017917"/>
            <a:ext cx="12071229" cy="60016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pt-BR" altLang="pt-BR" sz="2400" dirty="0" err="1" smtClean="0">
                <a:latin typeface="+mn-lt"/>
              </a:rPr>
              <a:t>Ex</a:t>
            </a:r>
            <a:r>
              <a:rPr lang="pt-BR" altLang="pt-BR" sz="2400" dirty="0">
                <a:latin typeface="+mn-lt"/>
              </a:rPr>
              <a:t>: ‘Clínicos gerais’ e ‘Médicos de hospital’ podem ser generalizados como ‘</a:t>
            </a:r>
            <a:r>
              <a:rPr lang="pt-BR" altLang="pt-BR" sz="2400" dirty="0" smtClean="0">
                <a:latin typeface="+mn-lt"/>
              </a:rPr>
              <a:t>Médicos’. Existem </a:t>
            </a:r>
            <a:r>
              <a:rPr lang="pt-BR" altLang="pt-BR" sz="2400" dirty="0">
                <a:latin typeface="+mn-lt"/>
              </a:rPr>
              <a:t>três tipos de ‘Médicos de hospital’ </a:t>
            </a:r>
            <a:r>
              <a:rPr lang="pt-BR" altLang="pt-BR" sz="2400" dirty="0" smtClean="0">
                <a:latin typeface="+mn-lt"/>
              </a:rPr>
              <a:t>: 1) aqueles </a:t>
            </a:r>
            <a:r>
              <a:rPr lang="pt-BR" altLang="pt-BR" sz="2400" dirty="0">
                <a:latin typeface="+mn-lt"/>
              </a:rPr>
              <a:t>que acabaram de se formar em medicina e precisam ser supervisionados (‘Médico residente’); </a:t>
            </a:r>
            <a:r>
              <a:rPr lang="pt-BR" altLang="pt-BR" sz="2400" dirty="0" smtClean="0">
                <a:latin typeface="+mn-lt"/>
              </a:rPr>
              <a:t>2) aqueles </a:t>
            </a:r>
            <a:r>
              <a:rPr lang="pt-BR" altLang="pt-BR" sz="2400" dirty="0">
                <a:latin typeface="+mn-lt"/>
              </a:rPr>
              <a:t>que podem trabalhar sem supervisão, como parte de uma equipe médica (‘Médico qualificado’); </a:t>
            </a:r>
            <a:r>
              <a:rPr lang="pt-BR" altLang="pt-BR" sz="2400" dirty="0" smtClean="0">
                <a:latin typeface="+mn-lt"/>
              </a:rPr>
              <a:t>3) </a:t>
            </a:r>
            <a:r>
              <a:rPr lang="pt-BR" altLang="pt-BR" sz="2400" dirty="0">
                <a:latin typeface="+mn-lt"/>
              </a:rPr>
              <a:t>‘Consultores’, que são os médicos mais experientes com a responsabilidade total pela decisão tomada. </a:t>
            </a:r>
          </a:p>
          <a:p>
            <a:pPr>
              <a:spcBef>
                <a:spcPct val="0"/>
              </a:spcBef>
              <a:buFontTx/>
              <a:buNone/>
            </a:pPr>
            <a:endParaRPr lang="pt-BR" altLang="pt-BR" sz="2400" dirty="0" smtClean="0">
              <a:latin typeface="+mn-lt"/>
            </a:endParaRPr>
          </a:p>
          <a:p>
            <a:pPr>
              <a:spcBef>
                <a:spcPct val="0"/>
              </a:spcBef>
              <a:buFontTx/>
              <a:buNone/>
            </a:pPr>
            <a:r>
              <a:rPr lang="pt-BR" altLang="pt-BR" sz="2400" dirty="0" smtClean="0">
                <a:latin typeface="+mn-lt"/>
              </a:rPr>
              <a:t>Atributos </a:t>
            </a:r>
            <a:r>
              <a:rPr lang="pt-BR" altLang="pt-BR" sz="2400" dirty="0">
                <a:latin typeface="+mn-lt"/>
              </a:rPr>
              <a:t>e </a:t>
            </a:r>
            <a:r>
              <a:rPr lang="pt-BR" altLang="pt-BR" sz="2400" dirty="0" smtClean="0">
                <a:latin typeface="+mn-lt"/>
              </a:rPr>
              <a:t>operações </a:t>
            </a:r>
            <a:r>
              <a:rPr lang="pt-BR" altLang="pt-BR" sz="2400" dirty="0">
                <a:latin typeface="+mn-lt"/>
              </a:rPr>
              <a:t>das  classes de nível alto estão associados com as de nível baixo</a:t>
            </a:r>
            <a:r>
              <a:rPr lang="pt-BR" altLang="pt-BR" sz="2400" dirty="0" smtClean="0">
                <a:latin typeface="+mn-lt"/>
              </a:rPr>
              <a:t>.</a:t>
            </a:r>
          </a:p>
          <a:p>
            <a:pPr>
              <a:spcBef>
                <a:spcPct val="0"/>
              </a:spcBef>
              <a:buFontTx/>
              <a:buNone/>
            </a:pPr>
            <a:r>
              <a:rPr lang="pt-BR" altLang="pt-BR" sz="2400" dirty="0" smtClean="0">
                <a:latin typeface="+mn-lt"/>
              </a:rPr>
              <a:t> </a:t>
            </a:r>
            <a:endParaRPr lang="pt-BR" altLang="pt-BR" sz="2400" dirty="0">
              <a:latin typeface="+mn-lt"/>
            </a:endParaRPr>
          </a:p>
          <a:p>
            <a:pPr>
              <a:spcBef>
                <a:spcPct val="0"/>
              </a:spcBef>
              <a:buNone/>
            </a:pPr>
            <a:r>
              <a:rPr lang="pt-BR" altLang="pt-BR" sz="2400" dirty="0">
                <a:latin typeface="+mn-lt"/>
              </a:rPr>
              <a:t>Classes de nível baixo: subclasses que herdam os atributos e as operações de suas </a:t>
            </a:r>
            <a:r>
              <a:rPr lang="pt-BR" altLang="pt-BR" sz="2400" dirty="0" smtClean="0">
                <a:latin typeface="+mn-lt"/>
              </a:rPr>
              <a:t>superclasses e/ou  </a:t>
            </a:r>
            <a:r>
              <a:rPr lang="pt-BR" altLang="pt-BR" sz="2400" dirty="0">
                <a:latin typeface="+mn-lt"/>
              </a:rPr>
              <a:t>adicionam mais atributos e operações específicas. </a:t>
            </a:r>
            <a:endParaRPr lang="pt-BR" altLang="pt-BR" sz="2400" dirty="0" smtClean="0">
              <a:latin typeface="+mn-lt"/>
            </a:endParaRPr>
          </a:p>
          <a:p>
            <a:pPr>
              <a:spcBef>
                <a:spcPct val="0"/>
              </a:spcBef>
              <a:buNone/>
            </a:pPr>
            <a:r>
              <a:rPr lang="pt-BR" altLang="pt-BR" sz="2400" dirty="0" err="1" smtClean="0">
                <a:latin typeface="+mn-lt"/>
              </a:rPr>
              <a:t>Ex</a:t>
            </a:r>
            <a:r>
              <a:rPr lang="pt-BR" altLang="pt-BR" sz="2400" dirty="0">
                <a:latin typeface="+mn-lt"/>
              </a:rPr>
              <a:t>: todos os médicos têm um nome e um número de telefone, </a:t>
            </a:r>
            <a:r>
              <a:rPr lang="pt-BR" altLang="pt-BR" sz="2400" dirty="0" smtClean="0">
                <a:latin typeface="+mn-lt"/>
              </a:rPr>
              <a:t>têm </a:t>
            </a:r>
            <a:r>
              <a:rPr lang="pt-BR" altLang="pt-BR" sz="2400" dirty="0">
                <a:latin typeface="+mn-lt"/>
              </a:rPr>
              <a:t>um número de equipe e um </a:t>
            </a:r>
            <a:r>
              <a:rPr lang="pt-BR" altLang="pt-BR" sz="2400" dirty="0" smtClean="0">
                <a:latin typeface="+mn-lt"/>
              </a:rPr>
              <a:t>departamento. Os </a:t>
            </a:r>
            <a:r>
              <a:rPr lang="pt-BR" altLang="pt-BR" sz="2400" dirty="0">
                <a:latin typeface="+mn-lt"/>
              </a:rPr>
              <a:t>clínicos </a:t>
            </a:r>
            <a:r>
              <a:rPr lang="pt-BR" altLang="pt-BR" sz="2400" dirty="0" smtClean="0">
                <a:latin typeface="+mn-lt"/>
              </a:rPr>
              <a:t>gerais trabalham </a:t>
            </a:r>
            <a:r>
              <a:rPr lang="pt-BR" altLang="pt-BR" sz="2400" dirty="0">
                <a:latin typeface="+mn-lt"/>
              </a:rPr>
              <a:t>de forma independente, e por isso não têm esses atributos. </a:t>
            </a:r>
            <a:r>
              <a:rPr lang="pt-BR" altLang="pt-BR" sz="2400" dirty="0" smtClean="0">
                <a:latin typeface="+mn-lt"/>
              </a:rPr>
              <a:t>Tem </a:t>
            </a:r>
            <a:r>
              <a:rPr lang="pt-BR" altLang="pt-BR" sz="2400" dirty="0">
                <a:latin typeface="+mn-lt"/>
              </a:rPr>
              <a:t>um nome e endereço para prática. </a:t>
            </a:r>
            <a:r>
              <a:rPr lang="pt-BR" altLang="pt-BR" sz="2400" dirty="0" smtClean="0">
                <a:latin typeface="+mn-lt"/>
              </a:rPr>
              <a:t>Figura 5.11  </a:t>
            </a:r>
            <a:r>
              <a:rPr lang="pt-BR" altLang="pt-BR" sz="2400" dirty="0">
                <a:latin typeface="+mn-lt"/>
              </a:rPr>
              <a:t>mostra parte da hierarquia de generalização </a:t>
            </a:r>
            <a:r>
              <a:rPr lang="pt-BR" altLang="pt-BR" sz="2400" dirty="0" smtClean="0">
                <a:latin typeface="+mn-lt"/>
              </a:rPr>
              <a:t>com </a:t>
            </a:r>
            <a:r>
              <a:rPr lang="pt-BR" altLang="pt-BR" sz="2400" dirty="0">
                <a:latin typeface="+mn-lt"/>
              </a:rPr>
              <a:t>atributos da classe. As operações associadas com a classe Médico destinam-se a registrar e remover o registro desse médico com o MHC-PMS.</a:t>
            </a:r>
          </a:p>
          <a:p>
            <a:pPr>
              <a:spcBef>
                <a:spcPct val="0"/>
              </a:spcBef>
              <a:buFontTx/>
              <a:buNone/>
            </a:pPr>
            <a:endParaRPr lang="pt-BR" altLang="pt-BR" sz="2400" dirty="0">
              <a:latin typeface="+mn-lt"/>
            </a:endParaRPr>
          </a:p>
        </p:txBody>
      </p:sp>
    </p:spTree>
    <p:extLst>
      <p:ext uri="{BB962C8B-B14F-4D97-AF65-F5344CB8AC3E}">
        <p14:creationId xmlns:p14="http://schemas.microsoft.com/office/powerpoint/2010/main" val="1091875132"/>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62" name="Espaço Reservado para Número de Slide 5"/>
          <p:cNvSpPr>
            <a:spLocks noGrp="1"/>
          </p:cNvSpPr>
          <p:nvPr>
            <p:ph type="sldNum"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67840AED-66A1-4725-8EDA-756CB249B801}" type="slidenum">
              <a:rPr lang="pt-PT" altLang="pt-BR" sz="1400"/>
              <a:pPr>
                <a:spcBef>
                  <a:spcPct val="0"/>
                </a:spcBef>
                <a:buFontTx/>
                <a:buNone/>
              </a:pPr>
              <a:t>32</a:t>
            </a:fld>
            <a:endParaRPr lang="pt-PT" altLang="pt-BR" sz="1400"/>
          </a:p>
        </p:txBody>
      </p:sp>
      <p:sp>
        <p:nvSpPr>
          <p:cNvPr id="348163" name="Rectangle 2"/>
          <p:cNvSpPr>
            <a:spLocks noGrp="1" noChangeArrowheads="1"/>
          </p:cNvSpPr>
          <p:nvPr>
            <p:ph type="ctrTitle"/>
          </p:nvPr>
        </p:nvSpPr>
        <p:spPr>
          <a:xfrm>
            <a:off x="1524001" y="1"/>
            <a:ext cx="9217025" cy="836613"/>
          </a:xfrm>
        </p:spPr>
        <p:txBody>
          <a:bodyPr anchor="ctr"/>
          <a:lstStyle/>
          <a:p>
            <a:pPr eaLnBrk="1" hangingPunct="1"/>
            <a:r>
              <a:rPr lang="pt-BR" altLang="pt-BR" sz="3600"/>
              <a:t>UML – MODELOS ESTRUTURAIS – Generalização</a:t>
            </a:r>
            <a:endParaRPr lang="pt-PT" altLang="pt-BR" sz="3600"/>
          </a:p>
        </p:txBody>
      </p:sp>
      <p:sp>
        <p:nvSpPr>
          <p:cNvPr id="348164" name="Retângulo 1"/>
          <p:cNvSpPr>
            <a:spLocks noChangeArrowheads="1"/>
          </p:cNvSpPr>
          <p:nvPr/>
        </p:nvSpPr>
        <p:spPr bwMode="auto">
          <a:xfrm>
            <a:off x="-1212850" y="3030539"/>
            <a:ext cx="339725"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just" eaLnBrk="1" hangingPunct="1">
              <a:spcBef>
                <a:spcPct val="0"/>
              </a:spcBef>
              <a:buFontTx/>
              <a:buNone/>
            </a:pPr>
            <a:r>
              <a:rPr lang="pt-BR" altLang="pt-BR" sz="2400"/>
              <a:t>. </a:t>
            </a:r>
          </a:p>
        </p:txBody>
      </p:sp>
      <p:sp>
        <p:nvSpPr>
          <p:cNvPr id="348165" name="CaixaDeTexto 1"/>
          <p:cNvSpPr txBox="1">
            <a:spLocks noChangeArrowheads="1"/>
          </p:cNvSpPr>
          <p:nvPr/>
        </p:nvSpPr>
        <p:spPr bwMode="auto">
          <a:xfrm>
            <a:off x="4943476" y="1773238"/>
            <a:ext cx="1584325" cy="461962"/>
          </a:xfrm>
          <a:prstGeom prst="rect">
            <a:avLst/>
          </a:prstGeom>
          <a:noFill/>
          <a:ln w="285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pt-BR" altLang="pt-BR" sz="2400"/>
              <a:t>Médico</a:t>
            </a:r>
          </a:p>
        </p:txBody>
      </p:sp>
      <p:sp>
        <p:nvSpPr>
          <p:cNvPr id="348166" name="CaixaDeTexto 2"/>
          <p:cNvSpPr txBox="1">
            <a:spLocks noChangeArrowheads="1"/>
          </p:cNvSpPr>
          <p:nvPr/>
        </p:nvSpPr>
        <p:spPr bwMode="auto">
          <a:xfrm>
            <a:off x="3287714" y="2781301"/>
            <a:ext cx="1512887" cy="830263"/>
          </a:xfrm>
          <a:prstGeom prst="rect">
            <a:avLst/>
          </a:prstGeom>
          <a:noFill/>
          <a:ln w="381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pt-BR" altLang="pt-BR" sz="2400"/>
              <a:t>Médico Hospital</a:t>
            </a:r>
          </a:p>
        </p:txBody>
      </p:sp>
      <p:sp>
        <p:nvSpPr>
          <p:cNvPr id="348167" name="CaixaDeTexto 7"/>
          <p:cNvSpPr txBox="1">
            <a:spLocks noChangeArrowheads="1"/>
          </p:cNvSpPr>
          <p:nvPr/>
        </p:nvSpPr>
        <p:spPr bwMode="auto">
          <a:xfrm>
            <a:off x="7516814" y="2755900"/>
            <a:ext cx="1512887" cy="831850"/>
          </a:xfrm>
          <a:prstGeom prst="rect">
            <a:avLst/>
          </a:prstGeom>
          <a:noFill/>
          <a:ln w="381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pt-BR" altLang="pt-BR" sz="2400"/>
              <a:t>Clínico Geral</a:t>
            </a:r>
          </a:p>
        </p:txBody>
      </p:sp>
      <p:sp>
        <p:nvSpPr>
          <p:cNvPr id="348168" name="CaixaDeTexto 3"/>
          <p:cNvSpPr txBox="1">
            <a:spLocks noChangeArrowheads="1"/>
          </p:cNvSpPr>
          <p:nvPr/>
        </p:nvSpPr>
        <p:spPr bwMode="auto">
          <a:xfrm>
            <a:off x="4583113" y="4160838"/>
            <a:ext cx="1657350" cy="831850"/>
          </a:xfrm>
          <a:prstGeom prst="rect">
            <a:avLst/>
          </a:prstGeom>
          <a:noFill/>
          <a:ln w="381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pt-BR" altLang="pt-BR" sz="2400"/>
              <a:t>Equipe médica</a:t>
            </a:r>
          </a:p>
        </p:txBody>
      </p:sp>
      <p:sp>
        <p:nvSpPr>
          <p:cNvPr id="348169" name="CaixaDeTexto 10"/>
          <p:cNvSpPr txBox="1">
            <a:spLocks noChangeArrowheads="1"/>
          </p:cNvSpPr>
          <p:nvPr/>
        </p:nvSpPr>
        <p:spPr bwMode="auto">
          <a:xfrm>
            <a:off x="2360613" y="4229101"/>
            <a:ext cx="1655762" cy="461963"/>
          </a:xfrm>
          <a:prstGeom prst="rect">
            <a:avLst/>
          </a:prstGeom>
          <a:noFill/>
          <a:ln w="381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pt-BR" altLang="pt-BR" sz="2400"/>
              <a:t>Consultor</a:t>
            </a:r>
          </a:p>
        </p:txBody>
      </p:sp>
      <p:sp>
        <p:nvSpPr>
          <p:cNvPr id="348170" name="CaixaDeTexto 4"/>
          <p:cNvSpPr txBox="1">
            <a:spLocks noChangeArrowheads="1"/>
          </p:cNvSpPr>
          <p:nvPr/>
        </p:nvSpPr>
        <p:spPr bwMode="auto">
          <a:xfrm>
            <a:off x="3287714" y="5573713"/>
            <a:ext cx="1584325" cy="831850"/>
          </a:xfrm>
          <a:prstGeom prst="rect">
            <a:avLst/>
          </a:prstGeom>
          <a:noFill/>
          <a:ln w="285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pt-BR" altLang="pt-BR" sz="2400"/>
              <a:t>Médico residente</a:t>
            </a:r>
          </a:p>
        </p:txBody>
      </p:sp>
      <p:sp>
        <p:nvSpPr>
          <p:cNvPr id="348171" name="CaixaDeTexto 12"/>
          <p:cNvSpPr txBox="1">
            <a:spLocks noChangeArrowheads="1"/>
          </p:cNvSpPr>
          <p:nvPr/>
        </p:nvSpPr>
        <p:spPr bwMode="auto">
          <a:xfrm>
            <a:off x="5448301" y="5572125"/>
            <a:ext cx="1584325" cy="831850"/>
          </a:xfrm>
          <a:prstGeom prst="rect">
            <a:avLst/>
          </a:prstGeom>
          <a:noFill/>
          <a:ln w="381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pt-BR" altLang="pt-BR" sz="2400"/>
              <a:t>Médico qualificado</a:t>
            </a:r>
          </a:p>
        </p:txBody>
      </p:sp>
      <p:cxnSp>
        <p:nvCxnSpPr>
          <p:cNvPr id="15" name="Conector reto 14"/>
          <p:cNvCxnSpPr/>
          <p:nvPr/>
        </p:nvCxnSpPr>
        <p:spPr>
          <a:xfrm>
            <a:off x="3648075" y="2420938"/>
            <a:ext cx="424815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7" name="Conector reto 16"/>
          <p:cNvCxnSpPr/>
          <p:nvPr/>
        </p:nvCxnSpPr>
        <p:spPr>
          <a:xfrm>
            <a:off x="3648075" y="2420938"/>
            <a:ext cx="0" cy="334962"/>
          </a:xfrm>
          <a:prstGeom prst="line">
            <a:avLst/>
          </a:prstGeom>
        </p:spPr>
        <p:style>
          <a:lnRef idx="1">
            <a:schemeClr val="accent1"/>
          </a:lnRef>
          <a:fillRef idx="0">
            <a:schemeClr val="accent1"/>
          </a:fillRef>
          <a:effectRef idx="0">
            <a:schemeClr val="accent1"/>
          </a:effectRef>
          <a:fontRef idx="minor">
            <a:schemeClr val="tx1"/>
          </a:fontRef>
        </p:style>
      </p:cxnSp>
      <p:cxnSp>
        <p:nvCxnSpPr>
          <p:cNvPr id="19" name="Conector reto 18"/>
          <p:cNvCxnSpPr/>
          <p:nvPr/>
        </p:nvCxnSpPr>
        <p:spPr>
          <a:xfrm>
            <a:off x="7896225" y="2420938"/>
            <a:ext cx="0" cy="334962"/>
          </a:xfrm>
          <a:prstGeom prst="line">
            <a:avLst/>
          </a:prstGeom>
        </p:spPr>
        <p:style>
          <a:lnRef idx="1">
            <a:schemeClr val="accent1"/>
          </a:lnRef>
          <a:fillRef idx="0">
            <a:schemeClr val="accent1"/>
          </a:fillRef>
          <a:effectRef idx="0">
            <a:schemeClr val="accent1"/>
          </a:effectRef>
          <a:fontRef idx="minor">
            <a:schemeClr val="tx1"/>
          </a:fontRef>
        </p:style>
      </p:cxnSp>
      <p:cxnSp>
        <p:nvCxnSpPr>
          <p:cNvPr id="23" name="Conector reto 22"/>
          <p:cNvCxnSpPr/>
          <p:nvPr/>
        </p:nvCxnSpPr>
        <p:spPr>
          <a:xfrm>
            <a:off x="3000376" y="3933825"/>
            <a:ext cx="2411413"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25" name="Conector reto 24"/>
          <p:cNvCxnSpPr/>
          <p:nvPr/>
        </p:nvCxnSpPr>
        <p:spPr>
          <a:xfrm>
            <a:off x="3000375" y="3933826"/>
            <a:ext cx="0" cy="295275"/>
          </a:xfrm>
          <a:prstGeom prst="line">
            <a:avLst/>
          </a:prstGeom>
        </p:spPr>
        <p:style>
          <a:lnRef idx="1">
            <a:schemeClr val="accent1"/>
          </a:lnRef>
          <a:fillRef idx="0">
            <a:schemeClr val="accent1"/>
          </a:fillRef>
          <a:effectRef idx="0">
            <a:schemeClr val="accent1"/>
          </a:effectRef>
          <a:fontRef idx="minor">
            <a:schemeClr val="tx1"/>
          </a:fontRef>
        </p:style>
      </p:cxnSp>
      <p:cxnSp>
        <p:nvCxnSpPr>
          <p:cNvPr id="27" name="Conector reto 26"/>
          <p:cNvCxnSpPr>
            <a:endCxn id="348168" idx="0"/>
          </p:cNvCxnSpPr>
          <p:nvPr/>
        </p:nvCxnSpPr>
        <p:spPr>
          <a:xfrm>
            <a:off x="5411788" y="3933826"/>
            <a:ext cx="0" cy="227013"/>
          </a:xfrm>
          <a:prstGeom prst="line">
            <a:avLst/>
          </a:prstGeom>
        </p:spPr>
        <p:style>
          <a:lnRef idx="1">
            <a:schemeClr val="accent1"/>
          </a:lnRef>
          <a:fillRef idx="0">
            <a:schemeClr val="accent1"/>
          </a:fillRef>
          <a:effectRef idx="0">
            <a:schemeClr val="accent1"/>
          </a:effectRef>
          <a:fontRef idx="minor">
            <a:schemeClr val="tx1"/>
          </a:fontRef>
        </p:style>
      </p:cxnSp>
      <p:cxnSp>
        <p:nvCxnSpPr>
          <p:cNvPr id="29" name="Conector reto 28"/>
          <p:cNvCxnSpPr/>
          <p:nvPr/>
        </p:nvCxnSpPr>
        <p:spPr>
          <a:xfrm>
            <a:off x="3863976" y="5373688"/>
            <a:ext cx="2447925"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31" name="Conector reto 30"/>
          <p:cNvCxnSpPr/>
          <p:nvPr/>
        </p:nvCxnSpPr>
        <p:spPr>
          <a:xfrm>
            <a:off x="3863975" y="5373689"/>
            <a:ext cx="0" cy="198437"/>
          </a:xfrm>
          <a:prstGeom prst="line">
            <a:avLst/>
          </a:prstGeom>
        </p:spPr>
        <p:style>
          <a:lnRef idx="1">
            <a:schemeClr val="accent1"/>
          </a:lnRef>
          <a:fillRef idx="0">
            <a:schemeClr val="accent1"/>
          </a:fillRef>
          <a:effectRef idx="0">
            <a:schemeClr val="accent1"/>
          </a:effectRef>
          <a:fontRef idx="minor">
            <a:schemeClr val="tx1"/>
          </a:fontRef>
        </p:style>
      </p:cxnSp>
      <p:cxnSp>
        <p:nvCxnSpPr>
          <p:cNvPr id="33" name="Conector reto 32"/>
          <p:cNvCxnSpPr>
            <a:endCxn id="348171" idx="0"/>
          </p:cNvCxnSpPr>
          <p:nvPr/>
        </p:nvCxnSpPr>
        <p:spPr>
          <a:xfrm flipH="1">
            <a:off x="6240464" y="5373689"/>
            <a:ext cx="71437" cy="198437"/>
          </a:xfrm>
          <a:prstGeom prst="line">
            <a:avLst/>
          </a:prstGeom>
        </p:spPr>
        <p:style>
          <a:lnRef idx="1">
            <a:schemeClr val="accent1"/>
          </a:lnRef>
          <a:fillRef idx="0">
            <a:schemeClr val="accent1"/>
          </a:fillRef>
          <a:effectRef idx="0">
            <a:schemeClr val="accent1"/>
          </a:effectRef>
          <a:fontRef idx="minor">
            <a:schemeClr val="tx1"/>
          </a:fontRef>
        </p:style>
      </p:cxnSp>
      <p:sp>
        <p:nvSpPr>
          <p:cNvPr id="34" name="Triângulo isósceles 33"/>
          <p:cNvSpPr/>
          <p:nvPr/>
        </p:nvSpPr>
        <p:spPr>
          <a:xfrm>
            <a:off x="5570538" y="2235200"/>
            <a:ext cx="144462" cy="198438"/>
          </a:xfrm>
          <a:prstGeom prst="triangl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pt-BR"/>
          </a:p>
        </p:txBody>
      </p:sp>
      <p:sp>
        <p:nvSpPr>
          <p:cNvPr id="35" name="Triângulo isósceles 34"/>
          <p:cNvSpPr/>
          <p:nvPr/>
        </p:nvSpPr>
        <p:spPr>
          <a:xfrm>
            <a:off x="3786188" y="3595688"/>
            <a:ext cx="279400" cy="336550"/>
          </a:xfrm>
          <a:prstGeom prst="triangl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pt-BR"/>
          </a:p>
        </p:txBody>
      </p:sp>
      <p:sp>
        <p:nvSpPr>
          <p:cNvPr id="36" name="Triângulo isósceles 35"/>
          <p:cNvSpPr/>
          <p:nvPr/>
        </p:nvSpPr>
        <p:spPr>
          <a:xfrm>
            <a:off x="5087938" y="4992689"/>
            <a:ext cx="360362" cy="338137"/>
          </a:xfrm>
          <a:prstGeom prst="triangl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pt-BR"/>
          </a:p>
        </p:txBody>
      </p:sp>
    </p:spTree>
    <p:extLst>
      <p:ext uri="{BB962C8B-B14F-4D97-AF65-F5344CB8AC3E}">
        <p14:creationId xmlns:p14="http://schemas.microsoft.com/office/powerpoint/2010/main" val="808183888"/>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9186" name="Espaço Reservado para Número de Slide 5"/>
          <p:cNvSpPr>
            <a:spLocks noGrp="1"/>
          </p:cNvSpPr>
          <p:nvPr>
            <p:ph type="sldNum"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667F74B4-6E37-460B-83BD-BFAF47D065FE}" type="slidenum">
              <a:rPr lang="pt-PT" altLang="pt-BR" sz="1400"/>
              <a:pPr>
                <a:spcBef>
                  <a:spcPct val="0"/>
                </a:spcBef>
                <a:buFontTx/>
                <a:buNone/>
              </a:pPr>
              <a:t>33</a:t>
            </a:fld>
            <a:endParaRPr lang="pt-PT" altLang="pt-BR" sz="1400"/>
          </a:p>
        </p:txBody>
      </p:sp>
      <p:sp>
        <p:nvSpPr>
          <p:cNvPr id="349187" name="Rectangle 2"/>
          <p:cNvSpPr>
            <a:spLocks noGrp="1" noChangeArrowheads="1"/>
          </p:cNvSpPr>
          <p:nvPr>
            <p:ph type="ctrTitle"/>
          </p:nvPr>
        </p:nvSpPr>
        <p:spPr>
          <a:xfrm>
            <a:off x="1524001" y="1"/>
            <a:ext cx="9217025" cy="836613"/>
          </a:xfrm>
        </p:spPr>
        <p:txBody>
          <a:bodyPr anchor="ctr"/>
          <a:lstStyle/>
          <a:p>
            <a:pPr eaLnBrk="1" hangingPunct="1"/>
            <a:r>
              <a:rPr lang="pt-BR" altLang="pt-BR" sz="3600"/>
              <a:t>UML – MODELOS ESTRUTURAIS – Generalização</a:t>
            </a:r>
            <a:endParaRPr lang="pt-PT" altLang="pt-BR" sz="3600"/>
          </a:p>
        </p:txBody>
      </p:sp>
      <p:sp>
        <p:nvSpPr>
          <p:cNvPr id="349188" name="Retângulo 1"/>
          <p:cNvSpPr>
            <a:spLocks noChangeArrowheads="1"/>
          </p:cNvSpPr>
          <p:nvPr/>
        </p:nvSpPr>
        <p:spPr bwMode="auto">
          <a:xfrm>
            <a:off x="-1212850" y="3030539"/>
            <a:ext cx="339725"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just" eaLnBrk="1" hangingPunct="1">
              <a:spcBef>
                <a:spcPct val="0"/>
              </a:spcBef>
              <a:buFontTx/>
              <a:buNone/>
            </a:pPr>
            <a:r>
              <a:rPr lang="pt-BR" altLang="pt-BR" sz="2400"/>
              <a:t>. </a:t>
            </a:r>
          </a:p>
        </p:txBody>
      </p:sp>
      <p:pic>
        <p:nvPicPr>
          <p:cNvPr id="349189" name="Imagem 1"/>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524000" y="0"/>
            <a:ext cx="9144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815939706"/>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0210" name="Espaço Reservado para Número de Slide 5"/>
          <p:cNvSpPr>
            <a:spLocks noGrp="1"/>
          </p:cNvSpPr>
          <p:nvPr>
            <p:ph type="sldNum"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712D78A8-3E14-4962-B758-9882B9041B30}" type="slidenum">
              <a:rPr lang="pt-PT" altLang="pt-BR" sz="1400"/>
              <a:pPr>
                <a:spcBef>
                  <a:spcPct val="0"/>
                </a:spcBef>
                <a:buFontTx/>
                <a:buNone/>
              </a:pPr>
              <a:t>34</a:t>
            </a:fld>
            <a:endParaRPr lang="pt-PT" altLang="pt-BR" sz="1400"/>
          </a:p>
        </p:txBody>
      </p:sp>
      <p:sp>
        <p:nvSpPr>
          <p:cNvPr id="350211" name="Rectangle 2"/>
          <p:cNvSpPr>
            <a:spLocks noGrp="1" noChangeArrowheads="1"/>
          </p:cNvSpPr>
          <p:nvPr>
            <p:ph type="ctrTitle"/>
          </p:nvPr>
        </p:nvSpPr>
        <p:spPr>
          <a:xfrm>
            <a:off x="1524001" y="1"/>
            <a:ext cx="9217025" cy="836613"/>
          </a:xfrm>
        </p:spPr>
        <p:txBody>
          <a:bodyPr anchor="ctr"/>
          <a:lstStyle/>
          <a:p>
            <a:pPr eaLnBrk="1" hangingPunct="1"/>
            <a:r>
              <a:rPr lang="pt-BR" altLang="pt-BR" sz="3600"/>
              <a:t>UML – MODELOS ESTRUTURAIS – Agregação</a:t>
            </a:r>
            <a:endParaRPr lang="pt-PT" altLang="pt-BR" sz="3600"/>
          </a:p>
        </p:txBody>
      </p:sp>
      <p:sp>
        <p:nvSpPr>
          <p:cNvPr id="350212" name="Retângulo 1"/>
          <p:cNvSpPr>
            <a:spLocks noChangeArrowheads="1"/>
          </p:cNvSpPr>
          <p:nvPr/>
        </p:nvSpPr>
        <p:spPr bwMode="auto">
          <a:xfrm>
            <a:off x="-1212850" y="3030539"/>
            <a:ext cx="339725"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just" eaLnBrk="1" hangingPunct="1">
              <a:spcBef>
                <a:spcPct val="0"/>
              </a:spcBef>
              <a:buFontTx/>
              <a:buNone/>
            </a:pPr>
            <a:r>
              <a:rPr lang="pt-BR" altLang="pt-BR" sz="2400"/>
              <a:t>. </a:t>
            </a:r>
          </a:p>
        </p:txBody>
      </p:sp>
      <p:sp>
        <p:nvSpPr>
          <p:cNvPr id="350213" name="Retângulo 1"/>
          <p:cNvSpPr>
            <a:spLocks noChangeArrowheads="1"/>
          </p:cNvSpPr>
          <p:nvPr/>
        </p:nvSpPr>
        <p:spPr bwMode="auto">
          <a:xfrm>
            <a:off x="103517" y="836614"/>
            <a:ext cx="7156333" cy="48936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pt-BR" altLang="pt-BR" sz="2400" dirty="0"/>
          </a:p>
          <a:p>
            <a:pPr>
              <a:spcBef>
                <a:spcPct val="0"/>
              </a:spcBef>
              <a:buFontTx/>
              <a:buNone/>
            </a:pPr>
            <a:r>
              <a:rPr lang="pt-BR" altLang="pt-BR" sz="2400" dirty="0">
                <a:latin typeface="+mn-lt"/>
              </a:rPr>
              <a:t>M</a:t>
            </a:r>
            <a:r>
              <a:rPr lang="pt-BR" altLang="pt-BR" sz="2400" dirty="0" smtClean="0">
                <a:latin typeface="+mn-lt"/>
              </a:rPr>
              <a:t>undo real: </a:t>
            </a:r>
            <a:r>
              <a:rPr lang="pt-BR" altLang="pt-BR" sz="2400" dirty="0">
                <a:latin typeface="+mn-lt"/>
              </a:rPr>
              <a:t>objetos são </a:t>
            </a:r>
            <a:r>
              <a:rPr lang="pt-BR" altLang="pt-BR" sz="2400" dirty="0" smtClean="0">
                <a:latin typeface="+mn-lt"/>
              </a:rPr>
              <a:t>compostos </a:t>
            </a:r>
            <a:r>
              <a:rPr lang="pt-BR" altLang="pt-BR" sz="2400" dirty="0">
                <a:latin typeface="+mn-lt"/>
              </a:rPr>
              <a:t>de diferentes partes. </a:t>
            </a:r>
          </a:p>
          <a:p>
            <a:pPr>
              <a:spcBef>
                <a:spcPct val="0"/>
              </a:spcBef>
              <a:buFontTx/>
              <a:buNone/>
            </a:pPr>
            <a:r>
              <a:rPr lang="pt-BR" altLang="pt-BR" sz="2400" dirty="0" err="1">
                <a:latin typeface="+mn-lt"/>
              </a:rPr>
              <a:t>Ex</a:t>
            </a:r>
            <a:r>
              <a:rPr lang="pt-BR" altLang="pt-BR" sz="2400" dirty="0">
                <a:latin typeface="+mn-lt"/>
              </a:rPr>
              <a:t>: pacote de estudo para um curso pode ser composto de um livro, slides do PowerPoint, </a:t>
            </a:r>
            <a:r>
              <a:rPr lang="pt-BR" altLang="pt-BR" sz="2400" dirty="0" err="1">
                <a:latin typeface="+mn-lt"/>
              </a:rPr>
              <a:t>quizzes</a:t>
            </a:r>
            <a:r>
              <a:rPr lang="pt-BR" altLang="pt-BR" sz="2400" dirty="0">
                <a:latin typeface="+mn-lt"/>
              </a:rPr>
              <a:t> e recomendações para leitura posterior.  </a:t>
            </a:r>
            <a:endParaRPr lang="pt-BR" altLang="pt-BR" sz="2400" dirty="0" smtClean="0">
              <a:latin typeface="+mn-lt"/>
            </a:endParaRPr>
          </a:p>
          <a:p>
            <a:pPr>
              <a:spcBef>
                <a:spcPct val="0"/>
              </a:spcBef>
              <a:buFontTx/>
              <a:buNone/>
            </a:pPr>
            <a:endParaRPr lang="pt-BR" altLang="pt-BR" sz="2400" dirty="0" smtClean="0">
              <a:latin typeface="+mn-lt"/>
            </a:endParaRPr>
          </a:p>
          <a:p>
            <a:pPr>
              <a:spcBef>
                <a:spcPct val="0"/>
              </a:spcBef>
              <a:buFontTx/>
              <a:buNone/>
            </a:pPr>
            <a:r>
              <a:rPr lang="pt-BR" altLang="pt-BR" sz="2400" dirty="0" smtClean="0">
                <a:latin typeface="+mn-lt"/>
              </a:rPr>
              <a:t>Agregação</a:t>
            </a:r>
            <a:r>
              <a:rPr lang="pt-BR" altLang="pt-BR" sz="2400" dirty="0">
                <a:latin typeface="+mn-lt"/>
              </a:rPr>
              <a:t>: um objeto (o todo) é composto de outros objetos (as partes). </a:t>
            </a:r>
          </a:p>
          <a:p>
            <a:pPr>
              <a:spcBef>
                <a:spcPct val="0"/>
              </a:spcBef>
              <a:buFontTx/>
              <a:buNone/>
            </a:pPr>
            <a:endParaRPr lang="pt-BR" altLang="pt-BR" sz="2400" dirty="0">
              <a:latin typeface="+mn-lt"/>
            </a:endParaRPr>
          </a:p>
          <a:p>
            <a:pPr>
              <a:spcBef>
                <a:spcPct val="0"/>
              </a:spcBef>
              <a:buFontTx/>
              <a:buNone/>
            </a:pPr>
            <a:r>
              <a:rPr lang="pt-BR" altLang="pt-BR" sz="2400" dirty="0">
                <a:latin typeface="+mn-lt"/>
              </a:rPr>
              <a:t>Losango ao lado da classe: todo. </a:t>
            </a:r>
          </a:p>
          <a:p>
            <a:pPr>
              <a:spcBef>
                <a:spcPct val="0"/>
              </a:spcBef>
              <a:buFontTx/>
              <a:buNone/>
            </a:pPr>
            <a:r>
              <a:rPr lang="pt-BR" altLang="pt-BR" sz="2400" dirty="0">
                <a:latin typeface="+mn-lt"/>
              </a:rPr>
              <a:t>Figura 5.12: registro de um paciente é uma composição de um Paciente e uma ou mais Consultas</a:t>
            </a:r>
          </a:p>
        </p:txBody>
      </p:sp>
      <p:grpSp>
        <p:nvGrpSpPr>
          <p:cNvPr id="6" name="Grupo 5"/>
          <p:cNvGrpSpPr/>
          <p:nvPr/>
        </p:nvGrpSpPr>
        <p:grpSpPr>
          <a:xfrm>
            <a:off x="7577347" y="2246162"/>
            <a:ext cx="3251201" cy="2646364"/>
            <a:chOff x="4394200" y="1254125"/>
            <a:chExt cx="3251201" cy="2646364"/>
          </a:xfrm>
        </p:grpSpPr>
        <p:sp>
          <p:nvSpPr>
            <p:cNvPr id="7" name="CaixaDeTexto 1"/>
            <p:cNvSpPr txBox="1">
              <a:spLocks noChangeArrowheads="1"/>
            </p:cNvSpPr>
            <p:nvPr/>
          </p:nvSpPr>
          <p:spPr bwMode="auto">
            <a:xfrm>
              <a:off x="4979989" y="1254125"/>
              <a:ext cx="1584325" cy="831850"/>
            </a:xfrm>
            <a:prstGeom prst="rect">
              <a:avLst/>
            </a:prstGeom>
            <a:noFill/>
            <a:ln w="285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pt-BR" altLang="pt-BR" sz="2400" dirty="0"/>
                <a:t>Registro paciente</a:t>
              </a:r>
            </a:p>
          </p:txBody>
        </p:sp>
        <p:sp>
          <p:nvSpPr>
            <p:cNvPr id="8" name="CaixaDeTexto 2"/>
            <p:cNvSpPr txBox="1">
              <a:spLocks noChangeArrowheads="1"/>
            </p:cNvSpPr>
            <p:nvPr/>
          </p:nvSpPr>
          <p:spPr bwMode="auto">
            <a:xfrm>
              <a:off x="4394200" y="3438526"/>
              <a:ext cx="1512888" cy="461963"/>
            </a:xfrm>
            <a:prstGeom prst="rect">
              <a:avLst/>
            </a:prstGeom>
            <a:noFill/>
            <a:ln w="381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pt-BR" altLang="pt-BR" sz="2400"/>
                <a:t>Paciente</a:t>
              </a:r>
            </a:p>
          </p:txBody>
        </p:sp>
        <p:sp>
          <p:nvSpPr>
            <p:cNvPr id="9" name="CaixaDeTexto 7"/>
            <p:cNvSpPr txBox="1">
              <a:spLocks noChangeArrowheads="1"/>
            </p:cNvSpPr>
            <p:nvPr/>
          </p:nvSpPr>
          <p:spPr bwMode="auto">
            <a:xfrm>
              <a:off x="6132514" y="3438526"/>
              <a:ext cx="1512887" cy="461963"/>
            </a:xfrm>
            <a:prstGeom prst="rect">
              <a:avLst/>
            </a:prstGeom>
            <a:noFill/>
            <a:ln w="381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pt-BR" altLang="pt-BR" sz="2400"/>
                <a:t>consulta</a:t>
              </a:r>
            </a:p>
          </p:txBody>
        </p:sp>
        <p:cxnSp>
          <p:nvCxnSpPr>
            <p:cNvPr id="10" name="Conector reto 9"/>
            <p:cNvCxnSpPr>
              <a:endCxn id="8" idx="0"/>
            </p:cNvCxnSpPr>
            <p:nvPr/>
          </p:nvCxnSpPr>
          <p:spPr>
            <a:xfrm>
              <a:off x="5133976" y="2406651"/>
              <a:ext cx="17463" cy="1031875"/>
            </a:xfrm>
            <a:prstGeom prst="line">
              <a:avLst/>
            </a:prstGeom>
          </p:spPr>
          <p:style>
            <a:lnRef idx="1">
              <a:schemeClr val="accent1"/>
            </a:lnRef>
            <a:fillRef idx="0">
              <a:schemeClr val="accent1"/>
            </a:fillRef>
            <a:effectRef idx="0">
              <a:schemeClr val="accent1"/>
            </a:effectRef>
            <a:fontRef idx="minor">
              <a:schemeClr val="tx1"/>
            </a:fontRef>
          </p:style>
        </p:cxnSp>
        <p:sp>
          <p:nvSpPr>
            <p:cNvPr id="11" name="Losango 10"/>
            <p:cNvSpPr/>
            <p:nvPr/>
          </p:nvSpPr>
          <p:spPr>
            <a:xfrm>
              <a:off x="4979988" y="2085976"/>
              <a:ext cx="252412" cy="334963"/>
            </a:xfrm>
            <a:prstGeom prst="diamond">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pt-BR"/>
            </a:p>
          </p:txBody>
        </p:sp>
        <p:sp>
          <p:nvSpPr>
            <p:cNvPr id="12" name="Losango 11"/>
            <p:cNvSpPr/>
            <p:nvPr/>
          </p:nvSpPr>
          <p:spPr>
            <a:xfrm>
              <a:off x="6280151" y="2128838"/>
              <a:ext cx="252413" cy="334962"/>
            </a:xfrm>
            <a:prstGeom prst="diamond">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pt-BR"/>
            </a:p>
          </p:txBody>
        </p:sp>
        <p:sp>
          <p:nvSpPr>
            <p:cNvPr id="13" name="CaixaDeTexto 19"/>
            <p:cNvSpPr txBox="1">
              <a:spLocks noChangeArrowheads="1"/>
            </p:cNvSpPr>
            <p:nvPr/>
          </p:nvSpPr>
          <p:spPr bwMode="auto">
            <a:xfrm>
              <a:off x="4656138" y="2420938"/>
              <a:ext cx="32385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pt-BR" altLang="pt-BR" sz="2400"/>
                <a:t>1</a:t>
              </a:r>
            </a:p>
          </p:txBody>
        </p:sp>
        <p:sp>
          <p:nvSpPr>
            <p:cNvPr id="14" name="CaixaDeTexto 20"/>
            <p:cNvSpPr txBox="1">
              <a:spLocks noChangeArrowheads="1"/>
            </p:cNvSpPr>
            <p:nvPr/>
          </p:nvSpPr>
          <p:spPr bwMode="auto">
            <a:xfrm>
              <a:off x="4602164" y="3030538"/>
              <a:ext cx="503237"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pt-BR" altLang="pt-BR" sz="2400"/>
                <a:t>1</a:t>
              </a:r>
            </a:p>
          </p:txBody>
        </p:sp>
        <p:sp>
          <p:nvSpPr>
            <p:cNvPr id="15" name="CaixaDeTexto 21"/>
            <p:cNvSpPr txBox="1">
              <a:spLocks noChangeArrowheads="1"/>
            </p:cNvSpPr>
            <p:nvPr/>
          </p:nvSpPr>
          <p:spPr bwMode="auto">
            <a:xfrm>
              <a:off x="5907088" y="2463801"/>
              <a:ext cx="373062"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pt-BR" altLang="pt-BR" sz="2400"/>
                <a:t>1</a:t>
              </a:r>
            </a:p>
          </p:txBody>
        </p:sp>
        <p:sp>
          <p:nvSpPr>
            <p:cNvPr id="16" name="CaixaDeTexto 23"/>
            <p:cNvSpPr txBox="1">
              <a:spLocks noChangeArrowheads="1"/>
            </p:cNvSpPr>
            <p:nvPr/>
          </p:nvSpPr>
          <p:spPr bwMode="auto">
            <a:xfrm>
              <a:off x="5676900" y="2930526"/>
              <a:ext cx="66675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pt-BR" altLang="pt-BR" sz="2400"/>
                <a:t>1..*</a:t>
              </a:r>
            </a:p>
          </p:txBody>
        </p:sp>
        <p:cxnSp>
          <p:nvCxnSpPr>
            <p:cNvPr id="17" name="Conector reto 16"/>
            <p:cNvCxnSpPr>
              <a:stCxn id="12" idx="2"/>
            </p:cNvCxnSpPr>
            <p:nvPr/>
          </p:nvCxnSpPr>
          <p:spPr>
            <a:xfrm>
              <a:off x="6407151" y="2463801"/>
              <a:ext cx="49213" cy="974725"/>
            </a:xfrm>
            <a:prstGeom prst="line">
              <a:avLst/>
            </a:prstGeom>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318556692"/>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2258" name="Espaço Reservado para Número de Slide 5"/>
          <p:cNvSpPr>
            <a:spLocks noGrp="1"/>
          </p:cNvSpPr>
          <p:nvPr>
            <p:ph type="sldNum"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9000E48B-F5E8-486F-82AA-28A215E75115}" type="slidenum">
              <a:rPr lang="pt-PT" altLang="pt-BR" sz="1400"/>
              <a:pPr>
                <a:spcBef>
                  <a:spcPct val="0"/>
                </a:spcBef>
                <a:buFontTx/>
                <a:buNone/>
              </a:pPr>
              <a:t>35</a:t>
            </a:fld>
            <a:endParaRPr lang="pt-PT" altLang="pt-BR" sz="1400"/>
          </a:p>
        </p:txBody>
      </p:sp>
      <p:sp>
        <p:nvSpPr>
          <p:cNvPr id="352259" name="Rectangle 2"/>
          <p:cNvSpPr>
            <a:spLocks noGrp="1" noChangeArrowheads="1"/>
          </p:cNvSpPr>
          <p:nvPr>
            <p:ph type="ctrTitle"/>
          </p:nvPr>
        </p:nvSpPr>
        <p:spPr>
          <a:xfrm>
            <a:off x="1524001" y="1"/>
            <a:ext cx="9217025" cy="836613"/>
          </a:xfrm>
        </p:spPr>
        <p:txBody>
          <a:bodyPr anchor="ctr"/>
          <a:lstStyle/>
          <a:p>
            <a:pPr eaLnBrk="1" hangingPunct="1"/>
            <a:r>
              <a:rPr lang="pt-BR" altLang="pt-BR" sz="3600"/>
              <a:t>UML – MODELOS COMPORTAMENTAIS</a:t>
            </a:r>
            <a:endParaRPr lang="pt-PT" altLang="pt-BR" sz="3600"/>
          </a:p>
        </p:txBody>
      </p:sp>
      <p:sp>
        <p:nvSpPr>
          <p:cNvPr id="352260" name="Retângulo 1"/>
          <p:cNvSpPr>
            <a:spLocks noChangeArrowheads="1"/>
          </p:cNvSpPr>
          <p:nvPr/>
        </p:nvSpPr>
        <p:spPr bwMode="auto">
          <a:xfrm>
            <a:off x="-1212850" y="3030539"/>
            <a:ext cx="339725"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just" eaLnBrk="1" hangingPunct="1">
              <a:spcBef>
                <a:spcPct val="0"/>
              </a:spcBef>
              <a:buFontTx/>
              <a:buNone/>
            </a:pPr>
            <a:r>
              <a:rPr lang="pt-BR" altLang="pt-BR" sz="2400"/>
              <a:t>. </a:t>
            </a:r>
          </a:p>
        </p:txBody>
      </p:sp>
      <p:sp>
        <p:nvSpPr>
          <p:cNvPr id="335877" name="Retângulo 1"/>
          <p:cNvSpPr>
            <a:spLocks noChangeArrowheads="1"/>
          </p:cNvSpPr>
          <p:nvPr/>
        </p:nvSpPr>
        <p:spPr bwMode="auto">
          <a:xfrm>
            <a:off x="120770" y="750499"/>
            <a:ext cx="11938957" cy="52629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defRPr/>
            </a:pPr>
            <a:r>
              <a:rPr lang="pt-BR" dirty="0">
                <a:latin typeface="+mn-lt"/>
              </a:rPr>
              <a:t>Modela o comportamento dinâmico do sistema em execução: o que acontece ou deve acontecer quando o sistema responde a um estímulo de seu ambiente. </a:t>
            </a:r>
          </a:p>
          <a:p>
            <a:pPr>
              <a:defRPr/>
            </a:pPr>
            <a:endParaRPr lang="pt-BR" dirty="0" smtClean="0">
              <a:latin typeface="+mn-lt"/>
            </a:endParaRPr>
          </a:p>
          <a:p>
            <a:pPr>
              <a:defRPr/>
            </a:pPr>
            <a:r>
              <a:rPr lang="pt-BR" dirty="0" smtClean="0">
                <a:latin typeface="+mn-lt"/>
              </a:rPr>
              <a:t>Dois </a:t>
            </a:r>
            <a:r>
              <a:rPr lang="pt-BR" dirty="0">
                <a:latin typeface="+mn-lt"/>
              </a:rPr>
              <a:t>tipos de estímulos:</a:t>
            </a:r>
          </a:p>
          <a:p>
            <a:pPr marL="457200" indent="-457200">
              <a:buFontTx/>
              <a:buAutoNum type="arabicPeriod"/>
              <a:defRPr/>
            </a:pPr>
            <a:r>
              <a:rPr lang="pt-BR" dirty="0">
                <a:latin typeface="+mn-lt"/>
              </a:rPr>
              <a:t>Dados precisam ser processados. </a:t>
            </a:r>
          </a:p>
          <a:p>
            <a:pPr>
              <a:defRPr/>
            </a:pPr>
            <a:r>
              <a:rPr lang="pt-BR" dirty="0">
                <a:latin typeface="+mn-lt"/>
              </a:rPr>
              <a:t>2. Eventos disparam o processamento com ou </a:t>
            </a:r>
            <a:r>
              <a:rPr lang="pt-BR" dirty="0" smtClean="0">
                <a:latin typeface="+mn-lt"/>
              </a:rPr>
              <a:t>sem </a:t>
            </a:r>
            <a:r>
              <a:rPr lang="pt-BR" dirty="0">
                <a:latin typeface="+mn-lt"/>
              </a:rPr>
              <a:t>dados associados. </a:t>
            </a:r>
            <a:endParaRPr lang="pt-BR" dirty="0" smtClean="0">
              <a:latin typeface="+mn-lt"/>
            </a:endParaRPr>
          </a:p>
          <a:p>
            <a:pPr>
              <a:defRPr/>
            </a:pPr>
            <a:endParaRPr lang="pt-BR" dirty="0">
              <a:latin typeface="+mn-lt"/>
            </a:endParaRPr>
          </a:p>
          <a:p>
            <a:pPr>
              <a:defRPr/>
            </a:pPr>
            <a:r>
              <a:rPr lang="pt-BR" dirty="0">
                <a:latin typeface="+mn-lt"/>
              </a:rPr>
              <a:t>Sistemas de negócios: dirigidos por dados (entrada de dados e baixo processamento de eventos externos), com sequência de ações nos dados e geração de saída</a:t>
            </a:r>
            <a:r>
              <a:rPr lang="pt-BR" dirty="0" smtClean="0">
                <a:latin typeface="+mn-lt"/>
              </a:rPr>
              <a:t>.</a:t>
            </a:r>
          </a:p>
          <a:p>
            <a:pPr>
              <a:defRPr/>
            </a:pPr>
            <a:r>
              <a:rPr lang="pt-BR" dirty="0" smtClean="0">
                <a:latin typeface="+mn-lt"/>
              </a:rPr>
              <a:t> </a:t>
            </a:r>
            <a:r>
              <a:rPr lang="pt-BR" dirty="0">
                <a:latin typeface="+mn-lt"/>
              </a:rPr>
              <a:t>Sistema de cobrança de telefonia: informações das chamadas do cliente, calcula custos das chamadas e gera uma conta para ser enviada ao cliente. </a:t>
            </a:r>
          </a:p>
          <a:p>
            <a:pPr>
              <a:defRPr/>
            </a:pPr>
            <a:r>
              <a:rPr lang="pt-BR" dirty="0">
                <a:latin typeface="+mn-lt"/>
              </a:rPr>
              <a:t>Sistemas de tempo real: mínimo processamento de dados dirigidos por eventos. Sistema de comutação de telefonia fixa: ‘receptor fora do gancho’; gerando um tom de discagem, ou o pressionamento de teclas de um telefone capturando o número do telefone </a:t>
            </a:r>
            <a:r>
              <a:rPr lang="pt-BR" dirty="0" err="1">
                <a:latin typeface="+mn-lt"/>
              </a:rPr>
              <a:t>etc</a:t>
            </a:r>
            <a:endParaRPr lang="pt-BR" altLang="pt-BR" dirty="0">
              <a:latin typeface="+mn-lt"/>
            </a:endParaRPr>
          </a:p>
        </p:txBody>
      </p:sp>
    </p:spTree>
    <p:extLst>
      <p:ext uri="{BB962C8B-B14F-4D97-AF65-F5344CB8AC3E}">
        <p14:creationId xmlns:p14="http://schemas.microsoft.com/office/powerpoint/2010/main" val="1787504477"/>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3282" name="Espaço Reservado para Número de Slide 5"/>
          <p:cNvSpPr>
            <a:spLocks noGrp="1"/>
          </p:cNvSpPr>
          <p:nvPr>
            <p:ph type="sldNum"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4F5EFE30-5E9F-4DD2-83A9-74E430761BC4}" type="slidenum">
              <a:rPr lang="pt-PT" altLang="pt-BR" sz="1400"/>
              <a:pPr>
                <a:spcBef>
                  <a:spcPct val="0"/>
                </a:spcBef>
                <a:buFontTx/>
                <a:buNone/>
              </a:pPr>
              <a:t>36</a:t>
            </a:fld>
            <a:endParaRPr lang="pt-PT" altLang="pt-BR" sz="1400"/>
          </a:p>
        </p:txBody>
      </p:sp>
      <p:sp>
        <p:nvSpPr>
          <p:cNvPr id="353283" name="Rectangle 2"/>
          <p:cNvSpPr>
            <a:spLocks noGrp="1" noChangeArrowheads="1"/>
          </p:cNvSpPr>
          <p:nvPr>
            <p:ph type="ctrTitle"/>
          </p:nvPr>
        </p:nvSpPr>
        <p:spPr>
          <a:xfrm>
            <a:off x="1524001" y="1"/>
            <a:ext cx="9217025" cy="836613"/>
          </a:xfrm>
        </p:spPr>
        <p:txBody>
          <a:bodyPr anchor="ctr">
            <a:normAutofit fontScale="90000"/>
          </a:bodyPr>
          <a:lstStyle/>
          <a:p>
            <a:pPr eaLnBrk="1" hangingPunct="1"/>
            <a:r>
              <a:rPr lang="pt-BR" altLang="pt-BR" sz="3600"/>
              <a:t>UML – MODELOS COMPORTAMENTAIS – Modelagem orientada a dados</a:t>
            </a:r>
            <a:endParaRPr lang="pt-PT" altLang="pt-BR" sz="3600"/>
          </a:p>
        </p:txBody>
      </p:sp>
      <p:sp>
        <p:nvSpPr>
          <p:cNvPr id="353284" name="Retângulo 1"/>
          <p:cNvSpPr>
            <a:spLocks noChangeArrowheads="1"/>
          </p:cNvSpPr>
          <p:nvPr/>
        </p:nvSpPr>
        <p:spPr bwMode="auto">
          <a:xfrm>
            <a:off x="-1212850" y="3030539"/>
            <a:ext cx="339725"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just" eaLnBrk="1" hangingPunct="1">
              <a:spcBef>
                <a:spcPct val="0"/>
              </a:spcBef>
              <a:buFontTx/>
              <a:buNone/>
            </a:pPr>
            <a:r>
              <a:rPr lang="pt-BR" altLang="pt-BR" sz="2400"/>
              <a:t>. </a:t>
            </a:r>
          </a:p>
        </p:txBody>
      </p:sp>
      <p:sp>
        <p:nvSpPr>
          <p:cNvPr id="353285" name="Retângulo 1"/>
          <p:cNvSpPr>
            <a:spLocks noChangeArrowheads="1"/>
          </p:cNvSpPr>
          <p:nvPr/>
        </p:nvSpPr>
        <p:spPr bwMode="auto">
          <a:xfrm>
            <a:off x="103517" y="836614"/>
            <a:ext cx="12007970" cy="56323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pt-BR" altLang="pt-BR" sz="2400" dirty="0">
                <a:latin typeface="+mn-lt"/>
              </a:rPr>
              <a:t>Sequência de ações do processamento de dados de entrada e a geração de uma saída associada. </a:t>
            </a:r>
          </a:p>
          <a:p>
            <a:pPr>
              <a:spcBef>
                <a:spcPct val="0"/>
              </a:spcBef>
              <a:buFontTx/>
              <a:buNone/>
            </a:pPr>
            <a:r>
              <a:rPr lang="pt-BR" altLang="pt-BR" sz="2400" dirty="0">
                <a:latin typeface="+mn-lt"/>
              </a:rPr>
              <a:t>Uteis na análise de requisitos (mostram  o processamento de dados do início ao fim)</a:t>
            </a:r>
          </a:p>
          <a:p>
            <a:pPr>
              <a:spcBef>
                <a:spcPct val="0"/>
              </a:spcBef>
              <a:buFontTx/>
              <a:buNone/>
            </a:pPr>
            <a:r>
              <a:rPr lang="pt-BR" altLang="pt-BR" sz="2400" dirty="0">
                <a:latin typeface="+mn-lt"/>
              </a:rPr>
              <a:t>Sequência de ações: entrada sendo processada até a saída, a resposta do sistema. </a:t>
            </a:r>
          </a:p>
          <a:p>
            <a:pPr>
              <a:spcBef>
                <a:spcPct val="0"/>
              </a:spcBef>
              <a:buFontTx/>
              <a:buNone/>
            </a:pPr>
            <a:endParaRPr lang="pt-BR" altLang="pt-BR" sz="2400" dirty="0" smtClean="0">
              <a:latin typeface="+mn-lt"/>
            </a:endParaRPr>
          </a:p>
          <a:p>
            <a:pPr>
              <a:spcBef>
                <a:spcPct val="0"/>
              </a:spcBef>
              <a:buFontTx/>
              <a:buNone/>
            </a:pPr>
            <a:r>
              <a:rPr lang="pt-BR" altLang="pt-BR" sz="2400" dirty="0" smtClean="0">
                <a:latin typeface="+mn-lt"/>
              </a:rPr>
              <a:t>Modelos </a:t>
            </a:r>
            <a:r>
              <a:rPr lang="pt-BR" altLang="pt-BR" sz="2400" dirty="0">
                <a:latin typeface="+mn-lt"/>
              </a:rPr>
              <a:t>dirigidos a dados: primeiros modelos gráficos de software. Década de 1970, os métodos estruturados, como Análise Estruturada de </a:t>
            </a:r>
            <a:r>
              <a:rPr lang="pt-BR" altLang="pt-BR" sz="2400" dirty="0" err="1">
                <a:latin typeface="+mn-lt"/>
              </a:rPr>
              <a:t>DeMarco</a:t>
            </a:r>
            <a:r>
              <a:rPr lang="pt-BR" altLang="pt-BR" sz="2400" dirty="0">
                <a:latin typeface="+mn-lt"/>
              </a:rPr>
              <a:t> (</a:t>
            </a:r>
            <a:r>
              <a:rPr lang="pt-BR" altLang="pt-BR" sz="2400" dirty="0" err="1">
                <a:latin typeface="+mn-lt"/>
              </a:rPr>
              <a:t>DeMARCO</a:t>
            </a:r>
            <a:r>
              <a:rPr lang="pt-BR" altLang="pt-BR" sz="2400" dirty="0">
                <a:latin typeface="+mn-lt"/>
              </a:rPr>
              <a:t>, 1978), apresentaram os diagramas de fluxo de dados (</a:t>
            </a:r>
            <a:r>
              <a:rPr lang="pt-BR" altLang="pt-BR" sz="2400" dirty="0" smtClean="0">
                <a:latin typeface="+mn-lt"/>
              </a:rPr>
              <a:t>DFD, </a:t>
            </a:r>
            <a:r>
              <a:rPr lang="pt-BR" altLang="pt-BR" sz="2400" dirty="0">
                <a:latin typeface="+mn-lt"/>
              </a:rPr>
              <a:t>do inglês data-</a:t>
            </a:r>
            <a:r>
              <a:rPr lang="pt-BR" altLang="pt-BR" sz="2400" dirty="0" err="1">
                <a:latin typeface="+mn-lt"/>
              </a:rPr>
              <a:t>flow</a:t>
            </a:r>
            <a:r>
              <a:rPr lang="pt-BR" altLang="pt-BR" sz="2400" dirty="0">
                <a:latin typeface="+mn-lt"/>
              </a:rPr>
              <a:t> </a:t>
            </a:r>
            <a:r>
              <a:rPr lang="pt-BR" altLang="pt-BR" sz="2400" dirty="0" err="1">
                <a:latin typeface="+mn-lt"/>
              </a:rPr>
              <a:t>diagrams</a:t>
            </a:r>
            <a:r>
              <a:rPr lang="pt-BR" altLang="pt-BR" sz="2400" dirty="0">
                <a:latin typeface="+mn-lt"/>
              </a:rPr>
              <a:t>) para ilustrar as etapas de processamento em um sistema. </a:t>
            </a:r>
          </a:p>
          <a:p>
            <a:pPr>
              <a:spcBef>
                <a:spcPct val="0"/>
              </a:spcBef>
              <a:buFontTx/>
              <a:buNone/>
            </a:pPr>
            <a:r>
              <a:rPr lang="pt-BR" altLang="pt-BR" sz="2400" dirty="0">
                <a:latin typeface="+mn-lt"/>
              </a:rPr>
              <a:t>DFD: analisam e documentam como os dados associados de um determinado processo se movem pelo sistema, ajudando os analistas e projetistas a entenderem o que está acontecendo. São simples e intuitivos, e normalmente é possível explicá-los aos potenciais usuários do sistema, que podem participar na validação do modelo</a:t>
            </a:r>
            <a:r>
              <a:rPr lang="pt-BR" altLang="pt-BR" sz="2400" dirty="0" smtClean="0">
                <a:latin typeface="+mn-lt"/>
              </a:rPr>
              <a:t>.</a:t>
            </a:r>
          </a:p>
          <a:p>
            <a:pPr>
              <a:spcBef>
                <a:spcPct val="0"/>
              </a:spcBef>
              <a:buFontTx/>
              <a:buNone/>
            </a:pPr>
            <a:endParaRPr lang="pt-BR" altLang="pt-BR" sz="2400" dirty="0">
              <a:latin typeface="+mn-lt"/>
            </a:endParaRPr>
          </a:p>
          <a:p>
            <a:pPr>
              <a:spcBef>
                <a:spcPct val="0"/>
              </a:spcBef>
              <a:buFontTx/>
              <a:buNone/>
            </a:pPr>
            <a:r>
              <a:rPr lang="pt-BR" altLang="pt-BR" sz="2400" dirty="0" smtClean="0">
                <a:latin typeface="+mn-lt"/>
              </a:rPr>
              <a:t>Mostrar aula 456 e </a:t>
            </a:r>
            <a:r>
              <a:rPr lang="pt-BR" altLang="pt-BR" sz="2400" dirty="0" err="1" smtClean="0">
                <a:latin typeface="+mn-lt"/>
              </a:rPr>
              <a:t>dfd</a:t>
            </a:r>
            <a:r>
              <a:rPr lang="pt-BR" altLang="pt-BR" sz="2400" dirty="0" smtClean="0">
                <a:latin typeface="+mn-lt"/>
              </a:rPr>
              <a:t> – pasta analise estruturada de sistemas</a:t>
            </a:r>
            <a:endParaRPr lang="pt-BR" altLang="pt-BR" sz="2400" dirty="0">
              <a:latin typeface="+mn-lt"/>
            </a:endParaRPr>
          </a:p>
        </p:txBody>
      </p:sp>
    </p:spTree>
    <p:extLst>
      <p:ext uri="{BB962C8B-B14F-4D97-AF65-F5344CB8AC3E}">
        <p14:creationId xmlns:p14="http://schemas.microsoft.com/office/powerpoint/2010/main" val="2136996824"/>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4306" name="Espaço Reservado para Número de Slide 5"/>
          <p:cNvSpPr>
            <a:spLocks noGrp="1"/>
          </p:cNvSpPr>
          <p:nvPr>
            <p:ph type="sldNum"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D6DDC484-2209-4180-B95E-AB5AD117F187}" type="slidenum">
              <a:rPr lang="pt-PT" altLang="pt-BR" sz="1400"/>
              <a:pPr>
                <a:spcBef>
                  <a:spcPct val="0"/>
                </a:spcBef>
                <a:buFontTx/>
                <a:buNone/>
              </a:pPr>
              <a:t>37</a:t>
            </a:fld>
            <a:endParaRPr lang="pt-PT" altLang="pt-BR" sz="1400"/>
          </a:p>
        </p:txBody>
      </p:sp>
      <p:sp>
        <p:nvSpPr>
          <p:cNvPr id="354307" name="Rectangle 2"/>
          <p:cNvSpPr>
            <a:spLocks noGrp="1" noChangeArrowheads="1"/>
          </p:cNvSpPr>
          <p:nvPr>
            <p:ph type="ctrTitle"/>
          </p:nvPr>
        </p:nvSpPr>
        <p:spPr>
          <a:xfrm>
            <a:off x="1524001" y="1"/>
            <a:ext cx="9217025" cy="836613"/>
          </a:xfrm>
        </p:spPr>
        <p:txBody>
          <a:bodyPr anchor="ctr">
            <a:normAutofit fontScale="90000"/>
          </a:bodyPr>
          <a:lstStyle/>
          <a:p>
            <a:pPr eaLnBrk="1" hangingPunct="1"/>
            <a:r>
              <a:rPr lang="pt-BR" altLang="pt-BR" sz="3600"/>
              <a:t>UML – MODELOS COMPORTAMENTAIS – Modelagem orientada a dados</a:t>
            </a:r>
            <a:endParaRPr lang="pt-PT" altLang="pt-BR" sz="3600"/>
          </a:p>
        </p:txBody>
      </p:sp>
      <p:sp>
        <p:nvSpPr>
          <p:cNvPr id="354308" name="Retângulo 1"/>
          <p:cNvSpPr>
            <a:spLocks noChangeArrowheads="1"/>
          </p:cNvSpPr>
          <p:nvPr/>
        </p:nvSpPr>
        <p:spPr bwMode="auto">
          <a:xfrm>
            <a:off x="-1212850" y="3030539"/>
            <a:ext cx="339725"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just" eaLnBrk="1" hangingPunct="1">
              <a:spcBef>
                <a:spcPct val="0"/>
              </a:spcBef>
              <a:buFontTx/>
              <a:buNone/>
            </a:pPr>
            <a:r>
              <a:rPr lang="pt-BR" altLang="pt-BR" sz="2400"/>
              <a:t>. </a:t>
            </a:r>
          </a:p>
        </p:txBody>
      </p:sp>
      <p:sp>
        <p:nvSpPr>
          <p:cNvPr id="354309" name="Retângulo 1"/>
          <p:cNvSpPr>
            <a:spLocks noChangeArrowheads="1"/>
          </p:cNvSpPr>
          <p:nvPr/>
        </p:nvSpPr>
        <p:spPr bwMode="auto">
          <a:xfrm>
            <a:off x="120769" y="759125"/>
            <a:ext cx="11913079" cy="45243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pt-BR" altLang="pt-BR" sz="2400" dirty="0">
                <a:latin typeface="+mn-lt"/>
              </a:rPr>
              <a:t>U</a:t>
            </a:r>
            <a:r>
              <a:rPr lang="pt-BR" altLang="pt-BR" sz="2400" dirty="0" smtClean="0">
                <a:latin typeface="+mn-lt"/>
              </a:rPr>
              <a:t>ML </a:t>
            </a:r>
            <a:r>
              <a:rPr lang="pt-BR" altLang="pt-BR" sz="2400" dirty="0">
                <a:latin typeface="+mn-lt"/>
              </a:rPr>
              <a:t>não oferece apoio a diagramas de fluxo de dados, pois estes foram inicialmente propostos e usados para modelagem de processamento de dados. </a:t>
            </a:r>
          </a:p>
          <a:p>
            <a:pPr>
              <a:spcBef>
                <a:spcPct val="0"/>
              </a:spcBef>
              <a:buFontTx/>
              <a:buNone/>
            </a:pPr>
            <a:r>
              <a:rPr lang="pt-BR" altLang="pt-BR" sz="2400" dirty="0" err="1">
                <a:latin typeface="+mn-lt"/>
              </a:rPr>
              <a:t>DFDs</a:t>
            </a:r>
            <a:r>
              <a:rPr lang="pt-BR" altLang="pt-BR" sz="2400" dirty="0">
                <a:latin typeface="+mn-lt"/>
              </a:rPr>
              <a:t>: funções do sistema e não reconhecem os objetos do sistema. </a:t>
            </a:r>
          </a:p>
          <a:p>
            <a:pPr>
              <a:spcBef>
                <a:spcPct val="0"/>
              </a:spcBef>
              <a:buFontTx/>
              <a:buNone/>
            </a:pPr>
            <a:r>
              <a:rPr lang="pt-BR" altLang="pt-BR" sz="2400" dirty="0">
                <a:latin typeface="+mn-lt"/>
              </a:rPr>
              <a:t>Sistemas dirigidos a dados: comuns no mundo dos negócios</a:t>
            </a:r>
          </a:p>
          <a:p>
            <a:pPr>
              <a:spcBef>
                <a:spcPct val="0"/>
              </a:spcBef>
              <a:buFontTx/>
              <a:buNone/>
            </a:pPr>
            <a:endParaRPr lang="pt-BR" altLang="pt-BR" sz="2400" dirty="0" smtClean="0">
              <a:latin typeface="+mn-lt"/>
            </a:endParaRPr>
          </a:p>
          <a:p>
            <a:pPr>
              <a:spcBef>
                <a:spcPct val="0"/>
              </a:spcBef>
              <a:buFontTx/>
              <a:buNone/>
            </a:pPr>
            <a:r>
              <a:rPr lang="pt-BR" altLang="pt-BR" sz="2400" dirty="0" smtClean="0">
                <a:latin typeface="+mn-lt"/>
              </a:rPr>
              <a:t>UML </a:t>
            </a:r>
            <a:r>
              <a:rPr lang="pt-BR" altLang="pt-BR" sz="2400" dirty="0">
                <a:latin typeface="+mn-lt"/>
              </a:rPr>
              <a:t>2.0: </a:t>
            </a:r>
            <a:r>
              <a:rPr lang="pt-BR" altLang="pt-BR" sz="2400" b="1" dirty="0">
                <a:latin typeface="+mn-lt"/>
              </a:rPr>
              <a:t>diagramas de atividades</a:t>
            </a:r>
            <a:r>
              <a:rPr lang="pt-BR" altLang="pt-BR" sz="2400" dirty="0">
                <a:latin typeface="+mn-lt"/>
              </a:rPr>
              <a:t>, semelhantes ao DFD</a:t>
            </a:r>
          </a:p>
          <a:p>
            <a:pPr>
              <a:spcBef>
                <a:spcPct val="0"/>
              </a:spcBef>
              <a:buFontTx/>
              <a:buNone/>
            </a:pPr>
            <a:r>
              <a:rPr lang="pt-BR" altLang="pt-BR" sz="2400" dirty="0">
                <a:latin typeface="+mn-lt"/>
              </a:rPr>
              <a:t>Figura 5.13: cadeia de processamento envolvida no software da bomba de insulina. com etapas de processamento (representadas como atividades) e os dados fluindo entre essas etapas (representadas como objetos). </a:t>
            </a:r>
          </a:p>
          <a:p>
            <a:pPr>
              <a:spcBef>
                <a:spcPct val="0"/>
              </a:spcBef>
              <a:buFontTx/>
              <a:buNone/>
            </a:pPr>
            <a:endParaRPr lang="pt-BR" altLang="pt-BR" sz="2400" dirty="0" smtClean="0">
              <a:latin typeface="+mn-lt"/>
            </a:endParaRPr>
          </a:p>
          <a:p>
            <a:pPr>
              <a:spcBef>
                <a:spcPct val="0"/>
              </a:spcBef>
              <a:buFontTx/>
              <a:buNone/>
            </a:pPr>
            <a:r>
              <a:rPr lang="pt-BR" altLang="pt-BR" sz="2400" b="1" dirty="0" smtClean="0">
                <a:latin typeface="+mn-lt"/>
              </a:rPr>
              <a:t>diagramas </a:t>
            </a:r>
            <a:r>
              <a:rPr lang="pt-BR" altLang="pt-BR" sz="2400" b="1" dirty="0">
                <a:latin typeface="+mn-lt"/>
              </a:rPr>
              <a:t>de sequência</a:t>
            </a:r>
            <a:r>
              <a:rPr lang="pt-BR" altLang="pt-BR" sz="2400" dirty="0">
                <a:latin typeface="+mn-lt"/>
              </a:rPr>
              <a:t>: mostra a sequência de processamento em um sistema. Mensagens enviadas da esquerda para a direita: processamento de dados sequencial no sistema. </a:t>
            </a:r>
          </a:p>
        </p:txBody>
      </p:sp>
    </p:spTree>
    <p:extLst>
      <p:ext uri="{BB962C8B-B14F-4D97-AF65-F5344CB8AC3E}">
        <p14:creationId xmlns:p14="http://schemas.microsoft.com/office/powerpoint/2010/main" val="2536678017"/>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6354" name="Espaço Reservado para Número de Slide 5"/>
          <p:cNvSpPr>
            <a:spLocks noGrp="1"/>
          </p:cNvSpPr>
          <p:nvPr>
            <p:ph type="sldNum"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D904DA25-1A73-4572-B790-BEB839D0E80E}" type="slidenum">
              <a:rPr lang="pt-PT" altLang="pt-BR" sz="1400"/>
              <a:pPr>
                <a:spcBef>
                  <a:spcPct val="0"/>
                </a:spcBef>
                <a:buFontTx/>
                <a:buNone/>
              </a:pPr>
              <a:t>38</a:t>
            </a:fld>
            <a:endParaRPr lang="pt-PT" altLang="pt-BR" sz="1400"/>
          </a:p>
        </p:txBody>
      </p:sp>
      <p:sp>
        <p:nvSpPr>
          <p:cNvPr id="356355" name="Rectangle 2"/>
          <p:cNvSpPr>
            <a:spLocks noGrp="1" noChangeArrowheads="1"/>
          </p:cNvSpPr>
          <p:nvPr>
            <p:ph type="ctrTitle"/>
          </p:nvPr>
        </p:nvSpPr>
        <p:spPr>
          <a:xfrm>
            <a:off x="1524001" y="1"/>
            <a:ext cx="9217025" cy="836613"/>
          </a:xfrm>
        </p:spPr>
        <p:txBody>
          <a:bodyPr anchor="ctr">
            <a:normAutofit fontScale="90000"/>
          </a:bodyPr>
          <a:lstStyle/>
          <a:p>
            <a:pPr eaLnBrk="1" hangingPunct="1"/>
            <a:r>
              <a:rPr lang="pt-BR" altLang="pt-BR" sz="3600"/>
              <a:t>UML – MODELOS COMPORTAMENTAIS – Modelagem orientada a dados</a:t>
            </a:r>
            <a:endParaRPr lang="pt-PT" altLang="pt-BR" sz="3600"/>
          </a:p>
        </p:txBody>
      </p:sp>
      <p:sp>
        <p:nvSpPr>
          <p:cNvPr id="356356" name="Retângulo 1"/>
          <p:cNvSpPr>
            <a:spLocks noChangeArrowheads="1"/>
          </p:cNvSpPr>
          <p:nvPr/>
        </p:nvSpPr>
        <p:spPr bwMode="auto">
          <a:xfrm>
            <a:off x="-1212850" y="3030539"/>
            <a:ext cx="339725"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just" eaLnBrk="1" hangingPunct="1">
              <a:spcBef>
                <a:spcPct val="0"/>
              </a:spcBef>
              <a:buFontTx/>
              <a:buNone/>
            </a:pPr>
            <a:r>
              <a:rPr lang="pt-BR" altLang="pt-BR" sz="2400"/>
              <a:t>. </a:t>
            </a:r>
          </a:p>
        </p:txBody>
      </p:sp>
      <p:sp>
        <p:nvSpPr>
          <p:cNvPr id="356357" name="Retângulo 1"/>
          <p:cNvSpPr>
            <a:spLocks noChangeArrowheads="1"/>
          </p:cNvSpPr>
          <p:nvPr/>
        </p:nvSpPr>
        <p:spPr bwMode="auto">
          <a:xfrm>
            <a:off x="86264" y="715993"/>
            <a:ext cx="2458528" cy="52629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None/>
            </a:pPr>
            <a:r>
              <a:rPr lang="pt-BR" altLang="pt-BR" sz="2400" dirty="0">
                <a:latin typeface="+mn-lt"/>
              </a:rPr>
              <a:t>Figura 5.14: modelo de sequência de processamento de um pedido e enviando-o para um fornecedor. </a:t>
            </a:r>
          </a:p>
          <a:p>
            <a:pPr>
              <a:spcBef>
                <a:spcPct val="0"/>
              </a:spcBef>
              <a:buNone/>
            </a:pPr>
            <a:r>
              <a:rPr lang="pt-BR" altLang="pt-BR" sz="2400" dirty="0">
                <a:latin typeface="+mn-lt"/>
              </a:rPr>
              <a:t>Modelos de sequência destacam os objetos em um sistema</a:t>
            </a:r>
          </a:p>
          <a:p>
            <a:pPr>
              <a:spcBef>
                <a:spcPct val="0"/>
              </a:spcBef>
              <a:buNone/>
            </a:pPr>
            <a:r>
              <a:rPr lang="pt-BR" altLang="pt-BR" sz="2400" dirty="0" err="1">
                <a:latin typeface="+mn-lt"/>
              </a:rPr>
              <a:t>DFDs</a:t>
            </a:r>
            <a:r>
              <a:rPr lang="pt-BR" altLang="pt-BR" sz="2400" dirty="0">
                <a:latin typeface="+mn-lt"/>
              </a:rPr>
              <a:t> destacam as funções.</a:t>
            </a:r>
          </a:p>
        </p:txBody>
      </p:sp>
      <p:pic>
        <p:nvPicPr>
          <p:cNvPr id="356358" name="Imagem 1"/>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2738108" y="612086"/>
            <a:ext cx="9144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943011466"/>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7378" name="Espaço Reservado para Número de Slide 5"/>
          <p:cNvSpPr>
            <a:spLocks noGrp="1"/>
          </p:cNvSpPr>
          <p:nvPr>
            <p:ph type="sldNum"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8E9E77D5-A4BA-4637-993E-AFB8D2A8AA98}" type="slidenum">
              <a:rPr lang="pt-PT" altLang="pt-BR" sz="1400"/>
              <a:pPr>
                <a:spcBef>
                  <a:spcPct val="0"/>
                </a:spcBef>
                <a:buFontTx/>
                <a:buNone/>
              </a:pPr>
              <a:t>39</a:t>
            </a:fld>
            <a:endParaRPr lang="pt-PT" altLang="pt-BR" sz="1400"/>
          </a:p>
        </p:txBody>
      </p:sp>
      <p:sp>
        <p:nvSpPr>
          <p:cNvPr id="357379" name="Rectangle 2"/>
          <p:cNvSpPr>
            <a:spLocks noGrp="1" noChangeArrowheads="1"/>
          </p:cNvSpPr>
          <p:nvPr>
            <p:ph type="ctrTitle"/>
          </p:nvPr>
        </p:nvSpPr>
        <p:spPr>
          <a:xfrm>
            <a:off x="1524001" y="1"/>
            <a:ext cx="9217025" cy="836613"/>
          </a:xfrm>
        </p:spPr>
        <p:txBody>
          <a:bodyPr anchor="ctr">
            <a:normAutofit fontScale="90000"/>
          </a:bodyPr>
          <a:lstStyle/>
          <a:p>
            <a:pPr eaLnBrk="1" hangingPunct="1"/>
            <a:r>
              <a:rPr lang="pt-BR" altLang="pt-BR" sz="3600"/>
              <a:t>UML – MODELOS COMPORTAMENTAIS – Modelagem orientada a dados</a:t>
            </a:r>
            <a:endParaRPr lang="pt-PT" altLang="pt-BR" sz="3600"/>
          </a:p>
        </p:txBody>
      </p:sp>
      <p:sp>
        <p:nvSpPr>
          <p:cNvPr id="357380" name="Retângulo 1"/>
          <p:cNvSpPr>
            <a:spLocks noChangeArrowheads="1"/>
          </p:cNvSpPr>
          <p:nvPr/>
        </p:nvSpPr>
        <p:spPr bwMode="auto">
          <a:xfrm>
            <a:off x="-1212850" y="3030539"/>
            <a:ext cx="339725"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just" eaLnBrk="1" hangingPunct="1">
              <a:spcBef>
                <a:spcPct val="0"/>
              </a:spcBef>
              <a:buFontTx/>
              <a:buNone/>
            </a:pPr>
            <a:r>
              <a:rPr lang="pt-BR" altLang="pt-BR" sz="2400"/>
              <a:t>. </a:t>
            </a:r>
          </a:p>
        </p:txBody>
      </p:sp>
      <p:sp>
        <p:nvSpPr>
          <p:cNvPr id="3" name="Retângulo 2"/>
          <p:cNvSpPr/>
          <p:nvPr/>
        </p:nvSpPr>
        <p:spPr>
          <a:xfrm>
            <a:off x="1579564" y="1628775"/>
            <a:ext cx="1131887" cy="10795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pt-BR" dirty="0"/>
              <a:t>Sensor de açúcar no sangue</a:t>
            </a:r>
          </a:p>
        </p:txBody>
      </p:sp>
      <p:sp>
        <p:nvSpPr>
          <p:cNvPr id="4" name="Retângulo de cantos arredondados 3"/>
          <p:cNvSpPr/>
          <p:nvPr/>
        </p:nvSpPr>
        <p:spPr>
          <a:xfrm>
            <a:off x="2882900" y="1608138"/>
            <a:ext cx="1081088" cy="11176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pt-BR" dirty="0"/>
              <a:t>Obter valor do sensor</a:t>
            </a:r>
          </a:p>
        </p:txBody>
      </p:sp>
      <p:sp>
        <p:nvSpPr>
          <p:cNvPr id="9" name="Retângulo 8"/>
          <p:cNvSpPr/>
          <p:nvPr/>
        </p:nvSpPr>
        <p:spPr>
          <a:xfrm>
            <a:off x="4122739" y="1644650"/>
            <a:ext cx="1030287" cy="108108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pt-BR" dirty="0"/>
              <a:t>Dados do sensor</a:t>
            </a:r>
          </a:p>
        </p:txBody>
      </p:sp>
      <p:sp>
        <p:nvSpPr>
          <p:cNvPr id="10" name="Retângulo de cantos arredondados 9"/>
          <p:cNvSpPr/>
          <p:nvPr/>
        </p:nvSpPr>
        <p:spPr>
          <a:xfrm>
            <a:off x="3448051" y="3116264"/>
            <a:ext cx="1376363" cy="758825"/>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pt-BR" dirty="0"/>
              <a:t>Controlar bomba</a:t>
            </a:r>
          </a:p>
        </p:txBody>
      </p:sp>
      <p:sp>
        <p:nvSpPr>
          <p:cNvPr id="11" name="Retângulo 10"/>
          <p:cNvSpPr/>
          <p:nvPr/>
        </p:nvSpPr>
        <p:spPr>
          <a:xfrm>
            <a:off x="6840539" y="1700213"/>
            <a:ext cx="1412875" cy="9525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pt-BR" dirty="0"/>
              <a:t>Nível de açúcar no sangue</a:t>
            </a:r>
          </a:p>
        </p:txBody>
      </p:sp>
      <p:sp>
        <p:nvSpPr>
          <p:cNvPr id="12" name="Retângulo de cantos arredondados 11"/>
          <p:cNvSpPr/>
          <p:nvPr/>
        </p:nvSpPr>
        <p:spPr>
          <a:xfrm>
            <a:off x="8413750" y="1700213"/>
            <a:ext cx="1639888" cy="9525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pt-BR" dirty="0"/>
              <a:t>Calcula entrega de insulina</a:t>
            </a:r>
          </a:p>
        </p:txBody>
      </p:sp>
      <p:sp>
        <p:nvSpPr>
          <p:cNvPr id="13" name="Retângulo 12"/>
          <p:cNvSpPr/>
          <p:nvPr/>
        </p:nvSpPr>
        <p:spPr>
          <a:xfrm>
            <a:off x="8472488" y="3030539"/>
            <a:ext cx="1727200" cy="72072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pt-BR" dirty="0"/>
              <a:t>Requisitos da insulina</a:t>
            </a:r>
          </a:p>
        </p:txBody>
      </p:sp>
      <p:sp>
        <p:nvSpPr>
          <p:cNvPr id="14" name="Retângulo de cantos arredondados 13"/>
          <p:cNvSpPr/>
          <p:nvPr/>
        </p:nvSpPr>
        <p:spPr>
          <a:xfrm>
            <a:off x="6924676" y="3090864"/>
            <a:ext cx="1489075" cy="790575"/>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pt-BR" dirty="0"/>
              <a:t>Calcular comandos de bomba</a:t>
            </a:r>
          </a:p>
        </p:txBody>
      </p:sp>
      <p:sp>
        <p:nvSpPr>
          <p:cNvPr id="16" name="Retângulo 15"/>
          <p:cNvSpPr/>
          <p:nvPr/>
        </p:nvSpPr>
        <p:spPr>
          <a:xfrm>
            <a:off x="4967289" y="3116264"/>
            <a:ext cx="1728787" cy="72072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pt-BR" dirty="0"/>
              <a:t>Comandos de controle de bomba</a:t>
            </a:r>
          </a:p>
        </p:txBody>
      </p:sp>
      <p:sp>
        <p:nvSpPr>
          <p:cNvPr id="22" name="Retângulo de cantos arredondados 21"/>
          <p:cNvSpPr/>
          <p:nvPr/>
        </p:nvSpPr>
        <p:spPr>
          <a:xfrm>
            <a:off x="5305426" y="1720851"/>
            <a:ext cx="1374775" cy="1063625"/>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pt-BR" dirty="0"/>
              <a:t>Calcula nível de </a:t>
            </a:r>
            <a:r>
              <a:rPr lang="pt-BR" dirty="0" err="1"/>
              <a:t>acúcar</a:t>
            </a:r>
            <a:endParaRPr lang="pt-BR" dirty="0"/>
          </a:p>
        </p:txBody>
      </p:sp>
      <p:sp>
        <p:nvSpPr>
          <p:cNvPr id="24" name="Retângulo 23"/>
          <p:cNvSpPr/>
          <p:nvPr/>
        </p:nvSpPr>
        <p:spPr>
          <a:xfrm>
            <a:off x="1576389" y="3090864"/>
            <a:ext cx="1728787" cy="71913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pt-BR" dirty="0"/>
              <a:t>Bomba de insulina</a:t>
            </a:r>
          </a:p>
        </p:txBody>
      </p:sp>
      <p:cxnSp>
        <p:nvCxnSpPr>
          <p:cNvPr id="6" name="Conector de seta reta 5"/>
          <p:cNvCxnSpPr>
            <a:stCxn id="3" idx="3"/>
            <a:endCxn id="4" idx="1"/>
          </p:cNvCxnSpPr>
          <p:nvPr/>
        </p:nvCxnSpPr>
        <p:spPr>
          <a:xfrm flipV="1">
            <a:off x="2711450" y="2166939"/>
            <a:ext cx="171450" cy="158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 name="Conector de seta reta 7"/>
          <p:cNvCxnSpPr>
            <a:stCxn id="4" idx="3"/>
            <a:endCxn id="9" idx="1"/>
          </p:cNvCxnSpPr>
          <p:nvPr/>
        </p:nvCxnSpPr>
        <p:spPr>
          <a:xfrm>
            <a:off x="3963988" y="2166938"/>
            <a:ext cx="158750" cy="1746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6" name="Conector de seta reta 25"/>
          <p:cNvCxnSpPr>
            <a:stCxn id="9" idx="3"/>
          </p:cNvCxnSpPr>
          <p:nvPr/>
        </p:nvCxnSpPr>
        <p:spPr>
          <a:xfrm>
            <a:off x="5153026" y="2184400"/>
            <a:ext cx="295275"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8" name="Conector de seta reta 27"/>
          <p:cNvCxnSpPr>
            <a:stCxn id="22" idx="3"/>
          </p:cNvCxnSpPr>
          <p:nvPr/>
        </p:nvCxnSpPr>
        <p:spPr>
          <a:xfrm>
            <a:off x="6680200" y="2252663"/>
            <a:ext cx="160338"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0" name="Conector de seta reta 29"/>
          <p:cNvCxnSpPr>
            <a:stCxn id="11" idx="3"/>
            <a:endCxn id="12" idx="1"/>
          </p:cNvCxnSpPr>
          <p:nvPr/>
        </p:nvCxnSpPr>
        <p:spPr>
          <a:xfrm>
            <a:off x="8253414" y="2176463"/>
            <a:ext cx="160337"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2" name="Conector de seta reta 31"/>
          <p:cNvCxnSpPr>
            <a:stCxn id="12" idx="2"/>
          </p:cNvCxnSpPr>
          <p:nvPr/>
        </p:nvCxnSpPr>
        <p:spPr>
          <a:xfrm>
            <a:off x="9234488" y="2652713"/>
            <a:ext cx="0" cy="27146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6" name="Conector de seta reta 35"/>
          <p:cNvCxnSpPr>
            <a:stCxn id="13" idx="1"/>
            <a:endCxn id="14" idx="3"/>
          </p:cNvCxnSpPr>
          <p:nvPr/>
        </p:nvCxnSpPr>
        <p:spPr>
          <a:xfrm flipH="1">
            <a:off x="8413750" y="3390900"/>
            <a:ext cx="58738" cy="9525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9" name="Conector de seta reta 38"/>
          <p:cNvCxnSpPr>
            <a:stCxn id="14" idx="1"/>
            <a:endCxn id="16" idx="3"/>
          </p:cNvCxnSpPr>
          <p:nvPr/>
        </p:nvCxnSpPr>
        <p:spPr>
          <a:xfrm flipH="1" flipV="1">
            <a:off x="6696075" y="3476626"/>
            <a:ext cx="228600" cy="952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1" name="Conector de seta reta 40"/>
          <p:cNvCxnSpPr>
            <a:stCxn id="16" idx="1"/>
            <a:endCxn id="10" idx="3"/>
          </p:cNvCxnSpPr>
          <p:nvPr/>
        </p:nvCxnSpPr>
        <p:spPr>
          <a:xfrm flipH="1">
            <a:off x="4824414" y="3476625"/>
            <a:ext cx="142875" cy="1905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3" name="Conector de seta reta 42"/>
          <p:cNvCxnSpPr>
            <a:stCxn id="10" idx="1"/>
            <a:endCxn id="24" idx="3"/>
          </p:cNvCxnSpPr>
          <p:nvPr/>
        </p:nvCxnSpPr>
        <p:spPr>
          <a:xfrm flipH="1" flipV="1">
            <a:off x="3305176" y="3449639"/>
            <a:ext cx="142875" cy="4603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47707074"/>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02" name="Espaço Reservado para Número de Slide 5"/>
          <p:cNvSpPr>
            <a:spLocks noGrp="1"/>
          </p:cNvSpPr>
          <p:nvPr>
            <p:ph type="sldNum"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5FB9ACA4-C42E-4B89-B28A-EA9276564BAF}" type="slidenum">
              <a:rPr lang="pt-PT" altLang="pt-BR" sz="1400"/>
              <a:pPr>
                <a:spcBef>
                  <a:spcPct val="0"/>
                </a:spcBef>
                <a:buFontTx/>
                <a:buNone/>
              </a:pPr>
              <a:t>40</a:t>
            </a:fld>
            <a:endParaRPr lang="pt-PT" altLang="pt-BR" sz="1400"/>
          </a:p>
        </p:txBody>
      </p:sp>
      <p:sp>
        <p:nvSpPr>
          <p:cNvPr id="358403" name="Rectangle 2"/>
          <p:cNvSpPr>
            <a:spLocks noGrp="1" noChangeArrowheads="1"/>
          </p:cNvSpPr>
          <p:nvPr>
            <p:ph type="ctrTitle"/>
          </p:nvPr>
        </p:nvSpPr>
        <p:spPr>
          <a:xfrm>
            <a:off x="1524001" y="1"/>
            <a:ext cx="9217025" cy="836613"/>
          </a:xfrm>
        </p:spPr>
        <p:txBody>
          <a:bodyPr anchor="ctr">
            <a:normAutofit fontScale="90000"/>
          </a:bodyPr>
          <a:lstStyle/>
          <a:p>
            <a:pPr eaLnBrk="1" hangingPunct="1"/>
            <a:r>
              <a:rPr lang="pt-BR" altLang="pt-BR" sz="3600"/>
              <a:t>UML – MODELOS COMPORTAMENTAIS – Modelagem Dirigida a eventos</a:t>
            </a:r>
            <a:endParaRPr lang="pt-PT" altLang="pt-BR" sz="3600"/>
          </a:p>
        </p:txBody>
      </p:sp>
      <p:sp>
        <p:nvSpPr>
          <p:cNvPr id="358404" name="Retângulo 1"/>
          <p:cNvSpPr>
            <a:spLocks noChangeArrowheads="1"/>
          </p:cNvSpPr>
          <p:nvPr/>
        </p:nvSpPr>
        <p:spPr bwMode="auto">
          <a:xfrm>
            <a:off x="-1212850" y="3030539"/>
            <a:ext cx="339725"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just" eaLnBrk="1" hangingPunct="1">
              <a:spcBef>
                <a:spcPct val="0"/>
              </a:spcBef>
              <a:buFontTx/>
              <a:buNone/>
            </a:pPr>
            <a:r>
              <a:rPr lang="pt-BR" altLang="pt-BR" sz="2400"/>
              <a:t>. </a:t>
            </a:r>
          </a:p>
        </p:txBody>
      </p:sp>
      <p:sp>
        <p:nvSpPr>
          <p:cNvPr id="358405" name="Retângulo 1"/>
          <p:cNvSpPr>
            <a:spLocks noChangeArrowheads="1"/>
          </p:cNvSpPr>
          <p:nvPr/>
        </p:nvSpPr>
        <p:spPr bwMode="auto">
          <a:xfrm>
            <a:off x="207034" y="1224951"/>
            <a:ext cx="11800936" cy="48936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pt-BR" altLang="pt-BR" sz="2400" dirty="0">
                <a:latin typeface="+mn-lt"/>
              </a:rPr>
              <a:t>Mostra como o sistema reage a eventos externos e internos. </a:t>
            </a:r>
          </a:p>
          <a:p>
            <a:pPr>
              <a:spcBef>
                <a:spcPct val="0"/>
              </a:spcBef>
              <a:buFontTx/>
              <a:buNone/>
            </a:pPr>
            <a:r>
              <a:rPr lang="pt-BR" altLang="pt-BR" sz="2400" dirty="0" smtClean="0">
                <a:latin typeface="+mn-lt"/>
              </a:rPr>
              <a:t>Supõe </a:t>
            </a:r>
            <a:r>
              <a:rPr lang="pt-BR" altLang="pt-BR" sz="2400" dirty="0">
                <a:latin typeface="+mn-lt"/>
              </a:rPr>
              <a:t>que um sistema tem um número finito de estados e que os eventos (estímulos) podem causar uma transição de um estado para outro. </a:t>
            </a:r>
          </a:p>
          <a:p>
            <a:pPr>
              <a:spcBef>
                <a:spcPct val="0"/>
              </a:spcBef>
              <a:buFontTx/>
              <a:buNone/>
            </a:pPr>
            <a:r>
              <a:rPr lang="pt-BR" altLang="pt-BR" sz="2400" dirty="0">
                <a:latin typeface="+mn-lt"/>
              </a:rPr>
              <a:t>Sistema de controle de válvula pode mover-se de um estado ‘Válvula aberta’ para um estado ‘Válvula fechada’, quando um comando do operador (o estímulo) é recebido. </a:t>
            </a:r>
          </a:p>
          <a:p>
            <a:pPr>
              <a:spcBef>
                <a:spcPct val="0"/>
              </a:spcBef>
              <a:buFontTx/>
              <a:buNone/>
            </a:pPr>
            <a:endParaRPr lang="pt-BR" altLang="pt-BR" sz="2400" dirty="0">
              <a:latin typeface="+mn-lt"/>
            </a:endParaRPr>
          </a:p>
          <a:p>
            <a:pPr>
              <a:spcBef>
                <a:spcPct val="0"/>
              </a:spcBef>
              <a:buFontTx/>
              <a:buNone/>
            </a:pPr>
            <a:r>
              <a:rPr lang="pt-BR" altLang="pt-BR" sz="2400" dirty="0">
                <a:latin typeface="+mn-lt"/>
              </a:rPr>
              <a:t>A</a:t>
            </a:r>
            <a:r>
              <a:rPr lang="pt-BR" altLang="pt-BR" sz="2400" dirty="0" smtClean="0">
                <a:latin typeface="+mn-lt"/>
              </a:rPr>
              <a:t>dequada </a:t>
            </a:r>
            <a:r>
              <a:rPr lang="pt-BR" altLang="pt-BR" sz="2400" dirty="0">
                <a:latin typeface="+mn-lt"/>
              </a:rPr>
              <a:t>para sistemas de tempo real. Introduzida em métodos de projeto de tempo real, como as propostas por Ward e </a:t>
            </a:r>
            <a:r>
              <a:rPr lang="pt-BR" altLang="pt-BR" sz="2400" dirty="0" err="1">
                <a:latin typeface="+mn-lt"/>
              </a:rPr>
              <a:t>Mellor</a:t>
            </a:r>
            <a:r>
              <a:rPr lang="pt-BR" altLang="pt-BR" sz="2400" dirty="0">
                <a:latin typeface="+mn-lt"/>
              </a:rPr>
              <a:t> (1985) e </a:t>
            </a:r>
            <a:r>
              <a:rPr lang="pt-BR" altLang="pt-BR" sz="2400" dirty="0" err="1">
                <a:latin typeface="+mn-lt"/>
              </a:rPr>
              <a:t>Harel</a:t>
            </a:r>
            <a:r>
              <a:rPr lang="pt-BR" altLang="pt-BR" sz="2400" dirty="0">
                <a:latin typeface="+mn-lt"/>
              </a:rPr>
              <a:t> (1987, 1988</a:t>
            </a:r>
            <a:r>
              <a:rPr lang="pt-BR" altLang="pt-BR" sz="2400" dirty="0" smtClean="0">
                <a:latin typeface="+mn-lt"/>
              </a:rPr>
              <a:t>).</a:t>
            </a:r>
          </a:p>
          <a:p>
            <a:pPr>
              <a:spcBef>
                <a:spcPct val="0"/>
              </a:spcBef>
              <a:buFontTx/>
              <a:buNone/>
            </a:pPr>
            <a:r>
              <a:rPr lang="pt-BR" altLang="pt-BR" sz="2400" dirty="0">
                <a:latin typeface="+mn-lt"/>
              </a:rPr>
              <a:t>Modelagem com diagramas de estado, baseados em </a:t>
            </a:r>
            <a:r>
              <a:rPr lang="pt-BR" altLang="pt-BR" sz="2400" dirty="0" err="1">
                <a:latin typeface="+mn-lt"/>
              </a:rPr>
              <a:t>Statecharts</a:t>
            </a:r>
            <a:r>
              <a:rPr lang="pt-BR" altLang="pt-BR" sz="2400" dirty="0">
                <a:latin typeface="+mn-lt"/>
              </a:rPr>
              <a:t> (HAREL, 1987, 1988). </a:t>
            </a:r>
          </a:p>
          <a:p>
            <a:pPr>
              <a:spcBef>
                <a:spcPct val="0"/>
              </a:spcBef>
              <a:buFontTx/>
              <a:buNone/>
            </a:pPr>
            <a:r>
              <a:rPr lang="pt-BR" altLang="pt-BR" sz="2400" dirty="0" smtClean="0">
                <a:latin typeface="+mn-lt"/>
              </a:rPr>
              <a:t>Diagramas </a:t>
            </a:r>
            <a:r>
              <a:rPr lang="pt-BR" altLang="pt-BR" sz="2400" dirty="0">
                <a:latin typeface="+mn-lt"/>
              </a:rPr>
              <a:t>de </a:t>
            </a:r>
            <a:r>
              <a:rPr lang="pt-BR" altLang="pt-BR" sz="2400" dirty="0" smtClean="0">
                <a:latin typeface="+mn-lt"/>
              </a:rPr>
              <a:t>estado: </a:t>
            </a:r>
            <a:r>
              <a:rPr lang="pt-BR" altLang="pt-BR" sz="2400" dirty="0">
                <a:latin typeface="+mn-lt"/>
              </a:rPr>
              <a:t>estados do sistema e os eventos que causam transições </a:t>
            </a:r>
            <a:r>
              <a:rPr lang="pt-BR" altLang="pt-BR" sz="2400" dirty="0" smtClean="0">
                <a:latin typeface="+mn-lt"/>
              </a:rPr>
              <a:t>de estado. </a:t>
            </a:r>
            <a:endParaRPr lang="pt-BR" altLang="pt-BR" sz="2400" dirty="0">
              <a:latin typeface="+mn-lt"/>
            </a:endParaRPr>
          </a:p>
          <a:p>
            <a:pPr>
              <a:spcBef>
                <a:spcPct val="0"/>
              </a:spcBef>
              <a:buFontTx/>
              <a:buNone/>
            </a:pPr>
            <a:r>
              <a:rPr lang="pt-BR" altLang="pt-BR" sz="2400" dirty="0">
                <a:latin typeface="+mn-lt"/>
              </a:rPr>
              <a:t>N</a:t>
            </a:r>
            <a:r>
              <a:rPr lang="pt-BR" altLang="pt-BR" sz="2400" dirty="0" smtClean="0">
                <a:latin typeface="+mn-lt"/>
              </a:rPr>
              <a:t>ão </a:t>
            </a:r>
            <a:r>
              <a:rPr lang="pt-BR" altLang="pt-BR" sz="2400" dirty="0">
                <a:latin typeface="+mn-lt"/>
              </a:rPr>
              <a:t>mostram o fluxo de dados dentro do sistema, mas podem incluir informações sobre os processamentos realizados em cada estado. </a:t>
            </a:r>
          </a:p>
          <a:p>
            <a:pPr>
              <a:spcBef>
                <a:spcPct val="0"/>
              </a:spcBef>
              <a:buFontTx/>
              <a:buNone/>
            </a:pPr>
            <a:endParaRPr lang="pt-BR" altLang="pt-BR" sz="2400" dirty="0">
              <a:latin typeface="+mn-lt"/>
            </a:endParaRPr>
          </a:p>
        </p:txBody>
      </p:sp>
    </p:spTree>
    <p:extLst>
      <p:ext uri="{BB962C8B-B14F-4D97-AF65-F5344CB8AC3E}">
        <p14:creationId xmlns:p14="http://schemas.microsoft.com/office/powerpoint/2010/main" val="323060188"/>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9426" name="Espaço Reservado para Número de Slide 5"/>
          <p:cNvSpPr>
            <a:spLocks noGrp="1"/>
          </p:cNvSpPr>
          <p:nvPr>
            <p:ph type="sldNum"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9D164201-F4EA-4251-9EA5-68C33990E760}" type="slidenum">
              <a:rPr lang="pt-PT" altLang="pt-BR" sz="1400"/>
              <a:pPr>
                <a:spcBef>
                  <a:spcPct val="0"/>
                </a:spcBef>
                <a:buFontTx/>
                <a:buNone/>
              </a:pPr>
              <a:t>41</a:t>
            </a:fld>
            <a:endParaRPr lang="pt-PT" altLang="pt-BR" sz="1400"/>
          </a:p>
        </p:txBody>
      </p:sp>
      <p:sp>
        <p:nvSpPr>
          <p:cNvPr id="359427" name="Rectangle 2"/>
          <p:cNvSpPr>
            <a:spLocks noGrp="1" noChangeArrowheads="1"/>
          </p:cNvSpPr>
          <p:nvPr>
            <p:ph type="ctrTitle"/>
          </p:nvPr>
        </p:nvSpPr>
        <p:spPr>
          <a:xfrm>
            <a:off x="1524001" y="1"/>
            <a:ext cx="9217025" cy="836613"/>
          </a:xfrm>
        </p:spPr>
        <p:txBody>
          <a:bodyPr anchor="ctr">
            <a:normAutofit fontScale="90000"/>
          </a:bodyPr>
          <a:lstStyle/>
          <a:p>
            <a:pPr eaLnBrk="1" hangingPunct="1"/>
            <a:r>
              <a:rPr lang="pt-BR" altLang="pt-BR" sz="3600"/>
              <a:t>UML – MODELOS COMPORTAMENTAIS – Modelagem Dirigida a eventos</a:t>
            </a:r>
            <a:endParaRPr lang="pt-PT" altLang="pt-BR" sz="3600"/>
          </a:p>
        </p:txBody>
      </p:sp>
      <p:sp>
        <p:nvSpPr>
          <p:cNvPr id="359428" name="Retângulo 1"/>
          <p:cNvSpPr>
            <a:spLocks noChangeArrowheads="1"/>
          </p:cNvSpPr>
          <p:nvPr/>
        </p:nvSpPr>
        <p:spPr bwMode="auto">
          <a:xfrm>
            <a:off x="-1212850" y="3030539"/>
            <a:ext cx="339725"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just" eaLnBrk="1" hangingPunct="1">
              <a:spcBef>
                <a:spcPct val="0"/>
              </a:spcBef>
              <a:buFontTx/>
              <a:buNone/>
            </a:pPr>
            <a:r>
              <a:rPr lang="pt-BR" altLang="pt-BR" sz="2400"/>
              <a:t>. </a:t>
            </a:r>
          </a:p>
        </p:txBody>
      </p:sp>
      <p:sp>
        <p:nvSpPr>
          <p:cNvPr id="2" name="Retângulo 1"/>
          <p:cNvSpPr/>
          <p:nvPr/>
        </p:nvSpPr>
        <p:spPr>
          <a:xfrm>
            <a:off x="103517" y="836614"/>
            <a:ext cx="11964838" cy="6186309"/>
          </a:xfrm>
          <a:prstGeom prst="rect">
            <a:avLst/>
          </a:prstGeom>
        </p:spPr>
        <p:txBody>
          <a:bodyPr wrap="square">
            <a:spAutoFit/>
          </a:bodyPr>
          <a:lstStyle/>
          <a:p>
            <a:pPr>
              <a:spcBef>
                <a:spcPct val="0"/>
              </a:spcBef>
              <a:buFontTx/>
              <a:buNone/>
            </a:pPr>
            <a:r>
              <a:rPr lang="pt-BR" altLang="pt-BR" sz="2400" dirty="0"/>
              <a:t>Software de controle para um forno de micro-ondas simplificado:</a:t>
            </a:r>
          </a:p>
          <a:p>
            <a:pPr>
              <a:spcBef>
                <a:spcPct val="0"/>
              </a:spcBef>
              <a:buFontTx/>
              <a:buNone/>
            </a:pPr>
            <a:r>
              <a:rPr lang="pt-BR" altLang="pt-BR" sz="2400" dirty="0"/>
              <a:t>interruptor seleciona potência total ou meia, teclado numérico insere o tempo de cozimento, botão iniciar/cancelar e display alfanumérico.</a:t>
            </a:r>
          </a:p>
          <a:p>
            <a:pPr>
              <a:spcBef>
                <a:spcPct val="0"/>
              </a:spcBef>
              <a:buFontTx/>
              <a:buNone/>
            </a:pPr>
            <a:r>
              <a:rPr lang="pt-BR" altLang="pt-BR" sz="2400" dirty="0"/>
              <a:t>Sequência de ações: 1. Selecionar o nível de potência (ou meia potência ou potência total). 2. Introduzir o tempo de cozimento usando um teclado numérico. 3. Pressionar ‘Iniciar’, e os alimentos são cozidos para o tempo </a:t>
            </a:r>
            <a:r>
              <a:rPr lang="pt-BR" altLang="pt-BR" sz="2400" dirty="0" smtClean="0"/>
              <a:t>selecionado</a:t>
            </a:r>
          </a:p>
          <a:p>
            <a:pPr>
              <a:spcBef>
                <a:spcPct val="0"/>
              </a:spcBef>
              <a:buFontTx/>
              <a:buNone/>
            </a:pPr>
            <a:endParaRPr lang="pt-BR" altLang="pt-BR" sz="2400" dirty="0"/>
          </a:p>
          <a:p>
            <a:pPr>
              <a:spcBef>
                <a:spcPct val="0"/>
              </a:spcBef>
              <a:buFontTx/>
              <a:buNone/>
            </a:pPr>
            <a:r>
              <a:rPr lang="pt-BR" altLang="pt-BR" sz="2400" dirty="0"/>
              <a:t>Forno não deve operar quando a porta está </a:t>
            </a:r>
            <a:r>
              <a:rPr lang="pt-BR" altLang="pt-BR" sz="2400" dirty="0" smtClean="0"/>
              <a:t>aberta. No </a:t>
            </a:r>
            <a:r>
              <a:rPr lang="pt-BR" altLang="pt-BR" sz="2400" dirty="0"/>
              <a:t>fim do cozimento, uma campainha é acionada. </a:t>
            </a:r>
            <a:r>
              <a:rPr lang="pt-BR" altLang="pt-BR" sz="2400" dirty="0" smtClean="0"/>
              <a:t>Tem </a:t>
            </a:r>
            <a:r>
              <a:rPr lang="pt-BR" altLang="pt-BR" sz="2400" dirty="0"/>
              <a:t>um display </a:t>
            </a:r>
            <a:r>
              <a:rPr lang="pt-BR" altLang="pt-BR" sz="2400" dirty="0" smtClean="0"/>
              <a:t>alfanumérico, </a:t>
            </a:r>
            <a:r>
              <a:rPr lang="pt-BR" altLang="pt-BR" sz="2400" dirty="0"/>
              <a:t>usado para mostrar  alertas e mensagens de advertência. </a:t>
            </a:r>
          </a:p>
          <a:p>
            <a:pPr>
              <a:spcBef>
                <a:spcPct val="0"/>
              </a:spcBef>
              <a:buFontTx/>
              <a:buNone/>
            </a:pPr>
            <a:endParaRPr lang="pt-BR" altLang="pt-BR" sz="2400" dirty="0"/>
          </a:p>
          <a:p>
            <a:pPr>
              <a:spcBef>
                <a:spcPct val="0"/>
              </a:spcBef>
              <a:buFontTx/>
              <a:buNone/>
            </a:pPr>
            <a:r>
              <a:rPr lang="pt-BR" altLang="pt-BR" sz="2400" dirty="0"/>
              <a:t>Diagramas de estado: retângulos arredondados representam os estados do sistema. Eles podem incluir uma breve descrição (após ‘Faça’) das ações tomadas nesse estado. </a:t>
            </a:r>
          </a:p>
          <a:p>
            <a:pPr>
              <a:spcBef>
                <a:spcPct val="0"/>
              </a:spcBef>
              <a:buFontTx/>
              <a:buNone/>
            </a:pPr>
            <a:r>
              <a:rPr lang="pt-BR" altLang="pt-BR" sz="2400" dirty="0"/>
              <a:t>Setas rotuladas são estímulos que forçam uma transição de um estado para outro. </a:t>
            </a:r>
          </a:p>
          <a:p>
            <a:pPr>
              <a:spcBef>
                <a:spcPct val="0"/>
              </a:spcBef>
              <a:buFontTx/>
              <a:buNone/>
            </a:pPr>
            <a:r>
              <a:rPr lang="pt-BR" altLang="pt-BR" sz="2400" dirty="0"/>
              <a:t>Estados inicial e final usando círculos preenchidos, como em um diagrama de atividades. </a:t>
            </a:r>
          </a:p>
          <a:p>
            <a:pPr>
              <a:spcBef>
                <a:spcPct val="0"/>
              </a:spcBef>
              <a:buFontTx/>
              <a:buNone/>
            </a:pPr>
            <a:endParaRPr lang="pt-BR" altLang="pt-BR" dirty="0"/>
          </a:p>
          <a:p>
            <a:pPr>
              <a:spcBef>
                <a:spcPct val="0"/>
              </a:spcBef>
              <a:buFontTx/>
              <a:buNone/>
            </a:pPr>
            <a:endParaRPr lang="pt-BR" altLang="pt-BR" dirty="0"/>
          </a:p>
        </p:txBody>
      </p:sp>
    </p:spTree>
    <p:extLst>
      <p:ext uri="{BB962C8B-B14F-4D97-AF65-F5344CB8AC3E}">
        <p14:creationId xmlns:p14="http://schemas.microsoft.com/office/powerpoint/2010/main" val="3614939150"/>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2498" name="Espaço Reservado para Número de Slide 5"/>
          <p:cNvSpPr>
            <a:spLocks noGrp="1"/>
          </p:cNvSpPr>
          <p:nvPr>
            <p:ph type="sldNum"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B5813237-3235-4CC7-AF3F-7C00DAA9F428}" type="slidenum">
              <a:rPr lang="pt-PT" altLang="pt-BR" sz="1400"/>
              <a:pPr>
                <a:spcBef>
                  <a:spcPct val="0"/>
                </a:spcBef>
                <a:buFontTx/>
                <a:buNone/>
              </a:pPr>
              <a:t>42</a:t>
            </a:fld>
            <a:endParaRPr lang="pt-PT" altLang="pt-BR" sz="1400"/>
          </a:p>
        </p:txBody>
      </p:sp>
      <p:sp>
        <p:nvSpPr>
          <p:cNvPr id="362499" name="Rectangle 2"/>
          <p:cNvSpPr>
            <a:spLocks noGrp="1" noChangeArrowheads="1"/>
          </p:cNvSpPr>
          <p:nvPr>
            <p:ph type="ctrTitle"/>
          </p:nvPr>
        </p:nvSpPr>
        <p:spPr>
          <a:xfrm>
            <a:off x="1524001" y="1"/>
            <a:ext cx="9217025" cy="836613"/>
          </a:xfrm>
        </p:spPr>
        <p:txBody>
          <a:bodyPr anchor="ctr">
            <a:normAutofit fontScale="90000"/>
          </a:bodyPr>
          <a:lstStyle/>
          <a:p>
            <a:pPr eaLnBrk="1" hangingPunct="1"/>
            <a:r>
              <a:rPr lang="pt-BR" altLang="pt-BR" sz="3600"/>
              <a:t>UML – MODELOS COMPORTAMENTAIS – Modelagem Dirigida a eventos</a:t>
            </a:r>
            <a:endParaRPr lang="pt-PT" altLang="pt-BR" sz="3600"/>
          </a:p>
        </p:txBody>
      </p:sp>
      <p:sp>
        <p:nvSpPr>
          <p:cNvPr id="362500" name="Retângulo 1"/>
          <p:cNvSpPr>
            <a:spLocks noChangeArrowheads="1"/>
          </p:cNvSpPr>
          <p:nvPr/>
        </p:nvSpPr>
        <p:spPr bwMode="auto">
          <a:xfrm>
            <a:off x="-1212850" y="3030539"/>
            <a:ext cx="339725"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just" eaLnBrk="1" hangingPunct="1">
              <a:spcBef>
                <a:spcPct val="0"/>
              </a:spcBef>
              <a:buFontTx/>
              <a:buNone/>
            </a:pPr>
            <a:r>
              <a:rPr lang="pt-BR" altLang="pt-BR" sz="2400"/>
              <a:t>. </a:t>
            </a:r>
          </a:p>
        </p:txBody>
      </p:sp>
      <p:pic>
        <p:nvPicPr>
          <p:cNvPr id="362501" name="Imagem 1"/>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3154392" y="61914"/>
            <a:ext cx="9144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Retângulo 1"/>
          <p:cNvSpPr/>
          <p:nvPr/>
        </p:nvSpPr>
        <p:spPr>
          <a:xfrm>
            <a:off x="0" y="1611323"/>
            <a:ext cx="3847381" cy="4524315"/>
          </a:xfrm>
          <a:prstGeom prst="rect">
            <a:avLst/>
          </a:prstGeom>
        </p:spPr>
        <p:txBody>
          <a:bodyPr wrap="square">
            <a:spAutoFit/>
          </a:bodyPr>
          <a:lstStyle/>
          <a:p>
            <a:pPr>
              <a:spcBef>
                <a:spcPct val="0"/>
              </a:spcBef>
              <a:buFontTx/>
              <a:buNone/>
            </a:pPr>
            <a:r>
              <a:rPr lang="pt-BR" altLang="pt-BR" dirty="0"/>
              <a:t>Figura 5.15:sistema começa em um estado de espera e responde inicialmente ao botão de potência total ou ao de meia potência. </a:t>
            </a:r>
          </a:p>
          <a:p>
            <a:pPr>
              <a:spcBef>
                <a:spcPct val="0"/>
              </a:spcBef>
              <a:buFontTx/>
              <a:buNone/>
            </a:pPr>
            <a:endParaRPr lang="pt-BR" altLang="pt-BR" dirty="0"/>
          </a:p>
          <a:p>
            <a:pPr>
              <a:spcBef>
                <a:spcPct val="0"/>
              </a:spcBef>
              <a:buFontTx/>
              <a:buNone/>
            </a:pPr>
            <a:r>
              <a:rPr lang="pt-BR" altLang="pt-BR" dirty="0"/>
              <a:t>Após selecionar um dos botões, os usuários podem mudar de ideia e pressionar o outro botão. </a:t>
            </a:r>
          </a:p>
          <a:p>
            <a:pPr>
              <a:spcBef>
                <a:spcPct val="0"/>
              </a:spcBef>
              <a:buFontTx/>
              <a:buNone/>
            </a:pPr>
            <a:r>
              <a:rPr lang="pt-BR" altLang="pt-BR" dirty="0"/>
              <a:t>O tempo é definido, e, se a porta estiver fechada, o botão ‘Iniciar’ é habilitado. Pressionando-se esse botão, começa a operação do forno, e o cozimento ocorrerá para o tempo especificado. </a:t>
            </a:r>
          </a:p>
          <a:p>
            <a:pPr>
              <a:spcBef>
                <a:spcPct val="0"/>
              </a:spcBef>
              <a:buFontTx/>
              <a:buNone/>
            </a:pPr>
            <a:r>
              <a:rPr lang="pt-BR" altLang="pt-BR" dirty="0"/>
              <a:t>Esse é o fim do ciclo de cozimento, e o sistema retorna ao estado de espera.</a:t>
            </a:r>
          </a:p>
        </p:txBody>
      </p:sp>
    </p:spTree>
    <p:extLst>
      <p:ext uri="{BB962C8B-B14F-4D97-AF65-F5344CB8AC3E}">
        <p14:creationId xmlns:p14="http://schemas.microsoft.com/office/powerpoint/2010/main" val="2582462050"/>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4546" name="Espaço Reservado para Número de Slide 5"/>
          <p:cNvSpPr>
            <a:spLocks noGrp="1"/>
          </p:cNvSpPr>
          <p:nvPr>
            <p:ph type="sldNum"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8C892EF2-CBE7-4C5E-84D1-CFD9F0E8B4B9}" type="slidenum">
              <a:rPr lang="pt-PT" altLang="pt-BR" sz="1400"/>
              <a:pPr>
                <a:spcBef>
                  <a:spcPct val="0"/>
                </a:spcBef>
                <a:buFontTx/>
                <a:buNone/>
              </a:pPr>
              <a:t>43</a:t>
            </a:fld>
            <a:endParaRPr lang="pt-PT" altLang="pt-BR" sz="1400"/>
          </a:p>
        </p:txBody>
      </p:sp>
      <p:sp>
        <p:nvSpPr>
          <p:cNvPr id="364547" name="Rectangle 2"/>
          <p:cNvSpPr>
            <a:spLocks noGrp="1" noChangeArrowheads="1"/>
          </p:cNvSpPr>
          <p:nvPr>
            <p:ph type="ctrTitle"/>
          </p:nvPr>
        </p:nvSpPr>
        <p:spPr>
          <a:xfrm>
            <a:off x="1524001" y="1"/>
            <a:ext cx="9217025" cy="836613"/>
          </a:xfrm>
        </p:spPr>
        <p:txBody>
          <a:bodyPr anchor="ctr">
            <a:normAutofit fontScale="90000"/>
          </a:bodyPr>
          <a:lstStyle/>
          <a:p>
            <a:pPr eaLnBrk="1" hangingPunct="1"/>
            <a:r>
              <a:rPr lang="pt-BR" altLang="pt-BR" sz="3600"/>
              <a:t>UML – MODELOS COMPORTAMENTAIS – Modelagem Dirigida a eventos</a:t>
            </a:r>
            <a:endParaRPr lang="pt-PT" altLang="pt-BR" sz="3600"/>
          </a:p>
        </p:txBody>
      </p:sp>
      <p:sp>
        <p:nvSpPr>
          <p:cNvPr id="364548" name="Retângulo 1"/>
          <p:cNvSpPr>
            <a:spLocks noChangeArrowheads="1"/>
          </p:cNvSpPr>
          <p:nvPr/>
        </p:nvSpPr>
        <p:spPr bwMode="auto">
          <a:xfrm>
            <a:off x="-1212850" y="3030539"/>
            <a:ext cx="339725"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just" eaLnBrk="1" hangingPunct="1">
              <a:spcBef>
                <a:spcPct val="0"/>
              </a:spcBef>
              <a:buFontTx/>
              <a:buNone/>
            </a:pPr>
            <a:r>
              <a:rPr lang="pt-BR" altLang="pt-BR" sz="2400"/>
              <a:t>. </a:t>
            </a:r>
          </a:p>
        </p:txBody>
      </p:sp>
      <p:sp>
        <p:nvSpPr>
          <p:cNvPr id="364549" name="Retângulo 2"/>
          <p:cNvSpPr>
            <a:spLocks noChangeArrowheads="1"/>
          </p:cNvSpPr>
          <p:nvPr/>
        </p:nvSpPr>
        <p:spPr bwMode="auto">
          <a:xfrm>
            <a:off x="1631951" y="1079501"/>
            <a:ext cx="900112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pt-BR" altLang="pt-BR" sz="2400"/>
          </a:p>
        </p:txBody>
      </p:sp>
      <p:graphicFrame>
        <p:nvGraphicFramePr>
          <p:cNvPr id="2" name="Tabela 1"/>
          <p:cNvGraphicFramePr>
            <a:graphicFrameLocks noGrp="1"/>
          </p:cNvGraphicFramePr>
          <p:nvPr/>
        </p:nvGraphicFramePr>
        <p:xfrm>
          <a:off x="1847851" y="1268414"/>
          <a:ext cx="8640763" cy="5437187"/>
        </p:xfrm>
        <a:graphic>
          <a:graphicData uri="http://schemas.openxmlformats.org/drawingml/2006/table">
            <a:tbl>
              <a:tblPr firstRow="1" bandRow="1">
                <a:tableStyleId>{5C22544A-7EE6-4342-B048-85BDC9FD1C3A}</a:tableStyleId>
              </a:tblPr>
              <a:tblGrid>
                <a:gridCol w="1368121"/>
                <a:gridCol w="7272642"/>
              </a:tblGrid>
              <a:tr h="386870">
                <a:tc>
                  <a:txBody>
                    <a:bodyPr/>
                    <a:lstStyle/>
                    <a:p>
                      <a:r>
                        <a:rPr lang="pt-BR" sz="1800" dirty="0" smtClean="0"/>
                        <a:t>Estado</a:t>
                      </a:r>
                      <a:endParaRPr lang="pt-BR" sz="1800" dirty="0"/>
                    </a:p>
                  </a:txBody>
                  <a:tcPr marL="91438" marR="91438"/>
                </a:tc>
                <a:tc>
                  <a:txBody>
                    <a:bodyPr/>
                    <a:lstStyle/>
                    <a:p>
                      <a:r>
                        <a:rPr lang="pt-BR" sz="1800" dirty="0" smtClean="0"/>
                        <a:t>Descrição</a:t>
                      </a:r>
                      <a:endParaRPr lang="pt-BR" sz="1800" dirty="0"/>
                    </a:p>
                  </a:txBody>
                  <a:tcPr marL="91438" marR="91438"/>
                </a:tc>
              </a:tr>
              <a:tr h="386870">
                <a:tc>
                  <a:txBody>
                    <a:bodyPr/>
                    <a:lstStyle/>
                    <a:p>
                      <a:r>
                        <a:rPr lang="pt-BR" sz="1800" dirty="0" smtClean="0"/>
                        <a:t>Aguardando</a:t>
                      </a:r>
                      <a:endParaRPr lang="pt-BR" sz="1800" dirty="0"/>
                    </a:p>
                  </a:txBody>
                  <a:tcPr marL="91438" marR="91438"/>
                </a:tc>
                <a:tc>
                  <a:txBody>
                    <a:bodyPr/>
                    <a:lstStyle/>
                    <a:p>
                      <a:r>
                        <a:rPr lang="pt-BR" sz="1800" dirty="0" smtClean="0"/>
                        <a:t>O forno está aguardando uma entrada. O display mostra a hora atual</a:t>
                      </a:r>
                      <a:endParaRPr lang="pt-BR" sz="1800" dirty="0"/>
                    </a:p>
                  </a:txBody>
                  <a:tcPr marL="91438" marR="91438"/>
                </a:tc>
              </a:tr>
              <a:tr h="640081">
                <a:tc>
                  <a:txBody>
                    <a:bodyPr/>
                    <a:lstStyle/>
                    <a:p>
                      <a:r>
                        <a:rPr lang="pt-BR" sz="1800" dirty="0" smtClean="0"/>
                        <a:t>Meia</a:t>
                      </a:r>
                      <a:r>
                        <a:rPr lang="pt-BR" sz="1800" baseline="0" dirty="0" smtClean="0"/>
                        <a:t> Potencia</a:t>
                      </a:r>
                      <a:endParaRPr lang="pt-BR" sz="1800" dirty="0"/>
                    </a:p>
                  </a:txBody>
                  <a:tcPr marL="91438" marR="91438"/>
                </a:tc>
                <a:tc>
                  <a:txBody>
                    <a:bodyPr/>
                    <a:lstStyle/>
                    <a:p>
                      <a:r>
                        <a:rPr lang="pt-BR" sz="1800" dirty="0" smtClean="0"/>
                        <a:t>A potência do forno é definida para 300 watts. O display mostra ‘Meia potência’</a:t>
                      </a:r>
                      <a:endParaRPr lang="pt-BR" sz="1800" dirty="0"/>
                    </a:p>
                  </a:txBody>
                  <a:tcPr marL="91438" marR="91438"/>
                </a:tc>
              </a:tr>
              <a:tr h="640081">
                <a:tc>
                  <a:txBody>
                    <a:bodyPr/>
                    <a:lstStyle/>
                    <a:p>
                      <a:r>
                        <a:rPr lang="pt-BR" sz="1800" dirty="0" smtClean="0"/>
                        <a:t>Potência total </a:t>
                      </a:r>
                      <a:endParaRPr lang="pt-BR" sz="1800" dirty="0"/>
                    </a:p>
                  </a:txBody>
                  <a:tcPr marL="91438" marR="91438"/>
                </a:tc>
                <a:tc>
                  <a:txBody>
                    <a:bodyPr/>
                    <a:lstStyle/>
                    <a:p>
                      <a:r>
                        <a:rPr lang="pt-BR" sz="1800" dirty="0" smtClean="0"/>
                        <a:t>A potência do forno é definida para 600 watts. O display mostra ‘Potência total’</a:t>
                      </a:r>
                      <a:endParaRPr lang="pt-BR" sz="1800" dirty="0"/>
                    </a:p>
                  </a:txBody>
                  <a:tcPr marL="91438" marR="91438"/>
                </a:tc>
              </a:tr>
              <a:tr h="914401">
                <a:tc>
                  <a:txBody>
                    <a:bodyPr/>
                    <a:lstStyle/>
                    <a:p>
                      <a:r>
                        <a:rPr lang="pt-BR" sz="1800" dirty="0" smtClean="0"/>
                        <a:t>Tempo definido </a:t>
                      </a:r>
                      <a:endParaRPr lang="pt-BR" sz="1800" dirty="0"/>
                    </a:p>
                  </a:txBody>
                  <a:tcPr marL="91438" marR="91438"/>
                </a:tc>
                <a:tc>
                  <a:txBody>
                    <a:bodyPr/>
                    <a:lstStyle/>
                    <a:p>
                      <a:r>
                        <a:rPr lang="pt-BR" sz="1800" dirty="0" smtClean="0"/>
                        <a:t>O tempo de cozimento é definido como valor de entrada do usuário. O display mostra o tempo de cozimento selecionado e é atualizado conforme o tempo definido.</a:t>
                      </a:r>
                      <a:endParaRPr lang="pt-BR" sz="1800" dirty="0"/>
                    </a:p>
                  </a:txBody>
                  <a:tcPr marL="91438" marR="91438"/>
                </a:tc>
              </a:tr>
              <a:tr h="640081">
                <a:tc>
                  <a:txBody>
                    <a:bodyPr/>
                    <a:lstStyle/>
                    <a:p>
                      <a:r>
                        <a:rPr lang="pt-BR" sz="1800" dirty="0" smtClean="0"/>
                        <a:t>Desabilitado</a:t>
                      </a:r>
                      <a:endParaRPr lang="pt-BR" sz="1800" dirty="0"/>
                    </a:p>
                  </a:txBody>
                  <a:tcPr marL="91438" marR="91438"/>
                </a:tc>
                <a:tc>
                  <a:txBody>
                    <a:bodyPr/>
                    <a:lstStyle/>
                    <a:p>
                      <a:r>
                        <a:rPr lang="pt-BR" sz="1800" dirty="0" smtClean="0"/>
                        <a:t>A operação do forno está desabilitada por questões de segurança. A iluminação interna do forno está acesa. O display mostra ‘Não está pronto’.</a:t>
                      </a:r>
                      <a:endParaRPr lang="pt-BR" sz="1800" dirty="0"/>
                    </a:p>
                  </a:txBody>
                  <a:tcPr marL="91438" marR="91438"/>
                </a:tc>
              </a:tr>
              <a:tr h="640081">
                <a:tc>
                  <a:txBody>
                    <a:bodyPr/>
                    <a:lstStyle/>
                    <a:p>
                      <a:r>
                        <a:rPr lang="pt-BR" sz="1800" dirty="0" smtClean="0"/>
                        <a:t>Habilitado</a:t>
                      </a:r>
                      <a:endParaRPr lang="pt-BR" sz="1800" dirty="0"/>
                    </a:p>
                  </a:txBody>
                  <a:tcPr marL="91438" marR="91438"/>
                </a:tc>
                <a:tc>
                  <a:txBody>
                    <a:bodyPr/>
                    <a:lstStyle/>
                    <a:p>
                      <a:r>
                        <a:rPr lang="pt-BR" sz="1800" dirty="0" smtClean="0"/>
                        <a:t>A operação do forno está habilitada. A iluminação interna do forno está desligada. O display mostra ‘Pronto’.</a:t>
                      </a:r>
                      <a:endParaRPr lang="pt-BR" sz="1800" dirty="0"/>
                    </a:p>
                  </a:txBody>
                  <a:tcPr marL="91438" marR="91438"/>
                </a:tc>
              </a:tr>
              <a:tr h="1188722">
                <a:tc>
                  <a:txBody>
                    <a:bodyPr/>
                    <a:lstStyle/>
                    <a:p>
                      <a:r>
                        <a:rPr lang="pt-BR" sz="1800" dirty="0" smtClean="0"/>
                        <a:t>Operação</a:t>
                      </a:r>
                      <a:endParaRPr lang="pt-BR" sz="1800" dirty="0"/>
                    </a:p>
                  </a:txBody>
                  <a:tcPr marL="91438" marR="91438"/>
                </a:tc>
                <a:tc>
                  <a:txBody>
                    <a:bodyPr/>
                    <a:lstStyle/>
                    <a:p>
                      <a:r>
                        <a:rPr lang="pt-BR" sz="1800" dirty="0" smtClean="0"/>
                        <a:t>Forno em operação. A iluminação interna está acesa. O display mostra a contagem regressiva do relógio. No fim do cozimento, a campainha soa por cinco segundos. A luz do forno está acesa. O display mostra ‘Cozimento completo’, enquanto a campainha está soando</a:t>
                      </a:r>
                      <a:endParaRPr lang="pt-BR" sz="1800" dirty="0"/>
                    </a:p>
                  </a:txBody>
                  <a:tcPr marL="91438" marR="91438"/>
                </a:tc>
              </a:tr>
            </a:tbl>
          </a:graphicData>
        </a:graphic>
      </p:graphicFrame>
    </p:spTree>
    <p:extLst>
      <p:ext uri="{BB962C8B-B14F-4D97-AF65-F5344CB8AC3E}">
        <p14:creationId xmlns:p14="http://schemas.microsoft.com/office/powerpoint/2010/main" val="2827814221"/>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5570" name="Espaço Reservado para Número de Slide 5"/>
          <p:cNvSpPr>
            <a:spLocks noGrp="1"/>
          </p:cNvSpPr>
          <p:nvPr>
            <p:ph type="sldNum"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CD96A555-8700-46DA-A53D-D796253D8524}" type="slidenum">
              <a:rPr lang="pt-PT" altLang="pt-BR" sz="1400"/>
              <a:pPr>
                <a:spcBef>
                  <a:spcPct val="0"/>
                </a:spcBef>
                <a:buFontTx/>
                <a:buNone/>
              </a:pPr>
              <a:t>44</a:t>
            </a:fld>
            <a:endParaRPr lang="pt-PT" altLang="pt-BR" sz="1400"/>
          </a:p>
        </p:txBody>
      </p:sp>
      <p:sp>
        <p:nvSpPr>
          <p:cNvPr id="365571" name="Rectangle 2"/>
          <p:cNvSpPr>
            <a:spLocks noGrp="1" noChangeArrowheads="1"/>
          </p:cNvSpPr>
          <p:nvPr>
            <p:ph type="ctrTitle"/>
          </p:nvPr>
        </p:nvSpPr>
        <p:spPr>
          <a:xfrm>
            <a:off x="1524001" y="1"/>
            <a:ext cx="9217025" cy="836613"/>
          </a:xfrm>
        </p:spPr>
        <p:txBody>
          <a:bodyPr anchor="ctr">
            <a:normAutofit fontScale="90000"/>
          </a:bodyPr>
          <a:lstStyle/>
          <a:p>
            <a:pPr eaLnBrk="1" hangingPunct="1"/>
            <a:r>
              <a:rPr lang="pt-BR" altLang="pt-BR" sz="3600"/>
              <a:t>UML – MODELOS COMPORTAMENTAIS – Modelagem Dirigida a eventos</a:t>
            </a:r>
            <a:endParaRPr lang="pt-PT" altLang="pt-BR" sz="3600"/>
          </a:p>
        </p:txBody>
      </p:sp>
      <p:sp>
        <p:nvSpPr>
          <p:cNvPr id="365572" name="Retângulo 1"/>
          <p:cNvSpPr>
            <a:spLocks noChangeArrowheads="1"/>
          </p:cNvSpPr>
          <p:nvPr/>
        </p:nvSpPr>
        <p:spPr bwMode="auto">
          <a:xfrm>
            <a:off x="-1212850" y="3030539"/>
            <a:ext cx="339725"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just" eaLnBrk="1" hangingPunct="1">
              <a:spcBef>
                <a:spcPct val="0"/>
              </a:spcBef>
              <a:buFontTx/>
              <a:buNone/>
            </a:pPr>
            <a:r>
              <a:rPr lang="pt-BR" altLang="pt-BR" sz="2400"/>
              <a:t>. </a:t>
            </a:r>
          </a:p>
        </p:txBody>
      </p:sp>
      <p:sp>
        <p:nvSpPr>
          <p:cNvPr id="365573" name="Retângulo 2"/>
          <p:cNvSpPr>
            <a:spLocks noChangeArrowheads="1"/>
          </p:cNvSpPr>
          <p:nvPr/>
        </p:nvSpPr>
        <p:spPr bwMode="auto">
          <a:xfrm>
            <a:off x="1631951" y="1079501"/>
            <a:ext cx="900112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pt-BR" altLang="pt-BR" sz="2400"/>
          </a:p>
        </p:txBody>
      </p:sp>
      <p:graphicFrame>
        <p:nvGraphicFramePr>
          <p:cNvPr id="2" name="Tabela 1"/>
          <p:cNvGraphicFramePr>
            <a:graphicFrameLocks noGrp="1"/>
          </p:cNvGraphicFramePr>
          <p:nvPr/>
        </p:nvGraphicFramePr>
        <p:xfrm>
          <a:off x="1847851" y="1268414"/>
          <a:ext cx="8640763" cy="3946527"/>
        </p:xfrm>
        <a:graphic>
          <a:graphicData uri="http://schemas.openxmlformats.org/drawingml/2006/table">
            <a:tbl>
              <a:tblPr firstRow="1" bandRow="1">
                <a:tableStyleId>{5C22544A-7EE6-4342-B048-85BDC9FD1C3A}</a:tableStyleId>
              </a:tblPr>
              <a:tblGrid>
                <a:gridCol w="1368121"/>
                <a:gridCol w="7272642"/>
              </a:tblGrid>
              <a:tr h="386919">
                <a:tc>
                  <a:txBody>
                    <a:bodyPr/>
                    <a:lstStyle/>
                    <a:p>
                      <a:r>
                        <a:rPr lang="pt-BR" sz="1800" dirty="0" smtClean="0"/>
                        <a:t>Estímulo</a:t>
                      </a:r>
                      <a:endParaRPr lang="pt-BR" sz="1800" dirty="0"/>
                    </a:p>
                  </a:txBody>
                  <a:tcPr marL="91438" marR="91438" marT="45726" marB="45726"/>
                </a:tc>
                <a:tc>
                  <a:txBody>
                    <a:bodyPr/>
                    <a:lstStyle/>
                    <a:p>
                      <a:r>
                        <a:rPr lang="pt-BR" sz="1800" dirty="0" smtClean="0"/>
                        <a:t>Descrição</a:t>
                      </a:r>
                      <a:endParaRPr lang="pt-BR" sz="1800" dirty="0"/>
                    </a:p>
                  </a:txBody>
                  <a:tcPr marL="91438" marR="91438" marT="45726" marB="45726"/>
                </a:tc>
              </a:tr>
              <a:tr h="640160">
                <a:tc>
                  <a:txBody>
                    <a:bodyPr/>
                    <a:lstStyle/>
                    <a:p>
                      <a:r>
                        <a:rPr lang="pt-BR" sz="1800" smtClean="0"/>
                        <a:t>Meia potência</a:t>
                      </a:r>
                      <a:endParaRPr lang="pt-BR" sz="1800" dirty="0"/>
                    </a:p>
                  </a:txBody>
                  <a:tcPr marL="91438" marR="91438" marT="45726" marB="45726"/>
                </a:tc>
                <a:tc>
                  <a:txBody>
                    <a:bodyPr/>
                    <a:lstStyle/>
                    <a:p>
                      <a:r>
                        <a:rPr lang="pt-BR" sz="1800" dirty="0" smtClean="0"/>
                        <a:t>O usuário pressionou o botão de meia potência</a:t>
                      </a:r>
                      <a:endParaRPr lang="pt-BR" sz="1800" dirty="0"/>
                    </a:p>
                  </a:txBody>
                  <a:tcPr marL="91438" marR="91438" marT="45726" marB="45726"/>
                </a:tc>
              </a:tr>
              <a:tr h="640160">
                <a:tc>
                  <a:txBody>
                    <a:bodyPr/>
                    <a:lstStyle/>
                    <a:p>
                      <a:r>
                        <a:rPr lang="pt-BR" sz="1800" dirty="0" smtClean="0"/>
                        <a:t>Potência total</a:t>
                      </a:r>
                      <a:endParaRPr lang="pt-BR" sz="1800" dirty="0"/>
                    </a:p>
                  </a:txBody>
                  <a:tcPr marL="91438" marR="91438" marT="45726" marB="45726"/>
                </a:tc>
                <a:tc>
                  <a:txBody>
                    <a:bodyPr/>
                    <a:lstStyle/>
                    <a:p>
                      <a:r>
                        <a:rPr lang="pt-BR" sz="1800" dirty="0" smtClean="0"/>
                        <a:t>O usuário pressionou o botão de potência total</a:t>
                      </a:r>
                      <a:endParaRPr lang="pt-BR" sz="1800" dirty="0"/>
                    </a:p>
                  </a:txBody>
                  <a:tcPr marL="91438" marR="91438" marT="45726" marB="45726"/>
                </a:tc>
              </a:tr>
              <a:tr h="386919">
                <a:tc>
                  <a:txBody>
                    <a:bodyPr/>
                    <a:lstStyle/>
                    <a:p>
                      <a:r>
                        <a:rPr lang="pt-BR" sz="1800" dirty="0" smtClean="0"/>
                        <a:t>Relógio</a:t>
                      </a:r>
                      <a:endParaRPr lang="pt-BR" sz="1800" dirty="0"/>
                    </a:p>
                  </a:txBody>
                  <a:tcPr marL="91438" marR="91438" marT="45726" marB="45726"/>
                </a:tc>
                <a:tc>
                  <a:txBody>
                    <a:bodyPr/>
                    <a:lstStyle/>
                    <a:p>
                      <a:r>
                        <a:rPr lang="pt-BR" sz="1800" dirty="0" smtClean="0"/>
                        <a:t>O usuário pressionou um dos botões do relógio</a:t>
                      </a:r>
                      <a:endParaRPr lang="pt-BR" sz="1800" dirty="0"/>
                    </a:p>
                  </a:txBody>
                  <a:tcPr marL="91438" marR="91438" marT="45726" marB="45726"/>
                </a:tc>
              </a:tr>
              <a:tr h="386919">
                <a:tc>
                  <a:txBody>
                    <a:bodyPr/>
                    <a:lstStyle/>
                    <a:p>
                      <a:r>
                        <a:rPr lang="pt-BR" sz="1800" dirty="0" smtClean="0"/>
                        <a:t>Número</a:t>
                      </a:r>
                      <a:endParaRPr lang="pt-BR" sz="1800" dirty="0"/>
                    </a:p>
                  </a:txBody>
                  <a:tcPr marL="91438" marR="91438" marT="45726" marB="45726"/>
                </a:tc>
                <a:tc>
                  <a:txBody>
                    <a:bodyPr/>
                    <a:lstStyle/>
                    <a:p>
                      <a:r>
                        <a:rPr lang="pt-BR" sz="1800" dirty="0" smtClean="0"/>
                        <a:t>O usuário pressionou uma tecla numérica</a:t>
                      </a:r>
                      <a:endParaRPr lang="pt-BR" sz="1800" dirty="0"/>
                    </a:p>
                  </a:txBody>
                  <a:tcPr marL="91438" marR="91438" marT="45726" marB="45726"/>
                </a:tc>
              </a:tr>
              <a:tr h="386919">
                <a:tc>
                  <a:txBody>
                    <a:bodyPr/>
                    <a:lstStyle/>
                    <a:p>
                      <a:r>
                        <a:rPr lang="pt-BR" sz="1800" dirty="0" smtClean="0"/>
                        <a:t>Aberto</a:t>
                      </a:r>
                      <a:endParaRPr lang="pt-BR" sz="1800" dirty="0"/>
                    </a:p>
                  </a:txBody>
                  <a:tcPr marL="91438" marR="91438" marT="45726" marB="45726"/>
                </a:tc>
                <a:tc>
                  <a:txBody>
                    <a:bodyPr/>
                    <a:lstStyle/>
                    <a:p>
                      <a:r>
                        <a:rPr lang="pt-BR" sz="1800" dirty="0" smtClean="0"/>
                        <a:t>O interruptor da porta do forno não está fechado</a:t>
                      </a:r>
                      <a:endParaRPr lang="pt-BR" sz="1800" dirty="0"/>
                    </a:p>
                  </a:txBody>
                  <a:tcPr marL="91438" marR="91438" marT="45726" marB="45726"/>
                </a:tc>
              </a:tr>
              <a:tr h="386919">
                <a:tc>
                  <a:txBody>
                    <a:bodyPr/>
                    <a:lstStyle/>
                    <a:p>
                      <a:r>
                        <a:rPr lang="pt-BR" sz="1800" dirty="0" smtClean="0"/>
                        <a:t>Fechado</a:t>
                      </a:r>
                      <a:endParaRPr lang="pt-BR" sz="1800" dirty="0"/>
                    </a:p>
                  </a:txBody>
                  <a:tcPr marL="91438" marR="91438" marT="45726" marB="45726"/>
                </a:tc>
                <a:tc>
                  <a:txBody>
                    <a:bodyPr/>
                    <a:lstStyle/>
                    <a:p>
                      <a:r>
                        <a:rPr lang="pt-BR" sz="1800" dirty="0" smtClean="0"/>
                        <a:t>O interruptor da porta do forno está fechado</a:t>
                      </a:r>
                      <a:endParaRPr lang="pt-BR" sz="1800" dirty="0"/>
                    </a:p>
                  </a:txBody>
                  <a:tcPr marL="91438" marR="91438" marT="45726" marB="45726"/>
                </a:tc>
              </a:tr>
              <a:tr h="365806">
                <a:tc>
                  <a:txBody>
                    <a:bodyPr/>
                    <a:lstStyle/>
                    <a:p>
                      <a:r>
                        <a:rPr lang="pt-BR" sz="1800" dirty="0" smtClean="0"/>
                        <a:t>Iniciar</a:t>
                      </a:r>
                      <a:endParaRPr lang="pt-BR" sz="1800" dirty="0"/>
                    </a:p>
                  </a:txBody>
                  <a:tcPr marL="91438" marR="91438" marT="45726" marB="45726"/>
                </a:tc>
                <a:tc>
                  <a:txBody>
                    <a:bodyPr/>
                    <a:lstStyle/>
                    <a:p>
                      <a:r>
                        <a:rPr lang="pt-BR" sz="1800" dirty="0" smtClean="0"/>
                        <a:t>O usuário pressionou o botão Iniciar</a:t>
                      </a:r>
                      <a:endParaRPr lang="pt-BR" sz="1800" dirty="0"/>
                    </a:p>
                  </a:txBody>
                  <a:tcPr marL="91438" marR="91438" marT="45726" marB="45726"/>
                </a:tc>
              </a:tr>
              <a:tr h="365806">
                <a:tc>
                  <a:txBody>
                    <a:bodyPr/>
                    <a:lstStyle/>
                    <a:p>
                      <a:r>
                        <a:rPr lang="pt-BR" sz="1800" dirty="0" smtClean="0"/>
                        <a:t>Cancelar</a:t>
                      </a:r>
                      <a:endParaRPr lang="pt-BR" sz="1800" dirty="0"/>
                    </a:p>
                  </a:txBody>
                  <a:tcPr marL="91438" marR="91438" marT="45726" marB="45726"/>
                </a:tc>
                <a:tc>
                  <a:txBody>
                    <a:bodyPr/>
                    <a:lstStyle/>
                    <a:p>
                      <a:r>
                        <a:rPr lang="pt-BR" sz="1800" dirty="0" smtClean="0"/>
                        <a:t>O usuário pressionou o botão Cancelar</a:t>
                      </a:r>
                      <a:endParaRPr lang="pt-BR" sz="1800" dirty="0"/>
                    </a:p>
                  </a:txBody>
                  <a:tcPr marL="91438" marR="91438" marT="45726" marB="45726"/>
                </a:tc>
              </a:tr>
            </a:tbl>
          </a:graphicData>
        </a:graphic>
      </p:graphicFrame>
    </p:spTree>
    <p:extLst>
      <p:ext uri="{BB962C8B-B14F-4D97-AF65-F5344CB8AC3E}">
        <p14:creationId xmlns:p14="http://schemas.microsoft.com/office/powerpoint/2010/main" val="3836116840"/>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6594" name="Espaço Reservado para Número de Slide 5"/>
          <p:cNvSpPr>
            <a:spLocks noGrp="1"/>
          </p:cNvSpPr>
          <p:nvPr>
            <p:ph type="sldNum"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BF97F67D-CCDC-4FC2-9582-672EEDAA2DA2}" type="slidenum">
              <a:rPr lang="pt-PT" altLang="pt-BR" sz="1400"/>
              <a:pPr>
                <a:spcBef>
                  <a:spcPct val="0"/>
                </a:spcBef>
                <a:buFontTx/>
                <a:buNone/>
              </a:pPr>
              <a:t>45</a:t>
            </a:fld>
            <a:endParaRPr lang="pt-PT" altLang="pt-BR" sz="1400"/>
          </a:p>
        </p:txBody>
      </p:sp>
      <p:sp>
        <p:nvSpPr>
          <p:cNvPr id="366595" name="Rectangle 2"/>
          <p:cNvSpPr>
            <a:spLocks noGrp="1" noChangeArrowheads="1"/>
          </p:cNvSpPr>
          <p:nvPr>
            <p:ph type="ctrTitle"/>
          </p:nvPr>
        </p:nvSpPr>
        <p:spPr>
          <a:xfrm>
            <a:off x="1524001" y="1"/>
            <a:ext cx="9217025" cy="836613"/>
          </a:xfrm>
        </p:spPr>
        <p:txBody>
          <a:bodyPr anchor="ctr">
            <a:normAutofit fontScale="90000"/>
          </a:bodyPr>
          <a:lstStyle/>
          <a:p>
            <a:pPr eaLnBrk="1" hangingPunct="1"/>
            <a:r>
              <a:rPr lang="pt-BR" altLang="pt-BR" sz="3600"/>
              <a:t>UML – MODELOS COMPORTAMENTAIS – Modelagem Dirigida a eventos</a:t>
            </a:r>
            <a:endParaRPr lang="pt-PT" altLang="pt-BR" sz="3600"/>
          </a:p>
        </p:txBody>
      </p:sp>
      <p:sp>
        <p:nvSpPr>
          <p:cNvPr id="366596" name="Retângulo 1"/>
          <p:cNvSpPr>
            <a:spLocks noChangeArrowheads="1"/>
          </p:cNvSpPr>
          <p:nvPr/>
        </p:nvSpPr>
        <p:spPr bwMode="auto">
          <a:xfrm>
            <a:off x="-1212850" y="3030539"/>
            <a:ext cx="339725"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just" eaLnBrk="1" hangingPunct="1">
              <a:spcBef>
                <a:spcPct val="0"/>
              </a:spcBef>
              <a:buFontTx/>
              <a:buNone/>
            </a:pPr>
            <a:r>
              <a:rPr lang="pt-BR" altLang="pt-BR" sz="2400"/>
              <a:t>. </a:t>
            </a:r>
          </a:p>
        </p:txBody>
      </p:sp>
      <p:sp>
        <p:nvSpPr>
          <p:cNvPr id="366597" name="Retângulo 2"/>
          <p:cNvSpPr>
            <a:spLocks noChangeArrowheads="1"/>
          </p:cNvSpPr>
          <p:nvPr/>
        </p:nvSpPr>
        <p:spPr bwMode="auto">
          <a:xfrm>
            <a:off x="129396" y="836615"/>
            <a:ext cx="11999343" cy="37856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pt-BR" altLang="pt-BR" sz="2400" dirty="0">
                <a:latin typeface="+mn-lt"/>
              </a:rPr>
              <a:t>Problema: número de possíveis estados aumenta rapidamente. </a:t>
            </a:r>
          </a:p>
          <a:p>
            <a:pPr>
              <a:spcBef>
                <a:spcPct val="0"/>
              </a:spcBef>
              <a:buFontTx/>
              <a:buNone/>
            </a:pPr>
            <a:r>
              <a:rPr lang="pt-BR" altLang="pt-BR" sz="2400" dirty="0">
                <a:latin typeface="+mn-lt"/>
              </a:rPr>
              <a:t>Modelos de sistemas de grande porte: precisa esconder detalhes. </a:t>
            </a:r>
            <a:endParaRPr lang="pt-BR" altLang="pt-BR" sz="2400" dirty="0" smtClean="0">
              <a:latin typeface="+mn-lt"/>
            </a:endParaRPr>
          </a:p>
          <a:p>
            <a:pPr>
              <a:spcBef>
                <a:spcPct val="0"/>
              </a:spcBef>
              <a:buFontTx/>
              <a:buNone/>
            </a:pPr>
            <a:r>
              <a:rPr lang="pt-BR" altLang="pt-BR" sz="2400" dirty="0" smtClean="0">
                <a:latin typeface="+mn-lt"/>
              </a:rPr>
              <a:t>Superestado</a:t>
            </a:r>
            <a:r>
              <a:rPr lang="pt-BR" altLang="pt-BR" sz="2400" dirty="0">
                <a:latin typeface="+mn-lt"/>
              </a:rPr>
              <a:t>: encapsula um número de estados distintos. Parece um único estado. Em um diagrama separado, é ampliado para mostrar mais detalhes. </a:t>
            </a:r>
          </a:p>
          <a:p>
            <a:pPr>
              <a:spcBef>
                <a:spcPct val="0"/>
              </a:spcBef>
              <a:buFontTx/>
              <a:buNone/>
            </a:pPr>
            <a:r>
              <a:rPr lang="pt-BR" altLang="pt-BR" sz="2400" dirty="0" smtClean="0">
                <a:latin typeface="+mn-lt"/>
              </a:rPr>
              <a:t>Estado </a:t>
            </a:r>
            <a:r>
              <a:rPr lang="pt-BR" altLang="pt-BR" sz="2400" dirty="0">
                <a:latin typeface="+mn-lt"/>
              </a:rPr>
              <a:t>‘Operação’ na Figura </a:t>
            </a:r>
            <a:r>
              <a:rPr lang="pt-BR" altLang="pt-BR" sz="2400" dirty="0" smtClean="0">
                <a:latin typeface="+mn-lt"/>
              </a:rPr>
              <a:t>5.15: superestado </a:t>
            </a:r>
            <a:r>
              <a:rPr lang="pt-BR" altLang="pt-BR" sz="2400" dirty="0">
                <a:latin typeface="+mn-lt"/>
              </a:rPr>
              <a:t>que pode ser expandido</a:t>
            </a:r>
            <a:r>
              <a:rPr lang="pt-BR" altLang="pt-BR" sz="2400" dirty="0" smtClean="0">
                <a:latin typeface="+mn-lt"/>
              </a:rPr>
              <a:t>, incluindo </a:t>
            </a:r>
            <a:r>
              <a:rPr lang="pt-BR" altLang="pt-BR" sz="2400" dirty="0">
                <a:latin typeface="+mn-lt"/>
              </a:rPr>
              <a:t>uma série de </a:t>
            </a:r>
            <a:r>
              <a:rPr lang="pt-BR" altLang="pt-BR" sz="2400" dirty="0" err="1">
                <a:latin typeface="+mn-lt"/>
              </a:rPr>
              <a:t>subestados</a:t>
            </a:r>
            <a:r>
              <a:rPr lang="pt-BR" altLang="pt-BR" sz="2400" dirty="0">
                <a:latin typeface="+mn-lt"/>
              </a:rPr>
              <a:t>, o que mostra que a operação inicia com uma verificação de status e, se qualquer problema é descoberto, um alarme é indicado, e a operação, desabilitada. </a:t>
            </a:r>
          </a:p>
          <a:p>
            <a:pPr>
              <a:spcBef>
                <a:spcPct val="0"/>
              </a:spcBef>
              <a:buFontTx/>
              <a:buNone/>
            </a:pPr>
            <a:r>
              <a:rPr lang="pt-BR" altLang="pt-BR" sz="2400" dirty="0">
                <a:latin typeface="+mn-lt"/>
              </a:rPr>
              <a:t>O cozimento envolve a execução do gerador de micro-ondas para o tempo especificado; na conclusão, uma campainha é emitida. Se a porta for aberta durante a operação, o sistema se move para o estado desabilitado, como mostra a Figura 5.15. </a:t>
            </a:r>
          </a:p>
        </p:txBody>
      </p:sp>
    </p:spTree>
    <p:extLst>
      <p:ext uri="{BB962C8B-B14F-4D97-AF65-F5344CB8AC3E}">
        <p14:creationId xmlns:p14="http://schemas.microsoft.com/office/powerpoint/2010/main" val="3621317753"/>
      </p:ext>
    </p:ext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7618" name="Espaço Reservado para Número de Slide 5"/>
          <p:cNvSpPr>
            <a:spLocks noGrp="1"/>
          </p:cNvSpPr>
          <p:nvPr>
            <p:ph type="sldNum"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2D957A8B-61CD-472F-9E37-9C3135DD0323}" type="slidenum">
              <a:rPr lang="pt-PT" altLang="pt-BR" sz="1400"/>
              <a:pPr>
                <a:spcBef>
                  <a:spcPct val="0"/>
                </a:spcBef>
                <a:buFontTx/>
                <a:buNone/>
              </a:pPr>
              <a:t>46</a:t>
            </a:fld>
            <a:endParaRPr lang="pt-PT" altLang="pt-BR" sz="1400"/>
          </a:p>
        </p:txBody>
      </p:sp>
      <p:sp>
        <p:nvSpPr>
          <p:cNvPr id="367619" name="Rectangle 2"/>
          <p:cNvSpPr>
            <a:spLocks noGrp="1" noChangeArrowheads="1"/>
          </p:cNvSpPr>
          <p:nvPr>
            <p:ph type="ctrTitle"/>
          </p:nvPr>
        </p:nvSpPr>
        <p:spPr>
          <a:xfrm>
            <a:off x="1524001" y="1"/>
            <a:ext cx="9217025" cy="836613"/>
          </a:xfrm>
        </p:spPr>
        <p:txBody>
          <a:bodyPr anchor="ctr"/>
          <a:lstStyle/>
          <a:p>
            <a:pPr eaLnBrk="1" hangingPunct="1"/>
            <a:r>
              <a:rPr lang="pt-BR" altLang="pt-BR" sz="3600"/>
              <a:t>Engenharia dirigida a Modelos - MDE</a:t>
            </a:r>
            <a:endParaRPr lang="pt-PT" altLang="pt-BR" sz="3600"/>
          </a:p>
        </p:txBody>
      </p:sp>
      <p:sp>
        <p:nvSpPr>
          <p:cNvPr id="367620" name="Retângulo 1"/>
          <p:cNvSpPr>
            <a:spLocks noChangeArrowheads="1"/>
          </p:cNvSpPr>
          <p:nvPr/>
        </p:nvSpPr>
        <p:spPr bwMode="auto">
          <a:xfrm>
            <a:off x="-1212850" y="3030539"/>
            <a:ext cx="339725"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just" eaLnBrk="1" hangingPunct="1">
              <a:spcBef>
                <a:spcPct val="0"/>
              </a:spcBef>
              <a:buFontTx/>
              <a:buNone/>
            </a:pPr>
            <a:r>
              <a:rPr lang="pt-BR" altLang="pt-BR" sz="2400"/>
              <a:t>. </a:t>
            </a:r>
          </a:p>
        </p:txBody>
      </p:sp>
      <p:sp>
        <p:nvSpPr>
          <p:cNvPr id="367621" name="Retângulo 2"/>
          <p:cNvSpPr>
            <a:spLocks noChangeArrowheads="1"/>
          </p:cNvSpPr>
          <p:nvPr/>
        </p:nvSpPr>
        <p:spPr bwMode="auto">
          <a:xfrm>
            <a:off x="112143" y="931653"/>
            <a:ext cx="11869948" cy="60016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pt-BR" altLang="pt-BR" sz="2400" dirty="0" err="1">
                <a:latin typeface="+mn-lt"/>
              </a:rPr>
              <a:t>Model-based</a:t>
            </a:r>
            <a:r>
              <a:rPr lang="pt-BR" altLang="pt-BR" sz="2400" dirty="0">
                <a:latin typeface="+mn-lt"/>
              </a:rPr>
              <a:t> </a:t>
            </a:r>
            <a:r>
              <a:rPr lang="pt-BR" altLang="pt-BR" sz="2400" dirty="0" err="1">
                <a:latin typeface="+mn-lt"/>
              </a:rPr>
              <a:t>engineering</a:t>
            </a:r>
            <a:r>
              <a:rPr lang="pt-BR" altLang="pt-BR" sz="2400" dirty="0">
                <a:latin typeface="+mn-lt"/>
              </a:rPr>
              <a:t>: abordagem do desenvolvimento de software cujos modelos (não programas) são as saídas principais do processo de desenvolvimento (KENT, 2002; SCHMIDT, 2006). </a:t>
            </a:r>
          </a:p>
          <a:p>
            <a:pPr>
              <a:spcBef>
                <a:spcPct val="0"/>
              </a:spcBef>
              <a:buFontTx/>
              <a:buNone/>
            </a:pPr>
            <a:r>
              <a:rPr lang="pt-BR" altLang="pt-BR" sz="2400" dirty="0">
                <a:latin typeface="+mn-lt"/>
              </a:rPr>
              <a:t>Os programas são gerados automaticamente a partir dos modelos. </a:t>
            </a:r>
          </a:p>
          <a:p>
            <a:pPr>
              <a:spcBef>
                <a:spcPct val="0"/>
              </a:spcBef>
              <a:buFontTx/>
              <a:buNone/>
            </a:pPr>
            <a:r>
              <a:rPr lang="pt-BR" altLang="pt-BR" sz="2400" dirty="0">
                <a:latin typeface="+mn-lt"/>
              </a:rPr>
              <a:t>MDE aumenta o nível de abstração</a:t>
            </a:r>
          </a:p>
          <a:p>
            <a:pPr>
              <a:spcBef>
                <a:spcPct val="0"/>
              </a:spcBef>
              <a:buFontTx/>
              <a:buNone/>
            </a:pPr>
            <a:r>
              <a:rPr lang="pt-BR" altLang="pt-BR" sz="2400" dirty="0">
                <a:latin typeface="+mn-lt"/>
              </a:rPr>
              <a:t>Engenheiros não precisam se preocupar com detalhes da linguagem de programação ou com as especificidades das plataformas de execução. </a:t>
            </a:r>
          </a:p>
          <a:p>
            <a:pPr>
              <a:spcBef>
                <a:spcPct val="0"/>
              </a:spcBef>
              <a:buFontTx/>
              <a:buNone/>
            </a:pPr>
            <a:r>
              <a:rPr lang="pt-BR" altLang="pt-BR" sz="2400" dirty="0">
                <a:latin typeface="+mn-lt"/>
              </a:rPr>
              <a:t>Raízes na arquitetura dirigida a modelos (MDA,  </a:t>
            </a:r>
            <a:r>
              <a:rPr lang="pt-BR" altLang="pt-BR" sz="2400" dirty="0" err="1">
                <a:latin typeface="+mn-lt"/>
              </a:rPr>
              <a:t>model-driven</a:t>
            </a:r>
            <a:r>
              <a:rPr lang="pt-BR" altLang="pt-BR" sz="2400" dirty="0">
                <a:latin typeface="+mn-lt"/>
              </a:rPr>
              <a:t> </a:t>
            </a:r>
            <a:r>
              <a:rPr lang="pt-BR" altLang="pt-BR" sz="2400" dirty="0" err="1">
                <a:latin typeface="+mn-lt"/>
              </a:rPr>
              <a:t>architecture</a:t>
            </a:r>
            <a:r>
              <a:rPr lang="pt-BR" altLang="pt-BR" sz="2400" dirty="0">
                <a:latin typeface="+mn-lt"/>
              </a:rPr>
              <a:t>), proposta pelo </a:t>
            </a:r>
            <a:r>
              <a:rPr lang="pt-BR" altLang="pt-BR" sz="2400" dirty="0" err="1">
                <a:latin typeface="+mn-lt"/>
              </a:rPr>
              <a:t>Object</a:t>
            </a:r>
            <a:r>
              <a:rPr lang="pt-BR" altLang="pt-BR" sz="2400" dirty="0">
                <a:latin typeface="+mn-lt"/>
              </a:rPr>
              <a:t> Management </a:t>
            </a:r>
            <a:r>
              <a:rPr lang="pt-BR" altLang="pt-BR" sz="2400" dirty="0" err="1">
                <a:latin typeface="+mn-lt"/>
              </a:rPr>
              <a:t>Group</a:t>
            </a:r>
            <a:r>
              <a:rPr lang="pt-BR" altLang="pt-BR" sz="2400" dirty="0">
                <a:latin typeface="+mn-lt"/>
              </a:rPr>
              <a:t> (OMG), em 2001, como um novo paradigma de desenvolvimento de software. </a:t>
            </a:r>
          </a:p>
          <a:p>
            <a:pPr>
              <a:spcBef>
                <a:spcPct val="0"/>
              </a:spcBef>
              <a:buFontTx/>
              <a:buNone/>
            </a:pPr>
            <a:r>
              <a:rPr lang="pt-BR" altLang="pt-BR" sz="2400" dirty="0">
                <a:latin typeface="+mn-lt"/>
              </a:rPr>
              <a:t>Engenharia e a arquitetura dirigidas a modelos: vistas como iguais</a:t>
            </a:r>
          </a:p>
          <a:p>
            <a:pPr>
              <a:spcBef>
                <a:spcPct val="0"/>
              </a:spcBef>
              <a:buFontTx/>
              <a:buNone/>
            </a:pPr>
            <a:r>
              <a:rPr lang="pt-BR" altLang="pt-BR" sz="2400" dirty="0">
                <a:latin typeface="+mn-lt"/>
              </a:rPr>
              <a:t> </a:t>
            </a:r>
            <a:r>
              <a:rPr lang="pt-BR" altLang="pt-BR" sz="2400" dirty="0" smtClean="0">
                <a:latin typeface="+mn-lt"/>
              </a:rPr>
              <a:t>MDE (</a:t>
            </a:r>
            <a:r>
              <a:rPr lang="pt-BR" altLang="pt-BR" sz="2400" dirty="0" err="1">
                <a:latin typeface="+mn-lt"/>
              </a:rPr>
              <a:t>Model-based</a:t>
            </a:r>
            <a:r>
              <a:rPr lang="pt-BR" altLang="pt-BR" sz="2400" dirty="0">
                <a:latin typeface="+mn-lt"/>
              </a:rPr>
              <a:t> </a:t>
            </a:r>
            <a:r>
              <a:rPr lang="pt-BR" altLang="pt-BR" sz="2400" dirty="0" err="1">
                <a:latin typeface="+mn-lt"/>
              </a:rPr>
              <a:t>engineering</a:t>
            </a:r>
            <a:r>
              <a:rPr lang="pt-BR" altLang="pt-BR" sz="2400" dirty="0">
                <a:latin typeface="+mn-lt"/>
              </a:rPr>
              <a:t>) tem um alcance maior que a MDA (</a:t>
            </a:r>
            <a:r>
              <a:rPr lang="pt-BR" altLang="pt-BR" sz="2400" dirty="0" err="1">
                <a:latin typeface="+mn-lt"/>
              </a:rPr>
              <a:t>model-driven</a:t>
            </a:r>
            <a:r>
              <a:rPr lang="pt-BR" altLang="pt-BR" sz="2400" dirty="0">
                <a:latin typeface="+mn-lt"/>
              </a:rPr>
              <a:t> </a:t>
            </a:r>
            <a:r>
              <a:rPr lang="pt-BR" altLang="pt-BR" sz="2400" dirty="0" err="1">
                <a:latin typeface="+mn-lt"/>
              </a:rPr>
              <a:t>architecture</a:t>
            </a:r>
            <a:r>
              <a:rPr lang="pt-BR" altLang="pt-BR" sz="2400" dirty="0">
                <a:latin typeface="+mn-lt"/>
              </a:rPr>
              <a:t>). </a:t>
            </a:r>
          </a:p>
          <a:p>
            <a:pPr>
              <a:spcBef>
                <a:spcPct val="0"/>
              </a:spcBef>
              <a:buFontTx/>
              <a:buNone/>
            </a:pPr>
            <a:r>
              <a:rPr lang="pt-BR" altLang="pt-BR" sz="2400" dirty="0">
                <a:latin typeface="+mn-lt"/>
              </a:rPr>
              <a:t>MDA concentra-se nos estágios de projeto e implementação do processo de desenvolvimento de software</a:t>
            </a:r>
          </a:p>
          <a:p>
            <a:pPr>
              <a:spcBef>
                <a:spcPct val="0"/>
              </a:spcBef>
              <a:buFontTx/>
              <a:buNone/>
            </a:pPr>
            <a:r>
              <a:rPr lang="pt-BR" altLang="pt-BR" sz="2400" dirty="0">
                <a:latin typeface="+mn-lt"/>
              </a:rPr>
              <a:t>MDE se preocupa com </a:t>
            </a:r>
            <a:r>
              <a:rPr lang="pt-BR" altLang="pt-BR" sz="2400" dirty="0" smtClean="0">
                <a:latin typeface="+mn-lt"/>
              </a:rPr>
              <a:t>todo o </a:t>
            </a:r>
            <a:r>
              <a:rPr lang="pt-BR" altLang="pt-BR" sz="2400" dirty="0">
                <a:latin typeface="+mn-lt"/>
              </a:rPr>
              <a:t>processo de engenharia de software. </a:t>
            </a:r>
          </a:p>
        </p:txBody>
      </p:sp>
    </p:spTree>
    <p:extLst>
      <p:ext uri="{BB962C8B-B14F-4D97-AF65-F5344CB8AC3E}">
        <p14:creationId xmlns:p14="http://schemas.microsoft.com/office/powerpoint/2010/main" val="3970379686"/>
      </p:ext>
    </p:extLst>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42" name="Espaço Reservado para Número de Slide 5"/>
          <p:cNvSpPr>
            <a:spLocks noGrp="1"/>
          </p:cNvSpPr>
          <p:nvPr>
            <p:ph type="sldNum"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C4FEF01D-3DFB-4B7F-BB6C-D760D4AB0ABE}" type="slidenum">
              <a:rPr lang="pt-PT" altLang="pt-BR" sz="1400"/>
              <a:pPr>
                <a:spcBef>
                  <a:spcPct val="0"/>
                </a:spcBef>
                <a:buFontTx/>
                <a:buNone/>
              </a:pPr>
              <a:t>47</a:t>
            </a:fld>
            <a:endParaRPr lang="pt-PT" altLang="pt-BR" sz="1400"/>
          </a:p>
        </p:txBody>
      </p:sp>
      <p:sp>
        <p:nvSpPr>
          <p:cNvPr id="368643" name="Rectangle 2"/>
          <p:cNvSpPr>
            <a:spLocks noGrp="1" noChangeArrowheads="1"/>
          </p:cNvSpPr>
          <p:nvPr>
            <p:ph type="ctrTitle"/>
          </p:nvPr>
        </p:nvSpPr>
        <p:spPr>
          <a:xfrm>
            <a:off x="1524001" y="1"/>
            <a:ext cx="9217025" cy="836613"/>
          </a:xfrm>
        </p:spPr>
        <p:txBody>
          <a:bodyPr anchor="ctr"/>
          <a:lstStyle/>
          <a:p>
            <a:pPr eaLnBrk="1" hangingPunct="1"/>
            <a:r>
              <a:rPr lang="pt-BR" altLang="pt-BR" sz="3600"/>
              <a:t>Engenharia dirigida a Modelos - MDE</a:t>
            </a:r>
            <a:endParaRPr lang="pt-PT" altLang="pt-BR" sz="3600"/>
          </a:p>
        </p:txBody>
      </p:sp>
      <p:sp>
        <p:nvSpPr>
          <p:cNvPr id="368644" name="Retângulo 1"/>
          <p:cNvSpPr>
            <a:spLocks noChangeArrowheads="1"/>
          </p:cNvSpPr>
          <p:nvPr/>
        </p:nvSpPr>
        <p:spPr bwMode="auto">
          <a:xfrm>
            <a:off x="-1212850" y="3030539"/>
            <a:ext cx="339725"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just" eaLnBrk="1" hangingPunct="1">
              <a:spcBef>
                <a:spcPct val="0"/>
              </a:spcBef>
              <a:buFontTx/>
              <a:buNone/>
            </a:pPr>
            <a:r>
              <a:rPr lang="pt-BR" altLang="pt-BR" sz="2400"/>
              <a:t>. </a:t>
            </a:r>
          </a:p>
        </p:txBody>
      </p:sp>
      <p:sp>
        <p:nvSpPr>
          <p:cNvPr id="368645" name="Retângulo 2"/>
          <p:cNvSpPr>
            <a:spLocks noChangeArrowheads="1"/>
          </p:cNvSpPr>
          <p:nvPr/>
        </p:nvSpPr>
        <p:spPr bwMode="auto">
          <a:xfrm>
            <a:off x="215660" y="836614"/>
            <a:ext cx="11706045" cy="6740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pt-BR" altLang="pt-BR" sz="2400" dirty="0" smtClean="0">
                <a:latin typeface="+mn-lt"/>
              </a:rPr>
              <a:t>MDE (</a:t>
            </a:r>
            <a:r>
              <a:rPr lang="pt-BR" altLang="pt-BR" sz="2400" dirty="0" err="1">
                <a:latin typeface="+mn-lt"/>
              </a:rPr>
              <a:t>Model-based</a:t>
            </a:r>
            <a:r>
              <a:rPr lang="pt-BR" altLang="pt-BR" sz="2400" dirty="0">
                <a:latin typeface="+mn-lt"/>
              </a:rPr>
              <a:t> </a:t>
            </a:r>
            <a:r>
              <a:rPr lang="pt-BR" altLang="pt-BR" sz="2400" dirty="0" err="1">
                <a:latin typeface="+mn-lt"/>
              </a:rPr>
              <a:t>engineering</a:t>
            </a:r>
            <a:r>
              <a:rPr lang="pt-BR" altLang="pt-BR" sz="2400" dirty="0">
                <a:latin typeface="+mn-lt"/>
              </a:rPr>
              <a:t>): Engenharia de requisitos baseada em modelos, processos de software para o desenvolvimento baseado em modelos e testes baseados em modelos . </a:t>
            </a:r>
          </a:p>
          <a:p>
            <a:pPr>
              <a:spcBef>
                <a:spcPct val="0"/>
              </a:spcBef>
              <a:buNone/>
            </a:pPr>
            <a:r>
              <a:rPr lang="pt-BR" altLang="pt-BR" sz="2400" dirty="0">
                <a:latin typeface="+mn-lt"/>
              </a:rPr>
              <a:t>MDA (</a:t>
            </a:r>
            <a:r>
              <a:rPr lang="pt-BR" altLang="pt-BR" sz="2400" dirty="0" err="1">
                <a:latin typeface="+mn-lt"/>
              </a:rPr>
              <a:t>model-driven</a:t>
            </a:r>
            <a:r>
              <a:rPr lang="pt-BR" altLang="pt-BR" sz="2400" dirty="0">
                <a:latin typeface="+mn-lt"/>
              </a:rPr>
              <a:t> </a:t>
            </a:r>
            <a:r>
              <a:rPr lang="pt-BR" altLang="pt-BR" sz="2400" dirty="0" err="1">
                <a:latin typeface="+mn-lt"/>
              </a:rPr>
              <a:t>architecture</a:t>
            </a:r>
            <a:r>
              <a:rPr lang="pt-BR" altLang="pt-BR" sz="2400" dirty="0" smtClean="0"/>
              <a:t>) </a:t>
            </a:r>
            <a:r>
              <a:rPr lang="pt-BR" altLang="pt-BR" sz="2400" dirty="0" smtClean="0">
                <a:latin typeface="+mn-lt"/>
              </a:rPr>
              <a:t>em </a:t>
            </a:r>
            <a:r>
              <a:rPr lang="pt-BR" altLang="pt-BR" sz="2400" dirty="0">
                <a:latin typeface="+mn-lt"/>
              </a:rPr>
              <a:t>uso desde 2001, está ainda em um estágio inicial de desenvolvimento e não está claro se ela terá ou não um efeito significativo sobre as práticas da engenharia de software</a:t>
            </a:r>
            <a:r>
              <a:rPr lang="pt-BR" altLang="pt-BR" sz="2400" dirty="0" smtClean="0">
                <a:latin typeface="+mn-lt"/>
              </a:rPr>
              <a:t>.</a:t>
            </a:r>
          </a:p>
          <a:p>
            <a:pPr>
              <a:spcBef>
                <a:spcPct val="0"/>
              </a:spcBef>
              <a:buFontTx/>
              <a:buNone/>
            </a:pPr>
            <a:endParaRPr lang="pt-BR" altLang="pt-BR" sz="2400" dirty="0">
              <a:latin typeface="+mn-lt"/>
            </a:endParaRPr>
          </a:p>
          <a:p>
            <a:pPr>
              <a:spcBef>
                <a:spcPct val="0"/>
              </a:spcBef>
              <a:buFontTx/>
              <a:buNone/>
            </a:pPr>
            <a:r>
              <a:rPr lang="pt-BR" altLang="pt-BR" sz="2400" dirty="0">
                <a:latin typeface="+mn-lt"/>
              </a:rPr>
              <a:t>Pontos a favor da MDE: </a:t>
            </a:r>
          </a:p>
          <a:p>
            <a:pPr>
              <a:spcBef>
                <a:spcPct val="0"/>
              </a:spcBef>
              <a:buFontTx/>
              <a:buNone/>
            </a:pPr>
            <a:r>
              <a:rPr lang="pt-BR" altLang="pt-BR" sz="2400" dirty="0">
                <a:latin typeface="+mn-lt"/>
              </a:rPr>
              <a:t>E</a:t>
            </a:r>
            <a:r>
              <a:rPr lang="pt-BR" altLang="pt-BR" sz="2400" dirty="0" smtClean="0">
                <a:latin typeface="+mn-lt"/>
              </a:rPr>
              <a:t>ngenheiros </a:t>
            </a:r>
            <a:r>
              <a:rPr lang="pt-BR" altLang="pt-BR" sz="2400" dirty="0">
                <a:latin typeface="+mn-lt"/>
              </a:rPr>
              <a:t>pensam em sistemas em alto nível de abstração, sem preocupação com detalhes de implementação. </a:t>
            </a:r>
          </a:p>
          <a:p>
            <a:pPr>
              <a:spcBef>
                <a:spcPct val="0"/>
              </a:spcBef>
              <a:buFontTx/>
              <a:buNone/>
            </a:pPr>
            <a:r>
              <a:rPr lang="pt-BR" altLang="pt-BR" sz="2400" dirty="0">
                <a:latin typeface="+mn-lt"/>
              </a:rPr>
              <a:t>Reduz a probabilidade de erros, acelera o processo de projeto e implementação e permite a criação de modelos de aplicação reusáveis, independentes de plataforma. </a:t>
            </a:r>
          </a:p>
          <a:p>
            <a:pPr>
              <a:spcBef>
                <a:spcPct val="0"/>
              </a:spcBef>
              <a:buFontTx/>
              <a:buNone/>
            </a:pPr>
            <a:r>
              <a:rPr lang="pt-BR" altLang="pt-BR" sz="2400" dirty="0">
                <a:latin typeface="+mn-lt"/>
              </a:rPr>
              <a:t>Com ferramentas poderosas, as implementações do sistema podem ser geradas para diferentes plataformas a partir do mesmo modelo. </a:t>
            </a:r>
          </a:p>
          <a:p>
            <a:pPr>
              <a:spcBef>
                <a:spcPct val="0"/>
              </a:spcBef>
              <a:buFontTx/>
              <a:buNone/>
            </a:pPr>
            <a:r>
              <a:rPr lang="pt-BR" altLang="pt-BR" sz="2400" dirty="0">
                <a:latin typeface="+mn-lt"/>
              </a:rPr>
              <a:t>Para adaptar o sistema a uma nova tecnologia de plataforma, é necessário apenas escrever um tradutor para essa plataforma. Quando este estiver disponível, todos os modelos independentes de plataforma podem ser rapidamente reimplantados na nova plataforma</a:t>
            </a:r>
          </a:p>
          <a:p>
            <a:pPr>
              <a:spcBef>
                <a:spcPct val="0"/>
              </a:spcBef>
              <a:buFontTx/>
              <a:buNone/>
            </a:pPr>
            <a:r>
              <a:rPr lang="pt-BR" altLang="pt-BR" sz="2400" dirty="0" smtClean="0">
                <a:latin typeface="+mn-lt"/>
              </a:rPr>
              <a:t> </a:t>
            </a:r>
            <a:endParaRPr lang="pt-BR" altLang="pt-BR" sz="2400" dirty="0">
              <a:latin typeface="+mn-lt"/>
            </a:endParaRPr>
          </a:p>
          <a:p>
            <a:pPr>
              <a:spcBef>
                <a:spcPct val="0"/>
              </a:spcBef>
              <a:buFontTx/>
              <a:buNone/>
            </a:pPr>
            <a:endParaRPr lang="pt-BR" altLang="pt-BR" sz="2400" dirty="0"/>
          </a:p>
        </p:txBody>
      </p:sp>
    </p:spTree>
    <p:extLst>
      <p:ext uri="{BB962C8B-B14F-4D97-AF65-F5344CB8AC3E}">
        <p14:creationId xmlns:p14="http://schemas.microsoft.com/office/powerpoint/2010/main" val="3075582013"/>
      </p:ext>
    </p:extLst>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0690" name="Espaço Reservado para Número de Slide 5"/>
          <p:cNvSpPr>
            <a:spLocks noGrp="1"/>
          </p:cNvSpPr>
          <p:nvPr>
            <p:ph type="sldNum"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EAAB5BB0-DAB3-46E8-929D-14221852DA0C}" type="slidenum">
              <a:rPr lang="pt-PT" altLang="pt-BR" sz="1400"/>
              <a:pPr>
                <a:spcBef>
                  <a:spcPct val="0"/>
                </a:spcBef>
                <a:buFontTx/>
                <a:buNone/>
              </a:pPr>
              <a:t>48</a:t>
            </a:fld>
            <a:endParaRPr lang="pt-PT" altLang="pt-BR" sz="1400"/>
          </a:p>
        </p:txBody>
      </p:sp>
      <p:sp>
        <p:nvSpPr>
          <p:cNvPr id="370691" name="Rectangle 2"/>
          <p:cNvSpPr>
            <a:spLocks noGrp="1" noChangeArrowheads="1"/>
          </p:cNvSpPr>
          <p:nvPr>
            <p:ph type="ctrTitle"/>
          </p:nvPr>
        </p:nvSpPr>
        <p:spPr>
          <a:xfrm>
            <a:off x="1524001" y="1"/>
            <a:ext cx="9217025" cy="836613"/>
          </a:xfrm>
        </p:spPr>
        <p:txBody>
          <a:bodyPr anchor="ctr"/>
          <a:lstStyle/>
          <a:p>
            <a:pPr eaLnBrk="1" hangingPunct="1"/>
            <a:r>
              <a:rPr lang="pt-BR" altLang="pt-BR" sz="3600"/>
              <a:t>Engenharia dirigida a Modelos - MDE</a:t>
            </a:r>
            <a:endParaRPr lang="pt-PT" altLang="pt-BR" sz="3600"/>
          </a:p>
        </p:txBody>
      </p:sp>
      <p:sp>
        <p:nvSpPr>
          <p:cNvPr id="370692" name="Retângulo 1"/>
          <p:cNvSpPr>
            <a:spLocks noChangeArrowheads="1"/>
          </p:cNvSpPr>
          <p:nvPr/>
        </p:nvSpPr>
        <p:spPr bwMode="auto">
          <a:xfrm>
            <a:off x="-1212850" y="3030539"/>
            <a:ext cx="339725"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just" eaLnBrk="1" hangingPunct="1">
              <a:spcBef>
                <a:spcPct val="0"/>
              </a:spcBef>
              <a:buFontTx/>
              <a:buNone/>
            </a:pPr>
            <a:r>
              <a:rPr lang="pt-BR" altLang="pt-BR" sz="2400"/>
              <a:t>. </a:t>
            </a:r>
          </a:p>
        </p:txBody>
      </p:sp>
      <p:sp>
        <p:nvSpPr>
          <p:cNvPr id="370693" name="Retângulo 2"/>
          <p:cNvSpPr>
            <a:spLocks noChangeArrowheads="1"/>
          </p:cNvSpPr>
          <p:nvPr/>
        </p:nvSpPr>
        <p:spPr bwMode="auto">
          <a:xfrm>
            <a:off x="77638" y="836614"/>
            <a:ext cx="11913079" cy="6370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pt-BR" altLang="pt-BR" sz="2400" dirty="0">
                <a:latin typeface="+mn-lt"/>
              </a:rPr>
              <a:t>Pontos contra a MDE: </a:t>
            </a:r>
          </a:p>
          <a:p>
            <a:pPr>
              <a:spcBef>
                <a:spcPct val="0"/>
              </a:spcBef>
              <a:buFontTx/>
              <a:buNone/>
            </a:pPr>
            <a:r>
              <a:rPr lang="pt-BR" altLang="pt-BR" sz="2400" dirty="0">
                <a:latin typeface="+mn-lt"/>
              </a:rPr>
              <a:t>F</a:t>
            </a:r>
            <a:r>
              <a:rPr lang="pt-BR" altLang="pt-BR" sz="2400" dirty="0" smtClean="0">
                <a:latin typeface="+mn-lt"/>
              </a:rPr>
              <a:t>acilitar </a:t>
            </a:r>
            <a:r>
              <a:rPr lang="pt-BR" altLang="pt-BR" sz="2400" dirty="0">
                <a:latin typeface="+mn-lt"/>
              </a:rPr>
              <a:t>as discussões sobre um projeto de software. </a:t>
            </a:r>
          </a:p>
          <a:p>
            <a:pPr>
              <a:spcBef>
                <a:spcPct val="0"/>
              </a:spcBef>
              <a:buFontTx/>
              <a:buNone/>
            </a:pPr>
            <a:r>
              <a:rPr lang="pt-BR" altLang="pt-BR" sz="2400" dirty="0">
                <a:latin typeface="+mn-lt"/>
              </a:rPr>
              <a:t>Abstrações </a:t>
            </a:r>
            <a:r>
              <a:rPr lang="pt-BR" altLang="pt-BR" sz="2400" dirty="0" smtClean="0">
                <a:latin typeface="+mn-lt"/>
              </a:rPr>
              <a:t>nem </a:t>
            </a:r>
            <a:r>
              <a:rPr lang="pt-BR" altLang="pt-BR" sz="2400" dirty="0">
                <a:latin typeface="+mn-lt"/>
              </a:rPr>
              <a:t>sempre são corretas para a implementação, levando a criação de modelos informais de projeto. </a:t>
            </a:r>
          </a:p>
          <a:p>
            <a:pPr>
              <a:spcBef>
                <a:spcPct val="0"/>
              </a:spcBef>
              <a:buFontTx/>
              <a:buNone/>
            </a:pPr>
            <a:r>
              <a:rPr lang="pt-BR" altLang="pt-BR" sz="2400" dirty="0">
                <a:latin typeface="+mn-lt"/>
              </a:rPr>
              <a:t>Argumentos da independência da plataforma são válidos apenas para sistemas de grande porte e duradouros, em que as plataformas se tornam obsoletas ao longo do tempo de vida do sistema. </a:t>
            </a:r>
          </a:p>
          <a:p>
            <a:pPr>
              <a:spcBef>
                <a:spcPct val="0"/>
              </a:spcBef>
              <a:buFontTx/>
              <a:buNone/>
            </a:pPr>
            <a:r>
              <a:rPr lang="pt-BR" altLang="pt-BR" sz="2400" dirty="0">
                <a:latin typeface="+mn-lt"/>
              </a:rPr>
              <a:t>Sistemas de grande porte: implementação não é o grande problema; engenharia de requisitos, proteção e confiança, integração com sistemas legados e testes são mais </a:t>
            </a:r>
            <a:r>
              <a:rPr lang="pt-BR" altLang="pt-BR" sz="2400" dirty="0" smtClean="0">
                <a:latin typeface="+mn-lt"/>
              </a:rPr>
              <a:t>significativos</a:t>
            </a:r>
          </a:p>
          <a:p>
            <a:pPr>
              <a:spcBef>
                <a:spcPct val="0"/>
              </a:spcBef>
              <a:buFontTx/>
              <a:buNone/>
            </a:pPr>
            <a:endParaRPr lang="pt-BR" altLang="pt-BR" sz="2400" dirty="0">
              <a:latin typeface="+mn-lt"/>
            </a:endParaRPr>
          </a:p>
          <a:p>
            <a:pPr>
              <a:spcBef>
                <a:spcPct val="0"/>
              </a:spcBef>
              <a:buFontTx/>
              <a:buNone/>
            </a:pPr>
            <a:r>
              <a:rPr lang="pt-BR" altLang="pt-BR" sz="2400" dirty="0">
                <a:latin typeface="+mn-lt"/>
              </a:rPr>
              <a:t>Histórias de sucesso da MDE relatadas pelo OMG </a:t>
            </a:r>
            <a:r>
              <a:rPr lang="pt-BR" altLang="pt-BR" sz="2400" dirty="0" smtClean="0">
                <a:latin typeface="+mn-lt"/>
              </a:rPr>
              <a:t>(</a:t>
            </a:r>
            <a:r>
              <a:rPr lang="pt-BR" altLang="pt-BR" sz="2400" i="1" dirty="0" err="1" smtClean="0">
                <a:latin typeface="+mn-lt"/>
              </a:rPr>
              <a:t>Object</a:t>
            </a:r>
            <a:r>
              <a:rPr lang="pt-BR" altLang="pt-BR" sz="2400" i="1" dirty="0" smtClean="0">
                <a:latin typeface="+mn-lt"/>
              </a:rPr>
              <a:t> </a:t>
            </a:r>
            <a:r>
              <a:rPr lang="pt-BR" altLang="pt-BR" sz="2400" i="1" dirty="0" err="1" smtClean="0">
                <a:latin typeface="+mn-lt"/>
              </a:rPr>
              <a:t>Managment</a:t>
            </a:r>
            <a:r>
              <a:rPr lang="pt-BR" altLang="pt-BR" sz="2400" i="1" dirty="0" smtClean="0">
                <a:latin typeface="+mn-lt"/>
              </a:rPr>
              <a:t> </a:t>
            </a:r>
            <a:r>
              <a:rPr lang="pt-BR" altLang="pt-BR" sz="2400" i="1" dirty="0" err="1" smtClean="0">
                <a:latin typeface="+mn-lt"/>
              </a:rPr>
              <a:t>group</a:t>
            </a:r>
            <a:r>
              <a:rPr lang="pt-BR" altLang="pt-BR" sz="2400" dirty="0" smtClean="0">
                <a:latin typeface="+mn-lt"/>
              </a:rPr>
              <a:t>) na Internet . </a:t>
            </a:r>
          </a:p>
          <a:p>
            <a:pPr>
              <a:spcBef>
                <a:spcPct val="0"/>
              </a:spcBef>
              <a:buFontTx/>
              <a:buNone/>
            </a:pPr>
            <a:r>
              <a:rPr lang="pt-BR" altLang="pt-BR" sz="2400" dirty="0">
                <a:latin typeface="+mn-lt"/>
              </a:rPr>
              <a:t>U</a:t>
            </a:r>
            <a:r>
              <a:rPr lang="pt-BR" altLang="pt-BR" sz="2400" dirty="0" smtClean="0">
                <a:latin typeface="+mn-lt"/>
              </a:rPr>
              <a:t>sada </a:t>
            </a:r>
            <a:r>
              <a:rPr lang="pt-BR" altLang="pt-BR" sz="2400" dirty="0">
                <a:latin typeface="+mn-lt"/>
              </a:rPr>
              <a:t>em grandes empresas, como a IBM e a Siemens. </a:t>
            </a:r>
          </a:p>
          <a:p>
            <a:pPr>
              <a:spcBef>
                <a:spcPct val="0"/>
              </a:spcBef>
              <a:buFontTx/>
              <a:buNone/>
            </a:pPr>
            <a:r>
              <a:rPr lang="pt-BR" altLang="pt-BR" sz="2400" dirty="0">
                <a:latin typeface="+mn-lt"/>
              </a:rPr>
              <a:t>As técnicas têm sido </a:t>
            </a:r>
            <a:r>
              <a:rPr lang="pt-BR" altLang="pt-BR" sz="2400" dirty="0" smtClean="0">
                <a:latin typeface="+mn-lt"/>
              </a:rPr>
              <a:t>sucesso </a:t>
            </a:r>
            <a:r>
              <a:rPr lang="pt-BR" altLang="pt-BR" sz="2400" dirty="0">
                <a:latin typeface="+mn-lt"/>
              </a:rPr>
              <a:t>no desenvolvimento de grandes sistemas de software com ciclos duradouros, como sistemas de gerenciamento do tráfego aéreo. </a:t>
            </a:r>
          </a:p>
          <a:p>
            <a:pPr>
              <a:spcBef>
                <a:spcPct val="0"/>
              </a:spcBef>
              <a:buFontTx/>
              <a:buNone/>
            </a:pPr>
            <a:r>
              <a:rPr lang="pt-BR" altLang="pt-BR" sz="2400" dirty="0">
                <a:latin typeface="+mn-lt"/>
              </a:rPr>
              <a:t>No entanto, abordagens dirigidas a modelos não estavam sendo amplamente usadas pela engenharia de software. </a:t>
            </a:r>
          </a:p>
          <a:p>
            <a:pPr>
              <a:spcBef>
                <a:spcPct val="0"/>
              </a:spcBef>
              <a:buFontTx/>
              <a:buNone/>
            </a:pPr>
            <a:endParaRPr lang="pt-BR" altLang="pt-BR" sz="2400" dirty="0">
              <a:latin typeface="+mn-lt"/>
            </a:endParaRPr>
          </a:p>
        </p:txBody>
      </p:sp>
    </p:spTree>
    <p:extLst>
      <p:ext uri="{BB962C8B-B14F-4D97-AF65-F5344CB8AC3E}">
        <p14:creationId xmlns:p14="http://schemas.microsoft.com/office/powerpoint/2010/main" val="176102996"/>
      </p:ext>
    </p:extLst>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0690" name="Espaço Reservado para Número de Slide 5"/>
          <p:cNvSpPr>
            <a:spLocks noGrp="1"/>
          </p:cNvSpPr>
          <p:nvPr>
            <p:ph type="sldNum"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EAAB5BB0-DAB3-46E8-929D-14221852DA0C}" type="slidenum">
              <a:rPr lang="pt-PT" altLang="pt-BR" sz="1400"/>
              <a:pPr>
                <a:spcBef>
                  <a:spcPct val="0"/>
                </a:spcBef>
                <a:buFontTx/>
                <a:buNone/>
              </a:pPr>
              <a:t>49</a:t>
            </a:fld>
            <a:endParaRPr lang="pt-PT" altLang="pt-BR" sz="1400"/>
          </a:p>
        </p:txBody>
      </p:sp>
      <p:sp>
        <p:nvSpPr>
          <p:cNvPr id="370691" name="Rectangle 2"/>
          <p:cNvSpPr>
            <a:spLocks noGrp="1" noChangeArrowheads="1"/>
          </p:cNvSpPr>
          <p:nvPr>
            <p:ph type="ctrTitle"/>
          </p:nvPr>
        </p:nvSpPr>
        <p:spPr>
          <a:xfrm>
            <a:off x="1524001" y="1"/>
            <a:ext cx="9217025" cy="836613"/>
          </a:xfrm>
        </p:spPr>
        <p:txBody>
          <a:bodyPr anchor="ctr"/>
          <a:lstStyle/>
          <a:p>
            <a:pPr eaLnBrk="1" hangingPunct="1"/>
            <a:r>
              <a:rPr lang="pt-BR" altLang="pt-BR" sz="3600"/>
              <a:t>Engenharia dirigida a Modelos - MDE</a:t>
            </a:r>
            <a:endParaRPr lang="pt-PT" altLang="pt-BR" sz="3600"/>
          </a:p>
        </p:txBody>
      </p:sp>
      <p:sp>
        <p:nvSpPr>
          <p:cNvPr id="370692" name="Retângulo 1"/>
          <p:cNvSpPr>
            <a:spLocks noChangeArrowheads="1"/>
          </p:cNvSpPr>
          <p:nvPr/>
        </p:nvSpPr>
        <p:spPr bwMode="auto">
          <a:xfrm>
            <a:off x="-1212850" y="3030539"/>
            <a:ext cx="339725"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just" eaLnBrk="1" hangingPunct="1">
              <a:spcBef>
                <a:spcPct val="0"/>
              </a:spcBef>
              <a:buFontTx/>
              <a:buNone/>
            </a:pPr>
            <a:r>
              <a:rPr lang="pt-BR" altLang="pt-BR" sz="2400"/>
              <a:t>. </a:t>
            </a:r>
          </a:p>
        </p:txBody>
      </p:sp>
      <p:sp>
        <p:nvSpPr>
          <p:cNvPr id="370693" name="Retângulo 2"/>
          <p:cNvSpPr>
            <a:spLocks noChangeArrowheads="1"/>
          </p:cNvSpPr>
          <p:nvPr/>
        </p:nvSpPr>
        <p:spPr bwMode="auto">
          <a:xfrm>
            <a:off x="77638" y="836614"/>
            <a:ext cx="11913079" cy="37856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pt-BR" altLang="pt-BR" sz="2400" dirty="0" smtClean="0">
                <a:latin typeface="+mn-lt"/>
              </a:rPr>
              <a:t>Aula 16</a:t>
            </a:r>
          </a:p>
          <a:p>
            <a:pPr>
              <a:spcBef>
                <a:spcPct val="0"/>
              </a:spcBef>
              <a:buFontTx/>
              <a:buNone/>
            </a:pPr>
            <a:r>
              <a:rPr lang="pt-BR" altLang="pt-BR" sz="2400" dirty="0" smtClean="0">
                <a:latin typeface="+mn-lt"/>
              </a:rPr>
              <a:t>Aula 17</a:t>
            </a:r>
          </a:p>
          <a:p>
            <a:pPr>
              <a:spcBef>
                <a:spcPct val="0"/>
              </a:spcBef>
              <a:buFontTx/>
              <a:buNone/>
            </a:pPr>
            <a:r>
              <a:rPr lang="pt-BR" altLang="pt-BR" sz="2400" dirty="0" smtClean="0">
                <a:latin typeface="+mn-lt"/>
              </a:rPr>
              <a:t>Aula 18</a:t>
            </a:r>
          </a:p>
          <a:p>
            <a:pPr>
              <a:spcBef>
                <a:spcPct val="0"/>
              </a:spcBef>
              <a:buFontTx/>
              <a:buNone/>
            </a:pPr>
            <a:r>
              <a:rPr lang="pt-BR" altLang="pt-BR" sz="2400" dirty="0" smtClean="0">
                <a:latin typeface="+mn-lt"/>
              </a:rPr>
              <a:t>Aula 19</a:t>
            </a:r>
          </a:p>
          <a:p>
            <a:pPr>
              <a:spcBef>
                <a:spcPct val="0"/>
              </a:spcBef>
              <a:buFontTx/>
              <a:buNone/>
            </a:pPr>
            <a:r>
              <a:rPr lang="pt-BR" altLang="pt-BR" sz="2400" dirty="0" smtClean="0">
                <a:latin typeface="+mn-lt"/>
              </a:rPr>
              <a:t>Aula 21</a:t>
            </a:r>
          </a:p>
          <a:p>
            <a:pPr>
              <a:spcBef>
                <a:spcPct val="0"/>
              </a:spcBef>
              <a:buFontTx/>
              <a:buNone/>
            </a:pPr>
            <a:r>
              <a:rPr lang="pt-BR" altLang="pt-BR" sz="2400" dirty="0" smtClean="0">
                <a:latin typeface="+mn-lt"/>
              </a:rPr>
              <a:t>Aula 22</a:t>
            </a:r>
          </a:p>
          <a:p>
            <a:pPr>
              <a:spcBef>
                <a:spcPct val="0"/>
              </a:spcBef>
              <a:buFontTx/>
              <a:buNone/>
            </a:pPr>
            <a:r>
              <a:rPr lang="pt-BR" altLang="pt-BR" sz="2400" dirty="0" smtClean="0">
                <a:latin typeface="+mn-lt"/>
              </a:rPr>
              <a:t>Aula 23</a:t>
            </a:r>
          </a:p>
          <a:p>
            <a:pPr>
              <a:spcBef>
                <a:spcPct val="0"/>
              </a:spcBef>
              <a:buFontTx/>
              <a:buNone/>
            </a:pPr>
            <a:r>
              <a:rPr lang="pt-BR" altLang="pt-BR" sz="2400" dirty="0" smtClean="0">
                <a:latin typeface="+mn-lt"/>
              </a:rPr>
              <a:t>Aula 24</a:t>
            </a:r>
          </a:p>
          <a:p>
            <a:pPr>
              <a:spcBef>
                <a:spcPct val="0"/>
              </a:spcBef>
              <a:buFontTx/>
              <a:buNone/>
            </a:pPr>
            <a:endParaRPr lang="pt-BR" altLang="pt-BR" sz="2400" dirty="0">
              <a:latin typeface="+mn-lt"/>
            </a:endParaRPr>
          </a:p>
          <a:p>
            <a:pPr>
              <a:spcBef>
                <a:spcPct val="0"/>
              </a:spcBef>
              <a:buFontTx/>
              <a:buNone/>
            </a:pPr>
            <a:endParaRPr lang="pt-BR" altLang="pt-BR" sz="2400" dirty="0">
              <a:latin typeface="+mn-lt"/>
            </a:endParaRPr>
          </a:p>
        </p:txBody>
      </p:sp>
    </p:spTree>
    <p:extLst>
      <p:ext uri="{BB962C8B-B14F-4D97-AF65-F5344CB8AC3E}">
        <p14:creationId xmlns:p14="http://schemas.microsoft.com/office/powerpoint/2010/main" val="2969913956"/>
      </p:ext>
    </p:extLst>
  </p:cSld>
  <p:clrMapOvr>
    <a:masterClrMapping/>
  </p:clrMapOvr>
  <p:timing>
    <p:tnLst>
      <p:par>
        <p:cTn id="1" dur="indefinite" restart="never" nodeType="tmRoot"/>
      </p:par>
    </p:tnLst>
  </p:timing>
</p:sld>
</file>

<file path=ppt/theme/theme1.xml><?xml version="1.0" encoding="utf-8"?>
<a:theme xmlns:a="http://schemas.openxmlformats.org/drawingml/2006/main" name="Tema do Office">
  <a:themeElements>
    <a:clrScheme name="Escritório">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Escritório">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Escritório">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Escritório">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themeOverride>
</file>

<file path=ppt/theme/themeOverride2.xml><?xml version="1.0" encoding="utf-8"?>
<a:themeOverride xmlns:a="http://schemas.openxmlformats.org/drawingml/2006/main">
  <a:clrScheme name="Escritório">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themeOverride>
</file>

<file path=docProps/app.xml><?xml version="1.0" encoding="utf-8"?>
<Properties xmlns="http://schemas.openxmlformats.org/officeDocument/2006/extended-properties" xmlns:vt="http://schemas.openxmlformats.org/officeDocument/2006/docPropsVTypes">
  <Template/>
  <TotalTime>407</TotalTime>
  <Words>5503</Words>
  <Application>Microsoft Office PowerPoint</Application>
  <PresentationFormat>Widescreen</PresentationFormat>
  <Paragraphs>531</Paragraphs>
  <Slides>49</Slides>
  <Notes>0</Notes>
  <HiddenSlides>0</HiddenSlides>
  <MMClips>0</MMClips>
  <ScaleCrop>false</ScaleCrop>
  <HeadingPairs>
    <vt:vector size="6" baseType="variant">
      <vt:variant>
        <vt:lpstr>Fontes usadas</vt:lpstr>
      </vt:variant>
      <vt:variant>
        <vt:i4>4</vt:i4>
      </vt:variant>
      <vt:variant>
        <vt:lpstr>Tema</vt:lpstr>
      </vt:variant>
      <vt:variant>
        <vt:i4>1</vt:i4>
      </vt:variant>
      <vt:variant>
        <vt:lpstr>Títulos de slides</vt:lpstr>
      </vt:variant>
      <vt:variant>
        <vt:i4>49</vt:i4>
      </vt:variant>
    </vt:vector>
  </HeadingPairs>
  <TitlesOfParts>
    <vt:vector size="54" baseType="lpstr">
      <vt:lpstr>Arial</vt:lpstr>
      <vt:lpstr>Calibri</vt:lpstr>
      <vt:lpstr>Calibri Light</vt:lpstr>
      <vt:lpstr>Times New Roman</vt:lpstr>
      <vt:lpstr>Tema do Office</vt:lpstr>
      <vt:lpstr>Modelagem de sistemas</vt:lpstr>
      <vt:lpstr>Modelagem de sistemas</vt:lpstr>
      <vt:lpstr>Modelos</vt:lpstr>
      <vt:lpstr>Modelos</vt:lpstr>
      <vt:lpstr>UML</vt:lpstr>
      <vt:lpstr>UML – MODELO DE CONTEXTO</vt:lpstr>
      <vt:lpstr>UML – MODELO DE CONTEXTO</vt:lpstr>
      <vt:lpstr>UML – MODELO DE CONTEXTO</vt:lpstr>
      <vt:lpstr>UML – MODELO DE CONTEXTO</vt:lpstr>
      <vt:lpstr>UML – MODELO DE CONTEXTO</vt:lpstr>
      <vt:lpstr>UML – MODELO DE CONTEXTO</vt:lpstr>
      <vt:lpstr>UML – DIAGRAMA DE ATIVIDADES</vt:lpstr>
      <vt:lpstr>UML – DIAGRAMA DE ATIVIDADES</vt:lpstr>
      <vt:lpstr>UML – MODELAGEM DE INTERAÇÃO</vt:lpstr>
      <vt:lpstr>UML – MODELO DE INTERAÇÃO- Casos de Uso</vt:lpstr>
      <vt:lpstr>UML – MODELO DE INTERAÇÃO – caso de uso</vt:lpstr>
      <vt:lpstr>UML – MODELO DE INTERAÇÃO – caso de uso</vt:lpstr>
      <vt:lpstr>UML – MODELO DE INTERAÇÃO</vt:lpstr>
      <vt:lpstr>UML – MODELO DE INTERAÇÃO</vt:lpstr>
      <vt:lpstr>UML – MODELO DE INTERAÇÃO Diagrama de Sequencia</vt:lpstr>
      <vt:lpstr>UML – MODELO DE INTERAÇÃO – Diagrama de sequencia</vt:lpstr>
      <vt:lpstr>UML – MODELO DE INTERAÇÃO</vt:lpstr>
      <vt:lpstr>UML – MODELOS ESTRUTURAIS</vt:lpstr>
      <vt:lpstr>UML – MODELOS ESTRUTURAIS – Diagrama de Classes</vt:lpstr>
      <vt:lpstr>UML – MODELOS ESTRUTURAIS – Diagrama de Classes UML</vt:lpstr>
      <vt:lpstr>UML – MODELOS ESTRUTURAIS – Diagrama de Classes UML</vt:lpstr>
      <vt:lpstr>UML – MODELOS ESTRUTURAIS – Diagrama de Classes UML</vt:lpstr>
      <vt:lpstr>UML – MODELOS ESTRUTURAIS – Diagrama de Classes UML</vt:lpstr>
      <vt:lpstr>UML – MODELOS ESTRUTURAIS – Diagrama de Classes UML</vt:lpstr>
      <vt:lpstr>UML – MODELOS ESTRUTURAIS – Generalização</vt:lpstr>
      <vt:lpstr>UML – MODELOS ESTRUTURAIS – Generalização</vt:lpstr>
      <vt:lpstr>UML – MODELOS ESTRUTURAIS – Generalização</vt:lpstr>
      <vt:lpstr>UML – MODELOS ESTRUTURAIS – Generalização</vt:lpstr>
      <vt:lpstr>UML – MODELOS ESTRUTURAIS – Agregação</vt:lpstr>
      <vt:lpstr>UML – MODELOS COMPORTAMENTAIS</vt:lpstr>
      <vt:lpstr>UML – MODELOS COMPORTAMENTAIS – Modelagem orientada a dados</vt:lpstr>
      <vt:lpstr>UML – MODELOS COMPORTAMENTAIS – Modelagem orientada a dados</vt:lpstr>
      <vt:lpstr>UML – MODELOS COMPORTAMENTAIS – Modelagem orientada a dados</vt:lpstr>
      <vt:lpstr>UML – MODELOS COMPORTAMENTAIS – Modelagem orientada a dados</vt:lpstr>
      <vt:lpstr>UML – MODELOS COMPORTAMENTAIS – Modelagem Dirigida a eventos</vt:lpstr>
      <vt:lpstr>UML – MODELOS COMPORTAMENTAIS – Modelagem Dirigida a eventos</vt:lpstr>
      <vt:lpstr>UML – MODELOS COMPORTAMENTAIS – Modelagem Dirigida a eventos</vt:lpstr>
      <vt:lpstr>UML – MODELOS COMPORTAMENTAIS – Modelagem Dirigida a eventos</vt:lpstr>
      <vt:lpstr>UML – MODELOS COMPORTAMENTAIS – Modelagem Dirigida a eventos</vt:lpstr>
      <vt:lpstr>UML – MODELOS COMPORTAMENTAIS – Modelagem Dirigida a eventos</vt:lpstr>
      <vt:lpstr>Engenharia dirigida a Modelos - MDE</vt:lpstr>
      <vt:lpstr>Engenharia dirigida a Modelos - MDE</vt:lpstr>
      <vt:lpstr>Engenharia dirigida a Modelos - MDE</vt:lpstr>
      <vt:lpstr>Engenharia dirigida a Modelos - MDE</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Modelagem de sistemas</dc:title>
  <dc:creator>Marilee</dc:creator>
  <cp:lastModifiedBy>Marilee</cp:lastModifiedBy>
  <cp:revision>30</cp:revision>
  <dcterms:created xsi:type="dcterms:W3CDTF">2024-11-19T11:43:39Z</dcterms:created>
  <dcterms:modified xsi:type="dcterms:W3CDTF">2025-10-29T18:31:19Z</dcterms:modified>
</cp:coreProperties>
</file>