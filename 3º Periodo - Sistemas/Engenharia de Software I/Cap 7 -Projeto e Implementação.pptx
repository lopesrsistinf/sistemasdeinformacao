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2" r:id="rId36"/>
    <p:sldId id="290" r:id="rId37"/>
    <p:sldId id="291" r:id="rId38"/>
    <p:sldId id="293" r:id="rId39"/>
    <p:sldId id="294" r:id="rId40"/>
    <p:sldId id="295" r:id="rId41"/>
    <p:sldId id="296" r:id="rId42"/>
    <p:sldId id="298" r:id="rId43"/>
    <p:sldId id="299" r:id="rId44"/>
    <p:sldId id="300" r:id="rId45"/>
    <p:sldId id="301" r:id="rId46"/>
    <p:sldId id="332" r:id="rId47"/>
    <p:sldId id="302" r:id="rId48"/>
    <p:sldId id="303" r:id="rId49"/>
    <p:sldId id="306" r:id="rId50"/>
    <p:sldId id="307" r:id="rId51"/>
    <p:sldId id="305" r:id="rId52"/>
    <p:sldId id="308" r:id="rId53"/>
    <p:sldId id="309" r:id="rId54"/>
    <p:sldId id="310" r:id="rId55"/>
    <p:sldId id="311" r:id="rId56"/>
    <p:sldId id="333" r:id="rId57"/>
    <p:sldId id="312" r:id="rId58"/>
    <p:sldId id="313" r:id="rId59"/>
    <p:sldId id="314" r:id="rId60"/>
    <p:sldId id="315" r:id="rId61"/>
    <p:sldId id="316" r:id="rId62"/>
    <p:sldId id="334" r:id="rId63"/>
    <p:sldId id="317" r:id="rId64"/>
    <p:sldId id="318" r:id="rId65"/>
    <p:sldId id="319" r:id="rId66"/>
    <p:sldId id="320" r:id="rId67"/>
    <p:sldId id="321" r:id="rId68"/>
    <p:sldId id="322" r:id="rId69"/>
    <p:sldId id="325" r:id="rId70"/>
    <p:sldId id="324" r:id="rId71"/>
    <p:sldId id="323" r:id="rId72"/>
    <p:sldId id="326" r:id="rId73"/>
    <p:sldId id="327" r:id="rId74"/>
    <p:sldId id="328" r:id="rId75"/>
    <p:sldId id="329" r:id="rId76"/>
    <p:sldId id="330" r:id="rId7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7B0A-CC23-408B-BDBA-42E940BAE8BD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D7108-BEF5-4962-8E74-F3638E5AAF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1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7B0A-CC23-408B-BDBA-42E940BAE8BD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D7108-BEF5-4962-8E74-F3638E5AAF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651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7B0A-CC23-408B-BDBA-42E940BAE8BD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D7108-BEF5-4962-8E74-F3638E5AAF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4378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7B0A-CC23-408B-BDBA-42E940BAE8BD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D7108-BEF5-4962-8E74-F3638E5AAF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3750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7B0A-CC23-408B-BDBA-42E940BAE8BD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D7108-BEF5-4962-8E74-F3638E5AAF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8671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7B0A-CC23-408B-BDBA-42E940BAE8BD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D7108-BEF5-4962-8E74-F3638E5AAF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98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7B0A-CC23-408B-BDBA-42E940BAE8BD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D7108-BEF5-4962-8E74-F3638E5AAF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9468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7B0A-CC23-408B-BDBA-42E940BAE8BD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D7108-BEF5-4962-8E74-F3638E5AAF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3855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7B0A-CC23-408B-BDBA-42E940BAE8BD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D7108-BEF5-4962-8E74-F3638E5AAF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8315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7B0A-CC23-408B-BDBA-42E940BAE8BD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D7108-BEF5-4962-8E74-F3638E5AAF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8332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57B0A-CC23-408B-BDBA-42E940BAE8BD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D7108-BEF5-4962-8E74-F3638E5AAF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028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F57B0A-CC23-408B-BDBA-42E940BAE8BD}" type="datetimeFigureOut">
              <a:rPr lang="pt-BR" smtClean="0"/>
              <a:t>10/03/2025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D7108-BEF5-4962-8E74-F3638E5AAF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8931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Capitulo 7 -Projeto e Implementação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8327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Capitulo 7 – Projeto e Implementação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91706" y="1492370"/>
            <a:ext cx="11447252" cy="468459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dirty="0" smtClean="0"/>
              <a:t>Objetivos: </a:t>
            </a:r>
          </a:p>
          <a:p>
            <a:pPr marL="0" indent="0">
              <a:buNone/>
            </a:pPr>
            <a:r>
              <a:rPr lang="pt-BR" dirty="0" smtClean="0"/>
              <a:t>apresentar o projeto de software orientado a objetos usando a UML e destacar os interesses importantes de implementação. </a:t>
            </a:r>
          </a:p>
          <a:p>
            <a:pPr marL="0" indent="0">
              <a:buNone/>
            </a:pPr>
            <a:r>
              <a:rPr lang="pt-BR" dirty="0" smtClean="0"/>
              <a:t>compreender as atividades mais importantes em um processo geral de projeto orientado a objetos; </a:t>
            </a:r>
          </a:p>
          <a:p>
            <a:pPr marL="0" indent="0">
              <a:buNone/>
            </a:pPr>
            <a:r>
              <a:rPr lang="pt-BR" dirty="0" smtClean="0"/>
              <a:t>compreender alguns modelos que podem ser usados para documentar um projeto orientado a objetos; </a:t>
            </a:r>
          </a:p>
          <a:p>
            <a:pPr marL="0" indent="0">
              <a:buNone/>
            </a:pPr>
            <a:r>
              <a:rPr lang="pt-BR" dirty="0" smtClean="0"/>
              <a:t>conhecer a ideia de padrões de projeto e como eles são uma forma de reusar conhecimento e experiência de projeto; </a:t>
            </a:r>
          </a:p>
          <a:p>
            <a:pPr marL="0" indent="0">
              <a:buNone/>
            </a:pPr>
            <a:r>
              <a:rPr lang="pt-BR" dirty="0" smtClean="0"/>
              <a:t>Conhecer as questões fundamentais que precisam ser consideradas na implementação do software, incluindo o </a:t>
            </a:r>
            <a:r>
              <a:rPr lang="pt-BR" dirty="0" err="1" smtClean="0"/>
              <a:t>reúso</a:t>
            </a:r>
            <a:r>
              <a:rPr lang="pt-BR" dirty="0" smtClean="0"/>
              <a:t> e desenvolvimento open </a:t>
            </a:r>
            <a:r>
              <a:rPr lang="pt-BR" dirty="0" err="1" smtClean="0"/>
              <a:t>source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811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Capitulo 7 – Projeto e Implementação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36429" y="1440610"/>
            <a:ext cx="11792311" cy="52534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 smtClean="0"/>
              <a:t>Estágio do processo no qual um sistema de software é desenvolvido. </a:t>
            </a:r>
          </a:p>
          <a:p>
            <a:pPr marL="0" indent="0">
              <a:buNone/>
            </a:pPr>
            <a:r>
              <a:rPr lang="pt-BR" dirty="0" smtClean="0"/>
              <a:t>Sistemas simples: o projeto e implementação de software é a engenharia de software, e todas as outras atividades são intercaladas com esse processo. </a:t>
            </a:r>
          </a:p>
          <a:p>
            <a:pPr marL="0" indent="0">
              <a:buNone/>
            </a:pPr>
            <a:r>
              <a:rPr lang="pt-BR" dirty="0" smtClean="0"/>
              <a:t>Grandes sistemas: o projeto e implementação de software é apenas parte de um conjunto de processos (engenharia de requisitos, verificação e validação etc.) envolvidos na engenharia de software. </a:t>
            </a:r>
          </a:p>
          <a:p>
            <a:pPr marL="0" indent="0">
              <a:buNone/>
            </a:pPr>
            <a:r>
              <a:rPr lang="pt-BR" dirty="0" smtClean="0"/>
              <a:t>As atividades de projeto e implementação de software são invariavelmente intercaladas. </a:t>
            </a:r>
          </a:p>
          <a:p>
            <a:pPr marL="0" indent="0">
              <a:buNone/>
            </a:pPr>
            <a:r>
              <a:rPr lang="pt-BR" dirty="0" smtClean="0"/>
              <a:t>O projeto de software é uma atividade criativa para se identificar os componentes de software e seus relacionamentos com base nos requisitos do cliente.</a:t>
            </a:r>
          </a:p>
          <a:p>
            <a:pPr marL="0" indent="0">
              <a:buNone/>
            </a:pPr>
            <a:r>
              <a:rPr lang="pt-BR" dirty="0" smtClean="0"/>
              <a:t>A implementação é o processo de concretização do projeto como um programa.</a:t>
            </a:r>
          </a:p>
          <a:p>
            <a:pPr marL="0" indent="0">
              <a:buNone/>
            </a:pPr>
            <a:r>
              <a:rPr lang="pt-BR" dirty="0" smtClean="0"/>
              <a:t> O projeto é modelado e documentado ou está ‘na cabeça’ do programador ou esboçado em um quadro ou em papel. </a:t>
            </a:r>
          </a:p>
          <a:p>
            <a:pPr marL="0" indent="0">
              <a:buNone/>
            </a:pPr>
            <a:r>
              <a:rPr lang="pt-BR" dirty="0" smtClean="0"/>
              <a:t>Um projeto trata de como resolver um problema: sempre existe um processo de projeto. </a:t>
            </a:r>
          </a:p>
          <a:p>
            <a:pPr marL="0" indent="0">
              <a:buNone/>
            </a:pPr>
            <a:r>
              <a:rPr lang="pt-BR" dirty="0" smtClean="0"/>
              <a:t>Nem sempre é necessário ou apropriado descrever o projeto em detalhes usando a UML ou outra linguagem de descrição.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3991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Capitulo 7 – Projeto e Implementação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36429" y="1440610"/>
            <a:ext cx="11792311" cy="525348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pt-BR" dirty="0" smtClean="0"/>
              <a:t>O projeto e a implementação estão intimamente ligados</a:t>
            </a:r>
          </a:p>
          <a:p>
            <a:pPr marL="0" indent="0">
              <a:buNone/>
            </a:pPr>
            <a:r>
              <a:rPr lang="pt-BR" dirty="0" smtClean="0"/>
              <a:t>Projeto: levar em consideração os problemas de implementação. </a:t>
            </a:r>
            <a:r>
              <a:rPr lang="pt-BR" dirty="0" err="1" smtClean="0"/>
              <a:t>Ex</a:t>
            </a:r>
            <a:r>
              <a:rPr lang="pt-BR" dirty="0" smtClean="0"/>
              <a:t>: usar a UML para documentar um projeto pode ser a coisa certa a fazer se estiver programando em uma linguagem orientada a objetos como Java ou C#. </a:t>
            </a:r>
          </a:p>
          <a:p>
            <a:pPr marL="0" indent="0">
              <a:buNone/>
            </a:pPr>
            <a:r>
              <a:rPr lang="pt-BR" dirty="0" smtClean="0"/>
              <a:t>Menos útil: em desenvolvimento em uma linguagem com </a:t>
            </a:r>
            <a:r>
              <a:rPr lang="pt-BR" dirty="0" err="1" smtClean="0"/>
              <a:t>tipagem</a:t>
            </a:r>
            <a:r>
              <a:rPr lang="pt-BR" dirty="0" smtClean="0"/>
              <a:t> dinâmica como Python, </a:t>
            </a:r>
            <a:endParaRPr lang="pt-BR" dirty="0"/>
          </a:p>
          <a:p>
            <a:pPr marL="0" indent="0">
              <a:buNone/>
            </a:pPr>
            <a:r>
              <a:rPr lang="pt-BR" dirty="0" smtClean="0"/>
              <a:t>Sem sentido:  implementando sistema, configurando um pacote de prateleira. </a:t>
            </a:r>
          </a:p>
          <a:p>
            <a:pPr marL="0" indent="0">
              <a:buNone/>
            </a:pPr>
            <a:r>
              <a:rPr lang="pt-BR" dirty="0" smtClean="0"/>
              <a:t>Métodos ágeis funcionam a partir de esboços informais do projeto e deixam muitas decisões para os programadores. </a:t>
            </a:r>
          </a:p>
          <a:p>
            <a:pPr marL="0" indent="0">
              <a:buNone/>
            </a:pPr>
            <a:r>
              <a:rPr lang="pt-BR" dirty="0" smtClean="0"/>
              <a:t>Uma das decisões de implementação mais importantes no estágio inicial de um projeto de software: comprar ou construir o software de aplicação. </a:t>
            </a:r>
          </a:p>
          <a:p>
            <a:pPr marL="0" indent="0">
              <a:buNone/>
            </a:pPr>
            <a:r>
              <a:rPr lang="pt-BR" dirty="0" smtClean="0"/>
              <a:t>Pode-se comprar sistemas de prateleira (COTS, </a:t>
            </a:r>
            <a:r>
              <a:rPr lang="pt-BR" dirty="0" err="1" smtClean="0"/>
              <a:t>commercial</a:t>
            </a:r>
            <a:r>
              <a:rPr lang="pt-BR" dirty="0" smtClean="0"/>
              <a:t> off-</a:t>
            </a:r>
            <a:r>
              <a:rPr lang="pt-BR" dirty="0" err="1" smtClean="0"/>
              <a:t>the</a:t>
            </a:r>
            <a:r>
              <a:rPr lang="pt-BR" dirty="0" smtClean="0"/>
              <a:t>-</a:t>
            </a:r>
            <a:r>
              <a:rPr lang="pt-BR" dirty="0" err="1" smtClean="0"/>
              <a:t>shelf</a:t>
            </a:r>
            <a:r>
              <a:rPr lang="pt-BR" dirty="0" smtClean="0"/>
              <a:t> ) em uma ampla variedade de domínios. Os sistemas podem ser adaptados e ajustados aos requisitos dos usuários. </a:t>
            </a:r>
            <a:r>
              <a:rPr lang="pt-BR" dirty="0" err="1" smtClean="0"/>
              <a:t>Ex</a:t>
            </a:r>
            <a:r>
              <a:rPr lang="pt-BR" dirty="0" smtClean="0"/>
              <a:t>: um sistema de prontuário médico  pode ser comprado (pacote) se já é usado em hospitais. Essa abordagem pode ser mais barata e rápida do que desenvolver um sistema em uma linguagem de programação convencional.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6584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Capitulo 7 – Projeto e Implementação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36429" y="1440610"/>
            <a:ext cx="11792311" cy="52534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Sistemas de prateleira: o processo de projeto preocupa-se em ‘como’ usar os recursos de configuração desse sistema para cumprir os requisitos do sistema. Usualmente, não se desenvolve modelos de projeto do sistema, como modelos de objetos do sistema e suas interações. </a:t>
            </a:r>
          </a:p>
          <a:p>
            <a:pPr marL="0" indent="0">
              <a:buNone/>
            </a:pPr>
            <a:r>
              <a:rPr lang="pt-BR" dirty="0"/>
              <a:t>E</a:t>
            </a:r>
            <a:r>
              <a:rPr lang="pt-BR" dirty="0" smtClean="0"/>
              <a:t>ste capítulo tem dois objetivos: </a:t>
            </a:r>
          </a:p>
          <a:p>
            <a:pPr marL="514350" indent="-514350">
              <a:buAutoNum type="arabicPeriod"/>
            </a:pPr>
            <a:r>
              <a:rPr lang="pt-BR" dirty="0" smtClean="0"/>
              <a:t>Mostrar como a modelagem de sistema e o projeto de arquitetura (tratados nos capítulos 5 e 6) são colocados em prática no desenvolvimento de um projeto de software orientado a objetos. </a:t>
            </a:r>
          </a:p>
          <a:p>
            <a:pPr marL="0" indent="0">
              <a:buNone/>
            </a:pPr>
            <a:r>
              <a:rPr lang="pt-BR" dirty="0" smtClean="0"/>
              <a:t>2. Apresentar questões importantes de implementação como o </a:t>
            </a:r>
            <a:r>
              <a:rPr lang="pt-BR" dirty="0" err="1" smtClean="0"/>
              <a:t>reúso</a:t>
            </a:r>
            <a:r>
              <a:rPr lang="pt-BR" dirty="0" smtClean="0"/>
              <a:t> de software, o gerenciamento de configuração e o desenvolvimento open </a:t>
            </a:r>
            <a:r>
              <a:rPr lang="pt-BR" dirty="0" err="1" smtClean="0"/>
              <a:t>source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7074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6264" y="69011"/>
            <a:ext cx="12105736" cy="1621677"/>
          </a:xfrm>
        </p:spPr>
        <p:txBody>
          <a:bodyPr/>
          <a:lstStyle/>
          <a:p>
            <a:r>
              <a:rPr lang="pt-BR" dirty="0" smtClean="0"/>
              <a:t>Capitulo 7 –Projeto orientado a objetos com UML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6265" y="1388854"/>
            <a:ext cx="12042476" cy="530524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 smtClean="0"/>
              <a:t>S</a:t>
            </a:r>
            <a:r>
              <a:rPr lang="pt-BR" dirty="0" smtClean="0"/>
              <a:t>istema </a:t>
            </a:r>
            <a:r>
              <a:rPr lang="pt-BR" dirty="0" smtClean="0"/>
              <a:t>orientado a </a:t>
            </a:r>
            <a:r>
              <a:rPr lang="pt-BR" dirty="0" smtClean="0"/>
              <a:t>objetos: </a:t>
            </a:r>
            <a:r>
              <a:rPr lang="pt-BR" dirty="0" smtClean="0"/>
              <a:t>composto de objetos interativos que mantêm seu estado local e oferecem operações nesse estado. </a:t>
            </a:r>
          </a:p>
          <a:p>
            <a:pPr marL="0" indent="0">
              <a:buNone/>
            </a:pPr>
            <a:r>
              <a:rPr lang="pt-BR" dirty="0" smtClean="0"/>
              <a:t>A representação do estado é privada e não pode ser acessada de fora do objeto. </a:t>
            </a:r>
          </a:p>
          <a:p>
            <a:pPr marL="0" indent="0">
              <a:buNone/>
            </a:pPr>
            <a:r>
              <a:rPr lang="pt-BR" dirty="0" smtClean="0"/>
              <a:t>Processos de projeto orientado a </a:t>
            </a:r>
            <a:r>
              <a:rPr lang="pt-BR" dirty="0" smtClean="0"/>
              <a:t>objetos: </a:t>
            </a:r>
            <a:r>
              <a:rPr lang="pt-BR" dirty="0" smtClean="0"/>
              <a:t>projetar as classes de objetos e os relacionamentos entre essas classes.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Sistemas </a:t>
            </a:r>
            <a:r>
              <a:rPr lang="pt-BR" dirty="0" smtClean="0"/>
              <a:t>orientados a </a:t>
            </a:r>
            <a:r>
              <a:rPr lang="pt-BR" dirty="0" smtClean="0"/>
              <a:t>objetos: </a:t>
            </a:r>
            <a:r>
              <a:rPr lang="pt-BR" dirty="0" smtClean="0"/>
              <a:t>mais fáceis de mudar do que os sistemas desenvolvidos com abordagens funcionais.</a:t>
            </a:r>
          </a:p>
          <a:p>
            <a:pPr marL="0" indent="0">
              <a:buNone/>
            </a:pPr>
            <a:r>
              <a:rPr lang="pt-BR" dirty="0" smtClean="0"/>
              <a:t> Os objetos incluem os dados e as operações para manipulá-los, podendo ser entendidos e modificados como entidades autônomas. </a:t>
            </a:r>
          </a:p>
          <a:p>
            <a:pPr marL="0" indent="0">
              <a:buNone/>
            </a:pPr>
            <a:r>
              <a:rPr lang="pt-BR" dirty="0" smtClean="0"/>
              <a:t>Alterar </a:t>
            </a:r>
            <a:r>
              <a:rPr lang="pt-BR" dirty="0" smtClean="0"/>
              <a:t>um objeto ou adicionar </a:t>
            </a:r>
            <a:r>
              <a:rPr lang="pt-BR" dirty="0" smtClean="0"/>
              <a:t>serviços: </a:t>
            </a:r>
            <a:r>
              <a:rPr lang="pt-BR" dirty="0" smtClean="0"/>
              <a:t>não deve afetar outros objetos do sistema. Como os objetos são associados com coisas, muitas vezes existe um mapeamento claro entre entidades do mundo real (como componentes de hardware) e seus objetos de controle no sistema, o que melhora a inteligibilidade </a:t>
            </a:r>
            <a:r>
              <a:rPr lang="pt-BR" dirty="0" smtClean="0"/>
              <a:t>e </a:t>
            </a:r>
            <a:r>
              <a:rPr lang="pt-BR" dirty="0" smtClean="0"/>
              <a:t>a </a:t>
            </a:r>
            <a:r>
              <a:rPr lang="pt-BR" dirty="0" err="1" smtClean="0"/>
              <a:t>manuteniblidade</a:t>
            </a:r>
            <a:r>
              <a:rPr lang="pt-BR" dirty="0" smtClean="0"/>
              <a:t> do projeto.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2782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6264" y="69011"/>
            <a:ext cx="12105736" cy="1621677"/>
          </a:xfrm>
        </p:spPr>
        <p:txBody>
          <a:bodyPr/>
          <a:lstStyle/>
          <a:p>
            <a:r>
              <a:rPr lang="pt-BR" dirty="0" smtClean="0"/>
              <a:t>Capitulo 7 –Projeto orientado a objetos com UML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36429" y="1440610"/>
            <a:ext cx="11792311" cy="52534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Para desenvolver um projeto de um sistema desde o conceito até o projeto detalhado orientado a objeto, deve-se:</a:t>
            </a:r>
          </a:p>
          <a:p>
            <a:pPr marL="514350" indent="-514350">
              <a:buAutoNum type="arabicPeriod"/>
            </a:pPr>
            <a:r>
              <a:rPr lang="pt-BR" dirty="0" smtClean="0"/>
              <a:t>Compreender e definir o contexto e as interações externas com o sistema. </a:t>
            </a:r>
          </a:p>
          <a:p>
            <a:pPr marL="0" indent="0">
              <a:buNone/>
            </a:pPr>
            <a:r>
              <a:rPr lang="pt-BR" dirty="0" smtClean="0"/>
              <a:t>2. Projetar a arquitetura do sistema. </a:t>
            </a:r>
          </a:p>
          <a:p>
            <a:pPr marL="0" indent="0">
              <a:buNone/>
            </a:pPr>
            <a:r>
              <a:rPr lang="pt-BR" dirty="0" smtClean="0"/>
              <a:t>3. Identificar os principais objetos do sistema. </a:t>
            </a:r>
          </a:p>
          <a:p>
            <a:pPr marL="0" indent="0">
              <a:buNone/>
            </a:pPr>
            <a:r>
              <a:rPr lang="pt-BR" dirty="0" smtClean="0"/>
              <a:t>4. Desenvolver modelos de projeto. </a:t>
            </a:r>
          </a:p>
          <a:p>
            <a:pPr marL="0" indent="0">
              <a:buNone/>
            </a:pPr>
            <a:r>
              <a:rPr lang="pt-BR" dirty="0" smtClean="0"/>
              <a:t>5. Especificar interfaces.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70028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6264" y="69011"/>
            <a:ext cx="12105736" cy="1621677"/>
          </a:xfrm>
        </p:spPr>
        <p:txBody>
          <a:bodyPr/>
          <a:lstStyle/>
          <a:p>
            <a:r>
              <a:rPr lang="pt-BR" dirty="0" smtClean="0"/>
              <a:t>Capitulo 7 –Projeto orientado a objetos com UML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36429" y="1440610"/>
            <a:ext cx="11792311" cy="52534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P</a:t>
            </a:r>
            <a:r>
              <a:rPr lang="pt-BR" dirty="0" smtClean="0"/>
              <a:t>rojeto </a:t>
            </a:r>
            <a:r>
              <a:rPr lang="pt-BR" dirty="0"/>
              <a:t>não é um processo </a:t>
            </a:r>
            <a:r>
              <a:rPr lang="pt-BR" dirty="0" smtClean="0"/>
              <a:t>sequencial. </a:t>
            </a:r>
          </a:p>
          <a:p>
            <a:pPr marL="0" indent="0">
              <a:buNone/>
            </a:pPr>
            <a:r>
              <a:rPr lang="pt-BR" dirty="0" smtClean="0"/>
              <a:t>Projeto: </a:t>
            </a:r>
            <a:r>
              <a:rPr lang="pt-BR" dirty="0"/>
              <a:t>ideias, </a:t>
            </a:r>
            <a:r>
              <a:rPr lang="pt-BR" dirty="0" smtClean="0"/>
              <a:t>proposta e refinamento  de </a:t>
            </a:r>
            <a:r>
              <a:rPr lang="pt-BR" dirty="0"/>
              <a:t>soluções </a:t>
            </a:r>
            <a:r>
              <a:rPr lang="pt-BR" dirty="0" smtClean="0"/>
              <a:t>assim </a:t>
            </a:r>
            <a:r>
              <a:rPr lang="pt-BR" dirty="0"/>
              <a:t>que as informações ficam disponíveis.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Problemas: voltar </a:t>
            </a:r>
            <a:r>
              <a:rPr lang="pt-BR" dirty="0"/>
              <a:t>atrás e tentar </a:t>
            </a:r>
            <a:r>
              <a:rPr lang="pt-BR" dirty="0" smtClean="0"/>
              <a:t>novamente:  exploram-se opções </a:t>
            </a:r>
            <a:r>
              <a:rPr lang="pt-BR" dirty="0"/>
              <a:t>detalhadamente para ver se elas funcionam; em outros momentos, </a:t>
            </a:r>
            <a:r>
              <a:rPr lang="pt-BR" dirty="0" smtClean="0"/>
              <a:t>ignoram-se </a:t>
            </a:r>
            <a:r>
              <a:rPr lang="pt-BR" dirty="0"/>
              <a:t>os detalhes até o fim do processo, porque isso </a:t>
            </a:r>
            <a:r>
              <a:rPr lang="pt-BR" dirty="0" smtClean="0"/>
              <a:t>implica na </a:t>
            </a:r>
            <a:r>
              <a:rPr lang="pt-BR" dirty="0"/>
              <a:t>possibilidade de o projeto ser pensado como uma sequência de atividades. 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E</a:t>
            </a:r>
            <a:r>
              <a:rPr lang="pt-BR" dirty="0" smtClean="0"/>
              <a:t>ssas </a:t>
            </a:r>
            <a:r>
              <a:rPr lang="pt-BR" dirty="0"/>
              <a:t>atividades são intercaladas e, assim, influenciam-se mutuamente. </a:t>
            </a:r>
          </a:p>
        </p:txBody>
      </p:sp>
    </p:spTree>
    <p:extLst>
      <p:ext uri="{BB962C8B-B14F-4D97-AF65-F5344CB8AC3E}">
        <p14:creationId xmlns:p14="http://schemas.microsoft.com/office/powerpoint/2010/main" val="694431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 smtClean="0"/>
              <a:t>7.1.1 </a:t>
            </a:r>
            <a:r>
              <a:rPr lang="pt-BR" dirty="0"/>
              <a:t>Contexto e interações do sistema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P</a:t>
            </a:r>
            <a:r>
              <a:rPr lang="pt-BR" dirty="0" smtClean="0"/>
              <a:t>rimeiro </a:t>
            </a:r>
            <a:r>
              <a:rPr lang="pt-BR" dirty="0"/>
              <a:t>estágio </a:t>
            </a:r>
            <a:r>
              <a:rPr lang="pt-BR" dirty="0" smtClean="0"/>
              <a:t>do </a:t>
            </a:r>
            <a:r>
              <a:rPr lang="pt-BR" dirty="0"/>
              <a:t>processo de projeto de </a:t>
            </a:r>
            <a:r>
              <a:rPr lang="pt-BR" dirty="0" smtClean="0"/>
              <a:t>software: </a:t>
            </a:r>
            <a:r>
              <a:rPr lang="pt-BR" dirty="0"/>
              <a:t>desenvolvimento </a:t>
            </a:r>
            <a:r>
              <a:rPr lang="pt-BR" dirty="0" smtClean="0"/>
              <a:t>da </a:t>
            </a:r>
            <a:r>
              <a:rPr lang="pt-BR" dirty="0"/>
              <a:t>compreensão dos relacionamentos entre o </a:t>
            </a:r>
            <a:r>
              <a:rPr lang="pt-BR" dirty="0" smtClean="0"/>
              <a:t>software </a:t>
            </a:r>
            <a:r>
              <a:rPr lang="pt-BR" dirty="0"/>
              <a:t>e seu ambiente </a:t>
            </a:r>
            <a:r>
              <a:rPr lang="pt-BR" dirty="0" smtClean="0"/>
              <a:t>externo</a:t>
            </a:r>
            <a:r>
              <a:rPr lang="pt-BR" dirty="0"/>
              <a:t> </a:t>
            </a:r>
            <a:r>
              <a:rPr lang="pt-BR" dirty="0" smtClean="0"/>
              <a:t>- essencial </a:t>
            </a:r>
            <a:r>
              <a:rPr lang="pt-BR" dirty="0"/>
              <a:t>para </a:t>
            </a:r>
            <a:r>
              <a:rPr lang="pt-BR" dirty="0" smtClean="0"/>
              <a:t>decidir </a:t>
            </a:r>
            <a:r>
              <a:rPr lang="pt-BR" dirty="0"/>
              <a:t>como oferecer a funcionalidade requerida para o sistema e como estruturar o sistema para se comunicar com seu </a:t>
            </a:r>
            <a:r>
              <a:rPr lang="pt-BR" dirty="0" smtClean="0"/>
              <a:t>ambiente</a:t>
            </a:r>
            <a:r>
              <a:rPr lang="pt-BR" dirty="0"/>
              <a:t> </a:t>
            </a:r>
            <a:r>
              <a:rPr lang="pt-BR" dirty="0" smtClean="0"/>
              <a:t>- permite </a:t>
            </a:r>
            <a:r>
              <a:rPr lang="pt-BR" dirty="0"/>
              <a:t>estabelecer os limites do </a:t>
            </a:r>
            <a:r>
              <a:rPr lang="pt-BR" dirty="0" smtClean="0"/>
              <a:t>sistema que ajuda </a:t>
            </a:r>
            <a:r>
              <a:rPr lang="pt-BR" dirty="0"/>
              <a:t>a decidir quais recursos serão implementados no </a:t>
            </a:r>
            <a:r>
              <a:rPr lang="pt-BR" dirty="0" smtClean="0"/>
              <a:t>sistema </a:t>
            </a:r>
            <a:r>
              <a:rPr lang="pt-BR" dirty="0"/>
              <a:t>e quais recursos estão em outros sistemas associados.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Modelos </a:t>
            </a:r>
            <a:r>
              <a:rPr lang="pt-BR" dirty="0"/>
              <a:t>de contexto do sistema e </a:t>
            </a:r>
            <a:r>
              <a:rPr lang="pt-BR" dirty="0" smtClean="0"/>
              <a:t>de </a:t>
            </a:r>
            <a:r>
              <a:rPr lang="pt-BR" dirty="0"/>
              <a:t>interação apresentam visões complementares dos </a:t>
            </a:r>
            <a:r>
              <a:rPr lang="pt-BR" dirty="0" smtClean="0"/>
              <a:t>relacionamentos </a:t>
            </a:r>
            <a:r>
              <a:rPr lang="pt-BR" dirty="0"/>
              <a:t>entre um sistema e seu ambiente: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/>
              <a:t>M</a:t>
            </a:r>
            <a:r>
              <a:rPr lang="pt-BR" dirty="0" smtClean="0"/>
              <a:t>odelo </a:t>
            </a:r>
            <a:r>
              <a:rPr lang="pt-BR" dirty="0"/>
              <a:t>de contexto do </a:t>
            </a:r>
            <a:r>
              <a:rPr lang="pt-BR" dirty="0" smtClean="0"/>
              <a:t>sistema: </a:t>
            </a:r>
            <a:r>
              <a:rPr lang="pt-BR" dirty="0"/>
              <a:t>estrutural, que demonstra os outros sistemas no ambiente do sistema a ser desenvolvido.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2</a:t>
            </a:r>
            <a:r>
              <a:rPr lang="pt-BR" dirty="0"/>
              <a:t>. M</a:t>
            </a:r>
            <a:r>
              <a:rPr lang="pt-BR" dirty="0" smtClean="0"/>
              <a:t>odelo </a:t>
            </a:r>
            <a:r>
              <a:rPr lang="pt-BR" dirty="0"/>
              <a:t>de </a:t>
            </a:r>
            <a:r>
              <a:rPr lang="pt-BR" dirty="0" smtClean="0"/>
              <a:t>interação: </a:t>
            </a:r>
            <a:r>
              <a:rPr lang="pt-BR" dirty="0"/>
              <a:t>dinâmico que mostra como o sistema interage com seu ambiente quando ativo.</a:t>
            </a:r>
          </a:p>
        </p:txBody>
      </p:sp>
    </p:spTree>
    <p:extLst>
      <p:ext uri="{BB962C8B-B14F-4D97-AF65-F5344CB8AC3E}">
        <p14:creationId xmlns:p14="http://schemas.microsoft.com/office/powerpoint/2010/main" val="339880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 smtClean="0"/>
              <a:t>7.1.1 </a:t>
            </a:r>
            <a:r>
              <a:rPr lang="pt-BR" dirty="0"/>
              <a:t>Contexto e interações do sistema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M</a:t>
            </a:r>
            <a:r>
              <a:rPr lang="pt-BR" dirty="0" smtClean="0"/>
              <a:t>odelo </a:t>
            </a:r>
            <a:r>
              <a:rPr lang="pt-BR" dirty="0"/>
              <a:t>de </a:t>
            </a:r>
            <a:r>
              <a:rPr lang="pt-BR" dirty="0" smtClean="0"/>
              <a:t>contexto: </a:t>
            </a:r>
            <a:r>
              <a:rPr lang="pt-BR" dirty="0"/>
              <a:t>pode ser representado por </a:t>
            </a:r>
            <a:r>
              <a:rPr lang="pt-BR" dirty="0" smtClean="0"/>
              <a:t>associações que </a:t>
            </a:r>
            <a:r>
              <a:rPr lang="pt-BR" dirty="0"/>
              <a:t>mostram que </a:t>
            </a:r>
            <a:r>
              <a:rPr lang="pt-BR" dirty="0" smtClean="0"/>
              <a:t>existem </a:t>
            </a:r>
            <a:r>
              <a:rPr lang="pt-BR" dirty="0"/>
              <a:t>relacionamentos entre as entidades </a:t>
            </a:r>
            <a:r>
              <a:rPr lang="pt-BR" dirty="0" smtClean="0"/>
              <a:t>envolvidas, especificando a </a:t>
            </a:r>
            <a:r>
              <a:rPr lang="pt-BR" dirty="0"/>
              <a:t>natureza dos </a:t>
            </a:r>
            <a:r>
              <a:rPr lang="pt-BR" dirty="0" smtClean="0"/>
              <a:t>relacionamentos.</a:t>
            </a:r>
          </a:p>
          <a:p>
            <a:pPr marL="0" indent="0">
              <a:buNone/>
            </a:pPr>
            <a:r>
              <a:rPr lang="pt-BR" dirty="0" smtClean="0"/>
              <a:t>Documentação do </a:t>
            </a:r>
            <a:r>
              <a:rPr lang="pt-BR" dirty="0"/>
              <a:t>ambiente do </a:t>
            </a:r>
            <a:r>
              <a:rPr lang="pt-BR" dirty="0" smtClean="0"/>
              <a:t>sistema: diagrama </a:t>
            </a:r>
            <a:r>
              <a:rPr lang="pt-BR" dirty="0"/>
              <a:t>de blocos simples, mostrando as entidades do sistema e de suas associações.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Figura 7.1: os </a:t>
            </a:r>
            <a:r>
              <a:rPr lang="pt-BR" dirty="0"/>
              <a:t>sistemas no ambiente de cada estação meteorológica são um sistema de informações meteorológicas, um sistema de satélites a bordo e um sistema de controle. As informações de cardinalidade sobre o link mostram que há um sistema de controle com várias estações meteorológicas, um satélite e um sistema de informações climáticas gerais.</a:t>
            </a:r>
          </a:p>
        </p:txBody>
      </p:sp>
    </p:spTree>
    <p:extLst>
      <p:ext uri="{BB962C8B-B14F-4D97-AF65-F5344CB8AC3E}">
        <p14:creationId xmlns:p14="http://schemas.microsoft.com/office/powerpoint/2010/main" val="1609455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 smtClean="0"/>
              <a:t>7.1.1 </a:t>
            </a:r>
            <a:r>
              <a:rPr lang="pt-BR" dirty="0"/>
              <a:t>Contexto e interações do sistema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5669" y="1700422"/>
            <a:ext cx="7479102" cy="560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215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 smtClean="0"/>
              <a:t>7.1.1 </a:t>
            </a:r>
            <a:r>
              <a:rPr lang="pt-BR" dirty="0"/>
              <a:t>Contexto e interações do sistema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Modelo de </a:t>
            </a:r>
            <a:r>
              <a:rPr lang="pt-BR" dirty="0"/>
              <a:t>interações </a:t>
            </a:r>
            <a:r>
              <a:rPr lang="pt-BR" dirty="0" smtClean="0"/>
              <a:t>do </a:t>
            </a:r>
            <a:r>
              <a:rPr lang="pt-BR" dirty="0"/>
              <a:t>sistema com seu </a:t>
            </a:r>
            <a:r>
              <a:rPr lang="pt-BR" dirty="0" smtClean="0"/>
              <a:t>ambiente: abordagem </a:t>
            </a:r>
            <a:r>
              <a:rPr lang="pt-BR" dirty="0"/>
              <a:t>abstrata sem muitos </a:t>
            </a:r>
            <a:r>
              <a:rPr lang="pt-BR" dirty="0" smtClean="0"/>
              <a:t>detalhes - </a:t>
            </a:r>
            <a:r>
              <a:rPr lang="pt-BR" dirty="0" smtClean="0"/>
              <a:t>modelo </a:t>
            </a:r>
            <a:r>
              <a:rPr lang="pt-BR" dirty="0"/>
              <a:t>de caso de uso.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Caso </a:t>
            </a:r>
            <a:r>
              <a:rPr lang="pt-BR" dirty="0"/>
              <a:t>de </a:t>
            </a:r>
            <a:r>
              <a:rPr lang="pt-BR" dirty="0" smtClean="0"/>
              <a:t>uso: </a:t>
            </a:r>
            <a:r>
              <a:rPr lang="pt-BR" dirty="0"/>
              <a:t>interação </a:t>
            </a:r>
            <a:r>
              <a:rPr lang="pt-BR" dirty="0" smtClean="0"/>
              <a:t>com </a:t>
            </a:r>
            <a:r>
              <a:rPr lang="pt-BR" dirty="0"/>
              <a:t>o sistema. Cada </a:t>
            </a:r>
            <a:r>
              <a:rPr lang="pt-BR" dirty="0" smtClean="0"/>
              <a:t>interação é </a:t>
            </a:r>
            <a:r>
              <a:rPr lang="pt-BR" dirty="0"/>
              <a:t>nomeada em uma elipse, e a entidade externa envolvida na interação é representada por um boneco palito.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Figura 7.2: Modelo </a:t>
            </a:r>
            <a:r>
              <a:rPr lang="pt-BR" dirty="0"/>
              <a:t>de caso de uso para a estação </a:t>
            </a:r>
            <a:r>
              <a:rPr lang="pt-BR" dirty="0" smtClean="0"/>
              <a:t>meteorológica. Mostra </a:t>
            </a:r>
            <a:r>
              <a:rPr lang="pt-BR" dirty="0"/>
              <a:t>que a estação </a:t>
            </a:r>
            <a:r>
              <a:rPr lang="pt-BR" dirty="0" smtClean="0"/>
              <a:t>meteorológica </a:t>
            </a:r>
            <a:r>
              <a:rPr lang="pt-BR" dirty="0"/>
              <a:t>interage com o sistema de informações meteorológicas para relatar dados meteorológicos e o status do hardware da </a:t>
            </a:r>
            <a:r>
              <a:rPr lang="pt-BR" dirty="0" smtClean="0"/>
              <a:t>estação e com </a:t>
            </a:r>
            <a:r>
              <a:rPr lang="pt-BR" dirty="0"/>
              <a:t>um sistema de controle que pode emitir comandos específicos de uma estação do tempo.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Um </a:t>
            </a:r>
            <a:r>
              <a:rPr lang="pt-BR" dirty="0"/>
              <a:t>boneco palito é usado na UML para representar outros sistemas, bem como usuários humanos.</a:t>
            </a:r>
          </a:p>
        </p:txBody>
      </p:sp>
    </p:spTree>
    <p:extLst>
      <p:ext uri="{BB962C8B-B14F-4D97-AF65-F5344CB8AC3E}">
        <p14:creationId xmlns:p14="http://schemas.microsoft.com/office/powerpoint/2010/main" val="2903629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 smtClean="0"/>
              <a:t>7.1.1 </a:t>
            </a:r>
            <a:r>
              <a:rPr lang="pt-BR" dirty="0"/>
              <a:t>Contexto e interações do sistema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0672" y="1665085"/>
            <a:ext cx="6806241" cy="509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300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 smtClean="0"/>
              <a:t>7.1.1 </a:t>
            </a:r>
            <a:r>
              <a:rPr lang="pt-BR" dirty="0"/>
              <a:t>Contexto e interações do sistema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Os </a:t>
            </a:r>
            <a:r>
              <a:rPr lang="pt-BR" dirty="0"/>
              <a:t>casos de uso </a:t>
            </a:r>
            <a:r>
              <a:rPr lang="pt-BR" dirty="0" smtClean="0"/>
              <a:t>devem </a:t>
            </a:r>
            <a:r>
              <a:rPr lang="pt-BR" dirty="0"/>
              <a:t>ser </a:t>
            </a:r>
            <a:r>
              <a:rPr lang="pt-BR" dirty="0" smtClean="0"/>
              <a:t>descritos </a:t>
            </a:r>
            <a:r>
              <a:rPr lang="pt-BR" dirty="0"/>
              <a:t>em linguagem natural estruturada. Isso ajuda os projetistas a identificarem objetos no sistema e oferece uma compreensão do que o sistema se destina a fazer.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Formato-padrão da descrição: </a:t>
            </a:r>
            <a:r>
              <a:rPr lang="pt-BR" dirty="0"/>
              <a:t>identifica claramente as </a:t>
            </a:r>
            <a:r>
              <a:rPr lang="pt-BR" dirty="0" smtClean="0"/>
              <a:t>informações </a:t>
            </a:r>
            <a:r>
              <a:rPr lang="pt-BR" dirty="0"/>
              <a:t>trocadas, como a </a:t>
            </a:r>
            <a:r>
              <a:rPr lang="pt-BR" dirty="0" smtClean="0"/>
              <a:t>interação </a:t>
            </a:r>
            <a:r>
              <a:rPr lang="pt-BR" dirty="0"/>
              <a:t>é iniciada, e assim por diante. </a:t>
            </a:r>
            <a:endParaRPr lang="pt-BR" dirty="0" smtClean="0"/>
          </a:p>
          <a:p>
            <a:pPr marL="0" indent="0">
              <a:buNone/>
            </a:pPr>
            <a:r>
              <a:rPr lang="pt-BR" dirty="0" err="1" smtClean="0"/>
              <a:t>Ex</a:t>
            </a:r>
            <a:r>
              <a:rPr lang="pt-BR" dirty="0" smtClean="0"/>
              <a:t>: Quadro 7.1 - caso </a:t>
            </a:r>
            <a:r>
              <a:rPr lang="pt-BR" dirty="0"/>
              <a:t>de uso ‘Relatar clima’ a partir da Figura 7.2. </a:t>
            </a:r>
          </a:p>
        </p:txBody>
      </p:sp>
    </p:spTree>
    <p:extLst>
      <p:ext uri="{BB962C8B-B14F-4D97-AF65-F5344CB8AC3E}">
        <p14:creationId xmlns:p14="http://schemas.microsoft.com/office/powerpoint/2010/main" val="4013952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 smtClean="0"/>
              <a:t>7.1.1 </a:t>
            </a:r>
            <a:r>
              <a:rPr lang="pt-BR" dirty="0"/>
              <a:t>Contexto e interações do sistema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pt-BR" dirty="0"/>
              <a:t>Quadro 7.1 Descrição de caso de uso – Relatar clima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Caso </a:t>
            </a:r>
            <a:r>
              <a:rPr lang="pt-BR" dirty="0"/>
              <a:t>de uso: Relatar clima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Atores</a:t>
            </a:r>
            <a:r>
              <a:rPr lang="pt-BR" dirty="0"/>
              <a:t>: Sistema de informações meteorológicas, estação meteorológica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Dados</a:t>
            </a:r>
            <a:r>
              <a:rPr lang="pt-BR" dirty="0"/>
              <a:t>: A estação meteorológica envia um resumo dos dados meteorológicos coletados a partir dos instrumentos, no período de coleta, para o sistema de informações meteorológicas. Os dados enviados são o máximo, mínimo e médio das temperaturas de solo e de ar; a máxima, mínima e média da pressão do ar; a velocidade máxima, mínima e média do vento; a precipitação de chuva total e a direção do vento, amostrados a cada cinco minutos.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Estímulo</a:t>
            </a:r>
            <a:r>
              <a:rPr lang="pt-BR" dirty="0"/>
              <a:t>: O sistema de informações meteorológicas estabelece um link de comunicação via satélite com a estação e solicita a transmissão dos dados.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Resposta</a:t>
            </a:r>
            <a:r>
              <a:rPr lang="pt-BR" dirty="0"/>
              <a:t>: Os dados resumidos são enviados para o sistema de informações meteorológicas.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Comentários</a:t>
            </a:r>
            <a:r>
              <a:rPr lang="pt-BR" dirty="0"/>
              <a:t>: Geralmente, solicita-se que as estações meteorológicas enviem relatórios a cada hora, mas essa frequência pode diferir de uma estação para a outra e pode ser modificada no futuro</a:t>
            </a:r>
          </a:p>
        </p:txBody>
      </p:sp>
    </p:spTree>
    <p:extLst>
      <p:ext uri="{BB962C8B-B14F-4D97-AF65-F5344CB8AC3E}">
        <p14:creationId xmlns:p14="http://schemas.microsoft.com/office/powerpoint/2010/main" val="687971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7.1.2 Projeto de arquitetura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Projeto da arquitetura: Após a definição das </a:t>
            </a:r>
            <a:r>
              <a:rPr lang="pt-BR" dirty="0"/>
              <a:t>interações entre o sistema </a:t>
            </a:r>
            <a:r>
              <a:rPr lang="pt-BR" dirty="0" smtClean="0"/>
              <a:t>e </a:t>
            </a:r>
            <a:r>
              <a:rPr lang="pt-BR" dirty="0"/>
              <a:t>o ambiente do </a:t>
            </a:r>
            <a:r>
              <a:rPr lang="pt-BR" dirty="0" smtClean="0"/>
              <a:t>sistema. </a:t>
            </a:r>
          </a:p>
          <a:p>
            <a:pPr marL="0" indent="0">
              <a:buNone/>
            </a:pPr>
            <a:r>
              <a:rPr lang="pt-BR" dirty="0" smtClean="0"/>
              <a:t>Principais </a:t>
            </a:r>
            <a:r>
              <a:rPr lang="pt-BR" dirty="0"/>
              <a:t>componentes do sistema e suas interações </a:t>
            </a:r>
            <a:r>
              <a:rPr lang="pt-BR" dirty="0" smtClean="0"/>
              <a:t>identificados: organizar </a:t>
            </a:r>
            <a:r>
              <a:rPr lang="pt-BR" dirty="0"/>
              <a:t>os componentes usando um padrão de arquitetura, como um modelo em camadas ou cliente-servidor.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Figura </a:t>
            </a:r>
            <a:r>
              <a:rPr lang="pt-BR" dirty="0" smtClean="0"/>
              <a:t>7.3 :Projeto </a:t>
            </a:r>
            <a:r>
              <a:rPr lang="pt-BR" dirty="0"/>
              <a:t>de arquitetura em alto nível para o software da estação </a:t>
            </a:r>
            <a:r>
              <a:rPr lang="pt-BR" dirty="0" smtClean="0"/>
              <a:t>meteorológica.</a:t>
            </a:r>
          </a:p>
          <a:p>
            <a:pPr marL="0" indent="0">
              <a:buNone/>
            </a:pPr>
            <a:r>
              <a:rPr lang="pt-BR" dirty="0" smtClean="0"/>
              <a:t>A </a:t>
            </a:r>
            <a:r>
              <a:rPr lang="pt-BR" dirty="0"/>
              <a:t>estação meteorológica é composta de subsistemas independentes que se comunicam pela transmissão de </a:t>
            </a:r>
            <a:r>
              <a:rPr lang="pt-BR" dirty="0" smtClean="0"/>
              <a:t>mensagens </a:t>
            </a:r>
            <a:r>
              <a:rPr lang="pt-BR" dirty="0"/>
              <a:t>em uma infraestrutura </a:t>
            </a:r>
            <a:r>
              <a:rPr lang="pt-BR" dirty="0" smtClean="0"/>
              <a:t>comum como </a:t>
            </a:r>
            <a:r>
              <a:rPr lang="pt-BR" dirty="0"/>
              <a:t>‘Link de comunicação’. Cada subsistema escuta as mensagens sobre essa infraestrutura e pega as mensagens destinadas a eles. </a:t>
            </a:r>
          </a:p>
        </p:txBody>
      </p:sp>
    </p:spTree>
    <p:extLst>
      <p:ext uri="{BB962C8B-B14F-4D97-AF65-F5344CB8AC3E}">
        <p14:creationId xmlns:p14="http://schemas.microsoft.com/office/powerpoint/2010/main" val="4257030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7.1.2 Projeto de arquitetura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 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072" y="674254"/>
            <a:ext cx="8574656" cy="642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231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7.1.2 Projeto de arquitetura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err="1" smtClean="0"/>
              <a:t>Ex</a:t>
            </a:r>
            <a:r>
              <a:rPr lang="pt-BR" dirty="0" smtClean="0"/>
              <a:t>: </a:t>
            </a:r>
            <a:r>
              <a:rPr lang="pt-BR" dirty="0"/>
              <a:t>quando o subsistema de comunicações recebe um comando de controle, como o desligamento, o comando é capturado por cada um dos outros subsistemas, que se desligam de maneira correta. 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V</a:t>
            </a:r>
            <a:r>
              <a:rPr lang="pt-BR" dirty="0" smtClean="0"/>
              <a:t>antagem </a:t>
            </a:r>
            <a:r>
              <a:rPr lang="pt-BR" dirty="0"/>
              <a:t>dessa </a:t>
            </a:r>
            <a:r>
              <a:rPr lang="pt-BR" dirty="0" smtClean="0"/>
              <a:t>arquitetura: </a:t>
            </a:r>
            <a:r>
              <a:rPr lang="pt-BR" dirty="0"/>
              <a:t>fácil suportar diferentes configurações de subsistemas, pois o remetente de uma mensagem não precisa endereçar a mensagem a um subsistema específico.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A </a:t>
            </a:r>
            <a:r>
              <a:rPr lang="pt-BR" dirty="0"/>
              <a:t>Figura 7.4 mostra a arquitetura do subsistema de coleta de dados, incluída na Figura 7.3.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Os </a:t>
            </a:r>
            <a:r>
              <a:rPr lang="pt-BR" dirty="0"/>
              <a:t>objetos ‘</a:t>
            </a:r>
            <a:r>
              <a:rPr lang="pt-BR" dirty="0" smtClean="0"/>
              <a:t>Transmissor</a:t>
            </a:r>
            <a:r>
              <a:rPr lang="pt-BR" dirty="0"/>
              <a:t>’ e ‘Receptor’ estão preocupados com o gerenciamento das comunicações, e o objeto ‘Dados meteorológicos’ encapsula a informação capturada a partir dos instrumentos e transmitida ao sistema de informações </a:t>
            </a:r>
            <a:r>
              <a:rPr lang="pt-BR" dirty="0" smtClean="0"/>
              <a:t>meteorológicas</a:t>
            </a:r>
            <a:r>
              <a:rPr lang="pt-BR" dirty="0"/>
              <a:t>. Essa organização segue o modelo produtor-consumidor </a:t>
            </a:r>
          </a:p>
        </p:txBody>
      </p:sp>
    </p:spTree>
    <p:extLst>
      <p:ext uri="{BB962C8B-B14F-4D97-AF65-F5344CB8AC3E}">
        <p14:creationId xmlns:p14="http://schemas.microsoft.com/office/powerpoint/2010/main" val="2649387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7.1.2 Projeto de arquitetura</a:t>
            </a: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1912" y="1484313"/>
            <a:ext cx="694690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380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7.1.3 Identificação dos objetos de classe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Deve-se ter </a:t>
            </a:r>
            <a:r>
              <a:rPr lang="pt-BR" dirty="0"/>
              <a:t>ideias sobre os objetos essenciais para o </a:t>
            </a:r>
            <a:r>
              <a:rPr lang="pt-BR" dirty="0" smtClean="0"/>
              <a:t>sistema. </a:t>
            </a:r>
            <a:r>
              <a:rPr lang="pt-BR" dirty="0" smtClean="0"/>
              <a:t>C</a:t>
            </a:r>
            <a:r>
              <a:rPr lang="pt-BR" dirty="0" smtClean="0"/>
              <a:t>ompreende-se o projeto e </a:t>
            </a:r>
            <a:r>
              <a:rPr lang="pt-BR" dirty="0" smtClean="0"/>
              <a:t>refinam-se as </a:t>
            </a:r>
            <a:r>
              <a:rPr lang="pt-BR" dirty="0"/>
              <a:t>ideias sobre os objetos do </a:t>
            </a:r>
            <a:r>
              <a:rPr lang="pt-BR" dirty="0" smtClean="0"/>
              <a:t>sistema</a:t>
            </a:r>
            <a:r>
              <a:rPr lang="pt-BR" dirty="0"/>
              <a:t>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Descrição </a:t>
            </a:r>
            <a:r>
              <a:rPr lang="pt-BR" dirty="0"/>
              <a:t>do caso de </a:t>
            </a:r>
            <a:r>
              <a:rPr lang="pt-BR" dirty="0" smtClean="0"/>
              <a:t>uso: </a:t>
            </a:r>
            <a:r>
              <a:rPr lang="pt-BR" dirty="0"/>
              <a:t>ajuda a identificar objetos e operações no sistema. 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D</a:t>
            </a:r>
            <a:r>
              <a:rPr lang="pt-BR" dirty="0" smtClean="0"/>
              <a:t>escrição </a:t>
            </a:r>
            <a:r>
              <a:rPr lang="pt-BR" dirty="0"/>
              <a:t>do caso de uso ‘Relatar clima</a:t>
            </a:r>
            <a:r>
              <a:rPr lang="pt-BR" dirty="0" smtClean="0"/>
              <a:t>’: objetos </a:t>
            </a:r>
            <a:r>
              <a:rPr lang="pt-BR" dirty="0"/>
              <a:t>que representam os instrumentos que coletam dados meteorológicos serão necessários, assim como um objeto representando o resumo desses dados. Geralmente, </a:t>
            </a:r>
            <a:r>
              <a:rPr lang="pt-BR" dirty="0" smtClean="0"/>
              <a:t>precisa-se </a:t>
            </a:r>
            <a:r>
              <a:rPr lang="pt-BR" dirty="0"/>
              <a:t>de um objeto do sistema de alto nível ou objetos que sintetizem as interações do sistema definidas nos casos de uso. Com esses objetos em mente, </a:t>
            </a:r>
            <a:r>
              <a:rPr lang="pt-BR" dirty="0" smtClean="0"/>
              <a:t>identificam-se </a:t>
            </a:r>
            <a:r>
              <a:rPr lang="pt-BR" dirty="0"/>
              <a:t>as classes de objeto no sistema.</a:t>
            </a:r>
          </a:p>
        </p:txBody>
      </p:sp>
    </p:spTree>
    <p:extLst>
      <p:ext uri="{BB962C8B-B14F-4D97-AF65-F5344CB8AC3E}">
        <p14:creationId xmlns:p14="http://schemas.microsoft.com/office/powerpoint/2010/main" val="1941609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7.1.3 Identificação dos objetos de classe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C</a:t>
            </a:r>
            <a:r>
              <a:rPr lang="pt-BR" dirty="0" smtClean="0"/>
              <a:t>omo </a:t>
            </a:r>
            <a:r>
              <a:rPr lang="pt-BR" dirty="0"/>
              <a:t>identificar as classes de objetos em sistemas orientados a objetos: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Usar </a:t>
            </a:r>
            <a:r>
              <a:rPr lang="pt-BR" dirty="0"/>
              <a:t>uma análise gramatical de uma descrição em linguagem natural do sistema a ser construído. Objetos e atributos são substantivos, operações ou serviços são verbos (ABBOTT, 1983).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 </a:t>
            </a:r>
            <a:r>
              <a:rPr lang="pt-BR" dirty="0"/>
              <a:t>Usar entidades tangíveis (coisas) no domínio de </a:t>
            </a:r>
            <a:r>
              <a:rPr lang="pt-BR" dirty="0" smtClean="0"/>
              <a:t>aplicação (aviões); papéis (gerente </a:t>
            </a:r>
            <a:r>
              <a:rPr lang="pt-BR" dirty="0"/>
              <a:t>ou </a:t>
            </a:r>
            <a:r>
              <a:rPr lang="pt-BR" dirty="0" smtClean="0"/>
              <a:t>médico); eventos</a:t>
            </a:r>
            <a:r>
              <a:rPr lang="pt-BR" dirty="0"/>
              <a:t> </a:t>
            </a:r>
            <a:r>
              <a:rPr lang="pt-BR" dirty="0" smtClean="0"/>
              <a:t>(</a:t>
            </a:r>
            <a:r>
              <a:rPr lang="pt-BR" dirty="0" smtClean="0"/>
              <a:t>pedidos); interações (reuniões); locais (escritórios); </a:t>
            </a:r>
            <a:r>
              <a:rPr lang="pt-BR" dirty="0"/>
              <a:t>unidades </a:t>
            </a:r>
            <a:r>
              <a:rPr lang="pt-BR" dirty="0" smtClean="0"/>
              <a:t>organizacionais (empresas), </a:t>
            </a:r>
            <a:r>
              <a:rPr lang="pt-BR" dirty="0"/>
              <a:t>e assim por diante (COAD e YOURDON, 1990; SHLAER e MELLOR, 1988; WIRFS-BROCK et al., 1990).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Usar </a:t>
            </a:r>
            <a:r>
              <a:rPr lang="pt-BR" dirty="0" smtClean="0"/>
              <a:t>análise </a:t>
            </a:r>
            <a:r>
              <a:rPr lang="pt-BR" dirty="0"/>
              <a:t>baseada em </a:t>
            </a:r>
            <a:r>
              <a:rPr lang="pt-BR" dirty="0" smtClean="0"/>
              <a:t>cenários: </a:t>
            </a:r>
            <a:r>
              <a:rPr lang="pt-BR" dirty="0"/>
              <a:t>diversos cenários de uso do sistema são identificados e </a:t>
            </a:r>
            <a:r>
              <a:rPr lang="pt-BR" dirty="0" smtClean="0"/>
              <a:t>analisados </a:t>
            </a:r>
            <a:r>
              <a:rPr lang="pt-BR" dirty="0"/>
              <a:t>separadamente. À medida que cada cenário é analisado, a equipe responsável pela análise deve identificar os objetos necessários, atributos e operações (BECK e CUNNINGHAM, 1989).</a:t>
            </a:r>
          </a:p>
        </p:txBody>
      </p:sp>
    </p:spTree>
    <p:extLst>
      <p:ext uri="{BB962C8B-B14F-4D97-AF65-F5344CB8AC3E}">
        <p14:creationId xmlns:p14="http://schemas.microsoft.com/office/powerpoint/2010/main" val="4262143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7.1.3 Identificação dos objetos de classe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 smtClean="0"/>
              <a:t>Diversas </a:t>
            </a:r>
            <a:r>
              <a:rPr lang="pt-BR" dirty="0"/>
              <a:t>fontes de conhecimento </a:t>
            </a:r>
            <a:r>
              <a:rPr lang="pt-BR" dirty="0" smtClean="0"/>
              <a:t>levam a descoberta de </a:t>
            </a:r>
            <a:r>
              <a:rPr lang="pt-BR" dirty="0"/>
              <a:t>classes de objetos.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As </a:t>
            </a:r>
            <a:r>
              <a:rPr lang="pt-BR" dirty="0"/>
              <a:t>classes de objetos, atributos e operações, inicialmente identificados a partir da descrição informal do sistema, podem ser um ponto de partida para o projeto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r>
              <a:rPr lang="pt-BR" dirty="0" smtClean="0"/>
              <a:t> </a:t>
            </a:r>
            <a:r>
              <a:rPr lang="pt-BR" dirty="0"/>
              <a:t>A partir do conhecimento do domínio de aplicação ou da análise de cenário, mais informações podem ser usadas para refinar e estender os objetos iniciais.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Essa </a:t>
            </a:r>
            <a:r>
              <a:rPr lang="pt-BR" dirty="0"/>
              <a:t>informação pode ser coletada a partir de documentos de requisitos, conversas com usuários, ou a partir de análises dos sistemas existentes. Na estação meteorológica no deserto, a identificação de objetos é baseada no hardware tangível no sistema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r>
              <a:rPr lang="pt-BR" dirty="0" smtClean="0"/>
              <a:t>Figura 7.5: 5 </a:t>
            </a:r>
            <a:r>
              <a:rPr lang="pt-BR" dirty="0"/>
              <a:t>classes de </a:t>
            </a:r>
            <a:r>
              <a:rPr lang="pt-BR" dirty="0" smtClean="0"/>
              <a:t>objetos: </a:t>
            </a:r>
            <a:r>
              <a:rPr lang="pt-BR" dirty="0"/>
              <a:t>‘Termômetro de chão’, ‘Anemômetro’ e ‘Barômetro’ são objetos de domínio de aplicação, e os objetos ‘</a:t>
            </a:r>
            <a:r>
              <a:rPr lang="pt-BR" dirty="0" err="1"/>
              <a:t>EstaçãoMeteorológica</a:t>
            </a:r>
            <a:r>
              <a:rPr lang="pt-BR" dirty="0"/>
              <a:t>’ e ‘</a:t>
            </a:r>
            <a:r>
              <a:rPr lang="pt-BR" dirty="0" err="1"/>
              <a:t>DadosMeteorológicos</a:t>
            </a:r>
            <a:r>
              <a:rPr lang="pt-BR" dirty="0"/>
              <a:t>’ foram identificados a partir da descrição de sistema e da descrição de cenário (caso de uso</a:t>
            </a:r>
            <a:r>
              <a:rPr lang="pt-BR" dirty="0" smtClean="0"/>
              <a:t>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9888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7.1.3 Identificação dos objetos de classe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 smtClean="0"/>
              <a:t>1.Classe </a:t>
            </a:r>
            <a:r>
              <a:rPr lang="pt-BR" dirty="0"/>
              <a:t>de objeto </a:t>
            </a:r>
            <a:r>
              <a:rPr lang="pt-BR" dirty="0" err="1" smtClean="0"/>
              <a:t>EstaçãoMeteorológica</a:t>
            </a:r>
            <a:r>
              <a:rPr lang="pt-BR" dirty="0" smtClean="0"/>
              <a:t>: </a:t>
            </a:r>
            <a:r>
              <a:rPr lang="pt-BR" dirty="0"/>
              <a:t>fornece a interface básica da estação meteorológica com seu </a:t>
            </a:r>
            <a:r>
              <a:rPr lang="pt-BR" dirty="0" smtClean="0"/>
              <a:t>ambiente</a:t>
            </a:r>
            <a:r>
              <a:rPr lang="pt-BR" dirty="0"/>
              <a:t>. Suas operações refletem as interações mostradas no Quadro </a:t>
            </a:r>
            <a:r>
              <a:rPr lang="pt-BR" dirty="0" smtClean="0"/>
              <a:t>7.1 (slide 15). </a:t>
            </a:r>
            <a:r>
              <a:rPr lang="pt-BR" dirty="0"/>
              <a:t>Nesse caso, </a:t>
            </a:r>
            <a:r>
              <a:rPr lang="pt-BR" dirty="0" smtClean="0"/>
              <a:t>usa-se uma </a:t>
            </a:r>
            <a:r>
              <a:rPr lang="pt-BR" dirty="0"/>
              <a:t>classe única de objeto para encapsular todas essas interações, mas em outros projetos </a:t>
            </a:r>
            <a:r>
              <a:rPr lang="pt-BR" dirty="0" smtClean="0"/>
              <a:t>projeta-se </a:t>
            </a:r>
            <a:r>
              <a:rPr lang="pt-BR" dirty="0"/>
              <a:t>a interface do sistema como várias classes diferentes.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2</a:t>
            </a:r>
            <a:r>
              <a:rPr lang="pt-BR" dirty="0"/>
              <a:t>. </a:t>
            </a:r>
            <a:r>
              <a:rPr lang="pt-BR" dirty="0"/>
              <a:t>C</a:t>
            </a:r>
            <a:r>
              <a:rPr lang="pt-BR" dirty="0" smtClean="0"/>
              <a:t>lasse </a:t>
            </a:r>
            <a:r>
              <a:rPr lang="pt-BR" dirty="0"/>
              <a:t>de objeto </a:t>
            </a:r>
            <a:r>
              <a:rPr lang="pt-BR" dirty="0" err="1" smtClean="0"/>
              <a:t>DadosMeteorológicos</a:t>
            </a:r>
            <a:r>
              <a:rPr lang="pt-BR" dirty="0" smtClean="0"/>
              <a:t>: </a:t>
            </a:r>
            <a:r>
              <a:rPr lang="pt-BR" dirty="0"/>
              <a:t>responsável por processar o comando ‘Relatar clima</a:t>
            </a:r>
            <a:r>
              <a:rPr lang="pt-BR" dirty="0" smtClean="0"/>
              <a:t>’ que </a:t>
            </a:r>
            <a:r>
              <a:rPr lang="pt-BR" dirty="0"/>
              <a:t>envia os dados resumidos dos instrumentos da estação meteorológica para o sistema de informações meteorológicas.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3</a:t>
            </a:r>
            <a:r>
              <a:rPr lang="pt-BR" dirty="0"/>
              <a:t>. </a:t>
            </a:r>
            <a:r>
              <a:rPr lang="pt-BR" dirty="0"/>
              <a:t>C</a:t>
            </a:r>
            <a:r>
              <a:rPr lang="pt-BR" dirty="0" smtClean="0"/>
              <a:t>lasses </a:t>
            </a:r>
            <a:r>
              <a:rPr lang="pt-BR" dirty="0"/>
              <a:t>de objeto Termômetro de chão, Anemômetro e </a:t>
            </a:r>
            <a:r>
              <a:rPr lang="pt-BR" dirty="0" smtClean="0"/>
              <a:t>Barômetro: </a:t>
            </a:r>
            <a:r>
              <a:rPr lang="pt-BR" dirty="0"/>
              <a:t>relacionadas com os instrumentos do sistema. </a:t>
            </a:r>
            <a:r>
              <a:rPr lang="pt-BR" dirty="0"/>
              <a:t>R</a:t>
            </a:r>
            <a:r>
              <a:rPr lang="pt-BR" dirty="0" smtClean="0"/>
              <a:t>efletem </a:t>
            </a:r>
            <a:r>
              <a:rPr lang="pt-BR" dirty="0"/>
              <a:t>as entidades tangíveis de hardware no sistema, e as operações </a:t>
            </a:r>
            <a:r>
              <a:rPr lang="pt-BR" dirty="0" smtClean="0"/>
              <a:t>de</a:t>
            </a:r>
            <a:r>
              <a:rPr lang="pt-BR" dirty="0" smtClean="0"/>
              <a:t> controle de </a:t>
            </a:r>
            <a:r>
              <a:rPr lang="pt-BR" dirty="0"/>
              <a:t>hardware. Esses objetos funcionam de forma autônoma para coletar dados na frequência especificada e armazenam os dados coletados localmente. Quando requisitados, esses dados são entregues ao objeto </a:t>
            </a:r>
            <a:r>
              <a:rPr lang="pt-BR" dirty="0" err="1"/>
              <a:t>DadosMeteorológicos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4686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7.1.3 Identificação dos objetos de classe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Figura 7.5</a:t>
            </a:r>
            <a:endParaRPr lang="pt-BR" dirty="0"/>
          </a:p>
        </p:txBody>
      </p:sp>
      <p:sp>
        <p:nvSpPr>
          <p:cNvPr id="4" name="Retângulo 3"/>
          <p:cNvSpPr/>
          <p:nvPr/>
        </p:nvSpPr>
        <p:spPr>
          <a:xfrm>
            <a:off x="1414732" y="2234242"/>
            <a:ext cx="2907102" cy="21566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EstaçãoMeteorológica</a:t>
            </a:r>
            <a:r>
              <a:rPr lang="pt-BR" dirty="0"/>
              <a:t> Identificador </a:t>
            </a:r>
            <a:r>
              <a:rPr lang="pt-BR" dirty="0" err="1"/>
              <a:t>relatarClima</a:t>
            </a:r>
            <a:r>
              <a:rPr lang="pt-BR" dirty="0"/>
              <a:t> ( ) </a:t>
            </a:r>
            <a:r>
              <a:rPr lang="pt-BR" dirty="0" err="1"/>
              <a:t>relatarStatus</a:t>
            </a:r>
            <a:r>
              <a:rPr lang="pt-BR" dirty="0"/>
              <a:t>( ) </a:t>
            </a:r>
            <a:r>
              <a:rPr lang="pt-BR" dirty="0" err="1"/>
              <a:t>economizarEnergia</a:t>
            </a:r>
            <a:r>
              <a:rPr lang="pt-BR" dirty="0"/>
              <a:t> (instrumentos) </a:t>
            </a:r>
            <a:r>
              <a:rPr lang="pt-BR" dirty="0" err="1"/>
              <a:t>controlarRemoto</a:t>
            </a:r>
            <a:r>
              <a:rPr lang="pt-BR" dirty="0"/>
              <a:t> (comandos) reconfigurar (comandos) reiniciar (instrumentos) desligar (instrumentos</a:t>
            </a:r>
          </a:p>
        </p:txBody>
      </p:sp>
      <p:sp>
        <p:nvSpPr>
          <p:cNvPr id="5" name="Retângulo 4"/>
          <p:cNvSpPr/>
          <p:nvPr/>
        </p:nvSpPr>
        <p:spPr>
          <a:xfrm>
            <a:off x="5657490" y="2191110"/>
            <a:ext cx="2907102" cy="21566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DadosMeteorológicos</a:t>
            </a:r>
            <a:r>
              <a:rPr lang="pt-BR" dirty="0"/>
              <a:t> </a:t>
            </a:r>
            <a:r>
              <a:rPr lang="pt-BR" dirty="0" err="1"/>
              <a:t>temperaturaAr</a:t>
            </a:r>
            <a:r>
              <a:rPr lang="pt-BR" dirty="0"/>
              <a:t> </a:t>
            </a:r>
            <a:r>
              <a:rPr lang="pt-BR" dirty="0" err="1"/>
              <a:t>temperaturaChão</a:t>
            </a:r>
            <a:r>
              <a:rPr lang="pt-BR" dirty="0"/>
              <a:t> </a:t>
            </a:r>
            <a:r>
              <a:rPr lang="pt-BR" dirty="0" err="1"/>
              <a:t>velocidadeVento</a:t>
            </a:r>
            <a:r>
              <a:rPr lang="pt-BR" dirty="0"/>
              <a:t> </a:t>
            </a:r>
            <a:r>
              <a:rPr lang="pt-BR" dirty="0" err="1"/>
              <a:t>direçãoVento</a:t>
            </a:r>
            <a:r>
              <a:rPr lang="pt-BR" dirty="0"/>
              <a:t> </a:t>
            </a:r>
            <a:endParaRPr lang="pt-BR" dirty="0" smtClean="0"/>
          </a:p>
          <a:p>
            <a:pPr algn="ctr"/>
            <a:r>
              <a:rPr lang="pt-BR" dirty="0" smtClean="0"/>
              <a:t>pressão precipitação</a:t>
            </a:r>
          </a:p>
          <a:p>
            <a:pPr algn="ctr"/>
            <a:r>
              <a:rPr lang="pt-BR" dirty="0" smtClean="0"/>
              <a:t>Chuva </a:t>
            </a:r>
            <a:r>
              <a:rPr lang="pt-BR" dirty="0"/>
              <a:t>coletar ( ) resumir ( )</a:t>
            </a:r>
          </a:p>
        </p:txBody>
      </p:sp>
      <p:sp>
        <p:nvSpPr>
          <p:cNvPr id="7" name="Retângulo 6"/>
          <p:cNvSpPr/>
          <p:nvPr/>
        </p:nvSpPr>
        <p:spPr>
          <a:xfrm>
            <a:off x="7303698" y="4878238"/>
            <a:ext cx="1820174" cy="12853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Barômetro </a:t>
            </a:r>
            <a:r>
              <a:rPr lang="pt-BR" dirty="0" err="1"/>
              <a:t>bar_Ident</a:t>
            </a:r>
            <a:r>
              <a:rPr lang="pt-BR" dirty="0"/>
              <a:t> pressão altura obter ( ) </a:t>
            </a:r>
            <a:endParaRPr lang="pt-BR" dirty="0" smtClean="0"/>
          </a:p>
          <a:p>
            <a:r>
              <a:rPr lang="pt-BR" dirty="0" smtClean="0"/>
              <a:t>testar </a:t>
            </a:r>
            <a:r>
              <a:rPr lang="pt-BR" dirty="0"/>
              <a:t>( )</a:t>
            </a:r>
          </a:p>
        </p:txBody>
      </p:sp>
      <p:sp>
        <p:nvSpPr>
          <p:cNvPr id="8" name="Retângulo 7"/>
          <p:cNvSpPr/>
          <p:nvPr/>
        </p:nvSpPr>
        <p:spPr>
          <a:xfrm>
            <a:off x="4537494" y="4781550"/>
            <a:ext cx="2435884" cy="15329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Anemômetro </a:t>
            </a:r>
            <a:endParaRPr lang="pt-BR" dirty="0" smtClean="0"/>
          </a:p>
          <a:p>
            <a:r>
              <a:rPr lang="pt-BR" dirty="0" err="1" smtClean="0"/>
              <a:t>an_Ident</a:t>
            </a:r>
            <a:r>
              <a:rPr lang="pt-BR" dirty="0" smtClean="0"/>
              <a:t> </a:t>
            </a:r>
            <a:r>
              <a:rPr lang="pt-BR" dirty="0" err="1"/>
              <a:t>velocidadeVento</a:t>
            </a:r>
            <a:r>
              <a:rPr lang="pt-BR" dirty="0"/>
              <a:t> </a:t>
            </a:r>
            <a:r>
              <a:rPr lang="pt-BR" dirty="0" err="1"/>
              <a:t>direçãoVento</a:t>
            </a:r>
            <a:r>
              <a:rPr lang="pt-BR" dirty="0"/>
              <a:t> </a:t>
            </a:r>
            <a:endParaRPr lang="pt-BR" dirty="0" smtClean="0"/>
          </a:p>
          <a:p>
            <a:r>
              <a:rPr lang="pt-BR" dirty="0" smtClean="0"/>
              <a:t>obter </a:t>
            </a:r>
            <a:r>
              <a:rPr lang="pt-BR" dirty="0"/>
              <a:t>( ) </a:t>
            </a:r>
            <a:endParaRPr lang="pt-BR" dirty="0" smtClean="0"/>
          </a:p>
          <a:p>
            <a:r>
              <a:rPr lang="pt-BR" dirty="0" smtClean="0"/>
              <a:t>testar </a:t>
            </a:r>
            <a:r>
              <a:rPr lang="pt-BR" dirty="0"/>
              <a:t>( )</a:t>
            </a:r>
          </a:p>
        </p:txBody>
      </p:sp>
      <p:sp>
        <p:nvSpPr>
          <p:cNvPr id="9" name="Retângulo 8"/>
          <p:cNvSpPr/>
          <p:nvPr/>
        </p:nvSpPr>
        <p:spPr>
          <a:xfrm>
            <a:off x="1414732" y="5113798"/>
            <a:ext cx="2424023" cy="12266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/>
              <a:t>Termômetro de chão </a:t>
            </a:r>
            <a:r>
              <a:rPr lang="pt-BR" dirty="0" err="1"/>
              <a:t>get_Ident</a:t>
            </a:r>
            <a:r>
              <a:rPr lang="pt-BR" dirty="0"/>
              <a:t> temperatura obter ( ) </a:t>
            </a:r>
            <a:endParaRPr lang="pt-BR" dirty="0" smtClean="0"/>
          </a:p>
          <a:p>
            <a:r>
              <a:rPr lang="pt-BR" dirty="0" smtClean="0"/>
              <a:t>testar </a:t>
            </a:r>
            <a:r>
              <a:rPr lang="pt-BR" dirty="0"/>
              <a:t>( )</a:t>
            </a:r>
          </a:p>
        </p:txBody>
      </p:sp>
      <p:cxnSp>
        <p:nvCxnSpPr>
          <p:cNvPr id="11" name="Conector reto 10"/>
          <p:cNvCxnSpPr/>
          <p:nvPr/>
        </p:nvCxnSpPr>
        <p:spPr>
          <a:xfrm flipV="1">
            <a:off x="1414732" y="2527540"/>
            <a:ext cx="2907102" cy="86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 flipV="1">
            <a:off x="5657490" y="2893921"/>
            <a:ext cx="2907102" cy="86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/>
          <p:nvPr/>
        </p:nvCxnSpPr>
        <p:spPr>
          <a:xfrm flipV="1">
            <a:off x="5740160" y="3942512"/>
            <a:ext cx="2907102" cy="86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>
            <a:off x="1433422" y="5520905"/>
            <a:ext cx="24053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/>
          <p:nvPr/>
        </p:nvCxnSpPr>
        <p:spPr>
          <a:xfrm>
            <a:off x="1433422" y="5727106"/>
            <a:ext cx="24053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>
            <a:off x="4568045" y="5025605"/>
            <a:ext cx="24053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/>
          <p:nvPr/>
        </p:nvCxnSpPr>
        <p:spPr>
          <a:xfrm>
            <a:off x="4537494" y="5882855"/>
            <a:ext cx="240533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 flipV="1">
            <a:off x="7303698" y="5132848"/>
            <a:ext cx="1726002" cy="154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 flipV="1">
            <a:off x="7350784" y="5713986"/>
            <a:ext cx="1726002" cy="154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6072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7.1.3 Identificação dos objetos de classe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/>
              <a:t>D</a:t>
            </a:r>
            <a:r>
              <a:rPr lang="pt-BR" dirty="0" smtClean="0"/>
              <a:t>omínio </a:t>
            </a:r>
            <a:r>
              <a:rPr lang="pt-BR" dirty="0"/>
              <a:t>da </a:t>
            </a:r>
            <a:r>
              <a:rPr lang="pt-BR" dirty="0" smtClean="0"/>
              <a:t>aplicação: identifica </a:t>
            </a:r>
            <a:r>
              <a:rPr lang="pt-BR" dirty="0"/>
              <a:t>outros objetos, atributos e serviços. 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E</a:t>
            </a:r>
            <a:r>
              <a:rPr lang="pt-BR" dirty="0" smtClean="0"/>
              <a:t>stações </a:t>
            </a:r>
            <a:r>
              <a:rPr lang="pt-BR" dirty="0"/>
              <a:t>meteorológicas </a:t>
            </a:r>
            <a:r>
              <a:rPr lang="pt-BR" dirty="0" smtClean="0"/>
              <a:t>localizam-se </a:t>
            </a:r>
            <a:r>
              <a:rPr lang="pt-BR" dirty="0"/>
              <a:t>em lugares remotos e </a:t>
            </a:r>
            <a:r>
              <a:rPr lang="pt-BR" dirty="0" smtClean="0"/>
              <a:t>com diversos instrumentos. Falhas </a:t>
            </a:r>
            <a:r>
              <a:rPr lang="pt-BR" dirty="0"/>
              <a:t>do instrumento devem ser comunicadas automaticamente.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Necessita-se de </a:t>
            </a:r>
            <a:r>
              <a:rPr lang="pt-BR" dirty="0"/>
              <a:t>atributos e operações para verificar o correto funcionamento dos instrumentos.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Estações </a:t>
            </a:r>
            <a:r>
              <a:rPr lang="pt-BR" dirty="0"/>
              <a:t>meteorológicas </a:t>
            </a:r>
            <a:r>
              <a:rPr lang="pt-BR" dirty="0" smtClean="0"/>
              <a:t>remotas devem </a:t>
            </a:r>
            <a:r>
              <a:rPr lang="pt-BR" dirty="0"/>
              <a:t>ter seu próprio identificador.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Nesse </a:t>
            </a:r>
            <a:r>
              <a:rPr lang="pt-BR" dirty="0"/>
              <a:t>estágio do processo de </a:t>
            </a:r>
            <a:r>
              <a:rPr lang="pt-BR" dirty="0" smtClean="0"/>
              <a:t>projeto:</a:t>
            </a:r>
          </a:p>
          <a:p>
            <a:r>
              <a:rPr lang="pt-BR" dirty="0" smtClean="0"/>
              <a:t>Definir os </a:t>
            </a:r>
            <a:r>
              <a:rPr lang="pt-BR" dirty="0"/>
              <a:t>próprios objetos, sem pensar em como eles podem ser implementados. </a:t>
            </a:r>
            <a:endParaRPr lang="pt-BR" dirty="0" smtClean="0"/>
          </a:p>
          <a:p>
            <a:r>
              <a:rPr lang="pt-BR" dirty="0" smtClean="0"/>
              <a:t>Refina-se </a:t>
            </a:r>
            <a:r>
              <a:rPr lang="pt-BR" dirty="0"/>
              <a:t>o projeto do </a:t>
            </a:r>
            <a:r>
              <a:rPr lang="pt-BR" dirty="0" smtClean="0"/>
              <a:t>objeto: observam-se </a:t>
            </a:r>
            <a:r>
              <a:rPr lang="pt-BR" dirty="0"/>
              <a:t>as características comuns </a:t>
            </a:r>
            <a:r>
              <a:rPr lang="pt-BR" dirty="0" smtClean="0"/>
              <a:t>e </a:t>
            </a:r>
            <a:r>
              <a:rPr lang="pt-BR" dirty="0"/>
              <a:t>projeta a hierarquia de herança para o sistema. </a:t>
            </a:r>
            <a:endParaRPr lang="pt-BR" dirty="0" smtClean="0"/>
          </a:p>
          <a:p>
            <a:pPr marL="0" indent="0">
              <a:buNone/>
            </a:pPr>
            <a:r>
              <a:rPr lang="pt-BR" dirty="0" err="1" smtClean="0"/>
              <a:t>Ex</a:t>
            </a:r>
            <a:r>
              <a:rPr lang="pt-BR" dirty="0" smtClean="0"/>
              <a:t>: identifica-se </a:t>
            </a:r>
            <a:r>
              <a:rPr lang="pt-BR" dirty="0"/>
              <a:t>uma superclasse ‘Instrumento’, que define as características comuns de todos os instrumentos, assim como um identificador, </a:t>
            </a:r>
            <a:r>
              <a:rPr lang="pt-BR" dirty="0" smtClean="0"/>
              <a:t>além de </a:t>
            </a:r>
            <a:r>
              <a:rPr lang="pt-BR" dirty="0"/>
              <a:t>obter operações e testar. </a:t>
            </a:r>
            <a:r>
              <a:rPr lang="pt-BR" dirty="0" smtClean="0"/>
              <a:t>Pode-se </a:t>
            </a:r>
            <a:r>
              <a:rPr lang="pt-BR" dirty="0"/>
              <a:t>adicionar novos atributos e operações à </a:t>
            </a:r>
            <a:r>
              <a:rPr lang="pt-BR" dirty="0" smtClean="0"/>
              <a:t>superclasse. </a:t>
            </a:r>
            <a:r>
              <a:rPr lang="pt-BR" dirty="0" err="1" smtClean="0"/>
              <a:t>Ex</a:t>
            </a:r>
            <a:r>
              <a:rPr lang="pt-BR" dirty="0" smtClean="0"/>
              <a:t>: atributo </a:t>
            </a:r>
            <a:r>
              <a:rPr lang="pt-BR" dirty="0"/>
              <a:t>que </a:t>
            </a:r>
            <a:r>
              <a:rPr lang="pt-BR" dirty="0" smtClean="0"/>
              <a:t>mantém </a:t>
            </a:r>
            <a:r>
              <a:rPr lang="pt-BR" dirty="0"/>
              <a:t>a frequência da coleta de dados.</a:t>
            </a:r>
          </a:p>
        </p:txBody>
      </p:sp>
    </p:spTree>
    <p:extLst>
      <p:ext uri="{BB962C8B-B14F-4D97-AF65-F5344CB8AC3E}">
        <p14:creationId xmlns:p14="http://schemas.microsoft.com/office/powerpoint/2010/main" val="3535166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smtClean="0"/>
              <a:t>7.1.4 Modelos </a:t>
            </a:r>
            <a:r>
              <a:rPr lang="pt-BR" dirty="0" smtClean="0"/>
              <a:t>de Projeto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 smtClean="0"/>
              <a:t>Mostram </a:t>
            </a:r>
            <a:r>
              <a:rPr lang="pt-BR" dirty="0"/>
              <a:t>os objetos ou classes de objetos em um </a:t>
            </a:r>
            <a:r>
              <a:rPr lang="pt-BR" dirty="0" smtClean="0"/>
              <a:t>sistema, as </a:t>
            </a:r>
            <a:r>
              <a:rPr lang="pt-BR" dirty="0"/>
              <a:t>associações e relacionamentos entre essas entidades.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São </a:t>
            </a:r>
            <a:r>
              <a:rPr lang="pt-BR" dirty="0"/>
              <a:t>a ponte entre os requisitos </a:t>
            </a:r>
            <a:r>
              <a:rPr lang="pt-BR" dirty="0" smtClean="0"/>
              <a:t>e </a:t>
            </a:r>
            <a:r>
              <a:rPr lang="pt-BR" dirty="0"/>
              <a:t>a implementação de um sistema. Eles precisam ser abstratos, para que os detalhes desnecessários não escondam os relacionamentos entre eles e os requisitos do sistema.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Devem </a:t>
            </a:r>
            <a:r>
              <a:rPr lang="pt-BR" dirty="0"/>
              <a:t>incluir detalhes suficientes para que os programadores possam tomar decisões de implementação.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Conflitos:  desenvolvem-se </a:t>
            </a:r>
            <a:r>
              <a:rPr lang="pt-BR" dirty="0"/>
              <a:t>modelos em diferentes níveis de detalhe. Sempre que houver links estreitos entre os engenheiros de requisitos, projetistas e programadores, os modelos abstratos podem </a:t>
            </a:r>
            <a:r>
              <a:rPr lang="pt-BR" dirty="0" smtClean="0"/>
              <a:t>ser necessários</a:t>
            </a:r>
            <a:r>
              <a:rPr lang="pt-BR" dirty="0" smtClean="0"/>
              <a:t>. </a:t>
            </a:r>
            <a:r>
              <a:rPr lang="pt-BR" dirty="0"/>
              <a:t>Decisões específicas de projeto podem ser feitas enquanto o sistema é implementado, com problemas resolvidos por meio de discussões informais. 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M</a:t>
            </a:r>
            <a:r>
              <a:rPr lang="pt-BR" dirty="0" smtClean="0"/>
              <a:t>odelos </a:t>
            </a:r>
            <a:r>
              <a:rPr lang="pt-BR" dirty="0"/>
              <a:t>mais pormenorizados poderão ser </a:t>
            </a:r>
            <a:r>
              <a:rPr lang="pt-BR" dirty="0" smtClean="0"/>
              <a:t>necessários: Links </a:t>
            </a:r>
            <a:r>
              <a:rPr lang="pt-BR" dirty="0"/>
              <a:t>entre os especificadores do sistema, projetistas e </a:t>
            </a:r>
            <a:r>
              <a:rPr lang="pt-BR" dirty="0" smtClean="0"/>
              <a:t>programadores </a:t>
            </a:r>
            <a:r>
              <a:rPr lang="pt-BR" dirty="0"/>
              <a:t>indiretos (por exemplo, quando um sistema está sendo projetado em uma parte de uma </a:t>
            </a:r>
            <a:r>
              <a:rPr lang="pt-BR" dirty="0" smtClean="0"/>
              <a:t>organização e </a:t>
            </a:r>
            <a:r>
              <a:rPr lang="pt-BR" dirty="0"/>
              <a:t>implementado em outros lugares</a:t>
            </a:r>
            <a:r>
              <a:rPr lang="pt-BR" dirty="0" smtClean="0"/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2672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smtClean="0"/>
              <a:t>7.1.4 Modelos </a:t>
            </a:r>
            <a:r>
              <a:rPr lang="pt-BR" dirty="0" smtClean="0"/>
              <a:t>de Projeto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 smtClean="0"/>
              <a:t>Deve-se </a:t>
            </a:r>
            <a:r>
              <a:rPr lang="pt-BR" dirty="0" smtClean="0"/>
              <a:t>decidir </a:t>
            </a:r>
            <a:r>
              <a:rPr lang="pt-BR" dirty="0"/>
              <a:t>modelos </a:t>
            </a:r>
            <a:r>
              <a:rPr lang="pt-BR" dirty="0" smtClean="0"/>
              <a:t>e os </a:t>
            </a:r>
            <a:r>
              <a:rPr lang="pt-BR" dirty="0" smtClean="0"/>
              <a:t>seus </a:t>
            </a:r>
            <a:r>
              <a:rPr lang="pt-BR" dirty="0" smtClean="0"/>
              <a:t>níveis de detalhe de projeto:  </a:t>
            </a:r>
            <a:r>
              <a:rPr lang="pt-BR" dirty="0"/>
              <a:t>tipo de sistema que está sendo desenvolvido.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A </a:t>
            </a:r>
            <a:r>
              <a:rPr lang="pt-BR" dirty="0"/>
              <a:t>maneira de projetar um sistema sequencial de processamento de dados é diferente da maneira de projetar um sistema </a:t>
            </a:r>
            <a:r>
              <a:rPr lang="pt-BR" dirty="0" smtClean="0"/>
              <a:t>embutido </a:t>
            </a:r>
            <a:r>
              <a:rPr lang="pt-BR" dirty="0"/>
              <a:t>de tempo </a:t>
            </a:r>
            <a:r>
              <a:rPr lang="pt-BR" dirty="0" smtClean="0"/>
              <a:t>real: modelos </a:t>
            </a:r>
            <a:r>
              <a:rPr lang="pt-BR" dirty="0"/>
              <a:t>de projeto diferentes. A UML suporta 13 tipos diferentes de modelos, </a:t>
            </a:r>
            <a:r>
              <a:rPr lang="pt-BR" dirty="0" smtClean="0"/>
              <a:t>mas </a:t>
            </a:r>
            <a:r>
              <a:rPr lang="pt-BR" dirty="0"/>
              <a:t>raramente </a:t>
            </a:r>
            <a:r>
              <a:rPr lang="pt-BR" dirty="0" smtClean="0"/>
              <a:t>se usam todos. </a:t>
            </a:r>
            <a:r>
              <a:rPr lang="pt-BR" dirty="0"/>
              <a:t>Minimizar o número de modelos produzidos reduz os custos do projeto e o tempo necessário para completar o processo.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Modelos UML </a:t>
            </a:r>
            <a:r>
              <a:rPr lang="pt-BR" dirty="0"/>
              <a:t>para </a:t>
            </a:r>
            <a:r>
              <a:rPr lang="pt-BR" dirty="0" smtClean="0"/>
              <a:t>desenvolver </a:t>
            </a:r>
            <a:r>
              <a:rPr lang="pt-BR" dirty="0"/>
              <a:t>um </a:t>
            </a:r>
            <a:r>
              <a:rPr lang="pt-BR" dirty="0" smtClean="0"/>
              <a:t>projeto:</a:t>
            </a:r>
          </a:p>
          <a:p>
            <a:pPr marL="0" indent="0">
              <a:buNone/>
            </a:pPr>
            <a:r>
              <a:rPr lang="pt-BR" dirty="0" smtClean="0"/>
              <a:t> </a:t>
            </a:r>
            <a:r>
              <a:rPr lang="pt-BR" dirty="0"/>
              <a:t>1. Modelos </a:t>
            </a:r>
            <a:r>
              <a:rPr lang="pt-BR" dirty="0" smtClean="0"/>
              <a:t>estruturais: </a:t>
            </a:r>
            <a:r>
              <a:rPr lang="pt-BR" dirty="0"/>
              <a:t>descrevem a estrutura estática do sistema, usando as classes de objetos e seus relacionamentos. Relacionamentos importantes que podem ser </a:t>
            </a:r>
            <a:r>
              <a:rPr lang="pt-BR" dirty="0" smtClean="0"/>
              <a:t>documentados: generalização </a:t>
            </a:r>
            <a:r>
              <a:rPr lang="pt-BR" dirty="0"/>
              <a:t>(herança), usa/usado por, e composição.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2</a:t>
            </a:r>
            <a:r>
              <a:rPr lang="pt-BR" dirty="0"/>
              <a:t>. Modelos </a:t>
            </a:r>
            <a:r>
              <a:rPr lang="pt-BR" dirty="0" smtClean="0"/>
              <a:t>dinâmicos: </a:t>
            </a:r>
            <a:r>
              <a:rPr lang="pt-BR" dirty="0"/>
              <a:t>descrevem a estrutura dinâmica do sistema e mostram as interações entre os objetos do </a:t>
            </a:r>
            <a:r>
              <a:rPr lang="pt-BR" dirty="0" smtClean="0"/>
              <a:t>sistema: </a:t>
            </a:r>
            <a:r>
              <a:rPr lang="pt-BR" dirty="0" smtClean="0"/>
              <a:t>sequência </a:t>
            </a:r>
            <a:r>
              <a:rPr lang="pt-BR" dirty="0"/>
              <a:t>de solicitações de serviço feitas pelos objetos e as mudanças de estado que são disparadas por essas interações de objetos.</a:t>
            </a:r>
          </a:p>
        </p:txBody>
      </p:sp>
    </p:spTree>
    <p:extLst>
      <p:ext uri="{BB962C8B-B14F-4D97-AF65-F5344CB8AC3E}">
        <p14:creationId xmlns:p14="http://schemas.microsoft.com/office/powerpoint/2010/main" val="4260491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smtClean="0"/>
              <a:t>7.1.4 Modelos </a:t>
            </a:r>
            <a:r>
              <a:rPr lang="pt-BR" dirty="0" smtClean="0"/>
              <a:t>de Projeto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Modelos úteis </a:t>
            </a:r>
            <a:r>
              <a:rPr lang="pt-BR" dirty="0"/>
              <a:t>para acrescentar detalhes aos modelos de caso de uso e de </a:t>
            </a:r>
            <a:r>
              <a:rPr lang="pt-BR" dirty="0" smtClean="0"/>
              <a:t>arquitetura</a:t>
            </a:r>
            <a:r>
              <a:rPr lang="pt-BR" dirty="0"/>
              <a:t>, nos estágios iniciais do processo de projeto: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Modelos </a:t>
            </a:r>
            <a:r>
              <a:rPr lang="pt-BR" dirty="0"/>
              <a:t>de </a:t>
            </a:r>
            <a:r>
              <a:rPr lang="pt-BR" dirty="0" smtClean="0"/>
              <a:t>subsistema (estáticos – estruturais): </a:t>
            </a:r>
            <a:r>
              <a:rPr lang="pt-BR" dirty="0"/>
              <a:t>mostram agrupamentos lógicos de objetos em subsistemas coerentes. </a:t>
            </a:r>
            <a:r>
              <a:rPr lang="pt-BR" dirty="0"/>
              <a:t>r</a:t>
            </a:r>
            <a:r>
              <a:rPr lang="pt-BR" dirty="0" smtClean="0"/>
              <a:t>epresentados </a:t>
            </a:r>
            <a:r>
              <a:rPr lang="pt-BR" dirty="0"/>
              <a:t>por uma forma de diagrama de classe com cada subsistema exibido como um pacote de </a:t>
            </a:r>
            <a:r>
              <a:rPr lang="pt-BR" dirty="0" smtClean="0"/>
              <a:t>objetos</a:t>
            </a:r>
            <a:r>
              <a:rPr lang="pt-BR" dirty="0"/>
              <a:t>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Modelos </a:t>
            </a:r>
            <a:r>
              <a:rPr lang="pt-BR" dirty="0"/>
              <a:t>de </a:t>
            </a:r>
            <a:r>
              <a:rPr lang="pt-BR" dirty="0" smtClean="0"/>
              <a:t>sequência (dinâmico): </a:t>
            </a:r>
            <a:r>
              <a:rPr lang="pt-BR" dirty="0"/>
              <a:t>mostram a sequência de interações de objetos. </a:t>
            </a:r>
            <a:r>
              <a:rPr lang="pt-BR" dirty="0"/>
              <a:t>r</a:t>
            </a:r>
            <a:r>
              <a:rPr lang="pt-BR" dirty="0" smtClean="0"/>
              <a:t>epresentados </a:t>
            </a:r>
            <a:r>
              <a:rPr lang="pt-BR" dirty="0"/>
              <a:t>por um diagrama de sequência ou de </a:t>
            </a:r>
            <a:r>
              <a:rPr lang="pt-BR" dirty="0" smtClean="0"/>
              <a:t>colaboração</a:t>
            </a:r>
          </a:p>
          <a:p>
            <a:pPr marL="514350" indent="-514350">
              <a:buAutoNum type="arabicPeriod"/>
            </a:pPr>
            <a:r>
              <a:rPr lang="pt-BR" dirty="0" smtClean="0"/>
              <a:t>Modelos </a:t>
            </a:r>
            <a:r>
              <a:rPr lang="pt-BR" dirty="0"/>
              <a:t>de máquina de </a:t>
            </a:r>
            <a:r>
              <a:rPr lang="pt-BR" dirty="0" smtClean="0"/>
              <a:t>estado (dinâmico): </a:t>
            </a:r>
            <a:r>
              <a:rPr lang="pt-BR" dirty="0" smtClean="0"/>
              <a:t>mostram </a:t>
            </a:r>
            <a:r>
              <a:rPr lang="pt-BR" dirty="0"/>
              <a:t>como objetos individuais mudam de estado em resposta aos eventos. </a:t>
            </a:r>
            <a:r>
              <a:rPr lang="pt-BR" dirty="0"/>
              <a:t>S</a:t>
            </a:r>
            <a:r>
              <a:rPr lang="pt-BR" dirty="0" smtClean="0"/>
              <a:t>ão representados </a:t>
            </a:r>
            <a:r>
              <a:rPr lang="pt-BR" dirty="0"/>
              <a:t>por diagramas de estado. </a:t>
            </a:r>
          </a:p>
        </p:txBody>
      </p:sp>
    </p:spTree>
    <p:extLst>
      <p:ext uri="{BB962C8B-B14F-4D97-AF65-F5344CB8AC3E}">
        <p14:creationId xmlns:p14="http://schemas.microsoft.com/office/powerpoint/2010/main" val="33964295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smtClean="0"/>
              <a:t>7.1.4 Modelos </a:t>
            </a:r>
            <a:r>
              <a:rPr lang="pt-BR" dirty="0" smtClean="0"/>
              <a:t>de Projeto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M</a:t>
            </a:r>
            <a:r>
              <a:rPr lang="pt-BR" dirty="0" smtClean="0"/>
              <a:t>odelo </a:t>
            </a:r>
            <a:r>
              <a:rPr lang="pt-BR" dirty="0"/>
              <a:t>de </a:t>
            </a:r>
            <a:r>
              <a:rPr lang="pt-BR" dirty="0" smtClean="0"/>
              <a:t>subsistema: </a:t>
            </a:r>
            <a:r>
              <a:rPr lang="pt-BR" dirty="0"/>
              <a:t>estático útil, </a:t>
            </a:r>
            <a:r>
              <a:rPr lang="pt-BR" dirty="0" smtClean="0"/>
              <a:t>mostra </a:t>
            </a:r>
            <a:r>
              <a:rPr lang="pt-BR" dirty="0"/>
              <a:t>como um projeto se organiza em grupos de objetos logicamente relacionados. </a:t>
            </a:r>
            <a:endParaRPr lang="pt-BR" dirty="0" smtClean="0"/>
          </a:p>
          <a:p>
            <a:pPr marL="0" indent="0">
              <a:buNone/>
            </a:pPr>
            <a:r>
              <a:rPr lang="pt-BR" dirty="0" err="1" smtClean="0"/>
              <a:t>Ex</a:t>
            </a:r>
            <a:r>
              <a:rPr lang="pt-BR" dirty="0" smtClean="0"/>
              <a:t>: Figura 7.3: apresenta </a:t>
            </a:r>
            <a:r>
              <a:rPr lang="pt-BR" dirty="0"/>
              <a:t>os subsistemas do sistema de mapeamento de tempo.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Pode-se </a:t>
            </a:r>
            <a:r>
              <a:rPr lang="pt-BR" dirty="0"/>
              <a:t>projetar </a:t>
            </a:r>
            <a:r>
              <a:rPr lang="pt-BR" dirty="0" smtClean="0"/>
              <a:t>modelos </a:t>
            </a:r>
            <a:r>
              <a:rPr lang="pt-BR" dirty="0"/>
              <a:t>de objetos detalhados, mostrando todos os objetos no sistema e suas associações (herança, generalização, agregação etc.). 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P</a:t>
            </a:r>
            <a:r>
              <a:rPr lang="pt-BR" dirty="0" smtClean="0"/>
              <a:t>erigo </a:t>
            </a:r>
            <a:r>
              <a:rPr lang="pt-BR" dirty="0"/>
              <a:t>em fazer muita </a:t>
            </a:r>
            <a:r>
              <a:rPr lang="pt-BR" dirty="0" smtClean="0"/>
              <a:t>modelagem: não se </a:t>
            </a:r>
            <a:r>
              <a:rPr lang="pt-BR" dirty="0"/>
              <a:t>deve tomar decisões </a:t>
            </a:r>
            <a:r>
              <a:rPr lang="pt-BR" dirty="0" smtClean="0"/>
              <a:t>pormenorizadas </a:t>
            </a:r>
            <a:r>
              <a:rPr lang="pt-BR" dirty="0"/>
              <a:t>sobre a </a:t>
            </a:r>
            <a:r>
              <a:rPr lang="pt-BR" dirty="0" smtClean="0"/>
              <a:t>implementação (programadores </a:t>
            </a:r>
            <a:r>
              <a:rPr lang="pt-BR" dirty="0"/>
              <a:t>de </a:t>
            </a:r>
            <a:r>
              <a:rPr lang="pt-BR" dirty="0" smtClean="0"/>
              <a:t>sistema). </a:t>
            </a:r>
          </a:p>
          <a:p>
            <a:pPr marL="0" indent="0">
              <a:buNone/>
            </a:pPr>
            <a:r>
              <a:rPr lang="pt-BR" dirty="0" smtClean="0"/>
              <a:t>Modelos </a:t>
            </a:r>
            <a:r>
              <a:rPr lang="pt-BR" dirty="0"/>
              <a:t>de sequência são modelos dinâmicos que descrevem, para cada modo de interação, a sequência de interações de objetos ocorridas.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Ao </a:t>
            </a:r>
            <a:r>
              <a:rPr lang="pt-BR" dirty="0"/>
              <a:t>documentar um projeto, </a:t>
            </a:r>
            <a:r>
              <a:rPr lang="pt-BR" dirty="0" smtClean="0"/>
              <a:t>produz-se </a:t>
            </a:r>
            <a:r>
              <a:rPr lang="pt-BR" dirty="0"/>
              <a:t>um modelo de sequência para cada interação significativa. </a:t>
            </a:r>
            <a:r>
              <a:rPr lang="pt-BR" dirty="0" smtClean="0"/>
              <a:t>Para cada </a:t>
            </a:r>
            <a:r>
              <a:rPr lang="pt-BR" dirty="0"/>
              <a:t>caso de </a:t>
            </a:r>
            <a:r>
              <a:rPr lang="pt-BR" dirty="0" smtClean="0"/>
              <a:t>uso deve </a:t>
            </a:r>
            <a:r>
              <a:rPr lang="pt-BR" dirty="0"/>
              <a:t>haver um modelo de </a:t>
            </a:r>
            <a:r>
              <a:rPr lang="pt-BR" dirty="0" smtClean="0"/>
              <a:t>sequência.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21459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smtClean="0"/>
              <a:t>7.1.4 Modelos </a:t>
            </a:r>
            <a:r>
              <a:rPr lang="pt-BR" dirty="0" smtClean="0"/>
              <a:t>de Projeto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Figura 7.6: </a:t>
            </a:r>
            <a:r>
              <a:rPr lang="pt-BR" dirty="0"/>
              <a:t>modelo de </a:t>
            </a:r>
            <a:r>
              <a:rPr lang="pt-BR" dirty="0" smtClean="0"/>
              <a:t>sequência UML</a:t>
            </a:r>
          </a:p>
          <a:p>
            <a:pPr marL="0" indent="0">
              <a:buNone/>
            </a:pPr>
            <a:r>
              <a:rPr lang="pt-BR" dirty="0"/>
              <a:t>M</a:t>
            </a:r>
            <a:r>
              <a:rPr lang="pt-BR" dirty="0" smtClean="0"/>
              <a:t>ostra </a:t>
            </a:r>
            <a:r>
              <a:rPr lang="pt-BR" dirty="0"/>
              <a:t>a sequência de interações que ocorrem quando um sistema externo envia um pedido dos dados resumidos da estação meteorológica.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Os </a:t>
            </a:r>
            <a:r>
              <a:rPr lang="pt-BR" dirty="0"/>
              <a:t>diagramas de sequência devem ser lidos de cima para baixo: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1</a:t>
            </a:r>
            <a:r>
              <a:rPr lang="pt-BR" dirty="0"/>
              <a:t>. O objeto </a:t>
            </a:r>
            <a:r>
              <a:rPr lang="pt-BR" dirty="0" err="1"/>
              <a:t>ComunicSat</a:t>
            </a:r>
            <a:r>
              <a:rPr lang="pt-BR" dirty="0"/>
              <a:t> recebe uma solicitação do sistema de informações meteorológicas para coletar um </a:t>
            </a:r>
            <a:r>
              <a:rPr lang="pt-BR" dirty="0" smtClean="0"/>
              <a:t>relatório </a:t>
            </a:r>
            <a:r>
              <a:rPr lang="pt-BR" dirty="0"/>
              <a:t>de clima de uma estação meteorológica. Ele acusa o recebimento da solicitação. A seta na mensagem enviada indica que o sistema externo não espera uma resposta, mas pode continuar com outro processamento</a:t>
            </a:r>
          </a:p>
        </p:txBody>
      </p:sp>
    </p:spTree>
    <p:extLst>
      <p:ext uri="{BB962C8B-B14F-4D97-AF65-F5344CB8AC3E}">
        <p14:creationId xmlns:p14="http://schemas.microsoft.com/office/powerpoint/2010/main" val="41550745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smtClean="0"/>
              <a:t>7.1.4 Modelos </a:t>
            </a:r>
            <a:r>
              <a:rPr lang="pt-BR" dirty="0" smtClean="0"/>
              <a:t>de Projeto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 smtClean="0"/>
              <a:t>Figura 7.6: </a:t>
            </a:r>
            <a:r>
              <a:rPr lang="pt-BR" dirty="0"/>
              <a:t>modelo de </a:t>
            </a:r>
            <a:r>
              <a:rPr lang="pt-BR" dirty="0" smtClean="0"/>
              <a:t>sequência UML</a:t>
            </a:r>
          </a:p>
          <a:p>
            <a:pPr marL="0" indent="0">
              <a:buNone/>
            </a:pPr>
            <a:r>
              <a:rPr lang="pt-BR" dirty="0"/>
              <a:t>2. O </a:t>
            </a:r>
            <a:r>
              <a:rPr lang="pt-BR" dirty="0" err="1"/>
              <a:t>ComunicSat</a:t>
            </a:r>
            <a:r>
              <a:rPr lang="pt-BR" dirty="0"/>
              <a:t> envia uma mensagem para </a:t>
            </a:r>
            <a:r>
              <a:rPr lang="pt-BR" dirty="0" err="1"/>
              <a:t>EstaçãoMeteorológica</a:t>
            </a:r>
            <a:r>
              <a:rPr lang="pt-BR" dirty="0"/>
              <a:t> por meio de um link de satélite para criar um resumo dos dados meteorológicos coletados. Novamente, a seta indica que o </a:t>
            </a:r>
            <a:r>
              <a:rPr lang="pt-BR" dirty="0" err="1"/>
              <a:t>ComunicSat</a:t>
            </a:r>
            <a:r>
              <a:rPr lang="pt-BR" dirty="0"/>
              <a:t> não fica em suspenso esperando por uma resposta.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3</a:t>
            </a:r>
            <a:r>
              <a:rPr lang="pt-BR" dirty="0"/>
              <a:t>. </a:t>
            </a:r>
            <a:r>
              <a:rPr lang="pt-BR" dirty="0" err="1"/>
              <a:t>EstaçãoMeteorológica</a:t>
            </a:r>
            <a:r>
              <a:rPr lang="pt-BR" dirty="0"/>
              <a:t> envia uma mensagem a um objeto </a:t>
            </a:r>
            <a:r>
              <a:rPr lang="pt-BR" dirty="0" err="1"/>
              <a:t>LinkComunic</a:t>
            </a:r>
            <a:r>
              <a:rPr lang="pt-BR" dirty="0"/>
              <a:t> para resumir os dados meteorológicos. </a:t>
            </a:r>
            <a:r>
              <a:rPr lang="pt-BR" dirty="0" smtClean="0"/>
              <a:t>O estilo </a:t>
            </a:r>
            <a:r>
              <a:rPr lang="pt-BR" dirty="0"/>
              <a:t>quadrado da seta indica que a instância da classe de objeto </a:t>
            </a:r>
            <a:r>
              <a:rPr lang="pt-BR" dirty="0" err="1"/>
              <a:t>EstaçãoMeteorológica</a:t>
            </a:r>
            <a:r>
              <a:rPr lang="pt-BR" dirty="0"/>
              <a:t> aguarda uma resposta.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4</a:t>
            </a:r>
            <a:r>
              <a:rPr lang="pt-BR" dirty="0"/>
              <a:t>. </a:t>
            </a:r>
            <a:r>
              <a:rPr lang="pt-BR" dirty="0" err="1"/>
              <a:t>LinkComunic</a:t>
            </a:r>
            <a:r>
              <a:rPr lang="pt-BR" dirty="0"/>
              <a:t> chama o método resumir no objeto </a:t>
            </a:r>
            <a:r>
              <a:rPr lang="pt-BR" dirty="0" err="1"/>
              <a:t>DadosMeteorológicos</a:t>
            </a:r>
            <a:r>
              <a:rPr lang="pt-BR" dirty="0"/>
              <a:t> e aguarda uma resposta.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5</a:t>
            </a:r>
            <a:r>
              <a:rPr lang="pt-BR" dirty="0"/>
              <a:t>. O resumo dos dados meteorológicos é calculado e retornado para </a:t>
            </a:r>
            <a:r>
              <a:rPr lang="pt-BR" dirty="0" err="1"/>
              <a:t>EstaçãoMeteorológica</a:t>
            </a:r>
            <a:r>
              <a:rPr lang="pt-BR" dirty="0"/>
              <a:t> por meio do objeto </a:t>
            </a:r>
            <a:r>
              <a:rPr lang="pt-BR" dirty="0" err="1"/>
              <a:t>LinkComunic</a:t>
            </a:r>
            <a:r>
              <a:rPr lang="pt-BR" dirty="0"/>
              <a:t>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6</a:t>
            </a:r>
            <a:r>
              <a:rPr lang="pt-BR" dirty="0"/>
              <a:t>. </a:t>
            </a:r>
            <a:r>
              <a:rPr lang="pt-BR" dirty="0" err="1" smtClean="0"/>
              <a:t>EstaçãoMeteorológica</a:t>
            </a:r>
            <a:r>
              <a:rPr lang="pt-BR" dirty="0" smtClean="0"/>
              <a:t> </a:t>
            </a:r>
            <a:r>
              <a:rPr lang="pt-BR" dirty="0"/>
              <a:t>chama o objeto </a:t>
            </a:r>
            <a:r>
              <a:rPr lang="pt-BR" dirty="0" err="1"/>
              <a:t>ComunicSat</a:t>
            </a:r>
            <a:r>
              <a:rPr lang="pt-BR" dirty="0"/>
              <a:t> para transmitir os dados resumidos para o sistema de informações meteorológicas, por meio do sistema de comunicações por satélite.</a:t>
            </a:r>
          </a:p>
        </p:txBody>
      </p:sp>
    </p:spTree>
    <p:extLst>
      <p:ext uri="{BB962C8B-B14F-4D97-AF65-F5344CB8AC3E}">
        <p14:creationId xmlns:p14="http://schemas.microsoft.com/office/powerpoint/2010/main" val="4008177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smtClean="0"/>
              <a:t>7.1.4 Modelos </a:t>
            </a:r>
            <a:r>
              <a:rPr lang="pt-BR" dirty="0" smtClean="0"/>
              <a:t>de Projeto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Figura 7.6: </a:t>
            </a:r>
            <a:r>
              <a:rPr lang="pt-BR" dirty="0"/>
              <a:t>modelo de </a:t>
            </a:r>
            <a:r>
              <a:rPr lang="pt-BR" dirty="0" smtClean="0"/>
              <a:t>sequência UML</a:t>
            </a:r>
          </a:p>
          <a:p>
            <a:pPr marL="0" indent="0">
              <a:buNone/>
            </a:pPr>
            <a:endParaRPr lang="pt-BR" dirty="0" smtClean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074" y="2042988"/>
            <a:ext cx="7685597" cy="454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0463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smtClean="0"/>
              <a:t>7.1.4 Modelos </a:t>
            </a:r>
            <a:r>
              <a:rPr lang="pt-BR" dirty="0" smtClean="0"/>
              <a:t>de Projeto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Os objetos </a:t>
            </a:r>
            <a:r>
              <a:rPr lang="pt-BR" dirty="0" err="1"/>
              <a:t>ComunicSat</a:t>
            </a:r>
            <a:r>
              <a:rPr lang="pt-BR" dirty="0"/>
              <a:t> e </a:t>
            </a:r>
            <a:r>
              <a:rPr lang="pt-BR" dirty="0" err="1" smtClean="0"/>
              <a:t>EstaçãoMeteorológica</a:t>
            </a:r>
            <a:r>
              <a:rPr lang="pt-BR" dirty="0" smtClean="0"/>
              <a:t>:  </a:t>
            </a:r>
            <a:r>
              <a:rPr lang="pt-BR" dirty="0"/>
              <a:t>podem ser implementados como processos concorrentes, cuja execução pode ser suspensa e reiniciada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r>
              <a:rPr lang="pt-BR" dirty="0" smtClean="0"/>
              <a:t> </a:t>
            </a:r>
            <a:r>
              <a:rPr lang="pt-BR" dirty="0"/>
              <a:t>A instância do objeto </a:t>
            </a:r>
            <a:r>
              <a:rPr lang="pt-BR" dirty="0" err="1"/>
              <a:t>ComunicSat</a:t>
            </a:r>
            <a:r>
              <a:rPr lang="pt-BR" dirty="0"/>
              <a:t> escuta as mensagens do sistema externo, decodifica essas mensagens e inicia as operações da estação meteorológica. 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D</a:t>
            </a:r>
            <a:r>
              <a:rPr lang="pt-BR" dirty="0" smtClean="0"/>
              <a:t>iagramas </a:t>
            </a:r>
            <a:r>
              <a:rPr lang="pt-BR" dirty="0"/>
              <a:t>de </a:t>
            </a:r>
            <a:r>
              <a:rPr lang="pt-BR" dirty="0" smtClean="0"/>
              <a:t>sequência: modelam </a:t>
            </a:r>
            <a:r>
              <a:rPr lang="pt-BR" dirty="0"/>
              <a:t>o comportamento combinado de um grupo de </a:t>
            </a:r>
            <a:r>
              <a:rPr lang="pt-BR" dirty="0" smtClean="0"/>
              <a:t>objetos. Pode-se </a:t>
            </a:r>
            <a:r>
              <a:rPr lang="pt-BR" dirty="0"/>
              <a:t>resumir o comportamento de um objeto ou de um subsistema em resposta às mensagens e aos </a:t>
            </a:r>
            <a:r>
              <a:rPr lang="pt-BR" dirty="0" smtClean="0"/>
              <a:t>eventos: modelo </a:t>
            </a:r>
            <a:r>
              <a:rPr lang="pt-BR" dirty="0"/>
              <a:t>de máquina de estado que mostre como a instância do objeto muda de estado, dependendo das mensagens que recebe.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A </a:t>
            </a:r>
            <a:r>
              <a:rPr lang="pt-BR" dirty="0"/>
              <a:t>UML inclui diagramas de estado, que foram inventados por </a:t>
            </a:r>
            <a:r>
              <a:rPr lang="pt-BR" dirty="0" err="1"/>
              <a:t>Harel</a:t>
            </a:r>
            <a:r>
              <a:rPr lang="pt-BR" dirty="0"/>
              <a:t> (1987) para descrever modelos de máquina de estado.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41630945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smtClean="0"/>
              <a:t>7.1.4 Modelos </a:t>
            </a:r>
            <a:r>
              <a:rPr lang="pt-BR" dirty="0" smtClean="0"/>
              <a:t>de Projeto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 smtClean="0"/>
              <a:t>Figura 7.7: diagrama </a:t>
            </a:r>
            <a:r>
              <a:rPr lang="pt-BR" dirty="0"/>
              <a:t>de estado para o sistema de estação </a:t>
            </a:r>
            <a:r>
              <a:rPr lang="pt-BR" dirty="0" smtClean="0"/>
              <a:t>meteorológica: </a:t>
            </a:r>
            <a:r>
              <a:rPr lang="pt-BR" dirty="0"/>
              <a:t>mostra como ele responde a pedidos de vários serviços.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Leitura: </a:t>
            </a:r>
          </a:p>
          <a:p>
            <a:pPr marL="514350" indent="-514350">
              <a:buAutoNum type="arabicPeriod"/>
            </a:pPr>
            <a:r>
              <a:rPr lang="pt-BR" dirty="0" smtClean="0"/>
              <a:t>Se </a:t>
            </a:r>
            <a:r>
              <a:rPr lang="pt-BR" dirty="0"/>
              <a:t>o estado do sistema é Desligado, ele pode responder a uma mensagem reiniciar ( ), reconfigurar ( ) ou </a:t>
            </a:r>
            <a:r>
              <a:rPr lang="pt-BR" dirty="0" err="1"/>
              <a:t>economizarEnergia</a:t>
            </a:r>
            <a:r>
              <a:rPr lang="pt-BR" dirty="0"/>
              <a:t> ( ). A seta com uma bolha preta, não marcada, indica que o estado Desligado é o estado inicial. Uma mensagem reiniciar ( ) causa a transição para a operação normal. </a:t>
            </a:r>
            <a:r>
              <a:rPr lang="pt-BR" dirty="0" smtClean="0"/>
              <a:t>As</a:t>
            </a:r>
            <a:r>
              <a:rPr lang="pt-BR" dirty="0" smtClean="0"/>
              <a:t> mensagens </a:t>
            </a:r>
            <a:r>
              <a:rPr lang="pt-BR" dirty="0" err="1"/>
              <a:t>economiaEnergia</a:t>
            </a:r>
            <a:r>
              <a:rPr lang="pt-BR" dirty="0"/>
              <a:t> ( ) </a:t>
            </a:r>
            <a:r>
              <a:rPr lang="pt-BR" dirty="0" smtClean="0"/>
              <a:t>e </a:t>
            </a:r>
            <a:r>
              <a:rPr lang="pt-BR" dirty="0"/>
              <a:t>reconfigurar ( ) podem causar uma transição para um estado no qual o sistema se reconfigura. O diagrama de estado mostra que a reconfiguração só é permitida se o sistema esteve desligado.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No </a:t>
            </a:r>
            <a:r>
              <a:rPr lang="pt-BR" dirty="0"/>
              <a:t>estado Executando, o sistema espera futuras mensagens. Se uma mensagem desligar ( ) é recebida, o objeto retorna para o estado Desligado.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Se </a:t>
            </a:r>
            <a:r>
              <a:rPr lang="pt-BR" dirty="0"/>
              <a:t>uma mensagem </a:t>
            </a:r>
            <a:r>
              <a:rPr lang="pt-BR" dirty="0" err="1"/>
              <a:t>relatarClima</a:t>
            </a:r>
            <a:r>
              <a:rPr lang="pt-BR" dirty="0"/>
              <a:t> ( ) é recebida, o sistema se move para o estado Resumindo. Quando o resumo estiver concluído, o sistema passa para um estado Transmitindo, no qual as informações são transmitidas para o sistema remoto. Em seguida, retorna ao estado Executando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6399287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smtClean="0"/>
              <a:t>7.1.4 Modelos </a:t>
            </a:r>
            <a:r>
              <a:rPr lang="pt-BR" dirty="0" smtClean="0"/>
              <a:t>de Projeto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Figura 7.7: diagrama </a:t>
            </a:r>
            <a:r>
              <a:rPr lang="pt-BR" dirty="0"/>
              <a:t>de estado para o sistema de estação </a:t>
            </a:r>
            <a:r>
              <a:rPr lang="pt-BR" dirty="0" smtClean="0"/>
              <a:t>meteorológica: </a:t>
            </a:r>
            <a:r>
              <a:rPr lang="pt-BR" dirty="0"/>
              <a:t>mostra como ele responde a pedidos de vários serviços.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Leitura: </a:t>
            </a:r>
          </a:p>
          <a:p>
            <a:pPr marL="0" indent="0">
              <a:buNone/>
            </a:pPr>
            <a:r>
              <a:rPr lang="pt-BR" dirty="0"/>
              <a:t>4. Se uma mensagem </a:t>
            </a:r>
            <a:r>
              <a:rPr lang="pt-BR" dirty="0" err="1"/>
              <a:t>relatarStatus</a:t>
            </a:r>
            <a:r>
              <a:rPr lang="pt-BR" dirty="0"/>
              <a:t> ( ) é recebida, o sistema se move para o estado Testando, depois para o estado Transmitindo, antes de retornar ao estado Executando.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5</a:t>
            </a:r>
            <a:r>
              <a:rPr lang="pt-BR" dirty="0"/>
              <a:t>. Se um sinal do relógio é recebido, o sistema passa ao estado Coletando, em que coleta os dados dos </a:t>
            </a:r>
            <a:r>
              <a:rPr lang="pt-BR" dirty="0" err="1"/>
              <a:t>instru</a:t>
            </a:r>
            <a:r>
              <a:rPr lang="pt-BR" dirty="0"/>
              <a:t> mentos. Cada instrumento, por sua vez, é instruído para coletar os dados dos sensores associados.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6</a:t>
            </a:r>
            <a:r>
              <a:rPr lang="pt-BR" dirty="0"/>
              <a:t>. Se uma mensagem </a:t>
            </a:r>
            <a:r>
              <a:rPr lang="pt-BR" dirty="0" err="1"/>
              <a:t>controlarRemoto</a:t>
            </a:r>
            <a:r>
              <a:rPr lang="pt-BR" dirty="0"/>
              <a:t> ( ) é recebida, o sistema se move para um estado Controlado, em que ele responde a um conjunto de diferentes mensagens da sala de controle remoto. Estas não são mostradas nesse diagrama.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4314271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smtClean="0"/>
              <a:t>7.1.4 Modelos </a:t>
            </a:r>
            <a:r>
              <a:rPr lang="pt-BR" dirty="0" smtClean="0"/>
              <a:t>de Projeto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Figura 7.7: diagrama </a:t>
            </a:r>
            <a:r>
              <a:rPr lang="pt-BR" dirty="0"/>
              <a:t>de estado para o sistema de estação </a:t>
            </a:r>
            <a:r>
              <a:rPr lang="pt-BR" dirty="0" smtClean="0"/>
              <a:t>meteorológica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1067462"/>
            <a:ext cx="10487025" cy="602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5530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7.1.5 Especificações de interface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Interfaces projetadas </a:t>
            </a:r>
            <a:r>
              <a:rPr lang="pt-BR" dirty="0"/>
              <a:t>de forma que os objetos e os subsistemas possam ser projetados em paralelo.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Interface especificada: </a:t>
            </a:r>
            <a:r>
              <a:rPr lang="pt-BR" dirty="0"/>
              <a:t>os desenvolvedores de outros objetos podem supor que ela será implementada. O projeto de </a:t>
            </a:r>
            <a:r>
              <a:rPr lang="pt-BR" dirty="0" smtClean="0"/>
              <a:t>interface: preocupa-se com </a:t>
            </a:r>
            <a:r>
              <a:rPr lang="pt-BR" dirty="0"/>
              <a:t>a especificação dos detalhes da interface para um objeto ou para um grupo de objetos. Isso significa definir as assinaturas e a semântica dos serviços fornecidos pelo objeto ou por um grupo de objetos.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As </a:t>
            </a:r>
            <a:r>
              <a:rPr lang="pt-BR" dirty="0"/>
              <a:t>interfaces podem ser especificadas em UML usando-se a mesma notação como um </a:t>
            </a:r>
            <a:r>
              <a:rPr lang="pt-BR" dirty="0" smtClean="0"/>
              <a:t>diagrama </a:t>
            </a:r>
            <a:r>
              <a:rPr lang="pt-BR" dirty="0"/>
              <a:t>de </a:t>
            </a:r>
            <a:r>
              <a:rPr lang="pt-BR" dirty="0" smtClean="0"/>
              <a:t>classe, sem </a:t>
            </a:r>
            <a:r>
              <a:rPr lang="pt-BR" dirty="0"/>
              <a:t>a seção de atributos, e o estereótipo UML &lt;&gt; deve ser incluído na parte do nome. </a:t>
            </a:r>
            <a:r>
              <a:rPr lang="pt-BR" dirty="0" smtClean="0"/>
              <a:t>A </a:t>
            </a:r>
            <a:r>
              <a:rPr lang="pt-BR" dirty="0"/>
              <a:t>semântica da interface pode ser definida usando-se a linguagem de restrição de objetos (OCL, do inglês </a:t>
            </a:r>
            <a:r>
              <a:rPr lang="pt-BR" dirty="0" err="1"/>
              <a:t>object</a:t>
            </a:r>
            <a:r>
              <a:rPr lang="pt-BR" dirty="0"/>
              <a:t> </a:t>
            </a:r>
            <a:r>
              <a:rPr lang="pt-BR" dirty="0" err="1"/>
              <a:t>constraint</a:t>
            </a:r>
            <a:r>
              <a:rPr lang="pt-BR" dirty="0"/>
              <a:t> </a:t>
            </a:r>
            <a:r>
              <a:rPr lang="pt-BR" dirty="0" err="1" smtClean="0"/>
              <a:t>language</a:t>
            </a:r>
            <a:r>
              <a:rPr lang="pt-BR" dirty="0" smtClean="0"/>
              <a:t>).  (Capítulo 17)</a:t>
            </a:r>
          </a:p>
        </p:txBody>
      </p:sp>
    </p:spTree>
    <p:extLst>
      <p:ext uri="{BB962C8B-B14F-4D97-AF65-F5344CB8AC3E}">
        <p14:creationId xmlns:p14="http://schemas.microsoft.com/office/powerpoint/2010/main" val="20216760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7.1.5 Especificações de interface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 smtClean="0"/>
              <a:t>Projeto de interface: sem </a:t>
            </a:r>
            <a:r>
              <a:rPr lang="pt-BR" dirty="0"/>
              <a:t>representação de dados em um projeto de interface, já que atributos não são definidos em uma especificação de interface.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Deve-se </a:t>
            </a:r>
            <a:r>
              <a:rPr lang="pt-BR" dirty="0"/>
              <a:t>incluir as operações de acesso e </a:t>
            </a:r>
            <a:r>
              <a:rPr lang="pt-BR" dirty="0" smtClean="0"/>
              <a:t>atualização </a:t>
            </a:r>
            <a:r>
              <a:rPr lang="pt-BR" dirty="0"/>
              <a:t>de dados.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A representação </a:t>
            </a:r>
            <a:r>
              <a:rPr lang="pt-BR" dirty="0"/>
              <a:t>de dados é oculta, </a:t>
            </a:r>
            <a:r>
              <a:rPr lang="pt-BR" dirty="0" smtClean="0"/>
              <a:t>podendo </a:t>
            </a:r>
            <a:r>
              <a:rPr lang="pt-BR" dirty="0"/>
              <a:t>ser facilmente alterada sem afetar os objetos que usam esses </a:t>
            </a:r>
            <a:r>
              <a:rPr lang="pt-BR" dirty="0" smtClean="0"/>
              <a:t>dados, gerando </a:t>
            </a:r>
            <a:r>
              <a:rPr lang="pt-BR" dirty="0"/>
              <a:t>projeto </a:t>
            </a:r>
            <a:r>
              <a:rPr lang="pt-BR" dirty="0" smtClean="0"/>
              <a:t>mais </a:t>
            </a:r>
            <a:r>
              <a:rPr lang="pt-BR" dirty="0"/>
              <a:t>manutenível. </a:t>
            </a:r>
            <a:endParaRPr lang="pt-BR" dirty="0" smtClean="0"/>
          </a:p>
          <a:p>
            <a:pPr marL="0" indent="0">
              <a:buNone/>
            </a:pPr>
            <a:r>
              <a:rPr lang="pt-BR" dirty="0" err="1" smtClean="0"/>
              <a:t>Ex</a:t>
            </a:r>
            <a:r>
              <a:rPr lang="pt-BR" dirty="0" smtClean="0"/>
              <a:t>: representação </a:t>
            </a:r>
            <a:r>
              <a:rPr lang="pt-BR" dirty="0"/>
              <a:t>de uma pilha, via vetor, pode ser alterada para uma representação de lista sem afetar os outros objetos que usam a pilha. Pelo contrário, muitas vezes faz sentido expor os atributos em um modelo de projeto estático, pois essa é a forma mais compacta de ilustrar características essenciais dos objetos.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Não </a:t>
            </a:r>
            <a:r>
              <a:rPr lang="pt-BR" dirty="0"/>
              <a:t>existe um relacionamento simples 1:1 entre objetos e interfaces. O mesmo objeto pode ter várias </a:t>
            </a:r>
            <a:r>
              <a:rPr lang="pt-BR" dirty="0" smtClean="0"/>
              <a:t>interfaces</a:t>
            </a:r>
            <a:r>
              <a:rPr lang="pt-BR" dirty="0"/>
              <a:t>, cada uma com um ponto de vista sobre os métodos que ele fornece. Isso é suportado diretamente em Java, em que as interfaces são declaradas separadamente a partir de objetos e objetos ‘implementam’ interfaces. Da mesma maneira, um grupo de objetos pode ser acessado por meio de apenas uma interface.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9562520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7.1.5 Especificações de interface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Figura 7.8: </a:t>
            </a:r>
            <a:r>
              <a:rPr lang="pt-BR" dirty="0"/>
              <a:t>duas interfaces que podem ser definidas para a estação meteorológica. A interface do lado esquerdo é uma interface de relatório que define os nomes das operações para gerar relatórios de clima e </a:t>
            </a:r>
            <a:r>
              <a:rPr lang="pt-BR" dirty="0" smtClean="0"/>
              <a:t>status que </a:t>
            </a:r>
            <a:r>
              <a:rPr lang="pt-BR" dirty="0"/>
              <a:t>mapeiam diretamente para as operações no objeto </a:t>
            </a:r>
            <a:r>
              <a:rPr lang="pt-BR" dirty="0" err="1"/>
              <a:t>EstaçãoMeteorológica</a:t>
            </a:r>
            <a:r>
              <a:rPr lang="pt-BR" dirty="0"/>
              <a:t>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A </a:t>
            </a:r>
            <a:r>
              <a:rPr lang="pt-BR" dirty="0"/>
              <a:t>interface de controle remoto fornece quatro operações, que mapeiam para um único método no objeto </a:t>
            </a:r>
            <a:r>
              <a:rPr lang="pt-BR" dirty="0" err="1"/>
              <a:t>EstaçãoMeteorológica</a:t>
            </a:r>
            <a:r>
              <a:rPr lang="pt-BR" dirty="0"/>
              <a:t>. Nesse caso, as operações individuais são codificadas no </a:t>
            </a:r>
            <a:r>
              <a:rPr lang="pt-BR" dirty="0" err="1"/>
              <a:t>string</a:t>
            </a:r>
            <a:r>
              <a:rPr lang="pt-BR" dirty="0"/>
              <a:t> de comando associado com o método </a:t>
            </a:r>
            <a:r>
              <a:rPr lang="pt-BR" dirty="0" err="1"/>
              <a:t>controlarRemoto</a:t>
            </a:r>
            <a:r>
              <a:rPr lang="pt-BR" dirty="0"/>
              <a:t>, na Figura 7.5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5604603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7.1.5 Especificações de interface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Figura 7.8:</a:t>
            </a:r>
          </a:p>
        </p:txBody>
      </p:sp>
      <p:sp>
        <p:nvSpPr>
          <p:cNvPr id="4" name="Retângulo 3"/>
          <p:cNvSpPr/>
          <p:nvPr/>
        </p:nvSpPr>
        <p:spPr>
          <a:xfrm>
            <a:off x="962025" y="2990850"/>
            <a:ext cx="3733800" cy="2028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«Interface» Relatório </a:t>
            </a:r>
            <a:endParaRPr lang="pt-BR" dirty="0" smtClean="0"/>
          </a:p>
          <a:p>
            <a:pPr algn="ctr"/>
            <a:r>
              <a:rPr lang="pt-BR" dirty="0" err="1" smtClean="0"/>
              <a:t>relatarClima</a:t>
            </a:r>
            <a:r>
              <a:rPr lang="pt-BR" dirty="0" smtClean="0"/>
              <a:t> </a:t>
            </a:r>
            <a:r>
              <a:rPr lang="pt-BR" dirty="0"/>
              <a:t>(EM – </a:t>
            </a:r>
            <a:r>
              <a:rPr lang="pt-BR" dirty="0" err="1"/>
              <a:t>Ident</a:t>
            </a:r>
            <a:r>
              <a:rPr lang="pt-BR" dirty="0"/>
              <a:t>): </a:t>
            </a:r>
            <a:endParaRPr lang="pt-BR" dirty="0" smtClean="0"/>
          </a:p>
          <a:p>
            <a:pPr algn="ctr"/>
            <a:r>
              <a:rPr lang="pt-BR" dirty="0" err="1" smtClean="0"/>
              <a:t>relatarStatus</a:t>
            </a:r>
            <a:r>
              <a:rPr lang="pt-BR" dirty="0" smtClean="0"/>
              <a:t> </a:t>
            </a:r>
            <a:r>
              <a:rPr lang="pt-BR" dirty="0"/>
              <a:t>(EM – </a:t>
            </a:r>
            <a:r>
              <a:rPr lang="pt-BR" dirty="0" err="1"/>
              <a:t>Ident</a:t>
            </a:r>
            <a:r>
              <a:rPr lang="pt-BR" dirty="0"/>
              <a:t>): </a:t>
            </a:r>
            <a:r>
              <a:rPr lang="pt-BR" dirty="0" err="1"/>
              <a:t>relatórioS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6075872" y="3181350"/>
            <a:ext cx="4382578" cy="2028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«Interface» Controle remoto </a:t>
            </a:r>
            <a:r>
              <a:rPr lang="pt-BR" dirty="0" err="1" smtClean="0"/>
              <a:t>iniciarInstrumento</a:t>
            </a:r>
            <a:r>
              <a:rPr lang="pt-BR" dirty="0" smtClean="0"/>
              <a:t> </a:t>
            </a:r>
            <a:r>
              <a:rPr lang="pt-BR" dirty="0"/>
              <a:t>(instrumento): </a:t>
            </a:r>
            <a:r>
              <a:rPr lang="pt-BR" dirty="0" err="1"/>
              <a:t>iStatus</a:t>
            </a:r>
            <a:r>
              <a:rPr lang="pt-BR" dirty="0"/>
              <a:t> </a:t>
            </a:r>
            <a:r>
              <a:rPr lang="pt-BR" dirty="0" err="1"/>
              <a:t>pararInstrumento</a:t>
            </a:r>
            <a:r>
              <a:rPr lang="pt-BR" dirty="0"/>
              <a:t> (instrumento): </a:t>
            </a:r>
            <a:r>
              <a:rPr lang="pt-BR" dirty="0" err="1"/>
              <a:t>iStatus</a:t>
            </a:r>
            <a:r>
              <a:rPr lang="pt-BR" dirty="0"/>
              <a:t> </a:t>
            </a:r>
            <a:r>
              <a:rPr lang="pt-BR" dirty="0" err="1"/>
              <a:t>coletarDados</a:t>
            </a:r>
            <a:r>
              <a:rPr lang="pt-BR" dirty="0"/>
              <a:t> (instrumento): </a:t>
            </a:r>
            <a:r>
              <a:rPr lang="pt-BR" dirty="0" err="1"/>
              <a:t>iStatus</a:t>
            </a:r>
            <a:r>
              <a:rPr lang="pt-BR" dirty="0"/>
              <a:t> </a:t>
            </a:r>
            <a:r>
              <a:rPr lang="pt-BR" dirty="0" err="1"/>
              <a:t>fornecerDados</a:t>
            </a:r>
            <a:r>
              <a:rPr lang="pt-BR" dirty="0"/>
              <a:t> (instrumento): </a:t>
            </a:r>
            <a:r>
              <a:rPr lang="pt-BR" dirty="0" err="1"/>
              <a:t>string</a:t>
            </a:r>
            <a:r>
              <a:rPr lang="pt-BR" dirty="0"/>
              <a:t> </a:t>
            </a:r>
          </a:p>
        </p:txBody>
      </p:sp>
      <p:cxnSp>
        <p:nvCxnSpPr>
          <p:cNvPr id="7" name="Conector reto 6"/>
          <p:cNvCxnSpPr/>
          <p:nvPr/>
        </p:nvCxnSpPr>
        <p:spPr>
          <a:xfrm>
            <a:off x="962025" y="3781425"/>
            <a:ext cx="3752850" cy="9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/>
          <p:nvPr/>
        </p:nvCxnSpPr>
        <p:spPr>
          <a:xfrm>
            <a:off x="6138053" y="3790950"/>
            <a:ext cx="43203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5677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7.2 Padrões de projeto 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89961" y="1873751"/>
            <a:ext cx="11250613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Os padrões de projeto foram obtidos a partir das ideias apresentadas por Christopher Alexander (ALEXANDER et al., 1977), que sugeriu haver padrões comuns de projeto de prédios que eram inerentemente agradáveis e eficazes.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padrão é uma descrição do problema e da essência de sua solução, de modo que a solução possa ser reusada em diferentes contextos.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padrão não é uma especificação detalhada, sendo  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descrição 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 conhecimento e experiência, uma solução já aprovada para um problema comum.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Uma citação do site da </a:t>
            </a:r>
            <a:r>
              <a:rPr kumimoji="0" lang="pt-BR" altLang="pt-B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Hillside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(), dedicado a manter informações sobre os padrões, sintetiza seu papel no </a:t>
            </a:r>
            <a:r>
              <a:rPr kumimoji="0" lang="pt-BR" altLang="pt-B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reúso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Padrões e Linguagens de Padrões são formas de descrever as melhores práticas, bons projetos e capturar a experiência de uma forma que torne possível a outros reusar essa experiência</a:t>
            </a:r>
            <a:r>
              <a:rPr kumimoji="0" lang="pt-BR" altLang="pt-BR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883027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7.2 Padrões de projeto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 smtClean="0"/>
              <a:t>P</a:t>
            </a:r>
            <a:r>
              <a:rPr lang="pt-BR" dirty="0" smtClean="0"/>
              <a:t>adrões: forte </a:t>
            </a:r>
            <a:r>
              <a:rPr lang="pt-BR" dirty="0"/>
              <a:t>impacto no projeto de software orientado a objetos. </a:t>
            </a:r>
            <a:r>
              <a:rPr lang="pt-BR" dirty="0" smtClean="0"/>
              <a:t>São </a:t>
            </a:r>
            <a:r>
              <a:rPr lang="pt-BR" dirty="0"/>
              <a:t>soluções já testadas para problemas </a:t>
            </a:r>
            <a:r>
              <a:rPr lang="pt-BR" dirty="0" smtClean="0"/>
              <a:t>comuns e </a:t>
            </a:r>
            <a:r>
              <a:rPr lang="pt-BR" dirty="0"/>
              <a:t>vocabulário para falar sobre um projeto.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Projeto: Explica-se pelas </a:t>
            </a:r>
            <a:r>
              <a:rPr lang="pt-BR" dirty="0"/>
              <a:t>descrições dos </a:t>
            </a:r>
            <a:r>
              <a:rPr lang="pt-BR" dirty="0" smtClean="0"/>
              <a:t>padrões usadas. </a:t>
            </a:r>
          </a:p>
          <a:p>
            <a:pPr marL="0" indent="0">
              <a:buNone/>
            </a:pPr>
            <a:r>
              <a:rPr lang="pt-BR" dirty="0" smtClean="0"/>
              <a:t>Outras </a:t>
            </a:r>
            <a:r>
              <a:rPr lang="pt-BR" dirty="0"/>
              <a:t>descrições de padrões particularmente importantes são as publicadas em uma série de livros de autores da Siemens, uma grande empresa europeia de tecnologia (BUSCHMANN et al., 1996;. BUSCHMANN et al., 2007a; BUSCHMANN et al., 2007b; KIRCHER e JAIN, 2004; SCHMIDT et al., 2000). 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P</a:t>
            </a:r>
            <a:r>
              <a:rPr lang="pt-BR" dirty="0" smtClean="0"/>
              <a:t>adrões </a:t>
            </a:r>
            <a:r>
              <a:rPr lang="pt-BR" dirty="0"/>
              <a:t>de </a:t>
            </a:r>
            <a:r>
              <a:rPr lang="pt-BR" dirty="0" smtClean="0"/>
              <a:t>projeto: </a:t>
            </a:r>
            <a:r>
              <a:rPr lang="pt-BR" dirty="0"/>
              <a:t>são normalmente associados </a:t>
            </a:r>
            <a:r>
              <a:rPr lang="pt-BR" dirty="0" smtClean="0"/>
              <a:t>ao </a:t>
            </a:r>
            <a:r>
              <a:rPr lang="pt-BR" dirty="0"/>
              <a:t>projeto orientado a objetos.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P</a:t>
            </a:r>
            <a:r>
              <a:rPr lang="pt-BR" dirty="0" smtClean="0"/>
              <a:t>adrões </a:t>
            </a:r>
            <a:r>
              <a:rPr lang="pt-BR" dirty="0"/>
              <a:t>publicados contam com as características de </a:t>
            </a:r>
            <a:r>
              <a:rPr lang="pt-BR" dirty="0" smtClean="0"/>
              <a:t>objetos (herança </a:t>
            </a:r>
            <a:r>
              <a:rPr lang="pt-BR" dirty="0"/>
              <a:t>e polimorfismo para fornecer </a:t>
            </a:r>
            <a:r>
              <a:rPr lang="pt-BR" dirty="0" smtClean="0"/>
              <a:t>generalidade). </a:t>
            </a:r>
          </a:p>
          <a:p>
            <a:pPr marL="0" indent="0">
              <a:buNone/>
            </a:pPr>
            <a:r>
              <a:rPr lang="pt-BR" dirty="0"/>
              <a:t>P</a:t>
            </a:r>
            <a:r>
              <a:rPr lang="pt-BR" dirty="0" smtClean="0"/>
              <a:t>rincípio </a:t>
            </a:r>
            <a:r>
              <a:rPr lang="pt-BR" dirty="0"/>
              <a:t>geral de encapsular a experiência em um </a:t>
            </a:r>
            <a:r>
              <a:rPr lang="pt-BR" dirty="0" smtClean="0"/>
              <a:t>padrão: </a:t>
            </a:r>
            <a:r>
              <a:rPr lang="pt-BR" dirty="0"/>
              <a:t>é aquele igualmente aplicável a qualquer tipo de projeto de software.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Pode-se</a:t>
            </a:r>
            <a:r>
              <a:rPr lang="pt-BR" dirty="0" smtClean="0"/>
              <a:t> </a:t>
            </a:r>
            <a:r>
              <a:rPr lang="pt-BR" dirty="0"/>
              <a:t>ter padrões de configuração para os sistemas </a:t>
            </a:r>
            <a:r>
              <a:rPr lang="pt-BR" dirty="0" smtClean="0"/>
              <a:t>COTS (hardware ou software de prateleira</a:t>
            </a:r>
            <a:r>
              <a:rPr lang="pt-BR" dirty="0" smtClean="0"/>
              <a:t>).</a:t>
            </a:r>
          </a:p>
          <a:p>
            <a:pPr marL="0" indent="0">
              <a:buNone/>
            </a:pPr>
            <a:r>
              <a:rPr lang="pt-BR" dirty="0" smtClean="0"/>
              <a:t>P</a:t>
            </a:r>
            <a:r>
              <a:rPr lang="pt-BR" dirty="0" smtClean="0"/>
              <a:t>adrões </a:t>
            </a:r>
            <a:r>
              <a:rPr lang="pt-BR" dirty="0"/>
              <a:t>são uma maneira de reusar o conhecimento e a experiência de outros projetistas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2614862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7.2 Padrões de projeto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Os quatro elementos essenciais dos padrões de projeto foram definidos pela ‘Gangue dos Quatro’, em seu livro de padrões: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/>
              <a:t>N</a:t>
            </a:r>
            <a:r>
              <a:rPr lang="pt-BR" dirty="0" smtClean="0"/>
              <a:t>ome </a:t>
            </a:r>
            <a:r>
              <a:rPr lang="pt-BR" dirty="0"/>
              <a:t>que seja uma referência significativa para o padrão.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/>
              <a:t>D</a:t>
            </a:r>
            <a:r>
              <a:rPr lang="pt-BR" dirty="0" smtClean="0"/>
              <a:t>escrição </a:t>
            </a:r>
            <a:r>
              <a:rPr lang="pt-BR" dirty="0"/>
              <a:t>da área de problema que explique quando o modelo pode ser aplicado.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/>
              <a:t>D</a:t>
            </a:r>
            <a:r>
              <a:rPr lang="pt-BR" dirty="0" smtClean="0"/>
              <a:t>escrição das </a:t>
            </a:r>
            <a:r>
              <a:rPr lang="pt-BR" dirty="0"/>
              <a:t>partes da solução de projeto, seus relacionamentos </a:t>
            </a:r>
            <a:r>
              <a:rPr lang="pt-BR" dirty="0" smtClean="0"/>
              <a:t>e </a:t>
            </a:r>
            <a:r>
              <a:rPr lang="pt-BR" dirty="0"/>
              <a:t>responsabilidades. Essa não é uma descrição do projeto concreto; é um modelo para uma solução de projeto que pode ser instanciado de diferentes maneiras. Costuma ser expresso graficamente e mostra os relacionamentos entre os objetos e suas classes na solução</a:t>
            </a:r>
            <a:r>
              <a:rPr lang="pt-BR" dirty="0" smtClean="0"/>
              <a:t>.</a:t>
            </a:r>
          </a:p>
          <a:p>
            <a:pPr marL="514350" indent="-514350">
              <a:buAutoNum type="arabicPeriod"/>
            </a:pPr>
            <a:r>
              <a:rPr lang="pt-BR" dirty="0"/>
              <a:t>D</a:t>
            </a:r>
            <a:r>
              <a:rPr lang="pt-BR" dirty="0" smtClean="0"/>
              <a:t>eclaração </a:t>
            </a:r>
            <a:r>
              <a:rPr lang="pt-BR" dirty="0"/>
              <a:t>das consequências </a:t>
            </a:r>
            <a:r>
              <a:rPr lang="pt-BR" dirty="0" smtClean="0"/>
              <a:t>(resultados </a:t>
            </a:r>
            <a:r>
              <a:rPr lang="pt-BR" dirty="0"/>
              <a:t>e </a:t>
            </a:r>
            <a:r>
              <a:rPr lang="pt-BR" dirty="0" smtClean="0"/>
              <a:t>compromissos) da </a:t>
            </a:r>
            <a:r>
              <a:rPr lang="pt-BR" dirty="0"/>
              <a:t>aplicação do padrão. Pode ajudar os projetistas a entenderem quando um padrão pode ou não ser usado em uma situação particular.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7107193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7.2 Padrões de projeto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 err="1"/>
              <a:t>Gamma</a:t>
            </a:r>
            <a:r>
              <a:rPr lang="pt-BR" dirty="0"/>
              <a:t> et al. (1995) quebram a descrição do problema em motivação </a:t>
            </a:r>
            <a:r>
              <a:rPr lang="pt-BR" dirty="0" smtClean="0"/>
              <a:t>(descrição </a:t>
            </a:r>
            <a:r>
              <a:rPr lang="pt-BR" dirty="0"/>
              <a:t>do motivo pelo qual o padrão é útil) e aplicabilidade </a:t>
            </a:r>
            <a:r>
              <a:rPr lang="pt-BR" dirty="0" smtClean="0"/>
              <a:t>(descrição </a:t>
            </a:r>
            <a:r>
              <a:rPr lang="pt-BR" dirty="0"/>
              <a:t>das situações </a:t>
            </a:r>
            <a:r>
              <a:rPr lang="pt-BR" dirty="0" smtClean="0"/>
              <a:t>de uso do padrão). 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D</a:t>
            </a:r>
            <a:r>
              <a:rPr lang="pt-BR" dirty="0" smtClean="0"/>
              <a:t>escrição </a:t>
            </a:r>
            <a:r>
              <a:rPr lang="pt-BR" dirty="0"/>
              <a:t>da </a:t>
            </a:r>
            <a:r>
              <a:rPr lang="pt-BR" dirty="0" smtClean="0"/>
              <a:t>solução: estrutura </a:t>
            </a:r>
            <a:r>
              <a:rPr lang="pt-BR" dirty="0"/>
              <a:t>do padrão, participantes, colaborações e implementação.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Para </a:t>
            </a:r>
            <a:r>
              <a:rPr lang="pt-BR" dirty="0"/>
              <a:t>ilustrar a descrição do padrão, </a:t>
            </a:r>
            <a:r>
              <a:rPr lang="pt-BR" dirty="0" smtClean="0"/>
              <a:t>usa-se </a:t>
            </a:r>
            <a:r>
              <a:rPr lang="pt-BR" dirty="0"/>
              <a:t>o padrão </a:t>
            </a:r>
            <a:r>
              <a:rPr lang="pt-BR" dirty="0" err="1"/>
              <a:t>Observer</a:t>
            </a:r>
            <a:r>
              <a:rPr lang="pt-BR" dirty="0"/>
              <a:t>, extraído do livro de </a:t>
            </a:r>
            <a:r>
              <a:rPr lang="pt-BR" dirty="0" err="1"/>
              <a:t>Gamma</a:t>
            </a:r>
            <a:r>
              <a:rPr lang="pt-BR" dirty="0"/>
              <a:t> et al. (1995), que é mostrado no Quadro 7.2.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Usa-se </a:t>
            </a:r>
            <a:r>
              <a:rPr lang="pt-BR" dirty="0"/>
              <a:t>os quatro elementos descritivos </a:t>
            </a:r>
            <a:r>
              <a:rPr lang="pt-BR" dirty="0" smtClean="0"/>
              <a:t>essenciais, </a:t>
            </a:r>
            <a:r>
              <a:rPr lang="pt-BR" dirty="0" err="1" smtClean="0"/>
              <a:t>expkicando</a:t>
            </a:r>
            <a:r>
              <a:rPr lang="pt-BR" dirty="0" smtClean="0"/>
              <a:t> </a:t>
            </a:r>
            <a:r>
              <a:rPr lang="pt-BR" dirty="0"/>
              <a:t>declaração do que o padrão pode fazer. Esse padrão pode ser usado em situações nas quais as diferentes </a:t>
            </a:r>
            <a:r>
              <a:rPr lang="pt-BR" dirty="0" smtClean="0"/>
              <a:t>apresentações </a:t>
            </a:r>
            <a:r>
              <a:rPr lang="pt-BR" dirty="0"/>
              <a:t>do estado do objeto são requeridas.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Ele </a:t>
            </a:r>
            <a:r>
              <a:rPr lang="pt-BR" dirty="0"/>
              <a:t>separa o objeto que deve ser exibido a partir de diferentes formas de apresentação. Essa situação é ilustrada na Figura 7.9, que mostra duas representações gráficas do mesmo </a:t>
            </a:r>
            <a:r>
              <a:rPr lang="pt-BR" dirty="0" smtClean="0"/>
              <a:t>conjunto </a:t>
            </a:r>
            <a:r>
              <a:rPr lang="pt-BR" dirty="0"/>
              <a:t>de dados.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6465338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7.2 Padrões de projeto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dirty="0"/>
              <a:t>Quadro 7.2 O padrão </a:t>
            </a:r>
            <a:r>
              <a:rPr lang="pt-BR" dirty="0" err="1"/>
              <a:t>Observer</a:t>
            </a:r>
            <a:r>
              <a:rPr lang="pt-BR" dirty="0"/>
              <a:t>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Nome </a:t>
            </a:r>
            <a:r>
              <a:rPr lang="pt-BR" dirty="0"/>
              <a:t>do padrão: </a:t>
            </a:r>
            <a:r>
              <a:rPr lang="pt-BR" dirty="0" err="1" smtClean="0"/>
              <a:t>Observer</a:t>
            </a:r>
            <a:r>
              <a:rPr lang="pt-BR" dirty="0" smtClean="0"/>
              <a:t> </a:t>
            </a:r>
          </a:p>
          <a:p>
            <a:pPr marL="0" indent="0">
              <a:buNone/>
            </a:pPr>
            <a:r>
              <a:rPr lang="pt-BR" dirty="0"/>
              <a:t>Descrição: </a:t>
            </a:r>
            <a:r>
              <a:rPr lang="pt-BR" dirty="0" smtClean="0"/>
              <a:t>Separa </a:t>
            </a:r>
            <a:r>
              <a:rPr lang="pt-BR" dirty="0"/>
              <a:t>o display do estado de um objeto a partir do objeto em si e permite que sejam fornecidos displays alternativos. Quando o estado do objeto muda, todos os displays são automaticamente notificados e atualizados para refletir a mudança. 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Descrição do problema: </a:t>
            </a:r>
            <a:r>
              <a:rPr lang="pt-BR" dirty="0" smtClean="0"/>
              <a:t>Em </a:t>
            </a:r>
            <a:r>
              <a:rPr lang="pt-BR" dirty="0"/>
              <a:t>muitas situações</a:t>
            </a:r>
            <a:r>
              <a:rPr lang="pt-BR" dirty="0" smtClean="0"/>
              <a:t>, fornecem-se </a:t>
            </a:r>
            <a:r>
              <a:rPr lang="pt-BR" dirty="0"/>
              <a:t>vários displays de informações do estado, como um display gráfico e em tabela. Nem todos eles podem ser conhecidos quando a informação é especificada. Todas as apresentações alternativas devem apoiar a interação e, quando o estado é alterado, todos os displays devem ser atualizados. Esse padrão pode ser usado em todas as situações em que mais de um formato de display de informações de estado é necessário, e em que saber sobre os formatos de display específicos usados não é necessário para o objeto que mantém as informações do estado. 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1334270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7.2 Padrões de projeto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Quadro 7.2 O padrão </a:t>
            </a:r>
            <a:r>
              <a:rPr lang="pt-BR" dirty="0" err="1"/>
              <a:t>Observer</a:t>
            </a:r>
            <a:r>
              <a:rPr lang="pt-BR" dirty="0"/>
              <a:t>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Descrição </a:t>
            </a:r>
            <a:r>
              <a:rPr lang="pt-BR" dirty="0"/>
              <a:t>da solução: </a:t>
            </a:r>
            <a:r>
              <a:rPr lang="pt-BR" dirty="0" smtClean="0"/>
              <a:t>Trata-se </a:t>
            </a:r>
            <a:r>
              <a:rPr lang="pt-BR" dirty="0"/>
              <a:t>de dois objetos abstratos, </a:t>
            </a:r>
            <a:r>
              <a:rPr lang="pt-BR" dirty="0" err="1"/>
              <a:t>Subject</a:t>
            </a:r>
            <a:r>
              <a:rPr lang="pt-BR" dirty="0"/>
              <a:t> e </a:t>
            </a:r>
            <a:r>
              <a:rPr lang="pt-BR" dirty="0" err="1"/>
              <a:t>Observer</a:t>
            </a:r>
            <a:r>
              <a:rPr lang="pt-BR" dirty="0"/>
              <a:t>, e dois objetos concretos, </a:t>
            </a:r>
            <a:r>
              <a:rPr lang="pt-BR" dirty="0" err="1"/>
              <a:t>ConcreteSubject</a:t>
            </a:r>
            <a:r>
              <a:rPr lang="pt-BR" dirty="0"/>
              <a:t> e </a:t>
            </a:r>
            <a:r>
              <a:rPr lang="pt-BR" dirty="0" err="1"/>
              <a:t>ConcreteObject</a:t>
            </a:r>
            <a:r>
              <a:rPr lang="pt-BR" dirty="0"/>
              <a:t>, que herdam os atributos dos objetos abstratos relacionados. Os objetos abstratos incluem as operações gerais aplicáveis em todas as situações. O estado a ser exibido é mantido no </a:t>
            </a:r>
            <a:r>
              <a:rPr lang="pt-BR" dirty="0" err="1"/>
              <a:t>ConcreteSubject</a:t>
            </a:r>
            <a:r>
              <a:rPr lang="pt-BR" dirty="0"/>
              <a:t>, que herda as operações de </a:t>
            </a:r>
            <a:r>
              <a:rPr lang="pt-BR" dirty="0" err="1"/>
              <a:t>Subject</a:t>
            </a:r>
            <a:r>
              <a:rPr lang="pt-BR" dirty="0"/>
              <a:t> permitindo adicionar ou remover </a:t>
            </a:r>
            <a:r>
              <a:rPr lang="pt-BR" dirty="0" err="1"/>
              <a:t>Observers</a:t>
            </a:r>
            <a:r>
              <a:rPr lang="pt-BR" dirty="0"/>
              <a:t> (cada </a:t>
            </a:r>
            <a:r>
              <a:rPr lang="pt-BR" dirty="0" err="1"/>
              <a:t>Observer</a:t>
            </a:r>
            <a:r>
              <a:rPr lang="pt-BR" dirty="0"/>
              <a:t> corresponde a um display) e emitir uma notificação quando o estado mudar. O </a:t>
            </a:r>
            <a:r>
              <a:rPr lang="pt-BR" dirty="0" err="1"/>
              <a:t>ConcreteObserver</a:t>
            </a:r>
            <a:r>
              <a:rPr lang="pt-BR" dirty="0"/>
              <a:t> mantém uma cópia do estado do </a:t>
            </a:r>
            <a:r>
              <a:rPr lang="pt-BR" dirty="0" err="1"/>
              <a:t>ConcreteSubject</a:t>
            </a:r>
            <a:r>
              <a:rPr lang="pt-BR" dirty="0"/>
              <a:t> e implementa a interface atualizar ( ) do </a:t>
            </a:r>
            <a:r>
              <a:rPr lang="pt-BR" dirty="0" err="1"/>
              <a:t>Observer</a:t>
            </a:r>
            <a:r>
              <a:rPr lang="pt-BR" dirty="0"/>
              <a:t>, que permite que essas cópias sejam mantidas nessa etapa. Automaticamente, o </a:t>
            </a:r>
            <a:r>
              <a:rPr lang="pt-BR" dirty="0" err="1"/>
              <a:t>ConcreteObserver</a:t>
            </a:r>
            <a:r>
              <a:rPr lang="pt-BR" dirty="0"/>
              <a:t> exibe o estado e reflete as mudanças sempre que o estado é atualizado. O modelo UML do padrão é mostrado na Figura 7.10. 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Consequências:</a:t>
            </a:r>
          </a:p>
          <a:p>
            <a:pPr marL="0" indent="0">
              <a:buNone/>
            </a:pPr>
            <a:r>
              <a:rPr lang="pt-BR" dirty="0" smtClean="0"/>
              <a:t>O </a:t>
            </a:r>
            <a:r>
              <a:rPr lang="pt-BR" dirty="0" err="1"/>
              <a:t>Subject</a:t>
            </a:r>
            <a:r>
              <a:rPr lang="pt-BR" dirty="0"/>
              <a:t> só conhece o </a:t>
            </a:r>
            <a:r>
              <a:rPr lang="pt-BR" dirty="0" err="1"/>
              <a:t>Observer</a:t>
            </a:r>
            <a:r>
              <a:rPr lang="pt-BR" dirty="0"/>
              <a:t> abstrato e não sabe detalhes da classe concreta. Portanto, há um acoplamento mínimo entre esses objetos. Devido a essa falta de conhecimento, as otimizações que melhoram o desempenho do display são impraticáveis. As alterações no </a:t>
            </a:r>
            <a:r>
              <a:rPr lang="pt-BR" dirty="0" err="1"/>
              <a:t>Subject</a:t>
            </a:r>
            <a:r>
              <a:rPr lang="pt-BR" dirty="0"/>
              <a:t> podem causar uma série de atualizações ligadas aos </a:t>
            </a:r>
            <a:r>
              <a:rPr lang="pt-BR" dirty="0" err="1"/>
              <a:t>Observers</a:t>
            </a:r>
            <a:r>
              <a:rPr lang="pt-BR" dirty="0"/>
              <a:t> relacionados para serem geradas, algumas das quais podem não ser necessárias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6823653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7.2 Padrões de projeto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Figura 7.9 – no livro </a:t>
            </a:r>
            <a:r>
              <a:rPr lang="pt-BR" dirty="0" err="1" smtClean="0"/>
              <a:t>pag</a:t>
            </a:r>
            <a:r>
              <a:rPr lang="pt-BR" dirty="0" smtClean="0"/>
              <a:t> 135</a:t>
            </a:r>
          </a:p>
        </p:txBody>
      </p:sp>
    </p:spTree>
    <p:extLst>
      <p:ext uri="{BB962C8B-B14F-4D97-AF65-F5344CB8AC3E}">
        <p14:creationId xmlns:p14="http://schemas.microsoft.com/office/powerpoint/2010/main" val="12193630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7.2 Padrões de projeto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/>
              <a:t>R</a:t>
            </a:r>
            <a:r>
              <a:rPr lang="pt-BR" dirty="0" smtClean="0"/>
              <a:t>epresentações gráficas: </a:t>
            </a:r>
            <a:r>
              <a:rPr lang="pt-BR" dirty="0" smtClean="0"/>
              <a:t>ilustram </a:t>
            </a:r>
            <a:r>
              <a:rPr lang="pt-BR" dirty="0"/>
              <a:t>as classes de objeto em padrões e seus </a:t>
            </a:r>
            <a:r>
              <a:rPr lang="pt-BR" dirty="0" smtClean="0"/>
              <a:t>relacionamentos. Acrescentam </a:t>
            </a:r>
            <a:r>
              <a:rPr lang="pt-BR" dirty="0"/>
              <a:t>detalhes à descrição da solução.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A </a:t>
            </a:r>
            <a:r>
              <a:rPr lang="pt-BR" dirty="0"/>
              <a:t>Figura 7.10 é a representação do padrão </a:t>
            </a:r>
            <a:r>
              <a:rPr lang="pt-BR" dirty="0" err="1"/>
              <a:t>Observer</a:t>
            </a:r>
            <a:r>
              <a:rPr lang="pt-BR" dirty="0"/>
              <a:t> em UML.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Para </a:t>
            </a:r>
            <a:r>
              <a:rPr lang="pt-BR" dirty="0"/>
              <a:t>usar padrões </a:t>
            </a:r>
            <a:r>
              <a:rPr lang="pt-BR" dirty="0" smtClean="0"/>
              <a:t>no </a:t>
            </a:r>
            <a:r>
              <a:rPr lang="pt-BR" dirty="0"/>
              <a:t>projeto, </a:t>
            </a:r>
            <a:r>
              <a:rPr lang="pt-BR" dirty="0" smtClean="0"/>
              <a:t>deve-se </a:t>
            </a:r>
            <a:r>
              <a:rPr lang="pt-BR" dirty="0"/>
              <a:t>reconhecer que qualquer problema de projeto </a:t>
            </a:r>
            <a:r>
              <a:rPr lang="pt-BR" dirty="0" smtClean="0"/>
              <a:t>pode </a:t>
            </a:r>
            <a:r>
              <a:rPr lang="pt-BR" dirty="0"/>
              <a:t>ter um padrão associado que pode ser aplicado.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Exemplos </a:t>
            </a:r>
            <a:r>
              <a:rPr lang="pt-BR" dirty="0"/>
              <a:t>desses problemas, documentados no livro original de padrões da ‘Gangue dos Quatro’, incluem: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Dizer </a:t>
            </a:r>
            <a:r>
              <a:rPr lang="pt-BR" dirty="0"/>
              <a:t>a vários objetos que o estado de algum outro objeto mudou (padrão </a:t>
            </a:r>
            <a:r>
              <a:rPr lang="pt-BR" dirty="0" err="1"/>
              <a:t>Observer</a:t>
            </a:r>
            <a:r>
              <a:rPr lang="pt-BR" dirty="0"/>
              <a:t>).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Arrumar </a:t>
            </a:r>
            <a:r>
              <a:rPr lang="pt-BR" dirty="0"/>
              <a:t>as interfaces para vários objetos relacionados que, muitas vezes, foram desenvolvidos de forma </a:t>
            </a:r>
            <a:r>
              <a:rPr lang="pt-BR" dirty="0" smtClean="0"/>
              <a:t>incremental </a:t>
            </a:r>
            <a:r>
              <a:rPr lang="pt-BR" dirty="0"/>
              <a:t>(padrão </a:t>
            </a:r>
            <a:r>
              <a:rPr lang="pt-BR" dirty="0" err="1"/>
              <a:t>Façade</a:t>
            </a:r>
            <a:r>
              <a:rPr lang="pt-BR" dirty="0"/>
              <a:t>).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Fornecer </a:t>
            </a:r>
            <a:r>
              <a:rPr lang="pt-BR" dirty="0"/>
              <a:t>uma forma padronizada de acesso aos elementos de uma coleção, independentemente de como essa coleção é implementada (padrão </a:t>
            </a:r>
            <a:r>
              <a:rPr lang="pt-BR" dirty="0" err="1"/>
              <a:t>Iterator</a:t>
            </a:r>
            <a:r>
              <a:rPr lang="pt-BR" dirty="0"/>
              <a:t>).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Permitir </a:t>
            </a:r>
            <a:r>
              <a:rPr lang="pt-BR" dirty="0"/>
              <a:t>a possibilidade de estender a funcionalidade de uma classe existente em </a:t>
            </a:r>
            <a:r>
              <a:rPr lang="pt-BR" dirty="0" err="1"/>
              <a:t>run</a:t>
            </a:r>
            <a:r>
              <a:rPr lang="pt-BR" dirty="0"/>
              <a:t>-time (padrão </a:t>
            </a:r>
            <a:r>
              <a:rPr lang="pt-BR" dirty="0" err="1"/>
              <a:t>Decorator</a:t>
            </a:r>
            <a:r>
              <a:rPr lang="pt-BR" dirty="0"/>
              <a:t>).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41640146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7.2 Padrões de projeto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Figura 7.10 – no livro </a:t>
            </a:r>
            <a:r>
              <a:rPr lang="pt-BR" dirty="0" err="1" smtClean="0"/>
              <a:t>pag</a:t>
            </a:r>
            <a:r>
              <a:rPr lang="pt-BR" dirty="0" smtClean="0"/>
              <a:t> 135</a:t>
            </a:r>
          </a:p>
        </p:txBody>
      </p:sp>
    </p:spTree>
    <p:extLst>
      <p:ext uri="{BB962C8B-B14F-4D97-AF65-F5344CB8AC3E}">
        <p14:creationId xmlns:p14="http://schemas.microsoft.com/office/powerpoint/2010/main" val="42619451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 smtClean="0"/>
              <a:t>7.2 Padrões de projeto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Os padrões suportam </a:t>
            </a:r>
            <a:r>
              <a:rPr lang="pt-BR" dirty="0" err="1"/>
              <a:t>reúso</a:t>
            </a:r>
            <a:r>
              <a:rPr lang="pt-BR" dirty="0"/>
              <a:t> de conceito em alto nível. Ao tentar reusar componentes executáveis, </a:t>
            </a:r>
            <a:r>
              <a:rPr lang="pt-BR" dirty="0" smtClean="0"/>
              <a:t>limitam-se as </a:t>
            </a:r>
            <a:r>
              <a:rPr lang="pt-BR" dirty="0"/>
              <a:t>decisões de projeto detalhado feitas pelos implementadores </a:t>
            </a:r>
            <a:r>
              <a:rPr lang="pt-BR" dirty="0" smtClean="0"/>
              <a:t>dos componentes.</a:t>
            </a:r>
          </a:p>
          <a:p>
            <a:pPr marL="0" indent="0">
              <a:buNone/>
            </a:pPr>
            <a:r>
              <a:rPr lang="pt-BR" dirty="0" smtClean="0"/>
              <a:t> </a:t>
            </a:r>
            <a:r>
              <a:rPr lang="pt-BR" dirty="0"/>
              <a:t>Elas vão desde os algoritmos particulares que têm sido usados para implementar os componentes até os objetos e os tipos na interface de componentes. 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D</a:t>
            </a:r>
            <a:r>
              <a:rPr lang="pt-BR" dirty="0" smtClean="0"/>
              <a:t>ecisões </a:t>
            </a:r>
            <a:r>
              <a:rPr lang="pt-BR" dirty="0"/>
              <a:t>de projeto </a:t>
            </a:r>
            <a:r>
              <a:rPr lang="pt-BR" dirty="0" smtClean="0"/>
              <a:t>em </a:t>
            </a:r>
            <a:r>
              <a:rPr lang="pt-BR" dirty="0"/>
              <a:t>conflito </a:t>
            </a:r>
            <a:r>
              <a:rPr lang="pt-BR" dirty="0" smtClean="0"/>
              <a:t>com seus </a:t>
            </a:r>
            <a:r>
              <a:rPr lang="pt-BR" dirty="0"/>
              <a:t>requisitos </a:t>
            </a:r>
            <a:r>
              <a:rPr lang="pt-BR" dirty="0" smtClean="0"/>
              <a:t>específicos:  </a:t>
            </a:r>
            <a:r>
              <a:rPr lang="pt-BR" dirty="0" err="1"/>
              <a:t>reúso</a:t>
            </a:r>
            <a:r>
              <a:rPr lang="pt-BR" dirty="0"/>
              <a:t> de componentes é impossível ou apresenta ineficiências em seu sistema.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Us</a:t>
            </a:r>
            <a:r>
              <a:rPr lang="pt-BR" dirty="0" smtClean="0"/>
              <a:t>o </a:t>
            </a:r>
            <a:r>
              <a:rPr lang="pt-BR" dirty="0"/>
              <a:t>de </a:t>
            </a:r>
            <a:r>
              <a:rPr lang="pt-BR" dirty="0" smtClean="0"/>
              <a:t>padrões: reuso de </a:t>
            </a:r>
            <a:r>
              <a:rPr lang="pt-BR" dirty="0"/>
              <a:t>ideias, </a:t>
            </a:r>
            <a:r>
              <a:rPr lang="pt-BR" dirty="0" smtClean="0"/>
              <a:t>podendo </a:t>
            </a:r>
            <a:r>
              <a:rPr lang="pt-BR" dirty="0"/>
              <a:t>adaptar a aplicação para se adequar ao sistema </a:t>
            </a:r>
            <a:r>
              <a:rPr lang="pt-BR" dirty="0" smtClean="0"/>
              <a:t>em desenvolvimento. 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6929002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7.2 Padrões de projeto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I</a:t>
            </a:r>
            <a:r>
              <a:rPr lang="pt-BR" dirty="0" smtClean="0"/>
              <a:t>nicio </a:t>
            </a:r>
            <a:r>
              <a:rPr lang="pt-BR" dirty="0" smtClean="0"/>
              <a:t>do projeto </a:t>
            </a:r>
            <a:r>
              <a:rPr lang="pt-BR" dirty="0" smtClean="0"/>
              <a:t>de sistema: </a:t>
            </a:r>
            <a:r>
              <a:rPr lang="pt-BR" dirty="0"/>
              <a:t>difícil </a:t>
            </a:r>
            <a:r>
              <a:rPr lang="pt-BR" dirty="0" smtClean="0"/>
              <a:t>saber </a:t>
            </a:r>
            <a:r>
              <a:rPr lang="pt-BR" dirty="0"/>
              <a:t>se vai precisar de </a:t>
            </a:r>
            <a:r>
              <a:rPr lang="pt-BR" dirty="0" smtClean="0"/>
              <a:t>determinado </a:t>
            </a:r>
            <a:r>
              <a:rPr lang="pt-BR" dirty="0"/>
              <a:t>padrão. 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U</a:t>
            </a:r>
            <a:r>
              <a:rPr lang="pt-BR" dirty="0" smtClean="0"/>
              <a:t>so </a:t>
            </a:r>
            <a:r>
              <a:rPr lang="pt-BR" dirty="0"/>
              <a:t>de padrões em um </a:t>
            </a:r>
            <a:r>
              <a:rPr lang="pt-BR" dirty="0" smtClean="0"/>
              <a:t>processo:  </a:t>
            </a:r>
            <a:r>
              <a:rPr lang="pt-BR" dirty="0"/>
              <a:t>envolve o desenvolvimento de um </a:t>
            </a:r>
            <a:r>
              <a:rPr lang="pt-BR" dirty="0" smtClean="0"/>
              <a:t>projeto</a:t>
            </a:r>
            <a:r>
              <a:rPr lang="pt-BR" dirty="0"/>
              <a:t>, a experimentação com algum problema e</a:t>
            </a:r>
            <a:r>
              <a:rPr lang="pt-BR" dirty="0" smtClean="0"/>
              <a:t>, </a:t>
            </a:r>
            <a:r>
              <a:rPr lang="pt-BR" dirty="0"/>
              <a:t>o reconhecimento de que um padrão pode ser usado.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Para usar os </a:t>
            </a:r>
            <a:r>
              <a:rPr lang="pt-BR" dirty="0"/>
              <a:t>padrões </a:t>
            </a:r>
            <a:r>
              <a:rPr lang="pt-BR" dirty="0" smtClean="0"/>
              <a:t>deve-se ter </a:t>
            </a:r>
            <a:r>
              <a:rPr lang="pt-BR" dirty="0"/>
              <a:t>experiência de </a:t>
            </a:r>
            <a:r>
              <a:rPr lang="pt-BR" dirty="0" smtClean="0"/>
              <a:t>desenvolvimento </a:t>
            </a:r>
            <a:r>
              <a:rPr lang="pt-BR" dirty="0"/>
              <a:t>de software.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Deve-se </a:t>
            </a:r>
            <a:r>
              <a:rPr lang="pt-BR" dirty="0"/>
              <a:t>reconhecer as situações em que um padrão pode ser aplicado. Programadores inexperientes, mesmo que tenham lido o livro de padrões, sempre acharão difícil decidir se podem reusar um padrão ou se é necessário desenvolver uma solução especial</a:t>
            </a:r>
          </a:p>
        </p:txBody>
      </p:sp>
    </p:spTree>
    <p:extLst>
      <p:ext uri="{BB962C8B-B14F-4D97-AF65-F5344CB8AC3E}">
        <p14:creationId xmlns:p14="http://schemas.microsoft.com/office/powerpoint/2010/main" val="2297287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 engenharia de </a:t>
            </a:r>
            <a:r>
              <a:rPr lang="pt-BR" dirty="0" smtClean="0"/>
              <a:t>software: desde o </a:t>
            </a:r>
            <a:r>
              <a:rPr lang="pt-BR" dirty="0"/>
              <a:t>desenvolvimento de software, </a:t>
            </a:r>
            <a:r>
              <a:rPr lang="pt-BR" dirty="0" smtClean="0"/>
              <a:t>requisitos </a:t>
            </a:r>
            <a:r>
              <a:rPr lang="pt-BR" dirty="0"/>
              <a:t>iniciais do sistema até a manutenção e o gerenciamento do sistema implantado. 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E</a:t>
            </a:r>
            <a:r>
              <a:rPr lang="pt-BR" dirty="0" smtClean="0"/>
              <a:t>stágio </a:t>
            </a:r>
            <a:r>
              <a:rPr lang="pt-BR" dirty="0"/>
              <a:t>mais crítico </a:t>
            </a:r>
            <a:r>
              <a:rPr lang="pt-BR" dirty="0" smtClean="0"/>
              <a:t>do processo: </a:t>
            </a:r>
            <a:r>
              <a:rPr lang="pt-BR" dirty="0"/>
              <a:t>a implementação do sistema, </a:t>
            </a:r>
            <a:r>
              <a:rPr lang="pt-BR" dirty="0" smtClean="0"/>
              <a:t>criando versão </a:t>
            </a:r>
            <a:r>
              <a:rPr lang="pt-BR" dirty="0"/>
              <a:t>executável do software.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Implementação: envolve </a:t>
            </a:r>
            <a:r>
              <a:rPr lang="pt-BR" dirty="0"/>
              <a:t>o desenvolvimento de programas em alto ou baixo nível de linguagens de programação, </a:t>
            </a:r>
            <a:r>
              <a:rPr lang="pt-BR" dirty="0" smtClean="0"/>
              <a:t>customização </a:t>
            </a:r>
            <a:r>
              <a:rPr lang="pt-BR" dirty="0"/>
              <a:t>e adaptação de sistemas genéricos de prateleira, para atender aos requisitos específicos de uma organização. 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6574252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Aspectos de implementação importantes para a engenharia de software e que, muitas vezes, não são cobertos em textos de programação. São eles: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err="1" smtClean="0"/>
              <a:t>Reúso</a:t>
            </a:r>
            <a:r>
              <a:rPr lang="pt-BR" dirty="0" smtClean="0"/>
              <a:t>: </a:t>
            </a:r>
            <a:r>
              <a:rPr lang="pt-BR" dirty="0"/>
              <a:t>Os softwares mais modernos são construídos por meio do </a:t>
            </a:r>
            <a:r>
              <a:rPr lang="pt-BR" dirty="0" err="1"/>
              <a:t>reúso</a:t>
            </a:r>
            <a:r>
              <a:rPr lang="pt-BR" dirty="0"/>
              <a:t> de componentes existentes ou </a:t>
            </a:r>
            <a:r>
              <a:rPr lang="pt-BR" dirty="0" smtClean="0"/>
              <a:t>sistemas</a:t>
            </a:r>
            <a:r>
              <a:rPr lang="pt-BR" dirty="0"/>
              <a:t>. </a:t>
            </a:r>
            <a:r>
              <a:rPr lang="pt-BR" dirty="0" smtClean="0"/>
              <a:t>Deve-se dever </a:t>
            </a:r>
            <a:r>
              <a:rPr lang="pt-BR" dirty="0"/>
              <a:t>fazer o maior uso possível dos códigos existentes.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Gerenciamento </a:t>
            </a:r>
            <a:r>
              <a:rPr lang="pt-BR" dirty="0"/>
              <a:t>de </a:t>
            </a:r>
            <a:r>
              <a:rPr lang="pt-BR" dirty="0" smtClean="0"/>
              <a:t>configuração: </a:t>
            </a:r>
            <a:r>
              <a:rPr lang="pt-BR" dirty="0"/>
              <a:t>Durante o processo de </a:t>
            </a:r>
            <a:r>
              <a:rPr lang="pt-BR" dirty="0" smtClean="0"/>
              <a:t>desenvolvimento </a:t>
            </a:r>
            <a:r>
              <a:rPr lang="pt-BR" dirty="0"/>
              <a:t>são criadas muitas versões diferentes de cada componente de software. </a:t>
            </a:r>
            <a:r>
              <a:rPr lang="pt-BR" dirty="0" smtClean="0"/>
              <a:t>Sem </a:t>
            </a:r>
            <a:r>
              <a:rPr lang="pt-BR" dirty="0" smtClean="0"/>
              <a:t>acompanhamento de</a:t>
            </a:r>
            <a:r>
              <a:rPr lang="pt-BR" dirty="0" smtClean="0"/>
              <a:t>ssas </a:t>
            </a:r>
            <a:r>
              <a:rPr lang="pt-BR" dirty="0"/>
              <a:t>versões em um sistema de gerenciamento de configuração, </a:t>
            </a:r>
            <a:r>
              <a:rPr lang="pt-BR" dirty="0" smtClean="0"/>
              <a:t>pode-se </a:t>
            </a:r>
            <a:r>
              <a:rPr lang="pt-BR" dirty="0"/>
              <a:t>incluir as versões erradas </a:t>
            </a:r>
            <a:r>
              <a:rPr lang="pt-BR" dirty="0" smtClean="0"/>
              <a:t>dos </a:t>
            </a:r>
            <a:r>
              <a:rPr lang="pt-BR" dirty="0"/>
              <a:t>componentes em seu sistema.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Desenvolvimento </a:t>
            </a:r>
            <a:r>
              <a:rPr lang="pt-BR" dirty="0" smtClean="0"/>
              <a:t>host-</a:t>
            </a:r>
            <a:r>
              <a:rPr lang="pt-BR" dirty="0" err="1" smtClean="0"/>
              <a:t>target</a:t>
            </a:r>
            <a:r>
              <a:rPr lang="pt-BR" dirty="0"/>
              <a:t>:</a:t>
            </a:r>
            <a:r>
              <a:rPr lang="pt-BR" dirty="0" smtClean="0"/>
              <a:t> </a:t>
            </a:r>
            <a:r>
              <a:rPr lang="pt-BR" dirty="0"/>
              <a:t>A produção de software não costuma executar no mesmo computador como no ambiente de desenvolvimento de software. Em vez disso, </a:t>
            </a:r>
            <a:r>
              <a:rPr lang="pt-BR" dirty="0" smtClean="0"/>
              <a:t> desenvolve-se </a:t>
            </a:r>
            <a:r>
              <a:rPr lang="pt-BR" dirty="0"/>
              <a:t>em um computador (o sistema host) e </a:t>
            </a:r>
            <a:r>
              <a:rPr lang="pt-BR" dirty="0" smtClean="0"/>
              <a:t>o executa </a:t>
            </a:r>
            <a:r>
              <a:rPr lang="pt-BR" dirty="0"/>
              <a:t>em outro (o sistema </a:t>
            </a:r>
            <a:r>
              <a:rPr lang="pt-BR" dirty="0" err="1"/>
              <a:t>target</a:t>
            </a:r>
            <a:r>
              <a:rPr lang="pt-BR" dirty="0"/>
              <a:t>). Os sistemas host e </a:t>
            </a:r>
            <a:r>
              <a:rPr lang="pt-BR" dirty="0" err="1"/>
              <a:t>target</a:t>
            </a:r>
            <a:r>
              <a:rPr lang="pt-BR" dirty="0"/>
              <a:t> </a:t>
            </a:r>
            <a:r>
              <a:rPr lang="pt-BR" dirty="0" smtClean="0"/>
              <a:t>são do </a:t>
            </a:r>
            <a:r>
              <a:rPr lang="pt-BR" dirty="0"/>
              <a:t>mesmo </a:t>
            </a:r>
            <a:r>
              <a:rPr lang="pt-BR" dirty="0" smtClean="0"/>
              <a:t>tipo ou completamente </a:t>
            </a:r>
            <a:r>
              <a:rPr lang="pt-BR" dirty="0"/>
              <a:t>diferentes</a:t>
            </a:r>
          </a:p>
        </p:txBody>
      </p:sp>
    </p:spTree>
    <p:extLst>
      <p:ext uri="{BB962C8B-B14F-4D97-AF65-F5344CB8AC3E}">
        <p14:creationId xmlns:p14="http://schemas.microsoft.com/office/powerpoint/2010/main" val="31925280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- Reuso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De </a:t>
            </a:r>
            <a:r>
              <a:rPr lang="pt-BR" dirty="0"/>
              <a:t>1960 a 1990, o software </a:t>
            </a:r>
            <a:r>
              <a:rPr lang="pt-BR" dirty="0" smtClean="0"/>
              <a:t>foi </a:t>
            </a:r>
            <a:r>
              <a:rPr lang="pt-BR" dirty="0"/>
              <a:t>desenvolvido a partir do zero. Todos os códigos foram escritos em linguagem de programação de alto nível.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O </a:t>
            </a:r>
            <a:r>
              <a:rPr lang="pt-BR" dirty="0"/>
              <a:t>único </a:t>
            </a:r>
            <a:r>
              <a:rPr lang="pt-BR" dirty="0" smtClean="0"/>
              <a:t>reuso </a:t>
            </a:r>
            <a:r>
              <a:rPr lang="pt-BR" dirty="0"/>
              <a:t>significativo de software foi o de funções e objetos em bibliotecas de linguagem de programação. 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O</a:t>
            </a:r>
            <a:r>
              <a:rPr lang="pt-BR" dirty="0" smtClean="0"/>
              <a:t>s </a:t>
            </a:r>
            <a:r>
              <a:rPr lang="pt-BR" dirty="0"/>
              <a:t>custos e a pressão de </a:t>
            </a:r>
            <a:r>
              <a:rPr lang="pt-BR" dirty="0" smtClean="0"/>
              <a:t>cronograma: reuso </a:t>
            </a:r>
            <a:r>
              <a:rPr lang="pt-BR" dirty="0"/>
              <a:t>se tornava cada vez menos viável, especialmente para sistemas comerciais e baseados na </a:t>
            </a:r>
            <a:r>
              <a:rPr lang="pt-BR" dirty="0" smtClean="0"/>
              <a:t>Internet</a:t>
            </a:r>
            <a:r>
              <a:rPr lang="pt-BR" dirty="0"/>
              <a:t>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Surgiu </a:t>
            </a:r>
            <a:r>
              <a:rPr lang="pt-BR" dirty="0"/>
              <a:t>uma abordagem de desenvolvimento baseada no </a:t>
            </a:r>
            <a:r>
              <a:rPr lang="pt-BR" dirty="0" err="1"/>
              <a:t>reúso</a:t>
            </a:r>
            <a:r>
              <a:rPr lang="pt-BR" dirty="0"/>
              <a:t> de softwares existentes. É</a:t>
            </a:r>
            <a:r>
              <a:rPr lang="pt-BR" dirty="0" smtClean="0"/>
              <a:t> </a:t>
            </a:r>
            <a:r>
              <a:rPr lang="pt-BR" dirty="0"/>
              <a:t>usada com frequência para sistemas de negócios, softwares científicos e, cada vez mais, em engenharia de sistemas embutidos.</a:t>
            </a:r>
          </a:p>
        </p:txBody>
      </p:sp>
    </p:spTree>
    <p:extLst>
      <p:ext uri="{BB962C8B-B14F-4D97-AF65-F5344CB8AC3E}">
        <p14:creationId xmlns:p14="http://schemas.microsoft.com/office/powerpoint/2010/main" val="1281453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- Reuso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Níveis do </a:t>
            </a:r>
            <a:r>
              <a:rPr lang="pt-BR" dirty="0" err="1"/>
              <a:t>reúso</a:t>
            </a:r>
            <a:r>
              <a:rPr lang="pt-BR" dirty="0"/>
              <a:t> de </a:t>
            </a:r>
            <a:r>
              <a:rPr lang="pt-BR" dirty="0" smtClean="0"/>
              <a:t>software:</a:t>
            </a:r>
          </a:p>
          <a:p>
            <a:pPr marL="514350" indent="-514350">
              <a:buAutoNum type="arabicPeriod"/>
            </a:pPr>
            <a:r>
              <a:rPr lang="pt-BR" dirty="0"/>
              <a:t>A</a:t>
            </a:r>
            <a:r>
              <a:rPr lang="pt-BR" dirty="0" smtClean="0"/>
              <a:t>bstração: </a:t>
            </a:r>
            <a:r>
              <a:rPr lang="pt-BR" dirty="0"/>
              <a:t>usa o conhecimento das </a:t>
            </a:r>
            <a:r>
              <a:rPr lang="pt-BR" dirty="0" smtClean="0"/>
              <a:t>abstrações </a:t>
            </a:r>
            <a:r>
              <a:rPr lang="pt-BR" dirty="0"/>
              <a:t>de sucesso no projeto </a:t>
            </a:r>
            <a:r>
              <a:rPr lang="pt-BR" dirty="0" smtClean="0"/>
              <a:t>do </a:t>
            </a:r>
            <a:r>
              <a:rPr lang="pt-BR" dirty="0"/>
              <a:t>software. Os padrões de projeto e de </a:t>
            </a:r>
            <a:r>
              <a:rPr lang="pt-BR" dirty="0" smtClean="0"/>
              <a:t>arquitetura </a:t>
            </a:r>
            <a:r>
              <a:rPr lang="pt-BR" dirty="0"/>
              <a:t>são formas de representar o conhecimento abstrato para </a:t>
            </a:r>
            <a:r>
              <a:rPr lang="pt-BR" dirty="0" err="1"/>
              <a:t>reúso</a:t>
            </a:r>
            <a:r>
              <a:rPr lang="pt-BR" dirty="0" smtClean="0"/>
              <a:t>.</a:t>
            </a:r>
          </a:p>
          <a:p>
            <a:pPr marL="514350" indent="-514350">
              <a:buAutoNum type="arabicPeriod"/>
            </a:pPr>
            <a:r>
              <a:rPr lang="pt-BR" dirty="0" smtClean="0"/>
              <a:t>Objeto:  reusam-se objetos </a:t>
            </a:r>
            <a:r>
              <a:rPr lang="pt-BR" dirty="0"/>
              <a:t>de uma biblioteca em vez de escrever um código. Para implementar esse tipo de </a:t>
            </a:r>
            <a:r>
              <a:rPr lang="pt-BR" dirty="0" smtClean="0"/>
              <a:t>reuso, deve-se </a:t>
            </a:r>
            <a:r>
              <a:rPr lang="pt-BR" dirty="0"/>
              <a:t>encontrar bibliotecas adequadas e descobrir se os objetos e métodos oferecem a funcionalidade </a:t>
            </a:r>
            <a:r>
              <a:rPr lang="pt-BR" dirty="0" smtClean="0"/>
              <a:t>necessária. </a:t>
            </a:r>
            <a:r>
              <a:rPr lang="pt-BR" dirty="0" err="1" smtClean="0"/>
              <a:t>Ex</a:t>
            </a:r>
            <a:r>
              <a:rPr lang="pt-BR" dirty="0" smtClean="0"/>
              <a:t>: </a:t>
            </a:r>
            <a:r>
              <a:rPr lang="pt-BR" dirty="0"/>
              <a:t>processar mensagens de correio em um programa Java, </a:t>
            </a:r>
            <a:r>
              <a:rPr lang="pt-BR" dirty="0" smtClean="0"/>
              <a:t> (objetos </a:t>
            </a:r>
            <a:r>
              <a:rPr lang="pt-BR" dirty="0"/>
              <a:t>e métodos de uma biblioteca </a:t>
            </a:r>
            <a:r>
              <a:rPr lang="pt-BR" dirty="0" err="1" smtClean="0"/>
              <a:t>JavaMail</a:t>
            </a:r>
            <a:r>
              <a:rPr lang="pt-BR" dirty="0" smtClean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39653806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- Reuso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 smtClean="0"/>
              <a:t>Níveis do </a:t>
            </a:r>
            <a:r>
              <a:rPr lang="pt-BR" dirty="0" err="1"/>
              <a:t>reúso</a:t>
            </a:r>
            <a:r>
              <a:rPr lang="pt-BR" dirty="0"/>
              <a:t> de </a:t>
            </a:r>
            <a:r>
              <a:rPr lang="pt-BR" dirty="0" smtClean="0"/>
              <a:t>software:</a:t>
            </a:r>
          </a:p>
          <a:p>
            <a:pPr marL="0" indent="0">
              <a:buNone/>
            </a:pPr>
            <a:r>
              <a:rPr lang="pt-BR" dirty="0" smtClean="0"/>
              <a:t>3. Componentes</a:t>
            </a:r>
            <a:r>
              <a:rPr lang="pt-BR" dirty="0" smtClean="0"/>
              <a:t>: </a:t>
            </a:r>
            <a:r>
              <a:rPr lang="pt-BR" dirty="0"/>
              <a:t>são coleções de objetos e classes de objetos que funcionam em </a:t>
            </a:r>
            <a:r>
              <a:rPr lang="pt-BR" dirty="0" smtClean="0"/>
              <a:t>conjunto </a:t>
            </a:r>
            <a:r>
              <a:rPr lang="pt-BR" dirty="0"/>
              <a:t>para fornecer funções e serviços relacionados. </a:t>
            </a:r>
            <a:r>
              <a:rPr lang="pt-BR" dirty="0" smtClean="0"/>
              <a:t>Deve-se </a:t>
            </a:r>
            <a:r>
              <a:rPr lang="pt-BR" dirty="0"/>
              <a:t>adaptar e ampliar o </a:t>
            </a:r>
            <a:r>
              <a:rPr lang="pt-BR" dirty="0" smtClean="0"/>
              <a:t>componente </a:t>
            </a:r>
            <a:r>
              <a:rPr lang="pt-BR" dirty="0"/>
              <a:t>adicionando um código próprio. </a:t>
            </a:r>
            <a:r>
              <a:rPr lang="pt-BR" dirty="0" err="1" smtClean="0"/>
              <a:t>Ex</a:t>
            </a:r>
            <a:r>
              <a:rPr lang="pt-BR" dirty="0" smtClean="0"/>
              <a:t> de </a:t>
            </a:r>
            <a:r>
              <a:rPr lang="pt-BR" dirty="0" err="1"/>
              <a:t>reúso</a:t>
            </a:r>
            <a:r>
              <a:rPr lang="pt-BR" dirty="0"/>
              <a:t> em nível de </a:t>
            </a:r>
            <a:r>
              <a:rPr lang="pt-BR" dirty="0" smtClean="0"/>
              <a:t>componente: constrói-se a </a:t>
            </a:r>
            <a:r>
              <a:rPr lang="pt-BR" dirty="0"/>
              <a:t>interface de usuário usando um framework. Este é um conjunto de classes de objetos em geral que implementam manipulação de eventos, </a:t>
            </a:r>
            <a:r>
              <a:rPr lang="pt-BR" dirty="0" smtClean="0"/>
              <a:t>gerenciamento </a:t>
            </a:r>
            <a:r>
              <a:rPr lang="pt-BR" dirty="0"/>
              <a:t>de displays etc. </a:t>
            </a:r>
            <a:r>
              <a:rPr lang="pt-BR" dirty="0" smtClean="0"/>
              <a:t>Faz-se conexões </a:t>
            </a:r>
            <a:r>
              <a:rPr lang="pt-BR" dirty="0"/>
              <a:t>com os dados a serem exibidos e </a:t>
            </a:r>
            <a:r>
              <a:rPr lang="pt-BR" dirty="0" smtClean="0"/>
              <a:t>escreve-se </a:t>
            </a:r>
            <a:r>
              <a:rPr lang="pt-BR" dirty="0"/>
              <a:t>o código para definir detalhes específicos do display, como o layout da tela e as cores.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4. Sistema</a:t>
            </a:r>
            <a:r>
              <a:rPr lang="pt-BR" dirty="0" smtClean="0"/>
              <a:t>: </a:t>
            </a:r>
            <a:r>
              <a:rPr lang="pt-BR" dirty="0" smtClean="0"/>
              <a:t>reusam-se </a:t>
            </a:r>
            <a:r>
              <a:rPr lang="pt-BR" dirty="0"/>
              <a:t>os sistemas de aplicação inteiros, </a:t>
            </a:r>
            <a:r>
              <a:rPr lang="pt-BR" dirty="0" smtClean="0"/>
              <a:t>envolvendo </a:t>
            </a:r>
            <a:r>
              <a:rPr lang="pt-BR" dirty="0"/>
              <a:t>algum tipo de configuração </a:t>
            </a:r>
            <a:r>
              <a:rPr lang="pt-BR" dirty="0" smtClean="0"/>
              <a:t>que </a:t>
            </a:r>
            <a:r>
              <a:rPr lang="pt-BR" dirty="0"/>
              <a:t>podem ser feitas </a:t>
            </a:r>
            <a:r>
              <a:rPr lang="pt-BR" dirty="0" smtClean="0"/>
              <a:t>com </a:t>
            </a:r>
            <a:r>
              <a:rPr lang="pt-BR" dirty="0"/>
              <a:t>adição e modificação do código </a:t>
            </a:r>
            <a:r>
              <a:rPr lang="pt-BR" dirty="0" smtClean="0"/>
              <a:t> </a:t>
            </a:r>
            <a:r>
              <a:rPr lang="pt-BR" dirty="0"/>
              <a:t>ou pelo uso de interface de </a:t>
            </a:r>
            <a:r>
              <a:rPr lang="pt-BR" dirty="0" smtClean="0"/>
              <a:t>configuração </a:t>
            </a:r>
            <a:r>
              <a:rPr lang="pt-BR" dirty="0"/>
              <a:t>do próprio sistema. A maioria dos sistemas comerciais é criada dessa forma, em que sistemas genéricos de COTS (</a:t>
            </a:r>
            <a:r>
              <a:rPr lang="pt-BR" dirty="0" err="1"/>
              <a:t>commercial</a:t>
            </a:r>
            <a:r>
              <a:rPr lang="pt-BR" dirty="0"/>
              <a:t> off-</a:t>
            </a:r>
            <a:r>
              <a:rPr lang="pt-BR" dirty="0" err="1"/>
              <a:t>the</a:t>
            </a:r>
            <a:r>
              <a:rPr lang="pt-BR" dirty="0"/>
              <a:t>-</a:t>
            </a:r>
            <a:r>
              <a:rPr lang="pt-BR" dirty="0" err="1"/>
              <a:t>shelf</a:t>
            </a:r>
            <a:r>
              <a:rPr lang="pt-BR" dirty="0"/>
              <a:t>) são adaptados e reusados. </a:t>
            </a:r>
            <a:r>
              <a:rPr lang="pt-BR" dirty="0"/>
              <a:t>E</a:t>
            </a:r>
            <a:r>
              <a:rPr lang="pt-BR" dirty="0" smtClean="0"/>
              <a:t>ssa </a:t>
            </a:r>
            <a:r>
              <a:rPr lang="pt-BR" dirty="0"/>
              <a:t>abordagem pode envolver o </a:t>
            </a:r>
            <a:r>
              <a:rPr lang="pt-BR" dirty="0" err="1"/>
              <a:t>reúso</a:t>
            </a:r>
            <a:r>
              <a:rPr lang="pt-BR" dirty="0"/>
              <a:t> e a integração de diversos sistemas para criar um novo.</a:t>
            </a:r>
          </a:p>
        </p:txBody>
      </p:sp>
    </p:spTree>
    <p:extLst>
      <p:ext uri="{BB962C8B-B14F-4D97-AF65-F5344CB8AC3E}">
        <p14:creationId xmlns:p14="http://schemas.microsoft.com/office/powerpoint/2010/main" val="32369629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- Reuso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Ao reusar </a:t>
            </a:r>
            <a:r>
              <a:rPr lang="pt-BR" dirty="0" smtClean="0"/>
              <a:t>softwares, desenvolvem-se </a:t>
            </a:r>
            <a:r>
              <a:rPr lang="pt-BR" dirty="0"/>
              <a:t>novos sistemas mais rapidamente, com menos riscos de desenvolvimento e custos mais baixos. </a:t>
            </a:r>
            <a:r>
              <a:rPr lang="pt-BR" dirty="0" smtClean="0"/>
              <a:t>O </a:t>
            </a:r>
            <a:r>
              <a:rPr lang="pt-BR" dirty="0"/>
              <a:t>software reusado foi testado em outras aplicações, </a:t>
            </a:r>
            <a:r>
              <a:rPr lang="pt-BR" dirty="0" smtClean="0"/>
              <a:t>sendo </a:t>
            </a:r>
            <a:r>
              <a:rPr lang="pt-BR" dirty="0"/>
              <a:t>mais confiável que o novo software.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No </a:t>
            </a:r>
            <a:r>
              <a:rPr lang="pt-BR" dirty="0"/>
              <a:t>entanto, existem custos associados ao </a:t>
            </a:r>
            <a:r>
              <a:rPr lang="pt-BR" dirty="0" err="1"/>
              <a:t>reúso</a:t>
            </a:r>
            <a:r>
              <a:rPr lang="pt-BR" dirty="0"/>
              <a:t>: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Os </a:t>
            </a:r>
            <a:r>
              <a:rPr lang="pt-BR" dirty="0"/>
              <a:t>custos de tempo gasto na procura do software para </a:t>
            </a:r>
            <a:r>
              <a:rPr lang="pt-BR" dirty="0" err="1"/>
              <a:t>reúso</a:t>
            </a:r>
            <a:r>
              <a:rPr lang="pt-BR" dirty="0"/>
              <a:t> e na avaliação sobre ele atender ou não às </a:t>
            </a:r>
            <a:r>
              <a:rPr lang="pt-BR" dirty="0" smtClean="0"/>
              <a:t>necessidades</a:t>
            </a:r>
            <a:r>
              <a:rPr lang="pt-BR" dirty="0"/>
              <a:t>. </a:t>
            </a:r>
            <a:r>
              <a:rPr lang="pt-BR" dirty="0" smtClean="0"/>
              <a:t>Deve-se testar </a:t>
            </a:r>
            <a:r>
              <a:rPr lang="pt-BR" dirty="0"/>
              <a:t>o software para ter certeza de que vai funcionar em seu ambiente, sobretudo se ele for diferente do ambiente de desenvolvimento</a:t>
            </a:r>
            <a:r>
              <a:rPr lang="pt-BR" dirty="0" smtClean="0"/>
              <a:t>.</a:t>
            </a:r>
          </a:p>
          <a:p>
            <a:pPr marL="514350" indent="-514350">
              <a:buAutoNum type="arabicPeriod"/>
            </a:pPr>
            <a:r>
              <a:rPr lang="pt-BR" dirty="0"/>
              <a:t>C</a:t>
            </a:r>
            <a:r>
              <a:rPr lang="pt-BR" dirty="0" smtClean="0"/>
              <a:t>ustos </a:t>
            </a:r>
            <a:r>
              <a:rPr lang="pt-BR" dirty="0"/>
              <a:t>de aquisição do software </a:t>
            </a:r>
            <a:r>
              <a:rPr lang="pt-BR" dirty="0" err="1"/>
              <a:t>reusável</a:t>
            </a:r>
            <a:r>
              <a:rPr lang="pt-BR" dirty="0"/>
              <a:t>. Para grandes sistemas de prateleira, esses custos podem ser muito elevados</a:t>
            </a:r>
            <a:r>
              <a:rPr lang="pt-BR" dirty="0" smtClean="0"/>
              <a:t>. </a:t>
            </a:r>
          </a:p>
          <a:p>
            <a:pPr marL="514350" indent="-514350">
              <a:buAutoNum type="arabicPeriod"/>
            </a:pPr>
            <a:r>
              <a:rPr lang="pt-BR" dirty="0"/>
              <a:t>C</a:t>
            </a:r>
            <a:r>
              <a:rPr lang="pt-BR" dirty="0" smtClean="0"/>
              <a:t>ustos </a:t>
            </a:r>
            <a:r>
              <a:rPr lang="pt-BR" dirty="0"/>
              <a:t>de adaptação e configuração dos componentes de software </a:t>
            </a:r>
            <a:r>
              <a:rPr lang="pt-BR" dirty="0" err="1"/>
              <a:t>reusável</a:t>
            </a:r>
            <a:r>
              <a:rPr lang="pt-BR" dirty="0"/>
              <a:t> ou sistemas para refletir os requisitos do sistema que você está desenvolvendo.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/>
              <a:t>C</a:t>
            </a:r>
            <a:r>
              <a:rPr lang="pt-BR" dirty="0" smtClean="0"/>
              <a:t>ustos </a:t>
            </a:r>
            <a:r>
              <a:rPr lang="pt-BR" dirty="0"/>
              <a:t>de integração de componentes de software </a:t>
            </a:r>
            <a:r>
              <a:rPr lang="pt-BR" dirty="0" err="1"/>
              <a:t>reusável</a:t>
            </a:r>
            <a:r>
              <a:rPr lang="pt-BR" dirty="0"/>
              <a:t> </a:t>
            </a:r>
            <a:r>
              <a:rPr lang="pt-BR" dirty="0" smtClean="0"/>
              <a:t>(uso de </a:t>
            </a:r>
            <a:r>
              <a:rPr lang="pt-BR" dirty="0"/>
              <a:t>software de diferentes fontes) com o novo código </a:t>
            </a:r>
            <a:r>
              <a:rPr lang="pt-BR" dirty="0" err="1" smtClean="0"/>
              <a:t>desenvolvudo</a:t>
            </a:r>
            <a:r>
              <a:rPr lang="pt-BR" dirty="0" smtClean="0"/>
              <a:t>. </a:t>
            </a:r>
            <a:r>
              <a:rPr lang="pt-BR" dirty="0"/>
              <a:t>A integração de softwares reusáveis de diferentes </a:t>
            </a:r>
            <a:r>
              <a:rPr lang="pt-BR" dirty="0" smtClean="0"/>
              <a:t>fornecedores </a:t>
            </a:r>
            <a:r>
              <a:rPr lang="pt-BR" dirty="0"/>
              <a:t>pode ser difícil e cara, pois os fornecedores podem fazer suposições conflitantes sobre como seus respectivos softwares serão reusados.</a:t>
            </a:r>
          </a:p>
        </p:txBody>
      </p:sp>
    </p:spTree>
    <p:extLst>
      <p:ext uri="{BB962C8B-B14F-4D97-AF65-F5344CB8AC3E}">
        <p14:creationId xmlns:p14="http://schemas.microsoft.com/office/powerpoint/2010/main" val="39095273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- Reuso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Devem-se </a:t>
            </a:r>
            <a:r>
              <a:rPr lang="pt-BR" dirty="0"/>
              <a:t>considerar as possibilidades de </a:t>
            </a:r>
            <a:r>
              <a:rPr lang="pt-BR" dirty="0" err="1"/>
              <a:t>reúso</a:t>
            </a:r>
            <a:r>
              <a:rPr lang="pt-BR" dirty="0"/>
              <a:t> antes de </a:t>
            </a:r>
            <a:r>
              <a:rPr lang="pt-BR" dirty="0" smtClean="0"/>
              <a:t>projetar </a:t>
            </a:r>
            <a:r>
              <a:rPr lang="pt-BR" dirty="0"/>
              <a:t>o software em </a:t>
            </a:r>
            <a:r>
              <a:rPr lang="pt-BR" dirty="0" smtClean="0"/>
              <a:t>detalhes.</a:t>
            </a:r>
          </a:p>
          <a:p>
            <a:pPr marL="0" indent="0">
              <a:buNone/>
            </a:pPr>
            <a:r>
              <a:rPr lang="pt-BR" dirty="0" smtClean="0"/>
              <a:t>Pode-se</a:t>
            </a:r>
            <a:r>
              <a:rPr lang="pt-BR" dirty="0" smtClean="0"/>
              <a:t> </a:t>
            </a:r>
            <a:r>
              <a:rPr lang="pt-BR" dirty="0"/>
              <a:t>adaptar </a:t>
            </a:r>
            <a:r>
              <a:rPr lang="pt-BR" dirty="0"/>
              <a:t>o</a:t>
            </a:r>
            <a:r>
              <a:rPr lang="pt-BR" dirty="0" smtClean="0"/>
              <a:t> </a:t>
            </a:r>
            <a:r>
              <a:rPr lang="pt-BR" dirty="0"/>
              <a:t>projeto para reusar ativos de software existentes.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Processo de </a:t>
            </a:r>
            <a:r>
              <a:rPr lang="pt-BR" dirty="0"/>
              <a:t>desenvolvimento orientado ao </a:t>
            </a:r>
            <a:r>
              <a:rPr lang="pt-BR" dirty="0" smtClean="0"/>
              <a:t>reuso: busca de </a:t>
            </a:r>
            <a:r>
              <a:rPr lang="pt-BR" dirty="0"/>
              <a:t>elementos reusáveis e, em seguida, altera seu projeto e requisitos para fazer melhor uso deles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r>
              <a:rPr lang="pt-BR" dirty="0" smtClean="0"/>
              <a:t> </a:t>
            </a:r>
            <a:r>
              <a:rPr lang="pt-BR" dirty="0"/>
              <a:t>Para um grande número de sistemas de aplicações, a engenharia de software realmente significa o </a:t>
            </a:r>
            <a:r>
              <a:rPr lang="pt-BR" dirty="0" err="1"/>
              <a:t>reúso</a:t>
            </a:r>
            <a:r>
              <a:rPr lang="pt-BR" dirty="0"/>
              <a:t> de software. </a:t>
            </a:r>
          </a:p>
        </p:txBody>
      </p:sp>
    </p:spTree>
    <p:extLst>
      <p:ext uri="{BB962C8B-B14F-4D97-AF65-F5344CB8AC3E}">
        <p14:creationId xmlns:p14="http://schemas.microsoft.com/office/powerpoint/2010/main" val="22422341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</a:t>
            </a:r>
            <a:r>
              <a:rPr lang="pt-BR" dirty="0"/>
              <a:t>- </a:t>
            </a:r>
            <a:r>
              <a:rPr lang="pt-BR" dirty="0" smtClean="0"/>
              <a:t>Gerenciamento </a:t>
            </a:r>
            <a:r>
              <a:rPr lang="pt-BR" dirty="0"/>
              <a:t>de configuração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dirty="0" smtClean="0"/>
              <a:t>Gerenciamento </a:t>
            </a:r>
            <a:r>
              <a:rPr lang="pt-BR" dirty="0"/>
              <a:t>de </a:t>
            </a:r>
            <a:r>
              <a:rPr lang="pt-BR" dirty="0" smtClean="0"/>
              <a:t>mudanças </a:t>
            </a:r>
            <a:r>
              <a:rPr lang="pt-BR" dirty="0"/>
              <a:t>é absolutamente essencial. 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D</a:t>
            </a:r>
            <a:r>
              <a:rPr lang="pt-BR" dirty="0" smtClean="0"/>
              <a:t>esenvolvimento </a:t>
            </a:r>
            <a:r>
              <a:rPr lang="pt-BR" dirty="0" smtClean="0"/>
              <a:t>em </a:t>
            </a:r>
            <a:r>
              <a:rPr lang="pt-BR" dirty="0" smtClean="0"/>
              <a:t>equipe: membros </a:t>
            </a:r>
            <a:r>
              <a:rPr lang="pt-BR" dirty="0"/>
              <a:t>não </a:t>
            </a:r>
            <a:r>
              <a:rPr lang="pt-BR" dirty="0" smtClean="0"/>
              <a:t>interferem </a:t>
            </a:r>
            <a:r>
              <a:rPr lang="pt-BR" dirty="0"/>
              <a:t>no trabalho uns dos outros. 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D</a:t>
            </a:r>
            <a:r>
              <a:rPr lang="pt-BR" dirty="0" smtClean="0"/>
              <a:t>uas </a:t>
            </a:r>
            <a:r>
              <a:rPr lang="pt-BR" dirty="0" smtClean="0"/>
              <a:t>pessoas </a:t>
            </a:r>
            <a:r>
              <a:rPr lang="pt-BR" dirty="0" smtClean="0"/>
              <a:t>trabalham </a:t>
            </a:r>
            <a:r>
              <a:rPr lang="pt-BR" dirty="0" smtClean="0"/>
              <a:t>em </a:t>
            </a:r>
            <a:r>
              <a:rPr lang="pt-BR" dirty="0"/>
              <a:t>um </a:t>
            </a:r>
            <a:r>
              <a:rPr lang="pt-BR" dirty="0" smtClean="0"/>
              <a:t>componente: mudanças coordenadas</a:t>
            </a:r>
            <a:r>
              <a:rPr lang="pt-BR" dirty="0"/>
              <a:t>. 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T</a:t>
            </a:r>
            <a:r>
              <a:rPr lang="pt-BR" dirty="0" smtClean="0"/>
              <a:t>odos podem </a:t>
            </a:r>
            <a:r>
              <a:rPr lang="pt-BR" dirty="0"/>
              <a:t>acessar as versões mais atualizadas dos componentes de software; caso contrário, os desenvolvedores podem refazer o trabalho que já foi feito.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Erro de nova </a:t>
            </a:r>
            <a:r>
              <a:rPr lang="pt-BR" dirty="0"/>
              <a:t>versão de um </a:t>
            </a:r>
            <a:r>
              <a:rPr lang="pt-BR" dirty="0" smtClean="0"/>
              <a:t>sistema: voltar </a:t>
            </a:r>
            <a:r>
              <a:rPr lang="pt-BR" dirty="0"/>
              <a:t>para uma versão de trabalho do sistema ou componente.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Gerenciamento </a:t>
            </a:r>
            <a:r>
              <a:rPr lang="pt-BR" dirty="0"/>
              <a:t>de </a:t>
            </a:r>
            <a:r>
              <a:rPr lang="pt-BR" dirty="0" smtClean="0"/>
              <a:t>configuração: </a:t>
            </a:r>
            <a:r>
              <a:rPr lang="pt-BR" dirty="0" smtClean="0"/>
              <a:t>nome </a:t>
            </a:r>
            <a:r>
              <a:rPr lang="pt-BR" dirty="0"/>
              <a:t>do processo geral de gerenciamento de um sistema de software em </a:t>
            </a:r>
            <a:r>
              <a:rPr lang="pt-BR" dirty="0" smtClean="0"/>
              <a:t>mudança cujo </a:t>
            </a:r>
            <a:r>
              <a:rPr lang="pt-BR" dirty="0"/>
              <a:t>objetivo </a:t>
            </a:r>
            <a:r>
              <a:rPr lang="pt-BR" dirty="0" smtClean="0"/>
              <a:t>é </a:t>
            </a:r>
            <a:r>
              <a:rPr lang="pt-BR" dirty="0"/>
              <a:t>apoiar o processo de integração do sistema para que todos os desenvolvedores possam acessar o código do projeto e os documentos relacionados de forma </a:t>
            </a:r>
            <a:r>
              <a:rPr lang="pt-BR" dirty="0" smtClean="0"/>
              <a:t>controlada</a:t>
            </a:r>
            <a:r>
              <a:rPr lang="pt-BR" dirty="0"/>
              <a:t>, descobrir quais mudanças foram feitas, bem como compilar e ligar componentes para criar um sistema. </a:t>
            </a:r>
          </a:p>
        </p:txBody>
      </p:sp>
    </p:spTree>
    <p:extLst>
      <p:ext uri="{BB962C8B-B14F-4D97-AF65-F5344CB8AC3E}">
        <p14:creationId xmlns:p14="http://schemas.microsoft.com/office/powerpoint/2010/main" val="14871656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</a:t>
            </a:r>
            <a:r>
              <a:rPr lang="pt-BR" dirty="0"/>
              <a:t>- </a:t>
            </a:r>
            <a:r>
              <a:rPr lang="pt-BR" dirty="0" smtClean="0"/>
              <a:t>Gerenciamento </a:t>
            </a:r>
            <a:r>
              <a:rPr lang="pt-BR" dirty="0"/>
              <a:t>de configuração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dirty="0"/>
              <a:t>T</a:t>
            </a:r>
            <a:r>
              <a:rPr lang="pt-BR" dirty="0" smtClean="0"/>
              <a:t>rês </a:t>
            </a:r>
            <a:r>
              <a:rPr lang="pt-BR" dirty="0"/>
              <a:t>atividades fundamentais no gerenciamento de configuração: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Gerenciamento </a:t>
            </a:r>
            <a:r>
              <a:rPr lang="pt-BR" dirty="0"/>
              <a:t>de </a:t>
            </a:r>
            <a:r>
              <a:rPr lang="pt-BR" dirty="0" smtClean="0"/>
              <a:t>versões: o </a:t>
            </a:r>
            <a:r>
              <a:rPr lang="pt-BR" dirty="0"/>
              <a:t>suporte é fornecido para manter o controle das diferentes versões de componentes de software. </a:t>
            </a:r>
            <a:r>
              <a:rPr lang="pt-BR" dirty="0"/>
              <a:t>I</a:t>
            </a:r>
            <a:r>
              <a:rPr lang="pt-BR" dirty="0" smtClean="0"/>
              <a:t>ncluem </a:t>
            </a:r>
            <a:r>
              <a:rPr lang="pt-BR" dirty="0"/>
              <a:t>recursos para coordenar o </a:t>
            </a:r>
            <a:r>
              <a:rPr lang="pt-BR" dirty="0" smtClean="0"/>
              <a:t>desenvolvimento </a:t>
            </a:r>
            <a:r>
              <a:rPr lang="pt-BR" dirty="0"/>
              <a:t>de diversos programadores. Eles bloqueiam um desenvolvedor que esteja escrevendo sobre um código submetido ao sistema por outra pessoa.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Integração </a:t>
            </a:r>
            <a:r>
              <a:rPr lang="pt-BR" dirty="0"/>
              <a:t>de </a:t>
            </a:r>
            <a:r>
              <a:rPr lang="pt-BR" dirty="0" smtClean="0"/>
              <a:t>sistemas: </a:t>
            </a:r>
            <a:r>
              <a:rPr lang="pt-BR" dirty="0"/>
              <a:t>o suporte é fornecido para ajudar os desenvolvedores a definir quais versões dos componentes são usadas para criar cada versão de um sistema. Essa descrição </a:t>
            </a:r>
            <a:r>
              <a:rPr lang="pt-BR" dirty="0" smtClean="0"/>
              <a:t>é </a:t>
            </a:r>
            <a:r>
              <a:rPr lang="pt-BR" dirty="0"/>
              <a:t>usada para construir um sistema automaticamente, compilando e ligando os componentes necessários.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Rastreamento </a:t>
            </a:r>
            <a:r>
              <a:rPr lang="pt-BR" dirty="0"/>
              <a:t>de </a:t>
            </a:r>
            <a:r>
              <a:rPr lang="pt-BR" dirty="0" smtClean="0"/>
              <a:t>problemas: </a:t>
            </a:r>
            <a:r>
              <a:rPr lang="pt-BR" dirty="0"/>
              <a:t>o suporte é fornecido para permitir aos usuários reportar bugs e outros </a:t>
            </a:r>
            <a:r>
              <a:rPr lang="pt-BR" dirty="0" smtClean="0"/>
              <a:t>problemas</a:t>
            </a:r>
            <a:r>
              <a:rPr lang="pt-BR" dirty="0"/>
              <a:t>, além de permitir que todos os desenvolvedores possam ver quem está trabalhando </a:t>
            </a:r>
            <a:r>
              <a:rPr lang="pt-BR" dirty="0" smtClean="0"/>
              <a:t>nos </a:t>
            </a:r>
            <a:r>
              <a:rPr lang="pt-BR" dirty="0"/>
              <a:t>problemas e quando eles são resolvidos.</a:t>
            </a:r>
          </a:p>
        </p:txBody>
      </p:sp>
    </p:spTree>
    <p:extLst>
      <p:ext uri="{BB962C8B-B14F-4D97-AF65-F5344CB8AC3E}">
        <p14:creationId xmlns:p14="http://schemas.microsoft.com/office/powerpoint/2010/main" val="9269168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</a:t>
            </a:r>
            <a:r>
              <a:rPr lang="pt-BR" dirty="0"/>
              <a:t>- </a:t>
            </a:r>
            <a:r>
              <a:rPr lang="pt-BR" dirty="0" smtClean="0"/>
              <a:t>Gerenciamento </a:t>
            </a:r>
            <a:r>
              <a:rPr lang="pt-BR" dirty="0"/>
              <a:t>de configuração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Ferramentas de gerenciamento de configuração de </a:t>
            </a:r>
            <a:r>
              <a:rPr lang="pt-BR" dirty="0" smtClean="0"/>
              <a:t>software: </a:t>
            </a:r>
            <a:r>
              <a:rPr lang="pt-BR" dirty="0"/>
              <a:t>apoiam cada uma das atividades mencionadas. </a:t>
            </a:r>
            <a:r>
              <a:rPr lang="pt-BR" dirty="0" smtClean="0"/>
              <a:t>As </a:t>
            </a:r>
            <a:r>
              <a:rPr lang="pt-BR" dirty="0"/>
              <a:t>ferramentas podem ser projetadas para trabalharem juntas em um sistema abrangente de gerenciamento de mudanças, como o </a:t>
            </a:r>
            <a:r>
              <a:rPr lang="pt-BR" dirty="0" err="1"/>
              <a:t>ClearCase</a:t>
            </a:r>
            <a:r>
              <a:rPr lang="pt-BR" dirty="0"/>
              <a:t> (BELLAGIO e MILLIGAN, 2005).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Nos </a:t>
            </a:r>
            <a:r>
              <a:rPr lang="pt-BR" dirty="0"/>
              <a:t>sistemas integrados de gerenciamento de configuração, gerenciamento de versões, integração de sistemas e ferramentas de monitoramento de problemas, são projetadas em conjunto. Elas compartilham um estilo de interface de usuário e são integradas por meio de um repositório de código comum. 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6904189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</a:t>
            </a:r>
            <a:r>
              <a:rPr lang="pt-BR" dirty="0"/>
              <a:t>- </a:t>
            </a:r>
            <a:r>
              <a:rPr lang="pt-BR" dirty="0" smtClean="0"/>
              <a:t>Gerenciamento </a:t>
            </a:r>
            <a:r>
              <a:rPr lang="pt-BR" dirty="0"/>
              <a:t>de configuração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F</a:t>
            </a:r>
            <a:r>
              <a:rPr lang="pt-BR" dirty="0" smtClean="0"/>
              <a:t>erramentas </a:t>
            </a:r>
            <a:r>
              <a:rPr lang="pt-BR" dirty="0"/>
              <a:t>separadas, instaladas em um ambiente de desenvolvimento integrado, podem ser uma </a:t>
            </a:r>
            <a:r>
              <a:rPr lang="pt-BR" dirty="0" smtClean="0"/>
              <a:t>alternativa</a:t>
            </a:r>
            <a:r>
              <a:rPr lang="pt-BR" dirty="0"/>
              <a:t>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O </a:t>
            </a:r>
            <a:r>
              <a:rPr lang="pt-BR" dirty="0"/>
              <a:t>gerenciamento de versões pode ser apoiado por meio de um sistema de gerenciamento de </a:t>
            </a:r>
            <a:r>
              <a:rPr lang="pt-BR" dirty="0" smtClean="0"/>
              <a:t>versões. </a:t>
            </a:r>
            <a:r>
              <a:rPr lang="pt-BR" dirty="0" err="1" smtClean="0"/>
              <a:t>Ex</a:t>
            </a:r>
            <a:r>
              <a:rPr lang="pt-BR" dirty="0" smtClean="0"/>
              <a:t>: </a:t>
            </a:r>
            <a:r>
              <a:rPr lang="pt-BR" dirty="0" err="1"/>
              <a:t>Subversion</a:t>
            </a:r>
            <a:r>
              <a:rPr lang="pt-BR" dirty="0"/>
              <a:t> (PILATO et al., 2008), capaz de suportar desenvolvimento de </a:t>
            </a:r>
            <a:r>
              <a:rPr lang="pt-BR" dirty="0" err="1"/>
              <a:t>multiequipes</a:t>
            </a:r>
            <a:r>
              <a:rPr lang="pt-BR" dirty="0"/>
              <a:t> e </a:t>
            </a:r>
            <a:r>
              <a:rPr lang="pt-BR" dirty="0" err="1"/>
              <a:t>multissites</a:t>
            </a:r>
            <a:r>
              <a:rPr lang="pt-BR" dirty="0"/>
              <a:t>. O sistema de apoio à integração pode ser incorporado à linguagem ou depender de um conjunto de ferramentas separadas, como o sistema de construção GNU.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Ferramenta </a:t>
            </a:r>
            <a:r>
              <a:rPr lang="pt-BR" dirty="0"/>
              <a:t>de integração mais </a:t>
            </a:r>
            <a:r>
              <a:rPr lang="pt-BR" dirty="0" smtClean="0"/>
              <a:t>conhecida: </a:t>
            </a:r>
            <a:r>
              <a:rPr lang="pt-BR" dirty="0"/>
              <a:t>Unix </a:t>
            </a:r>
            <a:r>
              <a:rPr lang="pt-BR" dirty="0" err="1"/>
              <a:t>Make</a:t>
            </a:r>
            <a:r>
              <a:rPr lang="pt-BR" dirty="0"/>
              <a:t>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Sistemas </a:t>
            </a:r>
            <a:r>
              <a:rPr lang="pt-BR" dirty="0"/>
              <a:t>de rastreamento de bugs ou de problemas, como </a:t>
            </a:r>
            <a:r>
              <a:rPr lang="pt-BR" dirty="0" err="1"/>
              <a:t>Bugzilla</a:t>
            </a:r>
            <a:r>
              <a:rPr lang="pt-BR" dirty="0"/>
              <a:t>, são usados para relatar bugs e </a:t>
            </a:r>
            <a:r>
              <a:rPr lang="pt-BR" dirty="0" smtClean="0"/>
              <a:t>outros </a:t>
            </a:r>
            <a:r>
              <a:rPr lang="pt-BR" dirty="0"/>
              <a:t>problemas, </a:t>
            </a:r>
            <a:r>
              <a:rPr lang="pt-BR" dirty="0" smtClean="0"/>
              <a:t>e controlam se </a:t>
            </a:r>
            <a:r>
              <a:rPr lang="pt-BR" dirty="0"/>
              <a:t>foram corrigidos ou não.</a:t>
            </a:r>
          </a:p>
        </p:txBody>
      </p:sp>
    </p:spTree>
    <p:extLst>
      <p:ext uri="{BB962C8B-B14F-4D97-AF65-F5344CB8AC3E}">
        <p14:creationId xmlns:p14="http://schemas.microsoft.com/office/powerpoint/2010/main" val="17631124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</a:t>
            </a:r>
            <a:r>
              <a:rPr lang="pt-BR" dirty="0"/>
              <a:t>- </a:t>
            </a:r>
            <a:r>
              <a:rPr lang="pt-BR" dirty="0" smtClean="0"/>
              <a:t>Desenvolvimento </a:t>
            </a:r>
            <a:r>
              <a:rPr lang="pt-BR" dirty="0"/>
              <a:t>host-</a:t>
            </a:r>
            <a:r>
              <a:rPr lang="pt-BR" dirty="0" err="1"/>
              <a:t>target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 maioria dos </a:t>
            </a:r>
            <a:r>
              <a:rPr lang="pt-BR" dirty="0" smtClean="0"/>
              <a:t>softwares é </a:t>
            </a:r>
            <a:r>
              <a:rPr lang="pt-BR" dirty="0"/>
              <a:t>baseada em um modelo </a:t>
            </a:r>
            <a:r>
              <a:rPr lang="pt-BR" dirty="0" smtClean="0"/>
              <a:t>host-</a:t>
            </a:r>
            <a:r>
              <a:rPr lang="pt-BR" dirty="0" err="1" smtClean="0"/>
              <a:t>target</a:t>
            </a:r>
            <a:r>
              <a:rPr lang="pt-BR" dirty="0" smtClean="0"/>
              <a:t>: </a:t>
            </a:r>
            <a:r>
              <a:rPr lang="pt-BR" dirty="0" smtClean="0"/>
              <a:t>desenvolvido </a:t>
            </a:r>
            <a:r>
              <a:rPr lang="pt-BR" dirty="0"/>
              <a:t>em um computador (host), </a:t>
            </a:r>
            <a:r>
              <a:rPr lang="pt-BR" dirty="0" smtClean="0"/>
              <a:t>executado </a:t>
            </a:r>
            <a:r>
              <a:rPr lang="pt-BR" dirty="0"/>
              <a:t>em </a:t>
            </a:r>
            <a:r>
              <a:rPr lang="pt-BR" dirty="0" smtClean="0"/>
              <a:t>outro </a:t>
            </a:r>
            <a:r>
              <a:rPr lang="pt-BR" dirty="0"/>
              <a:t>(</a:t>
            </a:r>
            <a:r>
              <a:rPr lang="pt-BR" dirty="0" err="1"/>
              <a:t>target</a:t>
            </a:r>
            <a:r>
              <a:rPr lang="pt-BR" dirty="0"/>
              <a:t>).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Genericamente: </a:t>
            </a:r>
            <a:r>
              <a:rPr lang="pt-BR" dirty="0"/>
              <a:t>uma plataforma de desenvolvimento e uma de execução.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Plataforma: hardware, sistema operacional, softwares </a:t>
            </a:r>
            <a:r>
              <a:rPr lang="pt-BR" dirty="0"/>
              <a:t>de </a:t>
            </a:r>
            <a:r>
              <a:rPr lang="pt-BR" dirty="0" smtClean="0"/>
              <a:t>apoio (SGBD, </a:t>
            </a:r>
            <a:r>
              <a:rPr lang="pt-BR" dirty="0"/>
              <a:t>para plataformas de desenvolvimento, um ambiente de desenvolvimento interativo. 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P</a:t>
            </a:r>
            <a:r>
              <a:rPr lang="pt-BR" dirty="0" smtClean="0"/>
              <a:t>lataformas </a:t>
            </a:r>
            <a:r>
              <a:rPr lang="pt-BR" dirty="0"/>
              <a:t>de desenvolvimento e de </a:t>
            </a:r>
            <a:r>
              <a:rPr lang="pt-BR" dirty="0" smtClean="0"/>
              <a:t>execução podem ser </a:t>
            </a:r>
            <a:r>
              <a:rPr lang="pt-BR" dirty="0"/>
              <a:t>as mesmas, tornando possível desenvolver e testar o software na mesma máquina.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É </a:t>
            </a:r>
            <a:r>
              <a:rPr lang="pt-BR" dirty="0"/>
              <a:t>mais comum que sejam diferentes, </a:t>
            </a:r>
            <a:r>
              <a:rPr lang="pt-BR" dirty="0" smtClean="0"/>
              <a:t>sendo preciso </a:t>
            </a:r>
            <a:r>
              <a:rPr lang="pt-BR" dirty="0"/>
              <a:t>mover o software desenvolvido para a plataforma de execução para testes ou executar um simulador em sua </a:t>
            </a:r>
            <a:r>
              <a:rPr lang="pt-BR" dirty="0" smtClean="0"/>
              <a:t>máquina </a:t>
            </a:r>
            <a:r>
              <a:rPr lang="pt-BR" dirty="0"/>
              <a:t>de desenvolvimento.</a:t>
            </a:r>
          </a:p>
        </p:txBody>
      </p:sp>
    </p:spTree>
    <p:extLst>
      <p:ext uri="{BB962C8B-B14F-4D97-AF65-F5344CB8AC3E}">
        <p14:creationId xmlns:p14="http://schemas.microsoft.com/office/powerpoint/2010/main" val="30273564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</a:t>
            </a:r>
            <a:r>
              <a:rPr lang="pt-BR" dirty="0"/>
              <a:t>- </a:t>
            </a:r>
            <a:r>
              <a:rPr lang="pt-BR" dirty="0" smtClean="0"/>
              <a:t>Desenvolvimento </a:t>
            </a:r>
            <a:r>
              <a:rPr lang="pt-BR" dirty="0"/>
              <a:t>host-</a:t>
            </a:r>
            <a:r>
              <a:rPr lang="pt-BR" dirty="0" err="1"/>
              <a:t>target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D</a:t>
            </a:r>
            <a:r>
              <a:rPr lang="pt-BR" dirty="0" smtClean="0"/>
              <a:t>esenvolvimento </a:t>
            </a:r>
            <a:r>
              <a:rPr lang="pt-BR" dirty="0"/>
              <a:t>de sistemas embutidos, </a:t>
            </a:r>
            <a:r>
              <a:rPr lang="pt-BR" dirty="0" smtClean="0"/>
              <a:t>frequentemente </a:t>
            </a:r>
            <a:r>
              <a:rPr lang="pt-BR" dirty="0"/>
              <a:t>usam </a:t>
            </a:r>
            <a:r>
              <a:rPr lang="pt-BR" dirty="0" smtClean="0"/>
              <a:t>simuladores: dispositivos </a:t>
            </a:r>
            <a:r>
              <a:rPr lang="pt-BR" dirty="0"/>
              <a:t>de </a:t>
            </a:r>
            <a:r>
              <a:rPr lang="pt-BR" dirty="0" smtClean="0"/>
              <a:t>hardware (como sensores), </a:t>
            </a:r>
            <a:r>
              <a:rPr lang="pt-BR" dirty="0"/>
              <a:t>e os eventos no ambiente em que o sistema será implantado.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Simuladores: </a:t>
            </a:r>
            <a:r>
              <a:rPr lang="pt-BR" dirty="0"/>
              <a:t>aceleraram o processo de desenvolvimento de sistemas </a:t>
            </a:r>
            <a:r>
              <a:rPr lang="pt-BR" dirty="0" smtClean="0"/>
              <a:t>embutidos. Cada </a:t>
            </a:r>
            <a:r>
              <a:rPr lang="pt-BR" dirty="0"/>
              <a:t>desenvolvedor pode ter sua própria </a:t>
            </a:r>
            <a:r>
              <a:rPr lang="pt-BR" dirty="0" smtClean="0"/>
              <a:t>plataforma </a:t>
            </a:r>
            <a:r>
              <a:rPr lang="pt-BR" dirty="0"/>
              <a:t>de execução, sem necessidade de baixar o software para o hardware </a:t>
            </a:r>
            <a:r>
              <a:rPr lang="pt-BR" dirty="0" err="1"/>
              <a:t>target</a:t>
            </a:r>
            <a:r>
              <a:rPr lang="pt-BR" dirty="0"/>
              <a:t>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Simuladores: </a:t>
            </a:r>
            <a:r>
              <a:rPr lang="pt-BR" dirty="0"/>
              <a:t>caros para serem </a:t>
            </a:r>
            <a:r>
              <a:rPr lang="pt-BR" dirty="0" smtClean="0"/>
              <a:t>desenvolvidos. Estão </a:t>
            </a:r>
            <a:r>
              <a:rPr lang="pt-BR" dirty="0"/>
              <a:t>disponíveis para as arquiteturas mais populares de hardware.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Sistema </a:t>
            </a:r>
            <a:r>
              <a:rPr lang="pt-BR" dirty="0" err="1" smtClean="0"/>
              <a:t>target</a:t>
            </a:r>
            <a:r>
              <a:rPr lang="pt-BR" dirty="0" smtClean="0"/>
              <a:t>, </a:t>
            </a:r>
            <a:r>
              <a:rPr lang="pt-BR" dirty="0"/>
              <a:t>o middleware ou outro software </a:t>
            </a:r>
            <a:r>
              <a:rPr lang="pt-BR" dirty="0"/>
              <a:t>necessário </a:t>
            </a:r>
            <a:r>
              <a:rPr lang="pt-BR" dirty="0" smtClean="0"/>
              <a:t>instalados: </a:t>
            </a:r>
            <a:r>
              <a:rPr lang="pt-BR" dirty="0"/>
              <a:t>testar o sistema com esse software.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Restrições de licença: Pouco </a:t>
            </a:r>
            <a:r>
              <a:rPr lang="pt-BR" dirty="0"/>
              <a:t>prático instalar esse software em sua máquina de desenvolvimento, mesmo que seja a mesma que a plataforma </a:t>
            </a:r>
            <a:r>
              <a:rPr lang="pt-BR" dirty="0" err="1" smtClean="0"/>
              <a:t>target</a:t>
            </a:r>
            <a:r>
              <a:rPr lang="pt-BR" dirty="0" smtClean="0"/>
              <a:t>. Para </a:t>
            </a:r>
            <a:r>
              <a:rPr lang="pt-BR" dirty="0"/>
              <a:t>testar o sistema </a:t>
            </a:r>
            <a:r>
              <a:rPr lang="pt-BR" dirty="0" smtClean="0"/>
              <a:t>deve-se </a:t>
            </a:r>
            <a:r>
              <a:rPr lang="pt-BR" dirty="0"/>
              <a:t>transferir o código desenvolvido para a plataforma de execução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69386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</a:t>
            </a:r>
            <a:r>
              <a:rPr lang="pt-BR" dirty="0"/>
              <a:t>- </a:t>
            </a:r>
            <a:r>
              <a:rPr lang="pt-BR" dirty="0" smtClean="0"/>
              <a:t>Desenvolvimento </a:t>
            </a:r>
            <a:r>
              <a:rPr lang="pt-BR" dirty="0"/>
              <a:t>host-</a:t>
            </a:r>
            <a:r>
              <a:rPr lang="pt-BR" dirty="0" err="1"/>
              <a:t>target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P</a:t>
            </a:r>
            <a:r>
              <a:rPr lang="pt-BR" dirty="0" smtClean="0"/>
              <a:t>lataforma </a:t>
            </a:r>
            <a:r>
              <a:rPr lang="pt-BR" dirty="0"/>
              <a:t>de desenvolvimento de software deve oferecer </a:t>
            </a:r>
            <a:r>
              <a:rPr lang="pt-BR" dirty="0" smtClean="0"/>
              <a:t>ferramentas </a:t>
            </a:r>
            <a:r>
              <a:rPr lang="pt-BR" dirty="0"/>
              <a:t>para apoiar os </a:t>
            </a:r>
            <a:r>
              <a:rPr lang="pt-BR" dirty="0" smtClean="0"/>
              <a:t>processos </a:t>
            </a:r>
            <a:r>
              <a:rPr lang="pt-BR" dirty="0"/>
              <a:t>de engenharia de </a:t>
            </a:r>
            <a:r>
              <a:rPr lang="pt-BR" dirty="0" smtClean="0"/>
              <a:t>software:</a:t>
            </a:r>
          </a:p>
          <a:p>
            <a:pPr marL="514350" indent="-514350">
              <a:buAutoNum type="arabicPeriod"/>
            </a:pPr>
            <a:r>
              <a:rPr lang="pt-BR" dirty="0" smtClean="0"/>
              <a:t>Sistema </a:t>
            </a:r>
            <a:r>
              <a:rPr lang="pt-BR" dirty="0"/>
              <a:t>compilador integrado e editor dirigido a sintaxe, que permita criar, editar e compilar o código.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/>
              <a:t>S</a:t>
            </a:r>
            <a:r>
              <a:rPr lang="pt-BR" dirty="0" smtClean="0"/>
              <a:t>istema </a:t>
            </a:r>
            <a:r>
              <a:rPr lang="pt-BR" dirty="0"/>
              <a:t>de depuração de linguagem.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Ferramentas </a:t>
            </a:r>
            <a:r>
              <a:rPr lang="pt-BR" dirty="0"/>
              <a:t>de edição gráfica, como ferramentas para editar modelos da UML.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Ferramentas </a:t>
            </a:r>
            <a:r>
              <a:rPr lang="pt-BR" dirty="0"/>
              <a:t>de teste, como </a:t>
            </a:r>
            <a:r>
              <a:rPr lang="pt-BR" dirty="0" err="1"/>
              <a:t>JUnit</a:t>
            </a:r>
            <a:r>
              <a:rPr lang="pt-BR" dirty="0"/>
              <a:t> (MASSOL, 2003), que podem executar, automaticamente, um conjunto de testes sobre uma nova versão de um programa.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Ferramentas </a:t>
            </a:r>
            <a:r>
              <a:rPr lang="pt-BR" dirty="0"/>
              <a:t>de apoio ao </a:t>
            </a:r>
            <a:r>
              <a:rPr lang="pt-BR" dirty="0" smtClean="0"/>
              <a:t>projeto para ajudar </a:t>
            </a:r>
            <a:r>
              <a:rPr lang="pt-BR" dirty="0"/>
              <a:t>a organizar o código para diferentes projetos de desenvolvimento</a:t>
            </a:r>
          </a:p>
        </p:txBody>
      </p:sp>
    </p:spTree>
    <p:extLst>
      <p:ext uri="{BB962C8B-B14F-4D97-AF65-F5344CB8AC3E}">
        <p14:creationId xmlns:p14="http://schemas.microsoft.com/office/powerpoint/2010/main" val="337923022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</a:t>
            </a:r>
            <a:r>
              <a:rPr lang="pt-BR" dirty="0"/>
              <a:t>- </a:t>
            </a:r>
            <a:r>
              <a:rPr lang="pt-BR" dirty="0" smtClean="0"/>
              <a:t>Desenvolvimento </a:t>
            </a:r>
            <a:r>
              <a:rPr lang="pt-BR" dirty="0"/>
              <a:t>host-</a:t>
            </a:r>
            <a:r>
              <a:rPr lang="pt-BR" dirty="0" err="1"/>
              <a:t>target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A</a:t>
            </a:r>
            <a:r>
              <a:rPr lang="pt-BR" dirty="0" smtClean="0"/>
              <a:t>mbientes </a:t>
            </a:r>
            <a:r>
              <a:rPr lang="pt-BR" dirty="0"/>
              <a:t>de </a:t>
            </a:r>
            <a:r>
              <a:rPr lang="pt-BR" dirty="0" smtClean="0"/>
              <a:t>desenvolvimento </a:t>
            </a:r>
            <a:r>
              <a:rPr lang="pt-BR" dirty="0"/>
              <a:t>para equipes </a:t>
            </a:r>
            <a:r>
              <a:rPr lang="pt-BR" dirty="0" smtClean="0"/>
              <a:t>incluem: a) servidor </a:t>
            </a:r>
            <a:r>
              <a:rPr lang="pt-BR" dirty="0"/>
              <a:t>compartilhado que executa uma mudança e um sistema de gerenciamento de </a:t>
            </a:r>
            <a:r>
              <a:rPr lang="pt-BR" dirty="0" smtClean="0"/>
              <a:t>configuração; b) </a:t>
            </a:r>
            <a:r>
              <a:rPr lang="pt-BR" dirty="0"/>
              <a:t>um sistema de apoio ao gerenciamento de requisitos.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As </a:t>
            </a:r>
            <a:r>
              <a:rPr lang="pt-BR" dirty="0"/>
              <a:t>ferramentas de desenvolvimento de software são frequentemente agrupadas para criar um ambiente de desenvolvimento integrado (</a:t>
            </a:r>
            <a:r>
              <a:rPr lang="pt-BR" dirty="0" smtClean="0"/>
              <a:t>IDE - conjunto </a:t>
            </a:r>
            <a:r>
              <a:rPr lang="pt-BR" dirty="0"/>
              <a:t>de ferramentas de software que suportam diversos </a:t>
            </a:r>
            <a:r>
              <a:rPr lang="pt-BR" dirty="0" smtClean="0"/>
              <a:t>aspectos </a:t>
            </a:r>
            <a:r>
              <a:rPr lang="pt-BR" dirty="0"/>
              <a:t>do desenvolvimento de software, dentro de um framework comum e uma interface de </a:t>
            </a:r>
            <a:r>
              <a:rPr lang="pt-BR" dirty="0" smtClean="0"/>
              <a:t>usuário). </a:t>
            </a:r>
          </a:p>
          <a:p>
            <a:pPr marL="0" indent="0">
              <a:buNone/>
            </a:pPr>
            <a:r>
              <a:rPr lang="pt-BR" dirty="0" err="1" smtClean="0"/>
              <a:t>IDEs</a:t>
            </a:r>
            <a:r>
              <a:rPr lang="pt-BR" dirty="0" smtClean="0"/>
              <a:t> </a:t>
            </a:r>
            <a:r>
              <a:rPr lang="pt-BR" dirty="0"/>
              <a:t>são criados para apoiar o desenvolvimento de uma linguagem de programação específica, como Java. A linguagem IDE pode ser desenvolvida especialmente ou pode ser uma instância de um IDE de propósito geral, com ferramentas específicas de suporte de linguagem.</a:t>
            </a:r>
          </a:p>
        </p:txBody>
      </p:sp>
    </p:spTree>
    <p:extLst>
      <p:ext uri="{BB962C8B-B14F-4D97-AF65-F5344CB8AC3E}">
        <p14:creationId xmlns:p14="http://schemas.microsoft.com/office/powerpoint/2010/main" val="419773287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</a:t>
            </a:r>
            <a:r>
              <a:rPr lang="pt-BR" dirty="0"/>
              <a:t>- </a:t>
            </a:r>
            <a:r>
              <a:rPr lang="pt-BR" dirty="0" smtClean="0"/>
              <a:t>Desenvolvimento </a:t>
            </a:r>
            <a:r>
              <a:rPr lang="pt-BR" dirty="0"/>
              <a:t>host-</a:t>
            </a:r>
            <a:r>
              <a:rPr lang="pt-BR" dirty="0" err="1"/>
              <a:t>target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 smtClean="0"/>
              <a:t> </a:t>
            </a:r>
            <a:r>
              <a:rPr lang="pt-BR" dirty="0"/>
              <a:t>IDE de propósito </a:t>
            </a:r>
            <a:r>
              <a:rPr lang="pt-BR" dirty="0" smtClean="0"/>
              <a:t>geral: </a:t>
            </a:r>
            <a:r>
              <a:rPr lang="pt-BR" dirty="0"/>
              <a:t>estrutura para hospedar ferramentas de software que fornece recursos de gerenciamento de dados para o software em desenvolvimento e mecanismos de integração que permitem às </a:t>
            </a:r>
            <a:r>
              <a:rPr lang="pt-BR" dirty="0" smtClean="0"/>
              <a:t>ferramentas trabalharem </a:t>
            </a:r>
            <a:r>
              <a:rPr lang="pt-BR" dirty="0"/>
              <a:t>juntas.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O </a:t>
            </a:r>
            <a:r>
              <a:rPr lang="pt-BR" dirty="0"/>
              <a:t>mais conhecido IDE de uso geral é o ambiente Eclipse (CARLSON, 2005</a:t>
            </a:r>
            <a:r>
              <a:rPr lang="pt-BR" dirty="0" smtClean="0"/>
              <a:t>):</a:t>
            </a:r>
          </a:p>
          <a:p>
            <a:pPr marL="0" indent="0">
              <a:buNone/>
            </a:pPr>
            <a:r>
              <a:rPr lang="pt-BR" dirty="0" smtClean="0"/>
              <a:t>Baseado na </a:t>
            </a:r>
            <a:r>
              <a:rPr lang="pt-BR" dirty="0"/>
              <a:t>arquitetura </a:t>
            </a:r>
            <a:r>
              <a:rPr lang="pt-BR" dirty="0" smtClean="0"/>
              <a:t>plug-in, especializada </a:t>
            </a:r>
            <a:r>
              <a:rPr lang="pt-BR" dirty="0"/>
              <a:t>em diferentes linguagens e domínios de aplicação (CLAYBERG e RUBEL, 2006).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Instale e adapte-o </a:t>
            </a:r>
            <a:r>
              <a:rPr lang="pt-BR" dirty="0"/>
              <a:t>a suas </a:t>
            </a:r>
            <a:r>
              <a:rPr lang="pt-BR" dirty="0" smtClean="0"/>
              <a:t>necessidades </a:t>
            </a:r>
            <a:r>
              <a:rPr lang="pt-BR" dirty="0"/>
              <a:t>específicas, adicionando plug-ins. </a:t>
            </a:r>
            <a:endParaRPr lang="pt-BR" dirty="0" smtClean="0"/>
          </a:p>
          <a:p>
            <a:pPr marL="0" indent="0">
              <a:buNone/>
            </a:pPr>
            <a:r>
              <a:rPr lang="pt-BR" dirty="0" err="1" smtClean="0"/>
              <a:t>Ex</a:t>
            </a:r>
            <a:r>
              <a:rPr lang="pt-BR" dirty="0" smtClean="0"/>
              <a:t>: adicionar </a:t>
            </a:r>
            <a:r>
              <a:rPr lang="pt-BR" dirty="0"/>
              <a:t>um conjunto de plug-ins de apoio ao desenvolvimento de sistemas em rede em Java ou engenharia de sistemas embutidos usando C. 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P</a:t>
            </a:r>
            <a:r>
              <a:rPr lang="pt-BR" dirty="0" smtClean="0"/>
              <a:t>rocesso </a:t>
            </a:r>
            <a:r>
              <a:rPr lang="pt-BR" dirty="0"/>
              <a:t>de </a:t>
            </a:r>
            <a:r>
              <a:rPr lang="pt-BR" dirty="0" smtClean="0"/>
              <a:t>desenvolvimento: </a:t>
            </a:r>
            <a:r>
              <a:rPr lang="pt-BR" dirty="0"/>
              <a:t>tomar decisões sobre como o software desenvolvido será implantado na plataforma </a:t>
            </a:r>
            <a:r>
              <a:rPr lang="pt-BR" dirty="0" err="1"/>
              <a:t>target</a:t>
            </a:r>
            <a:r>
              <a:rPr lang="pt-BR" dirty="0"/>
              <a:t>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S</a:t>
            </a:r>
            <a:r>
              <a:rPr lang="pt-BR" dirty="0" smtClean="0"/>
              <a:t>istemas embutidos (</a:t>
            </a:r>
            <a:r>
              <a:rPr lang="pt-BR" dirty="0" err="1" smtClean="0"/>
              <a:t>target</a:t>
            </a:r>
            <a:r>
              <a:rPr lang="pt-BR" dirty="0" smtClean="0"/>
              <a:t> </a:t>
            </a:r>
            <a:r>
              <a:rPr lang="pt-BR" dirty="0"/>
              <a:t>é </a:t>
            </a:r>
            <a:r>
              <a:rPr lang="pt-BR" dirty="0" smtClean="0"/>
              <a:t>o</a:t>
            </a:r>
            <a:r>
              <a:rPr lang="pt-BR" dirty="0" smtClean="0"/>
              <a:t> </a:t>
            </a:r>
            <a:r>
              <a:rPr lang="pt-BR" dirty="0"/>
              <a:t>único </a:t>
            </a:r>
            <a:r>
              <a:rPr lang="pt-BR" dirty="0" smtClean="0"/>
              <a:t>computador) </a:t>
            </a:r>
            <a:r>
              <a:rPr lang="pt-BR" dirty="0"/>
              <a:t>esse processo é simples.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Em </a:t>
            </a:r>
            <a:r>
              <a:rPr lang="pt-BR" dirty="0"/>
              <a:t>sistemas distribuídos, </a:t>
            </a:r>
            <a:r>
              <a:rPr lang="pt-BR" dirty="0" smtClean="0"/>
              <a:t>deve-se </a:t>
            </a:r>
            <a:r>
              <a:rPr lang="pt-BR" dirty="0"/>
              <a:t>decidir sobre as plataformas específicas onde os componentes serão implantados.</a:t>
            </a:r>
          </a:p>
        </p:txBody>
      </p:sp>
    </p:spTree>
    <p:extLst>
      <p:ext uri="{BB962C8B-B14F-4D97-AF65-F5344CB8AC3E}">
        <p14:creationId xmlns:p14="http://schemas.microsoft.com/office/powerpoint/2010/main" val="6042558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04" y="77638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</a:t>
            </a:r>
            <a:r>
              <a:rPr lang="pt-BR" dirty="0"/>
              <a:t>- </a:t>
            </a:r>
            <a:r>
              <a:rPr lang="pt-BR" dirty="0" smtClean="0"/>
              <a:t>Desenvolvimento </a:t>
            </a:r>
            <a:r>
              <a:rPr lang="pt-BR" dirty="0"/>
              <a:t>host-</a:t>
            </a:r>
            <a:r>
              <a:rPr lang="pt-BR" dirty="0" err="1"/>
              <a:t>target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483743"/>
            <a:ext cx="12105736" cy="521035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Os problemas que devem ser considerados </a:t>
            </a:r>
            <a:r>
              <a:rPr lang="pt-BR" dirty="0" smtClean="0"/>
              <a:t>na decisão: </a:t>
            </a:r>
            <a:endParaRPr lang="pt-BR" dirty="0"/>
          </a:p>
          <a:p>
            <a:pPr marL="514350" indent="-514350">
              <a:buAutoNum type="arabicPeriod"/>
            </a:pPr>
            <a:r>
              <a:rPr lang="pt-BR" dirty="0" smtClean="0"/>
              <a:t>Os </a:t>
            </a:r>
            <a:r>
              <a:rPr lang="pt-BR" dirty="0"/>
              <a:t>requisitos de hardware e software de um componente. Se um componente é projetado para uma arquitetura de hardware específica ou depende de algum outro software do sistema, </a:t>
            </a:r>
            <a:r>
              <a:rPr lang="pt-BR" dirty="0" smtClean="0"/>
              <a:t>deve </a:t>
            </a:r>
            <a:r>
              <a:rPr lang="pt-BR" dirty="0"/>
              <a:t>ser implantado em uma plataforma que forneça o hardware requerido e o suporte de software.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Os </a:t>
            </a:r>
            <a:r>
              <a:rPr lang="pt-BR" dirty="0"/>
              <a:t>requisitos de disponibilidade de sistema. Sistemas de alta disponibilidade podem exigir componentes a serem implantados em mais de uma plataforma. </a:t>
            </a:r>
            <a:r>
              <a:rPr lang="pt-BR" dirty="0" smtClean="0"/>
              <a:t>Em </a:t>
            </a:r>
            <a:r>
              <a:rPr lang="pt-BR" dirty="0"/>
              <a:t>caso de falha da plataforma, uma </a:t>
            </a:r>
            <a:r>
              <a:rPr lang="pt-BR" dirty="0" smtClean="0"/>
              <a:t>implementação </a:t>
            </a:r>
            <a:r>
              <a:rPr lang="pt-BR" dirty="0"/>
              <a:t>alternativa do componente estará disponível.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Comunicações </a:t>
            </a:r>
            <a:r>
              <a:rPr lang="pt-BR" dirty="0"/>
              <a:t>de componente. </a:t>
            </a:r>
            <a:r>
              <a:rPr lang="pt-BR" dirty="0" smtClean="0"/>
              <a:t>O </a:t>
            </a:r>
            <a:r>
              <a:rPr lang="pt-BR" dirty="0"/>
              <a:t>elevado nível de tráfego de comunicações entre os </a:t>
            </a:r>
            <a:r>
              <a:rPr lang="pt-BR" dirty="0" smtClean="0"/>
              <a:t>componentes</a:t>
            </a:r>
            <a:r>
              <a:rPr lang="pt-BR" dirty="0"/>
              <a:t>, faz sentido implantá-los na mesma plataforma ou em plataformas que estejam fisicamente próximas. Isso reduz a latência de comunicações, o atraso entre o momento em que uma mensagem é enviada por um </a:t>
            </a:r>
            <a:r>
              <a:rPr lang="pt-BR" dirty="0" smtClean="0"/>
              <a:t>componente </a:t>
            </a:r>
            <a:r>
              <a:rPr lang="pt-BR" dirty="0"/>
              <a:t>e recebida por outro.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desenvolvimento open source é uma abordagem de desenvolvimento de software em que o código-fonte de um sistema de software é publicado e voluntários são convidados a participar no processo de desenvolvimento (RAYMOND, 2001). Suas raízes estão no Free Software Foundation (), que defende que o códi go-fonte não deve ser proprietário, mas deve estar sempre disponível para os usuários analisarem e modificarem como quiserem. Havia uma suposição de que o código poderia ser controlado e desenvolvido por um pequeno grupo central, em vez de ser desenvolvido por usuários do código. </a:t>
            </a:r>
          </a:p>
        </p:txBody>
      </p:sp>
    </p:spTree>
    <p:extLst>
      <p:ext uri="{BB962C8B-B14F-4D97-AF65-F5344CB8AC3E}">
        <p14:creationId xmlns:p14="http://schemas.microsoft.com/office/powerpoint/2010/main" val="19771730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6264" y="277663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</a:t>
            </a:r>
            <a:r>
              <a:rPr lang="pt-BR" dirty="0"/>
              <a:t>- Desenvolvimento open </a:t>
            </a:r>
            <a:r>
              <a:rPr lang="pt-BR" dirty="0" err="1"/>
              <a:t>source</a:t>
            </a:r>
            <a:r>
              <a:rPr lang="pt-BR" dirty="0"/>
              <a:t> 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0" y="1675254"/>
            <a:ext cx="58598584" cy="7571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Abordagem de desenvolvimento de software: o código-fonte de um sistema de software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 publicado  e voluntários são convidados a participar no processo de desenvolvimento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(RAYMOND, 2001).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2400" dirty="0">
                <a:latin typeface="Arial" panose="020B0604020202020204" pitchFamily="34" charset="0"/>
              </a:rPr>
              <a:t>R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aízes no </a:t>
            </a:r>
            <a:r>
              <a:rPr kumimoji="0" lang="pt-BR" altLang="pt-BR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Software 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Foundation: 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código-fonte não deve </a:t>
            </a:r>
            <a:r>
              <a:rPr lang="pt-BR" altLang="pt-BR" sz="2400" dirty="0">
                <a:latin typeface="Arial" panose="020B0604020202020204" pitchFamily="34" charset="0"/>
              </a:rPr>
              <a:t>t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 proprietário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endParaRPr kumimoji="0" lang="pt-BR" alt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 </a:t>
            </a: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estar sempre disponível para os usuários analisarem e modificarem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como quiserem.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Havia uma suposição de que o código poderia ser controlado e desenvolvido por um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pequeno grupo central,  em vez de ser desenvolvido por usuários do código.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400" dirty="0" smtClean="0"/>
              <a:t>Os </a:t>
            </a:r>
            <a:r>
              <a:rPr lang="pt-BR" sz="2400" dirty="0"/>
              <a:t>softwares open </a:t>
            </a:r>
            <a:r>
              <a:rPr lang="pt-BR" sz="2400" dirty="0" err="1"/>
              <a:t>source</a:t>
            </a:r>
            <a:r>
              <a:rPr lang="pt-BR" sz="2400" dirty="0"/>
              <a:t> estenderam essa ideia, usando a Internet para recrutar uma </a:t>
            </a:r>
            <a:r>
              <a:rPr lang="pt-BR" sz="2400" dirty="0" smtClean="0"/>
              <a:t>população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400" dirty="0" smtClean="0"/>
              <a:t> </a:t>
            </a:r>
            <a:r>
              <a:rPr lang="pt-BR" sz="2400" dirty="0"/>
              <a:t>muito maior </a:t>
            </a:r>
            <a:r>
              <a:rPr lang="pt-BR" sz="2400" dirty="0" smtClean="0"/>
              <a:t>de desenvolvedores </a:t>
            </a:r>
            <a:r>
              <a:rPr lang="pt-BR" sz="2400" dirty="0"/>
              <a:t>voluntários. Muitos deles também são usuários do código. </a:t>
            </a:r>
            <a:endParaRPr lang="pt-BR" sz="24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400" dirty="0"/>
              <a:t>Q</a:t>
            </a:r>
            <a:r>
              <a:rPr lang="pt-BR" sz="2400" dirty="0" smtClean="0"/>
              <a:t>ualquer </a:t>
            </a:r>
            <a:r>
              <a:rPr lang="pt-BR" sz="2400" dirty="0"/>
              <a:t>contribuinte para um projeto open </a:t>
            </a:r>
            <a:r>
              <a:rPr lang="pt-BR" sz="2400" dirty="0" err="1"/>
              <a:t>source</a:t>
            </a:r>
            <a:r>
              <a:rPr lang="pt-BR" sz="2400" dirty="0"/>
              <a:t> pode relatar e </a:t>
            </a:r>
            <a:r>
              <a:rPr lang="pt-BR" sz="2400" dirty="0" smtClean="0"/>
              <a:t>corrigir </a:t>
            </a:r>
            <a:r>
              <a:rPr lang="pt-BR" sz="2400" dirty="0"/>
              <a:t>bugs e propor novas </a:t>
            </a:r>
            <a:r>
              <a:rPr lang="pt-BR" sz="2400" dirty="0" smtClean="0"/>
              <a:t> </a:t>
            </a:r>
            <a:endParaRPr lang="pt-BR" sz="24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400" dirty="0" smtClean="0"/>
              <a:t>características </a:t>
            </a:r>
            <a:r>
              <a:rPr lang="pt-BR" sz="2400" dirty="0"/>
              <a:t>e </a:t>
            </a:r>
            <a:r>
              <a:rPr lang="pt-BR" sz="2400" dirty="0" smtClean="0"/>
              <a:t>funcionalidade</a:t>
            </a:r>
            <a:r>
              <a:rPr lang="pt-BR" sz="2400" dirty="0"/>
              <a:t>. </a:t>
            </a:r>
            <a:endParaRPr lang="pt-BR" sz="24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400" dirty="0"/>
              <a:t>S</a:t>
            </a:r>
            <a:r>
              <a:rPr lang="pt-BR" sz="2400" dirty="0" smtClean="0"/>
              <a:t>istemas </a:t>
            </a:r>
            <a:r>
              <a:rPr lang="pt-BR" sz="2400" dirty="0"/>
              <a:t>open </a:t>
            </a:r>
            <a:r>
              <a:rPr lang="pt-BR" sz="2400" dirty="0" err="1"/>
              <a:t>source</a:t>
            </a:r>
            <a:r>
              <a:rPr lang="pt-BR" sz="2400" dirty="0"/>
              <a:t> de </a:t>
            </a:r>
            <a:r>
              <a:rPr lang="pt-BR" sz="2400" dirty="0" smtClean="0"/>
              <a:t>sucesso: </a:t>
            </a:r>
            <a:r>
              <a:rPr lang="pt-BR" sz="2400" dirty="0" smtClean="0"/>
              <a:t>contam </a:t>
            </a:r>
            <a:r>
              <a:rPr lang="pt-BR" sz="2400" dirty="0"/>
              <a:t>com um grupo de desenvolvedores que controlam </a:t>
            </a:r>
            <a:endParaRPr lang="pt-BR" sz="24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2400" dirty="0" smtClean="0"/>
              <a:t>as </a:t>
            </a:r>
            <a:r>
              <a:rPr lang="pt-BR" sz="2400" dirty="0"/>
              <a:t>mudanças no software.</a:t>
            </a:r>
            <a:endParaRPr kumimoji="0" lang="pt-BR" altLang="pt-B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3155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6264" y="277663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</a:t>
            </a:r>
            <a:r>
              <a:rPr lang="pt-BR" dirty="0"/>
              <a:t>- Desenvolvimento open </a:t>
            </a:r>
            <a:r>
              <a:rPr lang="pt-BR" dirty="0" err="1"/>
              <a:t>source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2019299"/>
            <a:ext cx="12105736" cy="467479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 smtClean="0"/>
              <a:t>Sistema operacional Linux: produto </a:t>
            </a:r>
            <a:r>
              <a:rPr lang="pt-BR" dirty="0"/>
              <a:t>open </a:t>
            </a:r>
            <a:r>
              <a:rPr lang="pt-BR" dirty="0" err="1"/>
              <a:t>source</a:t>
            </a:r>
            <a:r>
              <a:rPr lang="pt-BR" dirty="0"/>
              <a:t> mais </a:t>
            </a:r>
            <a:r>
              <a:rPr lang="pt-BR" dirty="0" smtClean="0"/>
              <a:t>conhecido, </a:t>
            </a:r>
            <a:r>
              <a:rPr lang="pt-BR" dirty="0"/>
              <a:t>amplamente usado como um sistema de servidor e, cada vez mais, como um ambiente de desktop.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Produtos </a:t>
            </a:r>
            <a:r>
              <a:rPr lang="pt-BR" dirty="0"/>
              <a:t>open </a:t>
            </a:r>
            <a:r>
              <a:rPr lang="pt-BR" dirty="0" err="1" smtClean="0"/>
              <a:t>source</a:t>
            </a:r>
            <a:r>
              <a:rPr lang="pt-BR" dirty="0" smtClean="0"/>
              <a:t>: </a:t>
            </a:r>
            <a:r>
              <a:rPr lang="pt-BR" dirty="0"/>
              <a:t>Java, o servidor Web Apache e o sistema de gerenciamento de banco de dados </a:t>
            </a:r>
            <a:r>
              <a:rPr lang="pt-BR" dirty="0" err="1"/>
              <a:t>mySQL</a:t>
            </a:r>
            <a:r>
              <a:rPr lang="pt-BR" dirty="0"/>
              <a:t>. </a:t>
            </a:r>
            <a:endParaRPr lang="pt-BR" dirty="0" smtClean="0"/>
          </a:p>
          <a:p>
            <a:pPr marL="0" indent="0">
              <a:buNone/>
            </a:pPr>
            <a:r>
              <a:rPr lang="pt-BR" dirty="0"/>
              <a:t>C</a:t>
            </a:r>
            <a:r>
              <a:rPr lang="pt-BR" dirty="0" smtClean="0"/>
              <a:t>ompetidores </a:t>
            </a:r>
            <a:r>
              <a:rPr lang="pt-BR" dirty="0"/>
              <a:t>da indústria da </a:t>
            </a:r>
            <a:r>
              <a:rPr lang="pt-BR" dirty="0" smtClean="0"/>
              <a:t>computação (IBM </a:t>
            </a:r>
            <a:r>
              <a:rPr lang="pt-BR" dirty="0"/>
              <a:t>e a </a:t>
            </a:r>
            <a:r>
              <a:rPr lang="pt-BR" dirty="0" smtClean="0"/>
              <a:t>Sun): </a:t>
            </a:r>
            <a:r>
              <a:rPr lang="pt-BR" dirty="0"/>
              <a:t>apoiam o movimento open </a:t>
            </a:r>
            <a:r>
              <a:rPr lang="pt-BR" dirty="0" err="1"/>
              <a:t>source</a:t>
            </a:r>
            <a:r>
              <a:rPr lang="pt-BR" dirty="0"/>
              <a:t> e baseiam seus </a:t>
            </a:r>
            <a:r>
              <a:rPr lang="pt-BR" dirty="0" smtClean="0"/>
              <a:t>produtos </a:t>
            </a:r>
            <a:r>
              <a:rPr lang="pt-BR" dirty="0"/>
              <a:t>em software desse tipo. Existem milhares de outros sistemas e componentes open </a:t>
            </a:r>
            <a:r>
              <a:rPr lang="pt-BR" dirty="0" err="1"/>
              <a:t>source</a:t>
            </a:r>
            <a:r>
              <a:rPr lang="pt-BR" dirty="0"/>
              <a:t> menos conhecidos que também podem ser usados. A aquisição de software open </a:t>
            </a:r>
            <a:r>
              <a:rPr lang="pt-BR" dirty="0" err="1"/>
              <a:t>source</a:t>
            </a:r>
            <a:r>
              <a:rPr lang="pt-BR" dirty="0"/>
              <a:t> costuma ser bastante barata ou gratuita, pois geralmente é possível baixar esses softwares sem custos.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Documentação </a:t>
            </a:r>
            <a:r>
              <a:rPr lang="pt-BR" dirty="0"/>
              <a:t>e </a:t>
            </a:r>
            <a:r>
              <a:rPr lang="pt-BR" dirty="0" smtClean="0"/>
              <a:t>suporte: custos usualmente </a:t>
            </a:r>
            <a:r>
              <a:rPr lang="pt-BR" dirty="0"/>
              <a:t>bastante baixos.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Open </a:t>
            </a:r>
            <a:r>
              <a:rPr lang="pt-BR" dirty="0" err="1" smtClean="0"/>
              <a:t>source</a:t>
            </a:r>
            <a:r>
              <a:rPr lang="pt-BR" dirty="0" smtClean="0"/>
              <a:t>: sistemas maduros, </a:t>
            </a:r>
            <a:r>
              <a:rPr lang="pt-BR" dirty="0"/>
              <a:t>geralmente </a:t>
            </a:r>
            <a:r>
              <a:rPr lang="pt-BR" dirty="0" smtClean="0"/>
              <a:t>muito confiáveis - Grande </a:t>
            </a:r>
            <a:r>
              <a:rPr lang="pt-BR" dirty="0"/>
              <a:t>população de usuários dispostos a corrigir os problemas em vez de os reportar ao desenvolvedor e esperar por novo release do sistema. Os bugs são descobertos e reparados mais rapidamente do que é possível, em geral, com softwares proprietários.</a:t>
            </a:r>
          </a:p>
        </p:txBody>
      </p:sp>
    </p:spTree>
    <p:extLst>
      <p:ext uri="{BB962C8B-B14F-4D97-AF65-F5344CB8AC3E}">
        <p14:creationId xmlns:p14="http://schemas.microsoft.com/office/powerpoint/2010/main" val="69309892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6264" y="277663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</a:t>
            </a:r>
            <a:r>
              <a:rPr lang="pt-BR" dirty="0"/>
              <a:t>- Desenvolvimento open </a:t>
            </a:r>
            <a:r>
              <a:rPr lang="pt-BR" dirty="0" err="1"/>
              <a:t>source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2019299"/>
            <a:ext cx="12105736" cy="467479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/>
              <a:t>Para uma empresa envolvida no desenvolvimento de software, há duas questões de open </a:t>
            </a:r>
            <a:r>
              <a:rPr lang="pt-BR" dirty="0" err="1"/>
              <a:t>source</a:t>
            </a:r>
            <a:r>
              <a:rPr lang="pt-BR" dirty="0"/>
              <a:t> que devem ser consideradas: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O </a:t>
            </a:r>
            <a:r>
              <a:rPr lang="pt-BR" dirty="0"/>
              <a:t>produto que está sendo desenvolvido deve fazer uso de componentes open </a:t>
            </a:r>
            <a:r>
              <a:rPr lang="pt-BR" dirty="0" err="1"/>
              <a:t>source</a:t>
            </a:r>
            <a:r>
              <a:rPr lang="pt-BR" dirty="0"/>
              <a:t>?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Uma </a:t>
            </a:r>
            <a:r>
              <a:rPr lang="pt-BR" dirty="0"/>
              <a:t>abordagem open </a:t>
            </a:r>
            <a:r>
              <a:rPr lang="pt-BR" dirty="0" err="1"/>
              <a:t>source</a:t>
            </a:r>
            <a:r>
              <a:rPr lang="pt-BR" dirty="0"/>
              <a:t> deve ser usada para o desenvolvimento de software?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As </a:t>
            </a:r>
            <a:r>
              <a:rPr lang="pt-BR" dirty="0"/>
              <a:t>respostas a essas perguntas dependem do tipo de software que está sendo desenvolvido, bem como dos antecedentes e da experiência da equipe de desenvolvimento. </a:t>
            </a:r>
          </a:p>
        </p:txBody>
      </p:sp>
    </p:spTree>
    <p:extLst>
      <p:ext uri="{BB962C8B-B14F-4D97-AF65-F5344CB8AC3E}">
        <p14:creationId xmlns:p14="http://schemas.microsoft.com/office/powerpoint/2010/main" val="4049209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6264" y="277663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</a:t>
            </a:r>
            <a:r>
              <a:rPr lang="pt-BR" dirty="0"/>
              <a:t>- Desenvolvimento open </a:t>
            </a:r>
            <a:r>
              <a:rPr lang="pt-BR" dirty="0" err="1"/>
              <a:t>source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2019299"/>
            <a:ext cx="12105736" cy="46747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Desenvolvimento </a:t>
            </a:r>
            <a:r>
              <a:rPr lang="pt-BR" dirty="0" smtClean="0"/>
              <a:t>de </a:t>
            </a:r>
            <a:r>
              <a:rPr lang="pt-BR" dirty="0"/>
              <a:t>produto de software para a </a:t>
            </a:r>
            <a:r>
              <a:rPr lang="pt-BR" dirty="0" smtClean="0"/>
              <a:t>venda: </a:t>
            </a:r>
            <a:r>
              <a:rPr lang="pt-BR" dirty="0"/>
              <a:t>time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market</a:t>
            </a:r>
            <a:r>
              <a:rPr lang="pt-BR" dirty="0"/>
              <a:t> e redução de custos são críticos.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Desenvolvimento de </a:t>
            </a:r>
            <a:r>
              <a:rPr lang="pt-BR" dirty="0"/>
              <a:t>domínio no qual existem sistemas open </a:t>
            </a:r>
            <a:r>
              <a:rPr lang="pt-BR" dirty="0" err="1"/>
              <a:t>source</a:t>
            </a:r>
            <a:r>
              <a:rPr lang="pt-BR" dirty="0"/>
              <a:t> de alta qualidade </a:t>
            </a:r>
            <a:r>
              <a:rPr lang="pt-BR" dirty="0" smtClean="0"/>
              <a:t>disponíveis: </a:t>
            </a:r>
            <a:r>
              <a:rPr lang="pt-BR" dirty="0" smtClean="0"/>
              <a:t>economiza-se </a:t>
            </a:r>
            <a:r>
              <a:rPr lang="pt-BR" dirty="0"/>
              <a:t>tempo e </a:t>
            </a:r>
            <a:r>
              <a:rPr lang="pt-BR" dirty="0" smtClean="0"/>
              <a:t>dinheiro. </a:t>
            </a:r>
          </a:p>
          <a:p>
            <a:pPr marL="0" indent="0">
              <a:buNone/>
            </a:pPr>
            <a:r>
              <a:rPr lang="pt-BR" dirty="0" smtClean="0"/>
              <a:t>Desenvolvimento de </a:t>
            </a:r>
            <a:r>
              <a:rPr lang="pt-BR" dirty="0"/>
              <a:t>software para um conjunto específico de requisitos </a:t>
            </a:r>
            <a:r>
              <a:rPr lang="pt-BR" dirty="0" smtClean="0"/>
              <a:t>organizacionais: </a:t>
            </a:r>
            <a:r>
              <a:rPr lang="pt-BR" dirty="0"/>
              <a:t>usar componentes open </a:t>
            </a:r>
            <a:r>
              <a:rPr lang="pt-BR" dirty="0" err="1"/>
              <a:t>source</a:t>
            </a:r>
            <a:r>
              <a:rPr lang="pt-BR" dirty="0"/>
              <a:t> pode não ser uma opção.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I</a:t>
            </a:r>
            <a:r>
              <a:rPr lang="pt-BR" dirty="0" smtClean="0"/>
              <a:t>ntegração do </a:t>
            </a:r>
            <a:r>
              <a:rPr lang="pt-BR" dirty="0"/>
              <a:t>software com sistemas </a:t>
            </a:r>
            <a:r>
              <a:rPr lang="pt-BR" dirty="0" smtClean="0"/>
              <a:t>existentes </a:t>
            </a:r>
            <a:r>
              <a:rPr lang="pt-BR" dirty="0"/>
              <a:t>incompatíveis com os sistemas open </a:t>
            </a:r>
            <a:r>
              <a:rPr lang="pt-BR" dirty="0" err="1"/>
              <a:t>source</a:t>
            </a:r>
            <a:r>
              <a:rPr lang="pt-BR" dirty="0"/>
              <a:t> </a:t>
            </a:r>
            <a:r>
              <a:rPr lang="pt-BR" dirty="0" smtClean="0"/>
              <a:t>disponíveis: pode </a:t>
            </a:r>
            <a:r>
              <a:rPr lang="pt-BR" dirty="0"/>
              <a:t>ser mais rápido e mais barato modificar o sistema open </a:t>
            </a:r>
            <a:r>
              <a:rPr lang="pt-BR" dirty="0" err="1"/>
              <a:t>source</a:t>
            </a:r>
            <a:r>
              <a:rPr lang="pt-BR" dirty="0"/>
              <a:t> do que desenvolver novamente a funcionalidade que você precisa.</a:t>
            </a:r>
          </a:p>
        </p:txBody>
      </p:sp>
    </p:spTree>
    <p:extLst>
      <p:ext uri="{BB962C8B-B14F-4D97-AF65-F5344CB8AC3E}">
        <p14:creationId xmlns:p14="http://schemas.microsoft.com/office/powerpoint/2010/main" val="77017117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6264" y="277663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</a:t>
            </a:r>
            <a:r>
              <a:rPr lang="pt-BR" dirty="0"/>
              <a:t>- Desenvolvimento open </a:t>
            </a:r>
            <a:r>
              <a:rPr lang="pt-BR" dirty="0" err="1"/>
              <a:t>source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2019299"/>
            <a:ext cx="12105736" cy="467479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 smtClean="0"/>
              <a:t>Mais empresas </a:t>
            </a:r>
            <a:r>
              <a:rPr lang="pt-BR" dirty="0"/>
              <a:t>de </a:t>
            </a:r>
            <a:r>
              <a:rPr lang="pt-BR" dirty="0" smtClean="0"/>
              <a:t>produtos usam </a:t>
            </a:r>
            <a:r>
              <a:rPr lang="pt-BR" dirty="0"/>
              <a:t>abordagem open </a:t>
            </a:r>
            <a:r>
              <a:rPr lang="pt-BR" dirty="0" err="1"/>
              <a:t>source</a:t>
            </a:r>
            <a:r>
              <a:rPr lang="pt-BR" dirty="0"/>
              <a:t> para o desenvolvimento. Seu modelo de negócios não depende da venda de um produto de software, mas da venda de suporte para esse produto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r>
              <a:rPr lang="pt-BR" dirty="0" smtClean="0"/>
              <a:t> </a:t>
            </a:r>
            <a:r>
              <a:rPr lang="pt-BR" dirty="0"/>
              <a:t>E</a:t>
            </a:r>
            <a:r>
              <a:rPr lang="pt-BR" dirty="0" smtClean="0"/>
              <a:t>nvolvimento </a:t>
            </a:r>
            <a:r>
              <a:rPr lang="pt-BR" dirty="0"/>
              <a:t>da comunidade open </a:t>
            </a:r>
            <a:r>
              <a:rPr lang="pt-BR" dirty="0" err="1"/>
              <a:t>source</a:t>
            </a:r>
            <a:r>
              <a:rPr lang="pt-BR" dirty="0"/>
              <a:t> permitirá o desenvolvimento de software de forma mais barata e mais rápida e criará uma comunidade de usuários para o software.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Aplicável somente para </a:t>
            </a:r>
            <a:r>
              <a:rPr lang="pt-BR" dirty="0"/>
              <a:t>produtos gerais de software, e não para aplicações específicas da organização.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Muitas </a:t>
            </a:r>
            <a:r>
              <a:rPr lang="pt-BR" dirty="0"/>
              <a:t>empresas acreditam que a adoção de uma abordagem open </a:t>
            </a:r>
            <a:r>
              <a:rPr lang="pt-BR" dirty="0" err="1"/>
              <a:t>source</a:t>
            </a:r>
            <a:r>
              <a:rPr lang="pt-BR" dirty="0"/>
              <a:t> vai revelar informações </a:t>
            </a:r>
            <a:r>
              <a:rPr lang="pt-BR" dirty="0" smtClean="0"/>
              <a:t>confidenciais </a:t>
            </a:r>
            <a:r>
              <a:rPr lang="pt-BR" dirty="0"/>
              <a:t>de negócios a seus </a:t>
            </a:r>
            <a:r>
              <a:rPr lang="pt-BR" dirty="0" smtClean="0"/>
              <a:t>concorrentes.</a:t>
            </a:r>
          </a:p>
          <a:p>
            <a:pPr marL="0" indent="0">
              <a:buNone/>
            </a:pP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054604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6264" y="277663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</a:t>
            </a:r>
            <a:r>
              <a:rPr lang="pt-BR" dirty="0"/>
              <a:t>- Desenvolvimento open </a:t>
            </a:r>
            <a:r>
              <a:rPr lang="pt-BR" dirty="0" err="1"/>
              <a:t>source</a:t>
            </a:r>
            <a:r>
              <a:rPr lang="pt-BR" dirty="0"/>
              <a:t> - </a:t>
            </a:r>
            <a:r>
              <a:rPr lang="pt-BR" dirty="0" smtClean="0"/>
              <a:t> </a:t>
            </a:r>
            <a:r>
              <a:rPr lang="pt-BR" dirty="0"/>
              <a:t>Licenças open </a:t>
            </a:r>
            <a:r>
              <a:rPr lang="pt-BR" dirty="0" err="1"/>
              <a:t>source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2019299"/>
            <a:ext cx="12105736" cy="467479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dirty="0"/>
              <a:t>A maioria das licenças open </a:t>
            </a:r>
            <a:r>
              <a:rPr lang="pt-BR" dirty="0" err="1"/>
              <a:t>source</a:t>
            </a:r>
            <a:r>
              <a:rPr lang="pt-BR" dirty="0"/>
              <a:t> derivam de um dos três modelos gerais: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GNU </a:t>
            </a:r>
            <a:r>
              <a:rPr lang="pt-BR" dirty="0"/>
              <a:t>General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License</a:t>
            </a:r>
            <a:r>
              <a:rPr lang="pt-BR" dirty="0"/>
              <a:t> (GPL</a:t>
            </a:r>
            <a:r>
              <a:rPr lang="pt-BR" dirty="0" smtClean="0"/>
              <a:t>): licença </a:t>
            </a:r>
            <a:r>
              <a:rPr lang="pt-BR" dirty="0"/>
              <a:t>‘recíproca</a:t>
            </a:r>
            <a:r>
              <a:rPr lang="pt-BR" dirty="0" smtClean="0"/>
              <a:t>’. Para usar </a:t>
            </a:r>
            <a:r>
              <a:rPr lang="pt-BR" dirty="0"/>
              <a:t>um software open </a:t>
            </a:r>
            <a:r>
              <a:rPr lang="pt-BR" dirty="0" err="1"/>
              <a:t>source</a:t>
            </a:r>
            <a:r>
              <a:rPr lang="pt-BR" dirty="0"/>
              <a:t> que esteja licenciado sob a licença GPL</a:t>
            </a:r>
            <a:r>
              <a:rPr lang="pt-BR" dirty="0" smtClean="0"/>
              <a:t>, deve-se </a:t>
            </a:r>
            <a:r>
              <a:rPr lang="pt-BR" dirty="0"/>
              <a:t>fazer um </a:t>
            </a:r>
            <a:r>
              <a:rPr lang="pt-BR" dirty="0" smtClean="0"/>
              <a:t>software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GNU </a:t>
            </a:r>
            <a:r>
              <a:rPr lang="pt-BR" dirty="0" err="1"/>
              <a:t>Lesser</a:t>
            </a:r>
            <a:r>
              <a:rPr lang="pt-BR" dirty="0"/>
              <a:t> General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License</a:t>
            </a:r>
            <a:r>
              <a:rPr lang="pt-BR" dirty="0"/>
              <a:t> (LGPL</a:t>
            </a:r>
            <a:r>
              <a:rPr lang="pt-BR" dirty="0" smtClean="0"/>
              <a:t>) </a:t>
            </a:r>
            <a:r>
              <a:rPr lang="pt-BR" dirty="0"/>
              <a:t>V</a:t>
            </a:r>
            <a:r>
              <a:rPr lang="pt-BR" dirty="0" smtClean="0"/>
              <a:t>ariação </a:t>
            </a:r>
            <a:r>
              <a:rPr lang="pt-BR" dirty="0"/>
              <a:t>da licença GPL, </a:t>
            </a:r>
            <a:r>
              <a:rPr lang="pt-BR" dirty="0" smtClean="0"/>
              <a:t>sendo possível </a:t>
            </a:r>
            <a:r>
              <a:rPr lang="pt-BR" dirty="0"/>
              <a:t>escrever componentes que se ligam com código open </a:t>
            </a:r>
            <a:r>
              <a:rPr lang="pt-BR" dirty="0" err="1"/>
              <a:t>source</a:t>
            </a:r>
            <a:r>
              <a:rPr lang="pt-BR" dirty="0"/>
              <a:t> sem publicar a fonte desses componentes. </a:t>
            </a:r>
            <a:r>
              <a:rPr lang="pt-BR" dirty="0"/>
              <a:t>A</a:t>
            </a:r>
            <a:r>
              <a:rPr lang="pt-BR" dirty="0" smtClean="0"/>
              <a:t>o </a:t>
            </a:r>
            <a:r>
              <a:rPr lang="pt-BR" dirty="0" smtClean="0"/>
              <a:t>alterar </a:t>
            </a:r>
            <a:r>
              <a:rPr lang="pt-BR" dirty="0"/>
              <a:t>o componente licenciado, você deve publicá-lo como open </a:t>
            </a:r>
            <a:r>
              <a:rPr lang="pt-BR" dirty="0" err="1"/>
              <a:t>source</a:t>
            </a:r>
            <a:r>
              <a:rPr lang="pt-BR" dirty="0"/>
              <a:t>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err="1" smtClean="0"/>
              <a:t>Berkley</a:t>
            </a:r>
            <a:r>
              <a:rPr lang="pt-BR" dirty="0" smtClean="0"/>
              <a:t> </a:t>
            </a:r>
            <a:r>
              <a:rPr lang="pt-BR" dirty="0"/>
              <a:t>Standard </a:t>
            </a:r>
            <a:r>
              <a:rPr lang="pt-BR" dirty="0" err="1"/>
              <a:t>Distribution</a:t>
            </a:r>
            <a:r>
              <a:rPr lang="pt-BR" dirty="0"/>
              <a:t> (BSD) </a:t>
            </a:r>
            <a:r>
              <a:rPr lang="pt-BR" dirty="0" err="1" smtClean="0"/>
              <a:t>License</a:t>
            </a:r>
            <a:r>
              <a:rPr lang="pt-BR" dirty="0" smtClean="0"/>
              <a:t>: </a:t>
            </a:r>
            <a:r>
              <a:rPr lang="pt-BR" dirty="0"/>
              <a:t>licença não recíproca, </a:t>
            </a:r>
            <a:r>
              <a:rPr lang="pt-BR" dirty="0" smtClean="0"/>
              <a:t>não sendo </a:t>
            </a:r>
            <a:r>
              <a:rPr lang="pt-BR" dirty="0"/>
              <a:t>obrigado a republicar quaisquer alterações ou modificações feitas no código open </a:t>
            </a:r>
            <a:r>
              <a:rPr lang="pt-BR" dirty="0" err="1"/>
              <a:t>source</a:t>
            </a:r>
            <a:r>
              <a:rPr lang="pt-BR" dirty="0"/>
              <a:t>. </a:t>
            </a:r>
            <a:r>
              <a:rPr lang="pt-BR" dirty="0" smtClean="0"/>
              <a:t>Pode-se </a:t>
            </a:r>
            <a:r>
              <a:rPr lang="pt-BR" dirty="0"/>
              <a:t>incluir o código em sistemas proprietários que sejam vendidos. </a:t>
            </a:r>
            <a:r>
              <a:rPr lang="pt-BR" dirty="0" smtClean="0"/>
              <a:t>Ao </a:t>
            </a:r>
            <a:r>
              <a:rPr lang="pt-BR" dirty="0"/>
              <a:t>usar componentes open </a:t>
            </a:r>
            <a:r>
              <a:rPr lang="pt-BR" dirty="0" err="1"/>
              <a:t>source</a:t>
            </a:r>
            <a:r>
              <a:rPr lang="pt-BR" dirty="0"/>
              <a:t>, </a:t>
            </a:r>
            <a:r>
              <a:rPr lang="pt-BR" dirty="0" smtClean="0"/>
              <a:t>deve-se </a:t>
            </a:r>
            <a:r>
              <a:rPr lang="pt-BR" dirty="0" smtClean="0"/>
              <a:t>reconhecer </a:t>
            </a:r>
            <a:r>
              <a:rPr lang="pt-BR" dirty="0"/>
              <a:t>o criador original do código.</a:t>
            </a:r>
          </a:p>
        </p:txBody>
      </p:sp>
    </p:spTree>
    <p:extLst>
      <p:ext uri="{BB962C8B-B14F-4D97-AF65-F5344CB8AC3E}">
        <p14:creationId xmlns:p14="http://schemas.microsoft.com/office/powerpoint/2010/main" val="44900670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6264" y="277663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</a:t>
            </a:r>
            <a:r>
              <a:rPr lang="pt-BR" dirty="0"/>
              <a:t>- Desenvolvimento open </a:t>
            </a:r>
            <a:r>
              <a:rPr lang="pt-BR" dirty="0" err="1"/>
              <a:t>source</a:t>
            </a:r>
            <a:r>
              <a:rPr lang="pt-BR" dirty="0"/>
              <a:t> - </a:t>
            </a:r>
            <a:r>
              <a:rPr lang="pt-BR" dirty="0" smtClean="0"/>
              <a:t> </a:t>
            </a:r>
            <a:r>
              <a:rPr lang="pt-BR" dirty="0"/>
              <a:t>Licenças open </a:t>
            </a:r>
            <a:r>
              <a:rPr lang="pt-BR" dirty="0" err="1"/>
              <a:t>source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1802921"/>
            <a:ext cx="12105736" cy="48911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 smtClean="0"/>
              <a:t>Ao construir </a:t>
            </a:r>
            <a:r>
              <a:rPr lang="pt-BR" dirty="0"/>
              <a:t>um software que roda em uma plataforma open </a:t>
            </a:r>
            <a:r>
              <a:rPr lang="pt-BR" dirty="0" err="1"/>
              <a:t>source</a:t>
            </a:r>
            <a:r>
              <a:rPr lang="pt-BR" dirty="0"/>
              <a:t>, como o Linux, as licenças não são um problema.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Ao </a:t>
            </a:r>
            <a:r>
              <a:rPr lang="pt-BR" dirty="0"/>
              <a:t>incluir componentes open </a:t>
            </a:r>
            <a:r>
              <a:rPr lang="pt-BR" dirty="0" err="1"/>
              <a:t>source</a:t>
            </a:r>
            <a:r>
              <a:rPr lang="pt-BR" dirty="0"/>
              <a:t> </a:t>
            </a:r>
            <a:r>
              <a:rPr lang="pt-BR" dirty="0" smtClean="0"/>
              <a:t>no </a:t>
            </a:r>
            <a:r>
              <a:rPr lang="pt-BR" dirty="0"/>
              <a:t>software, é necessário definir os processos e bancos de dados para manter o controle do que está sendo usado e </a:t>
            </a:r>
            <a:r>
              <a:rPr lang="pt-BR" dirty="0" smtClean="0"/>
              <a:t>as condições </a:t>
            </a:r>
            <a:r>
              <a:rPr lang="pt-BR" dirty="0"/>
              <a:t>da licença. </a:t>
            </a:r>
            <a:endParaRPr lang="pt-BR" dirty="0" smtClean="0"/>
          </a:p>
          <a:p>
            <a:pPr marL="0" indent="0">
              <a:buNone/>
            </a:pPr>
            <a:r>
              <a:rPr lang="pt-BR" dirty="0" err="1" smtClean="0"/>
              <a:t>Bayersdorfer</a:t>
            </a:r>
            <a:r>
              <a:rPr lang="pt-BR" dirty="0" smtClean="0"/>
              <a:t> </a:t>
            </a:r>
            <a:r>
              <a:rPr lang="pt-BR" dirty="0"/>
              <a:t>(2007) sugere que as empresas de gerenciamento de projetos que usam código open </a:t>
            </a:r>
            <a:r>
              <a:rPr lang="pt-BR" dirty="0" err="1"/>
              <a:t>source</a:t>
            </a:r>
            <a:r>
              <a:rPr lang="pt-BR" dirty="0"/>
              <a:t> devem: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Estabelecer </a:t>
            </a:r>
            <a:r>
              <a:rPr lang="pt-BR" dirty="0"/>
              <a:t>um sistema para manter informações sobre os componentes open </a:t>
            </a:r>
            <a:r>
              <a:rPr lang="pt-BR" dirty="0" err="1"/>
              <a:t>source</a:t>
            </a:r>
            <a:r>
              <a:rPr lang="pt-BR" dirty="0"/>
              <a:t> que são baixados e </a:t>
            </a:r>
            <a:r>
              <a:rPr lang="pt-BR" dirty="0" smtClean="0"/>
              <a:t>usados</a:t>
            </a:r>
            <a:r>
              <a:rPr lang="pt-BR" dirty="0"/>
              <a:t>. É preciso manter uma cópia da licença para cada componente que era válido no momento em que foi usado. As licenças podem mudar, </a:t>
            </a:r>
            <a:r>
              <a:rPr lang="pt-BR" dirty="0" smtClean="0"/>
              <a:t>deve-se </a:t>
            </a:r>
            <a:r>
              <a:rPr lang="pt-BR" dirty="0"/>
              <a:t>saber as condições com as quais concordou.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Estar </a:t>
            </a:r>
            <a:r>
              <a:rPr lang="pt-BR" dirty="0"/>
              <a:t>ciente dos diferentes tipos de licenças e compreender como um componente é licenciado antes de ser usado. </a:t>
            </a:r>
            <a:r>
              <a:rPr lang="pt-BR" dirty="0" smtClean="0"/>
              <a:t>Deve-se </a:t>
            </a:r>
            <a:r>
              <a:rPr lang="pt-BR" dirty="0"/>
              <a:t>decidir usar um componente em um sistema, mas não em outro, porque </a:t>
            </a:r>
            <a:r>
              <a:rPr lang="pt-BR" dirty="0" smtClean="0"/>
              <a:t>se </a:t>
            </a:r>
            <a:r>
              <a:rPr lang="pt-BR" dirty="0"/>
              <a:t>pretende usar esses sistemas de diferentes maneiras. </a:t>
            </a:r>
            <a:endParaRPr lang="pt-BR" dirty="0" smtClean="0"/>
          </a:p>
          <a:p>
            <a:pPr marL="514350" indent="-514350">
              <a:buAutoNum type="arabicPeriod"/>
            </a:pPr>
            <a:r>
              <a:rPr lang="pt-BR" dirty="0" smtClean="0"/>
              <a:t>Estar </a:t>
            </a:r>
            <a:r>
              <a:rPr lang="pt-BR" dirty="0"/>
              <a:t>ciente dos caminhos da evolução para os componentes. </a:t>
            </a:r>
            <a:r>
              <a:rPr lang="pt-BR" dirty="0" smtClean="0"/>
              <a:t>Deve-se </a:t>
            </a:r>
            <a:r>
              <a:rPr lang="pt-BR" dirty="0"/>
              <a:t>saber um pouco sobre o projeto open </a:t>
            </a:r>
            <a:r>
              <a:rPr lang="pt-BR" dirty="0" err="1"/>
              <a:t>source</a:t>
            </a:r>
            <a:r>
              <a:rPr lang="pt-BR" dirty="0"/>
              <a:t> no qual os componentes são desenvolvidos para compreender como eles podem mudar no futuro</a:t>
            </a:r>
          </a:p>
        </p:txBody>
      </p:sp>
    </p:spTree>
    <p:extLst>
      <p:ext uri="{BB962C8B-B14F-4D97-AF65-F5344CB8AC3E}">
        <p14:creationId xmlns:p14="http://schemas.microsoft.com/office/powerpoint/2010/main" val="34241028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6264" y="277663"/>
            <a:ext cx="12105736" cy="129387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Capitulo 7 –Projeto orientado a objetos com UML </a:t>
            </a:r>
            <a:br>
              <a:rPr lang="pt-BR" dirty="0" smtClean="0"/>
            </a:br>
            <a:r>
              <a:rPr lang="pt-BR" dirty="0"/>
              <a:t>7.3 Questões de implementação </a:t>
            </a:r>
            <a:r>
              <a:rPr lang="pt-BR" dirty="0" smtClean="0"/>
              <a:t> </a:t>
            </a:r>
            <a:r>
              <a:rPr lang="pt-BR" dirty="0"/>
              <a:t>- Desenvolvimento open </a:t>
            </a:r>
            <a:r>
              <a:rPr lang="pt-BR" dirty="0" err="1"/>
              <a:t>source</a:t>
            </a:r>
            <a:r>
              <a:rPr lang="pt-BR" dirty="0"/>
              <a:t> - </a:t>
            </a:r>
            <a:r>
              <a:rPr lang="pt-BR" dirty="0" smtClean="0"/>
              <a:t> </a:t>
            </a:r>
            <a:r>
              <a:rPr lang="pt-BR" dirty="0"/>
              <a:t>Licenças open </a:t>
            </a:r>
            <a:r>
              <a:rPr lang="pt-BR" dirty="0" err="1"/>
              <a:t>source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005" y="2019299"/>
            <a:ext cx="12105736" cy="46747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4</a:t>
            </a:r>
            <a:r>
              <a:rPr lang="pt-BR" dirty="0"/>
              <a:t>. Educar as pessoas sobre open </a:t>
            </a:r>
            <a:r>
              <a:rPr lang="pt-BR" dirty="0" err="1"/>
              <a:t>source</a:t>
            </a:r>
            <a:r>
              <a:rPr lang="pt-BR" dirty="0"/>
              <a:t>. Para assegurar o cumprimento das condições da licença não é suficiente ter os procedimentos em dia; </a:t>
            </a:r>
            <a:r>
              <a:rPr lang="pt-BR" dirty="0" smtClean="0"/>
              <a:t>deve-se </a:t>
            </a:r>
            <a:r>
              <a:rPr lang="pt-BR" dirty="0"/>
              <a:t>educar os desenvolvedores sobre código e licenças open </a:t>
            </a:r>
            <a:r>
              <a:rPr lang="pt-BR" dirty="0" err="1"/>
              <a:t>source</a:t>
            </a:r>
            <a:r>
              <a:rPr lang="pt-BR" dirty="0"/>
              <a:t>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5</a:t>
            </a:r>
            <a:r>
              <a:rPr lang="pt-BR" dirty="0"/>
              <a:t>. Ter os sistemas de auditoria em vigor. Os desenvolvedores com prazos apertados podem ser tentados a quebrar os termos de uma licença. Se possível, </a:t>
            </a:r>
            <a:r>
              <a:rPr lang="pt-BR" dirty="0" smtClean="0"/>
              <a:t> tenha </a:t>
            </a:r>
            <a:r>
              <a:rPr lang="pt-BR" dirty="0"/>
              <a:t>um software para detectar e encerrar esse procedimento. </a:t>
            </a: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6</a:t>
            </a:r>
            <a:r>
              <a:rPr lang="pt-BR" dirty="0"/>
              <a:t>. Participar da comunidade open </a:t>
            </a:r>
            <a:r>
              <a:rPr lang="pt-BR" dirty="0" err="1"/>
              <a:t>source</a:t>
            </a:r>
            <a:r>
              <a:rPr lang="pt-BR" dirty="0"/>
              <a:t>. </a:t>
            </a:r>
            <a:r>
              <a:rPr lang="pt-BR" dirty="0" smtClean="0"/>
              <a:t>Ao confiar </a:t>
            </a:r>
            <a:r>
              <a:rPr lang="pt-BR" dirty="0"/>
              <a:t>em produtos open </a:t>
            </a:r>
            <a:r>
              <a:rPr lang="pt-BR" dirty="0" err="1"/>
              <a:t>source</a:t>
            </a:r>
            <a:r>
              <a:rPr lang="pt-BR" dirty="0"/>
              <a:t>, </a:t>
            </a:r>
            <a:r>
              <a:rPr lang="pt-BR" dirty="0" smtClean="0"/>
              <a:t>deve-se </a:t>
            </a:r>
            <a:r>
              <a:rPr lang="pt-BR" dirty="0"/>
              <a:t>participar da </a:t>
            </a:r>
            <a:r>
              <a:rPr lang="pt-BR" dirty="0" smtClean="0"/>
              <a:t>comunidade </a:t>
            </a:r>
            <a:r>
              <a:rPr lang="pt-BR" dirty="0"/>
              <a:t>e ajudar a apoiar seu desenvolvimento.</a:t>
            </a:r>
          </a:p>
        </p:txBody>
      </p:sp>
    </p:spTree>
    <p:extLst>
      <p:ext uri="{BB962C8B-B14F-4D97-AF65-F5344CB8AC3E}">
        <p14:creationId xmlns:p14="http://schemas.microsoft.com/office/powerpoint/2010/main" val="18289103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2783</TotalTime>
  <Words>9538</Words>
  <Application>Microsoft Office PowerPoint</Application>
  <PresentationFormat>Widescreen</PresentationFormat>
  <Paragraphs>420</Paragraphs>
  <Slides>76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76</vt:i4>
      </vt:variant>
    </vt:vector>
  </HeadingPairs>
  <TitlesOfParts>
    <vt:vector size="80" baseType="lpstr">
      <vt:lpstr>Arial</vt:lpstr>
      <vt:lpstr>Calibri</vt:lpstr>
      <vt:lpstr>Calibri Light</vt:lpstr>
      <vt:lpstr>Tema do Office</vt:lpstr>
      <vt:lpstr>Capitulo 7 -Projeto e Implementação</vt:lpstr>
      <vt:lpstr>Capitulo 7 – Projeto e Implementação</vt:lpstr>
      <vt:lpstr>Capitulo 7 – Projeto e Implementação</vt:lpstr>
      <vt:lpstr>Capitulo 7 – Projeto e Implementação</vt:lpstr>
      <vt:lpstr>Capitulo 7 – Projeto e Implementação</vt:lpstr>
      <vt:lpstr>Capitulo 7 –Projeto orientado a objetos com UML</vt:lpstr>
      <vt:lpstr>Capitulo 7 –Projeto orientado a objetos com UML</vt:lpstr>
      <vt:lpstr>Capitulo 7 –Projeto orientado a objetos com UML</vt:lpstr>
      <vt:lpstr>Capitulo 7 –Projeto orientado a objetos com UML  7.1.1 Contexto e interações do sistema</vt:lpstr>
      <vt:lpstr>Capitulo 7 –Projeto orientado a objetos com UML  7.1.1 Contexto e interações do sistema</vt:lpstr>
      <vt:lpstr>Capitulo 7 –Projeto orientado a objetos com UML  7.1.1 Contexto e interações do sistema</vt:lpstr>
      <vt:lpstr>Capitulo 7 –Projeto orientado a objetos com UML  7.1.1 Contexto e interações do sistema</vt:lpstr>
      <vt:lpstr>Capitulo 7 –Projeto orientado a objetos com UML  7.1.1 Contexto e interações do sistema</vt:lpstr>
      <vt:lpstr>Capitulo 7 –Projeto orientado a objetos com UML  7.1.1 Contexto e interações do sistema</vt:lpstr>
      <vt:lpstr>Capitulo 7 –Projeto orientado a objetos com UML  7.1.1 Contexto e interações do sistema</vt:lpstr>
      <vt:lpstr>Capitulo 7 –Projeto orientado a objetos com UML  7.1.2 Projeto de arquitetura</vt:lpstr>
      <vt:lpstr>Capitulo 7 –Projeto orientado a objetos com UML  7.1.2 Projeto de arquitetura</vt:lpstr>
      <vt:lpstr>Capitulo 7 –Projeto orientado a objetos com UML  7.1.2 Projeto de arquitetura</vt:lpstr>
      <vt:lpstr>Capitulo 7 –Projeto orientado a objetos com UML  7.1.2 Projeto de arquitetura</vt:lpstr>
      <vt:lpstr>Capitulo 7 –Projeto orientado a objetos com UML  7.1.3 Identificação dos objetos de classe</vt:lpstr>
      <vt:lpstr>Capitulo 7 –Projeto orientado a objetos com UML  7.1.3 Identificação dos objetos de classe</vt:lpstr>
      <vt:lpstr>Capitulo 7 –Projeto orientado a objetos com UML  7.1.3 Identificação dos objetos de classe</vt:lpstr>
      <vt:lpstr>Capitulo 7 –Projeto orientado a objetos com UML  7.1.3 Identificação dos objetos de classe</vt:lpstr>
      <vt:lpstr>Capitulo 7 –Projeto orientado a objetos com UML  7.1.3 Identificação dos objetos de classe</vt:lpstr>
      <vt:lpstr>Capitulo 7 –Projeto orientado a objetos com UML  7.1.3 Identificação dos objetos de classe</vt:lpstr>
      <vt:lpstr>Capitulo 7 –Projeto orientado a objetos com UML  7.1.4 Modelos de Projeto</vt:lpstr>
      <vt:lpstr>Capitulo 7 –Projeto orientado a objetos com UML  7.1.4 Modelos de Projeto</vt:lpstr>
      <vt:lpstr>Capitulo 7 –Projeto orientado a objetos com UML  7.1.4 Modelos de Projeto</vt:lpstr>
      <vt:lpstr>Capitulo 7 –Projeto orientado a objetos com UML  7.1.4 Modelos de Projeto</vt:lpstr>
      <vt:lpstr>Capitulo 7 –Projeto orientado a objetos com UML  7.1.4 Modelos de Projeto</vt:lpstr>
      <vt:lpstr>Capitulo 7 –Projeto orientado a objetos com UML  7.1.4 Modelos de Projeto</vt:lpstr>
      <vt:lpstr>Capitulo 7 –Projeto orientado a objetos com UML  7.1.4 Modelos de Projeto</vt:lpstr>
      <vt:lpstr>Capitulo 7 –Projeto orientado a objetos com UML  7.1.4 Modelos de Projeto</vt:lpstr>
      <vt:lpstr>Capitulo 7 –Projeto orientado a objetos com UML  7.1.4 Modelos de Projeto</vt:lpstr>
      <vt:lpstr>Capitulo 7 –Projeto orientado a objetos com UML  7.1.4 Modelos de Projeto</vt:lpstr>
      <vt:lpstr>Capitulo 7 –Projeto orientado a objetos com UML  7.1.4 Modelos de Projeto</vt:lpstr>
      <vt:lpstr>Capitulo 7 –Projeto orientado a objetos com UML  7.1.5 Especificações de interface</vt:lpstr>
      <vt:lpstr>Capitulo 7 –Projeto orientado a objetos com UML  7.1.5 Especificações de interface</vt:lpstr>
      <vt:lpstr>Capitulo 7 –Projeto orientado a objetos com UML  7.1.5 Especificações de interface</vt:lpstr>
      <vt:lpstr>Capitulo 7 –Projeto orientado a objetos com UML  7.1.5 Especificações de interface</vt:lpstr>
      <vt:lpstr>Capitulo 7 –Projeto orientado a objetos com UML  7.2 Padrões de projeto </vt:lpstr>
      <vt:lpstr>Capitulo 7 –Projeto orientado a objetos com UML  7.2 Padrões de projeto </vt:lpstr>
      <vt:lpstr>Capitulo 7 –Projeto orientado a objetos com UML  7.2 Padrões de projeto </vt:lpstr>
      <vt:lpstr>Capitulo 7 –Projeto orientado a objetos com UML  7.2 Padrões de projeto </vt:lpstr>
      <vt:lpstr>Capitulo 7 –Projeto orientado a objetos com UML  7.2 Padrões de projeto </vt:lpstr>
      <vt:lpstr>Capitulo 7 –Projeto orientado a objetos com UML  7.2 Padrões de projeto </vt:lpstr>
      <vt:lpstr>Capitulo 7 –Projeto orientado a objetos com UML  7.2 Padrões de projeto </vt:lpstr>
      <vt:lpstr>Capitulo 7 –Projeto orientado a objetos com UML  7.2 Padrões de projeto </vt:lpstr>
      <vt:lpstr>Capitulo 7 –Projeto orientado a objetos com UML  7.2 Padrões de projeto </vt:lpstr>
      <vt:lpstr>Capitulo 7 –Projeto orientado a objetos com UML  7.2 Padrões de projeto </vt:lpstr>
      <vt:lpstr>Capitulo 7 –Projeto orientado a objetos com UML  7.2 Padrões de projeto </vt:lpstr>
      <vt:lpstr>Capitulo 7 –Projeto orientado a objetos com UML  7.3 Questões de implementação </vt:lpstr>
      <vt:lpstr>Capitulo 7 –Projeto orientado a objetos com UML  7.3 Questões de implementação </vt:lpstr>
      <vt:lpstr>Capitulo 7 –Projeto orientado a objetos com UML  7.3 Questões de implementação  - Reuso</vt:lpstr>
      <vt:lpstr>Capitulo 7 –Projeto orientado a objetos com UML  7.3 Questões de implementação  - Reuso</vt:lpstr>
      <vt:lpstr>Capitulo 7 –Projeto orientado a objetos com UML  7.3 Questões de implementação  - Reuso</vt:lpstr>
      <vt:lpstr>Capitulo 7 –Projeto orientado a objetos com UML  7.3 Questões de implementação  - Reuso</vt:lpstr>
      <vt:lpstr>Capitulo 7 –Projeto orientado a objetos com UML  7.3 Questões de implementação  - Reuso</vt:lpstr>
      <vt:lpstr>Capitulo 7 –Projeto orientado a objetos com UML  7.3 Questões de implementação  - Gerenciamento de configuração</vt:lpstr>
      <vt:lpstr>Capitulo 7 –Projeto orientado a objetos com UML  7.3 Questões de implementação  - Gerenciamento de configuração</vt:lpstr>
      <vt:lpstr>Capitulo 7 –Projeto orientado a objetos com UML  7.3 Questões de implementação  - Gerenciamento de configuração</vt:lpstr>
      <vt:lpstr>Capitulo 7 –Projeto orientado a objetos com UML  7.3 Questões de implementação  - Gerenciamento de configuração</vt:lpstr>
      <vt:lpstr>Capitulo 7 –Projeto orientado a objetos com UML  7.3 Questões de implementação  - Desenvolvimento host-target</vt:lpstr>
      <vt:lpstr>Capitulo 7 –Projeto orientado a objetos com UML  7.3 Questões de implementação  - Desenvolvimento host-target</vt:lpstr>
      <vt:lpstr>Capitulo 7 –Projeto orientado a objetos com UML  7.3 Questões de implementação  - Desenvolvimento host-target</vt:lpstr>
      <vt:lpstr>Capitulo 7 –Projeto orientado a objetos com UML  7.3 Questões de implementação  - Desenvolvimento host-target</vt:lpstr>
      <vt:lpstr>Capitulo 7 –Projeto orientado a objetos com UML  7.3 Questões de implementação  - Desenvolvimento host-target</vt:lpstr>
      <vt:lpstr>Capitulo 7 –Projeto orientado a objetos com UML  7.3 Questões de implementação  - Desenvolvimento host-target</vt:lpstr>
      <vt:lpstr>Capitulo 7 –Projeto orientado a objetos com UML  7.3 Questões de implementação  - Desenvolvimento open source </vt:lpstr>
      <vt:lpstr>Capitulo 7 –Projeto orientado a objetos com UML  7.3 Questões de implementação  - Desenvolvimento open source </vt:lpstr>
      <vt:lpstr>Capitulo 7 –Projeto orientado a objetos com UML  7.3 Questões de implementação  - Desenvolvimento open source </vt:lpstr>
      <vt:lpstr>Capitulo 7 –Projeto orientado a objetos com UML  7.3 Questões de implementação  - Desenvolvimento open source </vt:lpstr>
      <vt:lpstr>Capitulo 7 –Projeto orientado a objetos com UML  7.3 Questões de implementação  - Desenvolvimento open source </vt:lpstr>
      <vt:lpstr>Capitulo 7 –Projeto orientado a objetos com UML  7.3 Questões de implementação  - Desenvolvimento open source -  Licenças open source </vt:lpstr>
      <vt:lpstr>Capitulo 7 –Projeto orientado a objetos com UML  7.3 Questões de implementação  - Desenvolvimento open source -  Licenças open source </vt:lpstr>
      <vt:lpstr>Capitulo 7 –Projeto orientado a objetos com UML  7.3 Questões de implementação  - Desenvolvimento open source -  Licenças open source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Capitulo 7 -Projeto e Implementação</dc:title>
  <dc:creator>Marilee</dc:creator>
  <cp:lastModifiedBy>Marilee</cp:lastModifiedBy>
  <cp:revision>55</cp:revision>
  <dcterms:created xsi:type="dcterms:W3CDTF">2025-01-02T23:32:39Z</dcterms:created>
  <dcterms:modified xsi:type="dcterms:W3CDTF">2025-03-11T13:26:46Z</dcterms:modified>
</cp:coreProperties>
</file>