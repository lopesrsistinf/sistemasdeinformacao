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67" r:id="rId3"/>
    <p:sldId id="281" r:id="rId4"/>
    <p:sldId id="280"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2" r:id="rId18"/>
    <p:sldId id="283" r:id="rId19"/>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60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524C1F03-76B3-45DA-976C-560B9074E8A7}" type="datetimeFigureOut">
              <a:rPr lang="pt-BR" smtClean="0"/>
              <a:t>15/09/2026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EF4F713D-A63D-42CA-9E0C-07F115132B48}" type="slidenum">
              <a:rPr lang="pt-BR" smtClean="0"/>
              <a:t>‹nº›</a:t>
            </a:fld>
            <a:endParaRPr lang="pt-BR"/>
          </a:p>
        </p:txBody>
      </p:sp>
    </p:spTree>
    <p:extLst>
      <p:ext uri="{BB962C8B-B14F-4D97-AF65-F5344CB8AC3E}">
        <p14:creationId xmlns:p14="http://schemas.microsoft.com/office/powerpoint/2010/main" val="89209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524C1F03-76B3-45DA-976C-560B9074E8A7}" type="datetimeFigureOut">
              <a:rPr lang="pt-BR" smtClean="0"/>
              <a:t>15/09/2026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EF4F713D-A63D-42CA-9E0C-07F115132B48}" type="slidenum">
              <a:rPr lang="pt-BR" smtClean="0"/>
              <a:t>‹nº›</a:t>
            </a:fld>
            <a:endParaRPr lang="pt-BR"/>
          </a:p>
        </p:txBody>
      </p:sp>
    </p:spTree>
    <p:extLst>
      <p:ext uri="{BB962C8B-B14F-4D97-AF65-F5344CB8AC3E}">
        <p14:creationId xmlns:p14="http://schemas.microsoft.com/office/powerpoint/2010/main" val="1043671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524C1F03-76B3-45DA-976C-560B9074E8A7}" type="datetimeFigureOut">
              <a:rPr lang="pt-BR" smtClean="0"/>
              <a:t>15/09/2026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EF4F713D-A63D-42CA-9E0C-07F115132B48}" type="slidenum">
              <a:rPr lang="pt-BR" smtClean="0"/>
              <a:t>‹nº›</a:t>
            </a:fld>
            <a:endParaRPr lang="pt-BR"/>
          </a:p>
        </p:txBody>
      </p:sp>
    </p:spTree>
    <p:extLst>
      <p:ext uri="{BB962C8B-B14F-4D97-AF65-F5344CB8AC3E}">
        <p14:creationId xmlns:p14="http://schemas.microsoft.com/office/powerpoint/2010/main" val="542261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524C1F03-76B3-45DA-976C-560B9074E8A7}" type="datetimeFigureOut">
              <a:rPr lang="pt-BR" smtClean="0"/>
              <a:t>15/09/2026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EF4F713D-A63D-42CA-9E0C-07F115132B48}" type="slidenum">
              <a:rPr lang="pt-BR" smtClean="0"/>
              <a:t>‹nº›</a:t>
            </a:fld>
            <a:endParaRPr lang="pt-BR"/>
          </a:p>
        </p:txBody>
      </p:sp>
    </p:spTree>
    <p:extLst>
      <p:ext uri="{BB962C8B-B14F-4D97-AF65-F5344CB8AC3E}">
        <p14:creationId xmlns:p14="http://schemas.microsoft.com/office/powerpoint/2010/main" val="4097974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524C1F03-76B3-45DA-976C-560B9074E8A7}" type="datetimeFigureOut">
              <a:rPr lang="pt-BR" smtClean="0"/>
              <a:t>15/09/2026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EF4F713D-A63D-42CA-9E0C-07F115132B48}" type="slidenum">
              <a:rPr lang="pt-BR" smtClean="0"/>
              <a:t>‹nº›</a:t>
            </a:fld>
            <a:endParaRPr lang="pt-BR"/>
          </a:p>
        </p:txBody>
      </p:sp>
    </p:spTree>
    <p:extLst>
      <p:ext uri="{BB962C8B-B14F-4D97-AF65-F5344CB8AC3E}">
        <p14:creationId xmlns:p14="http://schemas.microsoft.com/office/powerpoint/2010/main" val="2076871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524C1F03-76B3-45DA-976C-560B9074E8A7}" type="datetimeFigureOut">
              <a:rPr lang="pt-BR" smtClean="0"/>
              <a:t>15/09/2026</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EF4F713D-A63D-42CA-9E0C-07F115132B48}" type="slidenum">
              <a:rPr lang="pt-BR" smtClean="0"/>
              <a:t>‹nº›</a:t>
            </a:fld>
            <a:endParaRPr lang="pt-BR"/>
          </a:p>
        </p:txBody>
      </p:sp>
    </p:spTree>
    <p:extLst>
      <p:ext uri="{BB962C8B-B14F-4D97-AF65-F5344CB8AC3E}">
        <p14:creationId xmlns:p14="http://schemas.microsoft.com/office/powerpoint/2010/main" val="4103089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524C1F03-76B3-45DA-976C-560B9074E8A7}" type="datetimeFigureOut">
              <a:rPr lang="pt-BR" smtClean="0"/>
              <a:t>15/09/2026</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EF4F713D-A63D-42CA-9E0C-07F115132B48}" type="slidenum">
              <a:rPr lang="pt-BR" smtClean="0"/>
              <a:t>‹nº›</a:t>
            </a:fld>
            <a:endParaRPr lang="pt-BR"/>
          </a:p>
        </p:txBody>
      </p:sp>
    </p:spTree>
    <p:extLst>
      <p:ext uri="{BB962C8B-B14F-4D97-AF65-F5344CB8AC3E}">
        <p14:creationId xmlns:p14="http://schemas.microsoft.com/office/powerpoint/2010/main" val="237716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524C1F03-76B3-45DA-976C-560B9074E8A7}" type="datetimeFigureOut">
              <a:rPr lang="pt-BR" smtClean="0"/>
              <a:t>15/09/2026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EF4F713D-A63D-42CA-9E0C-07F115132B48}" type="slidenum">
              <a:rPr lang="pt-BR" smtClean="0"/>
              <a:t>‹nº›</a:t>
            </a:fld>
            <a:endParaRPr lang="pt-BR"/>
          </a:p>
        </p:txBody>
      </p:sp>
    </p:spTree>
    <p:extLst>
      <p:ext uri="{BB962C8B-B14F-4D97-AF65-F5344CB8AC3E}">
        <p14:creationId xmlns:p14="http://schemas.microsoft.com/office/powerpoint/2010/main" val="3056660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título mestre</a:t>
            </a: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524C1F03-76B3-45DA-976C-560B9074E8A7}" type="datetimeFigureOut">
              <a:rPr lang="pt-BR" smtClean="0"/>
              <a:t>15/09/2026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EF4F713D-A63D-42CA-9E0C-07F115132B48}" type="slidenum">
              <a:rPr lang="pt-BR" smtClean="0"/>
              <a:t>‹nº›</a:t>
            </a:fld>
            <a:endParaRPr lang="pt-BR"/>
          </a:p>
        </p:txBody>
      </p:sp>
    </p:spTree>
    <p:extLst>
      <p:ext uri="{BB962C8B-B14F-4D97-AF65-F5344CB8AC3E}">
        <p14:creationId xmlns:p14="http://schemas.microsoft.com/office/powerpoint/2010/main" val="2276596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524C1F03-76B3-45DA-976C-560B9074E8A7}" type="datetimeFigureOut">
              <a:rPr lang="pt-BR" smtClean="0"/>
              <a:t>15/09/2026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EF4F713D-A63D-42CA-9E0C-07F115132B48}" type="slidenum">
              <a:rPr lang="pt-BR" smtClean="0"/>
              <a:t>‹nº›</a:t>
            </a:fld>
            <a:endParaRPr lang="pt-BR"/>
          </a:p>
        </p:txBody>
      </p:sp>
    </p:spTree>
    <p:extLst>
      <p:ext uri="{BB962C8B-B14F-4D97-AF65-F5344CB8AC3E}">
        <p14:creationId xmlns:p14="http://schemas.microsoft.com/office/powerpoint/2010/main" val="339076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524C1F03-76B3-45DA-976C-560B9074E8A7}" type="datetimeFigureOut">
              <a:rPr lang="pt-BR" smtClean="0"/>
              <a:t>15/09/2026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EF4F713D-A63D-42CA-9E0C-07F115132B48}" type="slidenum">
              <a:rPr lang="pt-BR" smtClean="0"/>
              <a:t>‹nº›</a:t>
            </a:fld>
            <a:endParaRPr lang="pt-BR"/>
          </a:p>
        </p:txBody>
      </p:sp>
    </p:spTree>
    <p:extLst>
      <p:ext uri="{BB962C8B-B14F-4D97-AF65-F5344CB8AC3E}">
        <p14:creationId xmlns:p14="http://schemas.microsoft.com/office/powerpoint/2010/main" val="3822056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4C1F03-76B3-45DA-976C-560B9074E8A7}" type="datetimeFigureOut">
              <a:rPr lang="pt-BR" smtClean="0"/>
              <a:t>15/09/2026</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4F713D-A63D-42CA-9E0C-07F115132B48}" type="slidenum">
              <a:rPr lang="pt-BR" smtClean="0"/>
              <a:t>‹nº›</a:t>
            </a:fld>
            <a:endParaRPr lang="pt-BR"/>
          </a:p>
        </p:txBody>
      </p:sp>
    </p:spTree>
    <p:extLst>
      <p:ext uri="{BB962C8B-B14F-4D97-AF65-F5344CB8AC3E}">
        <p14:creationId xmlns:p14="http://schemas.microsoft.com/office/powerpoint/2010/main" val="25968230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Imagem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249166"/>
          </a:xfrm>
          <a:prstGeom prst="rect">
            <a:avLst/>
          </a:prstGeom>
          <a:noFill/>
          <a:extLst>
            <a:ext uri="{909E8E84-426E-40DD-AFC4-6F175D3DCCD1}">
              <a14:hiddenFill xmlns:a14="http://schemas.microsoft.com/office/drawing/2010/main">
                <a:solidFill>
                  <a:srgbClr val="FFFFFF"/>
                </a:solidFill>
              </a14:hiddenFill>
            </a:ext>
          </a:extLst>
        </p:spPr>
      </p:pic>
      <p:sp>
        <p:nvSpPr>
          <p:cNvPr id="4" name="Retângulo 3"/>
          <p:cNvSpPr/>
          <p:nvPr/>
        </p:nvSpPr>
        <p:spPr>
          <a:xfrm>
            <a:off x="0" y="6249166"/>
            <a:ext cx="9144000" cy="608834"/>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p:cNvSpPr/>
          <p:nvPr/>
        </p:nvSpPr>
        <p:spPr>
          <a:xfrm>
            <a:off x="-1" y="3356992"/>
            <a:ext cx="7236297" cy="2088232"/>
          </a:xfrm>
          <a:prstGeom prst="rect">
            <a:avLst/>
          </a:prstGeom>
          <a:solidFill>
            <a:schemeClr val="accent2">
              <a:lumMod val="75000"/>
              <a:alpha val="3294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accent1">
                  <a:lumMod val="60000"/>
                  <a:lumOff val="40000"/>
                </a:schemeClr>
              </a:solidFill>
            </a:endParaRPr>
          </a:p>
        </p:txBody>
      </p:sp>
      <p:sp>
        <p:nvSpPr>
          <p:cNvPr id="8" name="CaixaDeTexto 7"/>
          <p:cNvSpPr txBox="1"/>
          <p:nvPr/>
        </p:nvSpPr>
        <p:spPr>
          <a:xfrm>
            <a:off x="203746" y="3689737"/>
            <a:ext cx="6744518" cy="1323439"/>
          </a:xfrm>
          <a:prstGeom prst="rect">
            <a:avLst/>
          </a:prstGeom>
          <a:noFill/>
        </p:spPr>
        <p:txBody>
          <a:bodyPr wrap="square" rtlCol="0">
            <a:spAutoFit/>
          </a:bodyPr>
          <a:lstStyle/>
          <a:p>
            <a:r>
              <a:rPr lang="pt-BR" sz="4000" b="1" dirty="0">
                <a:solidFill>
                  <a:schemeClr val="accent2">
                    <a:lumMod val="50000"/>
                  </a:schemeClr>
                </a:solidFill>
                <a:latin typeface="Futura Md BT" panose="020B0602020204020303" pitchFamily="34" charset="0"/>
              </a:rPr>
              <a:t>As Telecomunicações e</a:t>
            </a:r>
          </a:p>
          <a:p>
            <a:r>
              <a:rPr lang="pt-BR" sz="4000" b="1" dirty="0">
                <a:solidFill>
                  <a:schemeClr val="accent2">
                    <a:lumMod val="50000"/>
                  </a:schemeClr>
                </a:solidFill>
                <a:latin typeface="Futura Md BT" panose="020B0602020204020303" pitchFamily="34" charset="0"/>
              </a:rPr>
              <a:t>a Internet nas empresas</a:t>
            </a:r>
          </a:p>
        </p:txBody>
      </p:sp>
    </p:spTree>
    <p:extLst>
      <p:ext uri="{BB962C8B-B14F-4D97-AF65-F5344CB8AC3E}">
        <p14:creationId xmlns:p14="http://schemas.microsoft.com/office/powerpoint/2010/main" val="3877165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p:cNvSpPr txBox="1"/>
          <p:nvPr/>
        </p:nvSpPr>
        <p:spPr>
          <a:xfrm>
            <a:off x="323528" y="1308824"/>
            <a:ext cx="8592889" cy="3785652"/>
          </a:xfrm>
          <a:prstGeom prst="rect">
            <a:avLst/>
          </a:prstGeom>
          <a:noFill/>
        </p:spPr>
        <p:txBody>
          <a:bodyPr wrap="square" rtlCol="0">
            <a:spAutoFit/>
          </a:bodyPr>
          <a:lstStyle/>
          <a:p>
            <a:r>
              <a:rPr lang="pt-BR" sz="3000" b="1" dirty="0"/>
              <a:t>Conforme </a:t>
            </a:r>
            <a:r>
              <a:rPr lang="pt-BR" sz="3000" b="1" dirty="0" err="1"/>
              <a:t>Laudon</a:t>
            </a:r>
            <a:r>
              <a:rPr lang="pt-BR" sz="3000" b="1" dirty="0"/>
              <a:t> e </a:t>
            </a:r>
            <a:r>
              <a:rPr lang="pt-BR" sz="3000" b="1" dirty="0" err="1"/>
              <a:t>Laudon</a:t>
            </a:r>
            <a:r>
              <a:rPr lang="pt-BR" sz="3000" b="1" dirty="0"/>
              <a:t> (2004), um sistema de telecomunicação é um conjunto de software</a:t>
            </a:r>
          </a:p>
          <a:p>
            <a:r>
              <a:rPr lang="pt-BR" sz="3000" b="1" dirty="0"/>
              <a:t>e hardware com compatibilidade e organizados para transmitir informações de um ponto a outro.</a:t>
            </a:r>
          </a:p>
          <a:p>
            <a:endParaRPr lang="pt-BR" sz="3000" b="1" dirty="0"/>
          </a:p>
          <a:p>
            <a:r>
              <a:rPr lang="pt-BR" sz="3000" b="1" dirty="0"/>
              <a:t>Sendo assim o sistema de telecomunicação pode realizar transmissão de texto, imagens, informações em vídeo ou voz. </a:t>
            </a:r>
          </a:p>
        </p:txBody>
      </p:sp>
      <p:sp>
        <p:nvSpPr>
          <p:cNvPr id="6" name="Retângulo com Único Canto Aparado 5"/>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107504" y="478182"/>
            <a:ext cx="6183039" cy="600164"/>
          </a:xfrm>
          <a:prstGeom prst="rect">
            <a:avLst/>
          </a:prstGeom>
          <a:noFill/>
        </p:spPr>
        <p:txBody>
          <a:bodyPr wrap="none" rtlCol="0">
            <a:spAutoFit/>
          </a:bodyPr>
          <a:lstStyle/>
          <a:p>
            <a:r>
              <a:rPr lang="pt-BR" sz="3300" b="1" dirty="0">
                <a:solidFill>
                  <a:schemeClr val="bg1"/>
                </a:solidFill>
              </a:rPr>
              <a:t>SISTEMAS DE TELECOMUNICAÇÃO</a:t>
            </a:r>
          </a:p>
        </p:txBody>
      </p:sp>
    </p:spTree>
    <p:extLst>
      <p:ext uri="{BB962C8B-B14F-4D97-AF65-F5344CB8AC3E}">
        <p14:creationId xmlns:p14="http://schemas.microsoft.com/office/powerpoint/2010/main" val="3299555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323528" y="1308824"/>
            <a:ext cx="8592889" cy="5355312"/>
          </a:xfrm>
          <a:prstGeom prst="rect">
            <a:avLst/>
          </a:prstGeom>
          <a:noFill/>
        </p:spPr>
        <p:txBody>
          <a:bodyPr wrap="square" rtlCol="0">
            <a:spAutoFit/>
          </a:bodyPr>
          <a:lstStyle/>
          <a:p>
            <a:r>
              <a:rPr lang="pt-BR" sz="3000" b="1" dirty="0"/>
              <a:t>Componentes essenciais:</a:t>
            </a:r>
          </a:p>
          <a:p>
            <a:pPr marL="914400" lvl="1" indent="-457200">
              <a:buFont typeface="Arial" pitchFamily="34" charset="0"/>
              <a:buChar char="•"/>
            </a:pPr>
            <a:r>
              <a:rPr lang="pt-BR" sz="2600" b="1" dirty="0"/>
              <a:t>computador para processamento de informações;</a:t>
            </a:r>
          </a:p>
          <a:p>
            <a:pPr marL="914400" lvl="1" indent="-457200">
              <a:buFont typeface="Arial" pitchFamily="34" charset="0"/>
              <a:buChar char="•"/>
            </a:pPr>
            <a:r>
              <a:rPr lang="pt-BR" sz="2600" b="1" dirty="0"/>
              <a:t>terminais ou qualquer equipamento de entrada e saída que enviem ou recebam dados;</a:t>
            </a:r>
          </a:p>
          <a:p>
            <a:pPr marL="914400" lvl="1" indent="-457200">
              <a:buFont typeface="Arial" pitchFamily="34" charset="0"/>
              <a:buChar char="•"/>
            </a:pPr>
            <a:r>
              <a:rPr lang="pt-BR" sz="2600" b="1" dirty="0"/>
              <a:t>conexões pelas quais voz ou dados são transmitidos entre equipamento de envio e recebimento de uma rede;</a:t>
            </a:r>
          </a:p>
          <a:p>
            <a:pPr marL="914400" lvl="1" indent="-457200">
              <a:buFont typeface="Arial" pitchFamily="34" charset="0"/>
              <a:buChar char="•"/>
            </a:pPr>
            <a:r>
              <a:rPr lang="pt-BR" sz="2600" b="1" dirty="0"/>
              <a:t>processadores de comunicações como modems e controladores que fornecem suporte às funções de transmissão e recepção de dados;</a:t>
            </a:r>
          </a:p>
          <a:p>
            <a:pPr marL="914400" lvl="1" indent="-457200">
              <a:buFont typeface="Arial" pitchFamily="34" charset="0"/>
              <a:buChar char="•"/>
            </a:pPr>
            <a:r>
              <a:rPr lang="pt-BR" sz="2600" b="1" dirty="0"/>
              <a:t>softwares de comunicações que permitem controle de atividades de entrada e saída e gerenciamento de funções da rede de comunicação.</a:t>
            </a:r>
          </a:p>
        </p:txBody>
      </p:sp>
      <p:sp>
        <p:nvSpPr>
          <p:cNvPr id="5" name="Retângulo com Único Canto Aparado 4"/>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p:cNvSpPr txBox="1"/>
          <p:nvPr/>
        </p:nvSpPr>
        <p:spPr>
          <a:xfrm>
            <a:off x="107504" y="478182"/>
            <a:ext cx="6183039" cy="600164"/>
          </a:xfrm>
          <a:prstGeom prst="rect">
            <a:avLst/>
          </a:prstGeom>
          <a:noFill/>
        </p:spPr>
        <p:txBody>
          <a:bodyPr wrap="none" rtlCol="0">
            <a:spAutoFit/>
          </a:bodyPr>
          <a:lstStyle/>
          <a:p>
            <a:r>
              <a:rPr lang="pt-BR" sz="3300" b="1" dirty="0">
                <a:solidFill>
                  <a:schemeClr val="bg1"/>
                </a:solidFill>
              </a:rPr>
              <a:t>SISTEMAS DE TELECOMUNICAÇÃO</a:t>
            </a:r>
          </a:p>
        </p:txBody>
      </p:sp>
    </p:spTree>
    <p:extLst>
      <p:ext uri="{BB962C8B-B14F-4D97-AF65-F5344CB8AC3E}">
        <p14:creationId xmlns:p14="http://schemas.microsoft.com/office/powerpoint/2010/main" val="3390468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323528" y="1308824"/>
            <a:ext cx="8592889" cy="5170646"/>
          </a:xfrm>
          <a:prstGeom prst="rect">
            <a:avLst/>
          </a:prstGeom>
          <a:noFill/>
        </p:spPr>
        <p:txBody>
          <a:bodyPr wrap="square" rtlCol="0">
            <a:spAutoFit/>
          </a:bodyPr>
          <a:lstStyle/>
          <a:p>
            <a:r>
              <a:rPr lang="pt-BR" sz="3000" b="1" dirty="0"/>
              <a:t>As empresas estão se tornando empresas conectadas em redes. A Internet e as redes de tipo Internet dentro da empresa (Intranets), entre uma empresa e seus parceiros comerciais (Extranets) e outros tipos de rede se tornaram a principal </a:t>
            </a:r>
            <a:r>
              <a:rPr lang="pt-BR" sz="3000" b="1" dirty="0" err="1"/>
              <a:t>infra-estrutura</a:t>
            </a:r>
            <a:r>
              <a:rPr lang="pt-BR" sz="3000" b="1" dirty="0"/>
              <a:t> de informática de muitas organizações. Essas redes de telecomunicações permitem a gerentes, usuários finais, equipes e grupos de trabalho trocarem eletronicamente dados e informações em qualquer parte do mundo com outros usuários, clientes, fornecedores e parceiros de negócios.</a:t>
            </a:r>
          </a:p>
        </p:txBody>
      </p:sp>
      <p:sp>
        <p:nvSpPr>
          <p:cNvPr id="5" name="Retângulo com Único Canto Aparado 4"/>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p:cNvSpPr txBox="1"/>
          <p:nvPr/>
        </p:nvSpPr>
        <p:spPr>
          <a:xfrm>
            <a:off x="107504" y="478182"/>
            <a:ext cx="8409418" cy="600164"/>
          </a:xfrm>
          <a:prstGeom prst="rect">
            <a:avLst/>
          </a:prstGeom>
          <a:noFill/>
        </p:spPr>
        <p:txBody>
          <a:bodyPr wrap="none" rtlCol="0">
            <a:spAutoFit/>
          </a:bodyPr>
          <a:lstStyle/>
          <a:p>
            <a:r>
              <a:rPr lang="pt-BR" sz="3300" b="1" dirty="0">
                <a:solidFill>
                  <a:schemeClr val="bg1"/>
                </a:solidFill>
              </a:rPr>
              <a:t>TELECOMUNICAÇÕES E A REDE NAS EMPRESAS</a:t>
            </a:r>
          </a:p>
        </p:txBody>
      </p:sp>
    </p:spTree>
    <p:extLst>
      <p:ext uri="{BB962C8B-B14F-4D97-AF65-F5344CB8AC3E}">
        <p14:creationId xmlns:p14="http://schemas.microsoft.com/office/powerpoint/2010/main" val="3065658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p:cNvSpPr txBox="1"/>
          <p:nvPr/>
        </p:nvSpPr>
        <p:spPr>
          <a:xfrm>
            <a:off x="323528" y="1308824"/>
            <a:ext cx="8592889" cy="5170646"/>
          </a:xfrm>
          <a:prstGeom prst="rect">
            <a:avLst/>
          </a:prstGeom>
          <a:noFill/>
        </p:spPr>
        <p:txBody>
          <a:bodyPr wrap="square" rtlCol="0">
            <a:spAutoFit/>
          </a:bodyPr>
          <a:lstStyle/>
          <a:p>
            <a:r>
              <a:rPr lang="pt-BR" sz="3000" b="1" dirty="0"/>
              <a:t>Com a utilização das redes, as empresas podem:</a:t>
            </a:r>
          </a:p>
          <a:p>
            <a:pPr marL="914400" lvl="1" indent="-457200">
              <a:buFont typeface="Arial" pitchFamily="34" charset="0"/>
              <a:buChar char="•"/>
            </a:pPr>
            <a:r>
              <a:rPr lang="pt-BR" sz="3000" b="1" dirty="0"/>
              <a:t>Colaborar de modo mais criativo</a:t>
            </a:r>
          </a:p>
          <a:p>
            <a:pPr marL="914400" lvl="1" indent="-457200">
              <a:buFont typeface="Arial" pitchFamily="34" charset="0"/>
              <a:buChar char="•"/>
            </a:pPr>
            <a:r>
              <a:rPr lang="pt-BR" sz="3000" b="1" dirty="0"/>
              <a:t>Gerenciar suas operações e recursos de modo mais eficaz</a:t>
            </a:r>
          </a:p>
          <a:p>
            <a:pPr marL="914400" lvl="1" indent="-457200">
              <a:buFont typeface="Arial" pitchFamily="34" charset="0"/>
              <a:buChar char="•"/>
            </a:pPr>
            <a:r>
              <a:rPr lang="pt-BR" sz="3000" b="1" dirty="0"/>
              <a:t>Competir com sucesso na atual economia global em rápida transformação. </a:t>
            </a:r>
          </a:p>
          <a:p>
            <a:pPr lvl="1"/>
            <a:endParaRPr lang="pt-BR" sz="3000" b="1" dirty="0"/>
          </a:p>
          <a:p>
            <a:pPr marL="6350" lvl="1"/>
            <a:r>
              <a:rPr lang="pt-BR" sz="3000" b="1" dirty="0"/>
              <a:t>Muitas organizações hoje não poderiam sobreviver sem uma diversidade de redes conectadas ao computador para servir suas necessidades de comunicações e processamento de informação.</a:t>
            </a:r>
          </a:p>
        </p:txBody>
      </p:sp>
      <p:sp>
        <p:nvSpPr>
          <p:cNvPr id="6" name="Retângulo com Único Canto Aparado 5"/>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107504" y="478182"/>
            <a:ext cx="8409418" cy="600164"/>
          </a:xfrm>
          <a:prstGeom prst="rect">
            <a:avLst/>
          </a:prstGeom>
          <a:noFill/>
        </p:spPr>
        <p:txBody>
          <a:bodyPr wrap="none" rtlCol="0">
            <a:spAutoFit/>
          </a:bodyPr>
          <a:lstStyle/>
          <a:p>
            <a:r>
              <a:rPr lang="pt-BR" sz="3300" b="1" dirty="0">
                <a:solidFill>
                  <a:schemeClr val="bg1"/>
                </a:solidFill>
              </a:rPr>
              <a:t>TELECOMUNICAÇÕES E A REDE NAS EMPRESAS</a:t>
            </a:r>
          </a:p>
        </p:txBody>
      </p:sp>
    </p:spTree>
    <p:extLst>
      <p:ext uri="{BB962C8B-B14F-4D97-AF65-F5344CB8AC3E}">
        <p14:creationId xmlns:p14="http://schemas.microsoft.com/office/powerpoint/2010/main" val="3918940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p:cNvSpPr txBox="1"/>
          <p:nvPr/>
        </p:nvSpPr>
        <p:spPr>
          <a:xfrm>
            <a:off x="323528" y="1308824"/>
            <a:ext cx="8592889" cy="3785652"/>
          </a:xfrm>
          <a:prstGeom prst="rect">
            <a:avLst/>
          </a:prstGeom>
          <a:noFill/>
        </p:spPr>
        <p:txBody>
          <a:bodyPr wrap="square" rtlCol="0">
            <a:spAutoFit/>
          </a:bodyPr>
          <a:lstStyle/>
          <a:p>
            <a:pPr marL="6350" lvl="1"/>
            <a:r>
              <a:rPr lang="pt-BR" sz="3000" b="1" dirty="0"/>
              <a:t>As principais tendências que estão ocorrendo no campo das telecomunicações possuem um impacto importante nas decisões gerenciais nesta área. Por isso, os usuários finais  devem estar cientes das principais tendências na indústria, tecnologias e aplicações de telecomunicações que aumentam significativamente as alternativas de decisão que enfrentam suas organizações.</a:t>
            </a:r>
          </a:p>
        </p:txBody>
      </p:sp>
      <p:sp>
        <p:nvSpPr>
          <p:cNvPr id="6" name="Retângulo com Único Canto Aparado 5"/>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107504" y="478182"/>
            <a:ext cx="6924716" cy="600164"/>
          </a:xfrm>
          <a:prstGeom prst="rect">
            <a:avLst/>
          </a:prstGeom>
          <a:noFill/>
        </p:spPr>
        <p:txBody>
          <a:bodyPr wrap="none" rtlCol="0">
            <a:spAutoFit/>
          </a:bodyPr>
          <a:lstStyle/>
          <a:p>
            <a:r>
              <a:rPr lang="pt-BR" sz="3300" b="1" dirty="0">
                <a:solidFill>
                  <a:schemeClr val="bg1"/>
                </a:solidFill>
              </a:rPr>
              <a:t>TENDÊNCIAS EM TELECOMUNICAÇÕES</a:t>
            </a:r>
          </a:p>
        </p:txBody>
      </p:sp>
    </p:spTree>
    <p:extLst>
      <p:ext uri="{BB962C8B-B14F-4D97-AF65-F5344CB8AC3E}">
        <p14:creationId xmlns:p14="http://schemas.microsoft.com/office/powerpoint/2010/main" val="723224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p:cNvSpPr txBox="1"/>
          <p:nvPr/>
        </p:nvSpPr>
        <p:spPr>
          <a:xfrm>
            <a:off x="323528" y="1308824"/>
            <a:ext cx="8592889" cy="5170646"/>
          </a:xfrm>
          <a:prstGeom prst="rect">
            <a:avLst/>
          </a:prstGeom>
          <a:noFill/>
        </p:spPr>
        <p:txBody>
          <a:bodyPr wrap="square" rtlCol="0">
            <a:spAutoFit/>
          </a:bodyPr>
          <a:lstStyle/>
          <a:p>
            <a:pPr marL="6350" lvl="1"/>
            <a:r>
              <a:rPr lang="pt-BR" sz="3000" b="1" dirty="0"/>
              <a:t>NA INDÚSTRIA</a:t>
            </a:r>
          </a:p>
          <a:p>
            <a:pPr marL="6350" lvl="1"/>
            <a:endParaRPr lang="pt-BR" sz="3000" b="1" dirty="0"/>
          </a:p>
          <a:p>
            <a:pPr marL="463550" lvl="1" indent="-457200">
              <a:buFont typeface="Arial" pitchFamily="34" charset="0"/>
              <a:buChar char="•"/>
            </a:pPr>
            <a:r>
              <a:rPr lang="pt-BR" sz="3000" b="1" dirty="0"/>
              <a:t>Muitas grandes e pequenas empresas de telecomunicações oferecem redes e serviços de telecomunicações. </a:t>
            </a:r>
          </a:p>
          <a:p>
            <a:pPr marL="463550" lvl="1" indent="-457200">
              <a:buFont typeface="Arial" pitchFamily="34" charset="0"/>
              <a:buChar char="•"/>
            </a:pPr>
            <a:r>
              <a:rPr lang="pt-BR" sz="3000" b="1" dirty="0"/>
              <a:t>Crescimento explosivo da Internet e da Rede Mundial de Computadores gerou novos produtos, serviços e fornecedores de telecomunicações.</a:t>
            </a:r>
          </a:p>
          <a:p>
            <a:pPr marL="463550" lvl="1" indent="-457200">
              <a:buFont typeface="Arial" pitchFamily="34" charset="0"/>
              <a:buChar char="•"/>
            </a:pPr>
            <a:r>
              <a:rPr lang="pt-BR" sz="3000" b="1" dirty="0"/>
              <a:t>As empresas têm aumentado drasticamente seu uso da Internet e da rede para o comércio eletrônico e a colaboração.</a:t>
            </a:r>
          </a:p>
        </p:txBody>
      </p:sp>
      <p:sp>
        <p:nvSpPr>
          <p:cNvPr id="6" name="Retângulo com Único Canto Aparado 5"/>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107504" y="478182"/>
            <a:ext cx="6924716" cy="600164"/>
          </a:xfrm>
          <a:prstGeom prst="rect">
            <a:avLst/>
          </a:prstGeom>
          <a:noFill/>
        </p:spPr>
        <p:txBody>
          <a:bodyPr wrap="none" rtlCol="0">
            <a:spAutoFit/>
          </a:bodyPr>
          <a:lstStyle/>
          <a:p>
            <a:r>
              <a:rPr lang="pt-BR" sz="3300" b="1" dirty="0">
                <a:solidFill>
                  <a:schemeClr val="bg1"/>
                </a:solidFill>
              </a:rPr>
              <a:t>TENDÊNCIAS EM TELECOMUNICAÇÕES</a:t>
            </a:r>
          </a:p>
        </p:txBody>
      </p:sp>
    </p:spTree>
    <p:extLst>
      <p:ext uri="{BB962C8B-B14F-4D97-AF65-F5344CB8AC3E}">
        <p14:creationId xmlns:p14="http://schemas.microsoft.com/office/powerpoint/2010/main" val="1267166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p:cNvSpPr txBox="1"/>
          <p:nvPr/>
        </p:nvSpPr>
        <p:spPr>
          <a:xfrm>
            <a:off x="323528" y="1308824"/>
            <a:ext cx="8592889" cy="5632311"/>
          </a:xfrm>
          <a:prstGeom prst="rect">
            <a:avLst/>
          </a:prstGeom>
          <a:noFill/>
        </p:spPr>
        <p:txBody>
          <a:bodyPr wrap="square" rtlCol="0">
            <a:spAutoFit/>
          </a:bodyPr>
          <a:lstStyle/>
          <a:p>
            <a:pPr marL="6350" lvl="1"/>
            <a:r>
              <a:rPr lang="pt-BR" sz="3000" b="1" dirty="0"/>
              <a:t>NA TECNOLOGIA</a:t>
            </a:r>
          </a:p>
          <a:p>
            <a:pPr marL="6350" lvl="1"/>
            <a:endParaRPr lang="pt-BR" sz="3000" b="1" dirty="0"/>
          </a:p>
          <a:p>
            <a:pPr marL="463550" lvl="1" indent="-457200">
              <a:buFont typeface="Arial" pitchFamily="34" charset="0"/>
              <a:buChar char="•"/>
            </a:pPr>
            <a:r>
              <a:rPr lang="pt-BR" sz="3000" b="1" dirty="0"/>
              <a:t>Sistemas de informação abertos: usam padrões comuns para hardware, software, aplicações e redes, propiciando maior conectividade (computadores em rede e outros dispositivos acessarem e se comunicarem facilmente entre si, compartilhando informações). Permitem que aplicações diferentes sejam realizadas utilizando diferentes sistemas de computação, softwares e bancos de dados fornecidos por várias redes interconectadas (interoperabilidade).</a:t>
            </a:r>
          </a:p>
        </p:txBody>
      </p:sp>
      <p:sp>
        <p:nvSpPr>
          <p:cNvPr id="6" name="Retângulo com Único Canto Aparado 5"/>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107504" y="478182"/>
            <a:ext cx="6924716" cy="600164"/>
          </a:xfrm>
          <a:prstGeom prst="rect">
            <a:avLst/>
          </a:prstGeom>
          <a:noFill/>
        </p:spPr>
        <p:txBody>
          <a:bodyPr wrap="none" rtlCol="0">
            <a:spAutoFit/>
          </a:bodyPr>
          <a:lstStyle/>
          <a:p>
            <a:r>
              <a:rPr lang="pt-BR" sz="3300" b="1" dirty="0">
                <a:solidFill>
                  <a:schemeClr val="bg1"/>
                </a:solidFill>
              </a:rPr>
              <a:t>TENDÊNCIAS EM TELECOMUNICAÇÕES</a:t>
            </a:r>
          </a:p>
        </p:txBody>
      </p:sp>
    </p:spTree>
    <p:extLst>
      <p:ext uri="{BB962C8B-B14F-4D97-AF65-F5344CB8AC3E}">
        <p14:creationId xmlns:p14="http://schemas.microsoft.com/office/powerpoint/2010/main" val="1890835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p:cNvSpPr txBox="1"/>
          <p:nvPr/>
        </p:nvSpPr>
        <p:spPr>
          <a:xfrm>
            <a:off x="323528" y="1308824"/>
            <a:ext cx="8592889" cy="5632311"/>
          </a:xfrm>
          <a:prstGeom prst="rect">
            <a:avLst/>
          </a:prstGeom>
          <a:noFill/>
        </p:spPr>
        <p:txBody>
          <a:bodyPr wrap="square" rtlCol="0">
            <a:spAutoFit/>
          </a:bodyPr>
          <a:lstStyle/>
          <a:p>
            <a:pPr marL="6350" lvl="1"/>
            <a:r>
              <a:rPr lang="pt-BR" sz="3000" b="1" dirty="0"/>
              <a:t>NA TECNOLOGIA</a:t>
            </a:r>
          </a:p>
          <a:p>
            <a:pPr marL="6350" lvl="1"/>
            <a:endParaRPr lang="pt-BR" sz="3000" b="1" dirty="0"/>
          </a:p>
          <a:p>
            <a:pPr marL="463550" lvl="1" indent="-457200">
              <a:buFont typeface="Arial" pitchFamily="34" charset="0"/>
              <a:buChar char="•"/>
            </a:pPr>
            <a:r>
              <a:rPr lang="pt-BR" sz="3000" b="1" dirty="0"/>
              <a:t>Mudança da tecnologia de rede analógica para a tecnologia de rede digital, que transmitem informações na forma de pulsos discretos, em lugar de ondas. Propiciam maior velocidade de transmissão, movimento de quantidades maiores de informações, maior economia e margens muito menores de erro do que os sistemas analógicos. E, ainda, transportam múltiplos tipos de comunicações (dados, voz, vídeo).</a:t>
            </a:r>
          </a:p>
          <a:p>
            <a:pPr marL="463550" lvl="1" indent="-457200">
              <a:buFont typeface="Arial" pitchFamily="34" charset="0"/>
              <a:buChar char="•"/>
            </a:pPr>
            <a:endParaRPr lang="pt-BR" sz="3000" b="1" dirty="0"/>
          </a:p>
        </p:txBody>
      </p:sp>
      <p:sp>
        <p:nvSpPr>
          <p:cNvPr id="6" name="Retângulo com Único Canto Aparado 5"/>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107504" y="478182"/>
            <a:ext cx="6924716" cy="600164"/>
          </a:xfrm>
          <a:prstGeom prst="rect">
            <a:avLst/>
          </a:prstGeom>
          <a:noFill/>
        </p:spPr>
        <p:txBody>
          <a:bodyPr wrap="none" rtlCol="0">
            <a:spAutoFit/>
          </a:bodyPr>
          <a:lstStyle/>
          <a:p>
            <a:r>
              <a:rPr lang="pt-BR" sz="3300" b="1" dirty="0">
                <a:solidFill>
                  <a:schemeClr val="bg1"/>
                </a:solidFill>
              </a:rPr>
              <a:t>TENDÊNCIAS EM TELECOMUNICAÇÕES</a:t>
            </a:r>
          </a:p>
        </p:txBody>
      </p:sp>
    </p:spTree>
    <p:extLst>
      <p:ext uri="{BB962C8B-B14F-4D97-AF65-F5344CB8AC3E}">
        <p14:creationId xmlns:p14="http://schemas.microsoft.com/office/powerpoint/2010/main" val="291147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p:cNvSpPr txBox="1"/>
          <p:nvPr/>
        </p:nvSpPr>
        <p:spPr>
          <a:xfrm>
            <a:off x="323528" y="1308824"/>
            <a:ext cx="8592889" cy="5170646"/>
          </a:xfrm>
          <a:prstGeom prst="rect">
            <a:avLst/>
          </a:prstGeom>
          <a:noFill/>
        </p:spPr>
        <p:txBody>
          <a:bodyPr wrap="square" rtlCol="0">
            <a:spAutoFit/>
          </a:bodyPr>
          <a:lstStyle/>
          <a:p>
            <a:pPr marL="6350" lvl="1"/>
            <a:r>
              <a:rPr lang="pt-BR" sz="3000" b="1" dirty="0"/>
              <a:t>NA TECNOLOGIA</a:t>
            </a:r>
          </a:p>
          <a:p>
            <a:pPr marL="6350" lvl="1"/>
            <a:endParaRPr lang="pt-BR" sz="3000" b="1" dirty="0"/>
          </a:p>
          <a:p>
            <a:pPr marL="463550" lvl="1" indent="-457200">
              <a:buFont typeface="Arial" pitchFamily="34" charset="0"/>
              <a:buChar char="•"/>
            </a:pPr>
            <a:r>
              <a:rPr lang="pt-BR" sz="3000" b="1" dirty="0"/>
              <a:t>Muitas redes de telecomunicações estão mudando de mídia baseada no cabo de cobre e sistemas repetidores de </a:t>
            </a:r>
            <a:r>
              <a:rPr lang="pt-BR" sz="3000" b="1" dirty="0" err="1"/>
              <a:t>microondas</a:t>
            </a:r>
            <a:r>
              <a:rPr lang="pt-BR" sz="3000" b="1" dirty="0"/>
              <a:t> terrestres para transmissões por linhas de fibra ótica e satélites de comunicações. A transmissão por fibra ótica oferece vantagens como tamanho reduzido e esforço de instalação, capacidade de comunicação maior, velocidade de transmissão mais rápida, ausência de interferência elétrica.</a:t>
            </a:r>
          </a:p>
        </p:txBody>
      </p:sp>
      <p:sp>
        <p:nvSpPr>
          <p:cNvPr id="6" name="Retângulo com Único Canto Aparado 5"/>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107504" y="478182"/>
            <a:ext cx="6924716" cy="600164"/>
          </a:xfrm>
          <a:prstGeom prst="rect">
            <a:avLst/>
          </a:prstGeom>
          <a:noFill/>
        </p:spPr>
        <p:txBody>
          <a:bodyPr wrap="none" rtlCol="0">
            <a:spAutoFit/>
          </a:bodyPr>
          <a:lstStyle/>
          <a:p>
            <a:r>
              <a:rPr lang="pt-BR" sz="3300" b="1" dirty="0">
                <a:solidFill>
                  <a:schemeClr val="bg1"/>
                </a:solidFill>
              </a:rPr>
              <a:t>TENDÊNCIAS EM TELECOMUNICAÇÕES</a:t>
            </a:r>
          </a:p>
        </p:txBody>
      </p:sp>
    </p:spTree>
    <p:extLst>
      <p:ext uri="{BB962C8B-B14F-4D97-AF65-F5344CB8AC3E}">
        <p14:creationId xmlns:p14="http://schemas.microsoft.com/office/powerpoint/2010/main" val="2438336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p:cNvSpPr txBox="1"/>
          <p:nvPr/>
        </p:nvSpPr>
        <p:spPr>
          <a:xfrm>
            <a:off x="323528" y="1308824"/>
            <a:ext cx="8592889" cy="4247317"/>
          </a:xfrm>
          <a:prstGeom prst="rect">
            <a:avLst/>
          </a:prstGeom>
          <a:noFill/>
        </p:spPr>
        <p:txBody>
          <a:bodyPr wrap="square" rtlCol="0">
            <a:spAutoFit/>
          </a:bodyPr>
          <a:lstStyle/>
          <a:p>
            <a:pPr marL="6350" lvl="1"/>
            <a:r>
              <a:rPr lang="pt-BR" sz="3000" b="1" dirty="0"/>
              <a:t>NAS APLICAÇÕES</a:t>
            </a:r>
          </a:p>
          <a:p>
            <a:pPr marL="6350" lvl="1"/>
            <a:endParaRPr lang="pt-BR" sz="3000" b="1" dirty="0"/>
          </a:p>
          <a:p>
            <a:pPr marL="463550" lvl="1" indent="-457200">
              <a:buFont typeface="Arial" pitchFamily="34" charset="0"/>
              <a:buChar char="•"/>
            </a:pPr>
            <a:r>
              <a:rPr lang="pt-BR" sz="3000" b="1" dirty="0"/>
              <a:t>As redes de telecomunicações estão desempenhando um papel vital e generalizado no comércio eletrônico, colaboração empresarial e aplicações empresariais internas que apoiam as operações, gerenciamento e objetivos estratégicos tanto de grandes como de pequenas empresas.</a:t>
            </a:r>
          </a:p>
        </p:txBody>
      </p:sp>
      <p:sp>
        <p:nvSpPr>
          <p:cNvPr id="6" name="Retângulo com Único Canto Aparado 5"/>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107504" y="478182"/>
            <a:ext cx="6924716" cy="600164"/>
          </a:xfrm>
          <a:prstGeom prst="rect">
            <a:avLst/>
          </a:prstGeom>
          <a:noFill/>
        </p:spPr>
        <p:txBody>
          <a:bodyPr wrap="none" rtlCol="0">
            <a:spAutoFit/>
          </a:bodyPr>
          <a:lstStyle/>
          <a:p>
            <a:r>
              <a:rPr lang="pt-BR" sz="3300" b="1" dirty="0">
                <a:solidFill>
                  <a:schemeClr val="bg1"/>
                </a:solidFill>
              </a:rPr>
              <a:t>TENDÊNCIAS EM TELECOMUNICAÇÕES</a:t>
            </a:r>
          </a:p>
        </p:txBody>
      </p:sp>
    </p:spTree>
    <p:extLst>
      <p:ext uri="{BB962C8B-B14F-4D97-AF65-F5344CB8AC3E}">
        <p14:creationId xmlns:p14="http://schemas.microsoft.com/office/powerpoint/2010/main" val="780191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p:cNvSpPr txBox="1"/>
          <p:nvPr/>
        </p:nvSpPr>
        <p:spPr>
          <a:xfrm>
            <a:off x="323528" y="1308824"/>
            <a:ext cx="8592889" cy="5632311"/>
          </a:xfrm>
          <a:prstGeom prst="rect">
            <a:avLst/>
          </a:prstGeom>
          <a:noFill/>
        </p:spPr>
        <p:txBody>
          <a:bodyPr wrap="square" rtlCol="0">
            <a:spAutoFit/>
          </a:bodyPr>
          <a:lstStyle/>
          <a:p>
            <a:pPr marL="6350" lvl="1"/>
            <a:r>
              <a:rPr lang="pt-BR" sz="3000" b="1" dirty="0"/>
              <a:t>NAS APLICAÇÕES</a:t>
            </a:r>
          </a:p>
          <a:p>
            <a:pPr marL="6350" lvl="1"/>
            <a:endParaRPr lang="pt-BR" sz="3000" b="1" dirty="0"/>
          </a:p>
          <a:p>
            <a:pPr marL="463550" lvl="1" indent="-457200">
              <a:buFont typeface="Arial" pitchFamily="34" charset="0"/>
              <a:buChar char="•"/>
            </a:pPr>
            <a:r>
              <a:rPr lang="pt-BR" sz="3000" b="1" dirty="0"/>
              <a:t>São utilizadas para:</a:t>
            </a:r>
          </a:p>
          <a:p>
            <a:pPr marL="463550" lvl="2"/>
            <a:r>
              <a:rPr lang="pt-BR" sz="3000" b="1" dirty="0"/>
              <a:t>a.	Cortar drasticamente os custos</a:t>
            </a:r>
          </a:p>
          <a:p>
            <a:pPr marL="463550" lvl="2"/>
            <a:r>
              <a:rPr lang="pt-BR" sz="3000" b="1" dirty="0"/>
              <a:t>b.	Encurtar os tempos de indicação de negócios e os tempos de resposta</a:t>
            </a:r>
          </a:p>
          <a:p>
            <a:pPr marL="463550" lvl="2"/>
            <a:r>
              <a:rPr lang="pt-BR" sz="3000" b="1" dirty="0"/>
              <a:t>c.	Apoiar o comércio eletrônico</a:t>
            </a:r>
          </a:p>
          <a:p>
            <a:pPr marL="463550" lvl="2"/>
            <a:r>
              <a:rPr lang="pt-BR" sz="3000" b="1" dirty="0"/>
              <a:t>d.	Melhorar a colaboração entre grupos</a:t>
            </a:r>
          </a:p>
          <a:p>
            <a:pPr marL="463550" lvl="2"/>
            <a:r>
              <a:rPr lang="pt-BR" sz="3000" b="1" dirty="0"/>
              <a:t>e.	Desenvolver processos operacionais on-line</a:t>
            </a:r>
          </a:p>
          <a:p>
            <a:pPr marL="463550" lvl="2"/>
            <a:r>
              <a:rPr lang="pt-BR" sz="3000" b="1" dirty="0"/>
              <a:t>f.	Compartilhar recursos</a:t>
            </a:r>
          </a:p>
          <a:p>
            <a:pPr marL="463550" lvl="2"/>
            <a:r>
              <a:rPr lang="pt-BR" sz="3000" b="1" dirty="0"/>
              <a:t>g.	Reter clientes e fornecedores </a:t>
            </a:r>
          </a:p>
          <a:p>
            <a:pPr marL="463550" lvl="2"/>
            <a:r>
              <a:rPr lang="pt-BR" sz="3000" b="1" dirty="0"/>
              <a:t>h.	Desenvolver novos produtos e serviços.</a:t>
            </a:r>
          </a:p>
        </p:txBody>
      </p:sp>
      <p:sp>
        <p:nvSpPr>
          <p:cNvPr id="6" name="Retângulo com Único Canto Aparado 5"/>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107504" y="478182"/>
            <a:ext cx="6924716" cy="600164"/>
          </a:xfrm>
          <a:prstGeom prst="rect">
            <a:avLst/>
          </a:prstGeom>
          <a:noFill/>
        </p:spPr>
        <p:txBody>
          <a:bodyPr wrap="none" rtlCol="0">
            <a:spAutoFit/>
          </a:bodyPr>
          <a:lstStyle/>
          <a:p>
            <a:r>
              <a:rPr lang="pt-BR" sz="3300" b="1" dirty="0">
                <a:solidFill>
                  <a:schemeClr val="bg1"/>
                </a:solidFill>
              </a:rPr>
              <a:t>TENDÊNCIAS EM TELECOMUNICAÇÕES</a:t>
            </a:r>
          </a:p>
        </p:txBody>
      </p:sp>
    </p:spTree>
    <p:extLst>
      <p:ext uri="{BB962C8B-B14F-4D97-AF65-F5344CB8AC3E}">
        <p14:creationId xmlns:p14="http://schemas.microsoft.com/office/powerpoint/2010/main" val="2061337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p:cNvSpPr txBox="1"/>
          <p:nvPr/>
        </p:nvSpPr>
        <p:spPr>
          <a:xfrm>
            <a:off x="323528" y="1308824"/>
            <a:ext cx="8592889" cy="4247317"/>
          </a:xfrm>
          <a:prstGeom prst="rect">
            <a:avLst/>
          </a:prstGeom>
          <a:noFill/>
        </p:spPr>
        <p:txBody>
          <a:bodyPr wrap="square" rtlCol="0">
            <a:spAutoFit/>
          </a:bodyPr>
          <a:lstStyle/>
          <a:p>
            <a:pPr marL="6350" lvl="1"/>
            <a:r>
              <a:rPr lang="pt-BR" sz="3000" b="1" dirty="0"/>
              <a:t>A TI, principalmente nas aplicações comerciais baseadas nas telecomunicações, ajuda uma empresa a superar barreiras ao sucesso dos negócios. Quatro possibilidades estratégicas das telecomunicações e de outras tecnologias da informação incluem:</a:t>
            </a:r>
          </a:p>
          <a:p>
            <a:pPr marL="920750" lvl="2" indent="-457200">
              <a:buFont typeface="Arial" pitchFamily="34" charset="0"/>
              <a:buChar char="•"/>
            </a:pPr>
            <a:r>
              <a:rPr lang="pt-BR" sz="3000" b="1" dirty="0"/>
              <a:t>Superar barreiras geográficas</a:t>
            </a:r>
          </a:p>
          <a:p>
            <a:pPr marL="920750" lvl="2" indent="-457200">
              <a:buFont typeface="Arial" pitchFamily="34" charset="0"/>
              <a:buChar char="•"/>
            </a:pPr>
            <a:r>
              <a:rPr lang="pt-BR" sz="3000" b="1" dirty="0"/>
              <a:t>Superar barreiras de tempo </a:t>
            </a:r>
          </a:p>
          <a:p>
            <a:pPr marL="920750" lvl="2" indent="-457200">
              <a:buFont typeface="Arial" pitchFamily="34" charset="0"/>
              <a:buChar char="•"/>
            </a:pPr>
            <a:r>
              <a:rPr lang="pt-BR" sz="3000" b="1" dirty="0"/>
              <a:t>Superar barreiras de custo </a:t>
            </a:r>
          </a:p>
          <a:p>
            <a:pPr marL="920750" lvl="2" indent="-457200">
              <a:buFont typeface="Arial" pitchFamily="34" charset="0"/>
              <a:buChar char="•"/>
            </a:pPr>
            <a:r>
              <a:rPr lang="pt-BR" sz="3000" b="1" dirty="0"/>
              <a:t>Superar barreiras estruturais</a:t>
            </a:r>
          </a:p>
        </p:txBody>
      </p:sp>
      <p:sp>
        <p:nvSpPr>
          <p:cNvPr id="6" name="Retângulo com Único Canto Aparado 5"/>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107504" y="478182"/>
            <a:ext cx="8574655" cy="600164"/>
          </a:xfrm>
          <a:prstGeom prst="rect">
            <a:avLst/>
          </a:prstGeom>
          <a:noFill/>
        </p:spPr>
        <p:txBody>
          <a:bodyPr wrap="none" rtlCol="0">
            <a:spAutoFit/>
          </a:bodyPr>
          <a:lstStyle/>
          <a:p>
            <a:r>
              <a:rPr lang="pt-BR" sz="3300" b="1" dirty="0">
                <a:solidFill>
                  <a:schemeClr val="bg1"/>
                </a:solidFill>
              </a:rPr>
              <a:t>O VALOR COMERCIAL DAS TELECOMUNICAÇÕES</a:t>
            </a:r>
          </a:p>
        </p:txBody>
      </p:sp>
    </p:spTree>
    <p:extLst>
      <p:ext uri="{BB962C8B-B14F-4D97-AF65-F5344CB8AC3E}">
        <p14:creationId xmlns:p14="http://schemas.microsoft.com/office/powerpoint/2010/main" val="2288216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p:cNvSpPr txBox="1"/>
          <p:nvPr/>
        </p:nvSpPr>
        <p:spPr>
          <a:xfrm>
            <a:off x="323528" y="1308824"/>
            <a:ext cx="8592889" cy="5170646"/>
          </a:xfrm>
          <a:prstGeom prst="rect">
            <a:avLst/>
          </a:prstGeom>
          <a:noFill/>
        </p:spPr>
        <p:txBody>
          <a:bodyPr wrap="square" rtlCol="0">
            <a:spAutoFit/>
          </a:bodyPr>
          <a:lstStyle/>
          <a:p>
            <a:pPr marL="6350" lvl="1"/>
            <a:r>
              <a:rPr lang="pt-BR" sz="3000" b="1" dirty="0"/>
              <a:t>A Internet é hoje a maior “rede de redes” e o modelo mais próximo que temos da supervia de informações de amanhã. Aspectos diferenciais da Internet:</a:t>
            </a:r>
          </a:p>
          <a:p>
            <a:pPr marL="920750" lvl="2" indent="-457200">
              <a:buFont typeface="Arial" pitchFamily="34" charset="0"/>
              <a:buChar char="•"/>
            </a:pPr>
            <a:r>
              <a:rPr lang="pt-BR" sz="3000" b="1" dirty="0"/>
              <a:t>a Rede não dispõe de um mainframe ou de um centro de telecomunicações. Cada mensagem enviada possui um código de endereçamento único para que qualquer servidor de Internet na rede possa encaminhá-la até seu destino.</a:t>
            </a:r>
          </a:p>
          <a:p>
            <a:pPr marL="920750" lvl="2" indent="-457200">
              <a:buFont typeface="Arial" pitchFamily="34" charset="0"/>
              <a:buChar char="•"/>
            </a:pPr>
            <a:r>
              <a:rPr lang="pt-BR" sz="3000" b="1" dirty="0"/>
              <a:t>a Internet não possui uma sede ou um organismo que a governe.</a:t>
            </a:r>
          </a:p>
          <a:p>
            <a:pPr marL="920750" lvl="2" indent="-457200">
              <a:buFont typeface="Arial" pitchFamily="34" charset="0"/>
              <a:buChar char="•"/>
            </a:pPr>
            <a:r>
              <a:rPr lang="pt-BR" sz="3000" b="1" dirty="0"/>
              <a:t>a Internet está crescendo rapidamente.</a:t>
            </a:r>
          </a:p>
        </p:txBody>
      </p:sp>
      <p:sp>
        <p:nvSpPr>
          <p:cNvPr id="6" name="Retângulo com Único Canto Aparado 5"/>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107504" y="478182"/>
            <a:ext cx="4813497" cy="600164"/>
          </a:xfrm>
          <a:prstGeom prst="rect">
            <a:avLst/>
          </a:prstGeom>
          <a:noFill/>
        </p:spPr>
        <p:txBody>
          <a:bodyPr wrap="none" rtlCol="0">
            <a:spAutoFit/>
          </a:bodyPr>
          <a:lstStyle/>
          <a:p>
            <a:r>
              <a:rPr lang="pt-BR" sz="3300" b="1" dirty="0">
                <a:solidFill>
                  <a:schemeClr val="bg1"/>
                </a:solidFill>
              </a:rPr>
              <a:t>REVOLUÇÃO DA INTERNET</a:t>
            </a:r>
          </a:p>
        </p:txBody>
      </p:sp>
    </p:spTree>
    <p:extLst>
      <p:ext uri="{BB962C8B-B14F-4D97-AF65-F5344CB8AC3E}">
        <p14:creationId xmlns:p14="http://schemas.microsoft.com/office/powerpoint/2010/main" val="2298817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p:cNvSpPr txBox="1"/>
          <p:nvPr/>
        </p:nvSpPr>
        <p:spPr>
          <a:xfrm>
            <a:off x="323528" y="1308824"/>
            <a:ext cx="8592889" cy="5632311"/>
          </a:xfrm>
          <a:prstGeom prst="rect">
            <a:avLst/>
          </a:prstGeom>
          <a:noFill/>
        </p:spPr>
        <p:txBody>
          <a:bodyPr wrap="square" rtlCol="0">
            <a:spAutoFit/>
          </a:bodyPr>
          <a:lstStyle/>
          <a:p>
            <a:pPr marL="6350" lvl="1"/>
            <a:r>
              <a:rPr lang="pt-BR" sz="3000" b="1" dirty="0"/>
              <a:t>Está se expandindo da troca de informações </a:t>
            </a:r>
            <a:r>
              <a:rPr lang="pt-BR" sz="3000" b="1" dirty="0" err="1"/>
              <a:t>eletrô-nicas</a:t>
            </a:r>
            <a:r>
              <a:rPr lang="pt-BR" sz="3000" b="1" dirty="0"/>
              <a:t> para uma plataforma ampla de aplicações empresariais estratégicas. São usos comerciais:</a:t>
            </a:r>
          </a:p>
          <a:p>
            <a:pPr marL="920750" lvl="2" indent="-457200">
              <a:buFont typeface="Arial" pitchFamily="34" charset="0"/>
              <a:buChar char="•"/>
            </a:pPr>
            <a:r>
              <a:rPr lang="pt-BR" sz="3000" b="1" dirty="0"/>
              <a:t>colaboração entre parceiros comerciais</a:t>
            </a:r>
          </a:p>
          <a:p>
            <a:pPr marL="920750" lvl="2" indent="-457200">
              <a:buFont typeface="Arial" pitchFamily="34" charset="0"/>
              <a:buChar char="•"/>
            </a:pPr>
            <a:r>
              <a:rPr lang="pt-BR" sz="3000" b="1" dirty="0"/>
              <a:t>suporte a clientes e vendedores </a:t>
            </a:r>
          </a:p>
          <a:p>
            <a:pPr marL="920750" lvl="2" indent="-457200">
              <a:buFont typeface="Arial" pitchFamily="34" charset="0"/>
              <a:buChar char="•"/>
            </a:pPr>
            <a:r>
              <a:rPr lang="pt-BR" sz="3000" b="1" dirty="0"/>
              <a:t>compra e venda de produtos e serviços </a:t>
            </a:r>
          </a:p>
          <a:p>
            <a:pPr marL="920750" lvl="2" indent="-457200">
              <a:buFont typeface="Arial" pitchFamily="34" charset="0"/>
              <a:buChar char="•"/>
            </a:pPr>
            <a:r>
              <a:rPr lang="pt-BR" sz="3000" b="1" dirty="0"/>
              <a:t>aplicações de marketing, vendas e atendimento ao cliente</a:t>
            </a:r>
          </a:p>
          <a:p>
            <a:pPr marL="920750" lvl="2" indent="-457200">
              <a:buFont typeface="Arial" pitchFamily="34" charset="0"/>
              <a:buChar char="•"/>
            </a:pPr>
            <a:r>
              <a:rPr lang="pt-BR" sz="3000" b="1" dirty="0"/>
              <a:t>aplicações empresariais interfuncionais</a:t>
            </a:r>
          </a:p>
          <a:p>
            <a:pPr marL="920750" lvl="2" indent="-457200">
              <a:buFont typeface="Arial" pitchFamily="34" charset="0"/>
              <a:buChar char="•"/>
            </a:pPr>
            <a:r>
              <a:rPr lang="pt-BR" sz="3000" b="1" dirty="0"/>
              <a:t>comunicações e colaboração entre empresas</a:t>
            </a:r>
          </a:p>
          <a:p>
            <a:pPr marL="920750" lvl="2" indent="-457200">
              <a:buFont typeface="Arial" pitchFamily="34" charset="0"/>
              <a:buChar char="•"/>
            </a:pPr>
            <a:r>
              <a:rPr lang="pt-BR" sz="3000" b="1" dirty="0"/>
              <a:t>comércio eletrônico</a:t>
            </a:r>
          </a:p>
          <a:p>
            <a:pPr marL="920750" lvl="2" indent="-457200">
              <a:buFont typeface="Arial" pitchFamily="34" charset="0"/>
              <a:buChar char="•"/>
            </a:pPr>
            <a:r>
              <a:rPr lang="pt-BR" sz="3000" b="1" dirty="0"/>
              <a:t>alianças comerciais estratégicas</a:t>
            </a:r>
          </a:p>
        </p:txBody>
      </p:sp>
      <p:sp>
        <p:nvSpPr>
          <p:cNvPr id="6" name="Retângulo com Único Canto Aparado 5"/>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107504" y="478182"/>
            <a:ext cx="5585119" cy="600164"/>
          </a:xfrm>
          <a:prstGeom prst="rect">
            <a:avLst/>
          </a:prstGeom>
          <a:noFill/>
        </p:spPr>
        <p:txBody>
          <a:bodyPr wrap="none" rtlCol="0">
            <a:spAutoFit/>
          </a:bodyPr>
          <a:lstStyle/>
          <a:p>
            <a:r>
              <a:rPr lang="pt-BR" sz="3300" b="1" dirty="0">
                <a:solidFill>
                  <a:schemeClr val="bg1"/>
                </a:solidFill>
              </a:rPr>
              <a:t>USO COMERCIAL DA INTERNET</a:t>
            </a:r>
          </a:p>
        </p:txBody>
      </p:sp>
    </p:spTree>
    <p:extLst>
      <p:ext uri="{BB962C8B-B14F-4D97-AF65-F5344CB8AC3E}">
        <p14:creationId xmlns:p14="http://schemas.microsoft.com/office/powerpoint/2010/main" val="2595713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p:cNvSpPr txBox="1"/>
          <p:nvPr/>
        </p:nvSpPr>
        <p:spPr>
          <a:xfrm>
            <a:off x="323528" y="1308824"/>
            <a:ext cx="8592889" cy="5170646"/>
          </a:xfrm>
          <a:prstGeom prst="rect">
            <a:avLst/>
          </a:prstGeom>
          <a:noFill/>
        </p:spPr>
        <p:txBody>
          <a:bodyPr wrap="square" rtlCol="0">
            <a:spAutoFit/>
          </a:bodyPr>
          <a:lstStyle/>
          <a:p>
            <a:pPr marL="6350" lvl="1"/>
            <a:r>
              <a:rPr lang="pt-BR" sz="3000" b="1" dirty="0"/>
              <a:t>Muitas empresas procuram obter importantes objetivos comerciais, como:</a:t>
            </a:r>
          </a:p>
          <a:p>
            <a:pPr marL="920750" lvl="2" indent="-457200">
              <a:buFont typeface="Arial" pitchFamily="34" charset="0"/>
              <a:buChar char="•"/>
            </a:pPr>
            <a:r>
              <a:rPr lang="pt-BR" sz="3000" b="1" dirty="0"/>
              <a:t>atrair novos clientes via marketing e propaganda na rede;</a:t>
            </a:r>
          </a:p>
          <a:p>
            <a:pPr marL="920750" lvl="2" indent="-457200">
              <a:buFont typeface="Arial" pitchFamily="34" charset="0"/>
              <a:buChar char="•"/>
            </a:pPr>
            <a:r>
              <a:rPr lang="pt-BR" sz="3000" b="1" dirty="0"/>
              <a:t>melhorar o atendimento a clientes existentes via funções de atendimento e suporte ao cliente pela rede;</a:t>
            </a:r>
          </a:p>
          <a:p>
            <a:pPr marL="920750" lvl="2" indent="-457200">
              <a:buFont typeface="Arial" pitchFamily="34" charset="0"/>
              <a:buChar char="•"/>
            </a:pPr>
            <a:r>
              <a:rPr lang="pt-BR" sz="3000" b="1" dirty="0"/>
              <a:t>desenvolver novos mercados e canais de distribuição com base na rede para os produtos existentes e desenvolver novos produtos baseados em informação acessíveis na rede.</a:t>
            </a:r>
          </a:p>
        </p:txBody>
      </p:sp>
      <p:sp>
        <p:nvSpPr>
          <p:cNvPr id="6" name="Retângulo com Único Canto Aparado 5"/>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107504" y="478182"/>
            <a:ext cx="6004016" cy="600164"/>
          </a:xfrm>
          <a:prstGeom prst="rect">
            <a:avLst/>
          </a:prstGeom>
          <a:noFill/>
        </p:spPr>
        <p:txBody>
          <a:bodyPr wrap="none" rtlCol="0">
            <a:spAutoFit/>
          </a:bodyPr>
          <a:lstStyle/>
          <a:p>
            <a:r>
              <a:rPr lang="pt-BR" sz="3300" b="1" dirty="0">
                <a:solidFill>
                  <a:schemeClr val="bg1"/>
                </a:solidFill>
              </a:rPr>
              <a:t>VALOR COMERCIAL DA INTERNET</a:t>
            </a:r>
          </a:p>
        </p:txBody>
      </p:sp>
    </p:spTree>
    <p:extLst>
      <p:ext uri="{BB962C8B-B14F-4D97-AF65-F5344CB8AC3E}">
        <p14:creationId xmlns:p14="http://schemas.microsoft.com/office/powerpoint/2010/main" val="2865817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p:cNvSpPr txBox="1"/>
          <p:nvPr/>
        </p:nvSpPr>
        <p:spPr>
          <a:xfrm>
            <a:off x="323528" y="1308824"/>
            <a:ext cx="8592889" cy="5078313"/>
          </a:xfrm>
          <a:prstGeom prst="rect">
            <a:avLst/>
          </a:prstGeom>
          <a:noFill/>
        </p:spPr>
        <p:txBody>
          <a:bodyPr wrap="square" rtlCol="0">
            <a:spAutoFit/>
          </a:bodyPr>
          <a:lstStyle/>
          <a:p>
            <a:pPr marL="6350" lvl="1"/>
            <a:r>
              <a:rPr lang="pt-BR" sz="2700" b="1" dirty="0"/>
              <a:t>A INTRANET é uma rede interna, local à organização, construída sob a estrutura da Internet, ou seja, ela utiliza a infraestrutura de rede já existente na empresa, os padrões de comunicação da Internet (baseado no endereço IP da cada equipamento) e softwares desenvolvidos para a web.</a:t>
            </a:r>
          </a:p>
          <a:p>
            <a:pPr marL="6350" lvl="1"/>
            <a:endParaRPr lang="pt-BR" sz="2700" b="1" dirty="0"/>
          </a:p>
          <a:p>
            <a:pPr marL="6350" lvl="1"/>
            <a:r>
              <a:rPr lang="pt-BR" sz="2700" b="1" dirty="0"/>
              <a:t>A EXTRANET é o acesso externo (pela Internet) à Intranet de uma empresa. Por exemplo, um vendedor pode, mesmo de fora da empresa, acessar o sistema interno e verificar se poderá atender ao pedido do cliente. São estruturas muito úteis para conectar clientes e parceiros às empresas.</a:t>
            </a:r>
          </a:p>
        </p:txBody>
      </p:sp>
      <p:sp>
        <p:nvSpPr>
          <p:cNvPr id="6" name="Retângulo com Único Canto Aparado 5"/>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107504" y="478182"/>
            <a:ext cx="6179769" cy="600164"/>
          </a:xfrm>
          <a:prstGeom prst="rect">
            <a:avLst/>
          </a:prstGeom>
          <a:noFill/>
        </p:spPr>
        <p:txBody>
          <a:bodyPr wrap="none" rtlCol="0">
            <a:spAutoFit/>
          </a:bodyPr>
          <a:lstStyle/>
          <a:p>
            <a:r>
              <a:rPr lang="pt-BR" sz="3300" b="1" dirty="0">
                <a:solidFill>
                  <a:schemeClr val="bg1"/>
                </a:solidFill>
              </a:rPr>
              <a:t>INTERNET: INTRANET X EXTRANET</a:t>
            </a:r>
          </a:p>
        </p:txBody>
      </p:sp>
    </p:spTree>
    <p:extLst>
      <p:ext uri="{BB962C8B-B14F-4D97-AF65-F5344CB8AC3E}">
        <p14:creationId xmlns:p14="http://schemas.microsoft.com/office/powerpoint/2010/main" val="3115289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com Único Canto Aparado 5"/>
          <p:cNvSpPr/>
          <p:nvPr/>
        </p:nvSpPr>
        <p:spPr>
          <a:xfrm>
            <a:off x="0" y="478182"/>
            <a:ext cx="8807756" cy="600164"/>
          </a:xfrm>
          <a:prstGeom prst="snip1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107504" y="478182"/>
            <a:ext cx="6179769" cy="600164"/>
          </a:xfrm>
          <a:prstGeom prst="rect">
            <a:avLst/>
          </a:prstGeom>
          <a:noFill/>
        </p:spPr>
        <p:txBody>
          <a:bodyPr wrap="none" rtlCol="0">
            <a:spAutoFit/>
          </a:bodyPr>
          <a:lstStyle/>
          <a:p>
            <a:r>
              <a:rPr lang="pt-BR" sz="3300" b="1" dirty="0">
                <a:solidFill>
                  <a:schemeClr val="bg1"/>
                </a:solidFill>
              </a:rPr>
              <a:t>INTERNET: INTRANET X EXTRANET</a:t>
            </a:r>
          </a:p>
        </p:txBody>
      </p:sp>
      <p:pic>
        <p:nvPicPr>
          <p:cNvPr id="8" name="Imagem 7"/>
          <p:cNvPicPr/>
          <p:nvPr/>
        </p:nvPicPr>
        <p:blipFill>
          <a:blip r:embed="rId2">
            <a:extLst>
              <a:ext uri="{28A0092B-C50C-407E-A947-70E740481C1C}">
                <a14:useLocalDpi xmlns:a14="http://schemas.microsoft.com/office/drawing/2010/main" val="0"/>
              </a:ext>
            </a:extLst>
          </a:blip>
          <a:srcRect/>
          <a:stretch>
            <a:fillRect/>
          </a:stretch>
        </p:blipFill>
        <p:spPr bwMode="auto">
          <a:xfrm>
            <a:off x="2027614" y="1412776"/>
            <a:ext cx="4752528" cy="5220712"/>
          </a:xfrm>
          <a:prstGeom prst="rect">
            <a:avLst/>
          </a:prstGeom>
          <a:noFill/>
          <a:ln>
            <a:noFill/>
          </a:ln>
        </p:spPr>
      </p:pic>
    </p:spTree>
    <p:extLst>
      <p:ext uri="{BB962C8B-B14F-4D97-AF65-F5344CB8AC3E}">
        <p14:creationId xmlns:p14="http://schemas.microsoft.com/office/powerpoint/2010/main" val="956166794"/>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805</TotalTime>
  <Words>1138</Words>
  <Application>Microsoft Office PowerPoint</Application>
  <PresentationFormat>Apresentação na tela (4:3)</PresentationFormat>
  <Paragraphs>90</Paragraphs>
  <Slides>18</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18</vt:i4>
      </vt:variant>
    </vt:vector>
  </HeadingPairs>
  <TitlesOfParts>
    <vt:vector size="22" baseType="lpstr">
      <vt:lpstr>Arial</vt:lpstr>
      <vt:lpstr>Calibri</vt:lpstr>
      <vt:lpstr>Futura Md BT</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Fred</dc:creator>
  <cp:lastModifiedBy>Luiz Antunes</cp:lastModifiedBy>
  <cp:revision>125</cp:revision>
  <dcterms:created xsi:type="dcterms:W3CDTF">2018-04-18T10:56:15Z</dcterms:created>
  <dcterms:modified xsi:type="dcterms:W3CDTF">2026-09-15T10:18:06Z</dcterms:modified>
</cp:coreProperties>
</file>