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6858000" cy="9144000"/>
  <p:embeddedFontLst>
    <p:embeddedFont>
      <p:font typeface="Poppi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gnNkqfiXsGvyfDUeFZH0gWq2kj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3E28D0-C1FC-4161-8D74-69E781650E89}">
  <a:tblStyle styleId="{083E28D0-C1FC-4161-8D74-69E781650E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Poppi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oppins-bold.fntdata"/><Relationship Id="rId16" Type="http://schemas.openxmlformats.org/officeDocument/2006/relationships/slide" Target="slides/slide10.xml"/><Relationship Id="rId38" Type="http://schemas.openxmlformats.org/officeDocument/2006/relationships/font" Target="fonts/Poppi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24916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6249166"/>
            <a:ext cx="9144000" cy="608834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1" y="3356992"/>
            <a:ext cx="6804249" cy="2088232"/>
          </a:xfrm>
          <a:prstGeom prst="rect">
            <a:avLst/>
          </a:prstGeom>
          <a:solidFill>
            <a:srgbClr val="953734">
              <a:alpha val="3254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3B3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03746" y="3689737"/>
            <a:ext cx="602443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rgbClr val="632423"/>
                </a:solidFill>
                <a:latin typeface="Poppins"/>
                <a:ea typeface="Poppins"/>
                <a:cs typeface="Poppins"/>
                <a:sym typeface="Poppins"/>
              </a:rPr>
              <a:t>O uso das informações pelas organizações</a:t>
            </a:r>
            <a:endParaRPr b="1" sz="4000">
              <a:solidFill>
                <a:srgbClr val="63242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323528" y="1308824"/>
            <a:ext cx="8592889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organizações necessitam de informações além daquelas tradicionalmente fornecidas pelos sistemas 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bibliotecas com fins educativos ou de lazer.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Tais informações são aquelas que possuem valor comercial e que possibilitam maximizar os processos de produção ou viabilizar seu desenvolvimento.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informações de natureza variada podem ser caracterizadas em diferentes tipos: cientifica, tecnológica, estratégica e de negócios. 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323529" y="1308824"/>
            <a:ext cx="813690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INFORMAÇÃO CIENTÍFICA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cientifica é o conhecimento resultante da pesquisa que se acrescenta ao entendimento universal existente.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our-assets.com/fullcover/2000x/9786130155155.jpg"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129796"/>
            <a:ext cx="7782748" cy="541679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250798" y="642754"/>
            <a:ext cx="384861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CIENTÍFICA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250798" y="642754"/>
            <a:ext cx="384861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CIENTÍFICA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ojeto universitÃ¡rio tem sido aprimorado e passa por testes em estruturas de concreto" id="115" name="Google Shape;115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ojeto universitÃ¡rio tem sido aprimorado e passa por testes em estruturas de concreto" id="116" name="Google Shape;116;p5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ojeto universitÃ¡rio tem sido aprimorado e passa por testes em estruturas de concreto" id="117" name="Google Shape;117;p5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23528" y="1242040"/>
            <a:ext cx="8592889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BAGAÇO DE CANA APROVEITADO NA CONSTRUÇÃO CIVIL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universitário tem sido aprimorado e passa por testes em estruturas de concreto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bagaço da cana-de-açúcar se torna areia para a construção civil. O produto desenvolvido por universitários é mais eficiente do que a areia convencional em deixar o concreto mais durável, além de ser benéfica ao meio ambiente.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usinagem e a industrialização produzem uma série de bagaços de cana, maiores ou menores, mais ou menos densos e com diferentes granularidades. O bagaço que mais se aproxima da areia convencional é o deixado pelos últimos processamentos da cana, o que gera uma cinza de bagaço fina e homogênea. O que os pesquisadores têm feito é processar os “pré-bagaços”, a fim de que se tornem igualmente finos para o uso na construção civil, em um processo que não dura mais do que algumas horas.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não é aproveitada em forma de biomassa ou utilizada com areia para a construção civil, o destino final do bagaço de cana da indústria do açúcar e do álcool tem sido muito pouco eficiente há décadas: processa-se o bagaço e se joga de volta na lavoura. Por mais que ele possa servir de fertilizante, é uma substância pobre em nutrientes, e a repetição de culturas enfraquece ainda mais o solo.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323529" y="1308824"/>
            <a:ext cx="813690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INFORMAÇÃO TECNOLÓGICA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tecnológica é todo tipo de conhecimento relacionado com o modo de fazer um produto ou prestar um serviço, tendo como objetivo a sua colocação no mercado.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250798" y="570746"/>
            <a:ext cx="43812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TECNOLÓGICA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m relacionada"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421" y="1124744"/>
            <a:ext cx="8433654" cy="562243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83" y="1124744"/>
            <a:ext cx="8817268" cy="542468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144411" y="570746"/>
            <a:ext cx="438126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TECNOLÓGICA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323529" y="1308824"/>
            <a:ext cx="8136904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INFORMAÇÃO ESTRATÉGICA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estratégica é a que se refere ao conhecimento das tendências do mercado, das conjunturas econômicas que afetam o comportamento do mercado, das empresas fornecedoras de insumos, matérias-primas e produtos concorrentes das organizações concorrentes, e implantação ou em expansão e do seu ambiente operacional.</a:t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/>
        </p:nvSpPr>
        <p:spPr>
          <a:xfrm>
            <a:off x="250798" y="642754"/>
            <a:ext cx="422051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ESTRATÉGICA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m para TENDÃNCIA DE MERCADO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798" y="1152210"/>
            <a:ext cx="8799366" cy="55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797" y="1178867"/>
            <a:ext cx="4748597" cy="47704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4" name="Google Shape;164;p11"/>
          <p:cNvSpPr txBox="1"/>
          <p:nvPr/>
        </p:nvSpPr>
        <p:spPr>
          <a:xfrm>
            <a:off x="250798" y="570746"/>
            <a:ext cx="422051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ESTRATÉGICA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1312" y="2268041"/>
            <a:ext cx="4256033" cy="44013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66" name="Google Shape;166;p11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/>
        </p:nvSpPr>
        <p:spPr>
          <a:xfrm>
            <a:off x="323529" y="1308824"/>
            <a:ext cx="813690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INFORMAÇÃO DE NEGÓCIO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de negócios é aquela que subsidia o processo decisório do gerenciamento das empresas industriais, de prestação de serviços e comerciais, nos seguintes aspectos: companhias, produtos, finanças, estatísticas, legislação e mercado.</a:t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/>
        </p:nvSpPr>
        <p:spPr>
          <a:xfrm>
            <a:off x="250798" y="776798"/>
            <a:ext cx="411548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DE NEGÓCIO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m relacionada"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397" y="1546820"/>
            <a:ext cx="857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3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 relacionada"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1419629"/>
            <a:ext cx="8568952" cy="481768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250798" y="793623"/>
            <a:ext cx="411548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DE NEGÓCIO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/>
        </p:nvSpPr>
        <p:spPr>
          <a:xfrm>
            <a:off x="250798" y="681761"/>
            <a:ext cx="472738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Informação PARA NEGÓCIO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m relacionada"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03" y="1307767"/>
            <a:ext cx="5289101" cy="3057337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m relacionada" id="197" name="Google Shape;1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8333" y="3933056"/>
            <a:ext cx="4629150" cy="280035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8" name="Google Shape;198;p15"/>
          <p:cNvSpPr/>
          <p:nvPr/>
        </p:nvSpPr>
        <p:spPr>
          <a:xfrm>
            <a:off x="0" y="16914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250798" y="16914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/>
        </p:nvSpPr>
        <p:spPr>
          <a:xfrm>
            <a:off x="323529" y="1308824"/>
            <a:ext cx="8136904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Embora existam classificações distintas para os diferentes tipos de informação, há uma superposição entre a sua natureza e função, uma complementando a outra, ou ainda, uma como consequência da outra.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Inclui-se ainda, outros tipos tais como: comercial, econômico-financeira, regulamentar e jurídica, ambiental e de segurança, formando a base de conhecimento utilizada para tomada de decisão nas organizações.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/>
        </p:nvSpPr>
        <p:spPr>
          <a:xfrm>
            <a:off x="323529" y="1308824"/>
            <a:ext cx="813690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diferentes tipos de informações apresentam dimensões diversas dependendo da forma de veiculação e conforme o conteúdo e meios utilizados. Adquirem formatos específicos para facilitar sua divulgação e utilização, em função dos diferentes veículos de comunicação existentes.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Envolve, ainda, a busca para objetivos diferenciados. Dentre eles, destacam-se: questões de pesquisas de melhoria contínua de processos, de inovação e avaliação de tecnologias, de formação de competências em mercados concorridos etc.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/>
        </p:nvSpPr>
        <p:spPr>
          <a:xfrm>
            <a:off x="323529" y="1308824"/>
            <a:ext cx="8136904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fim, as fontes à disposição das organizações apresentam-se em diversos suportes, do meio impresso ao digitalizado.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o avanço das tecnologias de informação tem ocorrido um esforço enorme no sentido de aumentar a oferta de fontes em meio eletrônico.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/>
        </p:nvSpPr>
        <p:spPr>
          <a:xfrm>
            <a:off x="323529" y="1308824"/>
            <a:ext cx="8136904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PERSPECTIVA NA ADMINISTRAÇÃO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sucesso de um sistema de informação não deve ser medido apenas por sua eficiência em termos de minimização de custos, tempo e uso de recursos de informação. Deve ser medido também pela eficácia da TI no apoio de uma organização no que se refere a: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Estratégias de negócios;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Capacitação de seus processos empresariais;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Reforço de suas estruturas e cultura organizacionais;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Aumento do valor do empreendimento em um ambiente de negócios dinâmico.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0" y="478182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250798" y="478182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323529" y="1163298"/>
            <a:ext cx="8136904" cy="5616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DESAFIOS GERENCIAIS DA 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usuários finais gerenciais, a função dos sistemas de informação representa: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fator que afeta a eficiência operacional, moral e produtividade dos funcionários e satisfação do cliente;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 de informação e apoio necessária para promover a decisão eficaz dos gerentes;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ingrediente importante no desenvolvimento de produtos e serviços competitivos que conferem à organização uma vantagem estratégica no mercado;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oportunidade vital, dinâmica e desafiadora de carreira para muitas pessoas.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323529" y="1163298"/>
            <a:ext cx="8136904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SUCESSO E FRACASSO COM SI E A 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importante perceber que a tecnologia e os sistemas de informação podem ser mal administrados e mal aplicados de forma a produzirem tanto o fracasso tecnológico como o da empresa.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467544" y="3761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{083E28D0-C1FC-4161-8D74-69E781650E89}</a:tableStyleId>
              </a:tblPr>
              <a:tblGrid>
                <a:gridCol w="4187675"/>
                <a:gridCol w="4152525"/>
              </a:tblGrid>
              <a:tr h="35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chemeClr val="lt1"/>
                          </a:solidFill>
                        </a:rPr>
                        <a:t>As Cinco Razões para o Sucesso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6324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chemeClr val="lt1"/>
                          </a:solidFill>
                        </a:rPr>
                        <a:t>As Cinco Razões para o Fracasso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632423"/>
                    </a:solidFill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Envolvimento do usuário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Ausência de entrada de usuários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</a:tr>
              <a:tr h="6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Apoio à administração executiva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Requisitos e especificações incompletas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D99593"/>
                    </a:solidFill>
                  </a:tcPr>
                </a:tc>
              </a:tr>
              <a:tr h="6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Clara declaração de requisitos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Alteração dos requisitos e especificações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Planejamento adequado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D995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Falta de apoio executivo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>
                    <a:solidFill>
                      <a:srgbClr val="D99593"/>
                    </a:solidFill>
                  </a:tcPr>
                </a:tc>
              </a:tr>
              <a:tr h="3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Expectativas realistas 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/>
                        <a:t>Incompetência tecnológica 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62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/>
        </p:nvSpPr>
        <p:spPr>
          <a:xfrm>
            <a:off x="323529" y="1163298"/>
            <a:ext cx="8136904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PAPÉIS FUNDAMENTAIS DOS SI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sistemas de informação desempenham três papéis vitais em qualquer tipo de organização. Ou seja, eles apoiam uma organização no que se refere a: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Processos e operações das empresas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Tomada de decisões de seus funcionários e gerentes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em busca de vantagem competitiva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323529" y="1163298"/>
            <a:ext cx="8136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PAPÉIS FUNDAMENTAIS DOS SI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478" y="2060848"/>
            <a:ext cx="5960799" cy="400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/>
        </p:nvSpPr>
        <p:spPr>
          <a:xfrm>
            <a:off x="323529" y="1163298"/>
            <a:ext cx="8136904" cy="3770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PAPÉIS FUNDAMENTAIS DOS SI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Vários desenvolvimentos fundamentais que causam impacto na utilização da TI nos negócios incluem: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Internet e os negócios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Empreendimento conectado à Internet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Globalização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Reengenharia de processos empresariais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pt-BR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Utilização da TI em busca de vantagem competitiva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/>
        </p:nvSpPr>
        <p:spPr>
          <a:xfrm>
            <a:off x="323529" y="1163298"/>
            <a:ext cx="8136904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QUESTÕES ÉTICA DA 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necessário estar ciente de responsabilidades éticas geradas pelo uso da TI, como: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usos poderiam ser considerados impróprios, irresponsáveis ou prejudiciais a outros indivíduos ou para a sociedade?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é o uso correto dos recursos de informação de uma organização?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necessário para ser um usuário final responsável?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b="1" i="0" lang="pt-BR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você pode se proteger do crime com o uso do computador e outros riscos?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/>
        </p:nvSpPr>
        <p:spPr>
          <a:xfrm>
            <a:off x="323529" y="1163298"/>
            <a:ext cx="8136904" cy="26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QUESTÕES ÉTICAS DA TI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dimensões éticas de sistemas de informação tratam de garantir que a TI e os sistemas de informação não são utilizados de um modo impróprio ou irresponsável contra outros indivíduos ou a sociedade.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/>
        </p:nvSpPr>
        <p:spPr>
          <a:xfrm>
            <a:off x="323529" y="1163298"/>
            <a:ext cx="8136904" cy="3339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SI NA RESOLUÇÃO DE PROBLEMAS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realidade empresarial os problemas envolve simultaneamente uma série de fatores. Esses fatores podem ser agrupados em três categorias, sendo: 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ORGANIZAÇÃO;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TECNOLOGIA; e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PESSOAS</a:t>
            </a:r>
            <a:r>
              <a:rPr b="1" i="0" lang="pt-BR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/>
        </p:nvSpPr>
        <p:spPr>
          <a:xfrm>
            <a:off x="323529" y="1163298"/>
            <a:ext cx="8136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SI NA RESOLUÇÃO DE PROBLEMAS</a:t>
            </a:r>
            <a:endParaRPr/>
          </a:p>
        </p:txBody>
      </p:sp>
      <p:sp>
        <p:nvSpPr>
          <p:cNvPr id="291" name="Google Shape;291;p28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36" y="1718187"/>
            <a:ext cx="3312368" cy="489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"/>
          <p:cNvSpPr txBox="1"/>
          <p:nvPr/>
        </p:nvSpPr>
        <p:spPr>
          <a:xfrm>
            <a:off x="323529" y="1163298"/>
            <a:ext cx="81369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SI NA RESOLUÇÃO DE PROBLEMAS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29"/>
          <p:cNvGraphicFramePr/>
          <p:nvPr/>
        </p:nvGraphicFramePr>
        <p:xfrm>
          <a:off x="448665" y="174645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{083E28D0-C1FC-4161-8D74-69E781650E89}</a:tableStyleId>
              </a:tblPr>
              <a:tblGrid>
                <a:gridCol w="1891075"/>
                <a:gridCol w="6033725"/>
              </a:tblGrid>
              <a:tr h="995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Dimensão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Descrição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rowSpan="6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Dimensões organizacionais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Processos organizacionais ultrapassados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Atitudes e culturas pouco colaborativas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Conflitos políticos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Ambiente organizacional turbulento ou em mutação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Complexidade da tarefa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Recursos inadequados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rowSpan="6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Dimensões tecnológicas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Hardware antigo ou insuficiente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Software ultrapassado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Capacidade inadequada do banco de dados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Capacidade insuficiente de telecomunicações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Incompatibilidade dos velhos sistemas com as novas tecnologias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Mudança tecnológica acelerada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rowSpan="6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Dimensões humanas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Falta de treinamento dos funcionários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Dificuldades para avaliar o desempenho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Exigências regulatórias e legais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Ambiente de trabalho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Falta de participação dos funcionários e de apoio a eles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500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/>
                        <a:t>Administração indecisa ou deficiente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/>
        </p:nvSpPr>
        <p:spPr>
          <a:xfrm>
            <a:off x="323529" y="1163298"/>
            <a:ext cx="8136904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ESTRATÉGIAS COMPETITIVAS APOIADAS EM SI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TI pode ser utilizada para implementar uma diversidade de estratégias competitivas. Cita-se como exemplo: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Concorrentes de uma empresa;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de uma empresa;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Fornecedores de uma empresa;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Potenciais concorrentes novos em seu ramo; 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Empresas que oferecem substitutos para seus produtos e serviços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/>
        </p:nvSpPr>
        <p:spPr>
          <a:xfrm>
            <a:off x="323529" y="1163298"/>
            <a:ext cx="8136904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632423"/>
                </a:solidFill>
                <a:latin typeface="Calibri"/>
                <a:ea typeface="Calibri"/>
                <a:cs typeface="Calibri"/>
                <a:sym typeface="Calibri"/>
              </a:rPr>
              <a:t>ESTRATÉGIAS COMPETITIVAS APOIADAS EM SI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Várias estratégias competitivas podem ser desenvolvidas para ajudar uma empresa a confrontar estas forças competitivas. Elas incluem: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de Custo;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de Diferenciação;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Estratégias de Inovação;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Promoção do crescimento;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 de alianças;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Reter clientes e fornecedores;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Embutir custos de troca;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Erguer barreiras ao ingresso; e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Alavancar o investimento em tecnologia da informação.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0" y="332656"/>
            <a:ext cx="8807756" cy="600164"/>
          </a:xfrm>
          <a:prstGeom prst="snip1Rect">
            <a:avLst>
              <a:gd fmla="val 16667" name="adj"/>
            </a:avLst>
          </a:prstGeom>
          <a:solidFill>
            <a:srgbClr val="953734"/>
          </a:solidFill>
          <a:ln cap="flat" cmpd="sng" w="2540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250798" y="332656"/>
            <a:ext cx="8556958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DAS INFORMAÇÕES PELAS ORGANIZAÇÕES</a:t>
            </a:r>
            <a:endParaRPr b="1" sz="3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2018-04-18T10:56:15Z</dcterms:created>
  <dc:creator>Fred</dc:creator>
</cp:coreProperties>
</file>