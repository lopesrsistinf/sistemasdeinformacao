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384" r:id="rId3"/>
    <p:sldId id="385" r:id="rId4"/>
    <p:sldId id="279" r:id="rId5"/>
    <p:sldId id="281" r:id="rId6"/>
    <p:sldId id="308" r:id="rId7"/>
    <p:sldId id="282" r:id="rId8"/>
    <p:sldId id="387" r:id="rId9"/>
    <p:sldId id="388" r:id="rId10"/>
    <p:sldId id="310" r:id="rId11"/>
    <p:sldId id="311" r:id="rId12"/>
    <p:sldId id="313" r:id="rId13"/>
    <p:sldId id="267" r:id="rId14"/>
    <p:sldId id="314" r:id="rId15"/>
    <p:sldId id="258" r:id="rId16"/>
    <p:sldId id="315" r:id="rId17"/>
    <p:sldId id="259" r:id="rId18"/>
    <p:sldId id="262" r:id="rId19"/>
    <p:sldId id="271" r:id="rId20"/>
    <p:sldId id="272" r:id="rId21"/>
    <p:sldId id="273" r:id="rId22"/>
    <p:sldId id="263" r:id="rId23"/>
    <p:sldId id="264" r:id="rId24"/>
    <p:sldId id="268" r:id="rId25"/>
    <p:sldId id="283" r:id="rId26"/>
    <p:sldId id="290" r:id="rId27"/>
    <p:sldId id="291" r:id="rId28"/>
    <p:sldId id="284" r:id="rId29"/>
    <p:sldId id="285" r:id="rId30"/>
    <p:sldId id="286" r:id="rId31"/>
    <p:sldId id="292" r:id="rId32"/>
    <p:sldId id="293" r:id="rId33"/>
    <p:sldId id="294" r:id="rId34"/>
    <p:sldId id="389" r:id="rId35"/>
    <p:sldId id="390" r:id="rId36"/>
    <p:sldId id="391" r:id="rId37"/>
    <p:sldId id="392" r:id="rId38"/>
    <p:sldId id="393" r:id="rId39"/>
    <p:sldId id="394" r:id="rId40"/>
    <p:sldId id="395" r:id="rId41"/>
    <p:sldId id="396" r:id="rId42"/>
    <p:sldId id="382" r:id="rId43"/>
    <p:sldId id="383" r:id="rId44"/>
    <p:sldId id="318" r:id="rId45"/>
    <p:sldId id="320" r:id="rId46"/>
    <p:sldId id="312" r:id="rId47"/>
    <p:sldId id="295" r:id="rId48"/>
    <p:sldId id="296" r:id="rId49"/>
    <p:sldId id="297" r:id="rId50"/>
    <p:sldId id="298" r:id="rId51"/>
    <p:sldId id="321" r:id="rId52"/>
    <p:sldId id="378" r:id="rId53"/>
    <p:sldId id="379" r:id="rId54"/>
    <p:sldId id="380" r:id="rId55"/>
    <p:sldId id="381" r:id="rId56"/>
    <p:sldId id="323" r:id="rId57"/>
    <p:sldId id="324" r:id="rId58"/>
    <p:sldId id="325" r:id="rId59"/>
    <p:sldId id="326" r:id="rId60"/>
    <p:sldId id="327" r:id="rId61"/>
    <p:sldId id="328" r:id="rId62"/>
    <p:sldId id="329" r:id="rId63"/>
    <p:sldId id="330" r:id="rId64"/>
    <p:sldId id="331" r:id="rId65"/>
    <p:sldId id="332" r:id="rId66"/>
    <p:sldId id="333" r:id="rId67"/>
    <p:sldId id="334" r:id="rId68"/>
    <p:sldId id="335" r:id="rId69"/>
    <p:sldId id="336" r:id="rId70"/>
    <p:sldId id="337" r:id="rId71"/>
    <p:sldId id="397" r:id="rId72"/>
    <p:sldId id="338" r:id="rId73"/>
    <p:sldId id="339" r:id="rId74"/>
    <p:sldId id="340" r:id="rId75"/>
    <p:sldId id="341" r:id="rId76"/>
    <p:sldId id="342" r:id="rId77"/>
    <p:sldId id="343" r:id="rId78"/>
    <p:sldId id="344" r:id="rId79"/>
    <p:sldId id="345" r:id="rId80"/>
    <p:sldId id="346" r:id="rId81"/>
    <p:sldId id="347" r:id="rId82"/>
    <p:sldId id="348" r:id="rId83"/>
    <p:sldId id="349" r:id="rId84"/>
    <p:sldId id="350" r:id="rId85"/>
    <p:sldId id="351" r:id="rId86"/>
    <p:sldId id="352" r:id="rId87"/>
    <p:sldId id="398" r:id="rId88"/>
    <p:sldId id="353" r:id="rId89"/>
    <p:sldId id="354" r:id="rId90"/>
    <p:sldId id="355" r:id="rId91"/>
    <p:sldId id="356" r:id="rId92"/>
    <p:sldId id="357" r:id="rId93"/>
    <p:sldId id="358" r:id="rId94"/>
    <p:sldId id="359" r:id="rId95"/>
    <p:sldId id="360" r:id="rId96"/>
    <p:sldId id="361" r:id="rId97"/>
    <p:sldId id="362" r:id="rId98"/>
    <p:sldId id="363" r:id="rId99"/>
    <p:sldId id="399" r:id="rId100"/>
    <p:sldId id="364" r:id="rId101"/>
    <p:sldId id="400" r:id="rId102"/>
    <p:sldId id="365" r:id="rId103"/>
    <p:sldId id="366" r:id="rId104"/>
    <p:sldId id="367" r:id="rId105"/>
    <p:sldId id="368" r:id="rId106"/>
    <p:sldId id="369" r:id="rId107"/>
    <p:sldId id="370" r:id="rId108"/>
    <p:sldId id="371" r:id="rId109"/>
    <p:sldId id="372" r:id="rId110"/>
    <p:sldId id="373" r:id="rId111"/>
    <p:sldId id="374" r:id="rId112"/>
    <p:sldId id="375" r:id="rId113"/>
    <p:sldId id="376" r:id="rId114"/>
    <p:sldId id="401" r:id="rId115"/>
    <p:sldId id="377" r:id="rId116"/>
    <p:sldId id="386" r:id="rId117"/>
    <p:sldId id="402" r:id="rId118"/>
    <p:sldId id="403" r:id="rId119"/>
    <p:sldId id="404" r:id="rId120"/>
  </p:sldIdLst>
  <p:sldSz cx="9144000" cy="6858000" type="screen4x3"/>
  <p:notesSz cx="6858000" cy="9144000"/>
  <p:defaultTextStyle>
    <a:defPPr>
      <a:defRPr lang="pt-B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15" autoAdjust="0"/>
    <p:restoredTop sz="94660"/>
  </p:normalViewPr>
  <p:slideViewPr>
    <p:cSldViewPr>
      <p:cViewPr>
        <p:scale>
          <a:sx n="114" d="100"/>
          <a:sy n="114" d="100"/>
        </p:scale>
        <p:origin x="-153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estilo do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pt-BR" smtClean="0"/>
              <a:t>Clique para editar o estilo do subtítulo mestre</a:t>
            </a:r>
            <a:endParaRPr lang="pt-B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5607B8C6-BBA2-47DB-9C6D-95BF46DD3338}" type="slidenum">
              <a:rPr lang="pt-BR"/>
              <a:pPr>
                <a:defRPr/>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F8CE7BAE-FDC1-4EAF-AED5-31A939181E9D}" type="slidenum">
              <a:rPr lang="pt-BR"/>
              <a:pPr>
                <a:defRPr/>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t-BR" smtClean="0"/>
              <a:t>Clique para editar os estilos do texto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64A4BE01-AB67-48BE-BADA-074CBF887D67}" type="slidenum">
              <a:rPr lang="pt-BR"/>
              <a:pPr>
                <a:defRPr/>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pPr>
              <a:defRPr/>
            </a:pPr>
            <a:fld id="{1EC7F20A-6AD7-44D5-8C63-95F88EA6A3E1}" type="slidenum">
              <a:rPr lang="pt-BR"/>
              <a:pPr>
                <a:defRPr/>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Rectangle 4"/>
          <p:cNvSpPr>
            <a:spLocks noGrp="1" noChangeArrowheads="1"/>
          </p:cNvSpPr>
          <p:nvPr>
            <p:ph type="dt" sz="half" idx="10"/>
          </p:nvPr>
        </p:nvSpPr>
        <p:spPr>
          <a:ln/>
        </p:spPr>
        <p:txBody>
          <a:bodyPr/>
          <a:lstStyle>
            <a:lvl1pPr>
              <a:defRPr/>
            </a:lvl1pPr>
          </a:lstStyle>
          <a:p>
            <a:pPr>
              <a:defRPr/>
            </a:pPr>
            <a:endParaRPr lang="pt-BR"/>
          </a:p>
        </p:txBody>
      </p:sp>
      <p:sp>
        <p:nvSpPr>
          <p:cNvPr id="8" name="Rectangle 5"/>
          <p:cNvSpPr>
            <a:spLocks noGrp="1" noChangeArrowheads="1"/>
          </p:cNvSpPr>
          <p:nvPr>
            <p:ph type="ftr" sz="quarter" idx="11"/>
          </p:nvPr>
        </p:nvSpPr>
        <p:spPr>
          <a:ln/>
        </p:spPr>
        <p:txBody>
          <a:bodyPr/>
          <a:lstStyle>
            <a:lvl1pPr>
              <a:defRPr/>
            </a:lvl1pPr>
          </a:lstStyle>
          <a:p>
            <a:pPr>
              <a:defRPr/>
            </a:pPr>
            <a:endParaRPr lang="pt-BR"/>
          </a:p>
        </p:txBody>
      </p:sp>
      <p:sp>
        <p:nvSpPr>
          <p:cNvPr id="9" name="Rectangle 6"/>
          <p:cNvSpPr>
            <a:spLocks noGrp="1" noChangeArrowheads="1"/>
          </p:cNvSpPr>
          <p:nvPr>
            <p:ph type="sldNum" sz="quarter" idx="12"/>
          </p:nvPr>
        </p:nvSpPr>
        <p:spPr>
          <a:ln/>
        </p:spPr>
        <p:txBody>
          <a:bodyPr/>
          <a:lstStyle>
            <a:lvl1pPr>
              <a:defRPr/>
            </a:lvl1pPr>
          </a:lstStyle>
          <a:p>
            <a:pPr>
              <a:defRPr/>
            </a:pPr>
            <a:fld id="{9EEA5163-140F-462B-8882-EF5E345317FB}" type="slidenum">
              <a:rPr lang="pt-BR"/>
              <a:pPr>
                <a:defRPr/>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Rectangle 4"/>
          <p:cNvSpPr>
            <a:spLocks noGrp="1" noChangeArrowheads="1"/>
          </p:cNvSpPr>
          <p:nvPr>
            <p:ph type="dt" sz="half" idx="10"/>
          </p:nvPr>
        </p:nvSpPr>
        <p:spPr>
          <a:ln/>
        </p:spPr>
        <p:txBody>
          <a:bodyPr/>
          <a:lstStyle>
            <a:lvl1pPr>
              <a:defRPr/>
            </a:lvl1pPr>
          </a:lstStyle>
          <a:p>
            <a:pPr>
              <a:defRPr/>
            </a:pPr>
            <a:endParaRPr lang="pt-BR"/>
          </a:p>
        </p:txBody>
      </p:sp>
      <p:sp>
        <p:nvSpPr>
          <p:cNvPr id="4" name="Rectangle 5"/>
          <p:cNvSpPr>
            <a:spLocks noGrp="1" noChangeArrowheads="1"/>
          </p:cNvSpPr>
          <p:nvPr>
            <p:ph type="ftr" sz="quarter" idx="11"/>
          </p:nvPr>
        </p:nvSpPr>
        <p:spPr>
          <a:ln/>
        </p:spPr>
        <p:txBody>
          <a:bodyPr/>
          <a:lstStyle>
            <a:lvl1pPr>
              <a:defRPr/>
            </a:lvl1pPr>
          </a:lstStyle>
          <a:p>
            <a:pPr>
              <a:defRPr/>
            </a:pPr>
            <a:endParaRPr lang="pt-BR"/>
          </a:p>
        </p:txBody>
      </p:sp>
      <p:sp>
        <p:nvSpPr>
          <p:cNvPr id="5" name="Rectangle 6"/>
          <p:cNvSpPr>
            <a:spLocks noGrp="1" noChangeArrowheads="1"/>
          </p:cNvSpPr>
          <p:nvPr>
            <p:ph type="sldNum" sz="quarter" idx="12"/>
          </p:nvPr>
        </p:nvSpPr>
        <p:spPr>
          <a:ln/>
        </p:spPr>
        <p:txBody>
          <a:bodyPr/>
          <a:lstStyle>
            <a:lvl1pPr>
              <a:defRPr/>
            </a:lvl1pPr>
          </a:lstStyle>
          <a:p>
            <a:pPr>
              <a:defRPr/>
            </a:pPr>
            <a:fld id="{F59AF46B-3A2E-473F-A6D6-1980A15A48BF}" type="slidenum">
              <a:rPr lang="pt-BR"/>
              <a:pPr>
                <a:defRPr/>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t-BR"/>
          </a:p>
        </p:txBody>
      </p:sp>
      <p:sp>
        <p:nvSpPr>
          <p:cNvPr id="3" name="Rectangle 5"/>
          <p:cNvSpPr>
            <a:spLocks noGrp="1" noChangeArrowheads="1"/>
          </p:cNvSpPr>
          <p:nvPr>
            <p:ph type="ftr" sz="quarter" idx="11"/>
          </p:nvPr>
        </p:nvSpPr>
        <p:spPr>
          <a:ln/>
        </p:spPr>
        <p:txBody>
          <a:bodyPr/>
          <a:lstStyle>
            <a:lvl1pPr>
              <a:defRPr/>
            </a:lvl1pPr>
          </a:lstStyle>
          <a:p>
            <a:pPr>
              <a:defRPr/>
            </a:pPr>
            <a:endParaRPr lang="pt-BR"/>
          </a:p>
        </p:txBody>
      </p:sp>
      <p:sp>
        <p:nvSpPr>
          <p:cNvPr id="4" name="Rectangle 6"/>
          <p:cNvSpPr>
            <a:spLocks noGrp="1" noChangeArrowheads="1"/>
          </p:cNvSpPr>
          <p:nvPr>
            <p:ph type="sldNum" sz="quarter" idx="12"/>
          </p:nvPr>
        </p:nvSpPr>
        <p:spPr>
          <a:ln/>
        </p:spPr>
        <p:txBody>
          <a:bodyPr/>
          <a:lstStyle>
            <a:lvl1pPr>
              <a:defRPr/>
            </a:lvl1pPr>
          </a:lstStyle>
          <a:p>
            <a:pPr>
              <a:defRPr/>
            </a:pPr>
            <a:fld id="{62F3E0F7-8E31-4201-817F-ECB5685F6431}" type="slidenum">
              <a:rPr lang="pt-BR"/>
              <a:pPr>
                <a:defRPr/>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estilo do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pPr>
              <a:defRPr/>
            </a:pPr>
            <a:fld id="{EA29D3A2-7A69-4EC8-9AA0-423F84148728}" type="slidenum">
              <a:rPr lang="pt-BR"/>
              <a:pPr>
                <a:defRPr/>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estilo do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smtClean="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pPr>
              <a:defRPr/>
            </a:pPr>
            <a:fld id="{263CEFE4-A3E7-42BD-8E4E-7A660B01D5F8}" type="slidenum">
              <a:rPr lang="pt-BR"/>
              <a:pPr>
                <a:defRPr/>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C770EEC6-14FA-4058-B59F-25A8395BF12A}" type="slidenum">
              <a:rPr lang="pt-BR"/>
              <a:pPr>
                <a:defRPr/>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349B7A5F-97A1-4E68-AAFE-41DE9ACEA066}" type="slidenum">
              <a:rPr lang="pt-BR"/>
              <a:pPr>
                <a:defRPr/>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pt-BR" smtClean="0"/>
              <a:t>Clique para editar o estilo do título mestre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pt-B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pt-B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7ABFD827-FC39-4B28-9B71-D2ABDA2E53BF}" type="slidenum">
              <a:rPr lang="pt-BR"/>
              <a:pPr>
                <a:defRPr/>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project%20charter.doc"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ALTERNATIVA.xls"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2.emf"/></Relationships>
</file>

<file path=ppt/slides/_rels/slide8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hyperlink" Target="riscos%20Unimontes.xls"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pt-BR" smtClean="0"/>
              <a:t>Metodologia de Projetos</a:t>
            </a:r>
          </a:p>
        </p:txBody>
      </p:sp>
      <p:sp>
        <p:nvSpPr>
          <p:cNvPr id="2051" name="Rectangle 3"/>
          <p:cNvSpPr>
            <a:spLocks noGrp="1" noChangeArrowheads="1"/>
          </p:cNvSpPr>
          <p:nvPr>
            <p:ph type="subTitle" idx="1"/>
          </p:nvPr>
        </p:nvSpPr>
        <p:spPr/>
        <p:txBody>
          <a:bodyPr/>
          <a:lstStyle/>
          <a:p>
            <a:pPr eaLnBrk="1" hangingPunct="1"/>
            <a:r>
              <a:rPr lang="pt-BR" dirty="0" smtClean="0"/>
              <a:t>Prof. MSC Luiz </a:t>
            </a:r>
            <a:r>
              <a:rPr lang="pt-BR" dirty="0" err="1" smtClean="0"/>
              <a:t>Antonio</a:t>
            </a:r>
            <a:r>
              <a:rPr lang="pt-BR" dirty="0" smtClean="0"/>
              <a:t> </a:t>
            </a:r>
            <a:r>
              <a:rPr lang="pt-BR" dirty="0" smtClean="0"/>
              <a:t>Antunes</a:t>
            </a:r>
            <a:endParaRPr lang="pt-BR"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1443038"/>
            <a:ext cx="9010650" cy="397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13693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4914"/>
            <a:ext cx="9144000" cy="353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04046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pt-BR" smtClean="0"/>
              <a:t>Projeto</a:t>
            </a:r>
          </a:p>
        </p:txBody>
      </p:sp>
      <p:sp>
        <p:nvSpPr>
          <p:cNvPr id="4" name="Espaço Reservado para Conteúdo 3"/>
          <p:cNvSpPr>
            <a:spLocks noGrp="1"/>
          </p:cNvSpPr>
          <p:nvPr>
            <p:ph idx="1"/>
          </p:nvPr>
        </p:nvSpPr>
        <p:spPr/>
        <p:txBody>
          <a:bodyPr/>
          <a:lstStyle/>
          <a:p>
            <a:endParaRPr lang="pt-BR"/>
          </a:p>
        </p:txBody>
      </p:sp>
      <p:pic>
        <p:nvPicPr>
          <p:cNvPr id="7172" name="Picture 4"/>
          <p:cNvPicPr>
            <a:picLocks noChangeAspect="1" noChangeArrowheads="1"/>
          </p:cNvPicPr>
          <p:nvPr/>
        </p:nvPicPr>
        <p:blipFill>
          <a:blip r:embed="rId2"/>
          <a:srcRect/>
          <a:stretch>
            <a:fillRect/>
          </a:stretch>
        </p:blipFill>
        <p:spPr bwMode="auto">
          <a:xfrm>
            <a:off x="-812" y="1371600"/>
            <a:ext cx="9144812" cy="44529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endParaRPr lang="pt-BR" smtClean="0"/>
          </a:p>
        </p:txBody>
      </p:sp>
      <p:pic>
        <p:nvPicPr>
          <p:cNvPr id="8196" name="Picture 4"/>
          <p:cNvPicPr>
            <a:picLocks noChangeAspect="1" noChangeArrowheads="1"/>
          </p:cNvPicPr>
          <p:nvPr/>
        </p:nvPicPr>
        <p:blipFill>
          <a:blip r:embed="rId2"/>
          <a:srcRect/>
          <a:stretch>
            <a:fillRect/>
          </a:stretch>
        </p:blipFill>
        <p:spPr bwMode="auto">
          <a:xfrm>
            <a:off x="1" y="457200"/>
            <a:ext cx="9379810" cy="579784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57346" name="Picture 2"/>
          <p:cNvPicPr>
            <a:picLocks noChangeAspect="1" noChangeArrowheads="1"/>
          </p:cNvPicPr>
          <p:nvPr/>
        </p:nvPicPr>
        <p:blipFill>
          <a:blip r:embed="rId2"/>
          <a:srcRect/>
          <a:stretch>
            <a:fillRect/>
          </a:stretch>
        </p:blipFill>
        <p:spPr bwMode="auto">
          <a:xfrm>
            <a:off x="990601" y="418296"/>
            <a:ext cx="6510338" cy="547291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228600" y="304800"/>
            <a:ext cx="8686800" cy="6248400"/>
          </a:xfrm>
        </p:spPr>
        <p:txBody>
          <a:bodyPr/>
          <a:lstStyle/>
          <a:p>
            <a:pPr algn="just" eaLnBrk="1" hangingPunct="1">
              <a:buFontTx/>
              <a:buNone/>
            </a:pPr>
            <a:r>
              <a:rPr lang="pt-BR" dirty="0" smtClean="0"/>
              <a:t>O Project Management </a:t>
            </a:r>
            <a:r>
              <a:rPr lang="pt-BR" dirty="0" err="1" smtClean="0"/>
              <a:t>Body</a:t>
            </a:r>
            <a:r>
              <a:rPr lang="pt-BR" dirty="0" smtClean="0"/>
              <a:t> </a:t>
            </a:r>
            <a:r>
              <a:rPr lang="pt-BR" dirty="0" err="1" smtClean="0"/>
              <a:t>of</a:t>
            </a:r>
            <a:r>
              <a:rPr lang="pt-BR" dirty="0" smtClean="0"/>
              <a:t> </a:t>
            </a:r>
            <a:r>
              <a:rPr lang="pt-BR" dirty="0" err="1" smtClean="0"/>
              <a:t>Knowledge</a:t>
            </a:r>
            <a:r>
              <a:rPr lang="pt-BR" dirty="0" smtClean="0"/>
              <a:t>, também conhecido como PMBOK® é um conjunto de práticas em gerência de projetos levantado pelo Project Management </a:t>
            </a:r>
            <a:r>
              <a:rPr lang="pt-BR" dirty="0" err="1" smtClean="0"/>
              <a:t>Institute</a:t>
            </a:r>
            <a:r>
              <a:rPr lang="pt-BR" dirty="0" smtClean="0"/>
              <a:t> (PMI) e constituem a base da metodologia de gerência de projetos do PMI. Estas práticas são compiladas na forma de um guia, chamado de Guia do Conjunto de Conhecimentos em Gerenciamento de Projetos, ou Guia PMBOK®.</a:t>
            </a:r>
          </a:p>
          <a:p>
            <a:pPr eaLnBrk="1" hangingPunct="1">
              <a:lnSpc>
                <a:spcPct val="80000"/>
              </a:lnSpc>
            </a:pPr>
            <a:endParaRPr lang="pt-BR" sz="28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PMBOK® Guide: evolução recente</a:t>
            </a:r>
          </a:p>
        </p:txBody>
      </p:sp>
      <p:graphicFrame>
        <p:nvGraphicFramePr>
          <p:cNvPr id="3" name="Table 2"/>
          <p:cNvGraphicFramePr>
            <a:graphicFrameLocks noGrp="1"/>
          </p:cNvGraphicFramePr>
          <p:nvPr/>
        </p:nvGraphicFramePr>
        <p:xfrm>
          <a:off x="457200" y="1463040"/>
          <a:ext cx="8229600" cy="2743200"/>
        </p:xfrm>
        <a:graphic>
          <a:graphicData uri="http://schemas.openxmlformats.org/drawingml/2006/table">
            <a:tbl>
              <a:tblPr firstRow="1" bandRow="1">
                <a:tableStyleId>{5C22544A-7EE6-4342-B048-85BDC9FD1C3A}</a:tableStyleId>
              </a:tblPr>
              <a:tblGrid>
                <a:gridCol w="2011680"/>
                <a:gridCol w="6217920"/>
              </a:tblGrid>
              <a:tr h="548640">
                <a:tc>
                  <a:txBody>
                    <a:bodyPr/>
                    <a:lstStyle/>
                    <a:p>
                      <a:r>
                        <a:rPr sz="1500" b="1"/>
                        <a:t>Edição</a:t>
                      </a:r>
                    </a:p>
                  </a:txBody>
                  <a:tcPr/>
                </a:tc>
                <a:tc>
                  <a:txBody>
                    <a:bodyPr/>
                    <a:lstStyle/>
                    <a:p>
                      <a:r>
                        <a:rPr sz="1500" b="1"/>
                        <a:t>Estrutura</a:t>
                      </a:r>
                    </a:p>
                  </a:txBody>
                  <a:tcPr/>
                </a:tc>
              </a:tr>
              <a:tr h="548640">
                <a:tc>
                  <a:txBody>
                    <a:bodyPr/>
                    <a:lstStyle/>
                    <a:p>
                      <a:r>
                        <a:rPr sz="1500" b="1"/>
                        <a:t>6ª (2017)</a:t>
                      </a:r>
                    </a:p>
                  </a:txBody>
                  <a:tcPr/>
                </a:tc>
                <a:tc>
                  <a:txBody>
                    <a:bodyPr/>
                    <a:lstStyle/>
                    <a:p>
                      <a:r>
                        <a:rPr sz="1500" b="0"/>
                        <a:t>10 áreas do conhecimento, 5 grupos de processos, 49 processos; inclui guia ágil</a:t>
                      </a:r>
                    </a:p>
                  </a:txBody>
                  <a:tcPr/>
                </a:tc>
              </a:tr>
              <a:tr h="548640">
                <a:tc>
                  <a:txBody>
                    <a:bodyPr/>
                    <a:lstStyle/>
                    <a:p>
                      <a:r>
                        <a:rPr sz="1500" b="1"/>
                        <a:t>7ª (2021)</a:t>
                      </a:r>
                    </a:p>
                  </a:txBody>
                  <a:tcPr/>
                </a:tc>
                <a:tc>
                  <a:txBody>
                    <a:bodyPr/>
                    <a:lstStyle/>
                    <a:p>
                      <a:r>
                        <a:rPr sz="1500" b="0"/>
                        <a:t>12 princípios e 8 domínios de desempenho; sem processos; foco em valor e adaptação</a:t>
                      </a:r>
                    </a:p>
                  </a:txBody>
                  <a:tcPr/>
                </a:tc>
              </a:tr>
              <a:tr h="548640">
                <a:tc>
                  <a:txBody>
                    <a:bodyPr/>
                    <a:lstStyle/>
                    <a:p>
                      <a:r>
                        <a:rPr sz="1500" b="1"/>
                        <a:t>8ª (2025)</a:t>
                      </a:r>
                    </a:p>
                  </a:txBody>
                  <a:tcPr/>
                </a:tc>
                <a:tc>
                  <a:txBody>
                    <a:bodyPr/>
                    <a:lstStyle/>
                    <a:p>
                      <a:r>
                        <a:rPr sz="1500" b="0"/>
                        <a:t>6 princípios, 7 domínios de desempenho, 5 áreas de foco e 40 processos não prescritivos</a:t>
                      </a:r>
                    </a:p>
                  </a:txBody>
                  <a:tcPr/>
                </a:tc>
              </a:tr>
              <a:tr h="548640">
                <a:tc>
                  <a:txBody>
                    <a:bodyPr/>
                    <a:lstStyle/>
                    <a:p>
                      <a:r>
                        <a:rPr sz="1500" b="1"/>
                        <a:t>Novidades da 8ª</a:t>
                      </a:r>
                    </a:p>
                  </a:txBody>
                  <a:tcPr/>
                </a:tc>
                <a:tc>
                  <a:txBody>
                    <a:bodyPr/>
                    <a:lstStyle/>
                    <a:p>
                      <a:r>
                        <a:rPr sz="1500" b="0"/>
                        <a:t>Inteligência artificial, PMO, aquisições e sustentabilidade</a:t>
                      </a:r>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PMBOK® 8: os 6 princípios</a:t>
            </a:r>
          </a:p>
        </p:txBody>
      </p:sp>
      <p:sp>
        <p:nvSpPr>
          <p:cNvPr id="3" name="Rounded Rectangle 2"/>
          <p:cNvSpPr/>
          <p:nvPr/>
        </p:nvSpPr>
        <p:spPr>
          <a:xfrm>
            <a:off x="457200" y="1463040"/>
            <a:ext cx="2621280" cy="2354579"/>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Visão holística</a:t>
            </a:r>
          </a:p>
          <a:p>
            <a:pPr algn="l">
              <a:spcAft>
                <a:spcPts val="400"/>
              </a:spcAft>
            </a:pPr>
            <a:r>
              <a:rPr sz="1500">
                <a:solidFill>
                  <a:schemeClr val="tx1"/>
                </a:solidFill>
              </a:rPr>
              <a:t>O projeto como parte de um sistema maior</a:t>
            </a:r>
          </a:p>
        </p:txBody>
      </p:sp>
      <p:sp>
        <p:nvSpPr>
          <p:cNvPr id="4" name="Rounded Rectangle 3"/>
          <p:cNvSpPr/>
          <p:nvPr/>
        </p:nvSpPr>
        <p:spPr>
          <a:xfrm>
            <a:off x="3261360" y="1463040"/>
            <a:ext cx="2621280" cy="2354579"/>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Foco em valor</a:t>
            </a:r>
          </a:p>
          <a:p>
            <a:pPr algn="l">
              <a:spcAft>
                <a:spcPts val="400"/>
              </a:spcAft>
            </a:pPr>
            <a:r>
              <a:rPr sz="1500">
                <a:solidFill>
                  <a:schemeClr val="tx1"/>
                </a:solidFill>
              </a:rPr>
              <a:t>Entregar resultados, não só entregáveis</a:t>
            </a:r>
          </a:p>
        </p:txBody>
      </p:sp>
      <p:sp>
        <p:nvSpPr>
          <p:cNvPr id="5" name="Rounded Rectangle 4"/>
          <p:cNvSpPr/>
          <p:nvPr/>
        </p:nvSpPr>
        <p:spPr>
          <a:xfrm>
            <a:off x="6065520" y="1463040"/>
            <a:ext cx="2621280" cy="2354579"/>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Qualidade incorporada</a:t>
            </a:r>
          </a:p>
          <a:p>
            <a:pPr algn="l">
              <a:spcAft>
                <a:spcPts val="400"/>
              </a:spcAft>
            </a:pPr>
            <a:r>
              <a:rPr sz="1500">
                <a:solidFill>
                  <a:schemeClr val="tx1"/>
                </a:solidFill>
              </a:rPr>
              <a:t>Qualidade no processo e no produto</a:t>
            </a:r>
          </a:p>
        </p:txBody>
      </p:sp>
      <p:sp>
        <p:nvSpPr>
          <p:cNvPr id="6" name="Rounded Rectangle 5"/>
          <p:cNvSpPr/>
          <p:nvPr/>
        </p:nvSpPr>
        <p:spPr>
          <a:xfrm>
            <a:off x="457200" y="4000500"/>
            <a:ext cx="2621280" cy="2354579"/>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Liderança responsável</a:t>
            </a:r>
          </a:p>
          <a:p>
            <a:pPr algn="l">
              <a:spcAft>
                <a:spcPts val="400"/>
              </a:spcAft>
            </a:pPr>
            <a:r>
              <a:rPr sz="1500">
                <a:solidFill>
                  <a:schemeClr val="tx1"/>
                </a:solidFill>
              </a:rPr>
              <a:t>Ética, transparência e responsabilização</a:t>
            </a:r>
          </a:p>
        </p:txBody>
      </p:sp>
      <p:sp>
        <p:nvSpPr>
          <p:cNvPr id="7" name="Rounded Rectangle 6"/>
          <p:cNvSpPr/>
          <p:nvPr/>
        </p:nvSpPr>
        <p:spPr>
          <a:xfrm>
            <a:off x="3261360" y="4000500"/>
            <a:ext cx="2621280" cy="2354579"/>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Sustentabilidade</a:t>
            </a:r>
          </a:p>
          <a:p>
            <a:pPr algn="l">
              <a:spcAft>
                <a:spcPts val="400"/>
              </a:spcAft>
            </a:pPr>
            <a:r>
              <a:rPr sz="1500">
                <a:solidFill>
                  <a:schemeClr val="tx1"/>
                </a:solidFill>
              </a:rPr>
              <a:t>Impactos sociais, ambientais e econômicos</a:t>
            </a:r>
          </a:p>
        </p:txBody>
      </p:sp>
      <p:sp>
        <p:nvSpPr>
          <p:cNvPr id="8" name="Rounded Rectangle 7"/>
          <p:cNvSpPr/>
          <p:nvPr/>
        </p:nvSpPr>
        <p:spPr>
          <a:xfrm>
            <a:off x="6065520" y="4000500"/>
            <a:ext cx="2621280" cy="2354579"/>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Cultura empoderada</a:t>
            </a:r>
          </a:p>
          <a:p>
            <a:pPr algn="l">
              <a:spcAft>
                <a:spcPts val="400"/>
              </a:spcAft>
            </a:pPr>
            <a:r>
              <a:rPr sz="1500">
                <a:solidFill>
                  <a:schemeClr val="tx1"/>
                </a:solidFill>
              </a:rPr>
              <a:t>Pessoas e times com autonomia</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59394" name="Picture 2"/>
          <p:cNvPicPr>
            <a:picLocks noChangeAspect="1" noChangeArrowheads="1"/>
          </p:cNvPicPr>
          <p:nvPr/>
        </p:nvPicPr>
        <p:blipFill>
          <a:blip r:embed="rId2"/>
          <a:srcRect/>
          <a:stretch>
            <a:fillRect/>
          </a:stretch>
        </p:blipFill>
        <p:spPr bwMode="auto">
          <a:xfrm>
            <a:off x="366713" y="685800"/>
            <a:ext cx="8410575" cy="5486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60419" name="Picture 3"/>
          <p:cNvPicPr>
            <a:picLocks noChangeAspect="1" noChangeArrowheads="1"/>
          </p:cNvPicPr>
          <p:nvPr/>
        </p:nvPicPr>
        <p:blipFill>
          <a:blip r:embed="rId2"/>
          <a:srcRect/>
          <a:stretch>
            <a:fillRect/>
          </a:stretch>
        </p:blipFill>
        <p:spPr bwMode="auto">
          <a:xfrm>
            <a:off x="152401" y="583158"/>
            <a:ext cx="8916478" cy="574144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endParaRPr lang="pt-BR" smtClean="0"/>
          </a:p>
        </p:txBody>
      </p:sp>
      <p:sp>
        <p:nvSpPr>
          <p:cNvPr id="10243" name="Rectangle 3"/>
          <p:cNvSpPr>
            <a:spLocks noGrp="1" noChangeArrowheads="1"/>
          </p:cNvSpPr>
          <p:nvPr>
            <p:ph type="body" idx="1"/>
          </p:nvPr>
        </p:nvSpPr>
        <p:spPr/>
        <p:txBody>
          <a:bodyPr/>
          <a:lstStyle/>
          <a:p>
            <a:pPr eaLnBrk="1" hangingPunct="1"/>
            <a:r>
              <a:rPr lang="pt-BR" dirty="0" smtClean="0"/>
              <a:t>Grandes projetos?</a:t>
            </a:r>
          </a:p>
          <a:p>
            <a:pPr eaLnBrk="1" hangingPunct="1"/>
            <a:r>
              <a:rPr lang="pt-BR" dirty="0" smtClean="0"/>
              <a:t>Médios projetos?</a:t>
            </a:r>
          </a:p>
          <a:p>
            <a:pPr eaLnBrk="1" hangingPunct="1"/>
            <a:r>
              <a:rPr lang="pt-BR" dirty="0" smtClean="0"/>
              <a:t>Pequenos projetos?</a:t>
            </a:r>
          </a:p>
          <a:p>
            <a:pPr eaLnBrk="1" hangingPunct="1"/>
            <a:endParaRPr lang="pt-BR" dirty="0" smtClean="0"/>
          </a:p>
          <a:p>
            <a:pPr eaLnBrk="1" hangingPunct="1">
              <a:buNone/>
            </a:pPr>
            <a:r>
              <a:rPr lang="pt-BR" dirty="0" smtClean="0"/>
              <a:t>Quais os conhecimentos necessários para elaborar e gerenciar grandes projetos?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pt-BR" smtClean="0"/>
              <a:t>Duração do projeto</a:t>
            </a:r>
          </a:p>
        </p:txBody>
      </p:sp>
      <p:sp>
        <p:nvSpPr>
          <p:cNvPr id="11267" name="Rectangle 3"/>
          <p:cNvSpPr>
            <a:spLocks noGrp="1" noChangeArrowheads="1"/>
          </p:cNvSpPr>
          <p:nvPr>
            <p:ph type="body" idx="1"/>
          </p:nvPr>
        </p:nvSpPr>
        <p:spPr/>
        <p:txBody>
          <a:bodyPr/>
          <a:lstStyle/>
          <a:p>
            <a:pPr eaLnBrk="1" hangingPunct="1"/>
            <a:endParaRPr lang="pt-BR" smtClean="0"/>
          </a:p>
        </p:txBody>
      </p:sp>
      <p:pic>
        <p:nvPicPr>
          <p:cNvPr id="11268" name="Picture 4" descr="tempo projeto"/>
          <p:cNvPicPr>
            <a:picLocks noChangeAspect="1" noChangeArrowheads="1"/>
          </p:cNvPicPr>
          <p:nvPr/>
        </p:nvPicPr>
        <p:blipFill>
          <a:blip r:embed="rId2"/>
          <a:srcRect/>
          <a:stretch>
            <a:fillRect/>
          </a:stretch>
        </p:blipFill>
        <p:spPr bwMode="auto">
          <a:xfrm>
            <a:off x="1295400" y="2133600"/>
            <a:ext cx="6800850" cy="32940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1026" name="Picture 2"/>
          <p:cNvPicPr>
            <a:picLocks noChangeAspect="1" noChangeArrowheads="1"/>
          </p:cNvPicPr>
          <p:nvPr/>
        </p:nvPicPr>
        <p:blipFill>
          <a:blip r:embed="rId2"/>
          <a:srcRect/>
          <a:stretch>
            <a:fillRect/>
          </a:stretch>
        </p:blipFill>
        <p:spPr bwMode="auto">
          <a:xfrm>
            <a:off x="0" y="1524000"/>
            <a:ext cx="11677650"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pt-BR" smtClean="0"/>
              <a:t>Projetos X Atividades contínuas</a:t>
            </a:r>
          </a:p>
        </p:txBody>
      </p:sp>
      <p:sp>
        <p:nvSpPr>
          <p:cNvPr id="12291" name="Rectangle 3"/>
          <p:cNvSpPr>
            <a:spLocks noGrp="1" noChangeArrowheads="1"/>
          </p:cNvSpPr>
          <p:nvPr>
            <p:ph type="body" idx="1"/>
          </p:nvPr>
        </p:nvSpPr>
        <p:spPr>
          <a:xfrm>
            <a:off x="457200" y="1600200"/>
            <a:ext cx="8153400" cy="4525963"/>
          </a:xfrm>
        </p:spPr>
        <p:txBody>
          <a:bodyPr/>
          <a:lstStyle/>
          <a:p>
            <a:pPr eaLnBrk="1" hangingPunct="1">
              <a:lnSpc>
                <a:spcPct val="90000"/>
              </a:lnSpc>
            </a:pPr>
            <a:r>
              <a:rPr lang="pt-BR" smtClean="0"/>
              <a:t>Estabelecer um novo negócio</a:t>
            </a:r>
          </a:p>
          <a:p>
            <a:pPr eaLnBrk="1" hangingPunct="1">
              <a:lnSpc>
                <a:spcPct val="90000"/>
              </a:lnSpc>
            </a:pPr>
            <a:r>
              <a:rPr lang="pt-BR" smtClean="0"/>
              <a:t>Construir uma usina nuclear</a:t>
            </a:r>
          </a:p>
          <a:p>
            <a:pPr eaLnBrk="1" hangingPunct="1">
              <a:lnSpc>
                <a:spcPct val="90000"/>
              </a:lnSpc>
            </a:pPr>
            <a:r>
              <a:rPr lang="pt-BR" smtClean="0"/>
              <a:t>Administrar um negócio consolidado</a:t>
            </a:r>
          </a:p>
          <a:p>
            <a:pPr eaLnBrk="1" hangingPunct="1">
              <a:lnSpc>
                <a:spcPct val="90000"/>
              </a:lnSpc>
            </a:pPr>
            <a:r>
              <a:rPr lang="pt-BR" smtClean="0"/>
              <a:t>Operar um terminal oceânico</a:t>
            </a:r>
          </a:p>
          <a:p>
            <a:pPr eaLnBrk="1" hangingPunct="1">
              <a:lnSpc>
                <a:spcPct val="90000"/>
              </a:lnSpc>
            </a:pPr>
            <a:r>
              <a:rPr lang="pt-BR" smtClean="0"/>
              <a:t>Fornecer suprimento constante de energia elétrica</a:t>
            </a:r>
          </a:p>
          <a:p>
            <a:pPr eaLnBrk="1" hangingPunct="1">
              <a:lnSpc>
                <a:spcPct val="90000"/>
              </a:lnSpc>
            </a:pPr>
            <a:r>
              <a:rPr lang="pt-BR" smtClean="0"/>
              <a:t>Construir uma rede de T.I.</a:t>
            </a:r>
          </a:p>
          <a:p>
            <a:pPr eaLnBrk="1" hangingPunct="1">
              <a:lnSpc>
                <a:spcPct val="90000"/>
              </a:lnSpc>
            </a:pPr>
            <a:r>
              <a:rPr lang="pt-BR" smtClean="0"/>
              <a:t>Administrar uma rede</a:t>
            </a:r>
          </a:p>
        </p:txBody>
      </p:sp>
      <p:sp>
        <p:nvSpPr>
          <p:cNvPr id="12292" name="Rectangle 4"/>
          <p:cNvSpPr>
            <a:spLocks noChangeArrowheads="1"/>
          </p:cNvSpPr>
          <p:nvPr/>
        </p:nvSpPr>
        <p:spPr bwMode="auto">
          <a:xfrm>
            <a:off x="4495800" y="1600200"/>
            <a:ext cx="3581400" cy="4525963"/>
          </a:xfrm>
          <a:prstGeom prst="rect">
            <a:avLst/>
          </a:prstGeom>
          <a:noFill/>
          <a:ln w="9525">
            <a:noFill/>
            <a:miter lim="800000"/>
            <a:headEnd/>
            <a:tailEnd/>
          </a:ln>
        </p:spPr>
        <p:txBody>
          <a:bodyPr/>
          <a:lstStyle/>
          <a:p>
            <a:pPr marL="342900" indent="-342900">
              <a:spcBef>
                <a:spcPct val="20000"/>
              </a:spcBef>
              <a:buFontTx/>
              <a:buChar char="•"/>
            </a:pPr>
            <a:endParaRPr lang="pt-BR" sz="32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2050" name="Picture 2"/>
          <p:cNvPicPr>
            <a:picLocks noChangeAspect="1" noChangeArrowheads="1"/>
          </p:cNvPicPr>
          <p:nvPr/>
        </p:nvPicPr>
        <p:blipFill>
          <a:blip r:embed="rId2"/>
          <a:srcRect/>
          <a:stretch>
            <a:fillRect/>
          </a:stretch>
        </p:blipFill>
        <p:spPr bwMode="auto">
          <a:xfrm>
            <a:off x="0" y="1423989"/>
            <a:ext cx="9132969" cy="33004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pt-BR" smtClean="0"/>
              <a:t>Características e benefícios</a:t>
            </a:r>
          </a:p>
        </p:txBody>
      </p:sp>
      <p:sp>
        <p:nvSpPr>
          <p:cNvPr id="13315" name="Rectangle 3"/>
          <p:cNvSpPr>
            <a:spLocks noGrp="1" noChangeArrowheads="1"/>
          </p:cNvSpPr>
          <p:nvPr>
            <p:ph type="body" idx="1"/>
          </p:nvPr>
        </p:nvSpPr>
        <p:spPr>
          <a:xfrm>
            <a:off x="457200" y="2362200"/>
            <a:ext cx="8229600" cy="3763963"/>
          </a:xfrm>
        </p:spPr>
        <p:txBody>
          <a:bodyPr/>
          <a:lstStyle/>
          <a:p>
            <a:pPr eaLnBrk="1" hangingPunct="1"/>
            <a:r>
              <a:rPr lang="pt-BR" smtClean="0"/>
              <a:t>Simplicidade de propósito</a:t>
            </a:r>
          </a:p>
          <a:p>
            <a:pPr eaLnBrk="1" hangingPunct="1"/>
            <a:r>
              <a:rPr lang="pt-BR" smtClean="0"/>
              <a:t>Clareza de propósito</a:t>
            </a:r>
          </a:p>
          <a:p>
            <a:pPr eaLnBrk="1" hangingPunct="1"/>
            <a:r>
              <a:rPr lang="pt-BR" smtClean="0"/>
              <a:t>Controle independente</a:t>
            </a:r>
          </a:p>
          <a:p>
            <a:pPr eaLnBrk="1" hangingPunct="1"/>
            <a:r>
              <a:rPr lang="pt-BR" smtClean="0"/>
              <a:t>Facilidade de mediação</a:t>
            </a:r>
          </a:p>
          <a:p>
            <a:pPr eaLnBrk="1" hangingPunct="1"/>
            <a:r>
              <a:rPr lang="pt-BR" smtClean="0"/>
              <a:t>Flexibilidade de emprego</a:t>
            </a:r>
          </a:p>
          <a:p>
            <a:pPr eaLnBrk="1" hangingPunct="1"/>
            <a:endParaRPr lang="pt-BR"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pt-BR" smtClean="0"/>
              <a:t>Quando projetar</a:t>
            </a:r>
          </a:p>
        </p:txBody>
      </p:sp>
      <p:sp>
        <p:nvSpPr>
          <p:cNvPr id="15363" name="Rectangle 3"/>
          <p:cNvSpPr>
            <a:spLocks noGrp="1" noChangeArrowheads="1"/>
          </p:cNvSpPr>
          <p:nvPr>
            <p:ph type="body" idx="1"/>
          </p:nvPr>
        </p:nvSpPr>
        <p:spPr/>
        <p:txBody>
          <a:bodyPr/>
          <a:lstStyle/>
          <a:p>
            <a:pPr eaLnBrk="1" hangingPunct="1"/>
            <a:r>
              <a:rPr lang="pt-BR" smtClean="0"/>
              <a:t>Competição</a:t>
            </a:r>
          </a:p>
          <a:p>
            <a:pPr eaLnBrk="1" hangingPunct="1"/>
            <a:r>
              <a:rPr lang="pt-BR" smtClean="0"/>
              <a:t>Padrões de qualidade</a:t>
            </a:r>
          </a:p>
          <a:p>
            <a:pPr eaLnBrk="1" hangingPunct="1"/>
            <a:r>
              <a:rPr lang="pt-BR" smtClean="0"/>
              <a:t>Redução nas margens de lucro</a:t>
            </a:r>
          </a:p>
          <a:p>
            <a:pPr eaLnBrk="1" hangingPunct="1"/>
            <a:r>
              <a:rPr lang="pt-BR" smtClean="0"/>
              <a:t>Resultados financeiros</a:t>
            </a:r>
          </a:p>
          <a:p>
            <a:pPr eaLnBrk="1" hangingPunct="1"/>
            <a:r>
              <a:rPr lang="pt-BR" smtClean="0"/>
              <a:t>Aspectos legais e sociais</a:t>
            </a:r>
          </a:p>
          <a:p>
            <a:pPr eaLnBrk="1" hangingPunct="1"/>
            <a:r>
              <a:rPr lang="pt-BR" smtClean="0"/>
              <a:t>Fatores políticos</a:t>
            </a:r>
          </a:p>
          <a:p>
            <a:pPr eaLnBrk="1" hangingPunct="1"/>
            <a:r>
              <a:rPr lang="pt-BR" smtClean="0"/>
              <a:t>Pressões econômicas</a:t>
            </a:r>
          </a:p>
          <a:p>
            <a:pPr eaLnBrk="1" hangingPunct="1"/>
            <a:endParaRPr lang="pt-BR"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pt-BR" smtClean="0"/>
              <a:t>Resolveu projetar?</a:t>
            </a:r>
          </a:p>
        </p:txBody>
      </p:sp>
      <p:sp>
        <p:nvSpPr>
          <p:cNvPr id="16387" name="Rectangle 3"/>
          <p:cNvSpPr>
            <a:spLocks noGrp="1" noChangeArrowheads="1"/>
          </p:cNvSpPr>
          <p:nvPr>
            <p:ph type="body" idx="1"/>
          </p:nvPr>
        </p:nvSpPr>
        <p:spPr/>
        <p:txBody>
          <a:bodyPr/>
          <a:lstStyle/>
          <a:p>
            <a:pPr eaLnBrk="1" hangingPunct="1"/>
            <a:r>
              <a:rPr lang="pt-BR" smtClean="0"/>
              <a:t>Performance(qualidade)?</a:t>
            </a:r>
          </a:p>
          <a:p>
            <a:pPr eaLnBrk="1" hangingPunct="1"/>
            <a:r>
              <a:rPr lang="pt-BR" smtClean="0"/>
              <a:t>Tempo?</a:t>
            </a:r>
          </a:p>
          <a:p>
            <a:pPr eaLnBrk="1" hangingPunct="1"/>
            <a:r>
              <a:rPr lang="pt-BR" smtClean="0"/>
              <a:t>Custo?</a:t>
            </a:r>
          </a:p>
        </p:txBody>
      </p:sp>
      <p:pic>
        <p:nvPicPr>
          <p:cNvPr id="16388" name="Picture 4" descr="PCT"/>
          <p:cNvPicPr>
            <a:picLocks noChangeAspect="1" noChangeArrowheads="1"/>
          </p:cNvPicPr>
          <p:nvPr/>
        </p:nvPicPr>
        <p:blipFill>
          <a:blip r:embed="rId2"/>
          <a:srcRect/>
          <a:stretch>
            <a:fillRect/>
          </a:stretch>
        </p:blipFill>
        <p:spPr bwMode="auto">
          <a:xfrm>
            <a:off x="2667000" y="2590800"/>
            <a:ext cx="4013200" cy="401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pt-BR" i="1" smtClean="0"/>
              <a:t>Project Charter</a:t>
            </a:r>
          </a:p>
        </p:txBody>
      </p:sp>
      <p:sp>
        <p:nvSpPr>
          <p:cNvPr id="17411" name="Rectangle 3"/>
          <p:cNvSpPr>
            <a:spLocks noGrp="1" noChangeArrowheads="1"/>
          </p:cNvSpPr>
          <p:nvPr>
            <p:ph type="body" idx="1"/>
          </p:nvPr>
        </p:nvSpPr>
        <p:spPr/>
        <p:txBody>
          <a:bodyPr/>
          <a:lstStyle/>
          <a:p>
            <a:pPr eaLnBrk="1" hangingPunct="1"/>
            <a:r>
              <a:rPr lang="pt-BR" smtClean="0"/>
              <a:t>É o documento legal que reconhece a existencia de um projeto. Ele serve como uma linha de base para o trabalho do gerente de projeto:</a:t>
            </a:r>
          </a:p>
          <a:p>
            <a:pPr eaLnBrk="1" hangingPunct="1"/>
            <a:r>
              <a:rPr lang="pt-BR" smtClean="0"/>
              <a:t>Um resumo das condições que definem o projeto;</a:t>
            </a:r>
          </a:p>
          <a:p>
            <a:pPr eaLnBrk="1" hangingPunct="1"/>
            <a:r>
              <a:rPr lang="pt-BR" smtClean="0"/>
              <a:t>Descrição do produto, ou serviço, a ser desenvolvido pelo projeto;</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pt-BR" i="1" smtClean="0"/>
              <a:t>Project Charter</a:t>
            </a:r>
          </a:p>
        </p:txBody>
      </p:sp>
      <p:sp>
        <p:nvSpPr>
          <p:cNvPr id="18435" name="Rectangle 3"/>
          <p:cNvSpPr>
            <a:spLocks noGrp="1" noChangeArrowheads="1"/>
          </p:cNvSpPr>
          <p:nvPr>
            <p:ph type="body" idx="1"/>
          </p:nvPr>
        </p:nvSpPr>
        <p:spPr/>
        <p:txBody>
          <a:bodyPr/>
          <a:lstStyle/>
          <a:p>
            <a:pPr eaLnBrk="1" hangingPunct="1">
              <a:lnSpc>
                <a:spcPct val="90000"/>
              </a:lnSpc>
            </a:pPr>
            <a:r>
              <a:rPr lang="pt-BR" sz="2400" smtClean="0"/>
              <a:t>Nome do gerente de projeto e suas responsabilidades e autoridades;</a:t>
            </a:r>
          </a:p>
          <a:p>
            <a:pPr eaLnBrk="1" hangingPunct="1">
              <a:lnSpc>
                <a:spcPct val="90000"/>
              </a:lnSpc>
            </a:pPr>
            <a:r>
              <a:rPr lang="pt-BR" sz="2400" smtClean="0"/>
              <a:t>Cronograma básico do projeto;</a:t>
            </a:r>
          </a:p>
          <a:p>
            <a:pPr eaLnBrk="1" hangingPunct="1">
              <a:lnSpc>
                <a:spcPct val="90000"/>
              </a:lnSpc>
            </a:pPr>
            <a:r>
              <a:rPr lang="pt-BR" sz="2400" smtClean="0"/>
              <a:t>Estimativas iniciais de custo;</a:t>
            </a:r>
          </a:p>
          <a:p>
            <a:pPr eaLnBrk="1" hangingPunct="1">
              <a:lnSpc>
                <a:spcPct val="90000"/>
              </a:lnSpc>
            </a:pPr>
            <a:r>
              <a:rPr lang="pt-BR" sz="2400" smtClean="0"/>
              <a:t>Trabalho a ser realizado;</a:t>
            </a:r>
          </a:p>
          <a:p>
            <a:pPr eaLnBrk="1" hangingPunct="1">
              <a:lnSpc>
                <a:spcPct val="90000"/>
              </a:lnSpc>
            </a:pPr>
            <a:r>
              <a:rPr lang="pt-BR" sz="2400" smtClean="0"/>
              <a:t>Necessidade inicial de recursos humanos, equipamentos e materiais;</a:t>
            </a:r>
          </a:p>
          <a:p>
            <a:pPr eaLnBrk="1" hangingPunct="1">
              <a:lnSpc>
                <a:spcPct val="90000"/>
              </a:lnSpc>
            </a:pPr>
            <a:r>
              <a:rPr lang="pt-BR" sz="2400" smtClean="0"/>
              <a:t>Necessidade de suporte por parte da organização</a:t>
            </a:r>
          </a:p>
          <a:p>
            <a:pPr eaLnBrk="1" hangingPunct="1">
              <a:lnSpc>
                <a:spcPct val="90000"/>
              </a:lnSpc>
            </a:pPr>
            <a:r>
              <a:rPr lang="pt-BR" sz="2400" smtClean="0"/>
              <a:t>Assinatura do executivo responsável pelo documento.</a:t>
            </a:r>
          </a:p>
          <a:p>
            <a:pPr algn="ctr" eaLnBrk="1" hangingPunct="1">
              <a:lnSpc>
                <a:spcPct val="90000"/>
              </a:lnSpc>
              <a:buFontTx/>
              <a:buNone/>
            </a:pPr>
            <a:r>
              <a:rPr lang="pt-BR" sz="2400" smtClean="0">
                <a:hlinkClick r:id="rId2" action="ppaction://hlinkfile"/>
              </a:rPr>
              <a:t>Exemplo</a:t>
            </a:r>
            <a:endParaRPr lang="pt-BR" sz="2400" smtClean="0"/>
          </a:p>
          <a:p>
            <a:pPr eaLnBrk="1" hangingPunct="1">
              <a:lnSpc>
                <a:spcPct val="90000"/>
              </a:lnSpc>
            </a:pPr>
            <a:endParaRPr lang="pt-BR" sz="240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pt-BR" smtClean="0"/>
              <a:t>Sucesso do projeto</a:t>
            </a:r>
          </a:p>
        </p:txBody>
      </p:sp>
      <p:sp>
        <p:nvSpPr>
          <p:cNvPr id="19459" name="Rectangle 3"/>
          <p:cNvSpPr>
            <a:spLocks noGrp="1" noChangeArrowheads="1"/>
          </p:cNvSpPr>
          <p:nvPr>
            <p:ph type="body" idx="1"/>
          </p:nvPr>
        </p:nvSpPr>
        <p:spPr/>
        <p:txBody>
          <a:bodyPr/>
          <a:lstStyle/>
          <a:p>
            <a:pPr eaLnBrk="1" hangingPunct="1">
              <a:lnSpc>
                <a:spcPct val="90000"/>
              </a:lnSpc>
            </a:pPr>
            <a:r>
              <a:rPr lang="pt-BR" smtClean="0"/>
              <a:t>Concluído dentro do tempo previsto</a:t>
            </a:r>
          </a:p>
          <a:p>
            <a:pPr eaLnBrk="1" hangingPunct="1">
              <a:lnSpc>
                <a:spcPct val="90000"/>
              </a:lnSpc>
            </a:pPr>
            <a:r>
              <a:rPr lang="pt-BR" smtClean="0"/>
              <a:t>Concluído dentro do orçamento previsto</a:t>
            </a:r>
          </a:p>
          <a:p>
            <a:pPr eaLnBrk="1" hangingPunct="1">
              <a:lnSpc>
                <a:spcPct val="90000"/>
              </a:lnSpc>
            </a:pPr>
            <a:r>
              <a:rPr lang="pt-BR" smtClean="0"/>
              <a:t>Ter utilizado os recursos com eficiência</a:t>
            </a:r>
          </a:p>
          <a:p>
            <a:pPr eaLnBrk="1" hangingPunct="1">
              <a:lnSpc>
                <a:spcPct val="90000"/>
              </a:lnSpc>
            </a:pPr>
            <a:r>
              <a:rPr lang="pt-BR" smtClean="0"/>
              <a:t>Ter atingido a qualidade e performance desejadas</a:t>
            </a:r>
          </a:p>
          <a:p>
            <a:pPr eaLnBrk="1" hangingPunct="1">
              <a:lnSpc>
                <a:spcPct val="90000"/>
              </a:lnSpc>
            </a:pPr>
            <a:r>
              <a:rPr lang="pt-BR" smtClean="0"/>
              <a:t>Ter concluído com o mínimo possível de alterações em seu escopo</a:t>
            </a:r>
          </a:p>
          <a:p>
            <a:pPr eaLnBrk="1" hangingPunct="1">
              <a:lnSpc>
                <a:spcPct val="90000"/>
              </a:lnSpc>
            </a:pPr>
            <a:r>
              <a:rPr lang="pt-BR" smtClean="0"/>
              <a:t>Ter sido aceito sem restrições pelo contratante ou cliente</a:t>
            </a:r>
          </a:p>
          <a:p>
            <a:pPr eaLnBrk="1" hangingPunct="1">
              <a:lnSpc>
                <a:spcPct val="90000"/>
              </a:lnSpc>
            </a:pPr>
            <a:endParaRPr lang="pt-BR"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pt-BR" smtClean="0"/>
              <a:t>Sucesso do projeto</a:t>
            </a:r>
          </a:p>
        </p:txBody>
      </p:sp>
      <p:sp>
        <p:nvSpPr>
          <p:cNvPr id="20483" name="Rectangle 3"/>
          <p:cNvSpPr>
            <a:spLocks noGrp="1" noChangeArrowheads="1"/>
          </p:cNvSpPr>
          <p:nvPr>
            <p:ph type="body" idx="1"/>
          </p:nvPr>
        </p:nvSpPr>
        <p:spPr>
          <a:xfrm>
            <a:off x="457200" y="2590800"/>
            <a:ext cx="8229600" cy="3535363"/>
          </a:xfrm>
        </p:spPr>
        <p:txBody>
          <a:bodyPr/>
          <a:lstStyle/>
          <a:p>
            <a:pPr eaLnBrk="1" hangingPunct="1"/>
            <a:r>
              <a:rPr lang="pt-BR" smtClean="0"/>
              <a:t>Ter sido empreendido sem interrupções ou prejuízos nas atividades da empresa</a:t>
            </a:r>
          </a:p>
          <a:p>
            <a:pPr eaLnBrk="1" hangingPunct="1"/>
            <a:r>
              <a:rPr lang="pt-BR" smtClean="0"/>
              <a:t>Não ter agredido a cultura da empresa</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pt-BR" b="1" smtClean="0"/>
              <a:t>Áreas do conhecimento (PMBOK 6)</a:t>
            </a:r>
          </a:p>
        </p:txBody>
      </p:sp>
      <p:sp>
        <p:nvSpPr>
          <p:cNvPr id="21507" name="Rectangle 3"/>
          <p:cNvSpPr>
            <a:spLocks noGrp="1" noChangeArrowheads="1"/>
          </p:cNvSpPr>
          <p:nvPr>
            <p:ph type="body" idx="1"/>
          </p:nvPr>
        </p:nvSpPr>
        <p:spPr/>
        <p:txBody>
          <a:bodyPr/>
          <a:lstStyle/>
          <a:p>
            <a:pPr algn="ctr" eaLnBrk="1" hangingPunct="1">
              <a:lnSpc>
                <a:spcPct val="80000"/>
              </a:lnSpc>
              <a:buFontTx/>
              <a:buNone/>
            </a:pPr>
            <a:r>
              <a:rPr lang="pt-BR" b="1" dirty="0" smtClean="0"/>
              <a:t>Integração</a:t>
            </a:r>
          </a:p>
          <a:p>
            <a:pPr algn="ctr" eaLnBrk="1" hangingPunct="1">
              <a:lnSpc>
                <a:spcPct val="80000"/>
              </a:lnSpc>
              <a:buFontTx/>
              <a:buNone/>
            </a:pPr>
            <a:r>
              <a:rPr lang="pt-BR" b="1" dirty="0" smtClean="0"/>
              <a:t>Escopo</a:t>
            </a:r>
          </a:p>
          <a:p>
            <a:pPr algn="ctr" eaLnBrk="1" hangingPunct="1">
              <a:lnSpc>
                <a:spcPct val="80000"/>
              </a:lnSpc>
              <a:buFontTx/>
              <a:buNone/>
            </a:pPr>
            <a:r>
              <a:rPr lang="pt-BR" b="1" dirty="0" smtClean="0"/>
              <a:t>Tempo</a:t>
            </a:r>
          </a:p>
          <a:p>
            <a:pPr algn="ctr" eaLnBrk="1" hangingPunct="1">
              <a:lnSpc>
                <a:spcPct val="80000"/>
              </a:lnSpc>
              <a:buFontTx/>
              <a:buNone/>
            </a:pPr>
            <a:r>
              <a:rPr lang="pt-BR" b="1" dirty="0" smtClean="0"/>
              <a:t>Custo</a:t>
            </a:r>
          </a:p>
          <a:p>
            <a:pPr algn="ctr" eaLnBrk="1" hangingPunct="1">
              <a:lnSpc>
                <a:spcPct val="80000"/>
              </a:lnSpc>
              <a:buFontTx/>
              <a:buNone/>
            </a:pPr>
            <a:r>
              <a:rPr lang="pt-BR" b="1" dirty="0" smtClean="0"/>
              <a:t>Qualidade</a:t>
            </a:r>
          </a:p>
          <a:p>
            <a:pPr algn="ctr" eaLnBrk="1" hangingPunct="1">
              <a:lnSpc>
                <a:spcPct val="80000"/>
              </a:lnSpc>
              <a:buFontTx/>
              <a:buNone/>
            </a:pPr>
            <a:r>
              <a:rPr lang="pt-BR" b="1" dirty="0" smtClean="0"/>
              <a:t>Recursos</a:t>
            </a:r>
          </a:p>
          <a:p>
            <a:pPr algn="ctr" eaLnBrk="1" hangingPunct="1">
              <a:lnSpc>
                <a:spcPct val="80000"/>
              </a:lnSpc>
              <a:buFontTx/>
              <a:buNone/>
            </a:pPr>
            <a:r>
              <a:rPr lang="pt-BR" b="1" dirty="0" smtClean="0"/>
              <a:t>Comunicação</a:t>
            </a:r>
          </a:p>
          <a:p>
            <a:pPr algn="ctr" eaLnBrk="1" hangingPunct="1">
              <a:lnSpc>
                <a:spcPct val="80000"/>
              </a:lnSpc>
              <a:buFontTx/>
              <a:buNone/>
            </a:pPr>
            <a:r>
              <a:rPr lang="pt-BR" b="1" dirty="0" smtClean="0"/>
              <a:t>Riscos</a:t>
            </a:r>
          </a:p>
          <a:p>
            <a:pPr algn="ctr" eaLnBrk="1" hangingPunct="1">
              <a:lnSpc>
                <a:spcPct val="80000"/>
              </a:lnSpc>
              <a:buFontTx/>
              <a:buNone/>
            </a:pPr>
            <a:r>
              <a:rPr lang="pt-BR" b="1" dirty="0" smtClean="0"/>
              <a:t>Aquisições</a:t>
            </a:r>
          </a:p>
          <a:p>
            <a:pPr algn="ctr" eaLnBrk="1" hangingPunct="1">
              <a:lnSpc>
                <a:spcPct val="80000"/>
              </a:lnSpc>
              <a:buFontTx/>
              <a:buNone/>
            </a:pPr>
            <a:r>
              <a:rPr lang="pt-BR" b="1" dirty="0" smtClean="0"/>
              <a:t>Partes interessadas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pt-BR" smtClean="0"/>
              <a:t>Integração</a:t>
            </a:r>
          </a:p>
        </p:txBody>
      </p:sp>
      <p:sp>
        <p:nvSpPr>
          <p:cNvPr id="22531" name="Rectangle 3"/>
          <p:cNvSpPr>
            <a:spLocks noGrp="1" noChangeArrowheads="1"/>
          </p:cNvSpPr>
          <p:nvPr>
            <p:ph type="body" idx="1"/>
          </p:nvPr>
        </p:nvSpPr>
        <p:spPr/>
        <p:txBody>
          <a:bodyPr/>
          <a:lstStyle/>
          <a:p>
            <a:pPr eaLnBrk="1" hangingPunct="1"/>
            <a:r>
              <a:rPr lang="pt-BR" smtClean="0"/>
              <a:t>O objetivo é estruturar todo o projeto, de modo a garantir que as necessidades dos envolvidos sejam atendidos.</a:t>
            </a:r>
          </a:p>
        </p:txBody>
      </p:sp>
      <p:pic>
        <p:nvPicPr>
          <p:cNvPr id="34820" name="Picture 4" descr="areas"/>
          <p:cNvPicPr>
            <a:picLocks noChangeAspect="1" noChangeArrowheads="1"/>
          </p:cNvPicPr>
          <p:nvPr/>
        </p:nvPicPr>
        <p:blipFill>
          <a:blip r:embed="rId2"/>
          <a:srcRect/>
          <a:stretch>
            <a:fillRect/>
          </a:stretch>
        </p:blipFill>
        <p:spPr bwMode="auto">
          <a:xfrm>
            <a:off x="0" y="1249363"/>
            <a:ext cx="8915400" cy="469423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box(in)">
                                      <p:cBhvr>
                                        <p:cTn id="7" dur="500"/>
                                        <p:tgtEl>
                                          <p:spTgt spid="34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468313" y="1341438"/>
            <a:ext cx="7848600" cy="2436812"/>
          </a:xfrm>
          <a:prstGeom prst="rect">
            <a:avLst/>
          </a:prstGeom>
          <a:noFill/>
          <a:ln w="9525">
            <a:noFill/>
            <a:miter lim="800000"/>
            <a:headEnd/>
            <a:tailEnd/>
          </a:ln>
        </p:spPr>
        <p:txBody>
          <a:bodyPr anchor="ctr">
            <a:spAutoFit/>
          </a:bodyPr>
          <a:lstStyle/>
          <a:p>
            <a:r>
              <a:rPr lang="pt-BR" sz="2200">
                <a:latin typeface="Century Gothic" pitchFamily="34" charset="0"/>
              </a:rPr>
              <a:t>"Alice - Poderia me dizer, por favor, qual é o </a:t>
            </a:r>
            <a:br>
              <a:rPr lang="pt-BR" sz="2200">
                <a:latin typeface="Century Gothic" pitchFamily="34" charset="0"/>
              </a:rPr>
            </a:br>
            <a:r>
              <a:rPr lang="pt-BR" sz="2200">
                <a:latin typeface="Century Gothic" pitchFamily="34" charset="0"/>
              </a:rPr>
              <a:t>caminho para sair daqui?</a:t>
            </a:r>
            <a:br>
              <a:rPr lang="pt-BR" sz="2200">
                <a:latin typeface="Century Gothic" pitchFamily="34" charset="0"/>
              </a:rPr>
            </a:br>
            <a:r>
              <a:rPr lang="pt-BR" sz="2200">
                <a:latin typeface="Century Gothic" pitchFamily="34" charset="0"/>
              </a:rPr>
              <a:t>Gato - Isso depende muito do lugar para </a:t>
            </a:r>
            <a:br>
              <a:rPr lang="pt-BR" sz="2200">
                <a:latin typeface="Century Gothic" pitchFamily="34" charset="0"/>
              </a:rPr>
            </a:br>
            <a:r>
              <a:rPr lang="pt-BR" sz="2200">
                <a:latin typeface="Century Gothic" pitchFamily="34" charset="0"/>
              </a:rPr>
              <a:t>onde você quer ir.</a:t>
            </a:r>
            <a:br>
              <a:rPr lang="pt-BR" sz="2200">
                <a:latin typeface="Century Gothic" pitchFamily="34" charset="0"/>
              </a:rPr>
            </a:br>
            <a:r>
              <a:rPr lang="pt-BR" sz="2200">
                <a:latin typeface="Century Gothic" pitchFamily="34" charset="0"/>
              </a:rPr>
              <a:t>Alice - Não me importa muito onde.</a:t>
            </a:r>
            <a:br>
              <a:rPr lang="pt-BR" sz="2200">
                <a:latin typeface="Century Gothic" pitchFamily="34" charset="0"/>
              </a:rPr>
            </a:br>
            <a:r>
              <a:rPr lang="pt-BR" sz="2200">
                <a:latin typeface="Century Gothic" pitchFamily="34" charset="0"/>
              </a:rPr>
              <a:t>Gato - Nesse caso, não importa por qual caminho você vá."</a:t>
            </a:r>
          </a:p>
        </p:txBody>
      </p:sp>
      <p:pic>
        <p:nvPicPr>
          <p:cNvPr id="23555" name="Picture 3" descr="alice gato"/>
          <p:cNvPicPr>
            <a:picLocks noChangeAspect="1" noChangeArrowheads="1"/>
          </p:cNvPicPr>
          <p:nvPr/>
        </p:nvPicPr>
        <p:blipFill>
          <a:blip r:embed="rId2"/>
          <a:srcRect/>
          <a:stretch>
            <a:fillRect/>
          </a:stretch>
        </p:blipFill>
        <p:spPr bwMode="auto">
          <a:xfrm>
            <a:off x="1331913" y="3789363"/>
            <a:ext cx="2071687" cy="2336800"/>
          </a:xfrm>
          <a:prstGeom prst="rect">
            <a:avLst/>
          </a:prstGeom>
          <a:noFill/>
          <a:ln w="9525">
            <a:noFill/>
            <a:miter lim="800000"/>
            <a:headEnd/>
            <a:tailEnd/>
          </a:ln>
        </p:spPr>
      </p:pic>
      <p:sp>
        <p:nvSpPr>
          <p:cNvPr id="23556" name="Text Box 4"/>
          <p:cNvSpPr txBox="1">
            <a:spLocks noChangeArrowheads="1"/>
          </p:cNvSpPr>
          <p:nvPr/>
        </p:nvSpPr>
        <p:spPr bwMode="auto">
          <a:xfrm>
            <a:off x="2411413" y="765175"/>
            <a:ext cx="3311525" cy="488950"/>
          </a:xfrm>
          <a:prstGeom prst="rect">
            <a:avLst/>
          </a:prstGeom>
          <a:noFill/>
          <a:ln w="9525">
            <a:noFill/>
            <a:miter lim="800000"/>
            <a:headEnd/>
            <a:tailEnd/>
          </a:ln>
        </p:spPr>
        <p:txBody>
          <a:bodyPr>
            <a:spAutoFit/>
          </a:bodyPr>
          <a:lstStyle/>
          <a:p>
            <a:r>
              <a:rPr lang="pt-BR" sz="2600">
                <a:solidFill>
                  <a:srgbClr val="669900"/>
                </a:solidFill>
                <a:latin typeface="Century Gothic" pitchFamily="34" charset="0"/>
              </a:rPr>
              <a:t>Qual o caminho?...</a:t>
            </a:r>
          </a:p>
        </p:txBody>
      </p:sp>
      <p:sp>
        <p:nvSpPr>
          <p:cNvPr id="23557" name="Rectangle 5"/>
          <p:cNvSpPr>
            <a:spLocks noChangeArrowheads="1"/>
          </p:cNvSpPr>
          <p:nvPr/>
        </p:nvSpPr>
        <p:spPr bwMode="auto">
          <a:xfrm>
            <a:off x="5508625" y="3860800"/>
            <a:ext cx="3022600" cy="366713"/>
          </a:xfrm>
          <a:prstGeom prst="rect">
            <a:avLst/>
          </a:prstGeom>
          <a:noFill/>
          <a:ln w="9525">
            <a:noFill/>
            <a:miter lim="800000"/>
            <a:headEnd/>
            <a:tailEnd/>
          </a:ln>
        </p:spPr>
        <p:txBody>
          <a:bodyPr wrap="none" anchor="ctr">
            <a:spAutoFit/>
          </a:bodyPr>
          <a:lstStyle/>
          <a:p>
            <a:r>
              <a:rPr lang="pt-BR" sz="1600" i="1">
                <a:latin typeface="Century Gothic" pitchFamily="34" charset="0"/>
              </a:rPr>
              <a:t>Alice no País das Maravilhas</a:t>
            </a:r>
            <a:r>
              <a:rPr lang="pt-BR"/>
              <a:t> </a:t>
            </a:r>
          </a:p>
        </p:txBody>
      </p:sp>
      <p:sp>
        <p:nvSpPr>
          <p:cNvPr id="96262" name="Text Box 6"/>
          <p:cNvSpPr txBox="1">
            <a:spLocks noChangeArrowheads="1"/>
          </p:cNvSpPr>
          <p:nvPr/>
        </p:nvSpPr>
        <p:spPr bwMode="auto">
          <a:xfrm>
            <a:off x="395288" y="765175"/>
            <a:ext cx="1801812" cy="457200"/>
          </a:xfrm>
          <a:prstGeom prst="rect">
            <a:avLst/>
          </a:prstGeom>
          <a:noFill/>
          <a:ln w="9525">
            <a:noFill/>
            <a:miter lim="800000"/>
            <a:headEnd/>
            <a:tailEnd/>
          </a:ln>
        </p:spPr>
        <p:txBody>
          <a:bodyPr wrap="none">
            <a:spAutoFit/>
          </a:bodyPr>
          <a:lstStyle/>
          <a:p>
            <a:r>
              <a:rPr lang="pt-BR" b="1">
                <a:solidFill>
                  <a:srgbClr val="CC3300"/>
                </a:solidFill>
              </a:rPr>
              <a:t>Onde estou?</a:t>
            </a:r>
          </a:p>
        </p:txBody>
      </p:sp>
      <p:sp>
        <p:nvSpPr>
          <p:cNvPr id="96263" name="Text Box 7"/>
          <p:cNvSpPr txBox="1">
            <a:spLocks noChangeArrowheads="1"/>
          </p:cNvSpPr>
          <p:nvPr/>
        </p:nvSpPr>
        <p:spPr bwMode="auto">
          <a:xfrm>
            <a:off x="5867400" y="765175"/>
            <a:ext cx="1735138" cy="457200"/>
          </a:xfrm>
          <a:prstGeom prst="rect">
            <a:avLst/>
          </a:prstGeom>
          <a:noFill/>
          <a:ln w="9525">
            <a:noFill/>
            <a:miter lim="800000"/>
            <a:headEnd/>
            <a:tailEnd/>
          </a:ln>
        </p:spPr>
        <p:txBody>
          <a:bodyPr wrap="none">
            <a:spAutoFit/>
          </a:bodyPr>
          <a:lstStyle/>
          <a:p>
            <a:r>
              <a:rPr lang="pt-BR" b="1">
                <a:solidFill>
                  <a:srgbClr val="CC3300"/>
                </a:solidFill>
              </a:rPr>
              <a:t>Aonde vou?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6262"/>
                                        </p:tgtEl>
                                        <p:attrNameLst>
                                          <p:attrName>style.visibility</p:attrName>
                                        </p:attrNameLst>
                                      </p:cBhvr>
                                      <p:to>
                                        <p:strVal val="visible"/>
                                      </p:to>
                                    </p:set>
                                    <p:anim calcmode="lin" valueType="num">
                                      <p:cBhvr additive="base">
                                        <p:cTn id="7" dur="500" fill="hold"/>
                                        <p:tgtEl>
                                          <p:spTgt spid="96262"/>
                                        </p:tgtEl>
                                        <p:attrNameLst>
                                          <p:attrName>ppt_x</p:attrName>
                                        </p:attrNameLst>
                                      </p:cBhvr>
                                      <p:tavLst>
                                        <p:tav tm="0">
                                          <p:val>
                                            <p:strVal val="#ppt_x"/>
                                          </p:val>
                                        </p:tav>
                                        <p:tav tm="100000">
                                          <p:val>
                                            <p:strVal val="#ppt_x"/>
                                          </p:val>
                                        </p:tav>
                                      </p:tavLst>
                                    </p:anim>
                                    <p:anim calcmode="lin" valueType="num">
                                      <p:cBhvr additive="base">
                                        <p:cTn id="8" dur="500" fill="hold"/>
                                        <p:tgtEl>
                                          <p:spTgt spid="962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6263"/>
                                        </p:tgtEl>
                                        <p:attrNameLst>
                                          <p:attrName>style.visibility</p:attrName>
                                        </p:attrNameLst>
                                      </p:cBhvr>
                                      <p:to>
                                        <p:strVal val="visible"/>
                                      </p:to>
                                    </p:set>
                                    <p:anim calcmode="lin" valueType="num">
                                      <p:cBhvr additive="base">
                                        <p:cTn id="13" dur="500" fill="hold"/>
                                        <p:tgtEl>
                                          <p:spTgt spid="96263"/>
                                        </p:tgtEl>
                                        <p:attrNameLst>
                                          <p:attrName>ppt_x</p:attrName>
                                        </p:attrNameLst>
                                      </p:cBhvr>
                                      <p:tavLst>
                                        <p:tav tm="0">
                                          <p:val>
                                            <p:strVal val="#ppt_x"/>
                                          </p:val>
                                        </p:tav>
                                        <p:tav tm="100000">
                                          <p:val>
                                            <p:strVal val="#ppt_x"/>
                                          </p:val>
                                        </p:tav>
                                      </p:tavLst>
                                    </p:anim>
                                    <p:anim calcmode="lin" valueType="num">
                                      <p:cBhvr additive="base">
                                        <p:cTn id="14" dur="500" fill="hold"/>
                                        <p:tgtEl>
                                          <p:spTgt spid="962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p:bldP spid="9626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tângulo 1"/>
          <p:cNvSpPr>
            <a:spLocks noChangeArrowheads="1"/>
          </p:cNvSpPr>
          <p:nvPr/>
        </p:nvSpPr>
        <p:spPr bwMode="auto">
          <a:xfrm>
            <a:off x="685800" y="838200"/>
            <a:ext cx="7620000" cy="5214938"/>
          </a:xfrm>
          <a:prstGeom prst="rect">
            <a:avLst/>
          </a:prstGeom>
          <a:noFill/>
          <a:ln w="9525">
            <a:noFill/>
            <a:miter lim="800000"/>
            <a:headEnd/>
            <a:tailEnd/>
          </a:ln>
        </p:spPr>
        <p:txBody>
          <a:bodyPr>
            <a:spAutoFit/>
          </a:bodyPr>
          <a:lstStyle/>
          <a:p>
            <a:pPr>
              <a:lnSpc>
                <a:spcPct val="120000"/>
              </a:lnSpc>
            </a:pPr>
            <a:r>
              <a:rPr lang="pt-BR" sz="2800"/>
              <a:t>“Planejamento é o modo de agir sobre algo de modo eficaz" </a:t>
            </a:r>
          </a:p>
          <a:p>
            <a:pPr>
              <a:lnSpc>
                <a:spcPct val="120000"/>
              </a:lnSpc>
            </a:pPr>
            <a:r>
              <a:rPr lang="pt-BR" sz="2800" b="1"/>
              <a:t>(Merhy, 1994)</a:t>
            </a:r>
          </a:p>
          <a:p>
            <a:pPr>
              <a:lnSpc>
                <a:spcPct val="120000"/>
              </a:lnSpc>
            </a:pPr>
            <a:endParaRPr lang="pt-BR" sz="2800" b="1"/>
          </a:p>
          <a:p>
            <a:pPr algn="just">
              <a:lnSpc>
                <a:spcPct val="120000"/>
              </a:lnSpc>
            </a:pPr>
            <a:r>
              <a:rPr lang="pt-BR" sz="2800"/>
              <a:t>“Planejar consiste, basicamente, em decidir com antecedência o que será feito para mudar condições insatisfatórias no presente e evitar que condições adequadas venham a deteriorar-se no futuro”</a:t>
            </a:r>
          </a:p>
          <a:p>
            <a:pPr algn="just">
              <a:lnSpc>
                <a:spcPct val="120000"/>
              </a:lnSpc>
            </a:pPr>
            <a:r>
              <a:rPr lang="pt-BR" sz="2800"/>
              <a:t>(</a:t>
            </a:r>
            <a:r>
              <a:rPr lang="pt-BR" sz="2800" b="1"/>
              <a:t>Chorny, 1998).</a:t>
            </a:r>
            <a:endParaRPr lang="pt-BR" sz="28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pt-BR" smtClean="0"/>
              <a:t>Planejamento estratégico</a:t>
            </a:r>
          </a:p>
        </p:txBody>
      </p:sp>
      <p:sp>
        <p:nvSpPr>
          <p:cNvPr id="25603" name="Rectangle 3"/>
          <p:cNvSpPr>
            <a:spLocks noGrp="1" noChangeArrowheads="1"/>
          </p:cNvSpPr>
          <p:nvPr>
            <p:ph type="body" idx="1"/>
          </p:nvPr>
        </p:nvSpPr>
        <p:spPr/>
        <p:txBody>
          <a:bodyPr/>
          <a:lstStyle/>
          <a:p>
            <a:pPr eaLnBrk="1" hangingPunct="1"/>
            <a:r>
              <a:rPr lang="pt-BR" smtClean="0"/>
              <a:t>Macroeconomia</a:t>
            </a:r>
          </a:p>
          <a:p>
            <a:pPr eaLnBrk="1" hangingPunct="1"/>
            <a:r>
              <a:rPr lang="pt-BR" smtClean="0"/>
              <a:t>Integração(frente e trás)</a:t>
            </a:r>
          </a:p>
          <a:p>
            <a:pPr eaLnBrk="1" hangingPunct="1"/>
            <a:r>
              <a:rPr lang="pt-BR" smtClean="0"/>
              <a:t>Concorrentes: nivel de rivalidade, lucro?</a:t>
            </a:r>
          </a:p>
          <a:p>
            <a:pPr eaLnBrk="1" hangingPunct="1"/>
            <a:r>
              <a:rPr lang="pt-BR" smtClean="0"/>
              <a:t>Barganha</a:t>
            </a:r>
          </a:p>
          <a:p>
            <a:pPr eaLnBrk="1" hangingPunct="1"/>
            <a:r>
              <a:rPr lang="pt-BR" smtClean="0"/>
              <a:t>Escala ou margem?</a:t>
            </a:r>
          </a:p>
          <a:p>
            <a:pPr eaLnBrk="1" hangingPunct="1"/>
            <a:endParaRPr lang="pt-BR" smtClean="0"/>
          </a:p>
          <a:p>
            <a:pPr eaLnBrk="1" hangingPunct="1"/>
            <a:endParaRPr lang="pt-BR"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pt-BR" smtClean="0"/>
              <a:t>Planejamento estratégico</a:t>
            </a:r>
          </a:p>
        </p:txBody>
      </p:sp>
      <p:sp>
        <p:nvSpPr>
          <p:cNvPr id="26627" name="Rectangle 3"/>
          <p:cNvSpPr>
            <a:spLocks noGrp="1" noChangeArrowheads="1"/>
          </p:cNvSpPr>
          <p:nvPr>
            <p:ph type="body" idx="1"/>
          </p:nvPr>
        </p:nvSpPr>
        <p:spPr/>
        <p:txBody>
          <a:bodyPr/>
          <a:lstStyle/>
          <a:p>
            <a:pPr eaLnBrk="1" hangingPunct="1"/>
            <a:endParaRPr lang="pt-BR" smtClean="0"/>
          </a:p>
        </p:txBody>
      </p:sp>
      <p:pic>
        <p:nvPicPr>
          <p:cNvPr id="26628" name="Picture 4" descr="planejamento"/>
          <p:cNvPicPr>
            <a:picLocks noChangeAspect="1" noChangeArrowheads="1"/>
          </p:cNvPicPr>
          <p:nvPr/>
        </p:nvPicPr>
        <p:blipFill>
          <a:blip r:embed="rId2"/>
          <a:srcRect/>
          <a:stretch>
            <a:fillRect/>
          </a:stretch>
        </p:blipFill>
        <p:spPr bwMode="auto">
          <a:xfrm>
            <a:off x="342900" y="2257425"/>
            <a:ext cx="8610600" cy="45831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pt-BR" smtClean="0"/>
              <a:t>Planejamento estratégico</a:t>
            </a:r>
          </a:p>
        </p:txBody>
      </p:sp>
      <p:sp>
        <p:nvSpPr>
          <p:cNvPr id="27651" name="Rectangle 3"/>
          <p:cNvSpPr>
            <a:spLocks noGrp="1" noChangeArrowheads="1"/>
          </p:cNvSpPr>
          <p:nvPr>
            <p:ph type="body" idx="1"/>
          </p:nvPr>
        </p:nvSpPr>
        <p:spPr/>
        <p:txBody>
          <a:bodyPr/>
          <a:lstStyle/>
          <a:p>
            <a:pPr eaLnBrk="1" hangingPunct="1"/>
            <a:r>
              <a:rPr lang="pt-BR" smtClean="0"/>
              <a:t>Stakeholders</a:t>
            </a:r>
          </a:p>
          <a:p>
            <a:pPr eaLnBrk="1" hangingPunct="1"/>
            <a:r>
              <a:rPr lang="pt-BR" smtClean="0"/>
              <a:t>Custo ou diferenciação?</a:t>
            </a:r>
          </a:p>
          <a:p>
            <a:pPr algn="ctr" eaLnBrk="1" hangingPunct="1">
              <a:buFontTx/>
              <a:buNone/>
            </a:pPr>
            <a:r>
              <a:rPr lang="pt-BR" smtClean="0"/>
              <a:t>A política do PATO</a:t>
            </a:r>
          </a:p>
        </p:txBody>
      </p:sp>
      <p:pic>
        <p:nvPicPr>
          <p:cNvPr id="27653" name="Picture 5" descr="Resultado de imagem para politica do pato"/>
          <p:cNvPicPr>
            <a:picLocks noChangeAspect="1" noChangeArrowheads="1"/>
          </p:cNvPicPr>
          <p:nvPr/>
        </p:nvPicPr>
        <p:blipFill>
          <a:blip r:embed="rId2"/>
          <a:srcRect/>
          <a:stretch>
            <a:fillRect/>
          </a:stretch>
        </p:blipFill>
        <p:spPr bwMode="auto">
          <a:xfrm>
            <a:off x="762000" y="1219200"/>
            <a:ext cx="7315200" cy="5486400"/>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ítulo 1"/>
          <p:cNvSpPr>
            <a:spLocks noGrp="1"/>
          </p:cNvSpPr>
          <p:nvPr>
            <p:ph type="title"/>
          </p:nvPr>
        </p:nvSpPr>
        <p:spPr/>
        <p:txBody>
          <a:bodyPr/>
          <a:lstStyle/>
          <a:p>
            <a:r>
              <a:rPr lang="pt-BR" smtClean="0"/>
              <a:t>CICLO DE VIDA</a:t>
            </a:r>
          </a:p>
        </p:txBody>
      </p:sp>
      <p:sp>
        <p:nvSpPr>
          <p:cNvPr id="29699" name="Espaço Reservado para Conteúdo 2"/>
          <p:cNvSpPr>
            <a:spLocks noGrp="1"/>
          </p:cNvSpPr>
          <p:nvPr>
            <p:ph idx="1"/>
          </p:nvPr>
        </p:nvSpPr>
        <p:spPr/>
        <p:txBody>
          <a:bodyPr/>
          <a:lstStyle/>
          <a:p>
            <a:r>
              <a:rPr lang="pt-BR" smtClean="0"/>
              <a:t>O projeto passa por uma série de fases desde a sua concepção até seu ponto de conclusão.</a:t>
            </a:r>
          </a:p>
          <a:p>
            <a:r>
              <a:rPr lang="pt-BR" smtClean="0"/>
              <a:t>Cada fase com sua necessidades e características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ítulo 1"/>
          <p:cNvSpPr>
            <a:spLocks noGrp="1"/>
          </p:cNvSpPr>
          <p:nvPr>
            <p:ph type="title"/>
          </p:nvPr>
        </p:nvSpPr>
        <p:spPr/>
        <p:txBody>
          <a:bodyPr/>
          <a:lstStyle/>
          <a:p>
            <a:r>
              <a:rPr lang="pt-BR" smtClean="0"/>
              <a:t>CICLO DE VIDA</a:t>
            </a:r>
          </a:p>
        </p:txBody>
      </p:sp>
      <p:sp>
        <p:nvSpPr>
          <p:cNvPr id="30723" name="Espaço Reservado para Conteúdo 2"/>
          <p:cNvSpPr>
            <a:spLocks noGrp="1"/>
          </p:cNvSpPr>
          <p:nvPr>
            <p:ph idx="1"/>
          </p:nvPr>
        </p:nvSpPr>
        <p:spPr/>
        <p:txBody>
          <a:bodyPr/>
          <a:lstStyle/>
          <a:p>
            <a:endParaRPr lang="pt-BR" smtClean="0"/>
          </a:p>
          <a:p>
            <a:endParaRPr lang="pt-BR" smtClean="0"/>
          </a:p>
          <a:p>
            <a:pPr algn="ctr">
              <a:buFontTx/>
              <a:buNone/>
            </a:pPr>
            <a:r>
              <a:rPr lang="pt-BR" smtClean="0"/>
              <a:t>Conceituação</a:t>
            </a:r>
          </a:p>
          <a:p>
            <a:pPr algn="ctr">
              <a:buFontTx/>
              <a:buNone/>
            </a:pPr>
            <a:r>
              <a:rPr lang="pt-BR" smtClean="0"/>
              <a:t>Planejamento</a:t>
            </a:r>
          </a:p>
          <a:p>
            <a:pPr algn="ctr">
              <a:buFontTx/>
              <a:buNone/>
            </a:pPr>
            <a:r>
              <a:rPr lang="pt-BR" smtClean="0"/>
              <a:t>Implementação</a:t>
            </a:r>
          </a:p>
          <a:p>
            <a:pPr algn="ctr">
              <a:buFontTx/>
              <a:buNone/>
            </a:pPr>
            <a:r>
              <a:rPr lang="pt-BR" smtClean="0"/>
              <a:t>Conclusão</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ítulo 1"/>
          <p:cNvSpPr>
            <a:spLocks noGrp="1"/>
          </p:cNvSpPr>
          <p:nvPr>
            <p:ph type="title"/>
          </p:nvPr>
        </p:nvSpPr>
        <p:spPr/>
        <p:txBody>
          <a:bodyPr/>
          <a:lstStyle/>
          <a:p>
            <a:endParaRPr lang="pt-BR" smtClean="0"/>
          </a:p>
        </p:txBody>
      </p:sp>
      <p:pic>
        <p:nvPicPr>
          <p:cNvPr id="31747" name="Espaço Reservado para Conteúdo 3" descr="ciclo de vida.jpg"/>
          <p:cNvPicPr>
            <a:picLocks noGrp="1" noChangeAspect="1"/>
          </p:cNvPicPr>
          <p:nvPr>
            <p:ph idx="1"/>
          </p:nvPr>
        </p:nvPicPr>
        <p:blipFill>
          <a:blip r:embed="rId2"/>
          <a:srcRect/>
          <a:stretch>
            <a:fillRect/>
          </a:stretch>
        </p:blipFill>
        <p:spPr>
          <a:xfrm>
            <a:off x="266700" y="166688"/>
            <a:ext cx="8648700" cy="6502400"/>
          </a:xfr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Metodologias Ágeis</a:t>
            </a:r>
          </a:p>
        </p:txBody>
      </p:sp>
      <p:sp>
        <p:nvSpPr>
          <p:cNvPr id="3" name="Text Placeholder 2"/>
          <p:cNvSpPr>
            <a:spLocks noGrp="1"/>
          </p:cNvSpPr>
          <p:nvPr>
            <p:ph type="body" idx="1"/>
          </p:nvPr>
        </p:nvSpPr>
        <p:spPr/>
        <p:txBody>
          <a:bodyPr/>
          <a:lstStyle/>
          <a:p>
            <a:r>
              <a:t>Do plano detalhado à entrega contínua de valor</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Espectro de abordagens</a:t>
            </a:r>
          </a:p>
        </p:txBody>
      </p:sp>
      <p:sp>
        <p:nvSpPr>
          <p:cNvPr id="3" name="Rounded Rectangle 2"/>
          <p:cNvSpPr/>
          <p:nvPr/>
        </p:nvSpPr>
        <p:spPr>
          <a:xfrm>
            <a:off x="457200" y="1463040"/>
            <a:ext cx="2621280" cy="416052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Preditiva</a:t>
            </a:r>
          </a:p>
          <a:p>
            <a:pPr algn="l">
              <a:spcAft>
                <a:spcPts val="400"/>
              </a:spcAft>
            </a:pPr>
            <a:r>
              <a:rPr sz="1500">
                <a:solidFill>
                  <a:schemeClr val="tx1"/>
                </a:solidFill>
              </a:rPr>
              <a:t>Requisitos estáveis e conhecidos</a:t>
            </a:r>
          </a:p>
          <a:p>
            <a:pPr algn="l">
              <a:spcAft>
                <a:spcPts val="400"/>
              </a:spcAft>
            </a:pPr>
            <a:r>
              <a:rPr sz="1500">
                <a:solidFill>
                  <a:schemeClr val="tx1"/>
                </a:solidFill>
              </a:rPr>
              <a:t>Plano completo no início</a:t>
            </a:r>
          </a:p>
          <a:p>
            <a:pPr algn="l">
              <a:spcAft>
                <a:spcPts val="400"/>
              </a:spcAft>
            </a:pPr>
            <a:r>
              <a:rPr sz="1500">
                <a:solidFill>
                  <a:schemeClr val="tx1"/>
                </a:solidFill>
              </a:rPr>
              <a:t>Entrega única no final</a:t>
            </a:r>
          </a:p>
          <a:p>
            <a:pPr algn="l">
              <a:spcAft>
                <a:spcPts val="400"/>
              </a:spcAft>
            </a:pPr>
            <a:r>
              <a:rPr sz="1500">
                <a:solidFill>
                  <a:schemeClr val="tx1"/>
                </a:solidFill>
              </a:rPr>
              <a:t>Ex.: obra civil, regulados</a:t>
            </a:r>
          </a:p>
        </p:txBody>
      </p:sp>
      <p:sp>
        <p:nvSpPr>
          <p:cNvPr id="4" name="Rounded Rectangle 3"/>
          <p:cNvSpPr/>
          <p:nvPr/>
        </p:nvSpPr>
        <p:spPr>
          <a:xfrm>
            <a:off x="3261360" y="1463040"/>
            <a:ext cx="2621280" cy="416052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Ágil</a:t>
            </a:r>
          </a:p>
          <a:p>
            <a:pPr algn="l">
              <a:spcAft>
                <a:spcPts val="400"/>
              </a:spcAft>
            </a:pPr>
            <a:r>
              <a:rPr sz="1500">
                <a:solidFill>
                  <a:schemeClr val="tx1"/>
                </a:solidFill>
              </a:rPr>
              <a:t>Requisitos que evoluem</a:t>
            </a:r>
          </a:p>
          <a:p>
            <a:pPr algn="l">
              <a:spcAft>
                <a:spcPts val="400"/>
              </a:spcAft>
            </a:pPr>
            <a:r>
              <a:rPr sz="1500">
                <a:solidFill>
                  <a:schemeClr val="tx1"/>
                </a:solidFill>
              </a:rPr>
              <a:t>Ciclos curtos (iterações)</a:t>
            </a:r>
          </a:p>
          <a:p>
            <a:pPr algn="l">
              <a:spcAft>
                <a:spcPts val="400"/>
              </a:spcAft>
            </a:pPr>
            <a:r>
              <a:rPr sz="1500">
                <a:solidFill>
                  <a:schemeClr val="tx1"/>
                </a:solidFill>
              </a:rPr>
              <a:t>Entregas frequentes e feedback</a:t>
            </a:r>
          </a:p>
          <a:p>
            <a:pPr algn="l">
              <a:spcAft>
                <a:spcPts val="400"/>
              </a:spcAft>
            </a:pPr>
            <a:r>
              <a:rPr sz="1500">
                <a:solidFill>
                  <a:schemeClr val="tx1"/>
                </a:solidFill>
              </a:rPr>
              <a:t>Ex.: software, produtos digitais</a:t>
            </a:r>
          </a:p>
        </p:txBody>
      </p:sp>
      <p:sp>
        <p:nvSpPr>
          <p:cNvPr id="5" name="Rounded Rectangle 4"/>
          <p:cNvSpPr/>
          <p:nvPr/>
        </p:nvSpPr>
        <p:spPr>
          <a:xfrm>
            <a:off x="6065520" y="1463040"/>
            <a:ext cx="2621280" cy="416052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Híbrida</a:t>
            </a:r>
          </a:p>
          <a:p>
            <a:pPr algn="l">
              <a:spcAft>
                <a:spcPts val="400"/>
              </a:spcAft>
            </a:pPr>
            <a:r>
              <a:rPr sz="1500">
                <a:solidFill>
                  <a:schemeClr val="tx1"/>
                </a:solidFill>
              </a:rPr>
              <a:t>Combina as duas</a:t>
            </a:r>
          </a:p>
          <a:p>
            <a:pPr algn="l">
              <a:spcAft>
                <a:spcPts val="400"/>
              </a:spcAft>
            </a:pPr>
            <a:r>
              <a:rPr sz="1500">
                <a:solidFill>
                  <a:schemeClr val="tx1"/>
                </a:solidFill>
              </a:rPr>
              <a:t>Marcos e orçamento preditivos</a:t>
            </a:r>
          </a:p>
          <a:p>
            <a:pPr algn="l">
              <a:spcAft>
                <a:spcPts val="400"/>
              </a:spcAft>
            </a:pPr>
            <a:r>
              <a:rPr sz="1500">
                <a:solidFill>
                  <a:schemeClr val="tx1"/>
                </a:solidFill>
              </a:rPr>
              <a:t>Execução em ciclos ágeis</a:t>
            </a:r>
          </a:p>
          <a:p>
            <a:pPr algn="l">
              <a:spcAft>
                <a:spcPts val="400"/>
              </a:spcAft>
            </a:pPr>
            <a:r>
              <a:rPr sz="1500">
                <a:solidFill>
                  <a:schemeClr val="tx1"/>
                </a:solidFill>
              </a:rPr>
              <a:t>Ex.: hardware + software</a:t>
            </a:r>
          </a:p>
        </p:txBody>
      </p:sp>
      <p:sp>
        <p:nvSpPr>
          <p:cNvPr id="6" name="TextBox 5"/>
          <p:cNvSpPr txBox="1"/>
          <p:nvPr/>
        </p:nvSpPr>
        <p:spPr>
          <a:xfrm>
            <a:off x="457200" y="5760720"/>
            <a:ext cx="8229600" cy="640080"/>
          </a:xfrm>
          <a:prstGeom prst="rect">
            <a:avLst/>
          </a:prstGeom>
          <a:noFill/>
        </p:spPr>
        <p:txBody>
          <a:bodyPr wrap="square">
            <a:spAutoFit/>
          </a:bodyPr>
          <a:lstStyle/>
          <a:p>
            <a:r>
              <a:rPr sz="1500" i="1"/>
              <a:t>Não existe abordagem única: o ciclo de vida é escolhido conforme o contexto do projeto.</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Manifesto Ágil (2001)</a:t>
            </a:r>
          </a:p>
        </p:txBody>
      </p:sp>
      <p:sp>
        <p:nvSpPr>
          <p:cNvPr id="3" name="Rounded Rectangle 2"/>
          <p:cNvSpPr/>
          <p:nvPr/>
        </p:nvSpPr>
        <p:spPr>
          <a:xfrm>
            <a:off x="457200" y="1463040"/>
            <a:ext cx="4023360" cy="198882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2000" b="1">
                <a:solidFill>
                  <a:schemeClr val="accent1">
                    <a:lumMod val="75000"/>
                  </a:schemeClr>
                </a:solidFill>
              </a:rPr>
              <a:t>Indivíduos e interações</a:t>
            </a:r>
          </a:p>
          <a:p>
            <a:pPr algn="l">
              <a:spcAft>
                <a:spcPts val="400"/>
              </a:spcAft>
            </a:pPr>
            <a:r>
              <a:rPr sz="1800">
                <a:solidFill>
                  <a:schemeClr val="tx1"/>
                </a:solidFill>
              </a:rPr>
              <a:t>mais que processos e ferramentas</a:t>
            </a:r>
          </a:p>
        </p:txBody>
      </p:sp>
      <p:sp>
        <p:nvSpPr>
          <p:cNvPr id="4" name="Rounded Rectangle 3"/>
          <p:cNvSpPr/>
          <p:nvPr/>
        </p:nvSpPr>
        <p:spPr>
          <a:xfrm>
            <a:off x="4663440" y="1463040"/>
            <a:ext cx="4023360" cy="198882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2000" b="1">
                <a:solidFill>
                  <a:schemeClr val="accent1">
                    <a:lumMod val="75000"/>
                  </a:schemeClr>
                </a:solidFill>
              </a:rPr>
              <a:t>Software funcionando</a:t>
            </a:r>
          </a:p>
          <a:p>
            <a:pPr algn="l">
              <a:spcAft>
                <a:spcPts val="400"/>
              </a:spcAft>
            </a:pPr>
            <a:r>
              <a:rPr sz="1800">
                <a:solidFill>
                  <a:schemeClr val="tx1"/>
                </a:solidFill>
              </a:rPr>
              <a:t>mais que documentação abrangente</a:t>
            </a:r>
          </a:p>
        </p:txBody>
      </p:sp>
      <p:sp>
        <p:nvSpPr>
          <p:cNvPr id="5" name="Rounded Rectangle 4"/>
          <p:cNvSpPr/>
          <p:nvPr/>
        </p:nvSpPr>
        <p:spPr>
          <a:xfrm>
            <a:off x="457200" y="3634740"/>
            <a:ext cx="4023360" cy="198882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2000" b="1">
                <a:solidFill>
                  <a:schemeClr val="accent1">
                    <a:lumMod val="75000"/>
                  </a:schemeClr>
                </a:solidFill>
              </a:rPr>
              <a:t>Colaboração com o cliente</a:t>
            </a:r>
          </a:p>
          <a:p>
            <a:pPr algn="l">
              <a:spcAft>
                <a:spcPts val="400"/>
              </a:spcAft>
            </a:pPr>
            <a:r>
              <a:rPr sz="1800">
                <a:solidFill>
                  <a:schemeClr val="tx1"/>
                </a:solidFill>
              </a:rPr>
              <a:t>mais que negociação de contratos</a:t>
            </a:r>
          </a:p>
        </p:txBody>
      </p:sp>
      <p:sp>
        <p:nvSpPr>
          <p:cNvPr id="6" name="Rounded Rectangle 5"/>
          <p:cNvSpPr/>
          <p:nvPr/>
        </p:nvSpPr>
        <p:spPr>
          <a:xfrm>
            <a:off x="4663440" y="3634740"/>
            <a:ext cx="4023360" cy="198882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2000" b="1">
                <a:solidFill>
                  <a:schemeClr val="accent1">
                    <a:lumMod val="75000"/>
                  </a:schemeClr>
                </a:solidFill>
              </a:rPr>
              <a:t>Responder a mudanças</a:t>
            </a:r>
          </a:p>
          <a:p>
            <a:pPr algn="l">
              <a:spcAft>
                <a:spcPts val="400"/>
              </a:spcAft>
            </a:pPr>
            <a:r>
              <a:rPr sz="1800">
                <a:solidFill>
                  <a:schemeClr val="tx1"/>
                </a:solidFill>
              </a:rPr>
              <a:t>mais que seguir um plano</a:t>
            </a:r>
          </a:p>
        </p:txBody>
      </p:sp>
      <p:sp>
        <p:nvSpPr>
          <p:cNvPr id="7" name="TextBox 6"/>
          <p:cNvSpPr txBox="1"/>
          <p:nvPr/>
        </p:nvSpPr>
        <p:spPr>
          <a:xfrm>
            <a:off x="457200" y="5760720"/>
            <a:ext cx="8229600" cy="640080"/>
          </a:xfrm>
          <a:prstGeom prst="rect">
            <a:avLst/>
          </a:prstGeom>
          <a:noFill/>
        </p:spPr>
        <p:txBody>
          <a:bodyPr wrap="square">
            <a:spAutoFit/>
          </a:bodyPr>
          <a:lstStyle/>
          <a:p>
            <a:r>
              <a:rPr sz="1500" i="1"/>
              <a:t>Há valor nos itens da direita, mas valorizamos mais os da esquerda. O Manifesto tem ainda 12 princípios.</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Scrum (Scrum Guide 2020)</a:t>
            </a:r>
          </a:p>
        </p:txBody>
      </p:sp>
      <p:sp>
        <p:nvSpPr>
          <p:cNvPr id="3" name="Rounded Rectangle 2"/>
          <p:cNvSpPr/>
          <p:nvPr/>
        </p:nvSpPr>
        <p:spPr>
          <a:xfrm>
            <a:off x="457200" y="1463040"/>
            <a:ext cx="2621280" cy="489204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Papéis</a:t>
            </a:r>
          </a:p>
          <a:p>
            <a:pPr algn="l">
              <a:spcAft>
                <a:spcPts val="400"/>
              </a:spcAft>
            </a:pPr>
            <a:r>
              <a:rPr sz="1500">
                <a:solidFill>
                  <a:schemeClr val="tx1"/>
                </a:solidFill>
              </a:rPr>
              <a:t>Product Owner</a:t>
            </a:r>
          </a:p>
          <a:p>
            <a:pPr algn="l">
              <a:spcAft>
                <a:spcPts val="400"/>
              </a:spcAft>
            </a:pPr>
            <a:r>
              <a:rPr sz="1500">
                <a:solidFill>
                  <a:schemeClr val="tx1"/>
                </a:solidFill>
              </a:rPr>
              <a:t>Scrum Master</a:t>
            </a:r>
          </a:p>
          <a:p>
            <a:pPr algn="l">
              <a:spcAft>
                <a:spcPts val="400"/>
              </a:spcAft>
            </a:pPr>
            <a:r>
              <a:rPr sz="1500">
                <a:solidFill>
                  <a:schemeClr val="tx1"/>
                </a:solidFill>
              </a:rPr>
              <a:t>Developers</a:t>
            </a:r>
          </a:p>
        </p:txBody>
      </p:sp>
      <p:sp>
        <p:nvSpPr>
          <p:cNvPr id="4" name="Rounded Rectangle 3"/>
          <p:cNvSpPr/>
          <p:nvPr/>
        </p:nvSpPr>
        <p:spPr>
          <a:xfrm>
            <a:off x="3261360" y="1463040"/>
            <a:ext cx="2621280" cy="489204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Eventos</a:t>
            </a:r>
          </a:p>
          <a:p>
            <a:pPr algn="l">
              <a:spcAft>
                <a:spcPts val="400"/>
              </a:spcAft>
            </a:pPr>
            <a:r>
              <a:rPr sz="1500">
                <a:solidFill>
                  <a:schemeClr val="tx1"/>
                </a:solidFill>
              </a:rPr>
              <a:t>Sprint (até 1 mês)</a:t>
            </a:r>
          </a:p>
          <a:p>
            <a:pPr algn="l">
              <a:spcAft>
                <a:spcPts val="400"/>
              </a:spcAft>
            </a:pPr>
            <a:r>
              <a:rPr sz="1500">
                <a:solidFill>
                  <a:schemeClr val="tx1"/>
                </a:solidFill>
              </a:rPr>
              <a:t>Planning</a:t>
            </a:r>
          </a:p>
          <a:p>
            <a:pPr algn="l">
              <a:spcAft>
                <a:spcPts val="400"/>
              </a:spcAft>
            </a:pPr>
            <a:r>
              <a:rPr sz="1500">
                <a:solidFill>
                  <a:schemeClr val="tx1"/>
                </a:solidFill>
              </a:rPr>
              <a:t>Daily (15 min)</a:t>
            </a:r>
          </a:p>
          <a:p>
            <a:pPr algn="l">
              <a:spcAft>
                <a:spcPts val="400"/>
              </a:spcAft>
            </a:pPr>
            <a:r>
              <a:rPr sz="1500">
                <a:solidFill>
                  <a:schemeClr val="tx1"/>
                </a:solidFill>
              </a:rPr>
              <a:t>Review</a:t>
            </a:r>
          </a:p>
          <a:p>
            <a:pPr algn="l">
              <a:spcAft>
                <a:spcPts val="400"/>
              </a:spcAft>
            </a:pPr>
            <a:r>
              <a:rPr sz="1500">
                <a:solidFill>
                  <a:schemeClr val="tx1"/>
                </a:solidFill>
              </a:rPr>
              <a:t>Retrospective</a:t>
            </a:r>
          </a:p>
        </p:txBody>
      </p:sp>
      <p:sp>
        <p:nvSpPr>
          <p:cNvPr id="5" name="Rounded Rectangle 4"/>
          <p:cNvSpPr/>
          <p:nvPr/>
        </p:nvSpPr>
        <p:spPr>
          <a:xfrm>
            <a:off x="6065520" y="1463040"/>
            <a:ext cx="2621280" cy="489204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Artefatos</a:t>
            </a:r>
          </a:p>
          <a:p>
            <a:pPr algn="l">
              <a:spcAft>
                <a:spcPts val="400"/>
              </a:spcAft>
            </a:pPr>
            <a:r>
              <a:rPr sz="1500">
                <a:solidFill>
                  <a:schemeClr val="tx1"/>
                </a:solidFill>
              </a:rPr>
              <a:t>Product Backlog: Product Goal</a:t>
            </a:r>
          </a:p>
          <a:p>
            <a:pPr algn="l">
              <a:spcAft>
                <a:spcPts val="400"/>
              </a:spcAft>
            </a:pPr>
            <a:r>
              <a:rPr sz="1500">
                <a:solidFill>
                  <a:schemeClr val="tx1"/>
                </a:solidFill>
              </a:rPr>
              <a:t>Sprint Backlog: Sprint Goal</a:t>
            </a:r>
          </a:p>
          <a:p>
            <a:pPr algn="l">
              <a:spcAft>
                <a:spcPts val="400"/>
              </a:spcAft>
            </a:pPr>
            <a:r>
              <a:rPr sz="1500">
                <a:solidFill>
                  <a:schemeClr val="tx1"/>
                </a:solidFill>
              </a:rPr>
              <a:t>Incremento: Definition of Done</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Kanban</a:t>
            </a:r>
          </a:p>
        </p:txBody>
      </p:sp>
      <p:sp>
        <p:nvSpPr>
          <p:cNvPr id="3" name="Rounded Rectangle 2"/>
          <p:cNvSpPr/>
          <p:nvPr/>
        </p:nvSpPr>
        <p:spPr>
          <a:xfrm>
            <a:off x="457200" y="1463040"/>
            <a:ext cx="4023360" cy="489204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Práticas</a:t>
            </a:r>
          </a:p>
          <a:p>
            <a:pPr algn="l">
              <a:spcAft>
                <a:spcPts val="400"/>
              </a:spcAft>
            </a:pPr>
            <a:r>
              <a:rPr sz="1500">
                <a:solidFill>
                  <a:schemeClr val="tx1"/>
                </a:solidFill>
              </a:rPr>
              <a:t>Visualizar o fluxo de trabalho</a:t>
            </a:r>
          </a:p>
          <a:p>
            <a:pPr algn="l">
              <a:spcAft>
                <a:spcPts val="400"/>
              </a:spcAft>
            </a:pPr>
            <a:r>
              <a:rPr sz="1500">
                <a:solidFill>
                  <a:schemeClr val="tx1"/>
                </a:solidFill>
              </a:rPr>
              <a:t>Limitar o trabalho em andamento (WIP)</a:t>
            </a:r>
          </a:p>
          <a:p>
            <a:pPr algn="l">
              <a:spcAft>
                <a:spcPts val="400"/>
              </a:spcAft>
            </a:pPr>
            <a:r>
              <a:rPr sz="1500">
                <a:solidFill>
                  <a:schemeClr val="tx1"/>
                </a:solidFill>
              </a:rPr>
              <a:t>Gerenciar o fluxo</a:t>
            </a:r>
          </a:p>
          <a:p>
            <a:pPr algn="l">
              <a:spcAft>
                <a:spcPts val="400"/>
              </a:spcAft>
            </a:pPr>
            <a:r>
              <a:rPr sz="1500">
                <a:solidFill>
                  <a:schemeClr val="tx1"/>
                </a:solidFill>
              </a:rPr>
              <a:t>Tornar políticas explícitas</a:t>
            </a:r>
          </a:p>
          <a:p>
            <a:pPr algn="l">
              <a:spcAft>
                <a:spcPts val="400"/>
              </a:spcAft>
            </a:pPr>
            <a:r>
              <a:rPr sz="1500">
                <a:solidFill>
                  <a:schemeClr val="tx1"/>
                </a:solidFill>
              </a:rPr>
              <a:t>Melhorar continuamente</a:t>
            </a:r>
          </a:p>
        </p:txBody>
      </p:sp>
      <p:sp>
        <p:nvSpPr>
          <p:cNvPr id="4" name="Rounded Rectangle 3"/>
          <p:cNvSpPr/>
          <p:nvPr/>
        </p:nvSpPr>
        <p:spPr>
          <a:xfrm>
            <a:off x="4663440" y="1463040"/>
            <a:ext cx="4023360" cy="489204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a:solidFill>
                  <a:schemeClr val="accent1">
                    <a:lumMod val="75000"/>
                  </a:schemeClr>
                </a:solidFill>
              </a:rPr>
              <a:t>Métricas</a:t>
            </a:r>
          </a:p>
          <a:p>
            <a:pPr algn="l">
              <a:spcAft>
                <a:spcPts val="400"/>
              </a:spcAft>
            </a:pPr>
            <a:r>
              <a:rPr sz="1500">
                <a:solidFill>
                  <a:schemeClr val="tx1"/>
                </a:solidFill>
              </a:rPr>
              <a:t>Lead time: pedido até entrega</a:t>
            </a:r>
          </a:p>
          <a:p>
            <a:pPr algn="l">
              <a:spcAft>
                <a:spcPts val="400"/>
              </a:spcAft>
            </a:pPr>
            <a:r>
              <a:rPr sz="1500">
                <a:solidFill>
                  <a:schemeClr val="tx1"/>
                </a:solidFill>
              </a:rPr>
              <a:t>Cycle time: início até entrega</a:t>
            </a:r>
          </a:p>
          <a:p>
            <a:pPr algn="l">
              <a:spcAft>
                <a:spcPts val="400"/>
              </a:spcAft>
            </a:pPr>
            <a:r>
              <a:rPr sz="1500">
                <a:solidFill>
                  <a:schemeClr val="tx1"/>
                </a:solidFill>
              </a:rPr>
              <a:t>Throughput: itens por período</a:t>
            </a:r>
          </a:p>
          <a:p>
            <a:pPr algn="l">
              <a:spcAft>
                <a:spcPts val="400"/>
              </a:spcAft>
            </a:pPr>
            <a:r>
              <a:rPr sz="1500">
                <a:solidFill>
                  <a:schemeClr val="tx1"/>
                </a:solidFill>
              </a:rPr>
              <a:t>WIP: itens em andamento</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Outras práticas e escala</a:t>
            </a:r>
          </a:p>
        </p:txBody>
      </p:sp>
      <p:sp>
        <p:nvSpPr>
          <p:cNvPr id="3" name="Content Placeholder 2"/>
          <p:cNvSpPr>
            <a:spLocks noGrp="1"/>
          </p:cNvSpPr>
          <p:nvPr>
            <p:ph idx="1"/>
          </p:nvPr>
        </p:nvSpPr>
        <p:spPr/>
        <p:txBody>
          <a:bodyPr/>
          <a:lstStyle/>
          <a:p>
            <a:r>
              <a:rPr sz="2200"/>
              <a:t>XP: TDD, programação em par, integração contínua, refatoração</a:t>
            </a:r>
          </a:p>
          <a:p>
            <a:r>
              <a:rPr sz="2200"/>
              <a:t>Lean: eliminar desperdício, entregar rápido</a:t>
            </a:r>
          </a:p>
          <a:p>
            <a:r>
              <a:rPr sz="2200"/>
              <a:t>DevOps: CI/CD, automação e feedback de produção</a:t>
            </a:r>
          </a:p>
          <a:p>
            <a:r>
              <a:rPr sz="2200"/>
              <a:t>Escala: SAFe, LeSS, Scrum@Scale, Disciplined Agile (PMI)</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Tradicional x Ágil</a:t>
            </a:r>
          </a:p>
        </p:txBody>
      </p:sp>
      <p:graphicFrame>
        <p:nvGraphicFramePr>
          <p:cNvPr id="3" name="Table 2"/>
          <p:cNvGraphicFramePr>
            <a:graphicFrameLocks noGrp="1"/>
          </p:cNvGraphicFramePr>
          <p:nvPr/>
        </p:nvGraphicFramePr>
        <p:xfrm>
          <a:off x="457200" y="1463040"/>
          <a:ext cx="8229600" cy="3840480"/>
        </p:xfrm>
        <a:graphic>
          <a:graphicData uri="http://schemas.openxmlformats.org/drawingml/2006/table">
            <a:tbl>
              <a:tblPr firstRow="1" bandRow="1">
                <a:tableStyleId>{5C22544A-7EE6-4342-B048-85BDC9FD1C3A}</a:tableStyleId>
              </a:tblPr>
              <a:tblGrid>
                <a:gridCol w="1828800"/>
                <a:gridCol w="3200400"/>
                <a:gridCol w="3200400"/>
              </a:tblGrid>
              <a:tr h="548640">
                <a:tc>
                  <a:txBody>
                    <a:bodyPr/>
                    <a:lstStyle/>
                    <a:p>
                      <a:r>
                        <a:rPr sz="1500" b="1"/>
                        <a:t>Aspecto</a:t>
                      </a:r>
                    </a:p>
                  </a:txBody>
                  <a:tcPr/>
                </a:tc>
                <a:tc>
                  <a:txBody>
                    <a:bodyPr/>
                    <a:lstStyle/>
                    <a:p>
                      <a:r>
                        <a:rPr sz="1500" b="1"/>
                        <a:t>Tradicional</a:t>
                      </a:r>
                    </a:p>
                  </a:txBody>
                  <a:tcPr/>
                </a:tc>
                <a:tc>
                  <a:txBody>
                    <a:bodyPr/>
                    <a:lstStyle/>
                    <a:p>
                      <a:r>
                        <a:rPr sz="1500" b="1"/>
                        <a:t>Ágil</a:t>
                      </a:r>
                    </a:p>
                  </a:txBody>
                  <a:tcPr/>
                </a:tc>
              </a:tr>
              <a:tr h="548640">
                <a:tc>
                  <a:txBody>
                    <a:bodyPr/>
                    <a:lstStyle/>
                    <a:p>
                      <a:r>
                        <a:rPr sz="1500" b="1"/>
                        <a:t>Escopo</a:t>
                      </a:r>
                    </a:p>
                  </a:txBody>
                  <a:tcPr/>
                </a:tc>
                <a:tc>
                  <a:txBody>
                    <a:bodyPr/>
                    <a:lstStyle/>
                    <a:p>
                      <a:r>
                        <a:rPr sz="1500" b="0"/>
                        <a:t>Fechado no início</a:t>
                      </a:r>
                    </a:p>
                  </a:txBody>
                  <a:tcPr/>
                </a:tc>
                <a:tc>
                  <a:txBody>
                    <a:bodyPr/>
                    <a:lstStyle/>
                    <a:p>
                      <a:r>
                        <a:rPr sz="1500" b="0"/>
                        <a:t>Backlog dinâmico</a:t>
                      </a:r>
                    </a:p>
                  </a:txBody>
                  <a:tcPr/>
                </a:tc>
              </a:tr>
              <a:tr h="548640">
                <a:tc>
                  <a:txBody>
                    <a:bodyPr/>
                    <a:lstStyle/>
                    <a:p>
                      <a:r>
                        <a:rPr sz="1500" b="1"/>
                        <a:t>Planejamento</a:t>
                      </a:r>
                    </a:p>
                  </a:txBody>
                  <a:tcPr/>
                </a:tc>
                <a:tc>
                  <a:txBody>
                    <a:bodyPr/>
                    <a:lstStyle/>
                    <a:p>
                      <a:r>
                        <a:rPr sz="1500" b="0"/>
                        <a:t>Completo e antecipado</a:t>
                      </a:r>
                    </a:p>
                  </a:txBody>
                  <a:tcPr/>
                </a:tc>
                <a:tc>
                  <a:txBody>
                    <a:bodyPr/>
                    <a:lstStyle/>
                    <a:p>
                      <a:r>
                        <a:rPr sz="1500" b="0"/>
                        <a:t>Contínuo, em ondas</a:t>
                      </a:r>
                    </a:p>
                  </a:txBody>
                  <a:tcPr/>
                </a:tc>
              </a:tr>
              <a:tr h="548640">
                <a:tc>
                  <a:txBody>
                    <a:bodyPr/>
                    <a:lstStyle/>
                    <a:p>
                      <a:r>
                        <a:rPr sz="1500" b="1"/>
                        <a:t>Mudança</a:t>
                      </a:r>
                    </a:p>
                  </a:txBody>
                  <a:tcPr/>
                </a:tc>
                <a:tc>
                  <a:txBody>
                    <a:bodyPr/>
                    <a:lstStyle/>
                    <a:p>
                      <a:r>
                        <a:rPr sz="1500" b="0"/>
                        <a:t>Controle formal</a:t>
                      </a:r>
                    </a:p>
                  </a:txBody>
                  <a:tcPr/>
                </a:tc>
                <a:tc>
                  <a:txBody>
                    <a:bodyPr/>
                    <a:lstStyle/>
                    <a:p>
                      <a:r>
                        <a:rPr sz="1500" b="0"/>
                        <a:t>Bem-vinda e priorizada</a:t>
                      </a:r>
                    </a:p>
                  </a:txBody>
                  <a:tcPr/>
                </a:tc>
              </a:tr>
              <a:tr h="548640">
                <a:tc>
                  <a:txBody>
                    <a:bodyPr/>
                    <a:lstStyle/>
                    <a:p>
                      <a:r>
                        <a:rPr sz="1500" b="1"/>
                        <a:t>Entrega</a:t>
                      </a:r>
                    </a:p>
                  </a:txBody>
                  <a:tcPr/>
                </a:tc>
                <a:tc>
                  <a:txBody>
                    <a:bodyPr/>
                    <a:lstStyle/>
                    <a:p>
                      <a:r>
                        <a:rPr sz="1500" b="0"/>
                        <a:t>Ao final</a:t>
                      </a:r>
                    </a:p>
                  </a:txBody>
                  <a:tcPr/>
                </a:tc>
                <a:tc>
                  <a:txBody>
                    <a:bodyPr/>
                    <a:lstStyle/>
                    <a:p>
                      <a:r>
                        <a:rPr sz="1500" b="0"/>
                        <a:t>Incrementos frequentes</a:t>
                      </a:r>
                    </a:p>
                  </a:txBody>
                  <a:tcPr/>
                </a:tc>
              </a:tr>
              <a:tr h="548640">
                <a:tc>
                  <a:txBody>
                    <a:bodyPr/>
                    <a:lstStyle/>
                    <a:p>
                      <a:r>
                        <a:rPr sz="1500" b="1"/>
                        <a:t>Gerente</a:t>
                      </a:r>
                    </a:p>
                  </a:txBody>
                  <a:tcPr/>
                </a:tc>
                <a:tc>
                  <a:txBody>
                    <a:bodyPr/>
                    <a:lstStyle/>
                    <a:p>
                      <a:r>
                        <a:rPr sz="1500" b="0"/>
                        <a:t>Planeja e controla</a:t>
                      </a:r>
                    </a:p>
                  </a:txBody>
                  <a:tcPr/>
                </a:tc>
                <a:tc>
                  <a:txBody>
                    <a:bodyPr/>
                    <a:lstStyle/>
                    <a:p>
                      <a:r>
                        <a:rPr sz="1500" b="0"/>
                        <a:t>Facilita e remove impedimentos</a:t>
                      </a:r>
                    </a:p>
                  </a:txBody>
                  <a:tcPr/>
                </a:tc>
              </a:tr>
              <a:tr h="548640">
                <a:tc>
                  <a:txBody>
                    <a:bodyPr/>
                    <a:lstStyle/>
                    <a:p>
                      <a:r>
                        <a:rPr sz="1500" b="1"/>
                        <a:t>Sucesso</a:t>
                      </a:r>
                    </a:p>
                  </a:txBody>
                  <a:tcPr/>
                </a:tc>
                <a:tc>
                  <a:txBody>
                    <a:bodyPr/>
                    <a:lstStyle/>
                    <a:p>
                      <a:r>
                        <a:rPr sz="1500" b="0"/>
                        <a:t>Prazo, custo, escopo</a:t>
                      </a:r>
                    </a:p>
                  </a:txBody>
                  <a:tcPr/>
                </a:tc>
                <a:tc>
                  <a:txBody>
                    <a:bodyPr/>
                    <a:lstStyle/>
                    <a:p>
                      <a:r>
                        <a:rPr sz="1500" b="0"/>
                        <a:t>Valor entregue ao cliente</a:t>
                      </a:r>
                    </a:p>
                  </a:txBody>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Híbrido: como escolher a abordagem</a:t>
            </a:r>
          </a:p>
        </p:txBody>
      </p:sp>
      <p:sp>
        <p:nvSpPr>
          <p:cNvPr id="3" name="Rounded Rectangle 2"/>
          <p:cNvSpPr/>
          <p:nvPr/>
        </p:nvSpPr>
        <p:spPr>
          <a:xfrm>
            <a:off x="457200" y="2209800"/>
            <a:ext cx="4023360" cy="414528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dirty="0" err="1">
                <a:solidFill>
                  <a:schemeClr val="accent1">
                    <a:lumMod val="75000"/>
                  </a:schemeClr>
                </a:solidFill>
              </a:rPr>
              <a:t>Fatores</a:t>
            </a:r>
            <a:r>
              <a:rPr sz="1800" b="1" dirty="0">
                <a:solidFill>
                  <a:schemeClr val="accent1">
                    <a:lumMod val="75000"/>
                  </a:schemeClr>
                </a:solidFill>
              </a:rPr>
              <a:t> de </a:t>
            </a:r>
            <a:r>
              <a:rPr sz="1800" b="1" dirty="0" err="1">
                <a:solidFill>
                  <a:schemeClr val="accent1">
                    <a:lumMod val="75000"/>
                  </a:schemeClr>
                </a:solidFill>
              </a:rPr>
              <a:t>decisão</a:t>
            </a:r>
            <a:endParaRPr sz="1800" b="1" dirty="0">
              <a:solidFill>
                <a:schemeClr val="accent1">
                  <a:lumMod val="75000"/>
                </a:schemeClr>
              </a:solidFill>
            </a:endParaRPr>
          </a:p>
          <a:p>
            <a:pPr algn="l">
              <a:spcAft>
                <a:spcPts val="400"/>
              </a:spcAft>
            </a:pPr>
            <a:r>
              <a:rPr sz="1500" dirty="0" err="1">
                <a:solidFill>
                  <a:schemeClr val="tx1"/>
                </a:solidFill>
              </a:rPr>
              <a:t>Incerteza</a:t>
            </a:r>
            <a:r>
              <a:rPr sz="1500" dirty="0">
                <a:solidFill>
                  <a:schemeClr val="tx1"/>
                </a:solidFill>
              </a:rPr>
              <a:t> dos </a:t>
            </a:r>
            <a:r>
              <a:rPr sz="1500" dirty="0" err="1">
                <a:solidFill>
                  <a:schemeClr val="tx1"/>
                </a:solidFill>
              </a:rPr>
              <a:t>requisitos</a:t>
            </a:r>
            <a:endParaRPr sz="1500" dirty="0">
              <a:solidFill>
                <a:schemeClr val="tx1"/>
              </a:solidFill>
            </a:endParaRPr>
          </a:p>
          <a:p>
            <a:pPr algn="l">
              <a:spcAft>
                <a:spcPts val="400"/>
              </a:spcAft>
            </a:pPr>
            <a:r>
              <a:rPr sz="1500" dirty="0" err="1">
                <a:solidFill>
                  <a:schemeClr val="tx1"/>
                </a:solidFill>
              </a:rPr>
              <a:t>Frequência</a:t>
            </a:r>
            <a:r>
              <a:rPr sz="1500" dirty="0">
                <a:solidFill>
                  <a:schemeClr val="tx1"/>
                </a:solidFill>
              </a:rPr>
              <a:t> de </a:t>
            </a:r>
            <a:r>
              <a:rPr sz="1500" dirty="0" err="1">
                <a:solidFill>
                  <a:schemeClr val="tx1"/>
                </a:solidFill>
              </a:rPr>
              <a:t>mudanças</a:t>
            </a:r>
            <a:endParaRPr sz="1500" dirty="0">
              <a:solidFill>
                <a:schemeClr val="tx1"/>
              </a:solidFill>
            </a:endParaRPr>
          </a:p>
          <a:p>
            <a:pPr algn="l">
              <a:spcAft>
                <a:spcPts val="400"/>
              </a:spcAft>
            </a:pPr>
            <a:r>
              <a:rPr sz="1500" dirty="0" err="1">
                <a:solidFill>
                  <a:schemeClr val="tx1"/>
                </a:solidFill>
              </a:rPr>
              <a:t>Exigências</a:t>
            </a:r>
            <a:r>
              <a:rPr sz="1500" dirty="0">
                <a:solidFill>
                  <a:schemeClr val="tx1"/>
                </a:solidFill>
              </a:rPr>
              <a:t> </a:t>
            </a:r>
            <a:r>
              <a:rPr sz="1500" dirty="0" err="1">
                <a:solidFill>
                  <a:schemeClr val="tx1"/>
                </a:solidFill>
              </a:rPr>
              <a:t>legais</a:t>
            </a:r>
            <a:r>
              <a:rPr sz="1500" dirty="0">
                <a:solidFill>
                  <a:schemeClr val="tx1"/>
                </a:solidFill>
              </a:rPr>
              <a:t> e </a:t>
            </a:r>
            <a:r>
              <a:rPr sz="1500" dirty="0" err="1">
                <a:solidFill>
                  <a:schemeClr val="tx1"/>
                </a:solidFill>
              </a:rPr>
              <a:t>contratuais</a:t>
            </a:r>
            <a:endParaRPr sz="1500" dirty="0">
              <a:solidFill>
                <a:schemeClr val="tx1"/>
              </a:solidFill>
            </a:endParaRPr>
          </a:p>
          <a:p>
            <a:pPr algn="l">
              <a:spcAft>
                <a:spcPts val="400"/>
              </a:spcAft>
            </a:pPr>
            <a:r>
              <a:rPr sz="1500" dirty="0" err="1">
                <a:solidFill>
                  <a:schemeClr val="tx1"/>
                </a:solidFill>
              </a:rPr>
              <a:t>Acesso</a:t>
            </a:r>
            <a:r>
              <a:rPr sz="1500" dirty="0">
                <a:solidFill>
                  <a:schemeClr val="tx1"/>
                </a:solidFill>
              </a:rPr>
              <a:t> </a:t>
            </a:r>
            <a:r>
              <a:rPr sz="1500" dirty="0" err="1">
                <a:solidFill>
                  <a:schemeClr val="tx1"/>
                </a:solidFill>
              </a:rPr>
              <a:t>ao</a:t>
            </a:r>
            <a:r>
              <a:rPr sz="1500" dirty="0">
                <a:solidFill>
                  <a:schemeClr val="tx1"/>
                </a:solidFill>
              </a:rPr>
              <a:t> </a:t>
            </a:r>
            <a:r>
              <a:rPr sz="1500" dirty="0" err="1">
                <a:solidFill>
                  <a:schemeClr val="tx1"/>
                </a:solidFill>
              </a:rPr>
              <a:t>cliente</a:t>
            </a:r>
            <a:endParaRPr sz="1500" dirty="0">
              <a:solidFill>
                <a:schemeClr val="tx1"/>
              </a:solidFill>
            </a:endParaRPr>
          </a:p>
          <a:p>
            <a:pPr algn="l">
              <a:spcAft>
                <a:spcPts val="400"/>
              </a:spcAft>
            </a:pPr>
            <a:r>
              <a:rPr sz="1500" dirty="0" err="1">
                <a:solidFill>
                  <a:schemeClr val="tx1"/>
                </a:solidFill>
              </a:rPr>
              <a:t>Maturidade</a:t>
            </a:r>
            <a:r>
              <a:rPr sz="1500" dirty="0">
                <a:solidFill>
                  <a:schemeClr val="tx1"/>
                </a:solidFill>
              </a:rPr>
              <a:t> e </a:t>
            </a:r>
            <a:r>
              <a:rPr sz="1500" dirty="0" err="1">
                <a:solidFill>
                  <a:schemeClr val="tx1"/>
                </a:solidFill>
              </a:rPr>
              <a:t>tamanho</a:t>
            </a:r>
            <a:r>
              <a:rPr sz="1500" dirty="0">
                <a:solidFill>
                  <a:schemeClr val="tx1"/>
                </a:solidFill>
              </a:rPr>
              <a:t> da </a:t>
            </a:r>
            <a:r>
              <a:rPr sz="1500" dirty="0" err="1">
                <a:solidFill>
                  <a:schemeClr val="tx1"/>
                </a:solidFill>
              </a:rPr>
              <a:t>equipe</a:t>
            </a:r>
            <a:endParaRPr sz="1500" dirty="0">
              <a:solidFill>
                <a:schemeClr val="tx1"/>
              </a:solidFill>
            </a:endParaRPr>
          </a:p>
        </p:txBody>
      </p:sp>
      <p:sp>
        <p:nvSpPr>
          <p:cNvPr id="4" name="Rounded Rectangle 3"/>
          <p:cNvSpPr/>
          <p:nvPr/>
        </p:nvSpPr>
        <p:spPr>
          <a:xfrm>
            <a:off x="4663440" y="2209800"/>
            <a:ext cx="4023360" cy="4145280"/>
          </a:xfrm>
          <a:prstGeom prst="roundRect">
            <a:avLst>
              <a:gd name="adj" fmla="val 6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rtlCol="0" anchor="t"/>
          <a:lstStyle/>
          <a:p>
            <a:pPr algn="l">
              <a:spcAft>
                <a:spcPts val="600"/>
              </a:spcAft>
            </a:pPr>
            <a:r>
              <a:rPr sz="1800" b="1" dirty="0" err="1">
                <a:solidFill>
                  <a:schemeClr val="accent1">
                    <a:lumMod val="75000"/>
                  </a:schemeClr>
                </a:solidFill>
              </a:rPr>
              <a:t>Exemplo</a:t>
            </a:r>
            <a:r>
              <a:rPr sz="1800" b="1" dirty="0">
                <a:solidFill>
                  <a:schemeClr val="accent1">
                    <a:lumMod val="75000"/>
                  </a:schemeClr>
                </a:solidFill>
              </a:rPr>
              <a:t> </a:t>
            </a:r>
            <a:r>
              <a:rPr sz="1800" b="1" dirty="0" err="1">
                <a:solidFill>
                  <a:schemeClr val="accent1">
                    <a:lumMod val="75000"/>
                  </a:schemeClr>
                </a:solidFill>
              </a:rPr>
              <a:t>híbrido</a:t>
            </a:r>
            <a:endParaRPr sz="1800" b="1" dirty="0">
              <a:solidFill>
                <a:schemeClr val="accent1">
                  <a:lumMod val="75000"/>
                </a:schemeClr>
              </a:solidFill>
            </a:endParaRPr>
          </a:p>
          <a:p>
            <a:pPr algn="l">
              <a:spcAft>
                <a:spcPts val="400"/>
              </a:spcAft>
            </a:pPr>
            <a:r>
              <a:rPr sz="1500" dirty="0">
                <a:solidFill>
                  <a:schemeClr val="tx1"/>
                </a:solidFill>
              </a:rPr>
              <a:t>Charter, </a:t>
            </a:r>
            <a:r>
              <a:rPr sz="1500" dirty="0" err="1">
                <a:solidFill>
                  <a:schemeClr val="tx1"/>
                </a:solidFill>
              </a:rPr>
              <a:t>marcos</a:t>
            </a:r>
            <a:r>
              <a:rPr sz="1500" dirty="0">
                <a:solidFill>
                  <a:schemeClr val="tx1"/>
                </a:solidFill>
              </a:rPr>
              <a:t> e </a:t>
            </a:r>
            <a:r>
              <a:rPr sz="1500" dirty="0" err="1">
                <a:solidFill>
                  <a:schemeClr val="tx1"/>
                </a:solidFill>
              </a:rPr>
              <a:t>orçamento</a:t>
            </a:r>
            <a:r>
              <a:rPr sz="1500" dirty="0">
                <a:solidFill>
                  <a:schemeClr val="tx1"/>
                </a:solidFill>
              </a:rPr>
              <a:t> </a:t>
            </a:r>
            <a:r>
              <a:rPr sz="1500" dirty="0" err="1">
                <a:solidFill>
                  <a:schemeClr val="tx1"/>
                </a:solidFill>
              </a:rPr>
              <a:t>preditivos</a:t>
            </a:r>
            <a:endParaRPr sz="1500" dirty="0">
              <a:solidFill>
                <a:schemeClr val="tx1"/>
              </a:solidFill>
            </a:endParaRPr>
          </a:p>
          <a:p>
            <a:pPr algn="l">
              <a:spcAft>
                <a:spcPts val="400"/>
              </a:spcAft>
            </a:pPr>
            <a:r>
              <a:rPr sz="1500" dirty="0" err="1">
                <a:solidFill>
                  <a:schemeClr val="tx1"/>
                </a:solidFill>
              </a:rPr>
              <a:t>Desenvolvimento</a:t>
            </a:r>
            <a:r>
              <a:rPr sz="1500" dirty="0">
                <a:solidFill>
                  <a:schemeClr val="tx1"/>
                </a:solidFill>
              </a:rPr>
              <a:t> </a:t>
            </a:r>
            <a:r>
              <a:rPr sz="1500" dirty="0" err="1">
                <a:solidFill>
                  <a:schemeClr val="tx1"/>
                </a:solidFill>
              </a:rPr>
              <a:t>em</a:t>
            </a:r>
            <a:r>
              <a:rPr sz="1500" dirty="0">
                <a:solidFill>
                  <a:schemeClr val="tx1"/>
                </a:solidFill>
              </a:rPr>
              <a:t> sprints</a:t>
            </a:r>
          </a:p>
          <a:p>
            <a:pPr algn="l">
              <a:spcAft>
                <a:spcPts val="400"/>
              </a:spcAft>
            </a:pPr>
            <a:r>
              <a:rPr sz="1500" dirty="0" err="1">
                <a:solidFill>
                  <a:schemeClr val="tx1"/>
                </a:solidFill>
              </a:rPr>
              <a:t>Relatórios</a:t>
            </a:r>
            <a:r>
              <a:rPr sz="1500" dirty="0">
                <a:solidFill>
                  <a:schemeClr val="tx1"/>
                </a:solidFill>
              </a:rPr>
              <a:t> de valor </a:t>
            </a:r>
            <a:r>
              <a:rPr sz="1500" dirty="0" err="1">
                <a:solidFill>
                  <a:schemeClr val="tx1"/>
                </a:solidFill>
              </a:rPr>
              <a:t>entregue</a:t>
            </a:r>
            <a:r>
              <a:rPr sz="1500" dirty="0">
                <a:solidFill>
                  <a:schemeClr val="tx1"/>
                </a:solidFill>
              </a:rPr>
              <a:t> </a:t>
            </a:r>
            <a:r>
              <a:rPr sz="1500" dirty="0" err="1">
                <a:solidFill>
                  <a:schemeClr val="tx1"/>
                </a:solidFill>
              </a:rPr>
              <a:t>ao</a:t>
            </a:r>
            <a:r>
              <a:rPr sz="1500" dirty="0">
                <a:solidFill>
                  <a:schemeClr val="tx1"/>
                </a:solidFill>
              </a:rPr>
              <a:t> </a:t>
            </a:r>
            <a:r>
              <a:rPr sz="1500" dirty="0" err="1">
                <a:solidFill>
                  <a:schemeClr val="tx1"/>
                </a:solidFill>
              </a:rPr>
              <a:t>patrocinador</a:t>
            </a:r>
            <a:endParaRPr sz="1500" dirty="0">
              <a:solidFill>
                <a:schemeClr val="tx1"/>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3950"/>
            <a:ext cx="7467600" cy="6654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42532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TAP</a:t>
            </a:r>
            <a:endParaRPr lang="pt-BR" dirty="0"/>
          </a:p>
        </p:txBody>
      </p:sp>
      <p:sp>
        <p:nvSpPr>
          <p:cNvPr id="3" name="Espaço Reservado para Conteúdo 2"/>
          <p:cNvSpPr>
            <a:spLocks noGrp="1"/>
          </p:cNvSpPr>
          <p:nvPr>
            <p:ph idx="1"/>
          </p:nvPr>
        </p:nvSpPr>
        <p:spPr/>
        <p:txBody>
          <a:bodyPr/>
          <a:lstStyle/>
          <a:p>
            <a:pPr marL="0" indent="0" algn="ctr">
              <a:buNone/>
            </a:pPr>
            <a:r>
              <a:rPr lang="pt-BR" sz="2200" dirty="0"/>
              <a:t>O termo de abertura do projeto, também muito conhecido como Project Charter (inglês), é o documento que autoriza formalmente o início do projeto.</a:t>
            </a:r>
            <a:br>
              <a:rPr lang="pt-BR" sz="2200" dirty="0"/>
            </a:br>
            <a:r>
              <a:rPr lang="pt-BR" sz="2200" dirty="0"/>
              <a:t>Ele concede ao gerente de projetos a autoridade para aplicar os recursos organizacionais nas atividades do projeto.</a:t>
            </a:r>
            <a:br>
              <a:rPr lang="pt-BR" sz="2200" dirty="0"/>
            </a:br>
            <a:r>
              <a:rPr lang="pt-BR" sz="2200" dirty="0"/>
              <a:t>O Gerente de Projetos sempre deve ser designado antes do início do planejamento e, de preferência, no desenvolvimento do termo de abertura.</a:t>
            </a:r>
            <a:br>
              <a:rPr lang="pt-BR" sz="2200" dirty="0"/>
            </a:br>
            <a:r>
              <a:rPr lang="pt-BR" sz="2200" dirty="0"/>
              <a:t>O patrocinador do projeto deve aprovar o termo de abertura do projeto.</a:t>
            </a:r>
            <a:br>
              <a:rPr lang="pt-BR" sz="2200" dirty="0"/>
            </a:br>
            <a:r>
              <a:rPr lang="pt-BR" sz="2200" dirty="0"/>
              <a:t>O termo de abertura do projeto deve conter informações sumarizadas porém com o nível de detalhamento necessário para a aprovação ou não do projeto. Abaixo algumas das informações normalmente incluídas:</a:t>
            </a:r>
          </a:p>
        </p:txBody>
      </p:sp>
    </p:spTree>
    <p:extLst>
      <p:ext uri="{BB962C8B-B14F-4D97-AF65-F5344CB8AC3E}">
        <p14:creationId xmlns:p14="http://schemas.microsoft.com/office/powerpoint/2010/main" val="344957051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1026" name="Picture 2"/>
          <p:cNvPicPr>
            <a:picLocks noChangeAspect="1" noChangeArrowheads="1"/>
          </p:cNvPicPr>
          <p:nvPr/>
        </p:nvPicPr>
        <p:blipFill>
          <a:blip r:embed="rId2"/>
          <a:srcRect/>
          <a:stretch>
            <a:fillRect/>
          </a:stretch>
        </p:blipFill>
        <p:spPr bwMode="auto">
          <a:xfrm>
            <a:off x="0" y="1481138"/>
            <a:ext cx="9410700" cy="38957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3074" name="Picture 2"/>
          <p:cNvPicPr>
            <a:picLocks noChangeAspect="1" noChangeArrowheads="1"/>
          </p:cNvPicPr>
          <p:nvPr/>
        </p:nvPicPr>
        <p:blipFill>
          <a:blip r:embed="rId2"/>
          <a:srcRect/>
          <a:stretch>
            <a:fillRect/>
          </a:stretch>
        </p:blipFill>
        <p:spPr bwMode="auto">
          <a:xfrm>
            <a:off x="0" y="1085850"/>
            <a:ext cx="9639300" cy="4686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pt-BR" smtClean="0"/>
              <a:t>EXERCÍCIO</a:t>
            </a:r>
          </a:p>
        </p:txBody>
      </p:sp>
      <p:sp>
        <p:nvSpPr>
          <p:cNvPr id="28675" name="Rectangle 3"/>
          <p:cNvSpPr>
            <a:spLocks noGrp="1" noChangeArrowheads="1"/>
          </p:cNvSpPr>
          <p:nvPr>
            <p:ph type="body" idx="1"/>
          </p:nvPr>
        </p:nvSpPr>
        <p:spPr/>
        <p:txBody>
          <a:bodyPr/>
          <a:lstStyle/>
          <a:p>
            <a:pPr eaLnBrk="1" hangingPunct="1"/>
            <a:r>
              <a:rPr lang="pt-BR" smtClean="0"/>
              <a:t>Identifique os principais Stakeholders envolvidos no seu projeto</a:t>
            </a:r>
          </a:p>
          <a:p>
            <a:pPr eaLnBrk="1" hangingPunct="1"/>
            <a:r>
              <a:rPr lang="pt-BR" smtClean="0"/>
              <a:t> Ganho por margem ou escala?</a:t>
            </a:r>
          </a:p>
          <a:p>
            <a:pPr eaLnBrk="1" hangingPunct="1"/>
            <a:r>
              <a:rPr lang="pt-BR" smtClean="0"/>
              <a:t>Concorrentes?</a:t>
            </a:r>
          </a:p>
          <a:p>
            <a:pPr eaLnBrk="1" hangingPunct="1"/>
            <a:r>
              <a:rPr lang="pt-BR" smtClean="0"/>
              <a:t>Fornecedores?</a:t>
            </a:r>
          </a:p>
          <a:p>
            <a:pPr eaLnBrk="1" hangingPunct="1"/>
            <a:r>
              <a:rPr lang="pt-BR" smtClean="0"/>
              <a:t>Até que ponto a macroeconomia interfere no seu projeto?</a:t>
            </a:r>
          </a:p>
          <a:p>
            <a:pPr eaLnBrk="1" hangingPunct="1"/>
            <a:endParaRPr lang="pt-BR"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ítulo 1"/>
          <p:cNvSpPr>
            <a:spLocks noGrp="1"/>
          </p:cNvSpPr>
          <p:nvPr>
            <p:ph type="title"/>
          </p:nvPr>
        </p:nvSpPr>
        <p:spPr/>
        <p:txBody>
          <a:bodyPr/>
          <a:lstStyle/>
          <a:p>
            <a:r>
              <a:rPr lang="pt-BR" smtClean="0"/>
              <a:t>Escopo</a:t>
            </a:r>
          </a:p>
        </p:txBody>
      </p:sp>
      <p:sp>
        <p:nvSpPr>
          <p:cNvPr id="32771" name="Espaço Reservado para Conteúdo 2"/>
          <p:cNvSpPr>
            <a:spLocks noGrp="1"/>
          </p:cNvSpPr>
          <p:nvPr>
            <p:ph idx="1"/>
          </p:nvPr>
        </p:nvSpPr>
        <p:spPr>
          <a:xfrm>
            <a:off x="457200" y="2057400"/>
            <a:ext cx="8229600" cy="4068763"/>
          </a:xfrm>
        </p:spPr>
        <p:txBody>
          <a:bodyPr/>
          <a:lstStyle/>
          <a:p>
            <a:r>
              <a:rPr lang="pt-BR" smtClean="0"/>
              <a:t>Definir e controlar os trabalhos a serem realizados, de forma que o projeto seja obtido através da menor quantidade de trabalho possível.</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ítulo 1"/>
          <p:cNvSpPr>
            <a:spLocks noGrp="1"/>
          </p:cNvSpPr>
          <p:nvPr>
            <p:ph type="title"/>
          </p:nvPr>
        </p:nvSpPr>
        <p:spPr/>
        <p:txBody>
          <a:bodyPr/>
          <a:lstStyle/>
          <a:p>
            <a:endParaRPr lang="pt-BR" smtClean="0"/>
          </a:p>
        </p:txBody>
      </p:sp>
      <p:sp>
        <p:nvSpPr>
          <p:cNvPr id="33795" name="Espaço Reservado para Conteúdo 2"/>
          <p:cNvSpPr>
            <a:spLocks noGrp="1"/>
          </p:cNvSpPr>
          <p:nvPr>
            <p:ph idx="1"/>
          </p:nvPr>
        </p:nvSpPr>
        <p:spPr/>
        <p:txBody>
          <a:bodyPr/>
          <a:lstStyle/>
          <a:p>
            <a:r>
              <a:rPr lang="pt-BR" smtClean="0"/>
              <a:t>Figura do escopo</a:t>
            </a:r>
          </a:p>
        </p:txBody>
      </p:sp>
      <p:pic>
        <p:nvPicPr>
          <p:cNvPr id="1026" name="Picture 2"/>
          <p:cNvPicPr>
            <a:picLocks noChangeAspect="1" noChangeArrowheads="1"/>
          </p:cNvPicPr>
          <p:nvPr/>
        </p:nvPicPr>
        <p:blipFill>
          <a:blip r:embed="rId2"/>
          <a:srcRect/>
          <a:stretch>
            <a:fillRect/>
          </a:stretch>
        </p:blipFill>
        <p:spPr bwMode="auto">
          <a:xfrm>
            <a:off x="260536" y="533400"/>
            <a:ext cx="8849845" cy="594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ítulo 1"/>
          <p:cNvSpPr>
            <a:spLocks noGrp="1"/>
          </p:cNvSpPr>
          <p:nvPr>
            <p:ph type="title"/>
          </p:nvPr>
        </p:nvSpPr>
        <p:spPr/>
        <p:txBody>
          <a:bodyPr/>
          <a:lstStyle/>
          <a:p>
            <a:r>
              <a:rPr lang="pt-BR" smtClean="0"/>
              <a:t>Escopo</a:t>
            </a:r>
          </a:p>
        </p:txBody>
      </p:sp>
      <p:sp>
        <p:nvSpPr>
          <p:cNvPr id="34819" name="Espaço Reservado para Conteúdo 2"/>
          <p:cNvSpPr>
            <a:spLocks noGrp="1"/>
          </p:cNvSpPr>
          <p:nvPr>
            <p:ph idx="1"/>
          </p:nvPr>
        </p:nvSpPr>
        <p:spPr/>
        <p:txBody>
          <a:bodyPr/>
          <a:lstStyle/>
          <a:p>
            <a:r>
              <a:rPr lang="pt-BR" smtClean="0"/>
              <a:t>Iniciação</a:t>
            </a:r>
          </a:p>
          <a:p>
            <a:r>
              <a:rPr lang="pt-BR" smtClean="0"/>
              <a:t>Planejamento</a:t>
            </a:r>
          </a:p>
          <a:p>
            <a:r>
              <a:rPr lang="pt-BR" smtClean="0"/>
              <a:t>Definição de escopo</a:t>
            </a:r>
          </a:p>
          <a:p>
            <a:r>
              <a:rPr lang="pt-BR" smtClean="0"/>
              <a:t>Verificação de escopo</a:t>
            </a:r>
          </a:p>
          <a:p>
            <a:r>
              <a:rPr lang="pt-BR" smtClean="0"/>
              <a:t>Controle de mudanças</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ítulo 1"/>
          <p:cNvSpPr>
            <a:spLocks noGrp="1"/>
          </p:cNvSpPr>
          <p:nvPr>
            <p:ph type="title"/>
          </p:nvPr>
        </p:nvSpPr>
        <p:spPr/>
        <p:txBody>
          <a:bodyPr/>
          <a:lstStyle/>
          <a:p>
            <a:r>
              <a:rPr lang="pt-BR" smtClean="0"/>
              <a:t>Declaração do escopo</a:t>
            </a:r>
          </a:p>
        </p:txBody>
      </p:sp>
      <p:sp>
        <p:nvSpPr>
          <p:cNvPr id="35843" name="Espaço Reservado para Conteúdo 2"/>
          <p:cNvSpPr>
            <a:spLocks noGrp="1"/>
          </p:cNvSpPr>
          <p:nvPr>
            <p:ph idx="1"/>
          </p:nvPr>
        </p:nvSpPr>
        <p:spPr/>
        <p:txBody>
          <a:bodyPr/>
          <a:lstStyle/>
          <a:p>
            <a:r>
              <a:rPr lang="pt-BR" sz="2800" smtClean="0"/>
              <a:t>Título do projeto</a:t>
            </a:r>
          </a:p>
          <a:p>
            <a:r>
              <a:rPr lang="pt-BR" sz="2800" smtClean="0"/>
              <a:t>Objetivo do projeto</a:t>
            </a:r>
          </a:p>
          <a:p>
            <a:r>
              <a:rPr lang="pt-BR" sz="2800" smtClean="0"/>
              <a:t>Descrição do produto / projeto</a:t>
            </a:r>
          </a:p>
          <a:p>
            <a:r>
              <a:rPr lang="pt-BR" sz="2800" smtClean="0"/>
              <a:t>Limites: prazo, custo e qualidade</a:t>
            </a:r>
          </a:p>
          <a:p>
            <a:r>
              <a:rPr lang="pt-BR" sz="2800" smtClean="0"/>
              <a:t>Partes interessadas: Gerente do projeto, cliente e patrocinador</a:t>
            </a:r>
          </a:p>
          <a:p>
            <a:r>
              <a:rPr lang="pt-BR" sz="2800" smtClean="0"/>
              <a:t>Entregas do projeto: critérios de aceite e datas de entrega</a:t>
            </a:r>
          </a:p>
          <a:p>
            <a:r>
              <a:rPr lang="pt-BR" sz="2800" smtClean="0"/>
              <a:t>Restrições e premissas</a:t>
            </a:r>
          </a:p>
          <a:p>
            <a:r>
              <a:rPr lang="pt-BR" sz="2800" smtClean="0"/>
              <a:t>Exclusões de escopo</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ítulo 1"/>
          <p:cNvSpPr>
            <a:spLocks noGrp="1"/>
          </p:cNvSpPr>
          <p:nvPr>
            <p:ph type="title"/>
          </p:nvPr>
        </p:nvSpPr>
        <p:spPr/>
        <p:txBody>
          <a:bodyPr/>
          <a:lstStyle/>
          <a:p>
            <a:endParaRPr lang="pt-BR" smtClean="0"/>
          </a:p>
        </p:txBody>
      </p:sp>
      <p:pic>
        <p:nvPicPr>
          <p:cNvPr id="33798" name="Picture 6" descr="projeto-de-software"/>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dirty="0"/>
          </a:p>
        </p:txBody>
      </p:sp>
      <p:pic>
        <p:nvPicPr>
          <p:cNvPr id="1026" name="Picture 2"/>
          <p:cNvPicPr>
            <a:picLocks noChangeAspect="1" noChangeArrowheads="1"/>
          </p:cNvPicPr>
          <p:nvPr/>
        </p:nvPicPr>
        <p:blipFill>
          <a:blip r:embed="rId2"/>
          <a:srcRect/>
          <a:stretch>
            <a:fillRect/>
          </a:stretch>
        </p:blipFill>
        <p:spPr bwMode="auto">
          <a:xfrm>
            <a:off x="1" y="1085850"/>
            <a:ext cx="9144000" cy="4184975"/>
          </a:xfrm>
          <a:prstGeom prst="rect">
            <a:avLst/>
          </a:prstGeom>
          <a:noFill/>
          <a:ln w="9525">
            <a:noFill/>
            <a:miter lim="800000"/>
            <a:headEnd/>
            <a:tailEnd/>
          </a:ln>
          <a:effectLst/>
        </p:spPr>
      </p:pic>
    </p:spTree>
    <p:extLst>
      <p:ext uri="{BB962C8B-B14F-4D97-AF65-F5344CB8AC3E}">
        <p14:creationId xmlns:p14="http://schemas.microsoft.com/office/powerpoint/2010/main" val="3353870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2050" name="Picture 2"/>
          <p:cNvPicPr>
            <a:picLocks noChangeAspect="1" noChangeArrowheads="1"/>
          </p:cNvPicPr>
          <p:nvPr/>
        </p:nvPicPr>
        <p:blipFill>
          <a:blip r:embed="rId2"/>
          <a:srcRect/>
          <a:stretch>
            <a:fillRect/>
          </a:stretch>
        </p:blipFill>
        <p:spPr bwMode="auto">
          <a:xfrm>
            <a:off x="-85101" y="285728"/>
            <a:ext cx="9229101" cy="5715040"/>
          </a:xfrm>
          <a:prstGeom prst="rect">
            <a:avLst/>
          </a:prstGeom>
          <a:noFill/>
          <a:ln w="9525">
            <a:noFill/>
            <a:miter lim="800000"/>
            <a:headEnd/>
            <a:tailEnd/>
          </a:ln>
          <a:effectLst/>
        </p:spPr>
      </p:pic>
    </p:spTree>
    <p:extLst>
      <p:ext uri="{BB962C8B-B14F-4D97-AF65-F5344CB8AC3E}">
        <p14:creationId xmlns:p14="http://schemas.microsoft.com/office/powerpoint/2010/main" val="172887865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3074" name="Picture 2"/>
          <p:cNvPicPr>
            <a:picLocks noChangeAspect="1" noChangeArrowheads="1"/>
          </p:cNvPicPr>
          <p:nvPr/>
        </p:nvPicPr>
        <p:blipFill>
          <a:blip r:embed="rId2"/>
          <a:srcRect/>
          <a:stretch>
            <a:fillRect/>
          </a:stretch>
        </p:blipFill>
        <p:spPr bwMode="auto">
          <a:xfrm>
            <a:off x="571472" y="-33012"/>
            <a:ext cx="7000892" cy="6891012"/>
          </a:xfrm>
          <a:prstGeom prst="rect">
            <a:avLst/>
          </a:prstGeom>
          <a:noFill/>
          <a:ln w="9525">
            <a:noFill/>
            <a:miter lim="800000"/>
            <a:headEnd/>
            <a:tailEnd/>
          </a:ln>
          <a:effectLst/>
        </p:spPr>
      </p:pic>
    </p:spTree>
    <p:extLst>
      <p:ext uri="{BB962C8B-B14F-4D97-AF65-F5344CB8AC3E}">
        <p14:creationId xmlns:p14="http://schemas.microsoft.com/office/powerpoint/2010/main" val="214694009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4098" name="Picture 2"/>
          <p:cNvPicPr>
            <a:picLocks noChangeAspect="1" noChangeArrowheads="1"/>
          </p:cNvPicPr>
          <p:nvPr/>
        </p:nvPicPr>
        <p:blipFill>
          <a:blip r:embed="rId2"/>
          <a:srcRect/>
          <a:stretch>
            <a:fillRect/>
          </a:stretch>
        </p:blipFill>
        <p:spPr bwMode="auto">
          <a:xfrm>
            <a:off x="1590675" y="1285875"/>
            <a:ext cx="5962650" cy="4286250"/>
          </a:xfrm>
          <a:prstGeom prst="rect">
            <a:avLst/>
          </a:prstGeom>
          <a:noFill/>
          <a:ln w="9525">
            <a:noFill/>
            <a:miter lim="800000"/>
            <a:headEnd/>
            <a:tailEnd/>
          </a:ln>
          <a:effectLst/>
        </p:spPr>
      </p:pic>
    </p:spTree>
    <p:extLst>
      <p:ext uri="{BB962C8B-B14F-4D97-AF65-F5344CB8AC3E}">
        <p14:creationId xmlns:p14="http://schemas.microsoft.com/office/powerpoint/2010/main" val="300334548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474663" y="193675"/>
            <a:ext cx="8229600" cy="1143000"/>
          </a:xfrm>
        </p:spPr>
        <p:txBody>
          <a:bodyPr/>
          <a:lstStyle/>
          <a:p>
            <a:pPr algn="ctr" eaLnBrk="1" hangingPunct="1">
              <a:defRPr/>
            </a:pPr>
            <a:r>
              <a:rPr lang="pt-BR" sz="4100" dirty="0" smtClean="0"/>
              <a:t>Definição do Escopo</a:t>
            </a:r>
          </a:p>
        </p:txBody>
      </p:sp>
      <p:sp>
        <p:nvSpPr>
          <p:cNvPr id="29699" name="Espaço Reservado para Conteúdo 2"/>
          <p:cNvSpPr>
            <a:spLocks noGrp="1"/>
          </p:cNvSpPr>
          <p:nvPr>
            <p:ph idx="4294967295"/>
          </p:nvPr>
        </p:nvSpPr>
        <p:spPr>
          <a:xfrm>
            <a:off x="457200" y="1143000"/>
            <a:ext cx="8229600" cy="4525963"/>
          </a:xfrm>
        </p:spPr>
        <p:txBody>
          <a:bodyPr/>
          <a:lstStyle/>
          <a:p>
            <a:pPr eaLnBrk="1" hangingPunct="1">
              <a:buFont typeface="Wingdings 2" pitchFamily="18" charset="2"/>
              <a:buNone/>
            </a:pPr>
            <a:r>
              <a:rPr lang="pt-BR" sz="2000" dirty="0" smtClean="0"/>
              <a:t>	Este é o processo necessário para desenvolver uma declaração do escopo detalhada do projeto como base para futuras decisões do projeto.</a:t>
            </a:r>
          </a:p>
          <a:p>
            <a:pPr eaLnBrk="1" hangingPunct="1"/>
            <a:endParaRPr lang="pt-BR" sz="2000" dirty="0" smtClean="0"/>
          </a:p>
          <a:p>
            <a:pPr eaLnBrk="1" hangingPunct="1">
              <a:buFont typeface="Wingdings 2" pitchFamily="18" charset="2"/>
              <a:buNone/>
            </a:pPr>
            <a:r>
              <a:rPr lang="pt-BR" sz="2000" dirty="0" smtClean="0"/>
              <a:t>Entradas:</a:t>
            </a:r>
          </a:p>
          <a:p>
            <a:pPr eaLnBrk="1" hangingPunct="1">
              <a:buFont typeface="Wingdings" pitchFamily="2" charset="2"/>
              <a:buChar char="ü"/>
            </a:pPr>
            <a:r>
              <a:rPr lang="pt-BR" sz="2000" dirty="0" smtClean="0"/>
              <a:t>Fatores Ambientais da Empresa</a:t>
            </a:r>
          </a:p>
          <a:p>
            <a:pPr eaLnBrk="1" hangingPunct="1">
              <a:buFont typeface="Wingdings" pitchFamily="2" charset="2"/>
              <a:buChar char="ü"/>
            </a:pPr>
            <a:r>
              <a:rPr lang="pt-BR" sz="2000" dirty="0" smtClean="0"/>
              <a:t>Ativos de Processos Organizacionais</a:t>
            </a:r>
          </a:p>
          <a:p>
            <a:pPr eaLnBrk="1" hangingPunct="1">
              <a:buFont typeface="Wingdings" pitchFamily="2" charset="2"/>
              <a:buChar char="ü"/>
            </a:pPr>
            <a:r>
              <a:rPr lang="pt-BR" sz="2000" dirty="0" smtClean="0"/>
              <a:t>Termo de Abertura do Projeto</a:t>
            </a:r>
          </a:p>
          <a:p>
            <a:pPr eaLnBrk="1" hangingPunct="1">
              <a:buFont typeface="Wingdings" pitchFamily="2" charset="2"/>
              <a:buChar char="ü"/>
            </a:pPr>
            <a:r>
              <a:rPr lang="pt-BR" sz="2000" dirty="0" smtClean="0"/>
              <a:t>Declaração de Escopo Preliminar do Projeto</a:t>
            </a:r>
          </a:p>
          <a:p>
            <a:pPr eaLnBrk="1" hangingPunct="1">
              <a:buFont typeface="Wingdings" pitchFamily="2" charset="2"/>
              <a:buChar char="ü"/>
            </a:pPr>
            <a:r>
              <a:rPr lang="pt-BR" sz="2000" dirty="0" smtClean="0"/>
              <a:t>Solicitação de mudanças aprovadas</a:t>
            </a:r>
          </a:p>
          <a:p>
            <a:pPr eaLnBrk="1" hangingPunct="1"/>
            <a:endParaRPr lang="pt-BR" sz="2000" dirty="0" smtClean="0"/>
          </a:p>
          <a:p>
            <a:pPr eaLnBrk="1" hangingPunct="1">
              <a:buFont typeface="Wingdings 2" pitchFamily="18" charset="2"/>
              <a:buNone/>
            </a:pPr>
            <a:r>
              <a:rPr lang="pt-BR" sz="2000" dirty="0" smtClean="0"/>
              <a:t>Saídas:</a:t>
            </a:r>
          </a:p>
          <a:p>
            <a:pPr eaLnBrk="1" hangingPunct="1">
              <a:buFont typeface="Wingdings" pitchFamily="2" charset="2"/>
              <a:buChar char="ü"/>
            </a:pPr>
            <a:r>
              <a:rPr lang="pt-BR" sz="2000" dirty="0" smtClean="0"/>
              <a:t>Declaração de Escopo de Projeto</a:t>
            </a:r>
          </a:p>
          <a:p>
            <a:pPr eaLnBrk="1" hangingPunct="1">
              <a:buFont typeface="Wingdings" pitchFamily="2" charset="2"/>
              <a:buChar char="ü"/>
            </a:pPr>
            <a:r>
              <a:rPr lang="pt-BR" sz="2000" dirty="0" smtClean="0"/>
              <a:t>Mudanças Solicitadas</a:t>
            </a:r>
          </a:p>
          <a:p>
            <a:pPr eaLnBrk="1" hangingPunct="1">
              <a:buFont typeface="Wingdings" pitchFamily="2" charset="2"/>
              <a:buChar char="ü"/>
            </a:pPr>
            <a:r>
              <a:rPr lang="pt-BR" sz="2000" dirty="0" smtClean="0"/>
              <a:t>Atualização do Plano de Gerenciamento do Projeto</a:t>
            </a:r>
          </a:p>
          <a:p>
            <a:pPr eaLnBrk="1" hangingPunct="1">
              <a:buFont typeface="Wingdings 2" pitchFamily="18" charset="2"/>
              <a:buNone/>
            </a:pPr>
            <a:endParaRPr lang="pt-BR" sz="2000" dirty="0" smtClean="0"/>
          </a:p>
          <a:p>
            <a:pPr eaLnBrk="1" hangingPunct="1">
              <a:buFont typeface="Wingdings 2" pitchFamily="18" charset="2"/>
              <a:buNone/>
            </a:pPr>
            <a:endParaRPr lang="pt-BR" sz="2000" dirty="0" smtClean="0"/>
          </a:p>
        </p:txBody>
      </p:sp>
    </p:spTree>
    <p:extLst>
      <p:ext uri="{BB962C8B-B14F-4D97-AF65-F5344CB8AC3E}">
        <p14:creationId xmlns:p14="http://schemas.microsoft.com/office/powerpoint/2010/main" val="15153621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Espaço Reservado para Conteúdo 2"/>
          <p:cNvSpPr>
            <a:spLocks noGrp="1"/>
          </p:cNvSpPr>
          <p:nvPr>
            <p:ph idx="4294967295"/>
          </p:nvPr>
        </p:nvSpPr>
        <p:spPr>
          <a:xfrm>
            <a:off x="323850" y="1371600"/>
            <a:ext cx="4032250" cy="4525962"/>
          </a:xfrm>
        </p:spPr>
        <p:txBody>
          <a:bodyPr/>
          <a:lstStyle/>
          <a:p>
            <a:pPr eaLnBrk="1" hangingPunct="1">
              <a:buFont typeface="Wingdings 2" pitchFamily="18" charset="2"/>
              <a:buNone/>
            </a:pPr>
            <a:r>
              <a:rPr lang="pt-BR" sz="1800" dirty="0" smtClean="0"/>
              <a:t>A declaração de escopo é contida de:</a:t>
            </a:r>
          </a:p>
          <a:p>
            <a:pPr eaLnBrk="1" hangingPunct="1"/>
            <a:r>
              <a:rPr lang="pt-BR" sz="1800" dirty="0" smtClean="0"/>
              <a:t>Objetivos do projeto</a:t>
            </a:r>
          </a:p>
          <a:p>
            <a:pPr eaLnBrk="1" hangingPunct="1"/>
            <a:r>
              <a:rPr lang="pt-BR" sz="1800" dirty="0" smtClean="0"/>
              <a:t>Definição de escopo do produto</a:t>
            </a:r>
          </a:p>
          <a:p>
            <a:pPr eaLnBrk="1" hangingPunct="1"/>
            <a:r>
              <a:rPr lang="pt-BR" sz="1800" dirty="0" smtClean="0"/>
              <a:t>Entregas</a:t>
            </a:r>
          </a:p>
          <a:p>
            <a:pPr eaLnBrk="1" hangingPunct="1"/>
            <a:r>
              <a:rPr lang="pt-BR" sz="1800" dirty="0" smtClean="0"/>
              <a:t>Requisitos</a:t>
            </a:r>
          </a:p>
          <a:p>
            <a:pPr eaLnBrk="1" hangingPunct="1"/>
            <a:r>
              <a:rPr lang="pt-BR" sz="1800" dirty="0" smtClean="0"/>
              <a:t>Limites do projeto</a:t>
            </a:r>
          </a:p>
          <a:p>
            <a:pPr eaLnBrk="1" hangingPunct="1"/>
            <a:r>
              <a:rPr lang="pt-BR" sz="1800" dirty="0" smtClean="0"/>
              <a:t>Critérios de aceitação</a:t>
            </a:r>
          </a:p>
          <a:p>
            <a:pPr eaLnBrk="1" hangingPunct="1"/>
            <a:r>
              <a:rPr lang="pt-BR" sz="1800" dirty="0" smtClean="0"/>
              <a:t>Restrições</a:t>
            </a:r>
          </a:p>
          <a:p>
            <a:pPr eaLnBrk="1" hangingPunct="1"/>
            <a:r>
              <a:rPr lang="pt-BR" sz="1800" dirty="0" smtClean="0"/>
              <a:t>Premissas</a:t>
            </a:r>
          </a:p>
          <a:p>
            <a:pPr eaLnBrk="1" hangingPunct="1"/>
            <a:r>
              <a:rPr lang="pt-BR" sz="1800" dirty="0" smtClean="0"/>
              <a:t>Organização do projeto</a:t>
            </a:r>
          </a:p>
          <a:p>
            <a:pPr eaLnBrk="1" hangingPunct="1"/>
            <a:r>
              <a:rPr lang="pt-BR" sz="1800" dirty="0" smtClean="0"/>
              <a:t>Riscos iniciais</a:t>
            </a:r>
          </a:p>
          <a:p>
            <a:pPr eaLnBrk="1" hangingPunct="1"/>
            <a:r>
              <a:rPr lang="pt-BR" sz="1800" dirty="0" smtClean="0"/>
              <a:t>Marcos</a:t>
            </a:r>
          </a:p>
          <a:p>
            <a:pPr eaLnBrk="1" hangingPunct="1"/>
            <a:r>
              <a:rPr lang="pt-BR" sz="1800" dirty="0" smtClean="0">
                <a:solidFill>
                  <a:srgbClr val="E2E5C7"/>
                </a:solidFill>
              </a:rPr>
              <a:t>Limitações de </a:t>
            </a:r>
            <a:r>
              <a:rPr lang="pt-BR" sz="1800" dirty="0" smtClean="0"/>
              <a:t>Recursos</a:t>
            </a:r>
          </a:p>
          <a:p>
            <a:pPr eaLnBrk="1" hangingPunct="1"/>
            <a:r>
              <a:rPr lang="pt-BR" sz="1800" dirty="0" smtClean="0"/>
              <a:t>Custos</a:t>
            </a:r>
          </a:p>
          <a:p>
            <a:pPr eaLnBrk="1" hangingPunct="1"/>
            <a:r>
              <a:rPr lang="pt-BR" sz="1800" dirty="0" smtClean="0"/>
              <a:t>Configuração do produto</a:t>
            </a:r>
          </a:p>
          <a:p>
            <a:pPr eaLnBrk="1" hangingPunct="1"/>
            <a:r>
              <a:rPr lang="pt-BR" sz="1800" dirty="0" smtClean="0"/>
              <a:t>Aprovações</a:t>
            </a:r>
          </a:p>
        </p:txBody>
      </p:sp>
      <p:sp>
        <p:nvSpPr>
          <p:cNvPr id="47108" name="Text Box 4"/>
          <p:cNvSpPr txBox="1">
            <a:spLocks noChangeArrowheads="1"/>
          </p:cNvSpPr>
          <p:nvPr/>
        </p:nvSpPr>
        <p:spPr bwMode="auto">
          <a:xfrm>
            <a:off x="500063" y="642938"/>
            <a:ext cx="8143875"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Tree>
    <p:extLst>
      <p:ext uri="{BB962C8B-B14F-4D97-AF65-F5344CB8AC3E}">
        <p14:creationId xmlns:p14="http://schemas.microsoft.com/office/powerpoint/2010/main" val="38054183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Espaço Reservado para Conteúdo 2"/>
          <p:cNvSpPr>
            <a:spLocks noGrp="1"/>
          </p:cNvSpPr>
          <p:nvPr>
            <p:ph idx="4294967295"/>
          </p:nvPr>
        </p:nvSpPr>
        <p:spPr>
          <a:xfrm>
            <a:off x="323850" y="1557338"/>
            <a:ext cx="4032250" cy="4525962"/>
          </a:xfrm>
        </p:spPr>
        <p:txBody>
          <a:bodyPr/>
          <a:lstStyle/>
          <a:p>
            <a:pPr eaLnBrk="1" hangingPunct="1">
              <a:buFont typeface="Wingdings 2" pitchFamily="18" charset="2"/>
              <a:buNone/>
            </a:pPr>
            <a:r>
              <a:rPr lang="pt-BR" sz="1800" dirty="0" smtClean="0"/>
              <a:t>A declaração de escopo é contida de:</a:t>
            </a:r>
          </a:p>
          <a:p>
            <a:pPr eaLnBrk="1" hangingPunct="1"/>
            <a:r>
              <a:rPr lang="pt-BR" sz="1800" b="1" dirty="0" smtClean="0">
                <a:solidFill>
                  <a:schemeClr val="hlink"/>
                </a:solidFill>
              </a:rPr>
              <a:t>Objetivos do projeto</a:t>
            </a:r>
          </a:p>
          <a:p>
            <a:pPr eaLnBrk="1" hangingPunct="1"/>
            <a:r>
              <a:rPr lang="pt-BR" sz="1800" dirty="0" smtClean="0">
                <a:solidFill>
                  <a:srgbClr val="E2E5C7"/>
                </a:solidFill>
              </a:rPr>
              <a:t>Definição de escopo do produto</a:t>
            </a:r>
          </a:p>
          <a:p>
            <a:pPr eaLnBrk="1" hangingPunct="1"/>
            <a:r>
              <a:rPr lang="pt-BR" sz="1800" dirty="0" smtClean="0">
                <a:solidFill>
                  <a:srgbClr val="E2E5C7"/>
                </a:solidFill>
              </a:rPr>
              <a:t>Entregas</a:t>
            </a:r>
          </a:p>
          <a:p>
            <a:pPr eaLnBrk="1" hangingPunct="1"/>
            <a:r>
              <a:rPr lang="pt-BR" sz="1800" dirty="0" smtClean="0">
                <a:solidFill>
                  <a:srgbClr val="E2E5C7"/>
                </a:solidFill>
              </a:rPr>
              <a:t>Requisitos</a:t>
            </a:r>
          </a:p>
          <a:p>
            <a:pPr eaLnBrk="1" hangingPunct="1"/>
            <a:r>
              <a:rPr lang="pt-BR" sz="1800" dirty="0" smtClean="0">
                <a:solidFill>
                  <a:srgbClr val="E2E5C7"/>
                </a:solidFill>
              </a:rPr>
              <a:t>Limites do projeto</a:t>
            </a:r>
          </a:p>
          <a:p>
            <a:pPr eaLnBrk="1" hangingPunct="1"/>
            <a:r>
              <a:rPr lang="pt-BR" sz="1800" dirty="0" smtClean="0">
                <a:solidFill>
                  <a:srgbClr val="E2E5C7"/>
                </a:solidFill>
              </a:rPr>
              <a:t>Critérios de aceitação</a:t>
            </a:r>
          </a:p>
          <a:p>
            <a:pPr eaLnBrk="1" hangingPunct="1"/>
            <a:r>
              <a:rPr lang="pt-BR" sz="1800" dirty="0" smtClean="0">
                <a:solidFill>
                  <a:srgbClr val="E2E5C7"/>
                </a:solidFill>
              </a:rPr>
              <a:t>Restrições</a:t>
            </a:r>
          </a:p>
          <a:p>
            <a:pPr eaLnBrk="1" hangingPunct="1"/>
            <a:r>
              <a:rPr lang="pt-BR" sz="1800" dirty="0" smtClean="0">
                <a:solidFill>
                  <a:srgbClr val="E2E5C7"/>
                </a:solidFill>
              </a:rPr>
              <a:t>Premissas</a:t>
            </a:r>
          </a:p>
          <a:p>
            <a:pPr eaLnBrk="1" hangingPunct="1"/>
            <a:r>
              <a:rPr lang="pt-BR" sz="1800" dirty="0" smtClean="0">
                <a:solidFill>
                  <a:srgbClr val="E2E5C7"/>
                </a:solidFill>
              </a:rPr>
              <a:t>Organização do projeto</a:t>
            </a:r>
          </a:p>
          <a:p>
            <a:pPr eaLnBrk="1" hangingPunct="1"/>
            <a:r>
              <a:rPr lang="pt-BR" sz="1800" dirty="0" smtClean="0">
                <a:solidFill>
                  <a:srgbClr val="E2E5C7"/>
                </a:solidFill>
              </a:rPr>
              <a:t>Riscos iniciais</a:t>
            </a:r>
          </a:p>
          <a:p>
            <a:pPr eaLnBrk="1" hangingPunct="1"/>
            <a:r>
              <a:rPr lang="pt-BR" sz="1800" dirty="0" smtClean="0">
                <a:solidFill>
                  <a:srgbClr val="E2E5C7"/>
                </a:solidFill>
              </a:rPr>
              <a:t>Marcos</a:t>
            </a:r>
          </a:p>
          <a:p>
            <a:pPr eaLnBrk="1" hangingPunct="1"/>
            <a:r>
              <a:rPr lang="pt-BR" sz="1800" dirty="0" smtClean="0">
                <a:solidFill>
                  <a:srgbClr val="E2E5C7"/>
                </a:solidFill>
              </a:rPr>
              <a:t>Limitações de Recursos</a:t>
            </a:r>
          </a:p>
          <a:p>
            <a:pPr eaLnBrk="1" hangingPunct="1"/>
            <a:r>
              <a:rPr lang="pt-BR" sz="1800" dirty="0" smtClean="0">
                <a:solidFill>
                  <a:srgbClr val="E2E5C7"/>
                </a:solidFill>
              </a:rPr>
              <a:t>Custos</a:t>
            </a:r>
          </a:p>
          <a:p>
            <a:pPr eaLnBrk="1" hangingPunct="1"/>
            <a:r>
              <a:rPr lang="pt-BR" sz="1800" dirty="0" smtClean="0">
                <a:solidFill>
                  <a:srgbClr val="E2E5C7"/>
                </a:solidFill>
              </a:rPr>
              <a:t>Configuração do produto</a:t>
            </a:r>
          </a:p>
          <a:p>
            <a:pPr eaLnBrk="1" hangingPunct="1"/>
            <a:r>
              <a:rPr lang="pt-BR" sz="1800" dirty="0" smtClean="0">
                <a:solidFill>
                  <a:srgbClr val="E2E5C7"/>
                </a:solidFill>
              </a:rPr>
              <a:t>Aprovações</a:t>
            </a:r>
          </a:p>
        </p:txBody>
      </p:sp>
      <p:sp>
        <p:nvSpPr>
          <p:cNvPr id="48131" name="Text Box 3"/>
          <p:cNvSpPr txBox="1">
            <a:spLocks noChangeArrowheads="1"/>
          </p:cNvSpPr>
          <p:nvPr/>
        </p:nvSpPr>
        <p:spPr bwMode="auto">
          <a:xfrm>
            <a:off x="500063" y="642938"/>
            <a:ext cx="8143875"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
        <p:nvSpPr>
          <p:cNvPr id="31748" name="Text Box 4"/>
          <p:cNvSpPr txBox="1">
            <a:spLocks noChangeArrowheads="1"/>
          </p:cNvSpPr>
          <p:nvPr/>
        </p:nvSpPr>
        <p:spPr bwMode="auto">
          <a:xfrm>
            <a:off x="4427538" y="1916113"/>
            <a:ext cx="4464050" cy="32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dirty="0"/>
              <a:t>Objetivos precisam ser EMART:</a:t>
            </a:r>
          </a:p>
          <a:p>
            <a:pPr eaLnBrk="1" hangingPunct="1">
              <a:spcBef>
                <a:spcPct val="50000"/>
              </a:spcBef>
            </a:pPr>
            <a:r>
              <a:rPr lang="pt-BR" dirty="0"/>
              <a:t>Específico: claro, concisos e entendíveis</a:t>
            </a:r>
          </a:p>
          <a:p>
            <a:pPr eaLnBrk="1" hangingPunct="1">
              <a:spcBef>
                <a:spcPct val="50000"/>
              </a:spcBef>
            </a:pPr>
            <a:r>
              <a:rPr lang="pt-BR" dirty="0"/>
              <a:t>Mensuráveis: Deve ser possível medir</a:t>
            </a:r>
          </a:p>
          <a:p>
            <a:pPr eaLnBrk="1" hangingPunct="1">
              <a:spcBef>
                <a:spcPct val="50000"/>
              </a:spcBef>
            </a:pPr>
            <a:r>
              <a:rPr lang="pt-BR" dirty="0"/>
              <a:t>Assertivo: Deve descrever especificamente o que foi solicitado</a:t>
            </a:r>
          </a:p>
          <a:p>
            <a:pPr eaLnBrk="1" hangingPunct="1">
              <a:spcBef>
                <a:spcPct val="50000"/>
              </a:spcBef>
            </a:pPr>
            <a:r>
              <a:rPr lang="pt-BR" dirty="0"/>
              <a:t>Realístico: Construir uma nova versão do Windows em 6 meses ?</a:t>
            </a:r>
          </a:p>
          <a:p>
            <a:pPr eaLnBrk="1" hangingPunct="1">
              <a:spcBef>
                <a:spcPct val="50000"/>
              </a:spcBef>
            </a:pPr>
            <a:r>
              <a:rPr lang="pt-BR" dirty="0"/>
              <a:t>Temporal: Deve ter uma data especificada.</a:t>
            </a:r>
          </a:p>
        </p:txBody>
      </p:sp>
    </p:spTree>
    <p:extLst>
      <p:ext uri="{BB962C8B-B14F-4D97-AF65-F5344CB8AC3E}">
        <p14:creationId xmlns:p14="http://schemas.microsoft.com/office/powerpoint/2010/main" val="1687785821"/>
      </p:ext>
    </p:extLst>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Espaço Reservado para Conteúdo 2"/>
          <p:cNvSpPr>
            <a:spLocks noGrp="1"/>
          </p:cNvSpPr>
          <p:nvPr>
            <p:ph idx="4294967295"/>
          </p:nvPr>
        </p:nvSpPr>
        <p:spPr>
          <a:xfrm>
            <a:off x="323850" y="1557338"/>
            <a:ext cx="4032250" cy="4525962"/>
          </a:xfrm>
        </p:spPr>
        <p:txBody>
          <a:bodyPr/>
          <a:lstStyle/>
          <a:p>
            <a:pPr eaLnBrk="1" hangingPunct="1">
              <a:buFont typeface="Wingdings 2" pitchFamily="18" charset="2"/>
              <a:buNone/>
            </a:pPr>
            <a:r>
              <a:rPr lang="pt-BR" sz="1800" smtClean="0"/>
              <a:t>A declaração de escopo é contida de:</a:t>
            </a:r>
          </a:p>
          <a:p>
            <a:pPr eaLnBrk="1" hangingPunct="1"/>
            <a:r>
              <a:rPr lang="pt-BR" sz="1800" smtClean="0">
                <a:solidFill>
                  <a:srgbClr val="E2E5C7"/>
                </a:solidFill>
              </a:rPr>
              <a:t>Objetivos do projeto</a:t>
            </a:r>
          </a:p>
          <a:p>
            <a:pPr eaLnBrk="1" hangingPunct="1"/>
            <a:r>
              <a:rPr lang="pt-BR" sz="1800" b="1" smtClean="0">
                <a:solidFill>
                  <a:schemeClr val="hlink"/>
                </a:solidFill>
              </a:rPr>
              <a:t>Definição de escopo do produto</a:t>
            </a:r>
          </a:p>
          <a:p>
            <a:pPr eaLnBrk="1" hangingPunct="1"/>
            <a:r>
              <a:rPr lang="pt-BR" sz="1800" smtClean="0">
                <a:solidFill>
                  <a:srgbClr val="E2E5C7"/>
                </a:solidFill>
              </a:rPr>
              <a:t>Entregas</a:t>
            </a:r>
          </a:p>
          <a:p>
            <a:pPr eaLnBrk="1" hangingPunct="1"/>
            <a:r>
              <a:rPr lang="pt-BR" sz="1800" smtClean="0">
                <a:solidFill>
                  <a:srgbClr val="E2E5C7"/>
                </a:solidFill>
              </a:rPr>
              <a:t>Requisitos</a:t>
            </a:r>
          </a:p>
          <a:p>
            <a:pPr eaLnBrk="1" hangingPunct="1"/>
            <a:r>
              <a:rPr lang="pt-BR" sz="1800" smtClean="0">
                <a:solidFill>
                  <a:srgbClr val="E2E5C7"/>
                </a:solidFill>
              </a:rPr>
              <a:t>Limites do projeto</a:t>
            </a:r>
          </a:p>
          <a:p>
            <a:pPr eaLnBrk="1" hangingPunct="1"/>
            <a:r>
              <a:rPr lang="pt-BR" sz="1800" smtClean="0">
                <a:solidFill>
                  <a:srgbClr val="E2E5C7"/>
                </a:solidFill>
              </a:rPr>
              <a:t>Critérios de aceitação</a:t>
            </a:r>
          </a:p>
          <a:p>
            <a:pPr eaLnBrk="1" hangingPunct="1"/>
            <a:r>
              <a:rPr lang="pt-BR" sz="1800" smtClean="0">
                <a:solidFill>
                  <a:srgbClr val="E2E5C7"/>
                </a:solidFill>
              </a:rPr>
              <a:t>Restrições</a:t>
            </a:r>
          </a:p>
          <a:p>
            <a:pPr eaLnBrk="1" hangingPunct="1"/>
            <a:r>
              <a:rPr lang="pt-BR" sz="1800" smtClean="0">
                <a:solidFill>
                  <a:srgbClr val="E2E5C7"/>
                </a:solidFill>
              </a:rPr>
              <a:t>Premissas</a:t>
            </a:r>
          </a:p>
          <a:p>
            <a:pPr eaLnBrk="1" hangingPunct="1"/>
            <a:r>
              <a:rPr lang="pt-BR" sz="1800" smtClean="0">
                <a:solidFill>
                  <a:srgbClr val="E2E5C7"/>
                </a:solidFill>
              </a:rPr>
              <a:t>Organização do projeto</a:t>
            </a:r>
          </a:p>
          <a:p>
            <a:pPr eaLnBrk="1" hangingPunct="1"/>
            <a:r>
              <a:rPr lang="pt-BR" sz="1800" smtClean="0">
                <a:solidFill>
                  <a:srgbClr val="E2E5C7"/>
                </a:solidFill>
              </a:rPr>
              <a:t>Riscos iniciais</a:t>
            </a:r>
          </a:p>
          <a:p>
            <a:pPr eaLnBrk="1" hangingPunct="1"/>
            <a:r>
              <a:rPr lang="pt-BR" sz="1800" smtClean="0">
                <a:solidFill>
                  <a:srgbClr val="E2E5C7"/>
                </a:solidFill>
              </a:rPr>
              <a:t>Marcos</a:t>
            </a:r>
          </a:p>
          <a:p>
            <a:pPr eaLnBrk="1" hangingPunct="1"/>
            <a:r>
              <a:rPr lang="pt-BR" sz="1800" smtClean="0">
                <a:solidFill>
                  <a:srgbClr val="E2E5C7"/>
                </a:solidFill>
              </a:rPr>
              <a:t>Limitações de Recursos</a:t>
            </a:r>
          </a:p>
          <a:p>
            <a:pPr eaLnBrk="1" hangingPunct="1"/>
            <a:r>
              <a:rPr lang="pt-BR" sz="1800" smtClean="0">
                <a:solidFill>
                  <a:srgbClr val="E2E5C7"/>
                </a:solidFill>
              </a:rPr>
              <a:t>Custos</a:t>
            </a:r>
          </a:p>
          <a:p>
            <a:pPr eaLnBrk="1" hangingPunct="1"/>
            <a:r>
              <a:rPr lang="pt-BR" sz="1800" smtClean="0">
                <a:solidFill>
                  <a:srgbClr val="E2E5C7"/>
                </a:solidFill>
              </a:rPr>
              <a:t>Configuração do produto</a:t>
            </a:r>
          </a:p>
          <a:p>
            <a:pPr eaLnBrk="1" hangingPunct="1"/>
            <a:r>
              <a:rPr lang="pt-BR" sz="1800" smtClean="0">
                <a:solidFill>
                  <a:srgbClr val="E2E5C7"/>
                </a:solidFill>
              </a:rPr>
              <a:t>Aprovações</a:t>
            </a:r>
          </a:p>
        </p:txBody>
      </p:sp>
      <p:sp>
        <p:nvSpPr>
          <p:cNvPr id="50179" name="Text Box 3"/>
          <p:cNvSpPr txBox="1">
            <a:spLocks noChangeArrowheads="1"/>
          </p:cNvSpPr>
          <p:nvPr/>
        </p:nvSpPr>
        <p:spPr bwMode="auto">
          <a:xfrm>
            <a:off x="571500" y="642938"/>
            <a:ext cx="8072438"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
        <p:nvSpPr>
          <p:cNvPr id="32772" name="Text Box 4"/>
          <p:cNvSpPr txBox="1">
            <a:spLocks noChangeArrowheads="1"/>
          </p:cNvSpPr>
          <p:nvPr/>
        </p:nvSpPr>
        <p:spPr bwMode="auto">
          <a:xfrm>
            <a:off x="4427538" y="1916113"/>
            <a:ext cx="446405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dirty="0"/>
              <a:t>Desenvolver em um nível maior de detalhes o produto. No entanto não se prender a eles. O detalhamento do produto é algo evolutivo, que é desenvolvido durante a execução do projeto.</a:t>
            </a:r>
          </a:p>
        </p:txBody>
      </p:sp>
    </p:spTree>
    <p:extLst>
      <p:ext uri="{BB962C8B-B14F-4D97-AF65-F5344CB8AC3E}">
        <p14:creationId xmlns:p14="http://schemas.microsoft.com/office/powerpoint/2010/main" val="4210656665"/>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Espaço Reservado para Conteúdo 2"/>
          <p:cNvSpPr>
            <a:spLocks noGrp="1"/>
          </p:cNvSpPr>
          <p:nvPr>
            <p:ph idx="4294967295"/>
          </p:nvPr>
        </p:nvSpPr>
        <p:spPr>
          <a:xfrm>
            <a:off x="323850" y="1557338"/>
            <a:ext cx="4032250" cy="4525962"/>
          </a:xfrm>
        </p:spPr>
        <p:txBody>
          <a:bodyPr/>
          <a:lstStyle/>
          <a:p>
            <a:pPr eaLnBrk="1" hangingPunct="1">
              <a:buFont typeface="Wingdings 2" pitchFamily="18" charset="2"/>
              <a:buNone/>
            </a:pPr>
            <a:r>
              <a:rPr lang="pt-BR" sz="1800" smtClean="0"/>
              <a:t>A declaração de escopo é contida de:</a:t>
            </a:r>
          </a:p>
          <a:p>
            <a:pPr eaLnBrk="1" hangingPunct="1"/>
            <a:r>
              <a:rPr lang="pt-BR" sz="1800" smtClean="0">
                <a:solidFill>
                  <a:srgbClr val="E2E5C7"/>
                </a:solidFill>
              </a:rPr>
              <a:t>Objetivos do projeto</a:t>
            </a:r>
          </a:p>
          <a:p>
            <a:pPr eaLnBrk="1" hangingPunct="1"/>
            <a:r>
              <a:rPr lang="pt-BR" sz="1800" smtClean="0">
                <a:solidFill>
                  <a:srgbClr val="E2E5C7"/>
                </a:solidFill>
              </a:rPr>
              <a:t>Definição de escopo do produto</a:t>
            </a:r>
          </a:p>
          <a:p>
            <a:pPr eaLnBrk="1" hangingPunct="1"/>
            <a:r>
              <a:rPr lang="pt-BR" sz="1800" b="1" smtClean="0">
                <a:solidFill>
                  <a:schemeClr val="hlink"/>
                </a:solidFill>
              </a:rPr>
              <a:t>Entregas</a:t>
            </a:r>
          </a:p>
          <a:p>
            <a:pPr eaLnBrk="1" hangingPunct="1"/>
            <a:r>
              <a:rPr lang="pt-BR" sz="1800" smtClean="0">
                <a:solidFill>
                  <a:srgbClr val="E2E5C7"/>
                </a:solidFill>
              </a:rPr>
              <a:t>Requisitos</a:t>
            </a:r>
          </a:p>
          <a:p>
            <a:pPr eaLnBrk="1" hangingPunct="1"/>
            <a:r>
              <a:rPr lang="pt-BR" sz="1800" smtClean="0">
                <a:solidFill>
                  <a:srgbClr val="E2E5C7"/>
                </a:solidFill>
              </a:rPr>
              <a:t>Limites do projeto</a:t>
            </a:r>
          </a:p>
          <a:p>
            <a:pPr eaLnBrk="1" hangingPunct="1"/>
            <a:r>
              <a:rPr lang="pt-BR" sz="1800" smtClean="0">
                <a:solidFill>
                  <a:srgbClr val="E2E5C7"/>
                </a:solidFill>
              </a:rPr>
              <a:t>Critérios de aceitação</a:t>
            </a:r>
          </a:p>
          <a:p>
            <a:pPr eaLnBrk="1" hangingPunct="1"/>
            <a:r>
              <a:rPr lang="pt-BR" sz="1800" smtClean="0">
                <a:solidFill>
                  <a:srgbClr val="E2E5C7"/>
                </a:solidFill>
              </a:rPr>
              <a:t>Restrições</a:t>
            </a:r>
          </a:p>
          <a:p>
            <a:pPr eaLnBrk="1" hangingPunct="1"/>
            <a:r>
              <a:rPr lang="pt-BR" sz="1800" smtClean="0">
                <a:solidFill>
                  <a:srgbClr val="E2E5C7"/>
                </a:solidFill>
              </a:rPr>
              <a:t>Premissas</a:t>
            </a:r>
          </a:p>
          <a:p>
            <a:pPr eaLnBrk="1" hangingPunct="1"/>
            <a:r>
              <a:rPr lang="pt-BR" sz="1800" smtClean="0">
                <a:solidFill>
                  <a:srgbClr val="E2E5C7"/>
                </a:solidFill>
              </a:rPr>
              <a:t>Organização do projeto</a:t>
            </a:r>
          </a:p>
          <a:p>
            <a:pPr eaLnBrk="1" hangingPunct="1"/>
            <a:r>
              <a:rPr lang="pt-BR" sz="1800" smtClean="0">
                <a:solidFill>
                  <a:srgbClr val="E2E5C7"/>
                </a:solidFill>
              </a:rPr>
              <a:t>Riscos iniciais</a:t>
            </a:r>
          </a:p>
          <a:p>
            <a:pPr eaLnBrk="1" hangingPunct="1"/>
            <a:r>
              <a:rPr lang="pt-BR" sz="1800" smtClean="0">
                <a:solidFill>
                  <a:srgbClr val="E2E5C7"/>
                </a:solidFill>
              </a:rPr>
              <a:t>Marcos</a:t>
            </a:r>
          </a:p>
          <a:p>
            <a:pPr eaLnBrk="1" hangingPunct="1"/>
            <a:r>
              <a:rPr lang="pt-BR" sz="1800" smtClean="0">
                <a:solidFill>
                  <a:srgbClr val="E2E5C7"/>
                </a:solidFill>
              </a:rPr>
              <a:t>Limitações de Recursos</a:t>
            </a:r>
          </a:p>
          <a:p>
            <a:pPr eaLnBrk="1" hangingPunct="1"/>
            <a:r>
              <a:rPr lang="pt-BR" sz="1800" smtClean="0">
                <a:solidFill>
                  <a:srgbClr val="E2E5C7"/>
                </a:solidFill>
              </a:rPr>
              <a:t>Custos</a:t>
            </a:r>
          </a:p>
          <a:p>
            <a:pPr eaLnBrk="1" hangingPunct="1"/>
            <a:r>
              <a:rPr lang="pt-BR" sz="1800" smtClean="0">
                <a:solidFill>
                  <a:srgbClr val="E2E5C7"/>
                </a:solidFill>
              </a:rPr>
              <a:t>Configuração do produto</a:t>
            </a:r>
          </a:p>
          <a:p>
            <a:pPr eaLnBrk="1" hangingPunct="1"/>
            <a:r>
              <a:rPr lang="pt-BR" sz="1800" smtClean="0">
                <a:solidFill>
                  <a:srgbClr val="E2E5C7"/>
                </a:solidFill>
              </a:rPr>
              <a:t>Aprovações</a:t>
            </a:r>
          </a:p>
        </p:txBody>
      </p:sp>
      <p:sp>
        <p:nvSpPr>
          <p:cNvPr id="51203" name="Text Box 3"/>
          <p:cNvSpPr txBox="1">
            <a:spLocks noChangeArrowheads="1"/>
          </p:cNvSpPr>
          <p:nvPr/>
        </p:nvSpPr>
        <p:spPr bwMode="auto">
          <a:xfrm>
            <a:off x="571500" y="642938"/>
            <a:ext cx="8143875"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
        <p:nvSpPr>
          <p:cNvPr id="33796" name="Text Box 4"/>
          <p:cNvSpPr txBox="1">
            <a:spLocks noChangeArrowheads="1"/>
          </p:cNvSpPr>
          <p:nvPr/>
        </p:nvSpPr>
        <p:spPr bwMode="auto">
          <a:xfrm>
            <a:off x="4427538" y="1557338"/>
            <a:ext cx="4464050" cy="515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1400"/>
              <a:t>Entregas são verificáveis e únicas. Server para medir se as especificações estão sendo seguidas e se o projeto está caminhando para o caminho correto.</a:t>
            </a:r>
          </a:p>
          <a:p>
            <a:pPr eaLnBrk="1" hangingPunct="1">
              <a:spcBef>
                <a:spcPct val="50000"/>
              </a:spcBef>
            </a:pPr>
            <a:r>
              <a:rPr lang="pt-BR" sz="1400"/>
              <a:t>Orçamento: R$5.000</a:t>
            </a:r>
          </a:p>
          <a:p>
            <a:pPr eaLnBrk="1" hangingPunct="1">
              <a:spcBef>
                <a:spcPct val="50000"/>
              </a:spcBef>
            </a:pPr>
            <a:r>
              <a:rPr lang="pt-BR" sz="1400"/>
              <a:t>Prazo: 6 meses</a:t>
            </a:r>
          </a:p>
          <a:p>
            <a:pPr eaLnBrk="1" hangingPunct="1">
              <a:spcBef>
                <a:spcPct val="50000"/>
              </a:spcBef>
            </a:pPr>
            <a:r>
              <a:rPr lang="pt-BR" sz="1400"/>
              <a:t>Atividades:</a:t>
            </a:r>
          </a:p>
          <a:p>
            <a:pPr eaLnBrk="1" hangingPunct="1">
              <a:spcBef>
                <a:spcPct val="50000"/>
              </a:spcBef>
              <a:buFontTx/>
              <a:buChar char="-"/>
            </a:pPr>
            <a:r>
              <a:rPr lang="pt-BR" sz="1400"/>
              <a:t>Semear</a:t>
            </a:r>
          </a:p>
          <a:p>
            <a:pPr eaLnBrk="1" hangingPunct="1">
              <a:spcBef>
                <a:spcPct val="50000"/>
              </a:spcBef>
              <a:buFontTx/>
              <a:buChar char="-"/>
            </a:pPr>
            <a:r>
              <a:rPr lang="pt-BR" sz="1400"/>
              <a:t>Regar</a:t>
            </a:r>
          </a:p>
          <a:p>
            <a:pPr eaLnBrk="1" hangingPunct="1">
              <a:spcBef>
                <a:spcPct val="50000"/>
              </a:spcBef>
              <a:buFontTx/>
              <a:buChar char="-"/>
            </a:pPr>
            <a:r>
              <a:rPr lang="pt-BR" sz="1400"/>
              <a:t>Combater pragas</a:t>
            </a:r>
          </a:p>
          <a:p>
            <a:pPr eaLnBrk="1" hangingPunct="1">
              <a:spcBef>
                <a:spcPct val="50000"/>
              </a:spcBef>
              <a:buFontTx/>
              <a:buChar char="-"/>
            </a:pPr>
            <a:r>
              <a:rPr lang="pt-BR" sz="1400"/>
              <a:t>Acompanhar crescimento</a:t>
            </a:r>
          </a:p>
          <a:p>
            <a:pPr eaLnBrk="1" hangingPunct="1">
              <a:spcBef>
                <a:spcPct val="50000"/>
              </a:spcBef>
              <a:buFontTx/>
              <a:buChar char="-"/>
            </a:pPr>
            <a:r>
              <a:rPr lang="pt-BR" sz="1400"/>
              <a:t>Realizar colheita</a:t>
            </a:r>
          </a:p>
          <a:p>
            <a:pPr eaLnBrk="1" hangingPunct="1">
              <a:spcBef>
                <a:spcPct val="50000"/>
              </a:spcBef>
              <a:buFontTx/>
              <a:buChar char="-"/>
            </a:pPr>
            <a:r>
              <a:rPr lang="pt-BR" sz="1400"/>
              <a:t>Embalar</a:t>
            </a:r>
          </a:p>
          <a:p>
            <a:pPr eaLnBrk="1" hangingPunct="1">
              <a:spcBef>
                <a:spcPct val="50000"/>
              </a:spcBef>
              <a:buFontTx/>
              <a:buChar char="-"/>
            </a:pPr>
            <a:r>
              <a:rPr lang="pt-BR" sz="1400"/>
              <a:t>Transportar</a:t>
            </a:r>
          </a:p>
          <a:p>
            <a:pPr eaLnBrk="1" hangingPunct="1">
              <a:spcBef>
                <a:spcPct val="50000"/>
              </a:spcBef>
              <a:buFontTx/>
              <a:buChar char="-"/>
            </a:pPr>
            <a:r>
              <a:rPr lang="pt-BR" sz="1400"/>
              <a:t>Entregar</a:t>
            </a:r>
          </a:p>
          <a:p>
            <a:pPr eaLnBrk="1" hangingPunct="1">
              <a:spcBef>
                <a:spcPct val="50000"/>
              </a:spcBef>
            </a:pPr>
            <a:r>
              <a:rPr lang="pt-BR" sz="1400"/>
              <a:t>O Cliente informa que queria laranja e não limões!</a:t>
            </a:r>
          </a:p>
          <a:p>
            <a:pPr eaLnBrk="1" hangingPunct="1">
              <a:spcBef>
                <a:spcPct val="50000"/>
              </a:spcBef>
            </a:pPr>
            <a:r>
              <a:rPr lang="pt-BR" sz="1400"/>
              <a:t>Faltou a etapa de verificar qual semente se estava plantando</a:t>
            </a:r>
          </a:p>
        </p:txBody>
      </p:sp>
    </p:spTree>
    <p:extLst>
      <p:ext uri="{BB962C8B-B14F-4D97-AF65-F5344CB8AC3E}">
        <p14:creationId xmlns:p14="http://schemas.microsoft.com/office/powerpoint/2010/main" val="1882766466"/>
      </p:ext>
    </p:extLst>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Espaço Reservado para Conteúdo 2"/>
          <p:cNvSpPr>
            <a:spLocks noGrp="1"/>
          </p:cNvSpPr>
          <p:nvPr>
            <p:ph idx="4294967295"/>
          </p:nvPr>
        </p:nvSpPr>
        <p:spPr>
          <a:xfrm>
            <a:off x="323850" y="1557338"/>
            <a:ext cx="4032250" cy="4525962"/>
          </a:xfrm>
        </p:spPr>
        <p:txBody>
          <a:bodyPr/>
          <a:lstStyle/>
          <a:p>
            <a:pPr eaLnBrk="1" hangingPunct="1">
              <a:buFont typeface="Wingdings 2" pitchFamily="18" charset="2"/>
              <a:buNone/>
            </a:pPr>
            <a:r>
              <a:rPr lang="pt-BR" sz="1800" smtClean="0"/>
              <a:t>A declaração de escopo é contida de:</a:t>
            </a:r>
          </a:p>
          <a:p>
            <a:pPr eaLnBrk="1" hangingPunct="1"/>
            <a:r>
              <a:rPr lang="pt-BR" sz="1800" smtClean="0">
                <a:solidFill>
                  <a:srgbClr val="E2E5C7"/>
                </a:solidFill>
              </a:rPr>
              <a:t>Objetivos do projeto</a:t>
            </a:r>
          </a:p>
          <a:p>
            <a:pPr eaLnBrk="1" hangingPunct="1"/>
            <a:r>
              <a:rPr lang="pt-BR" sz="1800" smtClean="0">
                <a:solidFill>
                  <a:srgbClr val="E2E5C7"/>
                </a:solidFill>
              </a:rPr>
              <a:t>Definição de escopo do produto</a:t>
            </a:r>
          </a:p>
          <a:p>
            <a:pPr eaLnBrk="1" hangingPunct="1"/>
            <a:r>
              <a:rPr lang="pt-BR" sz="1800" smtClean="0">
                <a:solidFill>
                  <a:srgbClr val="E2E5C7"/>
                </a:solidFill>
              </a:rPr>
              <a:t>Entregas</a:t>
            </a:r>
          </a:p>
          <a:p>
            <a:pPr eaLnBrk="1" hangingPunct="1"/>
            <a:r>
              <a:rPr lang="pt-BR" sz="1800" b="1" smtClean="0">
                <a:solidFill>
                  <a:schemeClr val="hlink"/>
                </a:solidFill>
              </a:rPr>
              <a:t>Requisitos</a:t>
            </a:r>
          </a:p>
          <a:p>
            <a:pPr eaLnBrk="1" hangingPunct="1"/>
            <a:r>
              <a:rPr lang="pt-BR" sz="1800" smtClean="0">
                <a:solidFill>
                  <a:srgbClr val="E2E5C7"/>
                </a:solidFill>
              </a:rPr>
              <a:t>Limites do projeto</a:t>
            </a:r>
          </a:p>
          <a:p>
            <a:pPr eaLnBrk="1" hangingPunct="1"/>
            <a:r>
              <a:rPr lang="pt-BR" sz="1800" smtClean="0">
                <a:solidFill>
                  <a:srgbClr val="E2E5C7"/>
                </a:solidFill>
              </a:rPr>
              <a:t>Critérios de aceitação</a:t>
            </a:r>
          </a:p>
          <a:p>
            <a:pPr eaLnBrk="1" hangingPunct="1"/>
            <a:r>
              <a:rPr lang="pt-BR" sz="1800" smtClean="0">
                <a:solidFill>
                  <a:srgbClr val="E2E5C7"/>
                </a:solidFill>
              </a:rPr>
              <a:t>Restrições</a:t>
            </a:r>
          </a:p>
          <a:p>
            <a:pPr eaLnBrk="1" hangingPunct="1"/>
            <a:r>
              <a:rPr lang="pt-BR" sz="1800" smtClean="0">
                <a:solidFill>
                  <a:srgbClr val="E2E5C7"/>
                </a:solidFill>
              </a:rPr>
              <a:t>Premissas</a:t>
            </a:r>
          </a:p>
          <a:p>
            <a:pPr eaLnBrk="1" hangingPunct="1"/>
            <a:r>
              <a:rPr lang="pt-BR" sz="1800" smtClean="0">
                <a:solidFill>
                  <a:srgbClr val="E2E5C7"/>
                </a:solidFill>
              </a:rPr>
              <a:t>Organização do projeto</a:t>
            </a:r>
          </a:p>
          <a:p>
            <a:pPr eaLnBrk="1" hangingPunct="1"/>
            <a:r>
              <a:rPr lang="pt-BR" sz="1800" smtClean="0">
                <a:solidFill>
                  <a:srgbClr val="E2E5C7"/>
                </a:solidFill>
              </a:rPr>
              <a:t>Riscos iniciais</a:t>
            </a:r>
          </a:p>
          <a:p>
            <a:pPr eaLnBrk="1" hangingPunct="1"/>
            <a:r>
              <a:rPr lang="pt-BR" sz="1800" smtClean="0">
                <a:solidFill>
                  <a:srgbClr val="E2E5C7"/>
                </a:solidFill>
              </a:rPr>
              <a:t>Marcos</a:t>
            </a:r>
          </a:p>
          <a:p>
            <a:pPr eaLnBrk="1" hangingPunct="1"/>
            <a:r>
              <a:rPr lang="pt-BR" sz="1800" smtClean="0">
                <a:solidFill>
                  <a:srgbClr val="E2E5C7"/>
                </a:solidFill>
              </a:rPr>
              <a:t>Limitações de Recursos</a:t>
            </a:r>
          </a:p>
          <a:p>
            <a:pPr eaLnBrk="1" hangingPunct="1"/>
            <a:r>
              <a:rPr lang="pt-BR" sz="1800" smtClean="0">
                <a:solidFill>
                  <a:srgbClr val="E2E5C7"/>
                </a:solidFill>
              </a:rPr>
              <a:t>Custos</a:t>
            </a:r>
          </a:p>
          <a:p>
            <a:pPr eaLnBrk="1" hangingPunct="1"/>
            <a:r>
              <a:rPr lang="pt-BR" sz="1800" smtClean="0">
                <a:solidFill>
                  <a:srgbClr val="E2E5C7"/>
                </a:solidFill>
              </a:rPr>
              <a:t>Configuração do produto</a:t>
            </a:r>
          </a:p>
          <a:p>
            <a:pPr eaLnBrk="1" hangingPunct="1"/>
            <a:r>
              <a:rPr lang="pt-BR" sz="1800" smtClean="0">
                <a:solidFill>
                  <a:srgbClr val="E2E5C7"/>
                </a:solidFill>
              </a:rPr>
              <a:t>Aprovações</a:t>
            </a:r>
          </a:p>
        </p:txBody>
      </p:sp>
      <p:sp>
        <p:nvSpPr>
          <p:cNvPr id="52227" name="Text Box 3"/>
          <p:cNvSpPr txBox="1">
            <a:spLocks noChangeArrowheads="1"/>
          </p:cNvSpPr>
          <p:nvPr/>
        </p:nvSpPr>
        <p:spPr bwMode="auto">
          <a:xfrm>
            <a:off x="500063" y="642938"/>
            <a:ext cx="8215312"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
        <p:nvSpPr>
          <p:cNvPr id="34820" name="Text Box 4"/>
          <p:cNvSpPr txBox="1">
            <a:spLocks noChangeArrowheads="1"/>
          </p:cNvSpPr>
          <p:nvPr/>
        </p:nvSpPr>
        <p:spPr bwMode="auto">
          <a:xfrm>
            <a:off x="4427538" y="1557338"/>
            <a:ext cx="44640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2000" dirty="0"/>
              <a:t>Descrevem as características das entregas. Podem ser dimensões, facilidade de uso, cores, ingredientes, tecnologia, funcionalidades, capacidade para funcionar em certas condições, etc.</a:t>
            </a:r>
          </a:p>
        </p:txBody>
      </p:sp>
    </p:spTree>
    <p:extLst>
      <p:ext uri="{BB962C8B-B14F-4D97-AF65-F5344CB8AC3E}">
        <p14:creationId xmlns:p14="http://schemas.microsoft.com/office/powerpoint/2010/main" val="912784711"/>
      </p:ext>
    </p:extLst>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ço Reservado para Conteúdo 2"/>
          <p:cNvSpPr>
            <a:spLocks noGrp="1"/>
          </p:cNvSpPr>
          <p:nvPr>
            <p:ph idx="4294967295"/>
          </p:nvPr>
        </p:nvSpPr>
        <p:spPr>
          <a:xfrm>
            <a:off x="323850" y="1557338"/>
            <a:ext cx="4032250" cy="4525962"/>
          </a:xfrm>
        </p:spPr>
        <p:txBody>
          <a:bodyPr/>
          <a:lstStyle/>
          <a:p>
            <a:pPr eaLnBrk="1" hangingPunct="1">
              <a:buFont typeface="Wingdings 2" pitchFamily="18" charset="2"/>
              <a:buNone/>
            </a:pPr>
            <a:r>
              <a:rPr lang="pt-BR" sz="1800" smtClean="0"/>
              <a:t>A declaração de escopo é contida de:</a:t>
            </a:r>
          </a:p>
          <a:p>
            <a:pPr eaLnBrk="1" hangingPunct="1"/>
            <a:r>
              <a:rPr lang="pt-BR" sz="1800" smtClean="0">
                <a:solidFill>
                  <a:srgbClr val="E2E5C7"/>
                </a:solidFill>
              </a:rPr>
              <a:t>Objetivos do projeto</a:t>
            </a:r>
          </a:p>
          <a:p>
            <a:pPr eaLnBrk="1" hangingPunct="1"/>
            <a:r>
              <a:rPr lang="pt-BR" sz="1800" smtClean="0">
                <a:solidFill>
                  <a:srgbClr val="E2E5C7"/>
                </a:solidFill>
              </a:rPr>
              <a:t>Definição de escopo do produto</a:t>
            </a:r>
          </a:p>
          <a:p>
            <a:pPr eaLnBrk="1" hangingPunct="1"/>
            <a:r>
              <a:rPr lang="pt-BR" sz="1800" smtClean="0">
                <a:solidFill>
                  <a:srgbClr val="E2E5C7"/>
                </a:solidFill>
              </a:rPr>
              <a:t>Entregas</a:t>
            </a:r>
          </a:p>
          <a:p>
            <a:pPr eaLnBrk="1" hangingPunct="1"/>
            <a:r>
              <a:rPr lang="pt-BR" sz="1800" smtClean="0">
                <a:solidFill>
                  <a:srgbClr val="E2E5C7"/>
                </a:solidFill>
              </a:rPr>
              <a:t>Requisitos</a:t>
            </a:r>
          </a:p>
          <a:p>
            <a:pPr eaLnBrk="1" hangingPunct="1"/>
            <a:r>
              <a:rPr lang="pt-BR" sz="1800" b="1" smtClean="0">
                <a:solidFill>
                  <a:schemeClr val="hlink"/>
                </a:solidFill>
              </a:rPr>
              <a:t>Limites do projeto</a:t>
            </a:r>
          </a:p>
          <a:p>
            <a:pPr eaLnBrk="1" hangingPunct="1"/>
            <a:r>
              <a:rPr lang="pt-BR" sz="1800" smtClean="0">
                <a:solidFill>
                  <a:srgbClr val="E2E5C7"/>
                </a:solidFill>
              </a:rPr>
              <a:t>Critérios de aceitação</a:t>
            </a:r>
          </a:p>
          <a:p>
            <a:pPr eaLnBrk="1" hangingPunct="1"/>
            <a:r>
              <a:rPr lang="pt-BR" sz="1800" smtClean="0">
                <a:solidFill>
                  <a:srgbClr val="E2E5C7"/>
                </a:solidFill>
              </a:rPr>
              <a:t>Restrições</a:t>
            </a:r>
          </a:p>
          <a:p>
            <a:pPr eaLnBrk="1" hangingPunct="1"/>
            <a:r>
              <a:rPr lang="pt-BR" sz="1800" smtClean="0">
                <a:solidFill>
                  <a:srgbClr val="E2E5C7"/>
                </a:solidFill>
              </a:rPr>
              <a:t>Premissas</a:t>
            </a:r>
          </a:p>
          <a:p>
            <a:pPr eaLnBrk="1" hangingPunct="1"/>
            <a:r>
              <a:rPr lang="pt-BR" sz="1800" smtClean="0">
                <a:solidFill>
                  <a:srgbClr val="E2E5C7"/>
                </a:solidFill>
              </a:rPr>
              <a:t>Organização do projeto</a:t>
            </a:r>
          </a:p>
          <a:p>
            <a:pPr eaLnBrk="1" hangingPunct="1"/>
            <a:r>
              <a:rPr lang="pt-BR" sz="1800" smtClean="0">
                <a:solidFill>
                  <a:srgbClr val="E2E5C7"/>
                </a:solidFill>
              </a:rPr>
              <a:t>Riscos iniciais</a:t>
            </a:r>
          </a:p>
          <a:p>
            <a:pPr eaLnBrk="1" hangingPunct="1"/>
            <a:r>
              <a:rPr lang="pt-BR" sz="1800" smtClean="0">
                <a:solidFill>
                  <a:srgbClr val="E2E5C7"/>
                </a:solidFill>
              </a:rPr>
              <a:t>Marcos</a:t>
            </a:r>
          </a:p>
          <a:p>
            <a:pPr eaLnBrk="1" hangingPunct="1"/>
            <a:r>
              <a:rPr lang="pt-BR" sz="1800" smtClean="0">
                <a:solidFill>
                  <a:srgbClr val="E2E5C7"/>
                </a:solidFill>
              </a:rPr>
              <a:t>Limitações de Recursos</a:t>
            </a:r>
          </a:p>
          <a:p>
            <a:pPr eaLnBrk="1" hangingPunct="1"/>
            <a:r>
              <a:rPr lang="pt-BR" sz="1800" smtClean="0">
                <a:solidFill>
                  <a:srgbClr val="E2E5C7"/>
                </a:solidFill>
              </a:rPr>
              <a:t>Custos</a:t>
            </a:r>
          </a:p>
          <a:p>
            <a:pPr eaLnBrk="1" hangingPunct="1"/>
            <a:r>
              <a:rPr lang="pt-BR" sz="1800" smtClean="0">
                <a:solidFill>
                  <a:srgbClr val="E2E5C7"/>
                </a:solidFill>
              </a:rPr>
              <a:t>Configuração do produto</a:t>
            </a:r>
          </a:p>
          <a:p>
            <a:pPr eaLnBrk="1" hangingPunct="1"/>
            <a:r>
              <a:rPr lang="pt-BR" sz="1800" smtClean="0">
                <a:solidFill>
                  <a:srgbClr val="E2E5C7"/>
                </a:solidFill>
              </a:rPr>
              <a:t>Aprovações</a:t>
            </a:r>
          </a:p>
        </p:txBody>
      </p:sp>
      <p:sp>
        <p:nvSpPr>
          <p:cNvPr id="53251" name="Text Box 3"/>
          <p:cNvSpPr txBox="1">
            <a:spLocks noChangeArrowheads="1"/>
          </p:cNvSpPr>
          <p:nvPr/>
        </p:nvSpPr>
        <p:spPr bwMode="auto">
          <a:xfrm>
            <a:off x="500063" y="642938"/>
            <a:ext cx="8143875"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
        <p:nvSpPr>
          <p:cNvPr id="35844" name="Text Box 4"/>
          <p:cNvSpPr txBox="1">
            <a:spLocks noChangeArrowheads="1"/>
          </p:cNvSpPr>
          <p:nvPr/>
        </p:nvSpPr>
        <p:spPr bwMode="auto">
          <a:xfrm>
            <a:off x="4427538" y="1557338"/>
            <a:ext cx="446405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2000"/>
              <a:t>Consiste em descreve o que NÃO será feito pelo projeto ou pelo produto.</a:t>
            </a:r>
          </a:p>
          <a:p>
            <a:pPr eaLnBrk="1" hangingPunct="1">
              <a:spcBef>
                <a:spcPct val="50000"/>
              </a:spcBef>
            </a:pPr>
            <a:endParaRPr lang="pt-BR" sz="2000"/>
          </a:p>
          <a:p>
            <a:pPr eaLnBrk="1" hangingPunct="1">
              <a:spcBef>
                <a:spcPct val="50000"/>
              </a:spcBef>
            </a:pPr>
            <a:r>
              <a:rPr lang="pt-BR" sz="2000"/>
              <a:t>Ex.: Desenvolvimento de um site de e-commerce em PHP.</a:t>
            </a:r>
          </a:p>
          <a:p>
            <a:pPr eaLnBrk="1" hangingPunct="1">
              <a:spcBef>
                <a:spcPct val="50000"/>
              </a:spcBef>
            </a:pPr>
            <a:r>
              <a:rPr lang="pt-BR" sz="2000"/>
              <a:t>Não está incluso instalação e configuração do servidor PHP.</a:t>
            </a:r>
          </a:p>
        </p:txBody>
      </p:sp>
    </p:spTree>
    <p:extLst>
      <p:ext uri="{BB962C8B-B14F-4D97-AF65-F5344CB8AC3E}">
        <p14:creationId xmlns:p14="http://schemas.microsoft.com/office/powerpoint/2010/main" val="1842726930"/>
      </p:ext>
    </p:extLst>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Espaço Reservado para Conteúdo 2"/>
          <p:cNvSpPr>
            <a:spLocks noGrp="1"/>
          </p:cNvSpPr>
          <p:nvPr>
            <p:ph idx="4294967295"/>
          </p:nvPr>
        </p:nvSpPr>
        <p:spPr>
          <a:xfrm>
            <a:off x="323850" y="1557338"/>
            <a:ext cx="4032250" cy="4525962"/>
          </a:xfrm>
        </p:spPr>
        <p:txBody>
          <a:bodyPr/>
          <a:lstStyle/>
          <a:p>
            <a:pPr eaLnBrk="1" hangingPunct="1">
              <a:buFont typeface="Wingdings 2" pitchFamily="18" charset="2"/>
              <a:buNone/>
            </a:pPr>
            <a:r>
              <a:rPr lang="pt-BR" sz="1800" smtClean="0"/>
              <a:t>A declaração de escopo é contida de:</a:t>
            </a:r>
          </a:p>
          <a:p>
            <a:pPr eaLnBrk="1" hangingPunct="1"/>
            <a:r>
              <a:rPr lang="pt-BR" sz="1800" smtClean="0">
                <a:solidFill>
                  <a:srgbClr val="E2E5C7"/>
                </a:solidFill>
              </a:rPr>
              <a:t>Objetivos do projeto</a:t>
            </a:r>
          </a:p>
          <a:p>
            <a:pPr eaLnBrk="1" hangingPunct="1"/>
            <a:r>
              <a:rPr lang="pt-BR" sz="1800" smtClean="0">
                <a:solidFill>
                  <a:srgbClr val="E2E5C7"/>
                </a:solidFill>
              </a:rPr>
              <a:t>Definição de escopo do produto</a:t>
            </a:r>
          </a:p>
          <a:p>
            <a:pPr eaLnBrk="1" hangingPunct="1"/>
            <a:r>
              <a:rPr lang="pt-BR" sz="1800" smtClean="0">
                <a:solidFill>
                  <a:srgbClr val="E2E5C7"/>
                </a:solidFill>
              </a:rPr>
              <a:t>Entregas</a:t>
            </a:r>
          </a:p>
          <a:p>
            <a:pPr eaLnBrk="1" hangingPunct="1"/>
            <a:r>
              <a:rPr lang="pt-BR" sz="1800" smtClean="0">
                <a:solidFill>
                  <a:srgbClr val="E2E5C7"/>
                </a:solidFill>
              </a:rPr>
              <a:t>Requisitos</a:t>
            </a:r>
          </a:p>
          <a:p>
            <a:pPr eaLnBrk="1" hangingPunct="1"/>
            <a:r>
              <a:rPr lang="pt-BR" sz="1800" smtClean="0">
                <a:solidFill>
                  <a:srgbClr val="E2E5C7"/>
                </a:solidFill>
              </a:rPr>
              <a:t>Limites do projeto</a:t>
            </a:r>
          </a:p>
          <a:p>
            <a:pPr eaLnBrk="1" hangingPunct="1"/>
            <a:r>
              <a:rPr lang="pt-BR" sz="1800" b="1" smtClean="0">
                <a:solidFill>
                  <a:schemeClr val="hlink"/>
                </a:solidFill>
              </a:rPr>
              <a:t>Critérios de aceitação</a:t>
            </a:r>
          </a:p>
          <a:p>
            <a:pPr eaLnBrk="1" hangingPunct="1"/>
            <a:r>
              <a:rPr lang="pt-BR" sz="1800" smtClean="0">
                <a:solidFill>
                  <a:srgbClr val="E2E5C7"/>
                </a:solidFill>
              </a:rPr>
              <a:t>Restrições</a:t>
            </a:r>
          </a:p>
          <a:p>
            <a:pPr eaLnBrk="1" hangingPunct="1"/>
            <a:r>
              <a:rPr lang="pt-BR" sz="1800" smtClean="0">
                <a:solidFill>
                  <a:srgbClr val="E2E5C7"/>
                </a:solidFill>
              </a:rPr>
              <a:t>Premissas</a:t>
            </a:r>
          </a:p>
          <a:p>
            <a:pPr eaLnBrk="1" hangingPunct="1"/>
            <a:r>
              <a:rPr lang="pt-BR" sz="1800" smtClean="0">
                <a:solidFill>
                  <a:srgbClr val="E2E5C7"/>
                </a:solidFill>
              </a:rPr>
              <a:t>Organização do projeto</a:t>
            </a:r>
          </a:p>
          <a:p>
            <a:pPr eaLnBrk="1" hangingPunct="1"/>
            <a:r>
              <a:rPr lang="pt-BR" sz="1800" smtClean="0">
                <a:solidFill>
                  <a:srgbClr val="E2E5C7"/>
                </a:solidFill>
              </a:rPr>
              <a:t>Riscos iniciais</a:t>
            </a:r>
          </a:p>
          <a:p>
            <a:pPr eaLnBrk="1" hangingPunct="1"/>
            <a:r>
              <a:rPr lang="pt-BR" sz="1800" smtClean="0">
                <a:solidFill>
                  <a:srgbClr val="E2E5C7"/>
                </a:solidFill>
              </a:rPr>
              <a:t>Marcos</a:t>
            </a:r>
          </a:p>
          <a:p>
            <a:pPr eaLnBrk="1" hangingPunct="1"/>
            <a:r>
              <a:rPr lang="pt-BR" sz="1800" smtClean="0">
                <a:solidFill>
                  <a:srgbClr val="E2E5C7"/>
                </a:solidFill>
              </a:rPr>
              <a:t>Limitações de Recursos</a:t>
            </a:r>
          </a:p>
          <a:p>
            <a:pPr eaLnBrk="1" hangingPunct="1"/>
            <a:r>
              <a:rPr lang="pt-BR" sz="1800" smtClean="0">
                <a:solidFill>
                  <a:srgbClr val="E2E5C7"/>
                </a:solidFill>
              </a:rPr>
              <a:t>Custos</a:t>
            </a:r>
          </a:p>
          <a:p>
            <a:pPr eaLnBrk="1" hangingPunct="1"/>
            <a:r>
              <a:rPr lang="pt-BR" sz="1800" smtClean="0">
                <a:solidFill>
                  <a:srgbClr val="E2E5C7"/>
                </a:solidFill>
              </a:rPr>
              <a:t>Configuração do produto</a:t>
            </a:r>
          </a:p>
          <a:p>
            <a:pPr eaLnBrk="1" hangingPunct="1"/>
            <a:r>
              <a:rPr lang="pt-BR" sz="1800" smtClean="0">
                <a:solidFill>
                  <a:srgbClr val="E2E5C7"/>
                </a:solidFill>
              </a:rPr>
              <a:t>Aprovações</a:t>
            </a:r>
          </a:p>
        </p:txBody>
      </p:sp>
      <p:sp>
        <p:nvSpPr>
          <p:cNvPr id="54275" name="Text Box 3"/>
          <p:cNvSpPr txBox="1">
            <a:spLocks noChangeArrowheads="1"/>
          </p:cNvSpPr>
          <p:nvPr/>
        </p:nvSpPr>
        <p:spPr bwMode="auto">
          <a:xfrm>
            <a:off x="428625" y="642938"/>
            <a:ext cx="8215313"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
        <p:nvSpPr>
          <p:cNvPr id="36868" name="Text Box 4"/>
          <p:cNvSpPr txBox="1">
            <a:spLocks noChangeArrowheads="1"/>
          </p:cNvSpPr>
          <p:nvPr/>
        </p:nvSpPr>
        <p:spPr bwMode="auto">
          <a:xfrm>
            <a:off x="4427538" y="1557338"/>
            <a:ext cx="446405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2000" dirty="0"/>
              <a:t>Consiste em definir quais os critérios para informar que as entregas estão satisfatórias. Incluem critérios de desempenho, qualidade, características físicas, etc.</a:t>
            </a:r>
          </a:p>
        </p:txBody>
      </p:sp>
    </p:spTree>
    <p:extLst>
      <p:ext uri="{BB962C8B-B14F-4D97-AF65-F5344CB8AC3E}">
        <p14:creationId xmlns:p14="http://schemas.microsoft.com/office/powerpoint/2010/main" val="2693004013"/>
      </p:ext>
    </p:extLst>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Espaço Reservado para Conteúdo 2"/>
          <p:cNvSpPr>
            <a:spLocks noGrp="1"/>
          </p:cNvSpPr>
          <p:nvPr>
            <p:ph idx="4294967295"/>
          </p:nvPr>
        </p:nvSpPr>
        <p:spPr>
          <a:xfrm>
            <a:off x="323850" y="1557338"/>
            <a:ext cx="4032250" cy="4525962"/>
          </a:xfrm>
        </p:spPr>
        <p:txBody>
          <a:bodyPr/>
          <a:lstStyle/>
          <a:p>
            <a:pPr eaLnBrk="1" hangingPunct="1">
              <a:buFont typeface="Wingdings 2" pitchFamily="18" charset="2"/>
              <a:buNone/>
            </a:pPr>
            <a:r>
              <a:rPr lang="pt-BR" sz="1800" smtClean="0"/>
              <a:t>A declaração de escopo é contida de:</a:t>
            </a:r>
          </a:p>
          <a:p>
            <a:pPr eaLnBrk="1" hangingPunct="1"/>
            <a:r>
              <a:rPr lang="pt-BR" sz="1800" smtClean="0">
                <a:solidFill>
                  <a:srgbClr val="E2E5C7"/>
                </a:solidFill>
              </a:rPr>
              <a:t>Objetivos do projeto</a:t>
            </a:r>
          </a:p>
          <a:p>
            <a:pPr eaLnBrk="1" hangingPunct="1"/>
            <a:r>
              <a:rPr lang="pt-BR" sz="1800" smtClean="0">
                <a:solidFill>
                  <a:srgbClr val="E2E5C7"/>
                </a:solidFill>
              </a:rPr>
              <a:t>Definição de escopo do produto</a:t>
            </a:r>
          </a:p>
          <a:p>
            <a:pPr eaLnBrk="1" hangingPunct="1"/>
            <a:r>
              <a:rPr lang="pt-BR" sz="1800" smtClean="0">
                <a:solidFill>
                  <a:srgbClr val="E2E5C7"/>
                </a:solidFill>
              </a:rPr>
              <a:t>Entregas</a:t>
            </a:r>
          </a:p>
          <a:p>
            <a:pPr eaLnBrk="1" hangingPunct="1"/>
            <a:r>
              <a:rPr lang="pt-BR" sz="1800" smtClean="0">
                <a:solidFill>
                  <a:srgbClr val="E2E5C7"/>
                </a:solidFill>
              </a:rPr>
              <a:t>Requisitos</a:t>
            </a:r>
          </a:p>
          <a:p>
            <a:pPr eaLnBrk="1" hangingPunct="1"/>
            <a:r>
              <a:rPr lang="pt-BR" sz="1800" smtClean="0">
                <a:solidFill>
                  <a:srgbClr val="E2E5C7"/>
                </a:solidFill>
              </a:rPr>
              <a:t>Limites do projeto</a:t>
            </a:r>
          </a:p>
          <a:p>
            <a:pPr eaLnBrk="1" hangingPunct="1"/>
            <a:r>
              <a:rPr lang="pt-BR" sz="1800" smtClean="0">
                <a:solidFill>
                  <a:srgbClr val="E2E5C7"/>
                </a:solidFill>
              </a:rPr>
              <a:t>Critérios de aceitação</a:t>
            </a:r>
          </a:p>
          <a:p>
            <a:pPr eaLnBrk="1" hangingPunct="1"/>
            <a:r>
              <a:rPr lang="pt-BR" sz="1800" b="1" smtClean="0">
                <a:solidFill>
                  <a:schemeClr val="hlink"/>
                </a:solidFill>
              </a:rPr>
              <a:t>Restrições</a:t>
            </a:r>
          </a:p>
          <a:p>
            <a:pPr eaLnBrk="1" hangingPunct="1"/>
            <a:r>
              <a:rPr lang="pt-BR" sz="1800" smtClean="0">
                <a:solidFill>
                  <a:srgbClr val="E2E5C7"/>
                </a:solidFill>
              </a:rPr>
              <a:t>Premissas</a:t>
            </a:r>
          </a:p>
          <a:p>
            <a:pPr eaLnBrk="1" hangingPunct="1"/>
            <a:r>
              <a:rPr lang="pt-BR" sz="1800" smtClean="0">
                <a:solidFill>
                  <a:srgbClr val="E2E5C7"/>
                </a:solidFill>
              </a:rPr>
              <a:t>Organização do projeto</a:t>
            </a:r>
          </a:p>
          <a:p>
            <a:pPr eaLnBrk="1" hangingPunct="1"/>
            <a:r>
              <a:rPr lang="pt-BR" sz="1800" smtClean="0">
                <a:solidFill>
                  <a:srgbClr val="E2E5C7"/>
                </a:solidFill>
              </a:rPr>
              <a:t>Riscos iniciais</a:t>
            </a:r>
          </a:p>
          <a:p>
            <a:pPr eaLnBrk="1" hangingPunct="1"/>
            <a:r>
              <a:rPr lang="pt-BR" sz="1800" smtClean="0">
                <a:solidFill>
                  <a:srgbClr val="E2E5C7"/>
                </a:solidFill>
              </a:rPr>
              <a:t>Marcos</a:t>
            </a:r>
          </a:p>
          <a:p>
            <a:pPr eaLnBrk="1" hangingPunct="1"/>
            <a:r>
              <a:rPr lang="pt-BR" sz="1800" smtClean="0">
                <a:solidFill>
                  <a:srgbClr val="E2E5C7"/>
                </a:solidFill>
              </a:rPr>
              <a:t>Limitações de Recursos</a:t>
            </a:r>
          </a:p>
          <a:p>
            <a:pPr eaLnBrk="1" hangingPunct="1"/>
            <a:r>
              <a:rPr lang="pt-BR" sz="1800" smtClean="0">
                <a:solidFill>
                  <a:srgbClr val="E2E5C7"/>
                </a:solidFill>
              </a:rPr>
              <a:t>Custos</a:t>
            </a:r>
          </a:p>
          <a:p>
            <a:pPr eaLnBrk="1" hangingPunct="1"/>
            <a:r>
              <a:rPr lang="pt-BR" sz="1800" smtClean="0">
                <a:solidFill>
                  <a:srgbClr val="E2E5C7"/>
                </a:solidFill>
              </a:rPr>
              <a:t>Configuração do produto</a:t>
            </a:r>
          </a:p>
          <a:p>
            <a:pPr eaLnBrk="1" hangingPunct="1"/>
            <a:r>
              <a:rPr lang="pt-BR" sz="1800" smtClean="0">
                <a:solidFill>
                  <a:srgbClr val="E2E5C7"/>
                </a:solidFill>
              </a:rPr>
              <a:t>Aprovações</a:t>
            </a:r>
          </a:p>
        </p:txBody>
      </p:sp>
      <p:sp>
        <p:nvSpPr>
          <p:cNvPr id="55299" name="Text Box 3"/>
          <p:cNvSpPr txBox="1">
            <a:spLocks noChangeArrowheads="1"/>
          </p:cNvSpPr>
          <p:nvPr/>
        </p:nvSpPr>
        <p:spPr bwMode="auto">
          <a:xfrm>
            <a:off x="500063" y="642938"/>
            <a:ext cx="8215312"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
        <p:nvSpPr>
          <p:cNvPr id="37892" name="Text Box 4"/>
          <p:cNvSpPr txBox="1">
            <a:spLocks noChangeArrowheads="1"/>
          </p:cNvSpPr>
          <p:nvPr/>
        </p:nvSpPr>
        <p:spPr bwMode="auto">
          <a:xfrm>
            <a:off x="4427538" y="1557338"/>
            <a:ext cx="446405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1600" dirty="0"/>
              <a:t>É mais importante ou senão das mais importantes seções de um projeto. Restrições podem ser de tempo, pessoal, orçamento, níveis de qualidade, tecnologia aplicada, políticas, etc.</a:t>
            </a:r>
          </a:p>
          <a:p>
            <a:pPr eaLnBrk="1" hangingPunct="1">
              <a:spcBef>
                <a:spcPct val="50000"/>
              </a:spcBef>
            </a:pPr>
            <a:endParaRPr lang="pt-BR" sz="1600" dirty="0"/>
          </a:p>
          <a:p>
            <a:pPr eaLnBrk="1" hangingPunct="1">
              <a:spcBef>
                <a:spcPct val="50000"/>
              </a:spcBef>
            </a:pPr>
            <a:r>
              <a:rPr lang="pt-BR" sz="1600" dirty="0"/>
              <a:t>A indicação de como as restrições impactam no projeto é recomendada, mas a simples elucidação de que a restrição existe já é um ótimo começo para iniciar o projeto.</a:t>
            </a:r>
          </a:p>
          <a:p>
            <a:pPr eaLnBrk="1" hangingPunct="1">
              <a:spcBef>
                <a:spcPct val="50000"/>
              </a:spcBef>
            </a:pPr>
            <a:endParaRPr lang="pt-BR" sz="1600" dirty="0"/>
          </a:p>
          <a:p>
            <a:pPr eaLnBrk="1" hangingPunct="1">
              <a:spcBef>
                <a:spcPct val="50000"/>
              </a:spcBef>
            </a:pPr>
            <a:r>
              <a:rPr lang="pt-BR" sz="1600" dirty="0"/>
              <a:t>A priorização de restrições também é recomenda e ela é identificada através de entrevistas com os </a:t>
            </a:r>
            <a:r>
              <a:rPr lang="pt-BR" sz="1600" dirty="0" err="1"/>
              <a:t>stakeholders</a:t>
            </a:r>
            <a:r>
              <a:rPr lang="pt-BR" sz="1600" dirty="0"/>
              <a:t>. Ex.: Em caso de chuvas compro uma lona para seguir a obra durante a chuva ou aguardo a chuva passar ? Se é permitido comprar a lona você tem uma restrição de tempo e uma flexibilidade de orçamento.</a:t>
            </a:r>
          </a:p>
        </p:txBody>
      </p:sp>
    </p:spTree>
    <p:extLst>
      <p:ext uri="{BB962C8B-B14F-4D97-AF65-F5344CB8AC3E}">
        <p14:creationId xmlns:p14="http://schemas.microsoft.com/office/powerpoint/2010/main" val="3480166289"/>
      </p:ext>
    </p:extLst>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Espaço Reservado para Conteúdo 2"/>
          <p:cNvSpPr>
            <a:spLocks noGrp="1"/>
          </p:cNvSpPr>
          <p:nvPr>
            <p:ph idx="4294967295"/>
          </p:nvPr>
        </p:nvSpPr>
        <p:spPr>
          <a:xfrm>
            <a:off x="323850" y="1557338"/>
            <a:ext cx="4032250" cy="4525962"/>
          </a:xfrm>
        </p:spPr>
        <p:txBody>
          <a:bodyPr/>
          <a:lstStyle/>
          <a:p>
            <a:pPr eaLnBrk="1" hangingPunct="1">
              <a:buFont typeface="Wingdings 2" pitchFamily="18" charset="2"/>
              <a:buNone/>
            </a:pPr>
            <a:r>
              <a:rPr lang="pt-BR" sz="1800" smtClean="0"/>
              <a:t>A declaração de escopo é contida de:</a:t>
            </a:r>
          </a:p>
          <a:p>
            <a:pPr eaLnBrk="1" hangingPunct="1"/>
            <a:r>
              <a:rPr lang="pt-BR" sz="1800" smtClean="0">
                <a:solidFill>
                  <a:srgbClr val="E2E5C7"/>
                </a:solidFill>
              </a:rPr>
              <a:t>Objetivos do projeto</a:t>
            </a:r>
          </a:p>
          <a:p>
            <a:pPr eaLnBrk="1" hangingPunct="1"/>
            <a:r>
              <a:rPr lang="pt-BR" sz="1800" smtClean="0">
                <a:solidFill>
                  <a:srgbClr val="E2E5C7"/>
                </a:solidFill>
              </a:rPr>
              <a:t>Definição de escopo do produto</a:t>
            </a:r>
          </a:p>
          <a:p>
            <a:pPr eaLnBrk="1" hangingPunct="1"/>
            <a:r>
              <a:rPr lang="pt-BR" sz="1800" smtClean="0">
                <a:solidFill>
                  <a:srgbClr val="E2E5C7"/>
                </a:solidFill>
              </a:rPr>
              <a:t>Entregas</a:t>
            </a:r>
          </a:p>
          <a:p>
            <a:pPr eaLnBrk="1" hangingPunct="1"/>
            <a:r>
              <a:rPr lang="pt-BR" sz="1800" smtClean="0">
                <a:solidFill>
                  <a:srgbClr val="E2E5C7"/>
                </a:solidFill>
              </a:rPr>
              <a:t>Requisitos</a:t>
            </a:r>
          </a:p>
          <a:p>
            <a:pPr eaLnBrk="1" hangingPunct="1"/>
            <a:r>
              <a:rPr lang="pt-BR" sz="1800" smtClean="0">
                <a:solidFill>
                  <a:srgbClr val="E2E5C7"/>
                </a:solidFill>
              </a:rPr>
              <a:t>Limites do projeto</a:t>
            </a:r>
          </a:p>
          <a:p>
            <a:pPr eaLnBrk="1" hangingPunct="1"/>
            <a:r>
              <a:rPr lang="pt-BR" sz="1800" smtClean="0">
                <a:solidFill>
                  <a:srgbClr val="E2E5C7"/>
                </a:solidFill>
              </a:rPr>
              <a:t>Critérios de aceitação</a:t>
            </a:r>
          </a:p>
          <a:p>
            <a:pPr eaLnBrk="1" hangingPunct="1"/>
            <a:r>
              <a:rPr lang="pt-BR" sz="1800" smtClean="0">
                <a:solidFill>
                  <a:srgbClr val="E2E5C7"/>
                </a:solidFill>
              </a:rPr>
              <a:t>Restrições</a:t>
            </a:r>
          </a:p>
          <a:p>
            <a:pPr eaLnBrk="1" hangingPunct="1"/>
            <a:r>
              <a:rPr lang="pt-BR" sz="1800" b="1" smtClean="0">
                <a:solidFill>
                  <a:schemeClr val="hlink"/>
                </a:solidFill>
              </a:rPr>
              <a:t>Premissas</a:t>
            </a:r>
          </a:p>
          <a:p>
            <a:pPr eaLnBrk="1" hangingPunct="1"/>
            <a:r>
              <a:rPr lang="pt-BR" sz="1800" smtClean="0">
                <a:solidFill>
                  <a:srgbClr val="E2E5C7"/>
                </a:solidFill>
              </a:rPr>
              <a:t>Organização do projeto</a:t>
            </a:r>
          </a:p>
          <a:p>
            <a:pPr eaLnBrk="1" hangingPunct="1"/>
            <a:r>
              <a:rPr lang="pt-BR" sz="1800" smtClean="0">
                <a:solidFill>
                  <a:srgbClr val="E2E5C7"/>
                </a:solidFill>
              </a:rPr>
              <a:t>Riscos iniciais</a:t>
            </a:r>
          </a:p>
          <a:p>
            <a:pPr eaLnBrk="1" hangingPunct="1"/>
            <a:r>
              <a:rPr lang="pt-BR" sz="1800" smtClean="0">
                <a:solidFill>
                  <a:srgbClr val="E2E5C7"/>
                </a:solidFill>
              </a:rPr>
              <a:t>Marcos</a:t>
            </a:r>
          </a:p>
          <a:p>
            <a:pPr eaLnBrk="1" hangingPunct="1"/>
            <a:r>
              <a:rPr lang="pt-BR" sz="1800" smtClean="0">
                <a:solidFill>
                  <a:srgbClr val="E2E5C7"/>
                </a:solidFill>
              </a:rPr>
              <a:t>Limitações de Recursos</a:t>
            </a:r>
          </a:p>
          <a:p>
            <a:pPr eaLnBrk="1" hangingPunct="1"/>
            <a:r>
              <a:rPr lang="pt-BR" sz="1800" smtClean="0">
                <a:solidFill>
                  <a:srgbClr val="E2E5C7"/>
                </a:solidFill>
              </a:rPr>
              <a:t>Custos</a:t>
            </a:r>
          </a:p>
          <a:p>
            <a:pPr eaLnBrk="1" hangingPunct="1"/>
            <a:r>
              <a:rPr lang="pt-BR" sz="1800" smtClean="0">
                <a:solidFill>
                  <a:srgbClr val="E2E5C7"/>
                </a:solidFill>
              </a:rPr>
              <a:t>Configuração do produto</a:t>
            </a:r>
          </a:p>
          <a:p>
            <a:pPr eaLnBrk="1" hangingPunct="1"/>
            <a:r>
              <a:rPr lang="pt-BR" sz="1800" smtClean="0">
                <a:solidFill>
                  <a:srgbClr val="E2E5C7"/>
                </a:solidFill>
              </a:rPr>
              <a:t>Aprovações</a:t>
            </a:r>
          </a:p>
        </p:txBody>
      </p:sp>
      <p:sp>
        <p:nvSpPr>
          <p:cNvPr id="56323" name="Text Box 3"/>
          <p:cNvSpPr txBox="1">
            <a:spLocks noChangeArrowheads="1"/>
          </p:cNvSpPr>
          <p:nvPr/>
        </p:nvSpPr>
        <p:spPr bwMode="auto">
          <a:xfrm>
            <a:off x="500063" y="642938"/>
            <a:ext cx="8215312"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
        <p:nvSpPr>
          <p:cNvPr id="38916" name="Text Box 4"/>
          <p:cNvSpPr txBox="1">
            <a:spLocks noChangeArrowheads="1"/>
          </p:cNvSpPr>
          <p:nvPr/>
        </p:nvSpPr>
        <p:spPr bwMode="auto">
          <a:xfrm>
            <a:off x="4427538" y="1557338"/>
            <a:ext cx="4464050" cy="2446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dirty="0"/>
              <a:t>São itens que você deixa claro que existirão durante o processo:</a:t>
            </a:r>
          </a:p>
          <a:p>
            <a:pPr eaLnBrk="1" hangingPunct="1">
              <a:spcBef>
                <a:spcPct val="50000"/>
              </a:spcBef>
              <a:buFontTx/>
              <a:buChar char="-"/>
            </a:pPr>
            <a:r>
              <a:rPr lang="pt-BR" dirty="0"/>
              <a:t>O Cliente disponibilizará um servidor para teste</a:t>
            </a:r>
          </a:p>
          <a:p>
            <a:pPr eaLnBrk="1" hangingPunct="1">
              <a:spcBef>
                <a:spcPct val="50000"/>
              </a:spcBef>
              <a:buFontTx/>
              <a:buChar char="-"/>
            </a:pPr>
            <a:r>
              <a:rPr lang="pt-BR" dirty="0"/>
              <a:t>O Código fonte é propriedade da empresa desenvolvedora</a:t>
            </a:r>
          </a:p>
          <a:p>
            <a:pPr eaLnBrk="1" hangingPunct="1">
              <a:spcBef>
                <a:spcPct val="50000"/>
              </a:spcBef>
              <a:buFontTx/>
              <a:buChar char="-"/>
            </a:pPr>
            <a:endParaRPr lang="pt-BR" dirty="0"/>
          </a:p>
        </p:txBody>
      </p:sp>
    </p:spTree>
    <p:extLst>
      <p:ext uri="{BB962C8B-B14F-4D97-AF65-F5344CB8AC3E}">
        <p14:creationId xmlns:p14="http://schemas.microsoft.com/office/powerpoint/2010/main" val="4141876379"/>
      </p:ext>
    </p:extLst>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Espaço Reservado para Conteúdo 2"/>
          <p:cNvSpPr>
            <a:spLocks noGrp="1"/>
          </p:cNvSpPr>
          <p:nvPr>
            <p:ph idx="4294967295"/>
          </p:nvPr>
        </p:nvSpPr>
        <p:spPr>
          <a:xfrm>
            <a:off x="152400" y="1189038"/>
            <a:ext cx="4032250" cy="4525962"/>
          </a:xfrm>
        </p:spPr>
        <p:txBody>
          <a:bodyPr/>
          <a:lstStyle/>
          <a:p>
            <a:pPr eaLnBrk="1" hangingPunct="1">
              <a:buFont typeface="Wingdings 2" pitchFamily="18" charset="2"/>
              <a:buNone/>
            </a:pPr>
            <a:r>
              <a:rPr lang="pt-BR" sz="2000" dirty="0" smtClean="0"/>
              <a:t>A declaração de escopo é contida de:</a:t>
            </a:r>
          </a:p>
          <a:p>
            <a:pPr eaLnBrk="1" hangingPunct="1">
              <a:buFont typeface="Wingdings 2" pitchFamily="18" charset="2"/>
              <a:buNone/>
            </a:pPr>
            <a:endParaRPr lang="pt-BR" sz="2000" dirty="0"/>
          </a:p>
          <a:p>
            <a:pPr eaLnBrk="1" hangingPunct="1">
              <a:buFont typeface="Wingdings 2" pitchFamily="18" charset="2"/>
              <a:buNone/>
            </a:pPr>
            <a:endParaRPr lang="pt-BR" sz="2000" dirty="0" smtClean="0"/>
          </a:p>
          <a:p>
            <a:pPr eaLnBrk="1" hangingPunct="1"/>
            <a:r>
              <a:rPr lang="pt-BR" sz="2000" dirty="0" smtClean="0">
                <a:solidFill>
                  <a:srgbClr val="E2E5C7"/>
                </a:solidFill>
              </a:rPr>
              <a:t>Limites do projeto</a:t>
            </a:r>
          </a:p>
          <a:p>
            <a:pPr eaLnBrk="1" hangingPunct="1"/>
            <a:r>
              <a:rPr lang="pt-BR" sz="2000" dirty="0" smtClean="0">
                <a:solidFill>
                  <a:srgbClr val="E2E5C7"/>
                </a:solidFill>
              </a:rPr>
              <a:t>Critérios de aceitação</a:t>
            </a:r>
          </a:p>
          <a:p>
            <a:pPr eaLnBrk="1" hangingPunct="1"/>
            <a:r>
              <a:rPr lang="pt-BR" sz="2000" dirty="0" smtClean="0">
                <a:solidFill>
                  <a:srgbClr val="E2E5C7"/>
                </a:solidFill>
              </a:rPr>
              <a:t>Restrições</a:t>
            </a:r>
          </a:p>
          <a:p>
            <a:pPr eaLnBrk="1" hangingPunct="1"/>
            <a:r>
              <a:rPr lang="pt-BR" sz="2000" dirty="0" smtClean="0">
                <a:solidFill>
                  <a:srgbClr val="E2E5C7"/>
                </a:solidFill>
              </a:rPr>
              <a:t>Premissas</a:t>
            </a:r>
          </a:p>
          <a:p>
            <a:pPr eaLnBrk="1" hangingPunct="1"/>
            <a:r>
              <a:rPr lang="pt-BR" sz="2000" dirty="0" smtClean="0">
                <a:solidFill>
                  <a:srgbClr val="E2E5C7"/>
                </a:solidFill>
              </a:rPr>
              <a:t>Organização do projeto</a:t>
            </a:r>
          </a:p>
          <a:p>
            <a:pPr eaLnBrk="1" hangingPunct="1"/>
            <a:r>
              <a:rPr lang="pt-BR" sz="2000" dirty="0" smtClean="0">
                <a:solidFill>
                  <a:srgbClr val="E2E5C7"/>
                </a:solidFill>
              </a:rPr>
              <a:t>Riscos iniciais</a:t>
            </a:r>
          </a:p>
          <a:p>
            <a:pPr eaLnBrk="1" hangingPunct="1"/>
            <a:r>
              <a:rPr lang="pt-BR" sz="2000" dirty="0" smtClean="0">
                <a:solidFill>
                  <a:srgbClr val="E2E5C7"/>
                </a:solidFill>
              </a:rPr>
              <a:t>Marcos</a:t>
            </a:r>
          </a:p>
          <a:p>
            <a:pPr eaLnBrk="1" hangingPunct="1"/>
            <a:r>
              <a:rPr lang="pt-BR" sz="2000" dirty="0" smtClean="0">
                <a:solidFill>
                  <a:srgbClr val="E2E5C7"/>
                </a:solidFill>
              </a:rPr>
              <a:t>Limitações de Recursos</a:t>
            </a:r>
          </a:p>
          <a:p>
            <a:pPr eaLnBrk="1" hangingPunct="1"/>
            <a:r>
              <a:rPr lang="pt-BR" sz="2000" dirty="0" smtClean="0">
                <a:solidFill>
                  <a:srgbClr val="E2E5C7"/>
                </a:solidFill>
              </a:rPr>
              <a:t>Custos</a:t>
            </a:r>
          </a:p>
          <a:p>
            <a:pPr eaLnBrk="1" hangingPunct="1"/>
            <a:r>
              <a:rPr lang="pt-BR" sz="2000" dirty="0" smtClean="0">
                <a:solidFill>
                  <a:srgbClr val="E2E5C7"/>
                </a:solidFill>
              </a:rPr>
              <a:t>Configuração do produto</a:t>
            </a:r>
          </a:p>
          <a:p>
            <a:pPr eaLnBrk="1" hangingPunct="1"/>
            <a:r>
              <a:rPr lang="pt-BR" sz="2000" dirty="0" smtClean="0">
                <a:solidFill>
                  <a:srgbClr val="E2E5C7"/>
                </a:solidFill>
              </a:rPr>
              <a:t>Aprovações</a:t>
            </a:r>
          </a:p>
        </p:txBody>
      </p:sp>
      <p:sp>
        <p:nvSpPr>
          <p:cNvPr id="57347" name="Text Box 3"/>
          <p:cNvSpPr txBox="1">
            <a:spLocks noChangeArrowheads="1"/>
          </p:cNvSpPr>
          <p:nvPr/>
        </p:nvSpPr>
        <p:spPr bwMode="auto">
          <a:xfrm>
            <a:off x="571500" y="642938"/>
            <a:ext cx="8072438" cy="723900"/>
          </a:xfrm>
          <a:prstGeom prst="rect">
            <a:avLst/>
          </a:prstGeom>
          <a:noFill/>
          <a:ln w="9525">
            <a:noFill/>
            <a:miter lim="800000"/>
            <a:headEnd/>
            <a:tailEnd/>
          </a:ln>
          <a:effectLst>
            <a:outerShdw dist="107763" dir="2700000" algn="ctr" rotWithShape="0">
              <a:schemeClr val="bg2">
                <a:alpha val="50000"/>
              </a:schemeClr>
            </a:outerShdw>
          </a:effectLst>
        </p:spPr>
        <p:txBody>
          <a:bodyPr>
            <a:spAutoFit/>
          </a:bodyPr>
          <a:lstStyle/>
          <a:p>
            <a:pPr algn="ctr">
              <a:defRPr/>
            </a:pPr>
            <a:r>
              <a:rPr lang="pt-BR" sz="4100" dirty="0">
                <a:solidFill>
                  <a:srgbClr val="E7EACB"/>
                </a:solidFill>
                <a:effectLst>
                  <a:outerShdw blurRad="38100" dist="25500" dir="5400000" algn="tl" rotWithShape="0">
                    <a:srgbClr val="000000">
                      <a:satMod val="180000"/>
                      <a:alpha val="75000"/>
                    </a:srgbClr>
                  </a:outerShdw>
                </a:effectLst>
                <a:latin typeface="+mj-lt"/>
                <a:ea typeface="+mj-ea"/>
                <a:cs typeface="+mj-cs"/>
              </a:rPr>
              <a:t>Declaração de escopo</a:t>
            </a:r>
          </a:p>
        </p:txBody>
      </p:sp>
      <p:sp>
        <p:nvSpPr>
          <p:cNvPr id="39940" name="Text Box 4"/>
          <p:cNvSpPr txBox="1">
            <a:spLocks noChangeArrowheads="1"/>
          </p:cNvSpPr>
          <p:nvPr/>
        </p:nvSpPr>
        <p:spPr bwMode="auto">
          <a:xfrm>
            <a:off x="4244975" y="4165600"/>
            <a:ext cx="4464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1400" dirty="0"/>
              <a:t>Descreve quem é a equipe do projeto.</a:t>
            </a:r>
          </a:p>
        </p:txBody>
      </p:sp>
      <p:sp>
        <p:nvSpPr>
          <p:cNvPr id="39941" name="Text Box 5"/>
          <p:cNvSpPr txBox="1">
            <a:spLocks noChangeArrowheads="1"/>
          </p:cNvSpPr>
          <p:nvPr/>
        </p:nvSpPr>
        <p:spPr bwMode="auto">
          <a:xfrm>
            <a:off x="4259263" y="4452938"/>
            <a:ext cx="4464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1400"/>
              <a:t>Lista os riscos identificados no início do projeto</a:t>
            </a:r>
          </a:p>
        </p:txBody>
      </p:sp>
      <p:sp>
        <p:nvSpPr>
          <p:cNvPr id="39942" name="Text Box 6"/>
          <p:cNvSpPr txBox="1">
            <a:spLocks noChangeArrowheads="1"/>
          </p:cNvSpPr>
          <p:nvPr/>
        </p:nvSpPr>
        <p:spPr bwMode="auto">
          <a:xfrm>
            <a:off x="4249738" y="4668838"/>
            <a:ext cx="44640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1400"/>
              <a:t>Lista os pontos nos quais existem acontecimentos relevantes para o projeto.</a:t>
            </a:r>
          </a:p>
        </p:txBody>
      </p:sp>
      <p:sp>
        <p:nvSpPr>
          <p:cNvPr id="39943" name="Line 7"/>
          <p:cNvSpPr>
            <a:spLocks noChangeShapeType="1"/>
          </p:cNvSpPr>
          <p:nvPr/>
        </p:nvSpPr>
        <p:spPr bwMode="auto">
          <a:xfrm>
            <a:off x="3381375" y="4308475"/>
            <a:ext cx="863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9944" name="Line 8"/>
          <p:cNvSpPr>
            <a:spLocks noChangeShapeType="1"/>
          </p:cNvSpPr>
          <p:nvPr/>
        </p:nvSpPr>
        <p:spPr bwMode="auto">
          <a:xfrm flipV="1">
            <a:off x="2444750" y="4597400"/>
            <a:ext cx="18002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9945" name="Line 9"/>
          <p:cNvSpPr>
            <a:spLocks noChangeShapeType="1"/>
          </p:cNvSpPr>
          <p:nvPr/>
        </p:nvSpPr>
        <p:spPr bwMode="auto">
          <a:xfrm>
            <a:off x="3308350" y="5334000"/>
            <a:ext cx="9366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9946" name="Text Box 10"/>
          <p:cNvSpPr txBox="1">
            <a:spLocks noChangeArrowheads="1"/>
          </p:cNvSpPr>
          <p:nvPr/>
        </p:nvSpPr>
        <p:spPr bwMode="auto">
          <a:xfrm>
            <a:off x="4249738" y="5181600"/>
            <a:ext cx="4464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1400" dirty="0"/>
              <a:t>Lista limitações em período de tempo ou valor</a:t>
            </a:r>
          </a:p>
        </p:txBody>
      </p:sp>
      <p:sp>
        <p:nvSpPr>
          <p:cNvPr id="39947" name="Line 11"/>
          <p:cNvSpPr>
            <a:spLocks noChangeShapeType="1"/>
          </p:cNvSpPr>
          <p:nvPr/>
        </p:nvSpPr>
        <p:spPr bwMode="auto">
          <a:xfrm>
            <a:off x="1868488" y="4957763"/>
            <a:ext cx="23764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9948" name="Line 12"/>
          <p:cNvSpPr>
            <a:spLocks noChangeShapeType="1"/>
          </p:cNvSpPr>
          <p:nvPr/>
        </p:nvSpPr>
        <p:spPr bwMode="auto">
          <a:xfrm>
            <a:off x="1652588" y="5715000"/>
            <a:ext cx="25923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9949" name="Text Box 13"/>
          <p:cNvSpPr txBox="1">
            <a:spLocks noChangeArrowheads="1"/>
          </p:cNvSpPr>
          <p:nvPr/>
        </p:nvSpPr>
        <p:spPr bwMode="auto">
          <a:xfrm>
            <a:off x="4244975" y="5562600"/>
            <a:ext cx="4464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1400" dirty="0"/>
              <a:t>Melhora a estimativa de custos do projeto</a:t>
            </a:r>
          </a:p>
        </p:txBody>
      </p:sp>
      <p:sp>
        <p:nvSpPr>
          <p:cNvPr id="39950" name="Line 14"/>
          <p:cNvSpPr>
            <a:spLocks noChangeShapeType="1"/>
          </p:cNvSpPr>
          <p:nvPr/>
        </p:nvSpPr>
        <p:spPr bwMode="auto">
          <a:xfrm>
            <a:off x="3452813" y="6096000"/>
            <a:ext cx="7921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9951" name="Text Box 15"/>
          <p:cNvSpPr txBox="1">
            <a:spLocks noChangeArrowheads="1"/>
          </p:cNvSpPr>
          <p:nvPr/>
        </p:nvSpPr>
        <p:spPr bwMode="auto">
          <a:xfrm>
            <a:off x="4244975" y="5943600"/>
            <a:ext cx="4752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1400" dirty="0"/>
              <a:t>Como ocorrerá a verificação de completude e </a:t>
            </a:r>
            <a:r>
              <a:rPr lang="pt-BR" sz="1400" dirty="0" err="1"/>
              <a:t>corretude</a:t>
            </a:r>
            <a:r>
              <a:rPr lang="pt-BR" sz="1400" dirty="0"/>
              <a:t>.</a:t>
            </a:r>
          </a:p>
        </p:txBody>
      </p:sp>
      <p:sp>
        <p:nvSpPr>
          <p:cNvPr id="39952" name="Line 16"/>
          <p:cNvSpPr>
            <a:spLocks noChangeShapeType="1"/>
          </p:cNvSpPr>
          <p:nvPr/>
        </p:nvSpPr>
        <p:spPr bwMode="auto">
          <a:xfrm>
            <a:off x="2084388" y="6477000"/>
            <a:ext cx="21605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pt-BR"/>
          </a:p>
        </p:txBody>
      </p:sp>
      <p:sp>
        <p:nvSpPr>
          <p:cNvPr id="39953" name="Text Box 17"/>
          <p:cNvSpPr txBox="1">
            <a:spLocks noChangeArrowheads="1"/>
          </p:cNvSpPr>
          <p:nvPr/>
        </p:nvSpPr>
        <p:spPr bwMode="auto">
          <a:xfrm>
            <a:off x="4244975" y="6324600"/>
            <a:ext cx="4752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pt-BR" sz="1400" dirty="0"/>
              <a:t>Quem são responsáveis pelas aprovações.</a:t>
            </a:r>
          </a:p>
        </p:txBody>
      </p:sp>
    </p:spTree>
    <p:extLst>
      <p:ext uri="{BB962C8B-B14F-4D97-AF65-F5344CB8AC3E}">
        <p14:creationId xmlns:p14="http://schemas.microsoft.com/office/powerpoint/2010/main" val="3183395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algn="ctr" eaLnBrk="1" hangingPunct="1">
              <a:defRPr/>
            </a:pPr>
            <a:r>
              <a:rPr lang="pt-BR" sz="4100" dirty="0" smtClean="0"/>
              <a:t>Criar EAP(Estrutura Analítica do Projeto)</a:t>
            </a:r>
            <a:endParaRPr lang="pt-BR" sz="4100" dirty="0"/>
          </a:p>
        </p:txBody>
      </p:sp>
      <p:sp>
        <p:nvSpPr>
          <p:cNvPr id="40963" name="Espaço Reservado para Conteúdo 2"/>
          <p:cNvSpPr>
            <a:spLocks noGrp="1"/>
          </p:cNvSpPr>
          <p:nvPr>
            <p:ph idx="1"/>
          </p:nvPr>
        </p:nvSpPr>
        <p:spPr>
          <a:xfrm>
            <a:off x="457200" y="1646238"/>
            <a:ext cx="8229600" cy="2068512"/>
          </a:xfrm>
        </p:spPr>
        <p:txBody>
          <a:bodyPr/>
          <a:lstStyle/>
          <a:p>
            <a:pPr eaLnBrk="1" hangingPunct="1">
              <a:buFont typeface="Wingdings 2" pitchFamily="18" charset="2"/>
              <a:buNone/>
            </a:pPr>
            <a:r>
              <a:rPr lang="pt-BR" sz="2800" dirty="0" smtClean="0"/>
              <a:t>	Uma Estrutura Analítica de Projetos (</a:t>
            </a:r>
            <a:r>
              <a:rPr lang="pt-BR" sz="2800" i="1" dirty="0" smtClean="0"/>
              <a:t>EAP</a:t>
            </a:r>
            <a:r>
              <a:rPr lang="pt-BR" sz="2800" dirty="0" smtClean="0"/>
              <a:t>), do Inglês, </a:t>
            </a:r>
            <a:r>
              <a:rPr lang="pt-BR" sz="2800" b="1" dirty="0" err="1" smtClean="0"/>
              <a:t>Work</a:t>
            </a:r>
            <a:r>
              <a:rPr lang="pt-BR" sz="2800" b="1" dirty="0" smtClean="0"/>
              <a:t> </a:t>
            </a:r>
            <a:r>
              <a:rPr lang="pt-BR" sz="2800" b="1" dirty="0" err="1" smtClean="0"/>
              <a:t>breakdown</a:t>
            </a:r>
            <a:r>
              <a:rPr lang="pt-BR" sz="2800" b="1" dirty="0" smtClean="0"/>
              <a:t> </a:t>
            </a:r>
            <a:r>
              <a:rPr lang="pt-BR" sz="2800" b="1" dirty="0" err="1" smtClean="0"/>
              <a:t>structure</a:t>
            </a:r>
            <a:r>
              <a:rPr lang="pt-BR" sz="2800" dirty="0" smtClean="0"/>
              <a:t> (</a:t>
            </a:r>
            <a:r>
              <a:rPr lang="pt-BR" sz="2800" i="1" dirty="0" smtClean="0"/>
              <a:t>WBS</a:t>
            </a:r>
            <a:r>
              <a:rPr lang="pt-BR" sz="2800" dirty="0" smtClean="0"/>
              <a:t>) é uma ferramenta de decomposição do trabalho do projeto em partes manejáveis. É uma estrutura em árvore exaustiva, hierárquica (mais geral para mais específica) de entregáveis e tarefas que precisam ser feitas para completar um projeto.</a:t>
            </a:r>
          </a:p>
          <a:p>
            <a:pPr eaLnBrk="1" hangingPunct="1">
              <a:buFont typeface="Wingdings 2" pitchFamily="18" charset="2"/>
              <a:buNone/>
            </a:pPr>
            <a:endParaRPr lang="pt-BR" sz="2800" dirty="0" smtClean="0"/>
          </a:p>
          <a:p>
            <a:pPr eaLnBrk="1" hangingPunct="1">
              <a:buFont typeface="Wingdings" pitchFamily="2" charset="2"/>
              <a:buChar char="ü"/>
            </a:pPr>
            <a:endParaRPr lang="pt-BR" sz="2800" dirty="0" smtClean="0"/>
          </a:p>
        </p:txBody>
      </p:sp>
      <p:sp>
        <p:nvSpPr>
          <p:cNvPr id="40964" name="CaixaDeTexto 3"/>
          <p:cNvSpPr txBox="1">
            <a:spLocks noChangeArrowheads="1"/>
          </p:cNvSpPr>
          <p:nvPr/>
        </p:nvSpPr>
        <p:spPr bwMode="auto">
          <a:xfrm>
            <a:off x="857250" y="1571625"/>
            <a:ext cx="2571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pt-BR"/>
          </a:p>
        </p:txBody>
      </p:sp>
      <p:pic>
        <p:nvPicPr>
          <p:cNvPr id="4096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0" y="4857750"/>
            <a:ext cx="18669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33684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pPr algn="ctr" eaLnBrk="1" hangingPunct="1">
              <a:defRPr/>
            </a:pPr>
            <a:r>
              <a:rPr lang="pt-BR" dirty="0" smtClean="0"/>
              <a:t>Work Breakdown Structure - WBS</a:t>
            </a:r>
            <a:endParaRPr lang="pt-BR" dirty="0"/>
          </a:p>
        </p:txBody>
      </p:sp>
      <p:pic>
        <p:nvPicPr>
          <p:cNvPr id="43011" name="Picture 6" descr="C:\Documents and Settings\bruno.melo\Desktop\Gerencia de escopo\Churrasc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1571625"/>
            <a:ext cx="8245475" cy="464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2026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ítulo 1"/>
          <p:cNvSpPr>
            <a:spLocks noGrp="1"/>
          </p:cNvSpPr>
          <p:nvPr>
            <p:ph type="title"/>
          </p:nvPr>
        </p:nvSpPr>
        <p:spPr/>
        <p:txBody>
          <a:bodyPr/>
          <a:lstStyle/>
          <a:p>
            <a:r>
              <a:rPr lang="pt-BR" smtClean="0"/>
              <a:t>WBS</a:t>
            </a:r>
          </a:p>
        </p:txBody>
      </p:sp>
      <p:pic>
        <p:nvPicPr>
          <p:cNvPr id="37891" name="Espaço Reservado para Conteúdo 3" descr="WBS.jpg"/>
          <p:cNvPicPr>
            <a:picLocks noGrp="1" noChangeAspect="1"/>
          </p:cNvPicPr>
          <p:nvPr>
            <p:ph idx="1"/>
          </p:nvPr>
        </p:nvPicPr>
        <p:blipFill>
          <a:blip r:embed="rId2" cstate="print"/>
          <a:srcRect/>
          <a:stretch>
            <a:fillRect/>
          </a:stretch>
        </p:blipFill>
        <p:spPr>
          <a:xfrm>
            <a:off x="609600" y="1219200"/>
            <a:ext cx="7978775" cy="4406900"/>
          </a:xfrm>
        </p:spPr>
      </p:pic>
      <p:sp>
        <p:nvSpPr>
          <p:cNvPr id="5" name="Elipse 4"/>
          <p:cNvSpPr/>
          <p:nvPr/>
        </p:nvSpPr>
        <p:spPr>
          <a:xfrm>
            <a:off x="3352800" y="4800600"/>
            <a:ext cx="2514600" cy="990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dirty="0">
              <a:solidFill>
                <a:srgbClr val="FF0000"/>
              </a:solidFill>
            </a:endParaRPr>
          </a:p>
          <a:p>
            <a:pPr algn="ctr">
              <a:defRPr/>
            </a:pPr>
            <a:endParaRPr lang="pt-BR" dirty="0">
              <a:solidFill>
                <a:srgbClr val="FF0000"/>
              </a:solidFill>
            </a:endParaRPr>
          </a:p>
          <a:p>
            <a:pPr algn="ctr">
              <a:defRPr/>
            </a:pPr>
            <a:endParaRPr lang="pt-BR" dirty="0">
              <a:solidFill>
                <a:srgbClr val="FF0000"/>
              </a:solidFill>
            </a:endParaRPr>
          </a:p>
          <a:p>
            <a:pPr algn="ctr">
              <a:defRPr/>
            </a:pPr>
            <a:endParaRPr lang="pt-BR" dirty="0">
              <a:solidFill>
                <a:srgbClr val="FF0000"/>
              </a:solidFill>
            </a:endParaRPr>
          </a:p>
          <a:p>
            <a:pPr algn="ctr">
              <a:defRPr/>
            </a:pPr>
            <a:endParaRPr lang="pt-BR" dirty="0">
              <a:solidFill>
                <a:srgbClr val="FF0000"/>
              </a:solidFill>
            </a:endParaRPr>
          </a:p>
          <a:p>
            <a:pPr algn="ctr">
              <a:defRPr/>
            </a:pPr>
            <a:r>
              <a:rPr lang="pt-BR" dirty="0">
                <a:solidFill>
                  <a:srgbClr val="FF0000"/>
                </a:solidFill>
              </a:rPr>
              <a:t>ATIVIDADES</a:t>
            </a:r>
          </a:p>
        </p:txBody>
      </p:sp>
      <p:sp>
        <p:nvSpPr>
          <p:cNvPr id="6" name="Elipse 5"/>
          <p:cNvSpPr/>
          <p:nvPr/>
        </p:nvSpPr>
        <p:spPr>
          <a:xfrm>
            <a:off x="228600" y="1752600"/>
            <a:ext cx="1905000" cy="1447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BR" sz="1400" dirty="0">
              <a:solidFill>
                <a:srgbClr val="FF0000"/>
              </a:solidFill>
            </a:endParaRPr>
          </a:p>
          <a:p>
            <a:pPr algn="ctr">
              <a:defRPr/>
            </a:pPr>
            <a:endParaRPr lang="pt-BR" sz="1400" dirty="0">
              <a:solidFill>
                <a:srgbClr val="FF0000"/>
              </a:solidFill>
            </a:endParaRPr>
          </a:p>
          <a:p>
            <a:pPr algn="ctr">
              <a:defRPr/>
            </a:pPr>
            <a:endParaRPr lang="pt-BR" sz="1400" dirty="0">
              <a:solidFill>
                <a:srgbClr val="FF0000"/>
              </a:solidFill>
            </a:endParaRPr>
          </a:p>
          <a:p>
            <a:pPr algn="ctr">
              <a:defRPr/>
            </a:pPr>
            <a:endParaRPr lang="pt-BR" sz="1400" dirty="0">
              <a:solidFill>
                <a:srgbClr val="FF0000"/>
              </a:solidFill>
            </a:endParaRPr>
          </a:p>
          <a:p>
            <a:pPr algn="ctr">
              <a:defRPr/>
            </a:pPr>
            <a:endParaRPr lang="pt-BR" sz="1400" dirty="0">
              <a:solidFill>
                <a:srgbClr val="FF0000"/>
              </a:solidFill>
            </a:endParaRPr>
          </a:p>
          <a:p>
            <a:pPr algn="ctr">
              <a:defRPr/>
            </a:pPr>
            <a:endParaRPr lang="pt-BR" sz="1400" dirty="0">
              <a:solidFill>
                <a:srgbClr val="FF0000"/>
              </a:solidFill>
            </a:endParaRPr>
          </a:p>
          <a:p>
            <a:pPr algn="ctr">
              <a:defRPr/>
            </a:pPr>
            <a:endParaRPr lang="pt-BR" sz="1400" dirty="0">
              <a:solidFill>
                <a:srgbClr val="FF0000"/>
              </a:solidFill>
            </a:endParaRPr>
          </a:p>
          <a:p>
            <a:pPr algn="ctr">
              <a:defRPr/>
            </a:pPr>
            <a:endParaRPr lang="pt-BR" sz="1400" dirty="0">
              <a:solidFill>
                <a:srgbClr val="FF0000"/>
              </a:solidFill>
            </a:endParaRPr>
          </a:p>
          <a:p>
            <a:pPr algn="ctr">
              <a:defRPr/>
            </a:pPr>
            <a:endParaRPr lang="pt-BR" sz="1400" dirty="0">
              <a:solidFill>
                <a:srgbClr val="FF0000"/>
              </a:solidFill>
            </a:endParaRPr>
          </a:p>
          <a:p>
            <a:pPr algn="ctr">
              <a:defRPr/>
            </a:pPr>
            <a:r>
              <a:rPr lang="pt-BR" sz="1400" dirty="0">
                <a:solidFill>
                  <a:srgbClr val="FF0000"/>
                </a:solidFill>
              </a:rPr>
              <a:t>PACOTE DE TRABALHO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down)">
                                      <p:cBhvr>
                                        <p:cTn id="7" dur="500"/>
                                        <p:tgtEl>
                                          <p:spTgt spid="5">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wipe(down)">
                                      <p:cBhvr>
                                        <p:cTn id="10" dur="500"/>
                                        <p:tgtEl>
                                          <p:spTgt spid="5">
                                            <p:txEl>
                                              <p:pRg st="5" end="5"/>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bg/>
                                          </p:spTgt>
                                        </p:tgtEl>
                                        <p:attrNameLst>
                                          <p:attrName>style.visibility</p:attrName>
                                        </p:attrNameLst>
                                      </p:cBhvr>
                                      <p:to>
                                        <p:strVal val="visible"/>
                                      </p:to>
                                    </p:set>
                                    <p:animEffect transition="in" filter="wipe(down)">
                                      <p:cBhvr>
                                        <p:cTn id="13" dur="500"/>
                                        <p:tgtEl>
                                          <p:spTgt spid="6">
                                            <p:bg/>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xEl>
                                              <p:pRg st="9" end="9"/>
                                            </p:txEl>
                                          </p:spTgt>
                                        </p:tgtEl>
                                        <p:attrNameLst>
                                          <p:attrName>style.visibility</p:attrName>
                                        </p:attrNameLst>
                                      </p:cBhvr>
                                      <p:to>
                                        <p:strVal val="visible"/>
                                      </p:to>
                                    </p:set>
                                    <p:animEffect transition="in" filter="wipe(down)">
                                      <p:cBhvr>
                                        <p:cTn id="16"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6" grpId="0" build="allAtOnce"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ítulo 1"/>
          <p:cNvSpPr>
            <a:spLocks noGrp="1"/>
          </p:cNvSpPr>
          <p:nvPr>
            <p:ph type="title"/>
          </p:nvPr>
        </p:nvSpPr>
        <p:spPr/>
        <p:txBody>
          <a:bodyPr/>
          <a:lstStyle/>
          <a:p>
            <a:r>
              <a:rPr lang="pt-BR" smtClean="0"/>
              <a:t>WBS</a:t>
            </a:r>
          </a:p>
        </p:txBody>
      </p:sp>
      <p:sp>
        <p:nvSpPr>
          <p:cNvPr id="38915" name="Espaço Reservado para Conteúdo 2"/>
          <p:cNvSpPr>
            <a:spLocks noGrp="1"/>
          </p:cNvSpPr>
          <p:nvPr>
            <p:ph idx="1"/>
          </p:nvPr>
        </p:nvSpPr>
        <p:spPr/>
        <p:txBody>
          <a:bodyPr/>
          <a:lstStyle/>
          <a:p>
            <a:r>
              <a:rPr lang="pt-BR" smtClean="0"/>
              <a:t>E o dicionário:</a:t>
            </a:r>
          </a:p>
          <a:p>
            <a:pPr algn="ctr">
              <a:buFont typeface="Wingdings" pitchFamily="2" charset="2"/>
              <a:buChar char="§"/>
            </a:pPr>
            <a:r>
              <a:rPr lang="pt-BR" smtClean="0"/>
              <a:t>Descrição das atividades</a:t>
            </a:r>
          </a:p>
          <a:p>
            <a:pPr algn="ctr">
              <a:buFont typeface="Wingdings" pitchFamily="2" charset="2"/>
              <a:buChar char="§"/>
            </a:pPr>
            <a:endParaRPr lang="pt-BR" smtClean="0"/>
          </a:p>
          <a:p>
            <a:pPr algn="ctr">
              <a:buFont typeface="Wingdings" pitchFamily="2" charset="2"/>
              <a:buChar char="§"/>
            </a:pPr>
            <a:r>
              <a:rPr lang="pt-BR" smtClean="0"/>
              <a:t>Alternativas: técnica usada para gerar diferentes abordagens para executar e realizar o trabalho do projeto.</a:t>
            </a:r>
          </a:p>
          <a:p>
            <a:pPr algn="ctr">
              <a:buFontTx/>
              <a:buNone/>
            </a:pPr>
            <a:r>
              <a:rPr lang="pt-BR" smtClean="0">
                <a:hlinkClick r:id="rId2" action="ppaction://hlinkfile"/>
              </a:rPr>
              <a:t>Identificação das alternativas</a:t>
            </a:r>
            <a:endParaRPr lang="pt-BR" smtClean="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Escopo no ágil: backlog e histórias</a:t>
            </a:r>
          </a:p>
        </p:txBody>
      </p:sp>
      <p:sp>
        <p:nvSpPr>
          <p:cNvPr id="3" name="Content Placeholder 2"/>
          <p:cNvSpPr>
            <a:spLocks noGrp="1"/>
          </p:cNvSpPr>
          <p:nvPr>
            <p:ph idx="1"/>
          </p:nvPr>
        </p:nvSpPr>
        <p:spPr/>
        <p:txBody>
          <a:bodyPr/>
          <a:lstStyle/>
          <a:p>
            <a:r>
              <a:rPr sz="2000"/>
              <a:t>Product Backlog priorizado no lugar da EAP rígida (a EAP segue útil em preditivo e híbrido)</a:t>
            </a:r>
          </a:p>
          <a:p>
            <a:r>
              <a:rPr sz="2000"/>
              <a:t>História: "Como [perfil], quero [ação] para [benefício]"</a:t>
            </a:r>
          </a:p>
          <a:p>
            <a:r>
              <a:rPr sz="2000"/>
              <a:t>Boas histórias seguem o INVEST</a:t>
            </a:r>
          </a:p>
          <a:p>
            <a:r>
              <a:rPr sz="2000"/>
              <a:t>Critérios de aceite e Definition of Done</a:t>
            </a:r>
          </a:p>
          <a:p>
            <a:r>
              <a:rPr sz="2000"/>
              <a:t>MVP: menor entrega que gera aprendizado e valor</a:t>
            </a:r>
          </a:p>
          <a:p>
            <a:r>
              <a:rPr sz="2000"/>
              <a:t>Priorização: MoSCoW e valor x esforço</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ítulo 1"/>
          <p:cNvSpPr>
            <a:spLocks noGrp="1"/>
          </p:cNvSpPr>
          <p:nvPr>
            <p:ph type="title"/>
          </p:nvPr>
        </p:nvSpPr>
        <p:spPr/>
        <p:txBody>
          <a:bodyPr/>
          <a:lstStyle/>
          <a:p>
            <a:r>
              <a:rPr lang="pt-BR" smtClean="0"/>
              <a:t>Exercício</a:t>
            </a:r>
          </a:p>
        </p:txBody>
      </p:sp>
      <p:sp>
        <p:nvSpPr>
          <p:cNvPr id="39939" name="Espaço Reservado para Conteúdo 2"/>
          <p:cNvSpPr>
            <a:spLocks noGrp="1"/>
          </p:cNvSpPr>
          <p:nvPr>
            <p:ph idx="1"/>
          </p:nvPr>
        </p:nvSpPr>
        <p:spPr/>
        <p:txBody>
          <a:bodyPr/>
          <a:lstStyle/>
          <a:p>
            <a:r>
              <a:rPr lang="pt-BR" smtClean="0"/>
              <a:t>A partir do project charter criado:</a:t>
            </a:r>
          </a:p>
          <a:p>
            <a:r>
              <a:rPr lang="pt-BR" smtClean="0"/>
              <a:t>Crie a WBS</a:t>
            </a:r>
          </a:p>
          <a:p>
            <a:r>
              <a:rPr lang="pt-BR" smtClean="0"/>
              <a:t>Crie o dicionário da WBS</a:t>
            </a:r>
          </a:p>
          <a:p>
            <a:r>
              <a:rPr lang="pt-BR" smtClean="0"/>
              <a:t>Faça a escolha das alternativas baseado no seu foco</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ítulo 1"/>
          <p:cNvSpPr>
            <a:spLocks noGrp="1"/>
          </p:cNvSpPr>
          <p:nvPr>
            <p:ph type="title"/>
          </p:nvPr>
        </p:nvSpPr>
        <p:spPr/>
        <p:txBody>
          <a:bodyPr/>
          <a:lstStyle/>
          <a:p>
            <a:r>
              <a:rPr lang="pt-BR" smtClean="0"/>
              <a:t>TEMPO</a:t>
            </a:r>
          </a:p>
        </p:txBody>
      </p:sp>
      <p:pic>
        <p:nvPicPr>
          <p:cNvPr id="40963" name="Espaço Reservado para Conteúdo 3" descr="prazo-e-prazo.jpg"/>
          <p:cNvPicPr>
            <a:picLocks noGrp="1" noChangeAspect="1"/>
          </p:cNvPicPr>
          <p:nvPr>
            <p:ph idx="1"/>
          </p:nvPr>
        </p:nvPicPr>
        <p:blipFill>
          <a:blip r:embed="rId2" cstate="print"/>
          <a:srcRect/>
          <a:stretch>
            <a:fillRect/>
          </a:stretch>
        </p:blipFill>
        <p:spPr>
          <a:xfrm>
            <a:off x="990600" y="1295400"/>
            <a:ext cx="6629400" cy="4972050"/>
          </a:xfr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ítulo 1"/>
          <p:cNvSpPr>
            <a:spLocks noGrp="1"/>
          </p:cNvSpPr>
          <p:nvPr>
            <p:ph type="title"/>
          </p:nvPr>
        </p:nvSpPr>
        <p:spPr/>
        <p:txBody>
          <a:bodyPr/>
          <a:lstStyle/>
          <a:p>
            <a:r>
              <a:rPr lang="pt-BR" smtClean="0"/>
              <a:t>TEMPO</a:t>
            </a:r>
          </a:p>
        </p:txBody>
      </p:sp>
      <p:sp>
        <p:nvSpPr>
          <p:cNvPr id="41987" name="Espaço Reservado para Conteúdo 2"/>
          <p:cNvSpPr>
            <a:spLocks noGrp="1"/>
          </p:cNvSpPr>
          <p:nvPr>
            <p:ph idx="1"/>
          </p:nvPr>
        </p:nvSpPr>
        <p:spPr>
          <a:xfrm>
            <a:off x="457200" y="2895600"/>
            <a:ext cx="8229600" cy="3230563"/>
          </a:xfrm>
        </p:spPr>
        <p:txBody>
          <a:bodyPr/>
          <a:lstStyle/>
          <a:p>
            <a:pPr algn="ctr"/>
            <a:r>
              <a:rPr lang="pt-BR" smtClean="0"/>
              <a:t>Garantir que o projeto seja concluído dentro do prazo determinado</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ítulo 1"/>
          <p:cNvSpPr>
            <a:spLocks noGrp="1"/>
          </p:cNvSpPr>
          <p:nvPr>
            <p:ph type="title"/>
          </p:nvPr>
        </p:nvSpPr>
        <p:spPr/>
        <p:txBody>
          <a:bodyPr/>
          <a:lstStyle/>
          <a:p>
            <a:endParaRPr lang="pt-BR" smtClean="0"/>
          </a:p>
        </p:txBody>
      </p:sp>
      <p:sp>
        <p:nvSpPr>
          <p:cNvPr id="43011" name="Espaço Reservado para Conteúdo 2"/>
          <p:cNvSpPr>
            <a:spLocks noGrp="1"/>
          </p:cNvSpPr>
          <p:nvPr>
            <p:ph idx="1"/>
          </p:nvPr>
        </p:nvSpPr>
        <p:spPr/>
        <p:txBody>
          <a:bodyPr/>
          <a:lstStyle/>
          <a:p>
            <a:r>
              <a:rPr lang="pt-BR" sz="3600" smtClean="0"/>
              <a:t> </a:t>
            </a:r>
            <a:r>
              <a:rPr lang="pt-BR" sz="3900" smtClean="0"/>
              <a:t>Gerência de Tempo</a:t>
            </a:r>
            <a:r>
              <a:rPr lang="pt-BR" sz="3600" smtClean="0"/>
              <a:t>: </a:t>
            </a:r>
            <a:r>
              <a:rPr lang="pt-BR" sz="3700" b="1" smtClean="0"/>
              <a:t>inclui os processos necessários para assegurar que o projeto será implementado no prazo previsto.</a:t>
            </a:r>
          </a:p>
        </p:txBody>
      </p:sp>
      <p:pic>
        <p:nvPicPr>
          <p:cNvPr id="43013" name="Picture 5" descr="ganhandotempo"/>
          <p:cNvPicPr>
            <a:picLocks noChangeAspect="1" noChangeArrowheads="1"/>
          </p:cNvPicPr>
          <p:nvPr/>
        </p:nvPicPr>
        <p:blipFill>
          <a:blip r:embed="rId2" cstate="print"/>
          <a:srcRect/>
          <a:stretch>
            <a:fillRect/>
          </a:stretch>
        </p:blipFill>
        <p:spPr bwMode="auto">
          <a:xfrm>
            <a:off x="304800" y="109538"/>
            <a:ext cx="8839200" cy="64516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3013"/>
                                        </p:tgtEl>
                                        <p:attrNameLst>
                                          <p:attrName>style.visibility</p:attrName>
                                        </p:attrNameLst>
                                      </p:cBhvr>
                                      <p:to>
                                        <p:strVal val="visible"/>
                                      </p:to>
                                    </p:set>
                                    <p:animEffect transition="in" filter="checkerboard(across)">
                                      <p:cBhvr>
                                        <p:cTn id="7" dur="500"/>
                                        <p:tgtEl>
                                          <p:spTgt spid="43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ítulo 1"/>
          <p:cNvSpPr>
            <a:spLocks noGrp="1"/>
          </p:cNvSpPr>
          <p:nvPr>
            <p:ph type="title"/>
          </p:nvPr>
        </p:nvSpPr>
        <p:spPr/>
        <p:txBody>
          <a:bodyPr/>
          <a:lstStyle/>
          <a:p>
            <a:r>
              <a:rPr lang="pt-BR" sz="4000" smtClean="0"/>
              <a:t>Por que os Projetos Atrasam?</a:t>
            </a:r>
          </a:p>
        </p:txBody>
      </p:sp>
      <p:sp>
        <p:nvSpPr>
          <p:cNvPr id="44035" name="Espaço Reservado para Conteúdo 2"/>
          <p:cNvSpPr>
            <a:spLocks noGrp="1"/>
          </p:cNvSpPr>
          <p:nvPr>
            <p:ph idx="1"/>
          </p:nvPr>
        </p:nvSpPr>
        <p:spPr/>
        <p:txBody>
          <a:bodyPr/>
          <a:lstStyle/>
          <a:p>
            <a:r>
              <a:rPr lang="pt-BR" smtClean="0"/>
              <a:t>Planejamento insuficiente</a:t>
            </a:r>
          </a:p>
          <a:p>
            <a:r>
              <a:rPr lang="pt-BR" smtClean="0">
                <a:solidFill>
                  <a:srgbClr val="0000CC"/>
                </a:solidFill>
              </a:rPr>
              <a:t>Plano não realista</a:t>
            </a:r>
          </a:p>
          <a:p>
            <a:r>
              <a:rPr lang="pt-BR" smtClean="0"/>
              <a:t>Escopo do projeto subestimado</a:t>
            </a:r>
          </a:p>
          <a:p>
            <a:r>
              <a:rPr lang="pt-BR" smtClean="0">
                <a:solidFill>
                  <a:srgbClr val="0000CC"/>
                </a:solidFill>
              </a:rPr>
              <a:t>Alterações dos requisitos pelos clientes</a:t>
            </a:r>
            <a:endParaRPr lang="pt-BR" smtClean="0"/>
          </a:p>
          <a:p>
            <a:r>
              <a:rPr lang="pt-BR" smtClean="0"/>
              <a:t>Incapacidade de acompanhar o</a:t>
            </a:r>
            <a:r>
              <a:rPr lang="en-US" smtClean="0"/>
              <a:t> </a:t>
            </a:r>
            <a:r>
              <a:rPr lang="pt-BR" smtClean="0"/>
              <a:t>progresso</a:t>
            </a:r>
          </a:p>
          <a:p>
            <a:r>
              <a:rPr lang="pt-BR" smtClean="0">
                <a:solidFill>
                  <a:srgbClr val="0000CC"/>
                </a:solidFill>
              </a:rPr>
              <a:t>Incapacidade de detectar problemas com antecedência</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pt-BR" sz="4000" smtClean="0"/>
              <a:t>Por que os Projetos Atrasam?</a:t>
            </a:r>
          </a:p>
        </p:txBody>
      </p:sp>
      <p:sp>
        <p:nvSpPr>
          <p:cNvPr id="57347" name="Rectangle 3"/>
          <p:cNvSpPr>
            <a:spLocks noGrp="1" noChangeArrowheads="1"/>
          </p:cNvSpPr>
          <p:nvPr>
            <p:ph type="body" idx="1"/>
          </p:nvPr>
        </p:nvSpPr>
        <p:spPr/>
        <p:txBody>
          <a:bodyPr/>
          <a:lstStyle/>
          <a:p>
            <a:r>
              <a:rPr lang="pt-BR" smtClean="0">
                <a:solidFill>
                  <a:srgbClr val="0000CC"/>
                </a:solidFill>
              </a:rPr>
              <a:t>Número insuficiente de verificações</a:t>
            </a:r>
            <a:endParaRPr lang="pt-BR" smtClean="0"/>
          </a:p>
          <a:p>
            <a:r>
              <a:rPr lang="pt-BR" smtClean="0"/>
              <a:t>Complexidade técnica</a:t>
            </a:r>
          </a:p>
          <a:p>
            <a:r>
              <a:rPr lang="pt-BR" smtClean="0">
                <a:solidFill>
                  <a:srgbClr val="0000CC"/>
                </a:solidFill>
              </a:rPr>
              <a:t>Mudanças de prioridades</a:t>
            </a:r>
          </a:p>
          <a:p>
            <a:r>
              <a:rPr lang="pt-BR" smtClean="0"/>
              <a:t>Falta de comprometimento da equipe</a:t>
            </a:r>
          </a:p>
          <a:p>
            <a:r>
              <a:rPr lang="pt-BR" smtClean="0">
                <a:solidFill>
                  <a:srgbClr val="0000CC"/>
                </a:solidFill>
              </a:rPr>
              <a:t>Grupos de suporte não cooperativos</a:t>
            </a:r>
            <a:endParaRPr lang="pt-BR" smtClean="0"/>
          </a:p>
          <a:p>
            <a:r>
              <a:rPr lang="pt-BR" smtClean="0"/>
              <a:t>Espírito de equipe em baixa</a:t>
            </a:r>
          </a:p>
          <a:p>
            <a:r>
              <a:rPr lang="pt-BR" smtClean="0">
                <a:solidFill>
                  <a:srgbClr val="0000CC"/>
                </a:solidFill>
              </a:rPr>
              <a:t>Pessoal não qualificado</a:t>
            </a:r>
            <a:endParaRPr lang="pt-BR" smtClean="0"/>
          </a:p>
          <a:p>
            <a:endParaRPr lang="pt-BR" smtClean="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624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8600"/>
            <a:ext cx="7010400" cy="6552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877323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pt-BR" smtClean="0"/>
              <a:t>Tempo</a:t>
            </a:r>
          </a:p>
        </p:txBody>
      </p:sp>
      <p:sp>
        <p:nvSpPr>
          <p:cNvPr id="60419" name="Rectangle 3"/>
          <p:cNvSpPr>
            <a:spLocks noGrp="1" noChangeArrowheads="1"/>
          </p:cNvSpPr>
          <p:nvPr>
            <p:ph type="body" idx="1"/>
          </p:nvPr>
        </p:nvSpPr>
        <p:spPr>
          <a:xfrm>
            <a:off x="457200" y="2667000"/>
            <a:ext cx="8229600" cy="3459163"/>
          </a:xfrm>
        </p:spPr>
        <p:txBody>
          <a:bodyPr/>
          <a:lstStyle/>
          <a:p>
            <a:r>
              <a:rPr lang="pt-BR" smtClean="0"/>
              <a:t>Descrição das atividades</a:t>
            </a:r>
          </a:p>
          <a:p>
            <a:r>
              <a:rPr lang="pt-BR" smtClean="0"/>
              <a:t>Sequenciamento das atividades</a:t>
            </a:r>
          </a:p>
          <a:p>
            <a:r>
              <a:rPr lang="pt-BR" smtClean="0"/>
              <a:t>Criação de marcos</a:t>
            </a:r>
          </a:p>
          <a:p>
            <a:pPr>
              <a:buFontTx/>
              <a:buNone/>
            </a:pPr>
            <a:endParaRPr lang="pt-BR" smtClean="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p:cNvSpPr>
            <a:spLocks noGrp="1" noChangeArrowheads="1"/>
          </p:cNvSpPr>
          <p:nvPr>
            <p:ph type="title"/>
          </p:nvPr>
        </p:nvSpPr>
        <p:spPr/>
        <p:txBody>
          <a:bodyPr/>
          <a:lstStyle/>
          <a:p>
            <a:endParaRPr lang="pt-BR" smtClean="0"/>
          </a:p>
        </p:txBody>
      </p:sp>
      <p:graphicFrame>
        <p:nvGraphicFramePr>
          <p:cNvPr id="61444" name="Object 4"/>
          <p:cNvGraphicFramePr>
            <a:graphicFrameLocks noGrp="1" noChangeAspect="1"/>
          </p:cNvGraphicFramePr>
          <p:nvPr>
            <p:ph idx="1"/>
          </p:nvPr>
        </p:nvGraphicFramePr>
        <p:xfrm>
          <a:off x="0" y="611188"/>
          <a:ext cx="9144000" cy="5514975"/>
        </p:xfrm>
        <a:graphic>
          <a:graphicData uri="http://schemas.openxmlformats.org/presentationml/2006/ole">
            <mc:AlternateContent xmlns:mc="http://schemas.openxmlformats.org/markup-compatibility/2006">
              <mc:Choice xmlns:v="urn:schemas-microsoft-com:vml" Requires="v">
                <p:oleObj spid="_x0000_s2056" r:id="rId3" imgW="9012326" imgH="5435498" progId="Visio.Drawing.11">
                  <p:embed/>
                </p:oleObj>
              </mc:Choice>
              <mc:Fallback>
                <p:oleObj r:id="rId3" imgW="9012326" imgH="5435498" progId="Visio.Drawing.11">
                  <p:embed/>
                  <p:pic>
                    <p:nvPicPr>
                      <p:cNvPr id="0" name="Picture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1188"/>
                        <a:ext cx="9144000" cy="551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endParaRPr lang="pt-BR" smtClean="0"/>
          </a:p>
        </p:txBody>
      </p:sp>
      <p:sp>
        <p:nvSpPr>
          <p:cNvPr id="58371" name="Rectangle 3"/>
          <p:cNvSpPr>
            <a:spLocks noGrp="1" noChangeArrowheads="1"/>
          </p:cNvSpPr>
          <p:nvPr>
            <p:ph type="body" idx="1"/>
          </p:nvPr>
        </p:nvSpPr>
        <p:spPr/>
        <p:txBody>
          <a:bodyPr/>
          <a:lstStyle/>
          <a:p>
            <a:endParaRPr lang="pt-BR" smtClean="0"/>
          </a:p>
        </p:txBody>
      </p:sp>
      <p:pic>
        <p:nvPicPr>
          <p:cNvPr id="58372" name="Picture 4" descr="Apostila%20treinamento"/>
          <p:cNvPicPr>
            <a:picLocks noChangeAspect="1" noChangeArrowheads="1"/>
          </p:cNvPicPr>
          <p:nvPr/>
        </p:nvPicPr>
        <p:blipFill>
          <a:blip r:embed="rId2" cstate="print"/>
          <a:srcRect/>
          <a:stretch>
            <a:fillRect/>
          </a:stretch>
        </p:blipFill>
        <p:spPr bwMode="auto">
          <a:xfrm>
            <a:off x="3209925" y="1055688"/>
            <a:ext cx="2424113" cy="5037137"/>
          </a:xfrm>
          <a:prstGeom prst="rect">
            <a:avLst/>
          </a:prstGeom>
          <a:noFill/>
          <a:ln w="9525">
            <a:noFill/>
            <a:miter lim="800000"/>
            <a:headEnd/>
            <a:tailEnd/>
          </a:ln>
          <a:effectLst/>
        </p:spPr>
      </p:pic>
      <p:sp>
        <p:nvSpPr>
          <p:cNvPr id="58373" name="Line 5"/>
          <p:cNvSpPr>
            <a:spLocks noChangeShapeType="1"/>
          </p:cNvSpPr>
          <p:nvPr/>
        </p:nvSpPr>
        <p:spPr bwMode="auto">
          <a:xfrm>
            <a:off x="715963" y="1916113"/>
            <a:ext cx="7643812" cy="0"/>
          </a:xfrm>
          <a:prstGeom prst="line">
            <a:avLst/>
          </a:prstGeom>
          <a:noFill/>
          <a:ln w="66675" cap="sq">
            <a:solidFill>
              <a:schemeClr val="tx1"/>
            </a:solidFill>
            <a:round/>
            <a:headEnd/>
            <a:tailEnd/>
          </a:ln>
          <a:effectLst/>
        </p:spPr>
        <p:txBody>
          <a:bodyPr>
            <a:spAutoFit/>
          </a:bodyPr>
          <a:lstStyle/>
          <a:p>
            <a:endParaRPr lang="pt-BR"/>
          </a:p>
        </p:txBody>
      </p:sp>
      <p:sp>
        <p:nvSpPr>
          <p:cNvPr id="58374" name="Line 6"/>
          <p:cNvSpPr>
            <a:spLocks noChangeShapeType="1"/>
          </p:cNvSpPr>
          <p:nvPr/>
        </p:nvSpPr>
        <p:spPr bwMode="auto">
          <a:xfrm>
            <a:off x="5835650" y="2133600"/>
            <a:ext cx="0" cy="2303463"/>
          </a:xfrm>
          <a:prstGeom prst="line">
            <a:avLst/>
          </a:prstGeom>
          <a:noFill/>
          <a:ln w="53975" cap="sq">
            <a:solidFill>
              <a:schemeClr val="tx1"/>
            </a:solidFill>
            <a:round/>
            <a:headEnd/>
            <a:tailEnd type="triangle" w="med" len="med"/>
          </a:ln>
          <a:effectLst/>
        </p:spPr>
        <p:txBody>
          <a:bodyPr>
            <a:spAutoFit/>
          </a:bodyPr>
          <a:lstStyle/>
          <a:p>
            <a:endParaRPr lang="pt-BR"/>
          </a:p>
        </p:txBody>
      </p:sp>
      <p:sp>
        <p:nvSpPr>
          <p:cNvPr id="58375" name="AutoShape 7"/>
          <p:cNvSpPr>
            <a:spLocks noChangeArrowheads="1"/>
          </p:cNvSpPr>
          <p:nvPr/>
        </p:nvSpPr>
        <p:spPr bwMode="auto">
          <a:xfrm>
            <a:off x="6100763" y="2924175"/>
            <a:ext cx="2432050" cy="1296988"/>
          </a:xfrm>
          <a:prstGeom prst="wedgeRoundRectCallout">
            <a:avLst>
              <a:gd name="adj1" fmla="val -70171"/>
              <a:gd name="adj2" fmla="val 98593"/>
              <a:gd name="adj3" fmla="val 16667"/>
            </a:avLst>
          </a:prstGeom>
          <a:solidFill>
            <a:srgbClr val="FFCC99"/>
          </a:solidFill>
          <a:ln w="12700" cap="sq" algn="ctr">
            <a:solidFill>
              <a:schemeClr val="bg2"/>
            </a:solidFill>
            <a:miter lim="800000"/>
            <a:headEnd/>
            <a:tailEnd/>
          </a:ln>
          <a:effectLst/>
        </p:spPr>
        <p:txBody>
          <a:bodyPr/>
          <a:lstStyle/>
          <a:p>
            <a:pPr algn="ctr" eaLnBrk="0" hangingPunct="0">
              <a:spcBef>
                <a:spcPct val="50000"/>
              </a:spcBef>
              <a:buClr>
                <a:schemeClr val="tx1"/>
              </a:buClr>
              <a:buFont typeface="Wingdings" pitchFamily="2" charset="2"/>
              <a:buNone/>
            </a:pPr>
            <a:r>
              <a:rPr lang="pt-BR" sz="2400" b="1">
                <a:latin typeface="Times New Roman" pitchFamily="18" charset="0"/>
              </a:rPr>
              <a:t>Atividades: Gerência de tempo</a:t>
            </a:r>
          </a:p>
        </p:txBody>
      </p:sp>
      <p:sp>
        <p:nvSpPr>
          <p:cNvPr id="58376" name="AutoShape 8"/>
          <p:cNvSpPr>
            <a:spLocks noChangeArrowheads="1"/>
          </p:cNvSpPr>
          <p:nvPr/>
        </p:nvSpPr>
        <p:spPr bwMode="auto">
          <a:xfrm>
            <a:off x="6499225" y="692150"/>
            <a:ext cx="2327275" cy="1152525"/>
          </a:xfrm>
          <a:prstGeom prst="wedgeRoundRectCallout">
            <a:avLst>
              <a:gd name="adj1" fmla="val -103889"/>
              <a:gd name="adj2" fmla="val 36639"/>
              <a:gd name="adj3" fmla="val 16667"/>
            </a:avLst>
          </a:prstGeom>
          <a:solidFill>
            <a:srgbClr val="FFCC99"/>
          </a:solidFill>
          <a:ln w="12700" cap="sq" algn="ctr">
            <a:solidFill>
              <a:schemeClr val="bg2"/>
            </a:solidFill>
            <a:miter lim="800000"/>
            <a:headEnd/>
            <a:tailEnd/>
          </a:ln>
          <a:effectLst/>
        </p:spPr>
        <p:txBody>
          <a:bodyPr/>
          <a:lstStyle/>
          <a:p>
            <a:pPr algn="ctr" eaLnBrk="0" hangingPunct="0">
              <a:spcBef>
                <a:spcPct val="50000"/>
              </a:spcBef>
              <a:buClr>
                <a:schemeClr val="tx1"/>
              </a:buClr>
              <a:buFont typeface="Wingdings" pitchFamily="2" charset="2"/>
              <a:buNone/>
            </a:pPr>
            <a:r>
              <a:rPr lang="pt-BR" sz="2400" b="1">
                <a:latin typeface="Times New Roman" pitchFamily="18" charset="0"/>
              </a:rPr>
              <a:t>Deliverable: Gerência de escopo</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endParaRPr lang="pt-BR" smtClean="0"/>
          </a:p>
        </p:txBody>
      </p:sp>
      <p:sp>
        <p:nvSpPr>
          <p:cNvPr id="59395" name="Rectangle 3"/>
          <p:cNvSpPr>
            <a:spLocks noGrp="1" noChangeArrowheads="1"/>
          </p:cNvSpPr>
          <p:nvPr>
            <p:ph type="body" idx="1"/>
          </p:nvPr>
        </p:nvSpPr>
        <p:spPr/>
        <p:txBody>
          <a:bodyPr/>
          <a:lstStyle/>
          <a:p>
            <a:endParaRPr lang="pt-BR" smtClean="0"/>
          </a:p>
        </p:txBody>
      </p:sp>
      <p:pic>
        <p:nvPicPr>
          <p:cNvPr id="59396" name="Picture 4"/>
          <p:cNvPicPr>
            <a:picLocks noChangeAspect="1" noChangeArrowheads="1"/>
          </p:cNvPicPr>
          <p:nvPr/>
        </p:nvPicPr>
        <p:blipFill>
          <a:blip r:embed="rId2" cstate="print"/>
          <a:srcRect/>
          <a:stretch>
            <a:fillRect/>
          </a:stretch>
        </p:blipFill>
        <p:spPr bwMode="auto">
          <a:xfrm>
            <a:off x="611188" y="669925"/>
            <a:ext cx="7993062" cy="5475288"/>
          </a:xfrm>
          <a:prstGeom prst="rect">
            <a:avLst/>
          </a:prstGeom>
          <a:noFill/>
          <a:ln w="12700">
            <a:noFill/>
            <a:miter lim="800000"/>
            <a:headEnd/>
            <a:tailEnd/>
          </a:ln>
          <a:effec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ítulo 1"/>
          <p:cNvSpPr>
            <a:spLocks noGrp="1"/>
          </p:cNvSpPr>
          <p:nvPr>
            <p:ph type="title"/>
          </p:nvPr>
        </p:nvSpPr>
        <p:spPr/>
        <p:txBody>
          <a:bodyPr/>
          <a:lstStyle/>
          <a:p>
            <a:r>
              <a:rPr lang="pt-BR" smtClean="0"/>
              <a:t>Sequenciamento</a:t>
            </a:r>
          </a:p>
        </p:txBody>
      </p:sp>
      <p:sp>
        <p:nvSpPr>
          <p:cNvPr id="45061" name="Text Box 5"/>
          <p:cNvSpPr txBox="1">
            <a:spLocks noChangeArrowheads="1"/>
          </p:cNvSpPr>
          <p:nvPr/>
        </p:nvSpPr>
        <p:spPr bwMode="auto">
          <a:xfrm>
            <a:off x="395288" y="1295400"/>
            <a:ext cx="8424862" cy="5203825"/>
          </a:xfrm>
          <a:prstGeom prst="rect">
            <a:avLst/>
          </a:prstGeom>
          <a:noFill/>
          <a:ln w="12700">
            <a:noFill/>
            <a:miter lim="800000"/>
            <a:headEnd/>
            <a:tailEnd/>
          </a:ln>
          <a:effectLst/>
        </p:spPr>
        <p:txBody>
          <a:bodyPr>
            <a:spAutoFit/>
          </a:bodyPr>
          <a:lstStyle/>
          <a:p>
            <a:pPr eaLnBrk="0" hangingPunct="0"/>
            <a:r>
              <a:rPr lang="pt-BR" sz="2400" b="1">
                <a:latin typeface="Tahoma" pitchFamily="34" charset="0"/>
              </a:rPr>
              <a:t>Lista de Atividades		      Dependências</a:t>
            </a:r>
          </a:p>
          <a:p>
            <a:pPr eaLnBrk="0" hangingPunct="0"/>
            <a:endParaRPr lang="pt-BR" sz="2400">
              <a:latin typeface="Tahoma" pitchFamily="34" charset="0"/>
            </a:endParaRPr>
          </a:p>
          <a:p>
            <a:pPr eaLnBrk="0" hangingPunct="0"/>
            <a:r>
              <a:rPr lang="pt-BR" sz="2400">
                <a:latin typeface="Tahoma" pitchFamily="34" charset="0"/>
              </a:rPr>
              <a:t>A - 	Preparar minuta do texto		-</a:t>
            </a:r>
          </a:p>
          <a:p>
            <a:pPr eaLnBrk="0" hangingPunct="0"/>
            <a:r>
              <a:rPr lang="pt-BR" sz="2400">
                <a:latin typeface="Tahoma" pitchFamily="34" charset="0"/>
              </a:rPr>
              <a:t>B - 	Rascunhar tabelas			-</a:t>
            </a:r>
          </a:p>
          <a:p>
            <a:pPr eaLnBrk="0" hangingPunct="0"/>
            <a:r>
              <a:rPr lang="pt-BR" sz="2400">
                <a:latin typeface="Tahoma" pitchFamily="34" charset="0"/>
              </a:rPr>
              <a:t>C - 	Preparar croqui dos gráficos	-</a:t>
            </a:r>
          </a:p>
          <a:p>
            <a:pPr eaLnBrk="0" hangingPunct="0"/>
            <a:r>
              <a:rPr lang="pt-BR" sz="2400">
                <a:latin typeface="Tahoma" pitchFamily="34" charset="0"/>
              </a:rPr>
              <a:t>D - 	Digitar textos			         	A</a:t>
            </a:r>
          </a:p>
          <a:p>
            <a:pPr eaLnBrk="0" hangingPunct="0"/>
            <a:r>
              <a:rPr lang="pt-BR" sz="2400">
                <a:latin typeface="Tahoma" pitchFamily="34" charset="0"/>
              </a:rPr>
              <a:t>E - 	Digitar tabelas			B</a:t>
            </a:r>
          </a:p>
          <a:p>
            <a:pPr eaLnBrk="0" hangingPunct="0"/>
            <a:r>
              <a:rPr lang="pt-BR" sz="2400">
                <a:latin typeface="Tahoma" pitchFamily="34" charset="0"/>
              </a:rPr>
              <a:t>F - 	Executar desenhos			C</a:t>
            </a:r>
          </a:p>
          <a:p>
            <a:pPr eaLnBrk="0" hangingPunct="0"/>
            <a:r>
              <a:rPr lang="pt-BR" sz="2400">
                <a:latin typeface="Tahoma" pitchFamily="34" charset="0"/>
              </a:rPr>
              <a:t>G - 	Reduzir desenhos			F</a:t>
            </a:r>
          </a:p>
          <a:p>
            <a:pPr eaLnBrk="0" hangingPunct="0"/>
            <a:r>
              <a:rPr lang="pt-BR" sz="2400">
                <a:latin typeface="Tahoma" pitchFamily="34" charset="0"/>
              </a:rPr>
              <a:t>H - 	Tirar cópias			         	D,E,G</a:t>
            </a:r>
          </a:p>
          <a:p>
            <a:pPr eaLnBrk="0" hangingPunct="0"/>
            <a:r>
              <a:rPr lang="pt-BR" sz="2400">
                <a:latin typeface="Tahoma" pitchFamily="34" charset="0"/>
              </a:rPr>
              <a:t>I - 	Selecionar			          -</a:t>
            </a:r>
          </a:p>
          <a:p>
            <a:pPr eaLnBrk="0" hangingPunct="0"/>
            <a:r>
              <a:rPr lang="pt-BR" sz="2400">
                <a:latin typeface="Tahoma" pitchFamily="34" charset="0"/>
              </a:rPr>
              <a:t>J - 	Adquirir				I</a:t>
            </a:r>
          </a:p>
          <a:p>
            <a:pPr eaLnBrk="0" hangingPunct="0"/>
            <a:r>
              <a:rPr lang="pt-BR" sz="2400">
                <a:latin typeface="Tahoma" pitchFamily="34" charset="0"/>
              </a:rPr>
              <a:t>L - 	Montar				J,H</a:t>
            </a:r>
          </a:p>
          <a:p>
            <a:pPr eaLnBrk="0" hangingPunct="0"/>
            <a:endParaRPr lang="pt-BR" sz="2400">
              <a:latin typeface="Tahoma" pitchFamily="34"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Text Box 4"/>
          <p:cNvSpPr txBox="1">
            <a:spLocks noChangeArrowheads="1"/>
          </p:cNvSpPr>
          <p:nvPr/>
        </p:nvSpPr>
        <p:spPr bwMode="auto">
          <a:xfrm>
            <a:off x="457200" y="0"/>
            <a:ext cx="8424863" cy="3270250"/>
          </a:xfrm>
          <a:prstGeom prst="rect">
            <a:avLst/>
          </a:prstGeom>
          <a:noFill/>
          <a:ln w="12700">
            <a:noFill/>
            <a:miter lim="800000"/>
            <a:headEnd/>
            <a:tailEnd/>
          </a:ln>
          <a:effectLst/>
        </p:spPr>
        <p:txBody>
          <a:bodyPr>
            <a:spAutoFit/>
          </a:bodyPr>
          <a:lstStyle/>
          <a:p>
            <a:pPr eaLnBrk="0" hangingPunct="0"/>
            <a:r>
              <a:rPr lang="pt-BR" sz="1600" b="1">
                <a:latin typeface="Tahoma" pitchFamily="34" charset="0"/>
              </a:rPr>
              <a:t>Lista de Atividades		      Dependências</a:t>
            </a:r>
          </a:p>
          <a:p>
            <a:pPr eaLnBrk="0" hangingPunct="0"/>
            <a:r>
              <a:rPr lang="pt-BR" sz="1600">
                <a:latin typeface="Tahoma" pitchFamily="34" charset="0"/>
              </a:rPr>
              <a:t>A- 	INICIO	</a:t>
            </a:r>
          </a:p>
          <a:p>
            <a:pPr eaLnBrk="0" hangingPunct="0"/>
            <a:r>
              <a:rPr lang="pt-BR" sz="1600">
                <a:latin typeface="Tahoma" pitchFamily="34" charset="0"/>
              </a:rPr>
              <a:t>B - 	Preparar minuta do texto		-</a:t>
            </a:r>
          </a:p>
          <a:p>
            <a:pPr eaLnBrk="0" hangingPunct="0"/>
            <a:r>
              <a:rPr lang="pt-BR" sz="1600">
                <a:latin typeface="Tahoma" pitchFamily="34" charset="0"/>
              </a:rPr>
              <a:t>C - 	Rascunhar tabelas			B</a:t>
            </a:r>
          </a:p>
          <a:p>
            <a:pPr eaLnBrk="0" hangingPunct="0"/>
            <a:r>
              <a:rPr lang="pt-BR" sz="1600">
                <a:latin typeface="Tahoma" pitchFamily="34" charset="0"/>
              </a:rPr>
              <a:t>D - 	Preparar croqui dos gráficos		B</a:t>
            </a:r>
          </a:p>
          <a:p>
            <a:pPr eaLnBrk="0" hangingPunct="0"/>
            <a:r>
              <a:rPr lang="pt-BR" sz="1600">
                <a:latin typeface="Tahoma" pitchFamily="34" charset="0"/>
              </a:rPr>
              <a:t>E - 	Digitar textos			B</a:t>
            </a:r>
          </a:p>
          <a:p>
            <a:pPr eaLnBrk="0" hangingPunct="0"/>
            <a:r>
              <a:rPr lang="pt-BR" sz="1600">
                <a:latin typeface="Tahoma" pitchFamily="34" charset="0"/>
              </a:rPr>
              <a:t>F - 	Digitar tabelas			C,D</a:t>
            </a:r>
          </a:p>
          <a:p>
            <a:pPr eaLnBrk="0" hangingPunct="0"/>
            <a:r>
              <a:rPr lang="pt-BR" sz="1600">
                <a:latin typeface="Tahoma" pitchFamily="34" charset="0"/>
              </a:rPr>
              <a:t>G - 	Executar desenhos			D,E</a:t>
            </a:r>
          </a:p>
          <a:p>
            <a:pPr eaLnBrk="0" hangingPunct="0"/>
            <a:r>
              <a:rPr lang="pt-BR" sz="1600">
                <a:latin typeface="Tahoma" pitchFamily="34" charset="0"/>
              </a:rPr>
              <a:t>H - 	Reduzir desenhos			F,G</a:t>
            </a:r>
          </a:p>
          <a:p>
            <a:pPr eaLnBrk="0" hangingPunct="0"/>
            <a:r>
              <a:rPr lang="pt-BR" sz="1600">
                <a:latin typeface="Tahoma" pitchFamily="34" charset="0"/>
              </a:rPr>
              <a:t>I - 	Tirar cópias		         	G</a:t>
            </a:r>
          </a:p>
          <a:p>
            <a:pPr eaLnBrk="0" hangingPunct="0"/>
            <a:r>
              <a:rPr lang="pt-BR" sz="1600">
                <a:latin typeface="Tahoma" pitchFamily="34" charset="0"/>
              </a:rPr>
              <a:t>J - 	Selecionar		          	H,I</a:t>
            </a:r>
          </a:p>
          <a:p>
            <a:pPr eaLnBrk="0" hangingPunct="0"/>
            <a:endParaRPr lang="pt-BR" sz="1600">
              <a:latin typeface="Tahoma" pitchFamily="34" charset="0"/>
            </a:endParaRPr>
          </a:p>
          <a:p>
            <a:pPr eaLnBrk="0" hangingPunct="0"/>
            <a:endParaRPr lang="pt-BR" sz="1600">
              <a:latin typeface="Tahoma" pitchFamily="34" charset="0"/>
            </a:endParaRPr>
          </a:p>
        </p:txBody>
      </p:sp>
      <p:pic>
        <p:nvPicPr>
          <p:cNvPr id="64558" name="Picture 46"/>
          <p:cNvPicPr>
            <a:picLocks noChangeAspect="1" noChangeArrowheads="1"/>
          </p:cNvPicPr>
          <p:nvPr/>
        </p:nvPicPr>
        <p:blipFill>
          <a:blip r:embed="rId2" cstate="print"/>
          <a:srcRect/>
          <a:stretch>
            <a:fillRect/>
          </a:stretch>
        </p:blipFill>
        <p:spPr bwMode="auto">
          <a:xfrm>
            <a:off x="914400" y="3644900"/>
            <a:ext cx="7343775" cy="3213100"/>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457200" y="0"/>
            <a:ext cx="8424863" cy="3270250"/>
          </a:xfrm>
          <a:prstGeom prst="rect">
            <a:avLst/>
          </a:prstGeom>
          <a:noFill/>
          <a:ln w="12700">
            <a:noFill/>
            <a:miter lim="800000"/>
            <a:headEnd/>
            <a:tailEnd/>
          </a:ln>
          <a:effectLst/>
        </p:spPr>
        <p:txBody>
          <a:bodyPr>
            <a:spAutoFit/>
          </a:bodyPr>
          <a:lstStyle/>
          <a:p>
            <a:pPr eaLnBrk="0" hangingPunct="0"/>
            <a:r>
              <a:rPr lang="pt-BR" sz="1600" b="1">
                <a:latin typeface="Tahoma" pitchFamily="34" charset="0"/>
              </a:rPr>
              <a:t>Lista de Atividades		      Dependências		TEMPO</a:t>
            </a:r>
          </a:p>
          <a:p>
            <a:pPr eaLnBrk="0" hangingPunct="0"/>
            <a:r>
              <a:rPr lang="pt-BR" sz="1600">
                <a:latin typeface="Tahoma" pitchFamily="34" charset="0"/>
              </a:rPr>
              <a:t>A- 	INICIO						0</a:t>
            </a:r>
          </a:p>
          <a:p>
            <a:pPr eaLnBrk="0" hangingPunct="0"/>
            <a:r>
              <a:rPr lang="pt-BR" sz="1600">
                <a:latin typeface="Tahoma" pitchFamily="34" charset="0"/>
              </a:rPr>
              <a:t>B - 	Preparar minuta do texto		-		3</a:t>
            </a:r>
          </a:p>
          <a:p>
            <a:pPr eaLnBrk="0" hangingPunct="0"/>
            <a:r>
              <a:rPr lang="pt-BR" sz="1600">
                <a:latin typeface="Tahoma" pitchFamily="34" charset="0"/>
              </a:rPr>
              <a:t>C - 	Rascunhar tabelas			B		4</a:t>
            </a:r>
          </a:p>
          <a:p>
            <a:pPr eaLnBrk="0" hangingPunct="0"/>
            <a:r>
              <a:rPr lang="pt-BR" sz="1600">
                <a:latin typeface="Tahoma" pitchFamily="34" charset="0"/>
              </a:rPr>
              <a:t>D - 	Preparar croqui dos gráficos		B		5</a:t>
            </a:r>
          </a:p>
          <a:p>
            <a:pPr eaLnBrk="0" hangingPunct="0"/>
            <a:r>
              <a:rPr lang="pt-BR" sz="1600">
                <a:latin typeface="Tahoma" pitchFamily="34" charset="0"/>
              </a:rPr>
              <a:t>E - 	Digitar textos			B		10</a:t>
            </a:r>
          </a:p>
          <a:p>
            <a:pPr eaLnBrk="0" hangingPunct="0"/>
            <a:r>
              <a:rPr lang="pt-BR" sz="1600">
                <a:latin typeface="Tahoma" pitchFamily="34" charset="0"/>
              </a:rPr>
              <a:t>F - 	Digitar tabelas			C,D		2</a:t>
            </a:r>
          </a:p>
          <a:p>
            <a:pPr eaLnBrk="0" hangingPunct="0"/>
            <a:r>
              <a:rPr lang="pt-BR" sz="1600">
                <a:latin typeface="Tahoma" pitchFamily="34" charset="0"/>
              </a:rPr>
              <a:t>G - 	Executar desenhos			D,E		6</a:t>
            </a:r>
          </a:p>
          <a:p>
            <a:pPr eaLnBrk="0" hangingPunct="0"/>
            <a:r>
              <a:rPr lang="pt-BR" sz="1600">
                <a:latin typeface="Tahoma" pitchFamily="34" charset="0"/>
              </a:rPr>
              <a:t>H - 	Reduzir desenhos			F,G		2</a:t>
            </a:r>
          </a:p>
          <a:p>
            <a:pPr eaLnBrk="0" hangingPunct="0"/>
            <a:r>
              <a:rPr lang="pt-BR" sz="1600">
                <a:latin typeface="Tahoma" pitchFamily="34" charset="0"/>
              </a:rPr>
              <a:t>I - 	Tirar cópias		         	G		3</a:t>
            </a:r>
          </a:p>
          <a:p>
            <a:pPr eaLnBrk="0" hangingPunct="0"/>
            <a:r>
              <a:rPr lang="pt-BR" sz="1600">
                <a:latin typeface="Tahoma" pitchFamily="34" charset="0"/>
              </a:rPr>
              <a:t>J - 	Selecionar		          	H,I		2</a:t>
            </a:r>
          </a:p>
          <a:p>
            <a:pPr eaLnBrk="0" hangingPunct="0"/>
            <a:endParaRPr lang="pt-BR" sz="1600">
              <a:latin typeface="Tahoma" pitchFamily="34" charset="0"/>
            </a:endParaRPr>
          </a:p>
          <a:p>
            <a:pPr eaLnBrk="0" hangingPunct="0"/>
            <a:endParaRPr lang="pt-BR" sz="1600">
              <a:latin typeface="Tahoma" pitchFamily="34" charset="0"/>
            </a:endParaRPr>
          </a:p>
        </p:txBody>
      </p:sp>
      <p:pic>
        <p:nvPicPr>
          <p:cNvPr id="67587" name="Picture 3"/>
          <p:cNvPicPr>
            <a:picLocks noChangeAspect="1" noChangeArrowheads="1"/>
          </p:cNvPicPr>
          <p:nvPr/>
        </p:nvPicPr>
        <p:blipFill>
          <a:blip r:embed="rId2" cstate="print"/>
          <a:srcRect/>
          <a:stretch>
            <a:fillRect/>
          </a:stretch>
        </p:blipFill>
        <p:spPr bwMode="auto">
          <a:xfrm>
            <a:off x="914400" y="3644900"/>
            <a:ext cx="7343775" cy="3213100"/>
          </a:xfrm>
          <a:prstGeom prst="rect">
            <a:avLst/>
          </a:prstGeom>
          <a:noFill/>
        </p:spPr>
      </p:pic>
      <p:sp>
        <p:nvSpPr>
          <p:cNvPr id="67588" name="Text Box 4"/>
          <p:cNvSpPr txBox="1">
            <a:spLocks noChangeArrowheads="1"/>
          </p:cNvSpPr>
          <p:nvPr/>
        </p:nvSpPr>
        <p:spPr bwMode="auto">
          <a:xfrm>
            <a:off x="2971800" y="3048000"/>
            <a:ext cx="3930650" cy="366713"/>
          </a:xfrm>
          <a:prstGeom prst="rect">
            <a:avLst/>
          </a:prstGeom>
          <a:noFill/>
          <a:ln w="9525">
            <a:noFill/>
            <a:miter lim="800000"/>
            <a:headEnd/>
            <a:tailEnd/>
          </a:ln>
          <a:effectLst/>
        </p:spPr>
        <p:txBody>
          <a:bodyPr wrap="none">
            <a:spAutoFit/>
          </a:bodyPr>
          <a:lstStyle/>
          <a:p>
            <a:r>
              <a:rPr lang="pt-BR" b="1">
                <a:solidFill>
                  <a:srgbClr val="FF0000"/>
                </a:solidFill>
              </a:rPr>
              <a:t>DETERMINE O CAMINHO CRÍTICO</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endParaRPr lang="pt-BR" smtClean="0"/>
          </a:p>
        </p:txBody>
      </p:sp>
      <p:sp>
        <p:nvSpPr>
          <p:cNvPr id="66563" name="Rectangle 3"/>
          <p:cNvSpPr>
            <a:spLocks noGrp="1" noChangeArrowheads="1"/>
          </p:cNvSpPr>
          <p:nvPr>
            <p:ph type="body" idx="1"/>
          </p:nvPr>
        </p:nvSpPr>
        <p:spPr>
          <a:xfrm>
            <a:off x="457200" y="2438400"/>
            <a:ext cx="8229600" cy="1295400"/>
          </a:xfrm>
        </p:spPr>
        <p:txBody>
          <a:bodyPr/>
          <a:lstStyle/>
          <a:p>
            <a:pPr algn="ctr">
              <a:buFontTx/>
              <a:buNone/>
            </a:pPr>
            <a:r>
              <a:rPr lang="pt-BR" dirty="0" smtClean="0">
                <a:solidFill>
                  <a:srgbClr val="FF0000"/>
                </a:solidFill>
              </a:rPr>
              <a:t>EM QUANTO TEMPO UM PROJETO FICA PRONTO?</a:t>
            </a:r>
          </a:p>
          <a:p>
            <a:pPr algn="ctr">
              <a:buFontTx/>
              <a:buNone/>
            </a:pPr>
            <a:endParaRPr lang="pt-BR" dirty="0" smtClean="0">
              <a:solidFill>
                <a:srgbClr val="FF0000"/>
              </a:solidFill>
            </a:endParaRPr>
          </a:p>
          <a:p>
            <a:pPr algn="ctr">
              <a:buFontTx/>
              <a:buNone/>
            </a:pPr>
            <a:endParaRPr lang="pt-BR" dirty="0" smtClean="0">
              <a:solidFill>
                <a:srgbClr val="FF0000"/>
              </a:solidFill>
            </a:endParaRPr>
          </a:p>
          <a:p>
            <a:pPr algn="ctr">
              <a:buFontTx/>
              <a:buNone/>
            </a:pPr>
            <a:endParaRPr lang="pt-BR" dirty="0" smtClean="0">
              <a:solidFill>
                <a:srgbClr val="FF0000"/>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Tempo no ágil: timeboxes e métricas</a:t>
            </a:r>
          </a:p>
        </p:txBody>
      </p:sp>
      <p:sp>
        <p:nvSpPr>
          <p:cNvPr id="3" name="Content Placeholder 2"/>
          <p:cNvSpPr>
            <a:spLocks noGrp="1"/>
          </p:cNvSpPr>
          <p:nvPr>
            <p:ph idx="1"/>
          </p:nvPr>
        </p:nvSpPr>
        <p:spPr/>
        <p:txBody>
          <a:bodyPr/>
          <a:lstStyle/>
          <a:p>
            <a:r>
              <a:rPr sz="2100"/>
              <a:t>Timebox: prazo fixo, escopo ajustável</a:t>
            </a:r>
          </a:p>
          <a:p>
            <a:r>
              <a:rPr sz="2100"/>
              <a:t>Estimativa relativa: story points e planning poker</a:t>
            </a:r>
          </a:p>
          <a:p>
            <a:r>
              <a:rPr sz="2100"/>
              <a:t>Velocidade da equipe e previsão de releases</a:t>
            </a:r>
          </a:p>
          <a:p>
            <a:r>
              <a:rPr sz="2100"/>
              <a:t>Burndown e burnup mostram o progresso</a:t>
            </a:r>
          </a:p>
          <a:p>
            <a:r>
              <a:rPr sz="2100"/>
              <a:t>Previsão por throughput (Kanban e simulação de Monte Carlo)</a:t>
            </a:r>
          </a:p>
          <a:p>
            <a:r>
              <a:rPr sz="2100"/>
              <a:t>Caminho crítico continua válido em projetos preditivos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RISCOS</a:t>
            </a:r>
            <a:endParaRPr lang="pt-BR" dirty="0"/>
          </a:p>
        </p:txBody>
      </p:sp>
      <p:sp>
        <p:nvSpPr>
          <p:cNvPr id="3" name="Espaço Reservado para Conteúdo 2"/>
          <p:cNvSpPr>
            <a:spLocks noGrp="1"/>
          </p:cNvSpPr>
          <p:nvPr>
            <p:ph idx="1"/>
          </p:nvPr>
        </p:nvSpPr>
        <p:spPr/>
        <p:txBody>
          <a:bodyPr/>
          <a:lstStyle/>
          <a:p>
            <a:endParaRPr lang="pt-BR"/>
          </a:p>
        </p:txBody>
      </p:sp>
      <p:pic>
        <p:nvPicPr>
          <p:cNvPr id="134146" name="Picture 2"/>
          <p:cNvPicPr>
            <a:picLocks noChangeAspect="1" noChangeArrowheads="1"/>
          </p:cNvPicPr>
          <p:nvPr/>
        </p:nvPicPr>
        <p:blipFill>
          <a:blip r:embed="rId2"/>
          <a:srcRect/>
          <a:stretch>
            <a:fillRect/>
          </a:stretch>
        </p:blipFill>
        <p:spPr bwMode="auto">
          <a:xfrm>
            <a:off x="428596" y="1714488"/>
            <a:ext cx="8229600" cy="4829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pt-BR" smtClean="0"/>
              <a:t>COMUNICAÇÃO</a:t>
            </a:r>
          </a:p>
        </p:txBody>
      </p:sp>
      <p:sp>
        <p:nvSpPr>
          <p:cNvPr id="68611" name="Rectangle 3"/>
          <p:cNvSpPr>
            <a:spLocks noGrp="1" noChangeArrowheads="1"/>
          </p:cNvSpPr>
          <p:nvPr>
            <p:ph type="body" idx="1"/>
          </p:nvPr>
        </p:nvSpPr>
        <p:spPr/>
        <p:txBody>
          <a:bodyPr/>
          <a:lstStyle/>
          <a:p>
            <a:r>
              <a:rPr lang="en-US" smtClean="0">
                <a:solidFill>
                  <a:srgbClr val="333399"/>
                </a:solidFill>
              </a:rPr>
              <a:t>Fornecer uma percepção sobre os elementos chave    no processo de Gerência de Comunicação, quais as    suas implicações e como podem afetar o sucesso do Projeto</a:t>
            </a:r>
            <a:endParaRPr lang="pt-BR" smtClean="0">
              <a:solidFill>
                <a:srgbClr val="333399"/>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288925" y="219075"/>
            <a:ext cx="3168650" cy="396875"/>
          </a:xfrm>
          <a:prstGeom prst="rect">
            <a:avLst/>
          </a:prstGeom>
          <a:noFill/>
          <a:ln w="9525">
            <a:noFill/>
            <a:miter lim="800000"/>
            <a:headEnd/>
            <a:tailEnd/>
          </a:ln>
          <a:effectLst/>
        </p:spPr>
        <p:txBody>
          <a:bodyPr wrap="none">
            <a:spAutoFit/>
          </a:bodyPr>
          <a:lstStyle/>
          <a:p>
            <a:pPr eaLnBrk="0" hangingPunct="0">
              <a:spcBef>
                <a:spcPct val="50000"/>
              </a:spcBef>
            </a:pPr>
            <a:r>
              <a:rPr lang="pt-BR" sz="2000" b="1">
                <a:solidFill>
                  <a:schemeClr val="accent2"/>
                </a:solidFill>
                <a:latin typeface="Comic Sans MS" pitchFamily="66" charset="0"/>
              </a:rPr>
              <a:t>Modelos de Comunicação</a:t>
            </a:r>
          </a:p>
        </p:txBody>
      </p:sp>
      <p:sp>
        <p:nvSpPr>
          <p:cNvPr id="72707" name="Line 3"/>
          <p:cNvSpPr>
            <a:spLocks noChangeShapeType="1"/>
          </p:cNvSpPr>
          <p:nvPr/>
        </p:nvSpPr>
        <p:spPr bwMode="auto">
          <a:xfrm>
            <a:off x="381000" y="609600"/>
            <a:ext cx="7315200" cy="0"/>
          </a:xfrm>
          <a:prstGeom prst="line">
            <a:avLst/>
          </a:prstGeom>
          <a:noFill/>
          <a:ln w="28575">
            <a:solidFill>
              <a:srgbClr val="333399"/>
            </a:solidFill>
            <a:round/>
            <a:headEnd/>
            <a:tailEnd/>
          </a:ln>
          <a:effectLst/>
        </p:spPr>
        <p:txBody>
          <a:bodyPr wrap="none" anchor="ctr"/>
          <a:lstStyle/>
          <a:p>
            <a:endParaRPr lang="pt-BR"/>
          </a:p>
        </p:txBody>
      </p:sp>
      <p:grpSp>
        <p:nvGrpSpPr>
          <p:cNvPr id="2" name="Group 4"/>
          <p:cNvGrpSpPr>
            <a:grpSpLocks/>
          </p:cNvGrpSpPr>
          <p:nvPr/>
        </p:nvGrpSpPr>
        <p:grpSpPr bwMode="auto">
          <a:xfrm>
            <a:off x="100013" y="6640513"/>
            <a:ext cx="152400" cy="141287"/>
            <a:chOff x="1440" y="2781"/>
            <a:chExt cx="808" cy="802"/>
          </a:xfrm>
        </p:grpSpPr>
        <p:sp>
          <p:nvSpPr>
            <p:cNvPr id="72709" name="Freeform 5"/>
            <p:cNvSpPr>
              <a:spLocks/>
            </p:cNvSpPr>
            <p:nvPr/>
          </p:nvSpPr>
          <p:spPr bwMode="auto">
            <a:xfrm>
              <a:off x="1440" y="2781"/>
              <a:ext cx="407" cy="802"/>
            </a:xfrm>
            <a:custGeom>
              <a:avLst/>
              <a:gdLst/>
              <a:ahLst/>
              <a:cxnLst>
                <a:cxn ang="0">
                  <a:pos x="2009" y="3790"/>
                </a:cxn>
                <a:cxn ang="0">
                  <a:pos x="1755" y="3768"/>
                </a:cxn>
                <a:cxn ang="0">
                  <a:pos x="1505" y="3708"/>
                </a:cxn>
                <a:cxn ang="0">
                  <a:pos x="1267" y="3619"/>
                </a:cxn>
                <a:cxn ang="0">
                  <a:pos x="1041" y="3498"/>
                </a:cxn>
                <a:cxn ang="0">
                  <a:pos x="839" y="3340"/>
                </a:cxn>
                <a:cxn ang="0">
                  <a:pos x="657" y="3159"/>
                </a:cxn>
                <a:cxn ang="0">
                  <a:pos x="507" y="2954"/>
                </a:cxn>
                <a:cxn ang="0">
                  <a:pos x="388" y="2731"/>
                </a:cxn>
                <a:cxn ang="0">
                  <a:pos x="300" y="2495"/>
                </a:cxn>
                <a:cxn ang="0">
                  <a:pos x="246" y="2245"/>
                </a:cxn>
                <a:cxn ang="0">
                  <a:pos x="229" y="1991"/>
                </a:cxn>
                <a:cxn ang="0">
                  <a:pos x="249" y="1741"/>
                </a:cxn>
                <a:cxn ang="0">
                  <a:pos x="305" y="1493"/>
                </a:cxn>
                <a:cxn ang="0">
                  <a:pos x="397" y="1254"/>
                </a:cxn>
                <a:cxn ang="0">
                  <a:pos x="519" y="1030"/>
                </a:cxn>
                <a:cxn ang="0">
                  <a:pos x="674" y="831"/>
                </a:cxn>
                <a:cxn ang="0">
                  <a:pos x="862" y="649"/>
                </a:cxn>
                <a:cxn ang="0">
                  <a:pos x="1063" y="498"/>
                </a:cxn>
                <a:cxn ang="0">
                  <a:pos x="1289" y="377"/>
                </a:cxn>
                <a:cxn ang="0">
                  <a:pos x="1525" y="292"/>
                </a:cxn>
                <a:cxn ang="0">
                  <a:pos x="1777" y="235"/>
                </a:cxn>
                <a:cxn ang="0">
                  <a:pos x="2034" y="218"/>
                </a:cxn>
                <a:cxn ang="0">
                  <a:pos x="1898" y="3"/>
                </a:cxn>
                <a:cxn ang="0">
                  <a:pos x="1630" y="37"/>
                </a:cxn>
                <a:cxn ang="0">
                  <a:pos x="1367" y="105"/>
                </a:cxn>
                <a:cxn ang="0">
                  <a:pos x="1117" y="210"/>
                </a:cxn>
                <a:cxn ang="0">
                  <a:pos x="884" y="350"/>
                </a:cxn>
                <a:cxn ang="0">
                  <a:pos x="666" y="514"/>
                </a:cxn>
                <a:cxn ang="0">
                  <a:pos x="479" y="707"/>
                </a:cxn>
                <a:cxn ang="0">
                  <a:pos x="316" y="922"/>
                </a:cxn>
                <a:cxn ang="0">
                  <a:pos x="187" y="1155"/>
                </a:cxn>
                <a:cxn ang="0">
                  <a:pos x="88" y="1411"/>
                </a:cxn>
                <a:cxn ang="0">
                  <a:pos x="25" y="1671"/>
                </a:cxn>
                <a:cxn ang="0">
                  <a:pos x="0" y="1941"/>
                </a:cxn>
                <a:cxn ang="0">
                  <a:pos x="8" y="2208"/>
                </a:cxn>
                <a:cxn ang="0">
                  <a:pos x="54" y="2475"/>
                </a:cxn>
                <a:cxn ang="0">
                  <a:pos x="135" y="2728"/>
                </a:cxn>
                <a:cxn ang="0">
                  <a:pos x="252" y="2974"/>
                </a:cxn>
                <a:cxn ang="0">
                  <a:pos x="397" y="3203"/>
                </a:cxn>
                <a:cxn ang="0">
                  <a:pos x="575" y="3404"/>
                </a:cxn>
                <a:cxn ang="0">
                  <a:pos x="776" y="3582"/>
                </a:cxn>
                <a:cxn ang="0">
                  <a:pos x="1000" y="3733"/>
                </a:cxn>
                <a:cxn ang="0">
                  <a:pos x="1244" y="3858"/>
                </a:cxn>
                <a:cxn ang="0">
                  <a:pos x="1503" y="3943"/>
                </a:cxn>
                <a:cxn ang="0">
                  <a:pos x="1769" y="3993"/>
                </a:cxn>
                <a:cxn ang="0">
                  <a:pos x="2034" y="4010"/>
                </a:cxn>
              </a:cxnLst>
              <a:rect l="0" t="0" r="r" b="b"/>
              <a:pathLst>
                <a:path w="2034" h="4010">
                  <a:moveTo>
                    <a:pt x="2034" y="3790"/>
                  </a:moveTo>
                  <a:lnTo>
                    <a:pt x="2009" y="3790"/>
                  </a:lnTo>
                  <a:lnTo>
                    <a:pt x="1881" y="3781"/>
                  </a:lnTo>
                  <a:lnTo>
                    <a:pt x="1755" y="3768"/>
                  </a:lnTo>
                  <a:lnTo>
                    <a:pt x="1627" y="3744"/>
                  </a:lnTo>
                  <a:lnTo>
                    <a:pt x="1505" y="3708"/>
                  </a:lnTo>
                  <a:lnTo>
                    <a:pt x="1381" y="3670"/>
                  </a:lnTo>
                  <a:lnTo>
                    <a:pt x="1267" y="3619"/>
                  </a:lnTo>
                  <a:lnTo>
                    <a:pt x="1151" y="3560"/>
                  </a:lnTo>
                  <a:lnTo>
                    <a:pt x="1041" y="3498"/>
                  </a:lnTo>
                  <a:lnTo>
                    <a:pt x="936" y="3424"/>
                  </a:lnTo>
                  <a:lnTo>
                    <a:pt x="839" y="3340"/>
                  </a:lnTo>
                  <a:lnTo>
                    <a:pt x="746" y="3252"/>
                  </a:lnTo>
                  <a:lnTo>
                    <a:pt x="657" y="3159"/>
                  </a:lnTo>
                  <a:lnTo>
                    <a:pt x="578" y="3061"/>
                  </a:lnTo>
                  <a:lnTo>
                    <a:pt x="507" y="2954"/>
                  </a:lnTo>
                  <a:lnTo>
                    <a:pt x="444" y="2844"/>
                  </a:lnTo>
                  <a:lnTo>
                    <a:pt x="388" y="2731"/>
                  </a:lnTo>
                  <a:lnTo>
                    <a:pt x="336" y="2614"/>
                  </a:lnTo>
                  <a:lnTo>
                    <a:pt x="300" y="2495"/>
                  </a:lnTo>
                  <a:lnTo>
                    <a:pt x="266" y="2370"/>
                  </a:lnTo>
                  <a:lnTo>
                    <a:pt x="246" y="2245"/>
                  </a:lnTo>
                  <a:lnTo>
                    <a:pt x="235" y="2118"/>
                  </a:lnTo>
                  <a:lnTo>
                    <a:pt x="229" y="1991"/>
                  </a:lnTo>
                  <a:lnTo>
                    <a:pt x="235" y="1865"/>
                  </a:lnTo>
                  <a:lnTo>
                    <a:pt x="249" y="1741"/>
                  </a:lnTo>
                  <a:lnTo>
                    <a:pt x="274" y="1614"/>
                  </a:lnTo>
                  <a:lnTo>
                    <a:pt x="305" y="1493"/>
                  </a:lnTo>
                  <a:lnTo>
                    <a:pt x="348" y="1372"/>
                  </a:lnTo>
                  <a:lnTo>
                    <a:pt x="397" y="1254"/>
                  </a:lnTo>
                  <a:lnTo>
                    <a:pt x="455" y="1138"/>
                  </a:lnTo>
                  <a:lnTo>
                    <a:pt x="519" y="1030"/>
                  </a:lnTo>
                  <a:lnTo>
                    <a:pt x="595" y="927"/>
                  </a:lnTo>
                  <a:lnTo>
                    <a:pt x="674" y="831"/>
                  </a:lnTo>
                  <a:lnTo>
                    <a:pt x="763" y="735"/>
                  </a:lnTo>
                  <a:lnTo>
                    <a:pt x="862" y="649"/>
                  </a:lnTo>
                  <a:lnTo>
                    <a:pt x="958" y="571"/>
                  </a:lnTo>
                  <a:lnTo>
                    <a:pt x="1063" y="498"/>
                  </a:lnTo>
                  <a:lnTo>
                    <a:pt x="1173" y="436"/>
                  </a:lnTo>
                  <a:lnTo>
                    <a:pt x="1289" y="377"/>
                  </a:lnTo>
                  <a:lnTo>
                    <a:pt x="1407" y="329"/>
                  </a:lnTo>
                  <a:lnTo>
                    <a:pt x="1525" y="292"/>
                  </a:lnTo>
                  <a:lnTo>
                    <a:pt x="1652" y="257"/>
                  </a:lnTo>
                  <a:lnTo>
                    <a:pt x="1777" y="235"/>
                  </a:lnTo>
                  <a:lnTo>
                    <a:pt x="1905" y="224"/>
                  </a:lnTo>
                  <a:lnTo>
                    <a:pt x="2034" y="218"/>
                  </a:lnTo>
                  <a:lnTo>
                    <a:pt x="2034" y="0"/>
                  </a:lnTo>
                  <a:lnTo>
                    <a:pt x="1898" y="3"/>
                  </a:lnTo>
                  <a:lnTo>
                    <a:pt x="1764" y="15"/>
                  </a:lnTo>
                  <a:lnTo>
                    <a:pt x="1630" y="37"/>
                  </a:lnTo>
                  <a:lnTo>
                    <a:pt x="1497" y="65"/>
                  </a:lnTo>
                  <a:lnTo>
                    <a:pt x="1367" y="105"/>
                  </a:lnTo>
                  <a:lnTo>
                    <a:pt x="1238" y="153"/>
                  </a:lnTo>
                  <a:lnTo>
                    <a:pt x="1117" y="210"/>
                  </a:lnTo>
                  <a:lnTo>
                    <a:pt x="995" y="277"/>
                  </a:lnTo>
                  <a:lnTo>
                    <a:pt x="884" y="350"/>
                  </a:lnTo>
                  <a:lnTo>
                    <a:pt x="774" y="428"/>
                  </a:lnTo>
                  <a:lnTo>
                    <a:pt x="666" y="514"/>
                  </a:lnTo>
                  <a:lnTo>
                    <a:pt x="569" y="605"/>
                  </a:lnTo>
                  <a:lnTo>
                    <a:pt x="479" y="707"/>
                  </a:lnTo>
                  <a:lnTo>
                    <a:pt x="397" y="811"/>
                  </a:lnTo>
                  <a:lnTo>
                    <a:pt x="316" y="922"/>
                  </a:lnTo>
                  <a:lnTo>
                    <a:pt x="249" y="1037"/>
                  </a:lnTo>
                  <a:lnTo>
                    <a:pt x="187" y="1155"/>
                  </a:lnTo>
                  <a:lnTo>
                    <a:pt x="134" y="1279"/>
                  </a:lnTo>
                  <a:lnTo>
                    <a:pt x="88" y="1411"/>
                  </a:lnTo>
                  <a:lnTo>
                    <a:pt x="54" y="1538"/>
                  </a:lnTo>
                  <a:lnTo>
                    <a:pt x="25" y="1671"/>
                  </a:lnTo>
                  <a:lnTo>
                    <a:pt x="8" y="1806"/>
                  </a:lnTo>
                  <a:lnTo>
                    <a:pt x="0" y="1941"/>
                  </a:lnTo>
                  <a:lnTo>
                    <a:pt x="0" y="2072"/>
                  </a:lnTo>
                  <a:lnTo>
                    <a:pt x="8" y="2208"/>
                  </a:lnTo>
                  <a:lnTo>
                    <a:pt x="25" y="2341"/>
                  </a:lnTo>
                  <a:lnTo>
                    <a:pt x="54" y="2475"/>
                  </a:lnTo>
                  <a:lnTo>
                    <a:pt x="91" y="2600"/>
                  </a:lnTo>
                  <a:lnTo>
                    <a:pt x="135" y="2728"/>
                  </a:lnTo>
                  <a:lnTo>
                    <a:pt x="189" y="2852"/>
                  </a:lnTo>
                  <a:lnTo>
                    <a:pt x="252" y="2974"/>
                  </a:lnTo>
                  <a:lnTo>
                    <a:pt x="320" y="3087"/>
                  </a:lnTo>
                  <a:lnTo>
                    <a:pt x="397" y="3203"/>
                  </a:lnTo>
                  <a:lnTo>
                    <a:pt x="482" y="3304"/>
                  </a:lnTo>
                  <a:lnTo>
                    <a:pt x="575" y="3404"/>
                  </a:lnTo>
                  <a:lnTo>
                    <a:pt x="671" y="3500"/>
                  </a:lnTo>
                  <a:lnTo>
                    <a:pt x="776" y="3582"/>
                  </a:lnTo>
                  <a:lnTo>
                    <a:pt x="886" y="3661"/>
                  </a:lnTo>
                  <a:lnTo>
                    <a:pt x="1000" y="3733"/>
                  </a:lnTo>
                  <a:lnTo>
                    <a:pt x="1119" y="3798"/>
                  </a:lnTo>
                  <a:lnTo>
                    <a:pt x="1244" y="3858"/>
                  </a:lnTo>
                  <a:lnTo>
                    <a:pt x="1370" y="3904"/>
                  </a:lnTo>
                  <a:lnTo>
                    <a:pt x="1503" y="3943"/>
                  </a:lnTo>
                  <a:lnTo>
                    <a:pt x="1635" y="3971"/>
                  </a:lnTo>
                  <a:lnTo>
                    <a:pt x="1769" y="3993"/>
                  </a:lnTo>
                  <a:lnTo>
                    <a:pt x="1902" y="4004"/>
                  </a:lnTo>
                  <a:lnTo>
                    <a:pt x="2034" y="4010"/>
                  </a:lnTo>
                  <a:lnTo>
                    <a:pt x="2034" y="3790"/>
                  </a:lnTo>
                  <a:close/>
                </a:path>
              </a:pathLst>
            </a:custGeom>
            <a:solidFill>
              <a:srgbClr val="333399"/>
            </a:solidFill>
            <a:ln w="0">
              <a:solidFill>
                <a:srgbClr val="000000"/>
              </a:solidFill>
              <a:prstDash val="solid"/>
              <a:round/>
              <a:headEnd/>
              <a:tailEnd/>
            </a:ln>
          </p:spPr>
          <p:txBody>
            <a:bodyPr/>
            <a:lstStyle/>
            <a:p>
              <a:endParaRPr lang="pt-BR"/>
            </a:p>
          </p:txBody>
        </p:sp>
        <p:sp>
          <p:nvSpPr>
            <p:cNvPr id="72710" name="Freeform 6"/>
            <p:cNvSpPr>
              <a:spLocks/>
            </p:cNvSpPr>
            <p:nvPr/>
          </p:nvSpPr>
          <p:spPr bwMode="auto">
            <a:xfrm>
              <a:off x="1841" y="2781"/>
              <a:ext cx="407" cy="802"/>
            </a:xfrm>
            <a:custGeom>
              <a:avLst/>
              <a:gdLst/>
              <a:ahLst/>
              <a:cxnLst>
                <a:cxn ang="0">
                  <a:pos x="27" y="3790"/>
                </a:cxn>
                <a:cxn ang="0">
                  <a:pos x="282" y="3768"/>
                </a:cxn>
                <a:cxn ang="0">
                  <a:pos x="531" y="3708"/>
                </a:cxn>
                <a:cxn ang="0">
                  <a:pos x="769" y="3619"/>
                </a:cxn>
                <a:cxn ang="0">
                  <a:pos x="995" y="3498"/>
                </a:cxn>
                <a:cxn ang="0">
                  <a:pos x="1197" y="3340"/>
                </a:cxn>
                <a:cxn ang="0">
                  <a:pos x="1380" y="3159"/>
                </a:cxn>
                <a:cxn ang="0">
                  <a:pos x="1529" y="2954"/>
                </a:cxn>
                <a:cxn ang="0">
                  <a:pos x="1648" y="2731"/>
                </a:cxn>
                <a:cxn ang="0">
                  <a:pos x="1736" y="2495"/>
                </a:cxn>
                <a:cxn ang="0">
                  <a:pos x="1787" y="2245"/>
                </a:cxn>
                <a:cxn ang="0">
                  <a:pos x="1807" y="1991"/>
                </a:cxn>
                <a:cxn ang="0">
                  <a:pos x="1785" y="1741"/>
                </a:cxn>
                <a:cxn ang="0">
                  <a:pos x="1731" y="1493"/>
                </a:cxn>
                <a:cxn ang="0">
                  <a:pos x="1637" y="1254"/>
                </a:cxn>
                <a:cxn ang="0">
                  <a:pos x="1515" y="1030"/>
                </a:cxn>
                <a:cxn ang="0">
                  <a:pos x="1359" y="831"/>
                </a:cxn>
                <a:cxn ang="0">
                  <a:pos x="1175" y="649"/>
                </a:cxn>
                <a:cxn ang="0">
                  <a:pos x="973" y="498"/>
                </a:cxn>
                <a:cxn ang="0">
                  <a:pos x="744" y="377"/>
                </a:cxn>
                <a:cxn ang="0">
                  <a:pos x="507" y="292"/>
                </a:cxn>
                <a:cxn ang="0">
                  <a:pos x="256" y="235"/>
                </a:cxn>
                <a:cxn ang="0">
                  <a:pos x="0" y="218"/>
                </a:cxn>
                <a:cxn ang="0">
                  <a:pos x="137" y="3"/>
                </a:cxn>
                <a:cxn ang="0">
                  <a:pos x="406" y="37"/>
                </a:cxn>
                <a:cxn ang="0">
                  <a:pos x="670" y="105"/>
                </a:cxn>
                <a:cxn ang="0">
                  <a:pos x="919" y="210"/>
                </a:cxn>
                <a:cxn ang="0">
                  <a:pos x="1152" y="350"/>
                </a:cxn>
                <a:cxn ang="0">
                  <a:pos x="1366" y="514"/>
                </a:cxn>
                <a:cxn ang="0">
                  <a:pos x="1557" y="707"/>
                </a:cxn>
                <a:cxn ang="0">
                  <a:pos x="1716" y="922"/>
                </a:cxn>
                <a:cxn ang="0">
                  <a:pos x="1849" y="1155"/>
                </a:cxn>
                <a:cxn ang="0">
                  <a:pos x="1948" y="1411"/>
                </a:cxn>
                <a:cxn ang="0">
                  <a:pos x="2011" y="1671"/>
                </a:cxn>
                <a:cxn ang="0">
                  <a:pos x="2036" y="1941"/>
                </a:cxn>
                <a:cxn ang="0">
                  <a:pos x="2024" y="2208"/>
                </a:cxn>
                <a:cxn ang="0">
                  <a:pos x="1982" y="2475"/>
                </a:cxn>
                <a:cxn ang="0">
                  <a:pos x="1901" y="2728"/>
                </a:cxn>
                <a:cxn ang="0">
                  <a:pos x="1785" y="2974"/>
                </a:cxn>
                <a:cxn ang="0">
                  <a:pos x="1637" y="3203"/>
                </a:cxn>
                <a:cxn ang="0">
                  <a:pos x="1461" y="3404"/>
                </a:cxn>
                <a:cxn ang="0">
                  <a:pos x="1260" y="3582"/>
                </a:cxn>
                <a:cxn ang="0">
                  <a:pos x="1035" y="3733"/>
                </a:cxn>
                <a:cxn ang="0">
                  <a:pos x="792" y="3858"/>
                </a:cxn>
                <a:cxn ang="0">
                  <a:pos x="534" y="3943"/>
                </a:cxn>
                <a:cxn ang="0">
                  <a:pos x="264" y="3993"/>
                </a:cxn>
                <a:cxn ang="0">
                  <a:pos x="0" y="4010"/>
                </a:cxn>
              </a:cxnLst>
              <a:rect l="0" t="0" r="r" b="b"/>
              <a:pathLst>
                <a:path w="2036" h="4010">
                  <a:moveTo>
                    <a:pt x="0" y="3790"/>
                  </a:moveTo>
                  <a:lnTo>
                    <a:pt x="27" y="3790"/>
                  </a:lnTo>
                  <a:lnTo>
                    <a:pt x="155" y="3781"/>
                  </a:lnTo>
                  <a:lnTo>
                    <a:pt x="282" y="3768"/>
                  </a:lnTo>
                  <a:lnTo>
                    <a:pt x="406" y="3744"/>
                  </a:lnTo>
                  <a:lnTo>
                    <a:pt x="531" y="3708"/>
                  </a:lnTo>
                  <a:lnTo>
                    <a:pt x="652" y="3670"/>
                  </a:lnTo>
                  <a:lnTo>
                    <a:pt x="769" y="3619"/>
                  </a:lnTo>
                  <a:lnTo>
                    <a:pt x="885" y="3560"/>
                  </a:lnTo>
                  <a:lnTo>
                    <a:pt x="995" y="3498"/>
                  </a:lnTo>
                  <a:lnTo>
                    <a:pt x="1101" y="3424"/>
                  </a:lnTo>
                  <a:lnTo>
                    <a:pt x="1197" y="3340"/>
                  </a:lnTo>
                  <a:lnTo>
                    <a:pt x="1290" y="3252"/>
                  </a:lnTo>
                  <a:lnTo>
                    <a:pt x="1380" y="3159"/>
                  </a:lnTo>
                  <a:lnTo>
                    <a:pt x="1455" y="3061"/>
                  </a:lnTo>
                  <a:lnTo>
                    <a:pt x="1529" y="2954"/>
                  </a:lnTo>
                  <a:lnTo>
                    <a:pt x="1594" y="2844"/>
                  </a:lnTo>
                  <a:lnTo>
                    <a:pt x="1648" y="2731"/>
                  </a:lnTo>
                  <a:lnTo>
                    <a:pt x="1695" y="2614"/>
                  </a:lnTo>
                  <a:lnTo>
                    <a:pt x="1736" y="2495"/>
                  </a:lnTo>
                  <a:lnTo>
                    <a:pt x="1768" y="2370"/>
                  </a:lnTo>
                  <a:lnTo>
                    <a:pt x="1787" y="2245"/>
                  </a:lnTo>
                  <a:lnTo>
                    <a:pt x="1802" y="2118"/>
                  </a:lnTo>
                  <a:lnTo>
                    <a:pt x="1807" y="1991"/>
                  </a:lnTo>
                  <a:lnTo>
                    <a:pt x="1802" y="1865"/>
                  </a:lnTo>
                  <a:lnTo>
                    <a:pt x="1785" y="1741"/>
                  </a:lnTo>
                  <a:lnTo>
                    <a:pt x="1759" y="1614"/>
                  </a:lnTo>
                  <a:lnTo>
                    <a:pt x="1731" y="1493"/>
                  </a:lnTo>
                  <a:lnTo>
                    <a:pt x="1685" y="1372"/>
                  </a:lnTo>
                  <a:lnTo>
                    <a:pt x="1637" y="1254"/>
                  </a:lnTo>
                  <a:lnTo>
                    <a:pt x="1582" y="1138"/>
                  </a:lnTo>
                  <a:lnTo>
                    <a:pt x="1515" y="1030"/>
                  </a:lnTo>
                  <a:lnTo>
                    <a:pt x="1441" y="927"/>
                  </a:lnTo>
                  <a:lnTo>
                    <a:pt x="1359" y="831"/>
                  </a:lnTo>
                  <a:lnTo>
                    <a:pt x="1271" y="735"/>
                  </a:lnTo>
                  <a:lnTo>
                    <a:pt x="1175" y="649"/>
                  </a:lnTo>
                  <a:lnTo>
                    <a:pt x="1078" y="571"/>
                  </a:lnTo>
                  <a:lnTo>
                    <a:pt x="973" y="498"/>
                  </a:lnTo>
                  <a:lnTo>
                    <a:pt x="860" y="436"/>
                  </a:lnTo>
                  <a:lnTo>
                    <a:pt x="744" y="377"/>
                  </a:lnTo>
                  <a:lnTo>
                    <a:pt x="630" y="329"/>
                  </a:lnTo>
                  <a:lnTo>
                    <a:pt x="507" y="292"/>
                  </a:lnTo>
                  <a:lnTo>
                    <a:pt x="382" y="257"/>
                  </a:lnTo>
                  <a:lnTo>
                    <a:pt x="256" y="235"/>
                  </a:lnTo>
                  <a:lnTo>
                    <a:pt x="131" y="224"/>
                  </a:lnTo>
                  <a:lnTo>
                    <a:pt x="0" y="218"/>
                  </a:lnTo>
                  <a:lnTo>
                    <a:pt x="0" y="0"/>
                  </a:lnTo>
                  <a:lnTo>
                    <a:pt x="137" y="3"/>
                  </a:lnTo>
                  <a:lnTo>
                    <a:pt x="270" y="15"/>
                  </a:lnTo>
                  <a:lnTo>
                    <a:pt x="406" y="37"/>
                  </a:lnTo>
                  <a:lnTo>
                    <a:pt x="536" y="65"/>
                  </a:lnTo>
                  <a:lnTo>
                    <a:pt x="670" y="105"/>
                  </a:lnTo>
                  <a:lnTo>
                    <a:pt x="795" y="153"/>
                  </a:lnTo>
                  <a:lnTo>
                    <a:pt x="919" y="210"/>
                  </a:lnTo>
                  <a:lnTo>
                    <a:pt x="1041" y="277"/>
                  </a:lnTo>
                  <a:lnTo>
                    <a:pt x="1152" y="350"/>
                  </a:lnTo>
                  <a:lnTo>
                    <a:pt x="1263" y="428"/>
                  </a:lnTo>
                  <a:lnTo>
                    <a:pt x="1366" y="514"/>
                  </a:lnTo>
                  <a:lnTo>
                    <a:pt x="1467" y="605"/>
                  </a:lnTo>
                  <a:lnTo>
                    <a:pt x="1557" y="707"/>
                  </a:lnTo>
                  <a:lnTo>
                    <a:pt x="1640" y="811"/>
                  </a:lnTo>
                  <a:lnTo>
                    <a:pt x="1716" y="922"/>
                  </a:lnTo>
                  <a:lnTo>
                    <a:pt x="1785" y="1037"/>
                  </a:lnTo>
                  <a:lnTo>
                    <a:pt x="1849" y="1155"/>
                  </a:lnTo>
                  <a:lnTo>
                    <a:pt x="1901" y="1279"/>
                  </a:lnTo>
                  <a:lnTo>
                    <a:pt x="1948" y="1411"/>
                  </a:lnTo>
                  <a:lnTo>
                    <a:pt x="1982" y="1538"/>
                  </a:lnTo>
                  <a:lnTo>
                    <a:pt x="2011" y="1671"/>
                  </a:lnTo>
                  <a:lnTo>
                    <a:pt x="2024" y="1806"/>
                  </a:lnTo>
                  <a:lnTo>
                    <a:pt x="2036" y="1941"/>
                  </a:lnTo>
                  <a:lnTo>
                    <a:pt x="2036" y="2072"/>
                  </a:lnTo>
                  <a:lnTo>
                    <a:pt x="2024" y="2208"/>
                  </a:lnTo>
                  <a:lnTo>
                    <a:pt x="2011" y="2341"/>
                  </a:lnTo>
                  <a:lnTo>
                    <a:pt x="1982" y="2475"/>
                  </a:lnTo>
                  <a:lnTo>
                    <a:pt x="1943" y="2600"/>
                  </a:lnTo>
                  <a:lnTo>
                    <a:pt x="1901" y="2728"/>
                  </a:lnTo>
                  <a:lnTo>
                    <a:pt x="1847" y="2852"/>
                  </a:lnTo>
                  <a:lnTo>
                    <a:pt x="1785" y="2974"/>
                  </a:lnTo>
                  <a:lnTo>
                    <a:pt x="1716" y="3087"/>
                  </a:lnTo>
                  <a:lnTo>
                    <a:pt x="1637" y="3203"/>
                  </a:lnTo>
                  <a:lnTo>
                    <a:pt x="1552" y="3304"/>
                  </a:lnTo>
                  <a:lnTo>
                    <a:pt x="1461" y="3404"/>
                  </a:lnTo>
                  <a:lnTo>
                    <a:pt x="1362" y="3500"/>
                  </a:lnTo>
                  <a:lnTo>
                    <a:pt x="1260" y="3582"/>
                  </a:lnTo>
                  <a:lnTo>
                    <a:pt x="1152" y="3661"/>
                  </a:lnTo>
                  <a:lnTo>
                    <a:pt x="1035" y="3733"/>
                  </a:lnTo>
                  <a:lnTo>
                    <a:pt x="914" y="3798"/>
                  </a:lnTo>
                  <a:lnTo>
                    <a:pt x="792" y="3858"/>
                  </a:lnTo>
                  <a:lnTo>
                    <a:pt x="663" y="3904"/>
                  </a:lnTo>
                  <a:lnTo>
                    <a:pt x="534" y="3943"/>
                  </a:lnTo>
                  <a:lnTo>
                    <a:pt x="401" y="3971"/>
                  </a:lnTo>
                  <a:lnTo>
                    <a:pt x="264" y="3993"/>
                  </a:lnTo>
                  <a:lnTo>
                    <a:pt x="131" y="4004"/>
                  </a:lnTo>
                  <a:lnTo>
                    <a:pt x="0" y="4010"/>
                  </a:lnTo>
                  <a:lnTo>
                    <a:pt x="0" y="3790"/>
                  </a:lnTo>
                  <a:close/>
                </a:path>
              </a:pathLst>
            </a:custGeom>
            <a:solidFill>
              <a:srgbClr val="333399"/>
            </a:solidFill>
            <a:ln w="0">
              <a:solidFill>
                <a:srgbClr val="333399"/>
              </a:solidFill>
              <a:prstDash val="solid"/>
              <a:round/>
              <a:headEnd/>
              <a:tailEnd/>
            </a:ln>
          </p:spPr>
          <p:txBody>
            <a:bodyPr/>
            <a:lstStyle/>
            <a:p>
              <a:endParaRPr lang="pt-BR"/>
            </a:p>
          </p:txBody>
        </p:sp>
        <p:sp>
          <p:nvSpPr>
            <p:cNvPr id="72711" name="Freeform 7"/>
            <p:cNvSpPr>
              <a:spLocks/>
            </p:cNvSpPr>
            <p:nvPr/>
          </p:nvSpPr>
          <p:spPr bwMode="auto">
            <a:xfrm>
              <a:off x="1618" y="2959"/>
              <a:ext cx="395" cy="445"/>
            </a:xfrm>
            <a:custGeom>
              <a:avLst/>
              <a:gdLst/>
              <a:ahLst/>
              <a:cxnLst>
                <a:cxn ang="0">
                  <a:pos x="1770" y="1758"/>
                </a:cxn>
                <a:cxn ang="0">
                  <a:pos x="1626" y="1875"/>
                </a:cxn>
                <a:cxn ang="0">
                  <a:pos x="1464" y="1956"/>
                </a:cxn>
                <a:cxn ang="0">
                  <a:pos x="1291" y="2007"/>
                </a:cxn>
                <a:cxn ang="0">
                  <a:pos x="1106" y="2021"/>
                </a:cxn>
                <a:cxn ang="0">
                  <a:pos x="923" y="1999"/>
                </a:cxn>
                <a:cxn ang="0">
                  <a:pos x="748" y="1944"/>
                </a:cxn>
                <a:cxn ang="0">
                  <a:pos x="591" y="1853"/>
                </a:cxn>
                <a:cxn ang="0">
                  <a:pos x="456" y="1735"/>
                </a:cxn>
                <a:cxn ang="0">
                  <a:pos x="343" y="1592"/>
                </a:cxn>
                <a:cxn ang="0">
                  <a:pos x="264" y="1429"/>
                </a:cxn>
                <a:cxn ang="0">
                  <a:pos x="220" y="1253"/>
                </a:cxn>
                <a:cxn ang="0">
                  <a:pos x="208" y="1072"/>
                </a:cxn>
                <a:cxn ang="0">
                  <a:pos x="233" y="895"/>
                </a:cxn>
                <a:cxn ang="0">
                  <a:pos x="296" y="722"/>
                </a:cxn>
                <a:cxn ang="0">
                  <a:pos x="389" y="570"/>
                </a:cxn>
                <a:cxn ang="0">
                  <a:pos x="515" y="434"/>
                </a:cxn>
                <a:cxn ang="0">
                  <a:pos x="662" y="329"/>
                </a:cxn>
                <a:cxn ang="0">
                  <a:pos x="829" y="253"/>
                </a:cxn>
                <a:cxn ang="0">
                  <a:pos x="1006" y="213"/>
                </a:cxn>
                <a:cxn ang="0">
                  <a:pos x="1189" y="211"/>
                </a:cxn>
                <a:cxn ang="0">
                  <a:pos x="1368" y="239"/>
                </a:cxn>
                <a:cxn ang="0">
                  <a:pos x="1539" y="304"/>
                </a:cxn>
                <a:cxn ang="0">
                  <a:pos x="1693" y="403"/>
                </a:cxn>
                <a:cxn ang="0">
                  <a:pos x="1822" y="528"/>
                </a:cxn>
                <a:cxn ang="0">
                  <a:pos x="1907" y="313"/>
                </a:cxn>
                <a:cxn ang="0">
                  <a:pos x="1750" y="185"/>
                </a:cxn>
                <a:cxn ang="0">
                  <a:pos x="1572" y="91"/>
                </a:cxn>
                <a:cxn ang="0">
                  <a:pos x="1376" y="29"/>
                </a:cxn>
                <a:cxn ang="0">
                  <a:pos x="1181" y="0"/>
                </a:cxn>
                <a:cxn ang="0">
                  <a:pos x="976" y="9"/>
                </a:cxn>
                <a:cxn ang="0">
                  <a:pos x="780" y="54"/>
                </a:cxn>
                <a:cxn ang="0">
                  <a:pos x="591" y="128"/>
                </a:cxn>
                <a:cxn ang="0">
                  <a:pos x="425" y="241"/>
                </a:cxn>
                <a:cxn ang="0">
                  <a:pos x="277" y="377"/>
                </a:cxn>
                <a:cxn ang="0">
                  <a:pos x="161" y="543"/>
                </a:cxn>
                <a:cxn ang="0">
                  <a:pos x="69" y="722"/>
                </a:cxn>
                <a:cxn ang="0">
                  <a:pos x="16" y="915"/>
                </a:cxn>
                <a:cxn ang="0">
                  <a:pos x="0" y="1115"/>
                </a:cxn>
                <a:cxn ang="0">
                  <a:pos x="16" y="1314"/>
                </a:cxn>
                <a:cxn ang="0">
                  <a:pos x="69" y="1508"/>
                </a:cxn>
                <a:cxn ang="0">
                  <a:pos x="161" y="1687"/>
                </a:cxn>
                <a:cxn ang="0">
                  <a:pos x="278" y="1851"/>
                </a:cxn>
                <a:cxn ang="0">
                  <a:pos x="425" y="1989"/>
                </a:cxn>
                <a:cxn ang="0">
                  <a:pos x="593" y="2100"/>
                </a:cxn>
                <a:cxn ang="0">
                  <a:pos x="780" y="2176"/>
                </a:cxn>
                <a:cxn ang="0">
                  <a:pos x="976" y="2221"/>
                </a:cxn>
                <a:cxn ang="0">
                  <a:pos x="1181" y="2226"/>
                </a:cxn>
                <a:cxn ang="0">
                  <a:pos x="1382" y="2199"/>
                </a:cxn>
                <a:cxn ang="0">
                  <a:pos x="1572" y="2137"/>
                </a:cxn>
                <a:cxn ang="0">
                  <a:pos x="1750" y="2041"/>
                </a:cxn>
                <a:cxn ang="0">
                  <a:pos x="1907" y="1917"/>
                </a:cxn>
                <a:cxn ang="0">
                  <a:pos x="1822" y="1699"/>
                </a:cxn>
              </a:cxnLst>
              <a:rect l="0" t="0" r="r" b="b"/>
              <a:pathLst>
                <a:path w="1975" h="2226">
                  <a:moveTo>
                    <a:pt x="1822" y="1699"/>
                  </a:moveTo>
                  <a:lnTo>
                    <a:pt x="1770" y="1758"/>
                  </a:lnTo>
                  <a:lnTo>
                    <a:pt x="1702" y="1821"/>
                  </a:lnTo>
                  <a:lnTo>
                    <a:pt x="1626" y="1875"/>
                  </a:lnTo>
                  <a:lnTo>
                    <a:pt x="1547" y="1923"/>
                  </a:lnTo>
                  <a:lnTo>
                    <a:pt x="1464" y="1956"/>
                  </a:lnTo>
                  <a:lnTo>
                    <a:pt x="1376" y="1988"/>
                  </a:lnTo>
                  <a:lnTo>
                    <a:pt x="1291" y="2007"/>
                  </a:lnTo>
                  <a:lnTo>
                    <a:pt x="1195" y="2018"/>
                  </a:lnTo>
                  <a:lnTo>
                    <a:pt x="1106" y="2021"/>
                  </a:lnTo>
                  <a:lnTo>
                    <a:pt x="1016" y="2013"/>
                  </a:lnTo>
                  <a:lnTo>
                    <a:pt x="923" y="1999"/>
                  </a:lnTo>
                  <a:lnTo>
                    <a:pt x="838" y="1979"/>
                  </a:lnTo>
                  <a:lnTo>
                    <a:pt x="748" y="1944"/>
                  </a:lnTo>
                  <a:lnTo>
                    <a:pt x="670" y="1903"/>
                  </a:lnTo>
                  <a:lnTo>
                    <a:pt x="591" y="1853"/>
                  </a:lnTo>
                  <a:lnTo>
                    <a:pt x="525" y="1797"/>
                  </a:lnTo>
                  <a:lnTo>
                    <a:pt x="456" y="1735"/>
                  </a:lnTo>
                  <a:lnTo>
                    <a:pt x="397" y="1667"/>
                  </a:lnTo>
                  <a:lnTo>
                    <a:pt x="343" y="1592"/>
                  </a:lnTo>
                  <a:lnTo>
                    <a:pt x="301" y="1514"/>
                  </a:lnTo>
                  <a:lnTo>
                    <a:pt x="264" y="1429"/>
                  </a:lnTo>
                  <a:lnTo>
                    <a:pt x="240" y="1344"/>
                  </a:lnTo>
                  <a:lnTo>
                    <a:pt x="220" y="1253"/>
                  </a:lnTo>
                  <a:lnTo>
                    <a:pt x="208" y="1162"/>
                  </a:lnTo>
                  <a:lnTo>
                    <a:pt x="208" y="1072"/>
                  </a:lnTo>
                  <a:lnTo>
                    <a:pt x="216" y="985"/>
                  </a:lnTo>
                  <a:lnTo>
                    <a:pt x="233" y="895"/>
                  </a:lnTo>
                  <a:lnTo>
                    <a:pt x="261" y="807"/>
                  </a:lnTo>
                  <a:lnTo>
                    <a:pt x="296" y="722"/>
                  </a:lnTo>
                  <a:lnTo>
                    <a:pt x="341" y="643"/>
                  </a:lnTo>
                  <a:lnTo>
                    <a:pt x="389" y="570"/>
                  </a:lnTo>
                  <a:lnTo>
                    <a:pt x="452" y="501"/>
                  </a:lnTo>
                  <a:lnTo>
                    <a:pt x="515" y="434"/>
                  </a:lnTo>
                  <a:lnTo>
                    <a:pt x="585" y="377"/>
                  </a:lnTo>
                  <a:lnTo>
                    <a:pt x="662" y="329"/>
                  </a:lnTo>
                  <a:lnTo>
                    <a:pt x="743" y="287"/>
                  </a:lnTo>
                  <a:lnTo>
                    <a:pt x="829" y="253"/>
                  </a:lnTo>
                  <a:lnTo>
                    <a:pt x="916" y="230"/>
                  </a:lnTo>
                  <a:lnTo>
                    <a:pt x="1006" y="213"/>
                  </a:lnTo>
                  <a:lnTo>
                    <a:pt x="1095" y="205"/>
                  </a:lnTo>
                  <a:lnTo>
                    <a:pt x="1189" y="211"/>
                  </a:lnTo>
                  <a:lnTo>
                    <a:pt x="1280" y="219"/>
                  </a:lnTo>
                  <a:lnTo>
                    <a:pt x="1368" y="239"/>
                  </a:lnTo>
                  <a:lnTo>
                    <a:pt x="1456" y="267"/>
                  </a:lnTo>
                  <a:lnTo>
                    <a:pt x="1539" y="304"/>
                  </a:lnTo>
                  <a:lnTo>
                    <a:pt x="1617" y="349"/>
                  </a:lnTo>
                  <a:lnTo>
                    <a:pt x="1693" y="403"/>
                  </a:lnTo>
                  <a:lnTo>
                    <a:pt x="1762" y="463"/>
                  </a:lnTo>
                  <a:lnTo>
                    <a:pt x="1822" y="528"/>
                  </a:lnTo>
                  <a:lnTo>
                    <a:pt x="1975" y="386"/>
                  </a:lnTo>
                  <a:lnTo>
                    <a:pt x="1907" y="313"/>
                  </a:lnTo>
                  <a:lnTo>
                    <a:pt x="1830" y="247"/>
                  </a:lnTo>
                  <a:lnTo>
                    <a:pt x="1750" y="185"/>
                  </a:lnTo>
                  <a:lnTo>
                    <a:pt x="1663" y="135"/>
                  </a:lnTo>
                  <a:lnTo>
                    <a:pt x="1572" y="91"/>
                  </a:lnTo>
                  <a:lnTo>
                    <a:pt x="1477" y="56"/>
                  </a:lnTo>
                  <a:lnTo>
                    <a:pt x="1376" y="29"/>
                  </a:lnTo>
                  <a:lnTo>
                    <a:pt x="1280" y="11"/>
                  </a:lnTo>
                  <a:lnTo>
                    <a:pt x="1181" y="0"/>
                  </a:lnTo>
                  <a:lnTo>
                    <a:pt x="1078" y="0"/>
                  </a:lnTo>
                  <a:lnTo>
                    <a:pt x="976" y="9"/>
                  </a:lnTo>
                  <a:lnTo>
                    <a:pt x="880" y="25"/>
                  </a:lnTo>
                  <a:lnTo>
                    <a:pt x="780" y="54"/>
                  </a:lnTo>
                  <a:lnTo>
                    <a:pt x="684" y="87"/>
                  </a:lnTo>
                  <a:lnTo>
                    <a:pt x="591" y="128"/>
                  </a:lnTo>
                  <a:lnTo>
                    <a:pt x="509" y="182"/>
                  </a:lnTo>
                  <a:lnTo>
                    <a:pt x="425" y="241"/>
                  </a:lnTo>
                  <a:lnTo>
                    <a:pt x="346" y="307"/>
                  </a:lnTo>
                  <a:lnTo>
                    <a:pt x="277" y="377"/>
                  </a:lnTo>
                  <a:lnTo>
                    <a:pt x="213" y="458"/>
                  </a:lnTo>
                  <a:lnTo>
                    <a:pt x="161" y="543"/>
                  </a:lnTo>
                  <a:lnTo>
                    <a:pt x="111" y="628"/>
                  </a:lnTo>
                  <a:lnTo>
                    <a:pt x="69" y="722"/>
                  </a:lnTo>
                  <a:lnTo>
                    <a:pt x="37" y="818"/>
                  </a:lnTo>
                  <a:lnTo>
                    <a:pt x="16" y="915"/>
                  </a:lnTo>
                  <a:lnTo>
                    <a:pt x="2" y="1014"/>
                  </a:lnTo>
                  <a:lnTo>
                    <a:pt x="0" y="1115"/>
                  </a:lnTo>
                  <a:lnTo>
                    <a:pt x="2" y="1213"/>
                  </a:lnTo>
                  <a:lnTo>
                    <a:pt x="16" y="1314"/>
                  </a:lnTo>
                  <a:lnTo>
                    <a:pt x="37" y="1413"/>
                  </a:lnTo>
                  <a:lnTo>
                    <a:pt x="69" y="1508"/>
                  </a:lnTo>
                  <a:lnTo>
                    <a:pt x="111" y="1601"/>
                  </a:lnTo>
                  <a:lnTo>
                    <a:pt x="161" y="1687"/>
                  </a:lnTo>
                  <a:lnTo>
                    <a:pt x="213" y="1769"/>
                  </a:lnTo>
                  <a:lnTo>
                    <a:pt x="278" y="1851"/>
                  </a:lnTo>
                  <a:lnTo>
                    <a:pt x="350" y="1923"/>
                  </a:lnTo>
                  <a:lnTo>
                    <a:pt x="425" y="1989"/>
                  </a:lnTo>
                  <a:lnTo>
                    <a:pt x="509" y="2046"/>
                  </a:lnTo>
                  <a:lnTo>
                    <a:pt x="593" y="2100"/>
                  </a:lnTo>
                  <a:lnTo>
                    <a:pt x="684" y="2140"/>
                  </a:lnTo>
                  <a:lnTo>
                    <a:pt x="780" y="2176"/>
                  </a:lnTo>
                  <a:lnTo>
                    <a:pt x="880" y="2203"/>
                  </a:lnTo>
                  <a:lnTo>
                    <a:pt x="976" y="2221"/>
                  </a:lnTo>
                  <a:lnTo>
                    <a:pt x="1078" y="2226"/>
                  </a:lnTo>
                  <a:lnTo>
                    <a:pt x="1181" y="2226"/>
                  </a:lnTo>
                  <a:lnTo>
                    <a:pt x="1283" y="2218"/>
                  </a:lnTo>
                  <a:lnTo>
                    <a:pt x="1382" y="2199"/>
                  </a:lnTo>
                  <a:lnTo>
                    <a:pt x="1478" y="2173"/>
                  </a:lnTo>
                  <a:lnTo>
                    <a:pt x="1572" y="2137"/>
                  </a:lnTo>
                  <a:lnTo>
                    <a:pt x="1665" y="2092"/>
                  </a:lnTo>
                  <a:lnTo>
                    <a:pt x="1750" y="2041"/>
                  </a:lnTo>
                  <a:lnTo>
                    <a:pt x="1830" y="1979"/>
                  </a:lnTo>
                  <a:lnTo>
                    <a:pt x="1907" y="1917"/>
                  </a:lnTo>
                  <a:lnTo>
                    <a:pt x="1975" y="1843"/>
                  </a:lnTo>
                  <a:lnTo>
                    <a:pt x="1822" y="1699"/>
                  </a:lnTo>
                  <a:close/>
                </a:path>
              </a:pathLst>
            </a:custGeom>
            <a:solidFill>
              <a:srgbClr val="333399"/>
            </a:solidFill>
            <a:ln w="0">
              <a:solidFill>
                <a:srgbClr val="333399"/>
              </a:solidFill>
              <a:prstDash val="solid"/>
              <a:round/>
              <a:headEnd/>
              <a:tailEnd/>
            </a:ln>
          </p:spPr>
          <p:txBody>
            <a:bodyPr/>
            <a:lstStyle/>
            <a:p>
              <a:endParaRPr lang="pt-BR"/>
            </a:p>
          </p:txBody>
        </p:sp>
      </p:grpSp>
      <p:sp>
        <p:nvSpPr>
          <p:cNvPr id="72712" name="Rectangle 8"/>
          <p:cNvSpPr>
            <a:spLocks noChangeArrowheads="1"/>
          </p:cNvSpPr>
          <p:nvPr/>
        </p:nvSpPr>
        <p:spPr bwMode="auto">
          <a:xfrm>
            <a:off x="457200" y="3124200"/>
            <a:ext cx="1103313" cy="254000"/>
          </a:xfrm>
          <a:prstGeom prst="rect">
            <a:avLst/>
          </a:prstGeom>
          <a:solidFill>
            <a:srgbClr val="CCFFCC"/>
          </a:solidFill>
          <a:ln w="9525">
            <a:solidFill>
              <a:schemeClr val="tx1"/>
            </a:solidFill>
            <a:miter lim="800000"/>
            <a:headEnd/>
            <a:tailEnd/>
          </a:ln>
          <a:effectLst/>
        </p:spPr>
        <p:txBody>
          <a:bodyPr anchor="ctr">
            <a:spAutoFit/>
          </a:bodyPr>
          <a:lstStyle/>
          <a:p>
            <a:pPr algn="ctr" eaLnBrk="0" hangingPunct="0">
              <a:spcBef>
                <a:spcPct val="50000"/>
              </a:spcBef>
            </a:pPr>
            <a:r>
              <a:rPr lang="pt-BR" sz="1000" b="1">
                <a:latin typeface="Comic Sans MS" pitchFamily="66" charset="0"/>
              </a:rPr>
              <a:t>FONTE</a:t>
            </a:r>
          </a:p>
        </p:txBody>
      </p:sp>
      <p:sp>
        <p:nvSpPr>
          <p:cNvPr id="72713" name="AutoShape 9"/>
          <p:cNvSpPr>
            <a:spLocks noChangeArrowheads="1"/>
          </p:cNvSpPr>
          <p:nvPr/>
        </p:nvSpPr>
        <p:spPr bwMode="auto">
          <a:xfrm flipH="1">
            <a:off x="1066800" y="3124200"/>
            <a:ext cx="1981200" cy="254000"/>
          </a:xfrm>
          <a:prstGeom prst="flowChartOnlineStorage">
            <a:avLst/>
          </a:prstGeom>
          <a:solidFill>
            <a:srgbClr val="FFFF99"/>
          </a:solidFill>
          <a:ln w="9525">
            <a:solidFill>
              <a:srgbClr val="000000"/>
            </a:solidFill>
            <a:miter lim="800000"/>
            <a:headEnd/>
            <a:tailEnd/>
          </a:ln>
          <a:effectLst/>
        </p:spPr>
        <p:txBody>
          <a:bodyPr anchor="ctr">
            <a:spAutoFit/>
          </a:bodyPr>
          <a:lstStyle/>
          <a:p>
            <a:pPr algn="ctr" eaLnBrk="0" hangingPunct="0">
              <a:spcBef>
                <a:spcPct val="50000"/>
              </a:spcBef>
            </a:pPr>
            <a:r>
              <a:rPr lang="pt-BR" sz="1000" b="1">
                <a:latin typeface="Comic Sans MS" pitchFamily="66" charset="0"/>
              </a:rPr>
              <a:t>CODIFICADOR</a:t>
            </a:r>
          </a:p>
        </p:txBody>
      </p:sp>
      <p:sp>
        <p:nvSpPr>
          <p:cNvPr id="72714" name="Rectangle 10"/>
          <p:cNvSpPr>
            <a:spLocks noChangeArrowheads="1"/>
          </p:cNvSpPr>
          <p:nvPr/>
        </p:nvSpPr>
        <p:spPr bwMode="auto">
          <a:xfrm>
            <a:off x="7507288" y="3098800"/>
            <a:ext cx="1103312" cy="254000"/>
          </a:xfrm>
          <a:prstGeom prst="rect">
            <a:avLst/>
          </a:prstGeom>
          <a:solidFill>
            <a:srgbClr val="CCFFCC"/>
          </a:solidFill>
          <a:ln w="9525">
            <a:solidFill>
              <a:schemeClr val="tx1"/>
            </a:solidFill>
            <a:miter lim="800000"/>
            <a:headEnd/>
            <a:tailEnd/>
          </a:ln>
          <a:effectLst/>
        </p:spPr>
        <p:txBody>
          <a:bodyPr anchor="ctr">
            <a:spAutoFit/>
          </a:bodyPr>
          <a:lstStyle/>
          <a:p>
            <a:pPr algn="ctr" eaLnBrk="0" hangingPunct="0">
              <a:spcBef>
                <a:spcPct val="50000"/>
              </a:spcBef>
            </a:pPr>
            <a:r>
              <a:rPr lang="pt-BR" sz="1000" b="1">
                <a:latin typeface="Comic Sans MS" pitchFamily="66" charset="0"/>
              </a:rPr>
              <a:t>RECEPTOR</a:t>
            </a:r>
          </a:p>
        </p:txBody>
      </p:sp>
      <p:sp>
        <p:nvSpPr>
          <p:cNvPr id="72715" name="AutoShape 11"/>
          <p:cNvSpPr>
            <a:spLocks noChangeArrowheads="1"/>
          </p:cNvSpPr>
          <p:nvPr/>
        </p:nvSpPr>
        <p:spPr bwMode="auto">
          <a:xfrm>
            <a:off x="5983288" y="3098800"/>
            <a:ext cx="1981200" cy="254000"/>
          </a:xfrm>
          <a:prstGeom prst="flowChartOnlineStorage">
            <a:avLst/>
          </a:prstGeom>
          <a:solidFill>
            <a:srgbClr val="FFFF99"/>
          </a:solidFill>
          <a:ln w="9525">
            <a:solidFill>
              <a:srgbClr val="000000"/>
            </a:solidFill>
            <a:miter lim="800000"/>
            <a:headEnd/>
            <a:tailEnd/>
          </a:ln>
          <a:effectLst/>
        </p:spPr>
        <p:txBody>
          <a:bodyPr anchor="ctr">
            <a:spAutoFit/>
          </a:bodyPr>
          <a:lstStyle/>
          <a:p>
            <a:pPr algn="ctr" eaLnBrk="0" hangingPunct="0">
              <a:spcBef>
                <a:spcPct val="50000"/>
              </a:spcBef>
            </a:pPr>
            <a:r>
              <a:rPr lang="pt-BR" sz="1000" b="1">
                <a:latin typeface="Comic Sans MS" pitchFamily="66" charset="0"/>
              </a:rPr>
              <a:t>DECODIFICADOR</a:t>
            </a:r>
          </a:p>
        </p:txBody>
      </p:sp>
      <p:sp>
        <p:nvSpPr>
          <p:cNvPr id="72716" name="Sound"/>
          <p:cNvSpPr>
            <a:spLocks noEditPoints="1" noChangeArrowheads="1"/>
          </p:cNvSpPr>
          <p:nvPr/>
        </p:nvSpPr>
        <p:spPr bwMode="auto">
          <a:xfrm>
            <a:off x="990600" y="2286000"/>
            <a:ext cx="600075" cy="752475"/>
          </a:xfrm>
          <a:custGeom>
            <a:avLst/>
            <a:gdLst>
              <a:gd name="T0" fmla="*/ 11164 w 21600"/>
              <a:gd name="T1" fmla="*/ 21159 h 21600"/>
              <a:gd name="T2" fmla="*/ 11164 w 21600"/>
              <a:gd name="T3" fmla="*/ 0 h 21600"/>
              <a:gd name="T4" fmla="*/ 0 w 21600"/>
              <a:gd name="T5" fmla="*/ 10800 h 21600"/>
              <a:gd name="T6" fmla="*/ 21600 w 21600"/>
              <a:gd name="T7" fmla="*/ 10800 h 21600"/>
              <a:gd name="T8" fmla="*/ 761 w 21600"/>
              <a:gd name="T9" fmla="*/ 22454 h 21600"/>
              <a:gd name="T10" fmla="*/ 21069 w 21600"/>
              <a:gd name="T11" fmla="*/ 28282 h 21600"/>
            </a:gdLst>
            <a:ahLst/>
            <a:cxnLst>
              <a:cxn ang="0">
                <a:pos x="T0" y="T1"/>
              </a:cxn>
              <a:cxn ang="0">
                <a:pos x="T2" y="T3"/>
              </a:cxn>
              <a:cxn ang="0">
                <a:pos x="T4" y="T5"/>
              </a:cxn>
              <a:cxn ang="0">
                <a:pos x="T6" y="T7"/>
              </a:cxn>
            </a:cxnLst>
            <a:rect l="T8" t="T9" r="T10" b="T11"/>
            <a:pathLst>
              <a:path w="21600" h="21600">
                <a:moveTo>
                  <a:pt x="0" y="7273"/>
                </a:moveTo>
                <a:lnTo>
                  <a:pt x="5824" y="7273"/>
                </a:lnTo>
                <a:lnTo>
                  <a:pt x="11164" y="0"/>
                </a:lnTo>
                <a:lnTo>
                  <a:pt x="11164" y="21159"/>
                </a:lnTo>
                <a:lnTo>
                  <a:pt x="5824" y="13885"/>
                </a:lnTo>
                <a:lnTo>
                  <a:pt x="0" y="13885"/>
                </a:lnTo>
                <a:lnTo>
                  <a:pt x="0" y="7273"/>
                </a:lnTo>
                <a:close/>
              </a:path>
              <a:path w="21600" h="21600">
                <a:moveTo>
                  <a:pt x="13024" y="7273"/>
                </a:moveTo>
                <a:lnTo>
                  <a:pt x="13591" y="6722"/>
                </a:lnTo>
                <a:lnTo>
                  <a:pt x="13833" y="7548"/>
                </a:lnTo>
                <a:lnTo>
                  <a:pt x="14076" y="8485"/>
                </a:lnTo>
                <a:lnTo>
                  <a:pt x="14157" y="9367"/>
                </a:lnTo>
                <a:lnTo>
                  <a:pt x="14197" y="10524"/>
                </a:lnTo>
                <a:lnTo>
                  <a:pt x="14197" y="11406"/>
                </a:lnTo>
                <a:lnTo>
                  <a:pt x="14116" y="12012"/>
                </a:lnTo>
                <a:lnTo>
                  <a:pt x="13995" y="12728"/>
                </a:lnTo>
                <a:lnTo>
                  <a:pt x="13833" y="13444"/>
                </a:lnTo>
                <a:lnTo>
                  <a:pt x="13712" y="14106"/>
                </a:lnTo>
                <a:lnTo>
                  <a:pt x="13591" y="14546"/>
                </a:lnTo>
                <a:lnTo>
                  <a:pt x="13065" y="13885"/>
                </a:lnTo>
                <a:lnTo>
                  <a:pt x="13307" y="12893"/>
                </a:lnTo>
                <a:lnTo>
                  <a:pt x="13469" y="11791"/>
                </a:lnTo>
                <a:lnTo>
                  <a:pt x="13550" y="10910"/>
                </a:lnTo>
                <a:lnTo>
                  <a:pt x="13591" y="10138"/>
                </a:lnTo>
                <a:lnTo>
                  <a:pt x="13469" y="9367"/>
                </a:lnTo>
                <a:lnTo>
                  <a:pt x="13388" y="8595"/>
                </a:lnTo>
                <a:lnTo>
                  <a:pt x="13267" y="7934"/>
                </a:lnTo>
                <a:lnTo>
                  <a:pt x="13024" y="7273"/>
                </a:lnTo>
                <a:close/>
              </a:path>
              <a:path w="21600" h="21600">
                <a:moveTo>
                  <a:pt x="16382" y="3967"/>
                </a:moveTo>
                <a:lnTo>
                  <a:pt x="16786" y="5179"/>
                </a:lnTo>
                <a:lnTo>
                  <a:pt x="17150" y="6612"/>
                </a:lnTo>
                <a:lnTo>
                  <a:pt x="17474" y="8651"/>
                </a:lnTo>
                <a:lnTo>
                  <a:pt x="17595" y="9753"/>
                </a:lnTo>
                <a:lnTo>
                  <a:pt x="17635" y="12012"/>
                </a:lnTo>
                <a:lnTo>
                  <a:pt x="17393" y="13665"/>
                </a:lnTo>
                <a:lnTo>
                  <a:pt x="17150" y="15208"/>
                </a:lnTo>
                <a:lnTo>
                  <a:pt x="16786" y="16310"/>
                </a:lnTo>
                <a:lnTo>
                  <a:pt x="16341" y="17687"/>
                </a:lnTo>
                <a:lnTo>
                  <a:pt x="15815" y="17081"/>
                </a:lnTo>
                <a:lnTo>
                  <a:pt x="16503" y="14602"/>
                </a:lnTo>
                <a:lnTo>
                  <a:pt x="16786" y="13169"/>
                </a:lnTo>
                <a:lnTo>
                  <a:pt x="16867" y="12012"/>
                </a:lnTo>
                <a:lnTo>
                  <a:pt x="16867" y="9642"/>
                </a:lnTo>
                <a:lnTo>
                  <a:pt x="16705" y="7989"/>
                </a:lnTo>
                <a:lnTo>
                  <a:pt x="16422" y="6612"/>
                </a:lnTo>
                <a:lnTo>
                  <a:pt x="16220" y="5675"/>
                </a:lnTo>
                <a:lnTo>
                  <a:pt x="15856" y="4518"/>
                </a:lnTo>
                <a:lnTo>
                  <a:pt x="16382" y="3967"/>
                </a:lnTo>
                <a:close/>
              </a:path>
              <a:path w="21600" h="21600">
                <a:moveTo>
                  <a:pt x="18889" y="1377"/>
                </a:moveTo>
                <a:lnTo>
                  <a:pt x="19415" y="826"/>
                </a:lnTo>
                <a:lnTo>
                  <a:pt x="20194" y="2576"/>
                </a:lnTo>
                <a:lnTo>
                  <a:pt x="20831" y="4683"/>
                </a:lnTo>
                <a:lnTo>
                  <a:pt x="21357" y="7204"/>
                </a:lnTo>
                <a:lnTo>
                  <a:pt x="21650" y="9450"/>
                </a:lnTo>
                <a:lnTo>
                  <a:pt x="21600" y="12301"/>
                </a:lnTo>
                <a:lnTo>
                  <a:pt x="21215" y="15938"/>
                </a:lnTo>
                <a:lnTo>
                  <a:pt x="20629" y="18348"/>
                </a:lnTo>
                <a:lnTo>
                  <a:pt x="19415" y="21655"/>
                </a:lnTo>
                <a:lnTo>
                  <a:pt x="18889" y="21159"/>
                </a:lnTo>
                <a:lnTo>
                  <a:pt x="19901" y="18404"/>
                </a:lnTo>
                <a:lnTo>
                  <a:pt x="20467" y="15593"/>
                </a:lnTo>
                <a:lnTo>
                  <a:pt x="20791" y="12342"/>
                </a:lnTo>
                <a:lnTo>
                  <a:pt x="20871" y="9532"/>
                </a:lnTo>
                <a:lnTo>
                  <a:pt x="20629" y="7411"/>
                </a:lnTo>
                <a:lnTo>
                  <a:pt x="20062" y="4628"/>
                </a:lnTo>
                <a:lnTo>
                  <a:pt x="19415" y="2810"/>
                </a:lnTo>
                <a:lnTo>
                  <a:pt x="18889" y="1377"/>
                </a:lnTo>
                <a:close/>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endParaRPr lang="pt-BR"/>
          </a:p>
        </p:txBody>
      </p:sp>
      <p:pic>
        <p:nvPicPr>
          <p:cNvPr id="72717" name="Picture 13" descr="BD05552_"/>
          <p:cNvPicPr>
            <a:picLocks noChangeAspect="1" noChangeArrowheads="1"/>
          </p:cNvPicPr>
          <p:nvPr/>
        </p:nvPicPr>
        <p:blipFill>
          <a:blip r:embed="rId2" cstate="print"/>
          <a:srcRect/>
          <a:stretch>
            <a:fillRect/>
          </a:stretch>
        </p:blipFill>
        <p:spPr bwMode="auto">
          <a:xfrm>
            <a:off x="7010400" y="1905000"/>
            <a:ext cx="1371600" cy="1127125"/>
          </a:xfrm>
          <a:prstGeom prst="rect">
            <a:avLst/>
          </a:prstGeom>
          <a:noFill/>
        </p:spPr>
      </p:pic>
      <p:sp>
        <p:nvSpPr>
          <p:cNvPr id="72718" name="AutoShape 14" descr="Grade fechada"/>
          <p:cNvSpPr>
            <a:spLocks noChangeArrowheads="1"/>
          </p:cNvSpPr>
          <p:nvPr/>
        </p:nvSpPr>
        <p:spPr bwMode="auto">
          <a:xfrm>
            <a:off x="2819400" y="2933700"/>
            <a:ext cx="1139825" cy="546100"/>
          </a:xfrm>
          <a:prstGeom prst="parallelogram">
            <a:avLst>
              <a:gd name="adj" fmla="val 52180"/>
            </a:avLst>
          </a:prstGeom>
          <a:pattFill prst="smGrid">
            <a:fgClr>
              <a:srgbClr val="FF99CC"/>
            </a:fgClr>
            <a:bgClr>
              <a:schemeClr val="bg1"/>
            </a:bgClr>
          </a:pattFill>
          <a:ln w="9525">
            <a:noFill/>
            <a:miter lim="800000"/>
            <a:headEnd/>
            <a:tailEnd/>
          </a:ln>
          <a:effectLst/>
        </p:spPr>
        <p:txBody>
          <a:bodyPr anchor="ctr">
            <a:spAutoFit/>
          </a:bodyPr>
          <a:lstStyle/>
          <a:p>
            <a:pPr algn="ctr" eaLnBrk="0" hangingPunct="0">
              <a:spcBef>
                <a:spcPct val="50000"/>
              </a:spcBef>
              <a:buFontTx/>
              <a:buChar char="•"/>
            </a:pPr>
            <a:endParaRPr lang="pt-BR" sz="1600" b="1">
              <a:latin typeface="Comic Sans MS" pitchFamily="66" charset="0"/>
            </a:endParaRPr>
          </a:p>
        </p:txBody>
      </p:sp>
      <p:sp>
        <p:nvSpPr>
          <p:cNvPr id="72719" name="Text Box 15"/>
          <p:cNvSpPr txBox="1">
            <a:spLocks noChangeArrowheads="1"/>
          </p:cNvSpPr>
          <p:nvPr/>
        </p:nvSpPr>
        <p:spPr bwMode="auto">
          <a:xfrm>
            <a:off x="2209800" y="1066800"/>
            <a:ext cx="1676400" cy="336550"/>
          </a:xfrm>
          <a:prstGeom prst="rect">
            <a:avLst/>
          </a:prstGeom>
          <a:noFill/>
          <a:ln w="9525">
            <a:noFill/>
            <a:miter lim="800000"/>
            <a:headEnd/>
            <a:tailEnd/>
          </a:ln>
          <a:effectLst/>
        </p:spPr>
        <p:txBody>
          <a:bodyPr>
            <a:spAutoFit/>
          </a:bodyPr>
          <a:lstStyle/>
          <a:p>
            <a:pPr eaLnBrk="0" hangingPunct="0">
              <a:spcBef>
                <a:spcPct val="50000"/>
              </a:spcBef>
              <a:buFontTx/>
              <a:buChar char="•"/>
            </a:pPr>
            <a:endParaRPr lang="pt-BR" sz="1600" b="1">
              <a:latin typeface="Comic Sans MS" pitchFamily="66" charset="0"/>
            </a:endParaRPr>
          </a:p>
        </p:txBody>
      </p:sp>
      <p:sp>
        <p:nvSpPr>
          <p:cNvPr id="72720" name="Text Box 16"/>
          <p:cNvSpPr txBox="1">
            <a:spLocks noChangeArrowheads="1"/>
          </p:cNvSpPr>
          <p:nvPr/>
        </p:nvSpPr>
        <p:spPr bwMode="auto">
          <a:xfrm>
            <a:off x="1752600" y="1524000"/>
            <a:ext cx="1828800" cy="825500"/>
          </a:xfrm>
          <a:prstGeom prst="rect">
            <a:avLst/>
          </a:prstGeom>
          <a:noFill/>
          <a:ln w="9525">
            <a:noFill/>
            <a:miter lim="800000"/>
            <a:headEnd/>
            <a:tailEnd/>
          </a:ln>
          <a:effectLst/>
        </p:spPr>
        <p:txBody>
          <a:bodyPr>
            <a:spAutoFit/>
          </a:bodyPr>
          <a:lstStyle/>
          <a:p>
            <a:pPr marL="285750" eaLnBrk="0" hangingPunct="0">
              <a:spcBef>
                <a:spcPct val="50000"/>
              </a:spcBef>
            </a:pPr>
            <a:r>
              <a:rPr lang="pt-BR" sz="1600" b="1">
                <a:latin typeface="Comic Sans MS" pitchFamily="66" charset="0"/>
              </a:rPr>
              <a:t>Região de Experiência para a Fonte</a:t>
            </a:r>
          </a:p>
        </p:txBody>
      </p:sp>
      <p:sp>
        <p:nvSpPr>
          <p:cNvPr id="72721" name="Oval 17"/>
          <p:cNvSpPr>
            <a:spLocks noChangeArrowheads="1"/>
          </p:cNvSpPr>
          <p:nvPr/>
        </p:nvSpPr>
        <p:spPr bwMode="auto">
          <a:xfrm>
            <a:off x="304800" y="1295400"/>
            <a:ext cx="4876800" cy="3429000"/>
          </a:xfrm>
          <a:prstGeom prst="ellipse">
            <a:avLst/>
          </a:prstGeom>
          <a:noFill/>
          <a:ln w="9525">
            <a:solidFill>
              <a:srgbClr val="808080"/>
            </a:solidFill>
            <a:round/>
            <a:headEnd/>
            <a:tailEnd/>
          </a:ln>
          <a:effectLst/>
        </p:spPr>
        <p:txBody>
          <a:bodyPr anchor="ctr">
            <a:spAutoFit/>
          </a:bodyPr>
          <a:lstStyle/>
          <a:p>
            <a:endParaRPr lang="pt-BR"/>
          </a:p>
        </p:txBody>
      </p:sp>
      <p:sp>
        <p:nvSpPr>
          <p:cNvPr id="72722" name="Text Box 18"/>
          <p:cNvSpPr txBox="1">
            <a:spLocks noChangeArrowheads="1"/>
          </p:cNvSpPr>
          <p:nvPr/>
        </p:nvSpPr>
        <p:spPr bwMode="auto">
          <a:xfrm>
            <a:off x="5105400" y="1460500"/>
            <a:ext cx="2209800" cy="825500"/>
          </a:xfrm>
          <a:prstGeom prst="rect">
            <a:avLst/>
          </a:prstGeom>
          <a:noFill/>
          <a:ln w="9525">
            <a:noFill/>
            <a:miter lim="800000"/>
            <a:headEnd/>
            <a:tailEnd/>
          </a:ln>
          <a:effectLst/>
        </p:spPr>
        <p:txBody>
          <a:bodyPr>
            <a:spAutoFit/>
          </a:bodyPr>
          <a:lstStyle/>
          <a:p>
            <a:pPr marL="285750" eaLnBrk="0" hangingPunct="0">
              <a:spcBef>
                <a:spcPct val="50000"/>
              </a:spcBef>
            </a:pPr>
            <a:r>
              <a:rPr lang="pt-BR" sz="1600" b="1">
                <a:latin typeface="Comic Sans MS" pitchFamily="66" charset="0"/>
              </a:rPr>
              <a:t>Região de Experiência para o Receptor</a:t>
            </a:r>
          </a:p>
        </p:txBody>
      </p:sp>
      <p:sp>
        <p:nvSpPr>
          <p:cNvPr id="72723" name="Oval 19"/>
          <p:cNvSpPr>
            <a:spLocks noChangeArrowheads="1"/>
          </p:cNvSpPr>
          <p:nvPr/>
        </p:nvSpPr>
        <p:spPr bwMode="auto">
          <a:xfrm>
            <a:off x="3810000" y="1371600"/>
            <a:ext cx="5029200" cy="3429000"/>
          </a:xfrm>
          <a:prstGeom prst="ellipse">
            <a:avLst/>
          </a:prstGeom>
          <a:noFill/>
          <a:ln w="9525">
            <a:solidFill>
              <a:srgbClr val="808080"/>
            </a:solidFill>
            <a:round/>
            <a:headEnd/>
            <a:tailEnd/>
          </a:ln>
          <a:effectLst/>
        </p:spPr>
        <p:txBody>
          <a:bodyPr anchor="ctr">
            <a:spAutoFit/>
          </a:bodyPr>
          <a:lstStyle/>
          <a:p>
            <a:endParaRPr lang="pt-BR"/>
          </a:p>
        </p:txBody>
      </p:sp>
      <p:sp>
        <p:nvSpPr>
          <p:cNvPr id="72724" name="AutoShape 20" descr="Grade fechada"/>
          <p:cNvSpPr>
            <a:spLocks noChangeArrowheads="1"/>
          </p:cNvSpPr>
          <p:nvPr/>
        </p:nvSpPr>
        <p:spPr bwMode="auto">
          <a:xfrm>
            <a:off x="4953000" y="2933700"/>
            <a:ext cx="1216025" cy="546100"/>
          </a:xfrm>
          <a:prstGeom prst="parallelogram">
            <a:avLst>
              <a:gd name="adj" fmla="val 55669"/>
            </a:avLst>
          </a:prstGeom>
          <a:pattFill prst="smGrid">
            <a:fgClr>
              <a:srgbClr val="FF99CC"/>
            </a:fgClr>
            <a:bgClr>
              <a:schemeClr val="bg1"/>
            </a:bgClr>
          </a:pattFill>
          <a:ln w="9525">
            <a:noFill/>
            <a:miter lim="800000"/>
            <a:headEnd/>
            <a:tailEnd/>
          </a:ln>
          <a:effectLst/>
        </p:spPr>
        <p:txBody>
          <a:bodyPr anchor="ctr">
            <a:spAutoFit/>
          </a:bodyPr>
          <a:lstStyle/>
          <a:p>
            <a:pPr algn="ctr" eaLnBrk="0" hangingPunct="0">
              <a:spcBef>
                <a:spcPct val="50000"/>
              </a:spcBef>
              <a:buFontTx/>
              <a:buChar char="•"/>
            </a:pPr>
            <a:endParaRPr lang="pt-BR" sz="1600" b="1">
              <a:latin typeface="Comic Sans MS" pitchFamily="66" charset="0"/>
            </a:endParaRPr>
          </a:p>
        </p:txBody>
      </p:sp>
      <p:sp>
        <p:nvSpPr>
          <p:cNvPr id="72725" name="Line 21"/>
          <p:cNvSpPr>
            <a:spLocks noChangeShapeType="1"/>
          </p:cNvSpPr>
          <p:nvPr/>
        </p:nvSpPr>
        <p:spPr bwMode="auto">
          <a:xfrm>
            <a:off x="2741613" y="3198813"/>
            <a:ext cx="1143000" cy="0"/>
          </a:xfrm>
          <a:prstGeom prst="line">
            <a:avLst/>
          </a:prstGeom>
          <a:noFill/>
          <a:ln w="9525">
            <a:solidFill>
              <a:schemeClr val="tx1"/>
            </a:solidFill>
            <a:round/>
            <a:headEnd/>
            <a:tailEnd type="triangle" w="med" len="med"/>
          </a:ln>
          <a:effectLst/>
        </p:spPr>
        <p:txBody>
          <a:bodyPr>
            <a:spAutoFit/>
          </a:bodyPr>
          <a:lstStyle/>
          <a:p>
            <a:endParaRPr lang="pt-BR"/>
          </a:p>
        </p:txBody>
      </p:sp>
      <p:sp>
        <p:nvSpPr>
          <p:cNvPr id="72726" name="Line 22"/>
          <p:cNvSpPr>
            <a:spLocks noChangeShapeType="1"/>
          </p:cNvSpPr>
          <p:nvPr/>
        </p:nvSpPr>
        <p:spPr bwMode="auto">
          <a:xfrm>
            <a:off x="5181600" y="3200400"/>
            <a:ext cx="1066800" cy="0"/>
          </a:xfrm>
          <a:prstGeom prst="line">
            <a:avLst/>
          </a:prstGeom>
          <a:noFill/>
          <a:ln w="9525">
            <a:solidFill>
              <a:schemeClr val="tx1"/>
            </a:solidFill>
            <a:round/>
            <a:headEnd/>
            <a:tailEnd type="triangle" w="med" len="med"/>
          </a:ln>
          <a:effectLst/>
        </p:spPr>
        <p:txBody>
          <a:bodyPr anchor="ctr">
            <a:spAutoFit/>
          </a:bodyPr>
          <a:lstStyle/>
          <a:p>
            <a:endParaRPr lang="pt-BR"/>
          </a:p>
        </p:txBody>
      </p:sp>
      <p:sp>
        <p:nvSpPr>
          <p:cNvPr id="72727" name="Text Box 23"/>
          <p:cNvSpPr txBox="1">
            <a:spLocks noChangeArrowheads="1"/>
          </p:cNvSpPr>
          <p:nvPr/>
        </p:nvSpPr>
        <p:spPr bwMode="auto">
          <a:xfrm>
            <a:off x="1447800" y="3657600"/>
            <a:ext cx="1828800" cy="581025"/>
          </a:xfrm>
          <a:prstGeom prst="rect">
            <a:avLst/>
          </a:prstGeom>
          <a:noFill/>
          <a:ln w="9525">
            <a:noFill/>
            <a:miter lim="800000"/>
            <a:headEnd/>
            <a:tailEnd/>
          </a:ln>
          <a:effectLst/>
        </p:spPr>
        <p:txBody>
          <a:bodyPr>
            <a:spAutoFit/>
          </a:bodyPr>
          <a:lstStyle/>
          <a:p>
            <a:pPr marL="285750" eaLnBrk="0" hangingPunct="0">
              <a:spcBef>
                <a:spcPct val="50000"/>
              </a:spcBef>
            </a:pPr>
            <a:r>
              <a:rPr lang="en-US" sz="1600" b="1">
                <a:latin typeface="Comic Sans MS" pitchFamily="66" charset="0"/>
              </a:rPr>
              <a:t>Filtro da personalidade</a:t>
            </a:r>
            <a:endParaRPr lang="pt-BR" sz="1600" b="1">
              <a:latin typeface="Comic Sans MS" pitchFamily="66" charset="0"/>
            </a:endParaRPr>
          </a:p>
        </p:txBody>
      </p:sp>
      <p:sp>
        <p:nvSpPr>
          <p:cNvPr id="72728" name="Text Box 24"/>
          <p:cNvSpPr txBox="1">
            <a:spLocks noChangeArrowheads="1"/>
          </p:cNvSpPr>
          <p:nvPr/>
        </p:nvSpPr>
        <p:spPr bwMode="auto">
          <a:xfrm>
            <a:off x="5867400" y="3733800"/>
            <a:ext cx="1828800" cy="581025"/>
          </a:xfrm>
          <a:prstGeom prst="rect">
            <a:avLst/>
          </a:prstGeom>
          <a:noFill/>
          <a:ln w="9525">
            <a:noFill/>
            <a:miter lim="800000"/>
            <a:headEnd/>
            <a:tailEnd/>
          </a:ln>
          <a:effectLst/>
        </p:spPr>
        <p:txBody>
          <a:bodyPr>
            <a:spAutoFit/>
          </a:bodyPr>
          <a:lstStyle/>
          <a:p>
            <a:pPr marL="285750" eaLnBrk="0" hangingPunct="0">
              <a:spcBef>
                <a:spcPct val="50000"/>
              </a:spcBef>
            </a:pPr>
            <a:r>
              <a:rPr lang="en-US" sz="1600" b="1">
                <a:latin typeface="Comic Sans MS" pitchFamily="66" charset="0"/>
              </a:rPr>
              <a:t>Filtro da percepção</a:t>
            </a:r>
            <a:endParaRPr lang="pt-BR" sz="1600" b="1">
              <a:latin typeface="Comic Sans MS" pitchFamily="66" charset="0"/>
            </a:endParaRPr>
          </a:p>
        </p:txBody>
      </p:sp>
      <p:sp>
        <p:nvSpPr>
          <p:cNvPr id="72729" name="Line 25"/>
          <p:cNvSpPr>
            <a:spLocks noChangeShapeType="1"/>
          </p:cNvSpPr>
          <p:nvPr/>
        </p:nvSpPr>
        <p:spPr bwMode="auto">
          <a:xfrm flipV="1">
            <a:off x="2895600" y="3352800"/>
            <a:ext cx="457200" cy="457200"/>
          </a:xfrm>
          <a:prstGeom prst="line">
            <a:avLst/>
          </a:prstGeom>
          <a:noFill/>
          <a:ln w="9525">
            <a:solidFill>
              <a:schemeClr val="tx1"/>
            </a:solidFill>
            <a:round/>
            <a:headEnd/>
            <a:tailEnd type="triangle" w="med" len="med"/>
          </a:ln>
          <a:effectLst/>
        </p:spPr>
        <p:txBody>
          <a:bodyPr anchor="ctr">
            <a:spAutoFit/>
          </a:bodyPr>
          <a:lstStyle/>
          <a:p>
            <a:endParaRPr lang="pt-BR"/>
          </a:p>
        </p:txBody>
      </p:sp>
      <p:sp>
        <p:nvSpPr>
          <p:cNvPr id="72730" name="Line 26"/>
          <p:cNvSpPr>
            <a:spLocks noChangeShapeType="1"/>
          </p:cNvSpPr>
          <p:nvPr/>
        </p:nvSpPr>
        <p:spPr bwMode="auto">
          <a:xfrm flipH="1" flipV="1">
            <a:off x="5638800" y="3352800"/>
            <a:ext cx="457200" cy="533400"/>
          </a:xfrm>
          <a:prstGeom prst="line">
            <a:avLst/>
          </a:prstGeom>
          <a:noFill/>
          <a:ln w="9525">
            <a:solidFill>
              <a:schemeClr val="tx1"/>
            </a:solidFill>
            <a:round/>
            <a:headEnd/>
            <a:tailEnd type="triangle" w="med" len="med"/>
          </a:ln>
          <a:effectLst/>
        </p:spPr>
        <p:txBody>
          <a:bodyPr anchor="ctr">
            <a:spAutoFit/>
          </a:bodyPr>
          <a:lstStyle/>
          <a:p>
            <a:endParaRPr lang="pt-BR"/>
          </a:p>
        </p:txBody>
      </p:sp>
      <p:sp>
        <p:nvSpPr>
          <p:cNvPr id="72731" name="Line 27"/>
          <p:cNvSpPr>
            <a:spLocks noChangeShapeType="1"/>
          </p:cNvSpPr>
          <p:nvPr/>
        </p:nvSpPr>
        <p:spPr bwMode="auto">
          <a:xfrm>
            <a:off x="8153400" y="3352800"/>
            <a:ext cx="0" cy="1676400"/>
          </a:xfrm>
          <a:prstGeom prst="line">
            <a:avLst/>
          </a:prstGeom>
          <a:noFill/>
          <a:ln w="22225">
            <a:solidFill>
              <a:schemeClr val="tx1"/>
            </a:solidFill>
            <a:round/>
            <a:headEnd/>
            <a:tailEnd/>
          </a:ln>
          <a:effectLst/>
        </p:spPr>
        <p:txBody>
          <a:bodyPr anchor="ctr">
            <a:spAutoFit/>
          </a:bodyPr>
          <a:lstStyle/>
          <a:p>
            <a:endParaRPr lang="pt-BR"/>
          </a:p>
        </p:txBody>
      </p:sp>
      <p:sp>
        <p:nvSpPr>
          <p:cNvPr id="72732" name="Line 28"/>
          <p:cNvSpPr>
            <a:spLocks noChangeShapeType="1"/>
          </p:cNvSpPr>
          <p:nvPr/>
        </p:nvSpPr>
        <p:spPr bwMode="auto">
          <a:xfrm flipH="1">
            <a:off x="990600" y="5029200"/>
            <a:ext cx="7162800" cy="0"/>
          </a:xfrm>
          <a:prstGeom prst="line">
            <a:avLst/>
          </a:prstGeom>
          <a:noFill/>
          <a:ln w="22225">
            <a:solidFill>
              <a:schemeClr val="tx1"/>
            </a:solidFill>
            <a:round/>
            <a:headEnd/>
            <a:tailEnd/>
          </a:ln>
          <a:effectLst/>
        </p:spPr>
        <p:txBody>
          <a:bodyPr anchor="ctr">
            <a:spAutoFit/>
          </a:bodyPr>
          <a:lstStyle/>
          <a:p>
            <a:endParaRPr lang="pt-BR"/>
          </a:p>
        </p:txBody>
      </p:sp>
      <p:sp>
        <p:nvSpPr>
          <p:cNvPr id="72733" name="Line 29"/>
          <p:cNvSpPr>
            <a:spLocks noChangeShapeType="1"/>
          </p:cNvSpPr>
          <p:nvPr/>
        </p:nvSpPr>
        <p:spPr bwMode="auto">
          <a:xfrm flipV="1">
            <a:off x="990600" y="3429000"/>
            <a:ext cx="0" cy="1600200"/>
          </a:xfrm>
          <a:prstGeom prst="line">
            <a:avLst/>
          </a:prstGeom>
          <a:noFill/>
          <a:ln w="22225">
            <a:solidFill>
              <a:schemeClr val="tx1"/>
            </a:solidFill>
            <a:round/>
            <a:headEnd/>
            <a:tailEnd type="triangle" w="med" len="med"/>
          </a:ln>
          <a:effectLst/>
        </p:spPr>
        <p:txBody>
          <a:bodyPr anchor="ctr">
            <a:spAutoFit/>
          </a:bodyPr>
          <a:lstStyle/>
          <a:p>
            <a:endParaRPr lang="pt-BR"/>
          </a:p>
        </p:txBody>
      </p:sp>
      <p:sp>
        <p:nvSpPr>
          <p:cNvPr id="72734" name="AutoShape 30" descr="Grade fechada"/>
          <p:cNvSpPr>
            <a:spLocks noChangeArrowheads="1"/>
          </p:cNvSpPr>
          <p:nvPr/>
        </p:nvSpPr>
        <p:spPr bwMode="auto">
          <a:xfrm>
            <a:off x="1828800" y="4787900"/>
            <a:ext cx="1139825" cy="546100"/>
          </a:xfrm>
          <a:prstGeom prst="parallelogram">
            <a:avLst>
              <a:gd name="adj" fmla="val 52180"/>
            </a:avLst>
          </a:prstGeom>
          <a:pattFill prst="smGrid">
            <a:fgClr>
              <a:srgbClr val="FF99CC"/>
            </a:fgClr>
            <a:bgClr>
              <a:schemeClr val="bg1"/>
            </a:bgClr>
          </a:pattFill>
          <a:ln w="9525">
            <a:noFill/>
            <a:miter lim="800000"/>
            <a:headEnd/>
            <a:tailEnd/>
          </a:ln>
          <a:effectLst/>
        </p:spPr>
        <p:txBody>
          <a:bodyPr anchor="ctr">
            <a:spAutoFit/>
          </a:bodyPr>
          <a:lstStyle/>
          <a:p>
            <a:pPr algn="ctr" eaLnBrk="0" hangingPunct="0">
              <a:spcBef>
                <a:spcPct val="50000"/>
              </a:spcBef>
              <a:buFontTx/>
              <a:buChar char="•"/>
            </a:pPr>
            <a:endParaRPr lang="pt-BR" sz="1600" b="1">
              <a:latin typeface="Comic Sans MS" pitchFamily="66" charset="0"/>
            </a:endParaRPr>
          </a:p>
        </p:txBody>
      </p:sp>
      <p:sp>
        <p:nvSpPr>
          <p:cNvPr id="72735" name="AutoShape 31" descr="Grade fechada"/>
          <p:cNvSpPr>
            <a:spLocks noChangeArrowheads="1"/>
          </p:cNvSpPr>
          <p:nvPr/>
        </p:nvSpPr>
        <p:spPr bwMode="auto">
          <a:xfrm>
            <a:off x="4876800" y="4800600"/>
            <a:ext cx="1139825" cy="546100"/>
          </a:xfrm>
          <a:prstGeom prst="parallelogram">
            <a:avLst>
              <a:gd name="adj" fmla="val 52180"/>
            </a:avLst>
          </a:prstGeom>
          <a:pattFill prst="smGrid">
            <a:fgClr>
              <a:srgbClr val="FF99CC"/>
            </a:fgClr>
            <a:bgClr>
              <a:schemeClr val="bg1"/>
            </a:bgClr>
          </a:pattFill>
          <a:ln w="9525">
            <a:noFill/>
            <a:miter lim="800000"/>
            <a:headEnd/>
            <a:tailEnd/>
          </a:ln>
          <a:effectLst/>
        </p:spPr>
        <p:txBody>
          <a:bodyPr anchor="ctr">
            <a:spAutoFit/>
          </a:bodyPr>
          <a:lstStyle/>
          <a:p>
            <a:pPr algn="ctr" eaLnBrk="0" hangingPunct="0">
              <a:spcBef>
                <a:spcPct val="50000"/>
              </a:spcBef>
              <a:buFontTx/>
              <a:buChar char="•"/>
            </a:pPr>
            <a:endParaRPr lang="pt-BR" sz="1600" b="1">
              <a:latin typeface="Comic Sans MS" pitchFamily="66" charset="0"/>
            </a:endParaRPr>
          </a:p>
        </p:txBody>
      </p:sp>
      <p:sp>
        <p:nvSpPr>
          <p:cNvPr id="72736" name="Text Box 32"/>
          <p:cNvSpPr txBox="1">
            <a:spLocks noChangeArrowheads="1"/>
          </p:cNvSpPr>
          <p:nvPr/>
        </p:nvSpPr>
        <p:spPr bwMode="auto">
          <a:xfrm>
            <a:off x="4495800" y="5362575"/>
            <a:ext cx="1828800" cy="581025"/>
          </a:xfrm>
          <a:prstGeom prst="rect">
            <a:avLst/>
          </a:prstGeom>
          <a:noFill/>
          <a:ln w="9525">
            <a:noFill/>
            <a:miter lim="800000"/>
            <a:headEnd/>
            <a:tailEnd/>
          </a:ln>
          <a:effectLst/>
        </p:spPr>
        <p:txBody>
          <a:bodyPr>
            <a:spAutoFit/>
          </a:bodyPr>
          <a:lstStyle/>
          <a:p>
            <a:pPr marL="285750" eaLnBrk="0" hangingPunct="0">
              <a:spcBef>
                <a:spcPct val="50000"/>
              </a:spcBef>
            </a:pPr>
            <a:r>
              <a:rPr lang="en-US" sz="1600" b="1">
                <a:latin typeface="Comic Sans MS" pitchFamily="66" charset="0"/>
              </a:rPr>
              <a:t>Filtro da personalidade</a:t>
            </a:r>
            <a:endParaRPr lang="pt-BR" sz="1600" b="1">
              <a:latin typeface="Comic Sans MS" pitchFamily="66" charset="0"/>
            </a:endParaRPr>
          </a:p>
        </p:txBody>
      </p:sp>
      <p:sp>
        <p:nvSpPr>
          <p:cNvPr id="72737" name="Text Box 33"/>
          <p:cNvSpPr txBox="1">
            <a:spLocks noChangeArrowheads="1"/>
          </p:cNvSpPr>
          <p:nvPr/>
        </p:nvSpPr>
        <p:spPr bwMode="auto">
          <a:xfrm>
            <a:off x="1447800" y="5286375"/>
            <a:ext cx="1828800" cy="581025"/>
          </a:xfrm>
          <a:prstGeom prst="rect">
            <a:avLst/>
          </a:prstGeom>
          <a:noFill/>
          <a:ln w="9525">
            <a:noFill/>
            <a:miter lim="800000"/>
            <a:headEnd/>
            <a:tailEnd/>
          </a:ln>
          <a:effectLst/>
        </p:spPr>
        <p:txBody>
          <a:bodyPr>
            <a:spAutoFit/>
          </a:bodyPr>
          <a:lstStyle/>
          <a:p>
            <a:pPr marL="285750" eaLnBrk="0" hangingPunct="0">
              <a:spcBef>
                <a:spcPct val="50000"/>
              </a:spcBef>
            </a:pPr>
            <a:r>
              <a:rPr lang="en-US" sz="1600" b="1">
                <a:latin typeface="Comic Sans MS" pitchFamily="66" charset="0"/>
              </a:rPr>
              <a:t>Filtro da percepção</a:t>
            </a:r>
            <a:endParaRPr lang="pt-BR" sz="1600" b="1">
              <a:latin typeface="Comic Sans MS" pitchFamily="66" charset="0"/>
            </a:endParaRPr>
          </a:p>
        </p:txBody>
      </p:sp>
      <p:sp>
        <p:nvSpPr>
          <p:cNvPr id="72738" name="AutoShape 34"/>
          <p:cNvSpPr>
            <a:spLocks noChangeArrowheads="1"/>
          </p:cNvSpPr>
          <p:nvPr/>
        </p:nvSpPr>
        <p:spPr bwMode="auto">
          <a:xfrm>
            <a:off x="3962400" y="2971800"/>
            <a:ext cx="1098550" cy="407988"/>
          </a:xfrm>
          <a:prstGeom prst="flowChartPunchedTape">
            <a:avLst/>
          </a:prstGeom>
          <a:solidFill>
            <a:srgbClr val="00FFFF"/>
          </a:solidFill>
          <a:ln w="9525">
            <a:solidFill>
              <a:schemeClr val="tx1"/>
            </a:solidFill>
            <a:miter lim="800000"/>
            <a:headEnd/>
            <a:tailEnd/>
          </a:ln>
          <a:effectLst/>
        </p:spPr>
        <p:txBody>
          <a:bodyPr wrap="none" anchor="ctr">
            <a:spAutoFit/>
          </a:bodyPr>
          <a:lstStyle/>
          <a:p>
            <a:pPr algn="ctr" eaLnBrk="0" hangingPunct="0">
              <a:spcBef>
                <a:spcPct val="50000"/>
              </a:spcBef>
            </a:pPr>
            <a:r>
              <a:rPr lang="en-US" sz="1200" b="1">
                <a:latin typeface="Comic Sans MS" pitchFamily="66" charset="0"/>
              </a:rPr>
              <a:t>MENSAGEM</a:t>
            </a:r>
            <a:endParaRPr lang="pt-BR" sz="1200" b="1">
              <a:latin typeface="Comic Sans MS" pitchFamily="66" charset="0"/>
            </a:endParaRPr>
          </a:p>
        </p:txBody>
      </p:sp>
      <p:sp>
        <p:nvSpPr>
          <p:cNvPr id="72739" name="AutoShape 35"/>
          <p:cNvSpPr>
            <a:spLocks noChangeArrowheads="1"/>
          </p:cNvSpPr>
          <p:nvPr/>
        </p:nvSpPr>
        <p:spPr bwMode="auto">
          <a:xfrm>
            <a:off x="6019800" y="4800600"/>
            <a:ext cx="981075" cy="407988"/>
          </a:xfrm>
          <a:prstGeom prst="flowChartPunchedTape">
            <a:avLst/>
          </a:prstGeom>
          <a:solidFill>
            <a:srgbClr val="00FFFF"/>
          </a:solidFill>
          <a:ln w="9525">
            <a:solidFill>
              <a:schemeClr val="tx1"/>
            </a:solidFill>
            <a:miter lim="800000"/>
            <a:headEnd/>
            <a:tailEnd/>
          </a:ln>
          <a:effectLst/>
        </p:spPr>
        <p:txBody>
          <a:bodyPr wrap="none" anchor="ctr">
            <a:spAutoFit/>
          </a:bodyPr>
          <a:lstStyle/>
          <a:p>
            <a:pPr algn="ctr" eaLnBrk="0" hangingPunct="0">
              <a:spcBef>
                <a:spcPct val="50000"/>
              </a:spcBef>
            </a:pPr>
            <a:r>
              <a:rPr lang="en-US" sz="1200" b="1">
                <a:latin typeface="Comic Sans MS" pitchFamily="66" charset="0"/>
              </a:rPr>
              <a:t>FEEDBACK</a:t>
            </a:r>
            <a:endParaRPr lang="pt-BR" sz="1200" b="1">
              <a:latin typeface="Comic Sans MS" pitchFamily="66"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288925" y="219075"/>
            <a:ext cx="2962275" cy="396875"/>
          </a:xfrm>
          <a:prstGeom prst="rect">
            <a:avLst/>
          </a:prstGeom>
          <a:noFill/>
          <a:ln w="9525">
            <a:noFill/>
            <a:miter lim="800000"/>
            <a:headEnd/>
            <a:tailEnd/>
          </a:ln>
          <a:effectLst/>
        </p:spPr>
        <p:txBody>
          <a:bodyPr wrap="none">
            <a:spAutoFit/>
          </a:bodyPr>
          <a:lstStyle/>
          <a:p>
            <a:pPr eaLnBrk="0" hangingPunct="0">
              <a:spcBef>
                <a:spcPct val="50000"/>
              </a:spcBef>
            </a:pPr>
            <a:r>
              <a:rPr lang="en-US" sz="2000" b="1">
                <a:solidFill>
                  <a:schemeClr val="accent2"/>
                </a:solidFill>
                <a:latin typeface="Comic Sans MS" pitchFamily="66" charset="0"/>
              </a:rPr>
              <a:t>Canais</a:t>
            </a:r>
            <a:r>
              <a:rPr lang="pt-BR" sz="2000" b="1">
                <a:solidFill>
                  <a:schemeClr val="accent2"/>
                </a:solidFill>
                <a:latin typeface="Comic Sans MS" pitchFamily="66" charset="0"/>
              </a:rPr>
              <a:t> de Comunicação</a:t>
            </a:r>
          </a:p>
        </p:txBody>
      </p:sp>
      <p:sp>
        <p:nvSpPr>
          <p:cNvPr id="73731" name="Line 3"/>
          <p:cNvSpPr>
            <a:spLocks noChangeShapeType="1"/>
          </p:cNvSpPr>
          <p:nvPr/>
        </p:nvSpPr>
        <p:spPr bwMode="auto">
          <a:xfrm>
            <a:off x="381000" y="609600"/>
            <a:ext cx="7315200" cy="0"/>
          </a:xfrm>
          <a:prstGeom prst="line">
            <a:avLst/>
          </a:prstGeom>
          <a:noFill/>
          <a:ln w="28575">
            <a:solidFill>
              <a:srgbClr val="333399"/>
            </a:solidFill>
            <a:round/>
            <a:headEnd/>
            <a:tailEnd/>
          </a:ln>
          <a:effectLst/>
        </p:spPr>
        <p:txBody>
          <a:bodyPr wrap="none" anchor="ctr"/>
          <a:lstStyle/>
          <a:p>
            <a:endParaRPr lang="pt-BR"/>
          </a:p>
        </p:txBody>
      </p:sp>
      <p:grpSp>
        <p:nvGrpSpPr>
          <p:cNvPr id="2" name="Group 4"/>
          <p:cNvGrpSpPr>
            <a:grpSpLocks/>
          </p:cNvGrpSpPr>
          <p:nvPr/>
        </p:nvGrpSpPr>
        <p:grpSpPr bwMode="auto">
          <a:xfrm>
            <a:off x="100013" y="6640513"/>
            <a:ext cx="152400" cy="141287"/>
            <a:chOff x="1440" y="2781"/>
            <a:chExt cx="808" cy="802"/>
          </a:xfrm>
        </p:grpSpPr>
        <p:sp>
          <p:nvSpPr>
            <p:cNvPr id="73733" name="Freeform 5"/>
            <p:cNvSpPr>
              <a:spLocks/>
            </p:cNvSpPr>
            <p:nvPr/>
          </p:nvSpPr>
          <p:spPr bwMode="auto">
            <a:xfrm>
              <a:off x="1440" y="2781"/>
              <a:ext cx="407" cy="802"/>
            </a:xfrm>
            <a:custGeom>
              <a:avLst/>
              <a:gdLst/>
              <a:ahLst/>
              <a:cxnLst>
                <a:cxn ang="0">
                  <a:pos x="2009" y="3790"/>
                </a:cxn>
                <a:cxn ang="0">
                  <a:pos x="1755" y="3768"/>
                </a:cxn>
                <a:cxn ang="0">
                  <a:pos x="1505" y="3708"/>
                </a:cxn>
                <a:cxn ang="0">
                  <a:pos x="1267" y="3619"/>
                </a:cxn>
                <a:cxn ang="0">
                  <a:pos x="1041" y="3498"/>
                </a:cxn>
                <a:cxn ang="0">
                  <a:pos x="839" y="3340"/>
                </a:cxn>
                <a:cxn ang="0">
                  <a:pos x="657" y="3159"/>
                </a:cxn>
                <a:cxn ang="0">
                  <a:pos x="507" y="2954"/>
                </a:cxn>
                <a:cxn ang="0">
                  <a:pos x="388" y="2731"/>
                </a:cxn>
                <a:cxn ang="0">
                  <a:pos x="300" y="2495"/>
                </a:cxn>
                <a:cxn ang="0">
                  <a:pos x="246" y="2245"/>
                </a:cxn>
                <a:cxn ang="0">
                  <a:pos x="229" y="1991"/>
                </a:cxn>
                <a:cxn ang="0">
                  <a:pos x="249" y="1741"/>
                </a:cxn>
                <a:cxn ang="0">
                  <a:pos x="305" y="1493"/>
                </a:cxn>
                <a:cxn ang="0">
                  <a:pos x="397" y="1254"/>
                </a:cxn>
                <a:cxn ang="0">
                  <a:pos x="519" y="1030"/>
                </a:cxn>
                <a:cxn ang="0">
                  <a:pos x="674" y="831"/>
                </a:cxn>
                <a:cxn ang="0">
                  <a:pos x="862" y="649"/>
                </a:cxn>
                <a:cxn ang="0">
                  <a:pos x="1063" y="498"/>
                </a:cxn>
                <a:cxn ang="0">
                  <a:pos x="1289" y="377"/>
                </a:cxn>
                <a:cxn ang="0">
                  <a:pos x="1525" y="292"/>
                </a:cxn>
                <a:cxn ang="0">
                  <a:pos x="1777" y="235"/>
                </a:cxn>
                <a:cxn ang="0">
                  <a:pos x="2034" y="218"/>
                </a:cxn>
                <a:cxn ang="0">
                  <a:pos x="1898" y="3"/>
                </a:cxn>
                <a:cxn ang="0">
                  <a:pos x="1630" y="37"/>
                </a:cxn>
                <a:cxn ang="0">
                  <a:pos x="1367" y="105"/>
                </a:cxn>
                <a:cxn ang="0">
                  <a:pos x="1117" y="210"/>
                </a:cxn>
                <a:cxn ang="0">
                  <a:pos x="884" y="350"/>
                </a:cxn>
                <a:cxn ang="0">
                  <a:pos x="666" y="514"/>
                </a:cxn>
                <a:cxn ang="0">
                  <a:pos x="479" y="707"/>
                </a:cxn>
                <a:cxn ang="0">
                  <a:pos x="316" y="922"/>
                </a:cxn>
                <a:cxn ang="0">
                  <a:pos x="187" y="1155"/>
                </a:cxn>
                <a:cxn ang="0">
                  <a:pos x="88" y="1411"/>
                </a:cxn>
                <a:cxn ang="0">
                  <a:pos x="25" y="1671"/>
                </a:cxn>
                <a:cxn ang="0">
                  <a:pos x="0" y="1941"/>
                </a:cxn>
                <a:cxn ang="0">
                  <a:pos x="8" y="2208"/>
                </a:cxn>
                <a:cxn ang="0">
                  <a:pos x="54" y="2475"/>
                </a:cxn>
                <a:cxn ang="0">
                  <a:pos x="135" y="2728"/>
                </a:cxn>
                <a:cxn ang="0">
                  <a:pos x="252" y="2974"/>
                </a:cxn>
                <a:cxn ang="0">
                  <a:pos x="397" y="3203"/>
                </a:cxn>
                <a:cxn ang="0">
                  <a:pos x="575" y="3404"/>
                </a:cxn>
                <a:cxn ang="0">
                  <a:pos x="776" y="3582"/>
                </a:cxn>
                <a:cxn ang="0">
                  <a:pos x="1000" y="3733"/>
                </a:cxn>
                <a:cxn ang="0">
                  <a:pos x="1244" y="3858"/>
                </a:cxn>
                <a:cxn ang="0">
                  <a:pos x="1503" y="3943"/>
                </a:cxn>
                <a:cxn ang="0">
                  <a:pos x="1769" y="3993"/>
                </a:cxn>
                <a:cxn ang="0">
                  <a:pos x="2034" y="4010"/>
                </a:cxn>
              </a:cxnLst>
              <a:rect l="0" t="0" r="r" b="b"/>
              <a:pathLst>
                <a:path w="2034" h="4010">
                  <a:moveTo>
                    <a:pt x="2034" y="3790"/>
                  </a:moveTo>
                  <a:lnTo>
                    <a:pt x="2009" y="3790"/>
                  </a:lnTo>
                  <a:lnTo>
                    <a:pt x="1881" y="3781"/>
                  </a:lnTo>
                  <a:lnTo>
                    <a:pt x="1755" y="3768"/>
                  </a:lnTo>
                  <a:lnTo>
                    <a:pt x="1627" y="3744"/>
                  </a:lnTo>
                  <a:lnTo>
                    <a:pt x="1505" y="3708"/>
                  </a:lnTo>
                  <a:lnTo>
                    <a:pt x="1381" y="3670"/>
                  </a:lnTo>
                  <a:lnTo>
                    <a:pt x="1267" y="3619"/>
                  </a:lnTo>
                  <a:lnTo>
                    <a:pt x="1151" y="3560"/>
                  </a:lnTo>
                  <a:lnTo>
                    <a:pt x="1041" y="3498"/>
                  </a:lnTo>
                  <a:lnTo>
                    <a:pt x="936" y="3424"/>
                  </a:lnTo>
                  <a:lnTo>
                    <a:pt x="839" y="3340"/>
                  </a:lnTo>
                  <a:lnTo>
                    <a:pt x="746" y="3252"/>
                  </a:lnTo>
                  <a:lnTo>
                    <a:pt x="657" y="3159"/>
                  </a:lnTo>
                  <a:lnTo>
                    <a:pt x="578" y="3061"/>
                  </a:lnTo>
                  <a:lnTo>
                    <a:pt x="507" y="2954"/>
                  </a:lnTo>
                  <a:lnTo>
                    <a:pt x="444" y="2844"/>
                  </a:lnTo>
                  <a:lnTo>
                    <a:pt x="388" y="2731"/>
                  </a:lnTo>
                  <a:lnTo>
                    <a:pt x="336" y="2614"/>
                  </a:lnTo>
                  <a:lnTo>
                    <a:pt x="300" y="2495"/>
                  </a:lnTo>
                  <a:lnTo>
                    <a:pt x="266" y="2370"/>
                  </a:lnTo>
                  <a:lnTo>
                    <a:pt x="246" y="2245"/>
                  </a:lnTo>
                  <a:lnTo>
                    <a:pt x="235" y="2118"/>
                  </a:lnTo>
                  <a:lnTo>
                    <a:pt x="229" y="1991"/>
                  </a:lnTo>
                  <a:lnTo>
                    <a:pt x="235" y="1865"/>
                  </a:lnTo>
                  <a:lnTo>
                    <a:pt x="249" y="1741"/>
                  </a:lnTo>
                  <a:lnTo>
                    <a:pt x="274" y="1614"/>
                  </a:lnTo>
                  <a:lnTo>
                    <a:pt x="305" y="1493"/>
                  </a:lnTo>
                  <a:lnTo>
                    <a:pt x="348" y="1372"/>
                  </a:lnTo>
                  <a:lnTo>
                    <a:pt x="397" y="1254"/>
                  </a:lnTo>
                  <a:lnTo>
                    <a:pt x="455" y="1138"/>
                  </a:lnTo>
                  <a:lnTo>
                    <a:pt x="519" y="1030"/>
                  </a:lnTo>
                  <a:lnTo>
                    <a:pt x="595" y="927"/>
                  </a:lnTo>
                  <a:lnTo>
                    <a:pt x="674" y="831"/>
                  </a:lnTo>
                  <a:lnTo>
                    <a:pt x="763" y="735"/>
                  </a:lnTo>
                  <a:lnTo>
                    <a:pt x="862" y="649"/>
                  </a:lnTo>
                  <a:lnTo>
                    <a:pt x="958" y="571"/>
                  </a:lnTo>
                  <a:lnTo>
                    <a:pt x="1063" y="498"/>
                  </a:lnTo>
                  <a:lnTo>
                    <a:pt x="1173" y="436"/>
                  </a:lnTo>
                  <a:lnTo>
                    <a:pt x="1289" y="377"/>
                  </a:lnTo>
                  <a:lnTo>
                    <a:pt x="1407" y="329"/>
                  </a:lnTo>
                  <a:lnTo>
                    <a:pt x="1525" y="292"/>
                  </a:lnTo>
                  <a:lnTo>
                    <a:pt x="1652" y="257"/>
                  </a:lnTo>
                  <a:lnTo>
                    <a:pt x="1777" y="235"/>
                  </a:lnTo>
                  <a:lnTo>
                    <a:pt x="1905" y="224"/>
                  </a:lnTo>
                  <a:lnTo>
                    <a:pt x="2034" y="218"/>
                  </a:lnTo>
                  <a:lnTo>
                    <a:pt x="2034" y="0"/>
                  </a:lnTo>
                  <a:lnTo>
                    <a:pt x="1898" y="3"/>
                  </a:lnTo>
                  <a:lnTo>
                    <a:pt x="1764" y="15"/>
                  </a:lnTo>
                  <a:lnTo>
                    <a:pt x="1630" y="37"/>
                  </a:lnTo>
                  <a:lnTo>
                    <a:pt x="1497" y="65"/>
                  </a:lnTo>
                  <a:lnTo>
                    <a:pt x="1367" y="105"/>
                  </a:lnTo>
                  <a:lnTo>
                    <a:pt x="1238" y="153"/>
                  </a:lnTo>
                  <a:lnTo>
                    <a:pt x="1117" y="210"/>
                  </a:lnTo>
                  <a:lnTo>
                    <a:pt x="995" y="277"/>
                  </a:lnTo>
                  <a:lnTo>
                    <a:pt x="884" y="350"/>
                  </a:lnTo>
                  <a:lnTo>
                    <a:pt x="774" y="428"/>
                  </a:lnTo>
                  <a:lnTo>
                    <a:pt x="666" y="514"/>
                  </a:lnTo>
                  <a:lnTo>
                    <a:pt x="569" y="605"/>
                  </a:lnTo>
                  <a:lnTo>
                    <a:pt x="479" y="707"/>
                  </a:lnTo>
                  <a:lnTo>
                    <a:pt x="397" y="811"/>
                  </a:lnTo>
                  <a:lnTo>
                    <a:pt x="316" y="922"/>
                  </a:lnTo>
                  <a:lnTo>
                    <a:pt x="249" y="1037"/>
                  </a:lnTo>
                  <a:lnTo>
                    <a:pt x="187" y="1155"/>
                  </a:lnTo>
                  <a:lnTo>
                    <a:pt x="134" y="1279"/>
                  </a:lnTo>
                  <a:lnTo>
                    <a:pt x="88" y="1411"/>
                  </a:lnTo>
                  <a:lnTo>
                    <a:pt x="54" y="1538"/>
                  </a:lnTo>
                  <a:lnTo>
                    <a:pt x="25" y="1671"/>
                  </a:lnTo>
                  <a:lnTo>
                    <a:pt x="8" y="1806"/>
                  </a:lnTo>
                  <a:lnTo>
                    <a:pt x="0" y="1941"/>
                  </a:lnTo>
                  <a:lnTo>
                    <a:pt x="0" y="2072"/>
                  </a:lnTo>
                  <a:lnTo>
                    <a:pt x="8" y="2208"/>
                  </a:lnTo>
                  <a:lnTo>
                    <a:pt x="25" y="2341"/>
                  </a:lnTo>
                  <a:lnTo>
                    <a:pt x="54" y="2475"/>
                  </a:lnTo>
                  <a:lnTo>
                    <a:pt x="91" y="2600"/>
                  </a:lnTo>
                  <a:lnTo>
                    <a:pt x="135" y="2728"/>
                  </a:lnTo>
                  <a:lnTo>
                    <a:pt x="189" y="2852"/>
                  </a:lnTo>
                  <a:lnTo>
                    <a:pt x="252" y="2974"/>
                  </a:lnTo>
                  <a:lnTo>
                    <a:pt x="320" y="3087"/>
                  </a:lnTo>
                  <a:lnTo>
                    <a:pt x="397" y="3203"/>
                  </a:lnTo>
                  <a:lnTo>
                    <a:pt x="482" y="3304"/>
                  </a:lnTo>
                  <a:lnTo>
                    <a:pt x="575" y="3404"/>
                  </a:lnTo>
                  <a:lnTo>
                    <a:pt x="671" y="3500"/>
                  </a:lnTo>
                  <a:lnTo>
                    <a:pt x="776" y="3582"/>
                  </a:lnTo>
                  <a:lnTo>
                    <a:pt x="886" y="3661"/>
                  </a:lnTo>
                  <a:lnTo>
                    <a:pt x="1000" y="3733"/>
                  </a:lnTo>
                  <a:lnTo>
                    <a:pt x="1119" y="3798"/>
                  </a:lnTo>
                  <a:lnTo>
                    <a:pt x="1244" y="3858"/>
                  </a:lnTo>
                  <a:lnTo>
                    <a:pt x="1370" y="3904"/>
                  </a:lnTo>
                  <a:lnTo>
                    <a:pt x="1503" y="3943"/>
                  </a:lnTo>
                  <a:lnTo>
                    <a:pt x="1635" y="3971"/>
                  </a:lnTo>
                  <a:lnTo>
                    <a:pt x="1769" y="3993"/>
                  </a:lnTo>
                  <a:lnTo>
                    <a:pt x="1902" y="4004"/>
                  </a:lnTo>
                  <a:lnTo>
                    <a:pt x="2034" y="4010"/>
                  </a:lnTo>
                  <a:lnTo>
                    <a:pt x="2034" y="3790"/>
                  </a:lnTo>
                  <a:close/>
                </a:path>
              </a:pathLst>
            </a:custGeom>
            <a:solidFill>
              <a:srgbClr val="333399"/>
            </a:solidFill>
            <a:ln w="0">
              <a:solidFill>
                <a:srgbClr val="000000"/>
              </a:solidFill>
              <a:prstDash val="solid"/>
              <a:round/>
              <a:headEnd/>
              <a:tailEnd/>
            </a:ln>
          </p:spPr>
          <p:txBody>
            <a:bodyPr/>
            <a:lstStyle/>
            <a:p>
              <a:endParaRPr lang="pt-BR"/>
            </a:p>
          </p:txBody>
        </p:sp>
        <p:sp>
          <p:nvSpPr>
            <p:cNvPr id="73734" name="Freeform 6"/>
            <p:cNvSpPr>
              <a:spLocks/>
            </p:cNvSpPr>
            <p:nvPr/>
          </p:nvSpPr>
          <p:spPr bwMode="auto">
            <a:xfrm>
              <a:off x="1841" y="2781"/>
              <a:ext cx="407" cy="802"/>
            </a:xfrm>
            <a:custGeom>
              <a:avLst/>
              <a:gdLst/>
              <a:ahLst/>
              <a:cxnLst>
                <a:cxn ang="0">
                  <a:pos x="27" y="3790"/>
                </a:cxn>
                <a:cxn ang="0">
                  <a:pos x="282" y="3768"/>
                </a:cxn>
                <a:cxn ang="0">
                  <a:pos x="531" y="3708"/>
                </a:cxn>
                <a:cxn ang="0">
                  <a:pos x="769" y="3619"/>
                </a:cxn>
                <a:cxn ang="0">
                  <a:pos x="995" y="3498"/>
                </a:cxn>
                <a:cxn ang="0">
                  <a:pos x="1197" y="3340"/>
                </a:cxn>
                <a:cxn ang="0">
                  <a:pos x="1380" y="3159"/>
                </a:cxn>
                <a:cxn ang="0">
                  <a:pos x="1529" y="2954"/>
                </a:cxn>
                <a:cxn ang="0">
                  <a:pos x="1648" y="2731"/>
                </a:cxn>
                <a:cxn ang="0">
                  <a:pos x="1736" y="2495"/>
                </a:cxn>
                <a:cxn ang="0">
                  <a:pos x="1787" y="2245"/>
                </a:cxn>
                <a:cxn ang="0">
                  <a:pos x="1807" y="1991"/>
                </a:cxn>
                <a:cxn ang="0">
                  <a:pos x="1785" y="1741"/>
                </a:cxn>
                <a:cxn ang="0">
                  <a:pos x="1731" y="1493"/>
                </a:cxn>
                <a:cxn ang="0">
                  <a:pos x="1637" y="1254"/>
                </a:cxn>
                <a:cxn ang="0">
                  <a:pos x="1515" y="1030"/>
                </a:cxn>
                <a:cxn ang="0">
                  <a:pos x="1359" y="831"/>
                </a:cxn>
                <a:cxn ang="0">
                  <a:pos x="1175" y="649"/>
                </a:cxn>
                <a:cxn ang="0">
                  <a:pos x="973" y="498"/>
                </a:cxn>
                <a:cxn ang="0">
                  <a:pos x="744" y="377"/>
                </a:cxn>
                <a:cxn ang="0">
                  <a:pos x="507" y="292"/>
                </a:cxn>
                <a:cxn ang="0">
                  <a:pos x="256" y="235"/>
                </a:cxn>
                <a:cxn ang="0">
                  <a:pos x="0" y="218"/>
                </a:cxn>
                <a:cxn ang="0">
                  <a:pos x="137" y="3"/>
                </a:cxn>
                <a:cxn ang="0">
                  <a:pos x="406" y="37"/>
                </a:cxn>
                <a:cxn ang="0">
                  <a:pos x="670" y="105"/>
                </a:cxn>
                <a:cxn ang="0">
                  <a:pos x="919" y="210"/>
                </a:cxn>
                <a:cxn ang="0">
                  <a:pos x="1152" y="350"/>
                </a:cxn>
                <a:cxn ang="0">
                  <a:pos x="1366" y="514"/>
                </a:cxn>
                <a:cxn ang="0">
                  <a:pos x="1557" y="707"/>
                </a:cxn>
                <a:cxn ang="0">
                  <a:pos x="1716" y="922"/>
                </a:cxn>
                <a:cxn ang="0">
                  <a:pos x="1849" y="1155"/>
                </a:cxn>
                <a:cxn ang="0">
                  <a:pos x="1948" y="1411"/>
                </a:cxn>
                <a:cxn ang="0">
                  <a:pos x="2011" y="1671"/>
                </a:cxn>
                <a:cxn ang="0">
                  <a:pos x="2036" y="1941"/>
                </a:cxn>
                <a:cxn ang="0">
                  <a:pos x="2024" y="2208"/>
                </a:cxn>
                <a:cxn ang="0">
                  <a:pos x="1982" y="2475"/>
                </a:cxn>
                <a:cxn ang="0">
                  <a:pos x="1901" y="2728"/>
                </a:cxn>
                <a:cxn ang="0">
                  <a:pos x="1785" y="2974"/>
                </a:cxn>
                <a:cxn ang="0">
                  <a:pos x="1637" y="3203"/>
                </a:cxn>
                <a:cxn ang="0">
                  <a:pos x="1461" y="3404"/>
                </a:cxn>
                <a:cxn ang="0">
                  <a:pos x="1260" y="3582"/>
                </a:cxn>
                <a:cxn ang="0">
                  <a:pos x="1035" y="3733"/>
                </a:cxn>
                <a:cxn ang="0">
                  <a:pos x="792" y="3858"/>
                </a:cxn>
                <a:cxn ang="0">
                  <a:pos x="534" y="3943"/>
                </a:cxn>
                <a:cxn ang="0">
                  <a:pos x="264" y="3993"/>
                </a:cxn>
                <a:cxn ang="0">
                  <a:pos x="0" y="4010"/>
                </a:cxn>
              </a:cxnLst>
              <a:rect l="0" t="0" r="r" b="b"/>
              <a:pathLst>
                <a:path w="2036" h="4010">
                  <a:moveTo>
                    <a:pt x="0" y="3790"/>
                  </a:moveTo>
                  <a:lnTo>
                    <a:pt x="27" y="3790"/>
                  </a:lnTo>
                  <a:lnTo>
                    <a:pt x="155" y="3781"/>
                  </a:lnTo>
                  <a:lnTo>
                    <a:pt x="282" y="3768"/>
                  </a:lnTo>
                  <a:lnTo>
                    <a:pt x="406" y="3744"/>
                  </a:lnTo>
                  <a:lnTo>
                    <a:pt x="531" y="3708"/>
                  </a:lnTo>
                  <a:lnTo>
                    <a:pt x="652" y="3670"/>
                  </a:lnTo>
                  <a:lnTo>
                    <a:pt x="769" y="3619"/>
                  </a:lnTo>
                  <a:lnTo>
                    <a:pt x="885" y="3560"/>
                  </a:lnTo>
                  <a:lnTo>
                    <a:pt x="995" y="3498"/>
                  </a:lnTo>
                  <a:lnTo>
                    <a:pt x="1101" y="3424"/>
                  </a:lnTo>
                  <a:lnTo>
                    <a:pt x="1197" y="3340"/>
                  </a:lnTo>
                  <a:lnTo>
                    <a:pt x="1290" y="3252"/>
                  </a:lnTo>
                  <a:lnTo>
                    <a:pt x="1380" y="3159"/>
                  </a:lnTo>
                  <a:lnTo>
                    <a:pt x="1455" y="3061"/>
                  </a:lnTo>
                  <a:lnTo>
                    <a:pt x="1529" y="2954"/>
                  </a:lnTo>
                  <a:lnTo>
                    <a:pt x="1594" y="2844"/>
                  </a:lnTo>
                  <a:lnTo>
                    <a:pt x="1648" y="2731"/>
                  </a:lnTo>
                  <a:lnTo>
                    <a:pt x="1695" y="2614"/>
                  </a:lnTo>
                  <a:lnTo>
                    <a:pt x="1736" y="2495"/>
                  </a:lnTo>
                  <a:lnTo>
                    <a:pt x="1768" y="2370"/>
                  </a:lnTo>
                  <a:lnTo>
                    <a:pt x="1787" y="2245"/>
                  </a:lnTo>
                  <a:lnTo>
                    <a:pt x="1802" y="2118"/>
                  </a:lnTo>
                  <a:lnTo>
                    <a:pt x="1807" y="1991"/>
                  </a:lnTo>
                  <a:lnTo>
                    <a:pt x="1802" y="1865"/>
                  </a:lnTo>
                  <a:lnTo>
                    <a:pt x="1785" y="1741"/>
                  </a:lnTo>
                  <a:lnTo>
                    <a:pt x="1759" y="1614"/>
                  </a:lnTo>
                  <a:lnTo>
                    <a:pt x="1731" y="1493"/>
                  </a:lnTo>
                  <a:lnTo>
                    <a:pt x="1685" y="1372"/>
                  </a:lnTo>
                  <a:lnTo>
                    <a:pt x="1637" y="1254"/>
                  </a:lnTo>
                  <a:lnTo>
                    <a:pt x="1582" y="1138"/>
                  </a:lnTo>
                  <a:lnTo>
                    <a:pt x="1515" y="1030"/>
                  </a:lnTo>
                  <a:lnTo>
                    <a:pt x="1441" y="927"/>
                  </a:lnTo>
                  <a:lnTo>
                    <a:pt x="1359" y="831"/>
                  </a:lnTo>
                  <a:lnTo>
                    <a:pt x="1271" y="735"/>
                  </a:lnTo>
                  <a:lnTo>
                    <a:pt x="1175" y="649"/>
                  </a:lnTo>
                  <a:lnTo>
                    <a:pt x="1078" y="571"/>
                  </a:lnTo>
                  <a:lnTo>
                    <a:pt x="973" y="498"/>
                  </a:lnTo>
                  <a:lnTo>
                    <a:pt x="860" y="436"/>
                  </a:lnTo>
                  <a:lnTo>
                    <a:pt x="744" y="377"/>
                  </a:lnTo>
                  <a:lnTo>
                    <a:pt x="630" y="329"/>
                  </a:lnTo>
                  <a:lnTo>
                    <a:pt x="507" y="292"/>
                  </a:lnTo>
                  <a:lnTo>
                    <a:pt x="382" y="257"/>
                  </a:lnTo>
                  <a:lnTo>
                    <a:pt x="256" y="235"/>
                  </a:lnTo>
                  <a:lnTo>
                    <a:pt x="131" y="224"/>
                  </a:lnTo>
                  <a:lnTo>
                    <a:pt x="0" y="218"/>
                  </a:lnTo>
                  <a:lnTo>
                    <a:pt x="0" y="0"/>
                  </a:lnTo>
                  <a:lnTo>
                    <a:pt x="137" y="3"/>
                  </a:lnTo>
                  <a:lnTo>
                    <a:pt x="270" y="15"/>
                  </a:lnTo>
                  <a:lnTo>
                    <a:pt x="406" y="37"/>
                  </a:lnTo>
                  <a:lnTo>
                    <a:pt x="536" y="65"/>
                  </a:lnTo>
                  <a:lnTo>
                    <a:pt x="670" y="105"/>
                  </a:lnTo>
                  <a:lnTo>
                    <a:pt x="795" y="153"/>
                  </a:lnTo>
                  <a:lnTo>
                    <a:pt x="919" y="210"/>
                  </a:lnTo>
                  <a:lnTo>
                    <a:pt x="1041" y="277"/>
                  </a:lnTo>
                  <a:lnTo>
                    <a:pt x="1152" y="350"/>
                  </a:lnTo>
                  <a:lnTo>
                    <a:pt x="1263" y="428"/>
                  </a:lnTo>
                  <a:lnTo>
                    <a:pt x="1366" y="514"/>
                  </a:lnTo>
                  <a:lnTo>
                    <a:pt x="1467" y="605"/>
                  </a:lnTo>
                  <a:lnTo>
                    <a:pt x="1557" y="707"/>
                  </a:lnTo>
                  <a:lnTo>
                    <a:pt x="1640" y="811"/>
                  </a:lnTo>
                  <a:lnTo>
                    <a:pt x="1716" y="922"/>
                  </a:lnTo>
                  <a:lnTo>
                    <a:pt x="1785" y="1037"/>
                  </a:lnTo>
                  <a:lnTo>
                    <a:pt x="1849" y="1155"/>
                  </a:lnTo>
                  <a:lnTo>
                    <a:pt x="1901" y="1279"/>
                  </a:lnTo>
                  <a:lnTo>
                    <a:pt x="1948" y="1411"/>
                  </a:lnTo>
                  <a:lnTo>
                    <a:pt x="1982" y="1538"/>
                  </a:lnTo>
                  <a:lnTo>
                    <a:pt x="2011" y="1671"/>
                  </a:lnTo>
                  <a:lnTo>
                    <a:pt x="2024" y="1806"/>
                  </a:lnTo>
                  <a:lnTo>
                    <a:pt x="2036" y="1941"/>
                  </a:lnTo>
                  <a:lnTo>
                    <a:pt x="2036" y="2072"/>
                  </a:lnTo>
                  <a:lnTo>
                    <a:pt x="2024" y="2208"/>
                  </a:lnTo>
                  <a:lnTo>
                    <a:pt x="2011" y="2341"/>
                  </a:lnTo>
                  <a:lnTo>
                    <a:pt x="1982" y="2475"/>
                  </a:lnTo>
                  <a:lnTo>
                    <a:pt x="1943" y="2600"/>
                  </a:lnTo>
                  <a:lnTo>
                    <a:pt x="1901" y="2728"/>
                  </a:lnTo>
                  <a:lnTo>
                    <a:pt x="1847" y="2852"/>
                  </a:lnTo>
                  <a:lnTo>
                    <a:pt x="1785" y="2974"/>
                  </a:lnTo>
                  <a:lnTo>
                    <a:pt x="1716" y="3087"/>
                  </a:lnTo>
                  <a:lnTo>
                    <a:pt x="1637" y="3203"/>
                  </a:lnTo>
                  <a:lnTo>
                    <a:pt x="1552" y="3304"/>
                  </a:lnTo>
                  <a:lnTo>
                    <a:pt x="1461" y="3404"/>
                  </a:lnTo>
                  <a:lnTo>
                    <a:pt x="1362" y="3500"/>
                  </a:lnTo>
                  <a:lnTo>
                    <a:pt x="1260" y="3582"/>
                  </a:lnTo>
                  <a:lnTo>
                    <a:pt x="1152" y="3661"/>
                  </a:lnTo>
                  <a:lnTo>
                    <a:pt x="1035" y="3733"/>
                  </a:lnTo>
                  <a:lnTo>
                    <a:pt x="914" y="3798"/>
                  </a:lnTo>
                  <a:lnTo>
                    <a:pt x="792" y="3858"/>
                  </a:lnTo>
                  <a:lnTo>
                    <a:pt x="663" y="3904"/>
                  </a:lnTo>
                  <a:lnTo>
                    <a:pt x="534" y="3943"/>
                  </a:lnTo>
                  <a:lnTo>
                    <a:pt x="401" y="3971"/>
                  </a:lnTo>
                  <a:lnTo>
                    <a:pt x="264" y="3993"/>
                  </a:lnTo>
                  <a:lnTo>
                    <a:pt x="131" y="4004"/>
                  </a:lnTo>
                  <a:lnTo>
                    <a:pt x="0" y="4010"/>
                  </a:lnTo>
                  <a:lnTo>
                    <a:pt x="0" y="3790"/>
                  </a:lnTo>
                  <a:close/>
                </a:path>
              </a:pathLst>
            </a:custGeom>
            <a:solidFill>
              <a:srgbClr val="333399"/>
            </a:solidFill>
            <a:ln w="0">
              <a:solidFill>
                <a:srgbClr val="333399"/>
              </a:solidFill>
              <a:prstDash val="solid"/>
              <a:round/>
              <a:headEnd/>
              <a:tailEnd/>
            </a:ln>
          </p:spPr>
          <p:txBody>
            <a:bodyPr/>
            <a:lstStyle/>
            <a:p>
              <a:endParaRPr lang="pt-BR"/>
            </a:p>
          </p:txBody>
        </p:sp>
        <p:sp>
          <p:nvSpPr>
            <p:cNvPr id="73735" name="Freeform 7"/>
            <p:cNvSpPr>
              <a:spLocks/>
            </p:cNvSpPr>
            <p:nvPr/>
          </p:nvSpPr>
          <p:spPr bwMode="auto">
            <a:xfrm>
              <a:off x="1618" y="2959"/>
              <a:ext cx="395" cy="445"/>
            </a:xfrm>
            <a:custGeom>
              <a:avLst/>
              <a:gdLst/>
              <a:ahLst/>
              <a:cxnLst>
                <a:cxn ang="0">
                  <a:pos x="1770" y="1758"/>
                </a:cxn>
                <a:cxn ang="0">
                  <a:pos x="1626" y="1875"/>
                </a:cxn>
                <a:cxn ang="0">
                  <a:pos x="1464" y="1956"/>
                </a:cxn>
                <a:cxn ang="0">
                  <a:pos x="1291" y="2007"/>
                </a:cxn>
                <a:cxn ang="0">
                  <a:pos x="1106" y="2021"/>
                </a:cxn>
                <a:cxn ang="0">
                  <a:pos x="923" y="1999"/>
                </a:cxn>
                <a:cxn ang="0">
                  <a:pos x="748" y="1944"/>
                </a:cxn>
                <a:cxn ang="0">
                  <a:pos x="591" y="1853"/>
                </a:cxn>
                <a:cxn ang="0">
                  <a:pos x="456" y="1735"/>
                </a:cxn>
                <a:cxn ang="0">
                  <a:pos x="343" y="1592"/>
                </a:cxn>
                <a:cxn ang="0">
                  <a:pos x="264" y="1429"/>
                </a:cxn>
                <a:cxn ang="0">
                  <a:pos x="220" y="1253"/>
                </a:cxn>
                <a:cxn ang="0">
                  <a:pos x="208" y="1072"/>
                </a:cxn>
                <a:cxn ang="0">
                  <a:pos x="233" y="895"/>
                </a:cxn>
                <a:cxn ang="0">
                  <a:pos x="296" y="722"/>
                </a:cxn>
                <a:cxn ang="0">
                  <a:pos x="389" y="570"/>
                </a:cxn>
                <a:cxn ang="0">
                  <a:pos x="515" y="434"/>
                </a:cxn>
                <a:cxn ang="0">
                  <a:pos x="662" y="329"/>
                </a:cxn>
                <a:cxn ang="0">
                  <a:pos x="829" y="253"/>
                </a:cxn>
                <a:cxn ang="0">
                  <a:pos x="1006" y="213"/>
                </a:cxn>
                <a:cxn ang="0">
                  <a:pos x="1189" y="211"/>
                </a:cxn>
                <a:cxn ang="0">
                  <a:pos x="1368" y="239"/>
                </a:cxn>
                <a:cxn ang="0">
                  <a:pos x="1539" y="304"/>
                </a:cxn>
                <a:cxn ang="0">
                  <a:pos x="1693" y="403"/>
                </a:cxn>
                <a:cxn ang="0">
                  <a:pos x="1822" y="528"/>
                </a:cxn>
                <a:cxn ang="0">
                  <a:pos x="1907" y="313"/>
                </a:cxn>
                <a:cxn ang="0">
                  <a:pos x="1750" y="185"/>
                </a:cxn>
                <a:cxn ang="0">
                  <a:pos x="1572" y="91"/>
                </a:cxn>
                <a:cxn ang="0">
                  <a:pos x="1376" y="29"/>
                </a:cxn>
                <a:cxn ang="0">
                  <a:pos x="1181" y="0"/>
                </a:cxn>
                <a:cxn ang="0">
                  <a:pos x="976" y="9"/>
                </a:cxn>
                <a:cxn ang="0">
                  <a:pos x="780" y="54"/>
                </a:cxn>
                <a:cxn ang="0">
                  <a:pos x="591" y="128"/>
                </a:cxn>
                <a:cxn ang="0">
                  <a:pos x="425" y="241"/>
                </a:cxn>
                <a:cxn ang="0">
                  <a:pos x="277" y="377"/>
                </a:cxn>
                <a:cxn ang="0">
                  <a:pos x="161" y="543"/>
                </a:cxn>
                <a:cxn ang="0">
                  <a:pos x="69" y="722"/>
                </a:cxn>
                <a:cxn ang="0">
                  <a:pos x="16" y="915"/>
                </a:cxn>
                <a:cxn ang="0">
                  <a:pos x="0" y="1115"/>
                </a:cxn>
                <a:cxn ang="0">
                  <a:pos x="16" y="1314"/>
                </a:cxn>
                <a:cxn ang="0">
                  <a:pos x="69" y="1508"/>
                </a:cxn>
                <a:cxn ang="0">
                  <a:pos x="161" y="1687"/>
                </a:cxn>
                <a:cxn ang="0">
                  <a:pos x="278" y="1851"/>
                </a:cxn>
                <a:cxn ang="0">
                  <a:pos x="425" y="1989"/>
                </a:cxn>
                <a:cxn ang="0">
                  <a:pos x="593" y="2100"/>
                </a:cxn>
                <a:cxn ang="0">
                  <a:pos x="780" y="2176"/>
                </a:cxn>
                <a:cxn ang="0">
                  <a:pos x="976" y="2221"/>
                </a:cxn>
                <a:cxn ang="0">
                  <a:pos x="1181" y="2226"/>
                </a:cxn>
                <a:cxn ang="0">
                  <a:pos x="1382" y="2199"/>
                </a:cxn>
                <a:cxn ang="0">
                  <a:pos x="1572" y="2137"/>
                </a:cxn>
                <a:cxn ang="0">
                  <a:pos x="1750" y="2041"/>
                </a:cxn>
                <a:cxn ang="0">
                  <a:pos x="1907" y="1917"/>
                </a:cxn>
                <a:cxn ang="0">
                  <a:pos x="1822" y="1699"/>
                </a:cxn>
              </a:cxnLst>
              <a:rect l="0" t="0" r="r" b="b"/>
              <a:pathLst>
                <a:path w="1975" h="2226">
                  <a:moveTo>
                    <a:pt x="1822" y="1699"/>
                  </a:moveTo>
                  <a:lnTo>
                    <a:pt x="1770" y="1758"/>
                  </a:lnTo>
                  <a:lnTo>
                    <a:pt x="1702" y="1821"/>
                  </a:lnTo>
                  <a:lnTo>
                    <a:pt x="1626" y="1875"/>
                  </a:lnTo>
                  <a:lnTo>
                    <a:pt x="1547" y="1923"/>
                  </a:lnTo>
                  <a:lnTo>
                    <a:pt x="1464" y="1956"/>
                  </a:lnTo>
                  <a:lnTo>
                    <a:pt x="1376" y="1988"/>
                  </a:lnTo>
                  <a:lnTo>
                    <a:pt x="1291" y="2007"/>
                  </a:lnTo>
                  <a:lnTo>
                    <a:pt x="1195" y="2018"/>
                  </a:lnTo>
                  <a:lnTo>
                    <a:pt x="1106" y="2021"/>
                  </a:lnTo>
                  <a:lnTo>
                    <a:pt x="1016" y="2013"/>
                  </a:lnTo>
                  <a:lnTo>
                    <a:pt x="923" y="1999"/>
                  </a:lnTo>
                  <a:lnTo>
                    <a:pt x="838" y="1979"/>
                  </a:lnTo>
                  <a:lnTo>
                    <a:pt x="748" y="1944"/>
                  </a:lnTo>
                  <a:lnTo>
                    <a:pt x="670" y="1903"/>
                  </a:lnTo>
                  <a:lnTo>
                    <a:pt x="591" y="1853"/>
                  </a:lnTo>
                  <a:lnTo>
                    <a:pt x="525" y="1797"/>
                  </a:lnTo>
                  <a:lnTo>
                    <a:pt x="456" y="1735"/>
                  </a:lnTo>
                  <a:lnTo>
                    <a:pt x="397" y="1667"/>
                  </a:lnTo>
                  <a:lnTo>
                    <a:pt x="343" y="1592"/>
                  </a:lnTo>
                  <a:lnTo>
                    <a:pt x="301" y="1514"/>
                  </a:lnTo>
                  <a:lnTo>
                    <a:pt x="264" y="1429"/>
                  </a:lnTo>
                  <a:lnTo>
                    <a:pt x="240" y="1344"/>
                  </a:lnTo>
                  <a:lnTo>
                    <a:pt x="220" y="1253"/>
                  </a:lnTo>
                  <a:lnTo>
                    <a:pt x="208" y="1162"/>
                  </a:lnTo>
                  <a:lnTo>
                    <a:pt x="208" y="1072"/>
                  </a:lnTo>
                  <a:lnTo>
                    <a:pt x="216" y="985"/>
                  </a:lnTo>
                  <a:lnTo>
                    <a:pt x="233" y="895"/>
                  </a:lnTo>
                  <a:lnTo>
                    <a:pt x="261" y="807"/>
                  </a:lnTo>
                  <a:lnTo>
                    <a:pt x="296" y="722"/>
                  </a:lnTo>
                  <a:lnTo>
                    <a:pt x="341" y="643"/>
                  </a:lnTo>
                  <a:lnTo>
                    <a:pt x="389" y="570"/>
                  </a:lnTo>
                  <a:lnTo>
                    <a:pt x="452" y="501"/>
                  </a:lnTo>
                  <a:lnTo>
                    <a:pt x="515" y="434"/>
                  </a:lnTo>
                  <a:lnTo>
                    <a:pt x="585" y="377"/>
                  </a:lnTo>
                  <a:lnTo>
                    <a:pt x="662" y="329"/>
                  </a:lnTo>
                  <a:lnTo>
                    <a:pt x="743" y="287"/>
                  </a:lnTo>
                  <a:lnTo>
                    <a:pt x="829" y="253"/>
                  </a:lnTo>
                  <a:lnTo>
                    <a:pt x="916" y="230"/>
                  </a:lnTo>
                  <a:lnTo>
                    <a:pt x="1006" y="213"/>
                  </a:lnTo>
                  <a:lnTo>
                    <a:pt x="1095" y="205"/>
                  </a:lnTo>
                  <a:lnTo>
                    <a:pt x="1189" y="211"/>
                  </a:lnTo>
                  <a:lnTo>
                    <a:pt x="1280" y="219"/>
                  </a:lnTo>
                  <a:lnTo>
                    <a:pt x="1368" y="239"/>
                  </a:lnTo>
                  <a:lnTo>
                    <a:pt x="1456" y="267"/>
                  </a:lnTo>
                  <a:lnTo>
                    <a:pt x="1539" y="304"/>
                  </a:lnTo>
                  <a:lnTo>
                    <a:pt x="1617" y="349"/>
                  </a:lnTo>
                  <a:lnTo>
                    <a:pt x="1693" y="403"/>
                  </a:lnTo>
                  <a:lnTo>
                    <a:pt x="1762" y="463"/>
                  </a:lnTo>
                  <a:lnTo>
                    <a:pt x="1822" y="528"/>
                  </a:lnTo>
                  <a:lnTo>
                    <a:pt x="1975" y="386"/>
                  </a:lnTo>
                  <a:lnTo>
                    <a:pt x="1907" y="313"/>
                  </a:lnTo>
                  <a:lnTo>
                    <a:pt x="1830" y="247"/>
                  </a:lnTo>
                  <a:lnTo>
                    <a:pt x="1750" y="185"/>
                  </a:lnTo>
                  <a:lnTo>
                    <a:pt x="1663" y="135"/>
                  </a:lnTo>
                  <a:lnTo>
                    <a:pt x="1572" y="91"/>
                  </a:lnTo>
                  <a:lnTo>
                    <a:pt x="1477" y="56"/>
                  </a:lnTo>
                  <a:lnTo>
                    <a:pt x="1376" y="29"/>
                  </a:lnTo>
                  <a:lnTo>
                    <a:pt x="1280" y="11"/>
                  </a:lnTo>
                  <a:lnTo>
                    <a:pt x="1181" y="0"/>
                  </a:lnTo>
                  <a:lnTo>
                    <a:pt x="1078" y="0"/>
                  </a:lnTo>
                  <a:lnTo>
                    <a:pt x="976" y="9"/>
                  </a:lnTo>
                  <a:lnTo>
                    <a:pt x="880" y="25"/>
                  </a:lnTo>
                  <a:lnTo>
                    <a:pt x="780" y="54"/>
                  </a:lnTo>
                  <a:lnTo>
                    <a:pt x="684" y="87"/>
                  </a:lnTo>
                  <a:lnTo>
                    <a:pt x="591" y="128"/>
                  </a:lnTo>
                  <a:lnTo>
                    <a:pt x="509" y="182"/>
                  </a:lnTo>
                  <a:lnTo>
                    <a:pt x="425" y="241"/>
                  </a:lnTo>
                  <a:lnTo>
                    <a:pt x="346" y="307"/>
                  </a:lnTo>
                  <a:lnTo>
                    <a:pt x="277" y="377"/>
                  </a:lnTo>
                  <a:lnTo>
                    <a:pt x="213" y="458"/>
                  </a:lnTo>
                  <a:lnTo>
                    <a:pt x="161" y="543"/>
                  </a:lnTo>
                  <a:lnTo>
                    <a:pt x="111" y="628"/>
                  </a:lnTo>
                  <a:lnTo>
                    <a:pt x="69" y="722"/>
                  </a:lnTo>
                  <a:lnTo>
                    <a:pt x="37" y="818"/>
                  </a:lnTo>
                  <a:lnTo>
                    <a:pt x="16" y="915"/>
                  </a:lnTo>
                  <a:lnTo>
                    <a:pt x="2" y="1014"/>
                  </a:lnTo>
                  <a:lnTo>
                    <a:pt x="0" y="1115"/>
                  </a:lnTo>
                  <a:lnTo>
                    <a:pt x="2" y="1213"/>
                  </a:lnTo>
                  <a:lnTo>
                    <a:pt x="16" y="1314"/>
                  </a:lnTo>
                  <a:lnTo>
                    <a:pt x="37" y="1413"/>
                  </a:lnTo>
                  <a:lnTo>
                    <a:pt x="69" y="1508"/>
                  </a:lnTo>
                  <a:lnTo>
                    <a:pt x="111" y="1601"/>
                  </a:lnTo>
                  <a:lnTo>
                    <a:pt x="161" y="1687"/>
                  </a:lnTo>
                  <a:lnTo>
                    <a:pt x="213" y="1769"/>
                  </a:lnTo>
                  <a:lnTo>
                    <a:pt x="278" y="1851"/>
                  </a:lnTo>
                  <a:lnTo>
                    <a:pt x="350" y="1923"/>
                  </a:lnTo>
                  <a:lnTo>
                    <a:pt x="425" y="1989"/>
                  </a:lnTo>
                  <a:lnTo>
                    <a:pt x="509" y="2046"/>
                  </a:lnTo>
                  <a:lnTo>
                    <a:pt x="593" y="2100"/>
                  </a:lnTo>
                  <a:lnTo>
                    <a:pt x="684" y="2140"/>
                  </a:lnTo>
                  <a:lnTo>
                    <a:pt x="780" y="2176"/>
                  </a:lnTo>
                  <a:lnTo>
                    <a:pt x="880" y="2203"/>
                  </a:lnTo>
                  <a:lnTo>
                    <a:pt x="976" y="2221"/>
                  </a:lnTo>
                  <a:lnTo>
                    <a:pt x="1078" y="2226"/>
                  </a:lnTo>
                  <a:lnTo>
                    <a:pt x="1181" y="2226"/>
                  </a:lnTo>
                  <a:lnTo>
                    <a:pt x="1283" y="2218"/>
                  </a:lnTo>
                  <a:lnTo>
                    <a:pt x="1382" y="2199"/>
                  </a:lnTo>
                  <a:lnTo>
                    <a:pt x="1478" y="2173"/>
                  </a:lnTo>
                  <a:lnTo>
                    <a:pt x="1572" y="2137"/>
                  </a:lnTo>
                  <a:lnTo>
                    <a:pt x="1665" y="2092"/>
                  </a:lnTo>
                  <a:lnTo>
                    <a:pt x="1750" y="2041"/>
                  </a:lnTo>
                  <a:lnTo>
                    <a:pt x="1830" y="1979"/>
                  </a:lnTo>
                  <a:lnTo>
                    <a:pt x="1907" y="1917"/>
                  </a:lnTo>
                  <a:lnTo>
                    <a:pt x="1975" y="1843"/>
                  </a:lnTo>
                  <a:lnTo>
                    <a:pt x="1822" y="1699"/>
                  </a:lnTo>
                  <a:close/>
                </a:path>
              </a:pathLst>
            </a:custGeom>
            <a:solidFill>
              <a:srgbClr val="333399"/>
            </a:solidFill>
            <a:ln w="0">
              <a:solidFill>
                <a:srgbClr val="333399"/>
              </a:solidFill>
              <a:prstDash val="solid"/>
              <a:round/>
              <a:headEnd/>
              <a:tailEnd/>
            </a:ln>
          </p:spPr>
          <p:txBody>
            <a:bodyPr/>
            <a:lstStyle/>
            <a:p>
              <a:endParaRPr lang="pt-BR"/>
            </a:p>
          </p:txBody>
        </p:sp>
      </p:grpSp>
      <p:sp>
        <p:nvSpPr>
          <p:cNvPr id="73736" name="AutoShape 8"/>
          <p:cNvSpPr>
            <a:spLocks noChangeArrowheads="1"/>
          </p:cNvSpPr>
          <p:nvPr/>
        </p:nvSpPr>
        <p:spPr bwMode="auto">
          <a:xfrm>
            <a:off x="838200" y="17526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37" name="AutoShape 9"/>
          <p:cNvSpPr>
            <a:spLocks noChangeArrowheads="1"/>
          </p:cNvSpPr>
          <p:nvPr/>
        </p:nvSpPr>
        <p:spPr bwMode="auto">
          <a:xfrm>
            <a:off x="7239000" y="19812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38" name="AutoShape 10"/>
          <p:cNvSpPr>
            <a:spLocks noChangeArrowheads="1"/>
          </p:cNvSpPr>
          <p:nvPr/>
        </p:nvSpPr>
        <p:spPr bwMode="auto">
          <a:xfrm>
            <a:off x="5867400" y="19812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39" name="AutoShape 11"/>
          <p:cNvSpPr>
            <a:spLocks noChangeArrowheads="1"/>
          </p:cNvSpPr>
          <p:nvPr/>
        </p:nvSpPr>
        <p:spPr bwMode="auto">
          <a:xfrm>
            <a:off x="6629400" y="10668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0" name="AutoShape 12"/>
          <p:cNvSpPr>
            <a:spLocks noChangeArrowheads="1"/>
          </p:cNvSpPr>
          <p:nvPr/>
        </p:nvSpPr>
        <p:spPr bwMode="auto">
          <a:xfrm>
            <a:off x="2438400" y="17526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1" name="AutoShape 13"/>
          <p:cNvSpPr>
            <a:spLocks noChangeArrowheads="1"/>
          </p:cNvSpPr>
          <p:nvPr/>
        </p:nvSpPr>
        <p:spPr bwMode="auto">
          <a:xfrm>
            <a:off x="2362200" y="51054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2" name="AutoShape 14"/>
          <p:cNvSpPr>
            <a:spLocks noChangeArrowheads="1"/>
          </p:cNvSpPr>
          <p:nvPr/>
        </p:nvSpPr>
        <p:spPr bwMode="auto">
          <a:xfrm>
            <a:off x="990600" y="51054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3" name="AutoShape 15"/>
          <p:cNvSpPr>
            <a:spLocks noChangeArrowheads="1"/>
          </p:cNvSpPr>
          <p:nvPr/>
        </p:nvSpPr>
        <p:spPr bwMode="auto">
          <a:xfrm>
            <a:off x="2362200" y="41148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4" name="AutoShape 16"/>
          <p:cNvSpPr>
            <a:spLocks noChangeArrowheads="1"/>
          </p:cNvSpPr>
          <p:nvPr/>
        </p:nvSpPr>
        <p:spPr bwMode="auto">
          <a:xfrm>
            <a:off x="990600" y="41148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5" name="AutoShape 17"/>
          <p:cNvSpPr>
            <a:spLocks noChangeArrowheads="1"/>
          </p:cNvSpPr>
          <p:nvPr/>
        </p:nvSpPr>
        <p:spPr bwMode="auto">
          <a:xfrm>
            <a:off x="7239000" y="51054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6" name="AutoShape 18"/>
          <p:cNvSpPr>
            <a:spLocks noChangeArrowheads="1"/>
          </p:cNvSpPr>
          <p:nvPr/>
        </p:nvSpPr>
        <p:spPr bwMode="auto">
          <a:xfrm>
            <a:off x="6096000" y="51054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7" name="AutoShape 19"/>
          <p:cNvSpPr>
            <a:spLocks noChangeArrowheads="1"/>
          </p:cNvSpPr>
          <p:nvPr/>
        </p:nvSpPr>
        <p:spPr bwMode="auto">
          <a:xfrm>
            <a:off x="7696200" y="41148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8" name="AutoShape 20"/>
          <p:cNvSpPr>
            <a:spLocks noChangeArrowheads="1"/>
          </p:cNvSpPr>
          <p:nvPr/>
        </p:nvSpPr>
        <p:spPr bwMode="auto">
          <a:xfrm>
            <a:off x="5638800" y="41910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49" name="AutoShape 21"/>
          <p:cNvSpPr>
            <a:spLocks noChangeArrowheads="1"/>
          </p:cNvSpPr>
          <p:nvPr/>
        </p:nvSpPr>
        <p:spPr bwMode="auto">
          <a:xfrm>
            <a:off x="6629400" y="3352800"/>
            <a:ext cx="457200" cy="457200"/>
          </a:xfrm>
          <a:prstGeom prst="smileyFace">
            <a:avLst>
              <a:gd name="adj" fmla="val 4653"/>
            </a:avLst>
          </a:prstGeom>
          <a:solidFill>
            <a:srgbClr val="CCFFFF"/>
          </a:solidFill>
          <a:ln w="19050">
            <a:solidFill>
              <a:schemeClr val="tx1"/>
            </a:solidFill>
            <a:round/>
            <a:headEnd/>
            <a:tailEnd type="none" w="lg" len="med"/>
          </a:ln>
          <a:effectLst/>
        </p:spPr>
        <p:txBody>
          <a:bodyPr lIns="90000" tIns="46800" rIns="90000" bIns="46800" anchor="ctr">
            <a:spAutoFit/>
          </a:bodyPr>
          <a:lstStyle/>
          <a:p>
            <a:endParaRPr lang="pt-BR"/>
          </a:p>
        </p:txBody>
      </p:sp>
      <p:sp>
        <p:nvSpPr>
          <p:cNvPr id="73750" name="Line 22"/>
          <p:cNvSpPr>
            <a:spLocks noChangeShapeType="1"/>
          </p:cNvSpPr>
          <p:nvPr/>
        </p:nvSpPr>
        <p:spPr bwMode="auto">
          <a:xfrm>
            <a:off x="1295400" y="1981200"/>
            <a:ext cx="1143000" cy="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51" name="Line 23"/>
          <p:cNvSpPr>
            <a:spLocks noChangeShapeType="1"/>
          </p:cNvSpPr>
          <p:nvPr/>
        </p:nvSpPr>
        <p:spPr bwMode="auto">
          <a:xfrm flipV="1">
            <a:off x="6172200" y="1447800"/>
            <a:ext cx="457200" cy="6096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52" name="Line 24"/>
          <p:cNvSpPr>
            <a:spLocks noChangeShapeType="1"/>
          </p:cNvSpPr>
          <p:nvPr/>
        </p:nvSpPr>
        <p:spPr bwMode="auto">
          <a:xfrm>
            <a:off x="6324600" y="2209800"/>
            <a:ext cx="914400" cy="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53" name="Line 25"/>
          <p:cNvSpPr>
            <a:spLocks noChangeShapeType="1"/>
          </p:cNvSpPr>
          <p:nvPr/>
        </p:nvSpPr>
        <p:spPr bwMode="auto">
          <a:xfrm>
            <a:off x="7010400" y="1447800"/>
            <a:ext cx="381000" cy="5334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54" name="Line 26"/>
          <p:cNvSpPr>
            <a:spLocks noChangeShapeType="1"/>
          </p:cNvSpPr>
          <p:nvPr/>
        </p:nvSpPr>
        <p:spPr bwMode="auto">
          <a:xfrm>
            <a:off x="1447800" y="4343400"/>
            <a:ext cx="914400" cy="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55" name="Line 27"/>
          <p:cNvSpPr>
            <a:spLocks noChangeShapeType="1"/>
          </p:cNvSpPr>
          <p:nvPr/>
        </p:nvSpPr>
        <p:spPr bwMode="auto">
          <a:xfrm>
            <a:off x="1219200" y="4572000"/>
            <a:ext cx="0" cy="5334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56" name="Line 28"/>
          <p:cNvSpPr>
            <a:spLocks noChangeShapeType="1"/>
          </p:cNvSpPr>
          <p:nvPr/>
        </p:nvSpPr>
        <p:spPr bwMode="auto">
          <a:xfrm>
            <a:off x="1447800" y="5334000"/>
            <a:ext cx="914400" cy="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57" name="Line 29"/>
          <p:cNvSpPr>
            <a:spLocks noChangeShapeType="1"/>
          </p:cNvSpPr>
          <p:nvPr/>
        </p:nvSpPr>
        <p:spPr bwMode="auto">
          <a:xfrm flipV="1">
            <a:off x="2590800" y="4572000"/>
            <a:ext cx="0" cy="5334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58" name="Line 30"/>
          <p:cNvSpPr>
            <a:spLocks noChangeShapeType="1"/>
          </p:cNvSpPr>
          <p:nvPr/>
        </p:nvSpPr>
        <p:spPr bwMode="auto">
          <a:xfrm>
            <a:off x="1371600" y="4495800"/>
            <a:ext cx="1066800" cy="6858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59" name="Line 31"/>
          <p:cNvSpPr>
            <a:spLocks noChangeShapeType="1"/>
          </p:cNvSpPr>
          <p:nvPr/>
        </p:nvSpPr>
        <p:spPr bwMode="auto">
          <a:xfrm flipV="1">
            <a:off x="1447800" y="4495800"/>
            <a:ext cx="990600" cy="6858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0" name="Line 32"/>
          <p:cNvSpPr>
            <a:spLocks noChangeShapeType="1"/>
          </p:cNvSpPr>
          <p:nvPr/>
        </p:nvSpPr>
        <p:spPr bwMode="auto">
          <a:xfrm flipH="1">
            <a:off x="6324600" y="3810000"/>
            <a:ext cx="457200" cy="12954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1" name="Line 33"/>
          <p:cNvSpPr>
            <a:spLocks noChangeShapeType="1"/>
          </p:cNvSpPr>
          <p:nvPr/>
        </p:nvSpPr>
        <p:spPr bwMode="auto">
          <a:xfrm>
            <a:off x="6096000" y="4419600"/>
            <a:ext cx="1600200" cy="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2" name="Line 34"/>
          <p:cNvSpPr>
            <a:spLocks noChangeShapeType="1"/>
          </p:cNvSpPr>
          <p:nvPr/>
        </p:nvSpPr>
        <p:spPr bwMode="auto">
          <a:xfrm flipH="1">
            <a:off x="6019800" y="3733800"/>
            <a:ext cx="685800" cy="5334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3" name="Line 35"/>
          <p:cNvSpPr>
            <a:spLocks noChangeShapeType="1"/>
          </p:cNvSpPr>
          <p:nvPr/>
        </p:nvSpPr>
        <p:spPr bwMode="auto">
          <a:xfrm>
            <a:off x="5943600" y="4648200"/>
            <a:ext cx="304800" cy="4572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4" name="Line 36"/>
          <p:cNvSpPr>
            <a:spLocks noChangeShapeType="1"/>
          </p:cNvSpPr>
          <p:nvPr/>
        </p:nvSpPr>
        <p:spPr bwMode="auto">
          <a:xfrm flipH="1">
            <a:off x="7543800" y="4572000"/>
            <a:ext cx="304800" cy="5334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5" name="Line 37"/>
          <p:cNvSpPr>
            <a:spLocks noChangeShapeType="1"/>
          </p:cNvSpPr>
          <p:nvPr/>
        </p:nvSpPr>
        <p:spPr bwMode="auto">
          <a:xfrm>
            <a:off x="6553200" y="5334000"/>
            <a:ext cx="685800" cy="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6" name="Line 38"/>
          <p:cNvSpPr>
            <a:spLocks noChangeShapeType="1"/>
          </p:cNvSpPr>
          <p:nvPr/>
        </p:nvSpPr>
        <p:spPr bwMode="auto">
          <a:xfrm>
            <a:off x="6934200" y="3810000"/>
            <a:ext cx="457200" cy="12954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7" name="Line 39"/>
          <p:cNvSpPr>
            <a:spLocks noChangeShapeType="1"/>
          </p:cNvSpPr>
          <p:nvPr/>
        </p:nvSpPr>
        <p:spPr bwMode="auto">
          <a:xfrm>
            <a:off x="7010400" y="3657600"/>
            <a:ext cx="762000" cy="5334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8" name="Line 40"/>
          <p:cNvSpPr>
            <a:spLocks noChangeShapeType="1"/>
          </p:cNvSpPr>
          <p:nvPr/>
        </p:nvSpPr>
        <p:spPr bwMode="auto">
          <a:xfrm flipV="1">
            <a:off x="6477000" y="4495800"/>
            <a:ext cx="1295400" cy="6858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69" name="Line 41"/>
          <p:cNvSpPr>
            <a:spLocks noChangeShapeType="1"/>
          </p:cNvSpPr>
          <p:nvPr/>
        </p:nvSpPr>
        <p:spPr bwMode="auto">
          <a:xfrm>
            <a:off x="6096000" y="4495800"/>
            <a:ext cx="1219200" cy="685800"/>
          </a:xfrm>
          <a:prstGeom prst="line">
            <a:avLst/>
          </a:prstGeom>
          <a:noFill/>
          <a:ln w="19050">
            <a:solidFill>
              <a:schemeClr val="tx1"/>
            </a:solidFill>
            <a:round/>
            <a:headEnd/>
            <a:tailEnd type="none" w="lg" len="med"/>
          </a:ln>
          <a:effectLst/>
        </p:spPr>
        <p:txBody>
          <a:bodyPr lIns="90000" tIns="46800" rIns="90000" bIns="46800">
            <a:spAutoFit/>
          </a:bodyPr>
          <a:lstStyle/>
          <a:p>
            <a:endParaRPr lang="pt-BR"/>
          </a:p>
        </p:txBody>
      </p:sp>
      <p:sp>
        <p:nvSpPr>
          <p:cNvPr id="73770" name="Text Box 42"/>
          <p:cNvSpPr txBox="1">
            <a:spLocks noChangeArrowheads="1"/>
          </p:cNvSpPr>
          <p:nvPr/>
        </p:nvSpPr>
        <p:spPr bwMode="auto">
          <a:xfrm>
            <a:off x="1219200" y="2362200"/>
            <a:ext cx="1143000" cy="517525"/>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en-US" sz="1400" b="1">
                <a:latin typeface="Comic Sans MS" pitchFamily="66" charset="0"/>
              </a:rPr>
              <a:t>2 pessoas, 1 canal</a:t>
            </a:r>
            <a:endParaRPr lang="pt-BR" sz="1400" b="1">
              <a:latin typeface="Comic Sans MS" pitchFamily="66" charset="0"/>
            </a:endParaRPr>
          </a:p>
        </p:txBody>
      </p:sp>
      <p:sp>
        <p:nvSpPr>
          <p:cNvPr id="73771" name="Text Box 43"/>
          <p:cNvSpPr txBox="1">
            <a:spLocks noChangeArrowheads="1"/>
          </p:cNvSpPr>
          <p:nvPr/>
        </p:nvSpPr>
        <p:spPr bwMode="auto">
          <a:xfrm>
            <a:off x="6248400" y="2438400"/>
            <a:ext cx="1143000" cy="517525"/>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en-US" sz="1400" b="1">
                <a:latin typeface="Comic Sans MS" pitchFamily="66" charset="0"/>
              </a:rPr>
              <a:t>3 pessoas, 3 canais</a:t>
            </a:r>
            <a:endParaRPr lang="pt-BR" sz="1400" b="1">
              <a:latin typeface="Comic Sans MS" pitchFamily="66" charset="0"/>
            </a:endParaRPr>
          </a:p>
        </p:txBody>
      </p:sp>
      <p:sp>
        <p:nvSpPr>
          <p:cNvPr id="73772" name="Text Box 44"/>
          <p:cNvSpPr txBox="1">
            <a:spLocks noChangeArrowheads="1"/>
          </p:cNvSpPr>
          <p:nvPr/>
        </p:nvSpPr>
        <p:spPr bwMode="auto">
          <a:xfrm>
            <a:off x="1371600" y="5638800"/>
            <a:ext cx="1143000" cy="517525"/>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en-US" sz="1400" b="1">
                <a:latin typeface="Comic Sans MS" pitchFamily="66" charset="0"/>
              </a:rPr>
              <a:t>4 pessoas, 6 canais</a:t>
            </a:r>
            <a:endParaRPr lang="pt-BR" sz="1400" b="1">
              <a:latin typeface="Comic Sans MS" pitchFamily="66" charset="0"/>
            </a:endParaRPr>
          </a:p>
        </p:txBody>
      </p:sp>
      <p:sp>
        <p:nvSpPr>
          <p:cNvPr id="73773" name="Text Box 45"/>
          <p:cNvSpPr txBox="1">
            <a:spLocks noChangeArrowheads="1"/>
          </p:cNvSpPr>
          <p:nvPr/>
        </p:nvSpPr>
        <p:spPr bwMode="auto">
          <a:xfrm>
            <a:off x="6248400" y="5715000"/>
            <a:ext cx="1143000" cy="517525"/>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en-US" sz="1400" b="1">
                <a:latin typeface="Comic Sans MS" pitchFamily="66" charset="0"/>
              </a:rPr>
              <a:t>5 pessoas, 10 canais</a:t>
            </a:r>
            <a:endParaRPr lang="pt-BR" sz="1400" b="1">
              <a:latin typeface="Comic Sans MS" pitchFamily="66" charset="0"/>
            </a:endParaRPr>
          </a:p>
        </p:txBody>
      </p:sp>
      <p:sp>
        <p:nvSpPr>
          <p:cNvPr id="73774" name="Text Box 46"/>
          <p:cNvSpPr txBox="1">
            <a:spLocks noChangeArrowheads="1"/>
          </p:cNvSpPr>
          <p:nvPr/>
        </p:nvSpPr>
        <p:spPr bwMode="auto">
          <a:xfrm>
            <a:off x="3352800" y="2819400"/>
            <a:ext cx="1828800" cy="1347788"/>
          </a:xfrm>
          <a:prstGeom prst="rect">
            <a:avLst/>
          </a:prstGeom>
          <a:solidFill>
            <a:srgbClr val="CCFFFF"/>
          </a:solidFill>
          <a:ln w="19050">
            <a:solidFill>
              <a:schemeClr val="tx1"/>
            </a:solidFill>
            <a:miter lim="800000"/>
            <a:headEnd/>
            <a:tailEnd type="none" w="lg" len="med"/>
          </a:ln>
          <a:effectLst/>
        </p:spPr>
        <p:txBody>
          <a:bodyPr lIns="90000" tIns="46800" rIns="90000" bIns="46800">
            <a:spAutoFit/>
          </a:bodyPr>
          <a:lstStyle/>
          <a:p>
            <a:pPr algn="ctr" eaLnBrk="0" hangingPunct="0">
              <a:spcBef>
                <a:spcPct val="50000"/>
              </a:spcBef>
            </a:pPr>
            <a:r>
              <a:rPr lang="en-US" b="1">
                <a:latin typeface="Comic Sans MS" pitchFamily="66" charset="0"/>
              </a:rPr>
              <a:t>Número de Canais de Comunicação =</a:t>
            </a:r>
          </a:p>
          <a:p>
            <a:pPr algn="ctr" eaLnBrk="0" hangingPunct="0">
              <a:spcBef>
                <a:spcPct val="50000"/>
              </a:spcBef>
            </a:pPr>
            <a:r>
              <a:rPr lang="en-US" b="1">
                <a:latin typeface="Comic Sans MS" pitchFamily="66" charset="0"/>
              </a:rPr>
              <a:t> n(n-1)/2</a:t>
            </a:r>
            <a:endParaRPr lang="pt-BR" b="1">
              <a:latin typeface="Comic Sans MS" pitchFamily="66"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b="1" smtClean="0">
                <a:solidFill>
                  <a:schemeClr val="accent2"/>
                </a:solidFill>
              </a:rPr>
              <a:t>Barreiras à Comunicação</a:t>
            </a:r>
            <a:endParaRPr lang="pt-BR" b="1" smtClean="0">
              <a:solidFill>
                <a:schemeClr val="accent2"/>
              </a:solidFill>
            </a:endParaRPr>
          </a:p>
        </p:txBody>
      </p:sp>
      <p:sp>
        <p:nvSpPr>
          <p:cNvPr id="70659" name="Rectangle 3"/>
          <p:cNvSpPr>
            <a:spLocks noGrp="1" noChangeArrowheads="1"/>
          </p:cNvSpPr>
          <p:nvPr>
            <p:ph type="body" idx="1"/>
          </p:nvPr>
        </p:nvSpPr>
        <p:spPr/>
        <p:txBody>
          <a:bodyPr/>
          <a:lstStyle/>
          <a:p>
            <a:pPr>
              <a:lnSpc>
                <a:spcPct val="90000"/>
              </a:lnSpc>
            </a:pPr>
            <a:r>
              <a:rPr lang="en-US" sz="2400" b="1" smtClean="0"/>
              <a:t>Falta de canais claros de Comunicação</a:t>
            </a:r>
            <a:r>
              <a:rPr lang="pt-BR" sz="2400" b="1" smtClean="0"/>
              <a:t> </a:t>
            </a:r>
            <a:endParaRPr lang="en-US" sz="2400" b="1" smtClean="0"/>
          </a:p>
          <a:p>
            <a:pPr>
              <a:lnSpc>
                <a:spcPct val="90000"/>
              </a:lnSpc>
            </a:pPr>
            <a:endParaRPr lang="pt-BR" sz="2400" b="1" smtClean="0"/>
          </a:p>
          <a:p>
            <a:pPr>
              <a:lnSpc>
                <a:spcPct val="90000"/>
              </a:lnSpc>
            </a:pPr>
            <a:r>
              <a:rPr lang="en-US" sz="2400" b="1" smtClean="0"/>
              <a:t>Distância física (ou temporal) entre o comunicador e o receptor</a:t>
            </a:r>
          </a:p>
          <a:p>
            <a:pPr>
              <a:lnSpc>
                <a:spcPct val="90000"/>
              </a:lnSpc>
            </a:pPr>
            <a:endParaRPr lang="en-US" sz="2400" b="1" smtClean="0"/>
          </a:p>
          <a:p>
            <a:pPr>
              <a:lnSpc>
                <a:spcPct val="90000"/>
              </a:lnSpc>
            </a:pPr>
            <a:r>
              <a:rPr lang="en-US" sz="2400" b="1" smtClean="0"/>
              <a:t>Dificuldades com linguagem técnica</a:t>
            </a:r>
          </a:p>
          <a:p>
            <a:pPr>
              <a:lnSpc>
                <a:spcPct val="90000"/>
              </a:lnSpc>
            </a:pPr>
            <a:endParaRPr lang="en-US" sz="2400" b="1" smtClean="0"/>
          </a:p>
          <a:p>
            <a:pPr>
              <a:lnSpc>
                <a:spcPct val="90000"/>
              </a:lnSpc>
            </a:pPr>
            <a:r>
              <a:rPr lang="en-US" sz="2400" b="1" smtClean="0"/>
              <a:t>Fatores ambientais perturbadores (ruidos)</a:t>
            </a:r>
          </a:p>
          <a:p>
            <a:pPr>
              <a:lnSpc>
                <a:spcPct val="90000"/>
              </a:lnSpc>
            </a:pPr>
            <a:endParaRPr lang="en-US" sz="2400" b="1" smtClean="0"/>
          </a:p>
          <a:p>
            <a:pPr>
              <a:lnSpc>
                <a:spcPct val="90000"/>
              </a:lnSpc>
            </a:pPr>
            <a:r>
              <a:rPr lang="en-US" sz="2400" b="1" smtClean="0"/>
              <a:t>Atitudes antagônicas (hostilidade, descrença)</a:t>
            </a:r>
            <a:endParaRPr lang="pt-BR" sz="2400" b="1" smtClean="0"/>
          </a:p>
          <a:p>
            <a:pPr>
              <a:lnSpc>
                <a:spcPct val="90000"/>
              </a:lnSpc>
            </a:pPr>
            <a:endParaRPr lang="pt-BR" sz="2400" smtClean="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endParaRPr lang="pt-BR" smtClean="0"/>
          </a:p>
        </p:txBody>
      </p:sp>
      <p:sp>
        <p:nvSpPr>
          <p:cNvPr id="71683" name="Rectangle 3"/>
          <p:cNvSpPr>
            <a:spLocks noGrp="1" noChangeArrowheads="1"/>
          </p:cNvSpPr>
          <p:nvPr>
            <p:ph type="body" idx="1"/>
          </p:nvPr>
        </p:nvSpPr>
        <p:spPr/>
        <p:txBody>
          <a:bodyPr/>
          <a:lstStyle/>
          <a:p>
            <a:r>
              <a:rPr lang="pt-BR" b="1" smtClean="0"/>
              <a:t>PMBOK 6ª edição</a:t>
            </a:r>
          </a:p>
          <a:p>
            <a:r>
              <a:rPr lang="pt-BR" b="1" smtClean="0">
                <a:solidFill>
                  <a:srgbClr val="333399"/>
                </a:solidFill>
              </a:rPr>
              <a:t>Planejar o Gerenciamento das Comunicações</a:t>
            </a:r>
          </a:p>
          <a:p>
            <a:r>
              <a:rPr lang="pt-BR" b="1" smtClean="0">
                <a:solidFill>
                  <a:srgbClr val="333399"/>
                </a:solidFill>
              </a:rPr>
              <a:t>Gerenciar as Comunicações</a:t>
            </a:r>
          </a:p>
          <a:p>
            <a:r>
              <a:rPr lang="pt-BR" b="1" smtClean="0">
                <a:solidFill>
                  <a:srgbClr val="333399"/>
                </a:solidFill>
              </a:rPr>
              <a:t>Monitorar as Comunicações</a:t>
            </a:r>
          </a:p>
          <a:p>
            <a:r>
              <a:rPr lang="pt-BR" b="1" smtClean="0">
                <a:solidFill>
                  <a:srgbClr val="333399"/>
                </a:solidFill>
              </a:rPr>
              <a:t>Engajar as Partes Interessadas</a:t>
            </a:r>
          </a:p>
          <a:p>
            <a:endParaRPr lang="pt-BR" smtClean="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pt-BR" b="1" smtClean="0">
                <a:solidFill>
                  <a:srgbClr val="333399"/>
                </a:solidFill>
                <a:effectLst>
                  <a:outerShdw blurRad="38100" dist="38100" dir="2700000" algn="tl">
                    <a:srgbClr val="C0C0C0"/>
                  </a:outerShdw>
                </a:effectLst>
              </a:rPr>
              <a:t>Plano de Comunicação</a:t>
            </a:r>
            <a:r>
              <a:rPr lang="en-US" b="1" smtClean="0">
                <a:solidFill>
                  <a:srgbClr val="333399"/>
                </a:solidFill>
                <a:effectLst>
                  <a:outerShdw blurRad="38100" dist="38100" dir="2700000" algn="tl">
                    <a:srgbClr val="C0C0C0"/>
                  </a:outerShdw>
                </a:effectLst>
              </a:rPr>
              <a:t> eficaz</a:t>
            </a:r>
            <a:endParaRPr lang="pt-BR" b="1" smtClean="0">
              <a:solidFill>
                <a:srgbClr val="333399"/>
              </a:solidFill>
              <a:effectLst>
                <a:outerShdw blurRad="38100" dist="38100" dir="2700000" algn="tl">
                  <a:srgbClr val="C0C0C0"/>
                </a:outerShdw>
              </a:effectLst>
            </a:endParaRPr>
          </a:p>
        </p:txBody>
      </p:sp>
      <p:sp>
        <p:nvSpPr>
          <p:cNvPr id="74755" name="Rectangle 3"/>
          <p:cNvSpPr>
            <a:spLocks noGrp="1" noChangeArrowheads="1"/>
          </p:cNvSpPr>
          <p:nvPr>
            <p:ph type="body" idx="1"/>
          </p:nvPr>
        </p:nvSpPr>
        <p:spPr/>
        <p:txBody>
          <a:bodyPr/>
          <a:lstStyle/>
          <a:p>
            <a:pPr>
              <a:lnSpc>
                <a:spcPct val="90000"/>
              </a:lnSpc>
            </a:pPr>
            <a:r>
              <a:rPr lang="pt-BR" sz="2800" b="1" smtClean="0">
                <a:solidFill>
                  <a:srgbClr val="CC3300"/>
                </a:solidFill>
              </a:rPr>
              <a:t>Desenvolver:</a:t>
            </a:r>
          </a:p>
          <a:p>
            <a:pPr lvl="2">
              <a:lnSpc>
                <a:spcPct val="90000"/>
              </a:lnSpc>
            </a:pPr>
            <a:r>
              <a:rPr lang="pt-BR" sz="2000" b="1" smtClean="0">
                <a:solidFill>
                  <a:schemeClr val="accent2"/>
                </a:solidFill>
              </a:rPr>
              <a:t>Conscientização</a:t>
            </a:r>
          </a:p>
          <a:p>
            <a:pPr lvl="2">
              <a:lnSpc>
                <a:spcPct val="90000"/>
              </a:lnSpc>
            </a:pPr>
            <a:r>
              <a:rPr lang="pt-BR" sz="2000" b="1" smtClean="0">
                <a:solidFill>
                  <a:schemeClr val="accent2"/>
                </a:solidFill>
              </a:rPr>
              <a:t>Suporte</a:t>
            </a:r>
          </a:p>
          <a:p>
            <a:pPr lvl="2">
              <a:lnSpc>
                <a:spcPct val="90000"/>
              </a:lnSpc>
            </a:pPr>
            <a:r>
              <a:rPr lang="pt-BR" sz="2000" b="1" smtClean="0">
                <a:solidFill>
                  <a:schemeClr val="accent2"/>
                </a:solidFill>
              </a:rPr>
              <a:t>Aceitação</a:t>
            </a:r>
          </a:p>
          <a:p>
            <a:pPr lvl="2">
              <a:lnSpc>
                <a:spcPct val="90000"/>
              </a:lnSpc>
            </a:pPr>
            <a:r>
              <a:rPr lang="pt-BR" sz="2000" b="1" smtClean="0">
                <a:solidFill>
                  <a:schemeClr val="accent2"/>
                </a:solidFill>
              </a:rPr>
              <a:t>Evitar conclusões erradas </a:t>
            </a:r>
          </a:p>
          <a:p>
            <a:pPr>
              <a:lnSpc>
                <a:spcPct val="90000"/>
              </a:lnSpc>
            </a:pPr>
            <a:r>
              <a:rPr lang="pt-BR" sz="2800" b="1" smtClean="0">
                <a:solidFill>
                  <a:srgbClr val="CC3300"/>
                </a:solidFill>
              </a:rPr>
              <a:t>Por meio de:</a:t>
            </a:r>
          </a:p>
          <a:p>
            <a:pPr lvl="2">
              <a:lnSpc>
                <a:spcPct val="90000"/>
              </a:lnSpc>
            </a:pPr>
            <a:r>
              <a:rPr lang="pt-BR" sz="2000" smtClean="0">
                <a:solidFill>
                  <a:srgbClr val="333399"/>
                </a:solidFill>
              </a:rPr>
              <a:t>Mensagens customizadas</a:t>
            </a:r>
          </a:p>
          <a:p>
            <a:pPr lvl="4">
              <a:lnSpc>
                <a:spcPct val="90000"/>
              </a:lnSpc>
            </a:pPr>
            <a:r>
              <a:rPr lang="pt-BR" sz="1800" smtClean="0">
                <a:solidFill>
                  <a:srgbClr val="333399"/>
                </a:solidFill>
              </a:rPr>
              <a:t>Estratégicas</a:t>
            </a:r>
          </a:p>
          <a:p>
            <a:pPr lvl="4">
              <a:lnSpc>
                <a:spcPct val="90000"/>
              </a:lnSpc>
            </a:pPr>
            <a:r>
              <a:rPr lang="pt-BR" sz="1800" smtClean="0">
                <a:solidFill>
                  <a:srgbClr val="333399"/>
                </a:solidFill>
              </a:rPr>
              <a:t>Táticas</a:t>
            </a:r>
          </a:p>
          <a:p>
            <a:pPr lvl="4">
              <a:lnSpc>
                <a:spcPct val="90000"/>
              </a:lnSpc>
            </a:pPr>
            <a:r>
              <a:rPr lang="pt-BR" sz="1800" smtClean="0">
                <a:solidFill>
                  <a:srgbClr val="333399"/>
                </a:solidFill>
              </a:rPr>
              <a:t>Pessoais.</a:t>
            </a:r>
          </a:p>
          <a:p>
            <a:pPr lvl="2">
              <a:lnSpc>
                <a:spcPct val="90000"/>
              </a:lnSpc>
            </a:pPr>
            <a:r>
              <a:rPr lang="en-US" sz="2000" smtClean="0">
                <a:solidFill>
                  <a:srgbClr val="333399"/>
                </a:solidFill>
              </a:rPr>
              <a:t>Comunicação de cima para baixo</a:t>
            </a:r>
          </a:p>
          <a:p>
            <a:pPr lvl="2">
              <a:lnSpc>
                <a:spcPct val="90000"/>
              </a:lnSpc>
            </a:pPr>
            <a:r>
              <a:rPr lang="en-US" sz="2000" smtClean="0">
                <a:solidFill>
                  <a:srgbClr val="333399"/>
                </a:solidFill>
              </a:rPr>
              <a:t>Diálogo e feed-back</a:t>
            </a:r>
          </a:p>
          <a:p>
            <a:pPr>
              <a:lnSpc>
                <a:spcPct val="90000"/>
              </a:lnSpc>
            </a:pPr>
            <a:endParaRPr lang="pt-BR" sz="2800" smtClean="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sz="4000" b="1" smtClean="0">
                <a:solidFill>
                  <a:srgbClr val="333399"/>
                </a:solidFill>
                <a:effectLst>
                  <a:outerShdw blurRad="38100" dist="38100" dir="2700000" algn="tl">
                    <a:srgbClr val="C0C0C0"/>
                  </a:outerShdw>
                </a:effectLst>
              </a:rPr>
              <a:t>Estratégia de Comunicação do Projeto</a:t>
            </a:r>
            <a:endParaRPr lang="pt-BR" sz="4000" b="1" smtClean="0">
              <a:solidFill>
                <a:srgbClr val="333399"/>
              </a:solidFill>
              <a:effectLst>
                <a:outerShdw blurRad="38100" dist="38100" dir="2700000" algn="tl">
                  <a:srgbClr val="C0C0C0"/>
                </a:outerShdw>
              </a:effectLst>
            </a:endParaRPr>
          </a:p>
        </p:txBody>
      </p:sp>
      <p:sp>
        <p:nvSpPr>
          <p:cNvPr id="75779" name="Rectangle 3"/>
          <p:cNvSpPr>
            <a:spLocks noGrp="1" noChangeArrowheads="1"/>
          </p:cNvSpPr>
          <p:nvPr>
            <p:ph type="body" idx="1"/>
          </p:nvPr>
        </p:nvSpPr>
        <p:spPr/>
        <p:txBody>
          <a:bodyPr/>
          <a:lstStyle/>
          <a:p>
            <a:pPr marL="990600" lvl="1" indent="-533400"/>
            <a:r>
              <a:rPr lang="en-US" smtClean="0">
                <a:solidFill>
                  <a:srgbClr val="333399"/>
                </a:solidFill>
              </a:rPr>
              <a:t>Com quem precisamos nos comunicar?</a:t>
            </a:r>
          </a:p>
          <a:p>
            <a:pPr marL="990600" lvl="1" indent="-533400"/>
            <a:r>
              <a:rPr lang="en-US" smtClean="0">
                <a:solidFill>
                  <a:srgbClr val="333399"/>
                </a:solidFill>
              </a:rPr>
              <a:t>Qual seu envolvimento?</a:t>
            </a:r>
          </a:p>
          <a:p>
            <a:pPr marL="990600" lvl="1" indent="-533400"/>
            <a:r>
              <a:rPr lang="en-US" smtClean="0">
                <a:solidFill>
                  <a:srgbClr val="333399"/>
                </a:solidFill>
              </a:rPr>
              <a:t>Qual o seu papel na Comunicação?</a:t>
            </a:r>
          </a:p>
          <a:p>
            <a:pPr marL="990600" lvl="1" indent="-533400"/>
            <a:r>
              <a:rPr lang="en-US" smtClean="0">
                <a:solidFill>
                  <a:srgbClr val="333399"/>
                </a:solidFill>
              </a:rPr>
              <a:t>Qual o nosso propósito?</a:t>
            </a:r>
          </a:p>
          <a:p>
            <a:pPr marL="990600" lvl="1" indent="-533400"/>
            <a:r>
              <a:rPr lang="en-US" smtClean="0">
                <a:solidFill>
                  <a:srgbClr val="333399"/>
                </a:solidFill>
              </a:rPr>
              <a:t>Como melhor realizá-lo?</a:t>
            </a:r>
          </a:p>
          <a:p>
            <a:pPr marL="609600" indent="-609600"/>
            <a:endParaRPr lang="pt-BR" smtClean="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Line 2"/>
          <p:cNvSpPr>
            <a:spLocks noChangeShapeType="1"/>
          </p:cNvSpPr>
          <p:nvPr/>
        </p:nvSpPr>
        <p:spPr bwMode="auto">
          <a:xfrm>
            <a:off x="381000" y="609600"/>
            <a:ext cx="7315200" cy="0"/>
          </a:xfrm>
          <a:prstGeom prst="line">
            <a:avLst/>
          </a:prstGeom>
          <a:noFill/>
          <a:ln w="28575">
            <a:solidFill>
              <a:srgbClr val="333399"/>
            </a:solidFill>
            <a:round/>
            <a:headEnd/>
            <a:tailEnd/>
          </a:ln>
          <a:effectLst/>
        </p:spPr>
        <p:txBody>
          <a:bodyPr wrap="none" anchor="ctr"/>
          <a:lstStyle/>
          <a:p>
            <a:endParaRPr lang="pt-BR"/>
          </a:p>
        </p:txBody>
      </p:sp>
      <p:grpSp>
        <p:nvGrpSpPr>
          <p:cNvPr id="2" name="Group 3"/>
          <p:cNvGrpSpPr>
            <a:grpSpLocks/>
          </p:cNvGrpSpPr>
          <p:nvPr/>
        </p:nvGrpSpPr>
        <p:grpSpPr bwMode="auto">
          <a:xfrm>
            <a:off x="100013" y="6640513"/>
            <a:ext cx="152400" cy="141287"/>
            <a:chOff x="1440" y="2781"/>
            <a:chExt cx="808" cy="802"/>
          </a:xfrm>
        </p:grpSpPr>
        <p:sp>
          <p:nvSpPr>
            <p:cNvPr id="79876" name="Freeform 4"/>
            <p:cNvSpPr>
              <a:spLocks/>
            </p:cNvSpPr>
            <p:nvPr/>
          </p:nvSpPr>
          <p:spPr bwMode="auto">
            <a:xfrm>
              <a:off x="1440" y="2781"/>
              <a:ext cx="407" cy="802"/>
            </a:xfrm>
            <a:custGeom>
              <a:avLst/>
              <a:gdLst/>
              <a:ahLst/>
              <a:cxnLst>
                <a:cxn ang="0">
                  <a:pos x="2009" y="3790"/>
                </a:cxn>
                <a:cxn ang="0">
                  <a:pos x="1755" y="3768"/>
                </a:cxn>
                <a:cxn ang="0">
                  <a:pos x="1505" y="3708"/>
                </a:cxn>
                <a:cxn ang="0">
                  <a:pos x="1267" y="3619"/>
                </a:cxn>
                <a:cxn ang="0">
                  <a:pos x="1041" y="3498"/>
                </a:cxn>
                <a:cxn ang="0">
                  <a:pos x="839" y="3340"/>
                </a:cxn>
                <a:cxn ang="0">
                  <a:pos x="657" y="3159"/>
                </a:cxn>
                <a:cxn ang="0">
                  <a:pos x="507" y="2954"/>
                </a:cxn>
                <a:cxn ang="0">
                  <a:pos x="388" y="2731"/>
                </a:cxn>
                <a:cxn ang="0">
                  <a:pos x="300" y="2495"/>
                </a:cxn>
                <a:cxn ang="0">
                  <a:pos x="246" y="2245"/>
                </a:cxn>
                <a:cxn ang="0">
                  <a:pos x="229" y="1991"/>
                </a:cxn>
                <a:cxn ang="0">
                  <a:pos x="249" y="1741"/>
                </a:cxn>
                <a:cxn ang="0">
                  <a:pos x="305" y="1493"/>
                </a:cxn>
                <a:cxn ang="0">
                  <a:pos x="397" y="1254"/>
                </a:cxn>
                <a:cxn ang="0">
                  <a:pos x="519" y="1030"/>
                </a:cxn>
                <a:cxn ang="0">
                  <a:pos x="674" y="831"/>
                </a:cxn>
                <a:cxn ang="0">
                  <a:pos x="862" y="649"/>
                </a:cxn>
                <a:cxn ang="0">
                  <a:pos x="1063" y="498"/>
                </a:cxn>
                <a:cxn ang="0">
                  <a:pos x="1289" y="377"/>
                </a:cxn>
                <a:cxn ang="0">
                  <a:pos x="1525" y="292"/>
                </a:cxn>
                <a:cxn ang="0">
                  <a:pos x="1777" y="235"/>
                </a:cxn>
                <a:cxn ang="0">
                  <a:pos x="2034" y="218"/>
                </a:cxn>
                <a:cxn ang="0">
                  <a:pos x="1898" y="3"/>
                </a:cxn>
                <a:cxn ang="0">
                  <a:pos x="1630" y="37"/>
                </a:cxn>
                <a:cxn ang="0">
                  <a:pos x="1367" y="105"/>
                </a:cxn>
                <a:cxn ang="0">
                  <a:pos x="1117" y="210"/>
                </a:cxn>
                <a:cxn ang="0">
                  <a:pos x="884" y="350"/>
                </a:cxn>
                <a:cxn ang="0">
                  <a:pos x="666" y="514"/>
                </a:cxn>
                <a:cxn ang="0">
                  <a:pos x="479" y="707"/>
                </a:cxn>
                <a:cxn ang="0">
                  <a:pos x="316" y="922"/>
                </a:cxn>
                <a:cxn ang="0">
                  <a:pos x="187" y="1155"/>
                </a:cxn>
                <a:cxn ang="0">
                  <a:pos x="88" y="1411"/>
                </a:cxn>
                <a:cxn ang="0">
                  <a:pos x="25" y="1671"/>
                </a:cxn>
                <a:cxn ang="0">
                  <a:pos x="0" y="1941"/>
                </a:cxn>
                <a:cxn ang="0">
                  <a:pos x="8" y="2208"/>
                </a:cxn>
                <a:cxn ang="0">
                  <a:pos x="54" y="2475"/>
                </a:cxn>
                <a:cxn ang="0">
                  <a:pos x="135" y="2728"/>
                </a:cxn>
                <a:cxn ang="0">
                  <a:pos x="252" y="2974"/>
                </a:cxn>
                <a:cxn ang="0">
                  <a:pos x="397" y="3203"/>
                </a:cxn>
                <a:cxn ang="0">
                  <a:pos x="575" y="3404"/>
                </a:cxn>
                <a:cxn ang="0">
                  <a:pos x="776" y="3582"/>
                </a:cxn>
                <a:cxn ang="0">
                  <a:pos x="1000" y="3733"/>
                </a:cxn>
                <a:cxn ang="0">
                  <a:pos x="1244" y="3858"/>
                </a:cxn>
                <a:cxn ang="0">
                  <a:pos x="1503" y="3943"/>
                </a:cxn>
                <a:cxn ang="0">
                  <a:pos x="1769" y="3993"/>
                </a:cxn>
                <a:cxn ang="0">
                  <a:pos x="2034" y="4010"/>
                </a:cxn>
              </a:cxnLst>
              <a:rect l="0" t="0" r="r" b="b"/>
              <a:pathLst>
                <a:path w="2034" h="4010">
                  <a:moveTo>
                    <a:pt x="2034" y="3790"/>
                  </a:moveTo>
                  <a:lnTo>
                    <a:pt x="2009" y="3790"/>
                  </a:lnTo>
                  <a:lnTo>
                    <a:pt x="1881" y="3781"/>
                  </a:lnTo>
                  <a:lnTo>
                    <a:pt x="1755" y="3768"/>
                  </a:lnTo>
                  <a:lnTo>
                    <a:pt x="1627" y="3744"/>
                  </a:lnTo>
                  <a:lnTo>
                    <a:pt x="1505" y="3708"/>
                  </a:lnTo>
                  <a:lnTo>
                    <a:pt x="1381" y="3670"/>
                  </a:lnTo>
                  <a:lnTo>
                    <a:pt x="1267" y="3619"/>
                  </a:lnTo>
                  <a:lnTo>
                    <a:pt x="1151" y="3560"/>
                  </a:lnTo>
                  <a:lnTo>
                    <a:pt x="1041" y="3498"/>
                  </a:lnTo>
                  <a:lnTo>
                    <a:pt x="936" y="3424"/>
                  </a:lnTo>
                  <a:lnTo>
                    <a:pt x="839" y="3340"/>
                  </a:lnTo>
                  <a:lnTo>
                    <a:pt x="746" y="3252"/>
                  </a:lnTo>
                  <a:lnTo>
                    <a:pt x="657" y="3159"/>
                  </a:lnTo>
                  <a:lnTo>
                    <a:pt x="578" y="3061"/>
                  </a:lnTo>
                  <a:lnTo>
                    <a:pt x="507" y="2954"/>
                  </a:lnTo>
                  <a:lnTo>
                    <a:pt x="444" y="2844"/>
                  </a:lnTo>
                  <a:lnTo>
                    <a:pt x="388" y="2731"/>
                  </a:lnTo>
                  <a:lnTo>
                    <a:pt x="336" y="2614"/>
                  </a:lnTo>
                  <a:lnTo>
                    <a:pt x="300" y="2495"/>
                  </a:lnTo>
                  <a:lnTo>
                    <a:pt x="266" y="2370"/>
                  </a:lnTo>
                  <a:lnTo>
                    <a:pt x="246" y="2245"/>
                  </a:lnTo>
                  <a:lnTo>
                    <a:pt x="235" y="2118"/>
                  </a:lnTo>
                  <a:lnTo>
                    <a:pt x="229" y="1991"/>
                  </a:lnTo>
                  <a:lnTo>
                    <a:pt x="235" y="1865"/>
                  </a:lnTo>
                  <a:lnTo>
                    <a:pt x="249" y="1741"/>
                  </a:lnTo>
                  <a:lnTo>
                    <a:pt x="274" y="1614"/>
                  </a:lnTo>
                  <a:lnTo>
                    <a:pt x="305" y="1493"/>
                  </a:lnTo>
                  <a:lnTo>
                    <a:pt x="348" y="1372"/>
                  </a:lnTo>
                  <a:lnTo>
                    <a:pt x="397" y="1254"/>
                  </a:lnTo>
                  <a:lnTo>
                    <a:pt x="455" y="1138"/>
                  </a:lnTo>
                  <a:lnTo>
                    <a:pt x="519" y="1030"/>
                  </a:lnTo>
                  <a:lnTo>
                    <a:pt x="595" y="927"/>
                  </a:lnTo>
                  <a:lnTo>
                    <a:pt x="674" y="831"/>
                  </a:lnTo>
                  <a:lnTo>
                    <a:pt x="763" y="735"/>
                  </a:lnTo>
                  <a:lnTo>
                    <a:pt x="862" y="649"/>
                  </a:lnTo>
                  <a:lnTo>
                    <a:pt x="958" y="571"/>
                  </a:lnTo>
                  <a:lnTo>
                    <a:pt x="1063" y="498"/>
                  </a:lnTo>
                  <a:lnTo>
                    <a:pt x="1173" y="436"/>
                  </a:lnTo>
                  <a:lnTo>
                    <a:pt x="1289" y="377"/>
                  </a:lnTo>
                  <a:lnTo>
                    <a:pt x="1407" y="329"/>
                  </a:lnTo>
                  <a:lnTo>
                    <a:pt x="1525" y="292"/>
                  </a:lnTo>
                  <a:lnTo>
                    <a:pt x="1652" y="257"/>
                  </a:lnTo>
                  <a:lnTo>
                    <a:pt x="1777" y="235"/>
                  </a:lnTo>
                  <a:lnTo>
                    <a:pt x="1905" y="224"/>
                  </a:lnTo>
                  <a:lnTo>
                    <a:pt x="2034" y="218"/>
                  </a:lnTo>
                  <a:lnTo>
                    <a:pt x="2034" y="0"/>
                  </a:lnTo>
                  <a:lnTo>
                    <a:pt x="1898" y="3"/>
                  </a:lnTo>
                  <a:lnTo>
                    <a:pt x="1764" y="15"/>
                  </a:lnTo>
                  <a:lnTo>
                    <a:pt x="1630" y="37"/>
                  </a:lnTo>
                  <a:lnTo>
                    <a:pt x="1497" y="65"/>
                  </a:lnTo>
                  <a:lnTo>
                    <a:pt x="1367" y="105"/>
                  </a:lnTo>
                  <a:lnTo>
                    <a:pt x="1238" y="153"/>
                  </a:lnTo>
                  <a:lnTo>
                    <a:pt x="1117" y="210"/>
                  </a:lnTo>
                  <a:lnTo>
                    <a:pt x="995" y="277"/>
                  </a:lnTo>
                  <a:lnTo>
                    <a:pt x="884" y="350"/>
                  </a:lnTo>
                  <a:lnTo>
                    <a:pt x="774" y="428"/>
                  </a:lnTo>
                  <a:lnTo>
                    <a:pt x="666" y="514"/>
                  </a:lnTo>
                  <a:lnTo>
                    <a:pt x="569" y="605"/>
                  </a:lnTo>
                  <a:lnTo>
                    <a:pt x="479" y="707"/>
                  </a:lnTo>
                  <a:lnTo>
                    <a:pt x="397" y="811"/>
                  </a:lnTo>
                  <a:lnTo>
                    <a:pt x="316" y="922"/>
                  </a:lnTo>
                  <a:lnTo>
                    <a:pt x="249" y="1037"/>
                  </a:lnTo>
                  <a:lnTo>
                    <a:pt x="187" y="1155"/>
                  </a:lnTo>
                  <a:lnTo>
                    <a:pt x="134" y="1279"/>
                  </a:lnTo>
                  <a:lnTo>
                    <a:pt x="88" y="1411"/>
                  </a:lnTo>
                  <a:lnTo>
                    <a:pt x="54" y="1538"/>
                  </a:lnTo>
                  <a:lnTo>
                    <a:pt x="25" y="1671"/>
                  </a:lnTo>
                  <a:lnTo>
                    <a:pt x="8" y="1806"/>
                  </a:lnTo>
                  <a:lnTo>
                    <a:pt x="0" y="1941"/>
                  </a:lnTo>
                  <a:lnTo>
                    <a:pt x="0" y="2072"/>
                  </a:lnTo>
                  <a:lnTo>
                    <a:pt x="8" y="2208"/>
                  </a:lnTo>
                  <a:lnTo>
                    <a:pt x="25" y="2341"/>
                  </a:lnTo>
                  <a:lnTo>
                    <a:pt x="54" y="2475"/>
                  </a:lnTo>
                  <a:lnTo>
                    <a:pt x="91" y="2600"/>
                  </a:lnTo>
                  <a:lnTo>
                    <a:pt x="135" y="2728"/>
                  </a:lnTo>
                  <a:lnTo>
                    <a:pt x="189" y="2852"/>
                  </a:lnTo>
                  <a:lnTo>
                    <a:pt x="252" y="2974"/>
                  </a:lnTo>
                  <a:lnTo>
                    <a:pt x="320" y="3087"/>
                  </a:lnTo>
                  <a:lnTo>
                    <a:pt x="397" y="3203"/>
                  </a:lnTo>
                  <a:lnTo>
                    <a:pt x="482" y="3304"/>
                  </a:lnTo>
                  <a:lnTo>
                    <a:pt x="575" y="3404"/>
                  </a:lnTo>
                  <a:lnTo>
                    <a:pt x="671" y="3500"/>
                  </a:lnTo>
                  <a:lnTo>
                    <a:pt x="776" y="3582"/>
                  </a:lnTo>
                  <a:lnTo>
                    <a:pt x="886" y="3661"/>
                  </a:lnTo>
                  <a:lnTo>
                    <a:pt x="1000" y="3733"/>
                  </a:lnTo>
                  <a:lnTo>
                    <a:pt x="1119" y="3798"/>
                  </a:lnTo>
                  <a:lnTo>
                    <a:pt x="1244" y="3858"/>
                  </a:lnTo>
                  <a:lnTo>
                    <a:pt x="1370" y="3904"/>
                  </a:lnTo>
                  <a:lnTo>
                    <a:pt x="1503" y="3943"/>
                  </a:lnTo>
                  <a:lnTo>
                    <a:pt x="1635" y="3971"/>
                  </a:lnTo>
                  <a:lnTo>
                    <a:pt x="1769" y="3993"/>
                  </a:lnTo>
                  <a:lnTo>
                    <a:pt x="1902" y="4004"/>
                  </a:lnTo>
                  <a:lnTo>
                    <a:pt x="2034" y="4010"/>
                  </a:lnTo>
                  <a:lnTo>
                    <a:pt x="2034" y="3790"/>
                  </a:lnTo>
                  <a:close/>
                </a:path>
              </a:pathLst>
            </a:custGeom>
            <a:solidFill>
              <a:srgbClr val="333399"/>
            </a:solidFill>
            <a:ln w="0">
              <a:solidFill>
                <a:srgbClr val="000000"/>
              </a:solidFill>
              <a:prstDash val="solid"/>
              <a:round/>
              <a:headEnd/>
              <a:tailEnd/>
            </a:ln>
          </p:spPr>
          <p:txBody>
            <a:bodyPr/>
            <a:lstStyle/>
            <a:p>
              <a:endParaRPr lang="pt-BR"/>
            </a:p>
          </p:txBody>
        </p:sp>
        <p:sp>
          <p:nvSpPr>
            <p:cNvPr id="79877" name="Freeform 5"/>
            <p:cNvSpPr>
              <a:spLocks/>
            </p:cNvSpPr>
            <p:nvPr/>
          </p:nvSpPr>
          <p:spPr bwMode="auto">
            <a:xfrm>
              <a:off x="1841" y="2781"/>
              <a:ext cx="407" cy="802"/>
            </a:xfrm>
            <a:custGeom>
              <a:avLst/>
              <a:gdLst/>
              <a:ahLst/>
              <a:cxnLst>
                <a:cxn ang="0">
                  <a:pos x="27" y="3790"/>
                </a:cxn>
                <a:cxn ang="0">
                  <a:pos x="282" y="3768"/>
                </a:cxn>
                <a:cxn ang="0">
                  <a:pos x="531" y="3708"/>
                </a:cxn>
                <a:cxn ang="0">
                  <a:pos x="769" y="3619"/>
                </a:cxn>
                <a:cxn ang="0">
                  <a:pos x="995" y="3498"/>
                </a:cxn>
                <a:cxn ang="0">
                  <a:pos x="1197" y="3340"/>
                </a:cxn>
                <a:cxn ang="0">
                  <a:pos x="1380" y="3159"/>
                </a:cxn>
                <a:cxn ang="0">
                  <a:pos x="1529" y="2954"/>
                </a:cxn>
                <a:cxn ang="0">
                  <a:pos x="1648" y="2731"/>
                </a:cxn>
                <a:cxn ang="0">
                  <a:pos x="1736" y="2495"/>
                </a:cxn>
                <a:cxn ang="0">
                  <a:pos x="1787" y="2245"/>
                </a:cxn>
                <a:cxn ang="0">
                  <a:pos x="1807" y="1991"/>
                </a:cxn>
                <a:cxn ang="0">
                  <a:pos x="1785" y="1741"/>
                </a:cxn>
                <a:cxn ang="0">
                  <a:pos x="1731" y="1493"/>
                </a:cxn>
                <a:cxn ang="0">
                  <a:pos x="1637" y="1254"/>
                </a:cxn>
                <a:cxn ang="0">
                  <a:pos x="1515" y="1030"/>
                </a:cxn>
                <a:cxn ang="0">
                  <a:pos x="1359" y="831"/>
                </a:cxn>
                <a:cxn ang="0">
                  <a:pos x="1175" y="649"/>
                </a:cxn>
                <a:cxn ang="0">
                  <a:pos x="973" y="498"/>
                </a:cxn>
                <a:cxn ang="0">
                  <a:pos x="744" y="377"/>
                </a:cxn>
                <a:cxn ang="0">
                  <a:pos x="507" y="292"/>
                </a:cxn>
                <a:cxn ang="0">
                  <a:pos x="256" y="235"/>
                </a:cxn>
                <a:cxn ang="0">
                  <a:pos x="0" y="218"/>
                </a:cxn>
                <a:cxn ang="0">
                  <a:pos x="137" y="3"/>
                </a:cxn>
                <a:cxn ang="0">
                  <a:pos x="406" y="37"/>
                </a:cxn>
                <a:cxn ang="0">
                  <a:pos x="670" y="105"/>
                </a:cxn>
                <a:cxn ang="0">
                  <a:pos x="919" y="210"/>
                </a:cxn>
                <a:cxn ang="0">
                  <a:pos x="1152" y="350"/>
                </a:cxn>
                <a:cxn ang="0">
                  <a:pos x="1366" y="514"/>
                </a:cxn>
                <a:cxn ang="0">
                  <a:pos x="1557" y="707"/>
                </a:cxn>
                <a:cxn ang="0">
                  <a:pos x="1716" y="922"/>
                </a:cxn>
                <a:cxn ang="0">
                  <a:pos x="1849" y="1155"/>
                </a:cxn>
                <a:cxn ang="0">
                  <a:pos x="1948" y="1411"/>
                </a:cxn>
                <a:cxn ang="0">
                  <a:pos x="2011" y="1671"/>
                </a:cxn>
                <a:cxn ang="0">
                  <a:pos x="2036" y="1941"/>
                </a:cxn>
                <a:cxn ang="0">
                  <a:pos x="2024" y="2208"/>
                </a:cxn>
                <a:cxn ang="0">
                  <a:pos x="1982" y="2475"/>
                </a:cxn>
                <a:cxn ang="0">
                  <a:pos x="1901" y="2728"/>
                </a:cxn>
                <a:cxn ang="0">
                  <a:pos x="1785" y="2974"/>
                </a:cxn>
                <a:cxn ang="0">
                  <a:pos x="1637" y="3203"/>
                </a:cxn>
                <a:cxn ang="0">
                  <a:pos x="1461" y="3404"/>
                </a:cxn>
                <a:cxn ang="0">
                  <a:pos x="1260" y="3582"/>
                </a:cxn>
                <a:cxn ang="0">
                  <a:pos x="1035" y="3733"/>
                </a:cxn>
                <a:cxn ang="0">
                  <a:pos x="792" y="3858"/>
                </a:cxn>
                <a:cxn ang="0">
                  <a:pos x="534" y="3943"/>
                </a:cxn>
                <a:cxn ang="0">
                  <a:pos x="264" y="3993"/>
                </a:cxn>
                <a:cxn ang="0">
                  <a:pos x="0" y="4010"/>
                </a:cxn>
              </a:cxnLst>
              <a:rect l="0" t="0" r="r" b="b"/>
              <a:pathLst>
                <a:path w="2036" h="4010">
                  <a:moveTo>
                    <a:pt x="0" y="3790"/>
                  </a:moveTo>
                  <a:lnTo>
                    <a:pt x="27" y="3790"/>
                  </a:lnTo>
                  <a:lnTo>
                    <a:pt x="155" y="3781"/>
                  </a:lnTo>
                  <a:lnTo>
                    <a:pt x="282" y="3768"/>
                  </a:lnTo>
                  <a:lnTo>
                    <a:pt x="406" y="3744"/>
                  </a:lnTo>
                  <a:lnTo>
                    <a:pt x="531" y="3708"/>
                  </a:lnTo>
                  <a:lnTo>
                    <a:pt x="652" y="3670"/>
                  </a:lnTo>
                  <a:lnTo>
                    <a:pt x="769" y="3619"/>
                  </a:lnTo>
                  <a:lnTo>
                    <a:pt x="885" y="3560"/>
                  </a:lnTo>
                  <a:lnTo>
                    <a:pt x="995" y="3498"/>
                  </a:lnTo>
                  <a:lnTo>
                    <a:pt x="1101" y="3424"/>
                  </a:lnTo>
                  <a:lnTo>
                    <a:pt x="1197" y="3340"/>
                  </a:lnTo>
                  <a:lnTo>
                    <a:pt x="1290" y="3252"/>
                  </a:lnTo>
                  <a:lnTo>
                    <a:pt x="1380" y="3159"/>
                  </a:lnTo>
                  <a:lnTo>
                    <a:pt x="1455" y="3061"/>
                  </a:lnTo>
                  <a:lnTo>
                    <a:pt x="1529" y="2954"/>
                  </a:lnTo>
                  <a:lnTo>
                    <a:pt x="1594" y="2844"/>
                  </a:lnTo>
                  <a:lnTo>
                    <a:pt x="1648" y="2731"/>
                  </a:lnTo>
                  <a:lnTo>
                    <a:pt x="1695" y="2614"/>
                  </a:lnTo>
                  <a:lnTo>
                    <a:pt x="1736" y="2495"/>
                  </a:lnTo>
                  <a:lnTo>
                    <a:pt x="1768" y="2370"/>
                  </a:lnTo>
                  <a:lnTo>
                    <a:pt x="1787" y="2245"/>
                  </a:lnTo>
                  <a:lnTo>
                    <a:pt x="1802" y="2118"/>
                  </a:lnTo>
                  <a:lnTo>
                    <a:pt x="1807" y="1991"/>
                  </a:lnTo>
                  <a:lnTo>
                    <a:pt x="1802" y="1865"/>
                  </a:lnTo>
                  <a:lnTo>
                    <a:pt x="1785" y="1741"/>
                  </a:lnTo>
                  <a:lnTo>
                    <a:pt x="1759" y="1614"/>
                  </a:lnTo>
                  <a:lnTo>
                    <a:pt x="1731" y="1493"/>
                  </a:lnTo>
                  <a:lnTo>
                    <a:pt x="1685" y="1372"/>
                  </a:lnTo>
                  <a:lnTo>
                    <a:pt x="1637" y="1254"/>
                  </a:lnTo>
                  <a:lnTo>
                    <a:pt x="1582" y="1138"/>
                  </a:lnTo>
                  <a:lnTo>
                    <a:pt x="1515" y="1030"/>
                  </a:lnTo>
                  <a:lnTo>
                    <a:pt x="1441" y="927"/>
                  </a:lnTo>
                  <a:lnTo>
                    <a:pt x="1359" y="831"/>
                  </a:lnTo>
                  <a:lnTo>
                    <a:pt x="1271" y="735"/>
                  </a:lnTo>
                  <a:lnTo>
                    <a:pt x="1175" y="649"/>
                  </a:lnTo>
                  <a:lnTo>
                    <a:pt x="1078" y="571"/>
                  </a:lnTo>
                  <a:lnTo>
                    <a:pt x="973" y="498"/>
                  </a:lnTo>
                  <a:lnTo>
                    <a:pt x="860" y="436"/>
                  </a:lnTo>
                  <a:lnTo>
                    <a:pt x="744" y="377"/>
                  </a:lnTo>
                  <a:lnTo>
                    <a:pt x="630" y="329"/>
                  </a:lnTo>
                  <a:lnTo>
                    <a:pt x="507" y="292"/>
                  </a:lnTo>
                  <a:lnTo>
                    <a:pt x="382" y="257"/>
                  </a:lnTo>
                  <a:lnTo>
                    <a:pt x="256" y="235"/>
                  </a:lnTo>
                  <a:lnTo>
                    <a:pt x="131" y="224"/>
                  </a:lnTo>
                  <a:lnTo>
                    <a:pt x="0" y="218"/>
                  </a:lnTo>
                  <a:lnTo>
                    <a:pt x="0" y="0"/>
                  </a:lnTo>
                  <a:lnTo>
                    <a:pt x="137" y="3"/>
                  </a:lnTo>
                  <a:lnTo>
                    <a:pt x="270" y="15"/>
                  </a:lnTo>
                  <a:lnTo>
                    <a:pt x="406" y="37"/>
                  </a:lnTo>
                  <a:lnTo>
                    <a:pt x="536" y="65"/>
                  </a:lnTo>
                  <a:lnTo>
                    <a:pt x="670" y="105"/>
                  </a:lnTo>
                  <a:lnTo>
                    <a:pt x="795" y="153"/>
                  </a:lnTo>
                  <a:lnTo>
                    <a:pt x="919" y="210"/>
                  </a:lnTo>
                  <a:lnTo>
                    <a:pt x="1041" y="277"/>
                  </a:lnTo>
                  <a:lnTo>
                    <a:pt x="1152" y="350"/>
                  </a:lnTo>
                  <a:lnTo>
                    <a:pt x="1263" y="428"/>
                  </a:lnTo>
                  <a:lnTo>
                    <a:pt x="1366" y="514"/>
                  </a:lnTo>
                  <a:lnTo>
                    <a:pt x="1467" y="605"/>
                  </a:lnTo>
                  <a:lnTo>
                    <a:pt x="1557" y="707"/>
                  </a:lnTo>
                  <a:lnTo>
                    <a:pt x="1640" y="811"/>
                  </a:lnTo>
                  <a:lnTo>
                    <a:pt x="1716" y="922"/>
                  </a:lnTo>
                  <a:lnTo>
                    <a:pt x="1785" y="1037"/>
                  </a:lnTo>
                  <a:lnTo>
                    <a:pt x="1849" y="1155"/>
                  </a:lnTo>
                  <a:lnTo>
                    <a:pt x="1901" y="1279"/>
                  </a:lnTo>
                  <a:lnTo>
                    <a:pt x="1948" y="1411"/>
                  </a:lnTo>
                  <a:lnTo>
                    <a:pt x="1982" y="1538"/>
                  </a:lnTo>
                  <a:lnTo>
                    <a:pt x="2011" y="1671"/>
                  </a:lnTo>
                  <a:lnTo>
                    <a:pt x="2024" y="1806"/>
                  </a:lnTo>
                  <a:lnTo>
                    <a:pt x="2036" y="1941"/>
                  </a:lnTo>
                  <a:lnTo>
                    <a:pt x="2036" y="2072"/>
                  </a:lnTo>
                  <a:lnTo>
                    <a:pt x="2024" y="2208"/>
                  </a:lnTo>
                  <a:lnTo>
                    <a:pt x="2011" y="2341"/>
                  </a:lnTo>
                  <a:lnTo>
                    <a:pt x="1982" y="2475"/>
                  </a:lnTo>
                  <a:lnTo>
                    <a:pt x="1943" y="2600"/>
                  </a:lnTo>
                  <a:lnTo>
                    <a:pt x="1901" y="2728"/>
                  </a:lnTo>
                  <a:lnTo>
                    <a:pt x="1847" y="2852"/>
                  </a:lnTo>
                  <a:lnTo>
                    <a:pt x="1785" y="2974"/>
                  </a:lnTo>
                  <a:lnTo>
                    <a:pt x="1716" y="3087"/>
                  </a:lnTo>
                  <a:lnTo>
                    <a:pt x="1637" y="3203"/>
                  </a:lnTo>
                  <a:lnTo>
                    <a:pt x="1552" y="3304"/>
                  </a:lnTo>
                  <a:lnTo>
                    <a:pt x="1461" y="3404"/>
                  </a:lnTo>
                  <a:lnTo>
                    <a:pt x="1362" y="3500"/>
                  </a:lnTo>
                  <a:lnTo>
                    <a:pt x="1260" y="3582"/>
                  </a:lnTo>
                  <a:lnTo>
                    <a:pt x="1152" y="3661"/>
                  </a:lnTo>
                  <a:lnTo>
                    <a:pt x="1035" y="3733"/>
                  </a:lnTo>
                  <a:lnTo>
                    <a:pt x="914" y="3798"/>
                  </a:lnTo>
                  <a:lnTo>
                    <a:pt x="792" y="3858"/>
                  </a:lnTo>
                  <a:lnTo>
                    <a:pt x="663" y="3904"/>
                  </a:lnTo>
                  <a:lnTo>
                    <a:pt x="534" y="3943"/>
                  </a:lnTo>
                  <a:lnTo>
                    <a:pt x="401" y="3971"/>
                  </a:lnTo>
                  <a:lnTo>
                    <a:pt x="264" y="3993"/>
                  </a:lnTo>
                  <a:lnTo>
                    <a:pt x="131" y="4004"/>
                  </a:lnTo>
                  <a:lnTo>
                    <a:pt x="0" y="4010"/>
                  </a:lnTo>
                  <a:lnTo>
                    <a:pt x="0" y="3790"/>
                  </a:lnTo>
                  <a:close/>
                </a:path>
              </a:pathLst>
            </a:custGeom>
            <a:solidFill>
              <a:srgbClr val="333399"/>
            </a:solidFill>
            <a:ln w="0">
              <a:solidFill>
                <a:srgbClr val="333399"/>
              </a:solidFill>
              <a:prstDash val="solid"/>
              <a:round/>
              <a:headEnd/>
              <a:tailEnd/>
            </a:ln>
          </p:spPr>
          <p:txBody>
            <a:bodyPr/>
            <a:lstStyle/>
            <a:p>
              <a:endParaRPr lang="pt-BR"/>
            </a:p>
          </p:txBody>
        </p:sp>
        <p:sp>
          <p:nvSpPr>
            <p:cNvPr id="79878" name="Freeform 6"/>
            <p:cNvSpPr>
              <a:spLocks/>
            </p:cNvSpPr>
            <p:nvPr/>
          </p:nvSpPr>
          <p:spPr bwMode="auto">
            <a:xfrm>
              <a:off x="1618" y="2959"/>
              <a:ext cx="395" cy="445"/>
            </a:xfrm>
            <a:custGeom>
              <a:avLst/>
              <a:gdLst/>
              <a:ahLst/>
              <a:cxnLst>
                <a:cxn ang="0">
                  <a:pos x="1770" y="1758"/>
                </a:cxn>
                <a:cxn ang="0">
                  <a:pos x="1626" y="1875"/>
                </a:cxn>
                <a:cxn ang="0">
                  <a:pos x="1464" y="1956"/>
                </a:cxn>
                <a:cxn ang="0">
                  <a:pos x="1291" y="2007"/>
                </a:cxn>
                <a:cxn ang="0">
                  <a:pos x="1106" y="2021"/>
                </a:cxn>
                <a:cxn ang="0">
                  <a:pos x="923" y="1999"/>
                </a:cxn>
                <a:cxn ang="0">
                  <a:pos x="748" y="1944"/>
                </a:cxn>
                <a:cxn ang="0">
                  <a:pos x="591" y="1853"/>
                </a:cxn>
                <a:cxn ang="0">
                  <a:pos x="456" y="1735"/>
                </a:cxn>
                <a:cxn ang="0">
                  <a:pos x="343" y="1592"/>
                </a:cxn>
                <a:cxn ang="0">
                  <a:pos x="264" y="1429"/>
                </a:cxn>
                <a:cxn ang="0">
                  <a:pos x="220" y="1253"/>
                </a:cxn>
                <a:cxn ang="0">
                  <a:pos x="208" y="1072"/>
                </a:cxn>
                <a:cxn ang="0">
                  <a:pos x="233" y="895"/>
                </a:cxn>
                <a:cxn ang="0">
                  <a:pos x="296" y="722"/>
                </a:cxn>
                <a:cxn ang="0">
                  <a:pos x="389" y="570"/>
                </a:cxn>
                <a:cxn ang="0">
                  <a:pos x="515" y="434"/>
                </a:cxn>
                <a:cxn ang="0">
                  <a:pos x="662" y="329"/>
                </a:cxn>
                <a:cxn ang="0">
                  <a:pos x="829" y="253"/>
                </a:cxn>
                <a:cxn ang="0">
                  <a:pos x="1006" y="213"/>
                </a:cxn>
                <a:cxn ang="0">
                  <a:pos x="1189" y="211"/>
                </a:cxn>
                <a:cxn ang="0">
                  <a:pos x="1368" y="239"/>
                </a:cxn>
                <a:cxn ang="0">
                  <a:pos x="1539" y="304"/>
                </a:cxn>
                <a:cxn ang="0">
                  <a:pos x="1693" y="403"/>
                </a:cxn>
                <a:cxn ang="0">
                  <a:pos x="1822" y="528"/>
                </a:cxn>
                <a:cxn ang="0">
                  <a:pos x="1907" y="313"/>
                </a:cxn>
                <a:cxn ang="0">
                  <a:pos x="1750" y="185"/>
                </a:cxn>
                <a:cxn ang="0">
                  <a:pos x="1572" y="91"/>
                </a:cxn>
                <a:cxn ang="0">
                  <a:pos x="1376" y="29"/>
                </a:cxn>
                <a:cxn ang="0">
                  <a:pos x="1181" y="0"/>
                </a:cxn>
                <a:cxn ang="0">
                  <a:pos x="976" y="9"/>
                </a:cxn>
                <a:cxn ang="0">
                  <a:pos x="780" y="54"/>
                </a:cxn>
                <a:cxn ang="0">
                  <a:pos x="591" y="128"/>
                </a:cxn>
                <a:cxn ang="0">
                  <a:pos x="425" y="241"/>
                </a:cxn>
                <a:cxn ang="0">
                  <a:pos x="277" y="377"/>
                </a:cxn>
                <a:cxn ang="0">
                  <a:pos x="161" y="543"/>
                </a:cxn>
                <a:cxn ang="0">
                  <a:pos x="69" y="722"/>
                </a:cxn>
                <a:cxn ang="0">
                  <a:pos x="16" y="915"/>
                </a:cxn>
                <a:cxn ang="0">
                  <a:pos x="0" y="1115"/>
                </a:cxn>
                <a:cxn ang="0">
                  <a:pos x="16" y="1314"/>
                </a:cxn>
                <a:cxn ang="0">
                  <a:pos x="69" y="1508"/>
                </a:cxn>
                <a:cxn ang="0">
                  <a:pos x="161" y="1687"/>
                </a:cxn>
                <a:cxn ang="0">
                  <a:pos x="278" y="1851"/>
                </a:cxn>
                <a:cxn ang="0">
                  <a:pos x="425" y="1989"/>
                </a:cxn>
                <a:cxn ang="0">
                  <a:pos x="593" y="2100"/>
                </a:cxn>
                <a:cxn ang="0">
                  <a:pos x="780" y="2176"/>
                </a:cxn>
                <a:cxn ang="0">
                  <a:pos x="976" y="2221"/>
                </a:cxn>
                <a:cxn ang="0">
                  <a:pos x="1181" y="2226"/>
                </a:cxn>
                <a:cxn ang="0">
                  <a:pos x="1382" y="2199"/>
                </a:cxn>
                <a:cxn ang="0">
                  <a:pos x="1572" y="2137"/>
                </a:cxn>
                <a:cxn ang="0">
                  <a:pos x="1750" y="2041"/>
                </a:cxn>
                <a:cxn ang="0">
                  <a:pos x="1907" y="1917"/>
                </a:cxn>
                <a:cxn ang="0">
                  <a:pos x="1822" y="1699"/>
                </a:cxn>
              </a:cxnLst>
              <a:rect l="0" t="0" r="r" b="b"/>
              <a:pathLst>
                <a:path w="1975" h="2226">
                  <a:moveTo>
                    <a:pt x="1822" y="1699"/>
                  </a:moveTo>
                  <a:lnTo>
                    <a:pt x="1770" y="1758"/>
                  </a:lnTo>
                  <a:lnTo>
                    <a:pt x="1702" y="1821"/>
                  </a:lnTo>
                  <a:lnTo>
                    <a:pt x="1626" y="1875"/>
                  </a:lnTo>
                  <a:lnTo>
                    <a:pt x="1547" y="1923"/>
                  </a:lnTo>
                  <a:lnTo>
                    <a:pt x="1464" y="1956"/>
                  </a:lnTo>
                  <a:lnTo>
                    <a:pt x="1376" y="1988"/>
                  </a:lnTo>
                  <a:lnTo>
                    <a:pt x="1291" y="2007"/>
                  </a:lnTo>
                  <a:lnTo>
                    <a:pt x="1195" y="2018"/>
                  </a:lnTo>
                  <a:lnTo>
                    <a:pt x="1106" y="2021"/>
                  </a:lnTo>
                  <a:lnTo>
                    <a:pt x="1016" y="2013"/>
                  </a:lnTo>
                  <a:lnTo>
                    <a:pt x="923" y="1999"/>
                  </a:lnTo>
                  <a:lnTo>
                    <a:pt x="838" y="1979"/>
                  </a:lnTo>
                  <a:lnTo>
                    <a:pt x="748" y="1944"/>
                  </a:lnTo>
                  <a:lnTo>
                    <a:pt x="670" y="1903"/>
                  </a:lnTo>
                  <a:lnTo>
                    <a:pt x="591" y="1853"/>
                  </a:lnTo>
                  <a:lnTo>
                    <a:pt x="525" y="1797"/>
                  </a:lnTo>
                  <a:lnTo>
                    <a:pt x="456" y="1735"/>
                  </a:lnTo>
                  <a:lnTo>
                    <a:pt x="397" y="1667"/>
                  </a:lnTo>
                  <a:lnTo>
                    <a:pt x="343" y="1592"/>
                  </a:lnTo>
                  <a:lnTo>
                    <a:pt x="301" y="1514"/>
                  </a:lnTo>
                  <a:lnTo>
                    <a:pt x="264" y="1429"/>
                  </a:lnTo>
                  <a:lnTo>
                    <a:pt x="240" y="1344"/>
                  </a:lnTo>
                  <a:lnTo>
                    <a:pt x="220" y="1253"/>
                  </a:lnTo>
                  <a:lnTo>
                    <a:pt x="208" y="1162"/>
                  </a:lnTo>
                  <a:lnTo>
                    <a:pt x="208" y="1072"/>
                  </a:lnTo>
                  <a:lnTo>
                    <a:pt x="216" y="985"/>
                  </a:lnTo>
                  <a:lnTo>
                    <a:pt x="233" y="895"/>
                  </a:lnTo>
                  <a:lnTo>
                    <a:pt x="261" y="807"/>
                  </a:lnTo>
                  <a:lnTo>
                    <a:pt x="296" y="722"/>
                  </a:lnTo>
                  <a:lnTo>
                    <a:pt x="341" y="643"/>
                  </a:lnTo>
                  <a:lnTo>
                    <a:pt x="389" y="570"/>
                  </a:lnTo>
                  <a:lnTo>
                    <a:pt x="452" y="501"/>
                  </a:lnTo>
                  <a:lnTo>
                    <a:pt x="515" y="434"/>
                  </a:lnTo>
                  <a:lnTo>
                    <a:pt x="585" y="377"/>
                  </a:lnTo>
                  <a:lnTo>
                    <a:pt x="662" y="329"/>
                  </a:lnTo>
                  <a:lnTo>
                    <a:pt x="743" y="287"/>
                  </a:lnTo>
                  <a:lnTo>
                    <a:pt x="829" y="253"/>
                  </a:lnTo>
                  <a:lnTo>
                    <a:pt x="916" y="230"/>
                  </a:lnTo>
                  <a:lnTo>
                    <a:pt x="1006" y="213"/>
                  </a:lnTo>
                  <a:lnTo>
                    <a:pt x="1095" y="205"/>
                  </a:lnTo>
                  <a:lnTo>
                    <a:pt x="1189" y="211"/>
                  </a:lnTo>
                  <a:lnTo>
                    <a:pt x="1280" y="219"/>
                  </a:lnTo>
                  <a:lnTo>
                    <a:pt x="1368" y="239"/>
                  </a:lnTo>
                  <a:lnTo>
                    <a:pt x="1456" y="267"/>
                  </a:lnTo>
                  <a:lnTo>
                    <a:pt x="1539" y="304"/>
                  </a:lnTo>
                  <a:lnTo>
                    <a:pt x="1617" y="349"/>
                  </a:lnTo>
                  <a:lnTo>
                    <a:pt x="1693" y="403"/>
                  </a:lnTo>
                  <a:lnTo>
                    <a:pt x="1762" y="463"/>
                  </a:lnTo>
                  <a:lnTo>
                    <a:pt x="1822" y="528"/>
                  </a:lnTo>
                  <a:lnTo>
                    <a:pt x="1975" y="386"/>
                  </a:lnTo>
                  <a:lnTo>
                    <a:pt x="1907" y="313"/>
                  </a:lnTo>
                  <a:lnTo>
                    <a:pt x="1830" y="247"/>
                  </a:lnTo>
                  <a:lnTo>
                    <a:pt x="1750" y="185"/>
                  </a:lnTo>
                  <a:lnTo>
                    <a:pt x="1663" y="135"/>
                  </a:lnTo>
                  <a:lnTo>
                    <a:pt x="1572" y="91"/>
                  </a:lnTo>
                  <a:lnTo>
                    <a:pt x="1477" y="56"/>
                  </a:lnTo>
                  <a:lnTo>
                    <a:pt x="1376" y="29"/>
                  </a:lnTo>
                  <a:lnTo>
                    <a:pt x="1280" y="11"/>
                  </a:lnTo>
                  <a:lnTo>
                    <a:pt x="1181" y="0"/>
                  </a:lnTo>
                  <a:lnTo>
                    <a:pt x="1078" y="0"/>
                  </a:lnTo>
                  <a:lnTo>
                    <a:pt x="976" y="9"/>
                  </a:lnTo>
                  <a:lnTo>
                    <a:pt x="880" y="25"/>
                  </a:lnTo>
                  <a:lnTo>
                    <a:pt x="780" y="54"/>
                  </a:lnTo>
                  <a:lnTo>
                    <a:pt x="684" y="87"/>
                  </a:lnTo>
                  <a:lnTo>
                    <a:pt x="591" y="128"/>
                  </a:lnTo>
                  <a:lnTo>
                    <a:pt x="509" y="182"/>
                  </a:lnTo>
                  <a:lnTo>
                    <a:pt x="425" y="241"/>
                  </a:lnTo>
                  <a:lnTo>
                    <a:pt x="346" y="307"/>
                  </a:lnTo>
                  <a:lnTo>
                    <a:pt x="277" y="377"/>
                  </a:lnTo>
                  <a:lnTo>
                    <a:pt x="213" y="458"/>
                  </a:lnTo>
                  <a:lnTo>
                    <a:pt x="161" y="543"/>
                  </a:lnTo>
                  <a:lnTo>
                    <a:pt x="111" y="628"/>
                  </a:lnTo>
                  <a:lnTo>
                    <a:pt x="69" y="722"/>
                  </a:lnTo>
                  <a:lnTo>
                    <a:pt x="37" y="818"/>
                  </a:lnTo>
                  <a:lnTo>
                    <a:pt x="16" y="915"/>
                  </a:lnTo>
                  <a:lnTo>
                    <a:pt x="2" y="1014"/>
                  </a:lnTo>
                  <a:lnTo>
                    <a:pt x="0" y="1115"/>
                  </a:lnTo>
                  <a:lnTo>
                    <a:pt x="2" y="1213"/>
                  </a:lnTo>
                  <a:lnTo>
                    <a:pt x="16" y="1314"/>
                  </a:lnTo>
                  <a:lnTo>
                    <a:pt x="37" y="1413"/>
                  </a:lnTo>
                  <a:lnTo>
                    <a:pt x="69" y="1508"/>
                  </a:lnTo>
                  <a:lnTo>
                    <a:pt x="111" y="1601"/>
                  </a:lnTo>
                  <a:lnTo>
                    <a:pt x="161" y="1687"/>
                  </a:lnTo>
                  <a:lnTo>
                    <a:pt x="213" y="1769"/>
                  </a:lnTo>
                  <a:lnTo>
                    <a:pt x="278" y="1851"/>
                  </a:lnTo>
                  <a:lnTo>
                    <a:pt x="350" y="1923"/>
                  </a:lnTo>
                  <a:lnTo>
                    <a:pt x="425" y="1989"/>
                  </a:lnTo>
                  <a:lnTo>
                    <a:pt x="509" y="2046"/>
                  </a:lnTo>
                  <a:lnTo>
                    <a:pt x="593" y="2100"/>
                  </a:lnTo>
                  <a:lnTo>
                    <a:pt x="684" y="2140"/>
                  </a:lnTo>
                  <a:lnTo>
                    <a:pt x="780" y="2176"/>
                  </a:lnTo>
                  <a:lnTo>
                    <a:pt x="880" y="2203"/>
                  </a:lnTo>
                  <a:lnTo>
                    <a:pt x="976" y="2221"/>
                  </a:lnTo>
                  <a:lnTo>
                    <a:pt x="1078" y="2226"/>
                  </a:lnTo>
                  <a:lnTo>
                    <a:pt x="1181" y="2226"/>
                  </a:lnTo>
                  <a:lnTo>
                    <a:pt x="1283" y="2218"/>
                  </a:lnTo>
                  <a:lnTo>
                    <a:pt x="1382" y="2199"/>
                  </a:lnTo>
                  <a:lnTo>
                    <a:pt x="1478" y="2173"/>
                  </a:lnTo>
                  <a:lnTo>
                    <a:pt x="1572" y="2137"/>
                  </a:lnTo>
                  <a:lnTo>
                    <a:pt x="1665" y="2092"/>
                  </a:lnTo>
                  <a:lnTo>
                    <a:pt x="1750" y="2041"/>
                  </a:lnTo>
                  <a:lnTo>
                    <a:pt x="1830" y="1979"/>
                  </a:lnTo>
                  <a:lnTo>
                    <a:pt x="1907" y="1917"/>
                  </a:lnTo>
                  <a:lnTo>
                    <a:pt x="1975" y="1843"/>
                  </a:lnTo>
                  <a:lnTo>
                    <a:pt x="1822" y="1699"/>
                  </a:lnTo>
                  <a:close/>
                </a:path>
              </a:pathLst>
            </a:custGeom>
            <a:solidFill>
              <a:srgbClr val="333399"/>
            </a:solidFill>
            <a:ln w="0">
              <a:solidFill>
                <a:srgbClr val="333399"/>
              </a:solidFill>
              <a:prstDash val="solid"/>
              <a:round/>
              <a:headEnd/>
              <a:tailEnd/>
            </a:ln>
          </p:spPr>
          <p:txBody>
            <a:bodyPr/>
            <a:lstStyle/>
            <a:p>
              <a:endParaRPr lang="pt-BR"/>
            </a:p>
          </p:txBody>
        </p:sp>
      </p:grpSp>
      <p:sp>
        <p:nvSpPr>
          <p:cNvPr id="79879" name="Text Box 7"/>
          <p:cNvSpPr txBox="1">
            <a:spLocks noChangeArrowheads="1"/>
          </p:cNvSpPr>
          <p:nvPr/>
        </p:nvSpPr>
        <p:spPr bwMode="auto">
          <a:xfrm>
            <a:off x="288925" y="219075"/>
            <a:ext cx="5848350" cy="396875"/>
          </a:xfrm>
          <a:prstGeom prst="rect">
            <a:avLst/>
          </a:prstGeom>
          <a:noFill/>
          <a:ln w="9525">
            <a:noFill/>
            <a:miter lim="800000"/>
            <a:headEnd/>
            <a:tailEnd/>
          </a:ln>
          <a:effectLst/>
        </p:spPr>
        <p:txBody>
          <a:bodyPr wrap="none">
            <a:spAutoFit/>
          </a:bodyPr>
          <a:lstStyle/>
          <a:p>
            <a:pPr eaLnBrk="0" hangingPunct="0"/>
            <a:r>
              <a:rPr lang="pt-BR" sz="2000" b="1">
                <a:solidFill>
                  <a:srgbClr val="333399"/>
                </a:solidFill>
                <a:effectLst>
                  <a:outerShdw blurRad="38100" dist="38100" dir="2700000" algn="tl">
                    <a:srgbClr val="C0C0C0"/>
                  </a:outerShdw>
                </a:effectLst>
                <a:latin typeface="Comic Sans MS" pitchFamily="66" charset="0"/>
              </a:rPr>
              <a:t>A Gerência de Comunicação e os Constituintes</a:t>
            </a:r>
          </a:p>
        </p:txBody>
      </p:sp>
      <p:sp>
        <p:nvSpPr>
          <p:cNvPr id="79880" name="Oval 8"/>
          <p:cNvSpPr>
            <a:spLocks noChangeArrowheads="1"/>
          </p:cNvSpPr>
          <p:nvPr/>
        </p:nvSpPr>
        <p:spPr bwMode="auto">
          <a:xfrm>
            <a:off x="838200" y="838200"/>
            <a:ext cx="7620000" cy="5638800"/>
          </a:xfrm>
          <a:prstGeom prst="ellipse">
            <a:avLst/>
          </a:prstGeom>
          <a:gradFill rotWithShape="0">
            <a:gsLst>
              <a:gs pos="0">
                <a:srgbClr val="CCFFFF"/>
              </a:gs>
              <a:gs pos="100000">
                <a:srgbClr val="CCFFFF">
                  <a:gamma/>
                  <a:shade val="89412"/>
                  <a:invGamma/>
                </a:srgbClr>
              </a:gs>
            </a:gsLst>
            <a:path path="shape">
              <a:fillToRect l="50000" t="50000" r="50000" b="50000"/>
            </a:path>
          </a:gradFill>
          <a:ln w="28575">
            <a:solidFill>
              <a:schemeClr val="tx1"/>
            </a:solidFill>
            <a:round/>
            <a:headEnd/>
            <a:tailEnd type="none" w="lg" len="med"/>
          </a:ln>
          <a:effectLst/>
        </p:spPr>
        <p:txBody>
          <a:bodyPr lIns="90000" tIns="46800" rIns="90000" bIns="46800" anchor="ctr">
            <a:spAutoFit/>
          </a:bodyPr>
          <a:lstStyle/>
          <a:p>
            <a:endParaRPr lang="pt-BR"/>
          </a:p>
        </p:txBody>
      </p:sp>
      <p:sp>
        <p:nvSpPr>
          <p:cNvPr id="79881" name="Oval 9"/>
          <p:cNvSpPr>
            <a:spLocks noChangeArrowheads="1"/>
          </p:cNvSpPr>
          <p:nvPr/>
        </p:nvSpPr>
        <p:spPr bwMode="auto">
          <a:xfrm>
            <a:off x="2057400" y="1905000"/>
            <a:ext cx="5105400" cy="3505200"/>
          </a:xfrm>
          <a:prstGeom prst="ellipse">
            <a:avLst/>
          </a:prstGeom>
          <a:noFill/>
          <a:ln w="28575">
            <a:solidFill>
              <a:schemeClr val="tx1"/>
            </a:solidFill>
            <a:round/>
            <a:headEnd/>
            <a:tailEnd type="none" w="lg" len="med"/>
          </a:ln>
          <a:effectLst/>
        </p:spPr>
        <p:txBody>
          <a:bodyPr lIns="90000" tIns="46800" rIns="90000" bIns="46800" anchor="ctr">
            <a:spAutoFit/>
          </a:bodyPr>
          <a:lstStyle/>
          <a:p>
            <a:endParaRPr lang="pt-BR"/>
          </a:p>
        </p:txBody>
      </p:sp>
      <p:sp>
        <p:nvSpPr>
          <p:cNvPr id="79882" name="Oval 10"/>
          <p:cNvSpPr>
            <a:spLocks noChangeArrowheads="1"/>
          </p:cNvSpPr>
          <p:nvPr/>
        </p:nvSpPr>
        <p:spPr bwMode="auto">
          <a:xfrm>
            <a:off x="3886200" y="2971800"/>
            <a:ext cx="1524000" cy="1447800"/>
          </a:xfrm>
          <a:prstGeom prst="ellipse">
            <a:avLst/>
          </a:prstGeom>
          <a:noFill/>
          <a:ln w="28575">
            <a:solidFill>
              <a:schemeClr val="tx1"/>
            </a:solidFill>
            <a:round/>
            <a:headEnd/>
            <a:tailEnd type="none" w="lg" len="med"/>
          </a:ln>
          <a:effectLst/>
        </p:spPr>
        <p:txBody>
          <a:bodyPr wrap="none" lIns="90000" tIns="46800" rIns="90000" bIns="46800" anchor="ctr">
            <a:spAutoFit/>
          </a:bodyPr>
          <a:lstStyle/>
          <a:p>
            <a:endParaRPr lang="pt-BR"/>
          </a:p>
        </p:txBody>
      </p:sp>
      <p:sp>
        <p:nvSpPr>
          <p:cNvPr id="79883" name="Text Box 11"/>
          <p:cNvSpPr txBox="1">
            <a:spLocks noChangeArrowheads="1"/>
          </p:cNvSpPr>
          <p:nvPr/>
        </p:nvSpPr>
        <p:spPr bwMode="auto">
          <a:xfrm>
            <a:off x="3441700" y="2133600"/>
            <a:ext cx="2273300" cy="304800"/>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400" b="1">
                <a:latin typeface="Comic Sans MS" pitchFamily="66" charset="0"/>
              </a:rPr>
              <a:t>Constituintes Primários</a:t>
            </a:r>
          </a:p>
        </p:txBody>
      </p:sp>
      <p:sp>
        <p:nvSpPr>
          <p:cNvPr id="79884" name="Text Box 12"/>
          <p:cNvSpPr txBox="1">
            <a:spLocks noChangeArrowheads="1"/>
          </p:cNvSpPr>
          <p:nvPr/>
        </p:nvSpPr>
        <p:spPr bwMode="auto">
          <a:xfrm>
            <a:off x="3200400" y="1066800"/>
            <a:ext cx="2819400" cy="304800"/>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400" b="1">
                <a:latin typeface="Comic Sans MS" pitchFamily="66" charset="0"/>
              </a:rPr>
              <a:t>Constituintes Secundários</a:t>
            </a:r>
          </a:p>
        </p:txBody>
      </p:sp>
      <p:sp>
        <p:nvSpPr>
          <p:cNvPr id="79885" name="Text Box 13"/>
          <p:cNvSpPr txBox="1">
            <a:spLocks noChangeArrowheads="1"/>
          </p:cNvSpPr>
          <p:nvPr/>
        </p:nvSpPr>
        <p:spPr bwMode="auto">
          <a:xfrm>
            <a:off x="4038600" y="3444875"/>
            <a:ext cx="1219200" cy="517525"/>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400" b="1">
                <a:latin typeface="Comic Sans MS" pitchFamily="66" charset="0"/>
              </a:rPr>
              <a:t>Recursos do Projeto</a:t>
            </a:r>
          </a:p>
        </p:txBody>
      </p:sp>
      <p:sp>
        <p:nvSpPr>
          <p:cNvPr id="79886" name="Text Box 14"/>
          <p:cNvSpPr txBox="1">
            <a:spLocks noChangeArrowheads="1"/>
          </p:cNvSpPr>
          <p:nvPr/>
        </p:nvSpPr>
        <p:spPr bwMode="auto">
          <a:xfrm>
            <a:off x="914400" y="3657600"/>
            <a:ext cx="1143000" cy="457200"/>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Comunidades Locais</a:t>
            </a:r>
          </a:p>
        </p:txBody>
      </p:sp>
      <p:sp>
        <p:nvSpPr>
          <p:cNvPr id="79887" name="Text Box 15"/>
          <p:cNvSpPr txBox="1">
            <a:spLocks noChangeArrowheads="1"/>
          </p:cNvSpPr>
          <p:nvPr/>
        </p:nvSpPr>
        <p:spPr bwMode="auto">
          <a:xfrm>
            <a:off x="6705600" y="4800600"/>
            <a:ext cx="1143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Concorrentes</a:t>
            </a:r>
          </a:p>
        </p:txBody>
      </p:sp>
      <p:sp>
        <p:nvSpPr>
          <p:cNvPr id="79888" name="Text Box 16"/>
          <p:cNvSpPr txBox="1">
            <a:spLocks noChangeArrowheads="1"/>
          </p:cNvSpPr>
          <p:nvPr/>
        </p:nvSpPr>
        <p:spPr bwMode="auto">
          <a:xfrm>
            <a:off x="1143000" y="2209800"/>
            <a:ext cx="1600200" cy="457200"/>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Organizações Políticas</a:t>
            </a:r>
          </a:p>
        </p:txBody>
      </p:sp>
      <p:sp>
        <p:nvSpPr>
          <p:cNvPr id="79889" name="Text Box 17"/>
          <p:cNvSpPr txBox="1">
            <a:spLocks noChangeArrowheads="1"/>
          </p:cNvSpPr>
          <p:nvPr/>
        </p:nvSpPr>
        <p:spPr bwMode="auto">
          <a:xfrm>
            <a:off x="2057400" y="16002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Organizações Sociais</a:t>
            </a:r>
          </a:p>
        </p:txBody>
      </p:sp>
      <p:sp>
        <p:nvSpPr>
          <p:cNvPr id="79890" name="Text Box 18"/>
          <p:cNvSpPr txBox="1">
            <a:spLocks noChangeArrowheads="1"/>
          </p:cNvSpPr>
          <p:nvPr/>
        </p:nvSpPr>
        <p:spPr bwMode="auto">
          <a:xfrm>
            <a:off x="609600" y="29718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Ambientalistas</a:t>
            </a:r>
          </a:p>
        </p:txBody>
      </p:sp>
      <p:sp>
        <p:nvSpPr>
          <p:cNvPr id="79891" name="Text Box 19"/>
          <p:cNvSpPr txBox="1">
            <a:spLocks noChangeArrowheads="1"/>
          </p:cNvSpPr>
          <p:nvPr/>
        </p:nvSpPr>
        <p:spPr bwMode="auto">
          <a:xfrm>
            <a:off x="1143000" y="48006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Público em geral</a:t>
            </a:r>
          </a:p>
        </p:txBody>
      </p:sp>
      <p:sp>
        <p:nvSpPr>
          <p:cNvPr id="79892" name="Text Box 20"/>
          <p:cNvSpPr txBox="1">
            <a:spLocks noChangeArrowheads="1"/>
          </p:cNvSpPr>
          <p:nvPr/>
        </p:nvSpPr>
        <p:spPr bwMode="auto">
          <a:xfrm>
            <a:off x="2057400" y="54864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Grupos de Consumidores</a:t>
            </a:r>
          </a:p>
        </p:txBody>
      </p:sp>
      <p:sp>
        <p:nvSpPr>
          <p:cNvPr id="79893" name="Text Box 21"/>
          <p:cNvSpPr txBox="1">
            <a:spLocks noChangeArrowheads="1"/>
          </p:cNvSpPr>
          <p:nvPr/>
        </p:nvSpPr>
        <p:spPr bwMode="auto">
          <a:xfrm>
            <a:off x="7086600" y="3276600"/>
            <a:ext cx="1371600" cy="822325"/>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Instituições diversas (escolas, hospitais, etc.)</a:t>
            </a:r>
          </a:p>
        </p:txBody>
      </p:sp>
      <p:sp>
        <p:nvSpPr>
          <p:cNvPr id="79894" name="Text Box 22"/>
          <p:cNvSpPr txBox="1">
            <a:spLocks noChangeArrowheads="1"/>
          </p:cNvSpPr>
          <p:nvPr/>
        </p:nvSpPr>
        <p:spPr bwMode="auto">
          <a:xfrm>
            <a:off x="3657600" y="58674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Turistas</a:t>
            </a:r>
          </a:p>
        </p:txBody>
      </p:sp>
      <p:sp>
        <p:nvSpPr>
          <p:cNvPr id="79895" name="Text Box 23"/>
          <p:cNvSpPr txBox="1">
            <a:spLocks noChangeArrowheads="1"/>
          </p:cNvSpPr>
          <p:nvPr/>
        </p:nvSpPr>
        <p:spPr bwMode="auto">
          <a:xfrm>
            <a:off x="7010400" y="2590800"/>
            <a:ext cx="9906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Mídia</a:t>
            </a:r>
          </a:p>
        </p:txBody>
      </p:sp>
      <p:sp>
        <p:nvSpPr>
          <p:cNvPr id="79896" name="Text Box 24"/>
          <p:cNvSpPr txBox="1">
            <a:spLocks noChangeArrowheads="1"/>
          </p:cNvSpPr>
          <p:nvPr/>
        </p:nvSpPr>
        <p:spPr bwMode="auto">
          <a:xfrm>
            <a:off x="6019800" y="20574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Famílias</a:t>
            </a:r>
          </a:p>
        </p:txBody>
      </p:sp>
      <p:sp>
        <p:nvSpPr>
          <p:cNvPr id="79897" name="Text Box 25"/>
          <p:cNvSpPr txBox="1">
            <a:spLocks noChangeArrowheads="1"/>
          </p:cNvSpPr>
          <p:nvPr/>
        </p:nvSpPr>
        <p:spPr bwMode="auto">
          <a:xfrm>
            <a:off x="5181600" y="1447800"/>
            <a:ext cx="1905000" cy="457200"/>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Outros interessados no Projeto</a:t>
            </a:r>
          </a:p>
        </p:txBody>
      </p:sp>
      <p:sp>
        <p:nvSpPr>
          <p:cNvPr id="79898" name="Text Box 26"/>
          <p:cNvSpPr txBox="1">
            <a:spLocks noChangeArrowheads="1"/>
          </p:cNvSpPr>
          <p:nvPr/>
        </p:nvSpPr>
        <p:spPr bwMode="auto">
          <a:xfrm>
            <a:off x="5105400" y="5562600"/>
            <a:ext cx="1905000" cy="457200"/>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Organizações Profissionais</a:t>
            </a:r>
          </a:p>
        </p:txBody>
      </p:sp>
      <p:sp>
        <p:nvSpPr>
          <p:cNvPr id="79899" name="Text Box 27"/>
          <p:cNvSpPr txBox="1">
            <a:spLocks noChangeArrowheads="1"/>
          </p:cNvSpPr>
          <p:nvPr/>
        </p:nvSpPr>
        <p:spPr bwMode="auto">
          <a:xfrm>
            <a:off x="2362200" y="2514600"/>
            <a:ext cx="1905000" cy="639763"/>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Alta Gerência e Diretoria da organização</a:t>
            </a:r>
          </a:p>
        </p:txBody>
      </p:sp>
      <p:sp>
        <p:nvSpPr>
          <p:cNvPr id="79900" name="Text Box 28"/>
          <p:cNvSpPr txBox="1">
            <a:spLocks noChangeArrowheads="1"/>
          </p:cNvSpPr>
          <p:nvPr/>
        </p:nvSpPr>
        <p:spPr bwMode="auto">
          <a:xfrm>
            <a:off x="5334000" y="3886200"/>
            <a:ext cx="1524000" cy="822325"/>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Comissões judiciais, executivas e legislativas</a:t>
            </a:r>
          </a:p>
        </p:txBody>
      </p:sp>
      <p:sp>
        <p:nvSpPr>
          <p:cNvPr id="79901" name="Text Box 29"/>
          <p:cNvSpPr txBox="1">
            <a:spLocks noChangeArrowheads="1"/>
          </p:cNvSpPr>
          <p:nvPr/>
        </p:nvSpPr>
        <p:spPr bwMode="auto">
          <a:xfrm>
            <a:off x="2133600" y="32766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Gerentes Funcionais</a:t>
            </a:r>
          </a:p>
        </p:txBody>
      </p:sp>
      <p:sp>
        <p:nvSpPr>
          <p:cNvPr id="79902" name="Text Box 30"/>
          <p:cNvSpPr txBox="1">
            <a:spLocks noChangeArrowheads="1"/>
          </p:cNvSpPr>
          <p:nvPr/>
        </p:nvSpPr>
        <p:spPr bwMode="auto">
          <a:xfrm>
            <a:off x="2133600" y="37338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Gerentes de Projetos</a:t>
            </a:r>
          </a:p>
        </p:txBody>
      </p:sp>
      <p:sp>
        <p:nvSpPr>
          <p:cNvPr id="79903" name="Text Box 31"/>
          <p:cNvSpPr txBox="1">
            <a:spLocks noChangeArrowheads="1"/>
          </p:cNvSpPr>
          <p:nvPr/>
        </p:nvSpPr>
        <p:spPr bwMode="auto">
          <a:xfrm>
            <a:off x="3657600" y="24384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Sindicatos</a:t>
            </a:r>
          </a:p>
        </p:txBody>
      </p:sp>
      <p:sp>
        <p:nvSpPr>
          <p:cNvPr id="79904" name="Text Box 32"/>
          <p:cNvSpPr txBox="1">
            <a:spLocks noChangeArrowheads="1"/>
          </p:cNvSpPr>
          <p:nvPr/>
        </p:nvSpPr>
        <p:spPr bwMode="auto">
          <a:xfrm>
            <a:off x="2362200" y="41910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Clientes (usuários)</a:t>
            </a:r>
          </a:p>
        </p:txBody>
      </p:sp>
      <p:sp>
        <p:nvSpPr>
          <p:cNvPr id="79905" name="Text Box 33"/>
          <p:cNvSpPr txBox="1">
            <a:spLocks noChangeArrowheads="1"/>
          </p:cNvSpPr>
          <p:nvPr/>
        </p:nvSpPr>
        <p:spPr bwMode="auto">
          <a:xfrm>
            <a:off x="3657600" y="4618038"/>
            <a:ext cx="1905000" cy="639762"/>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Fornecedores/ empresas contratadas e terceirizadas</a:t>
            </a:r>
          </a:p>
        </p:txBody>
      </p:sp>
      <p:sp>
        <p:nvSpPr>
          <p:cNvPr id="79906" name="Text Box 34"/>
          <p:cNvSpPr txBox="1">
            <a:spLocks noChangeArrowheads="1"/>
          </p:cNvSpPr>
          <p:nvPr/>
        </p:nvSpPr>
        <p:spPr bwMode="auto">
          <a:xfrm>
            <a:off x="4876800" y="2514600"/>
            <a:ext cx="1905000" cy="274638"/>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Acionistas</a:t>
            </a:r>
          </a:p>
        </p:txBody>
      </p:sp>
      <p:sp>
        <p:nvSpPr>
          <p:cNvPr id="79907" name="Text Box 35"/>
          <p:cNvSpPr txBox="1">
            <a:spLocks noChangeArrowheads="1"/>
          </p:cNvSpPr>
          <p:nvPr/>
        </p:nvSpPr>
        <p:spPr bwMode="auto">
          <a:xfrm>
            <a:off x="5334000" y="2941638"/>
            <a:ext cx="1524000" cy="639762"/>
          </a:xfrm>
          <a:prstGeom prst="rect">
            <a:avLst/>
          </a:prstGeom>
          <a:noFill/>
          <a:ln w="19050">
            <a:noFill/>
            <a:miter lim="800000"/>
            <a:headEnd/>
            <a:tailEnd type="none" w="lg" len="med"/>
          </a:ln>
          <a:effectLst/>
        </p:spPr>
        <p:txBody>
          <a:bodyPr lIns="90000" tIns="46800" rIns="90000" bIns="46800">
            <a:spAutoFit/>
          </a:bodyPr>
          <a:lstStyle/>
          <a:p>
            <a:pPr algn="ctr" eaLnBrk="0" hangingPunct="0">
              <a:spcBef>
                <a:spcPct val="50000"/>
              </a:spcBef>
            </a:pPr>
            <a:r>
              <a:rPr lang="pt-BR" sz="1200">
                <a:latin typeface="Comic Sans MS" pitchFamily="66" charset="0"/>
              </a:rPr>
              <a:t>Órgão</a:t>
            </a:r>
            <a:r>
              <a:rPr lang="en-US" sz="1200">
                <a:latin typeface="Comic Sans MS" pitchFamily="66" charset="0"/>
              </a:rPr>
              <a:t>s</a:t>
            </a:r>
            <a:r>
              <a:rPr lang="pt-BR" sz="1200">
                <a:latin typeface="Comic Sans MS" pitchFamily="66" charset="0"/>
              </a:rPr>
              <a:t> públicos locais, estaduais e federais</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288925" y="219075"/>
            <a:ext cx="4106863" cy="396875"/>
          </a:xfrm>
          <a:prstGeom prst="rect">
            <a:avLst/>
          </a:prstGeom>
          <a:noFill/>
          <a:ln w="9525">
            <a:noFill/>
            <a:miter lim="800000"/>
            <a:headEnd/>
            <a:tailEnd/>
          </a:ln>
          <a:effectLst/>
        </p:spPr>
        <p:txBody>
          <a:bodyPr wrap="none">
            <a:spAutoFit/>
          </a:bodyPr>
          <a:lstStyle/>
          <a:p>
            <a:pPr eaLnBrk="0" hangingPunct="0"/>
            <a:r>
              <a:rPr lang="pt-BR" sz="2000" b="1">
                <a:solidFill>
                  <a:srgbClr val="333399"/>
                </a:solidFill>
                <a:effectLst>
                  <a:outerShdw blurRad="38100" dist="38100" dir="2700000" algn="tl">
                    <a:srgbClr val="C0C0C0"/>
                  </a:outerShdw>
                </a:effectLst>
                <a:latin typeface="Comic Sans MS" pitchFamily="66" charset="0"/>
              </a:rPr>
              <a:t>Plano de Comunicação detalhado</a:t>
            </a:r>
          </a:p>
        </p:txBody>
      </p:sp>
      <p:sp>
        <p:nvSpPr>
          <p:cNvPr id="81923" name="Line 3"/>
          <p:cNvSpPr>
            <a:spLocks noChangeShapeType="1"/>
          </p:cNvSpPr>
          <p:nvPr/>
        </p:nvSpPr>
        <p:spPr bwMode="auto">
          <a:xfrm>
            <a:off x="381000" y="609600"/>
            <a:ext cx="7315200" cy="0"/>
          </a:xfrm>
          <a:prstGeom prst="line">
            <a:avLst/>
          </a:prstGeom>
          <a:noFill/>
          <a:ln w="28575">
            <a:solidFill>
              <a:srgbClr val="333399"/>
            </a:solidFill>
            <a:round/>
            <a:headEnd/>
            <a:tailEnd/>
          </a:ln>
          <a:effectLst/>
        </p:spPr>
        <p:txBody>
          <a:bodyPr wrap="none" anchor="ctr"/>
          <a:lstStyle/>
          <a:p>
            <a:endParaRPr lang="pt-BR"/>
          </a:p>
        </p:txBody>
      </p:sp>
      <p:grpSp>
        <p:nvGrpSpPr>
          <p:cNvPr id="2" name="Group 4"/>
          <p:cNvGrpSpPr>
            <a:grpSpLocks/>
          </p:cNvGrpSpPr>
          <p:nvPr/>
        </p:nvGrpSpPr>
        <p:grpSpPr bwMode="auto">
          <a:xfrm>
            <a:off x="100013" y="6640513"/>
            <a:ext cx="152400" cy="141287"/>
            <a:chOff x="1440" y="2781"/>
            <a:chExt cx="808" cy="802"/>
          </a:xfrm>
        </p:grpSpPr>
        <p:sp>
          <p:nvSpPr>
            <p:cNvPr id="81925" name="Freeform 5"/>
            <p:cNvSpPr>
              <a:spLocks/>
            </p:cNvSpPr>
            <p:nvPr/>
          </p:nvSpPr>
          <p:spPr bwMode="auto">
            <a:xfrm>
              <a:off x="1440" y="2781"/>
              <a:ext cx="407" cy="802"/>
            </a:xfrm>
            <a:custGeom>
              <a:avLst/>
              <a:gdLst/>
              <a:ahLst/>
              <a:cxnLst>
                <a:cxn ang="0">
                  <a:pos x="2009" y="3790"/>
                </a:cxn>
                <a:cxn ang="0">
                  <a:pos x="1755" y="3768"/>
                </a:cxn>
                <a:cxn ang="0">
                  <a:pos x="1505" y="3708"/>
                </a:cxn>
                <a:cxn ang="0">
                  <a:pos x="1267" y="3619"/>
                </a:cxn>
                <a:cxn ang="0">
                  <a:pos x="1041" y="3498"/>
                </a:cxn>
                <a:cxn ang="0">
                  <a:pos x="839" y="3340"/>
                </a:cxn>
                <a:cxn ang="0">
                  <a:pos x="657" y="3159"/>
                </a:cxn>
                <a:cxn ang="0">
                  <a:pos x="507" y="2954"/>
                </a:cxn>
                <a:cxn ang="0">
                  <a:pos x="388" y="2731"/>
                </a:cxn>
                <a:cxn ang="0">
                  <a:pos x="300" y="2495"/>
                </a:cxn>
                <a:cxn ang="0">
                  <a:pos x="246" y="2245"/>
                </a:cxn>
                <a:cxn ang="0">
                  <a:pos x="229" y="1991"/>
                </a:cxn>
                <a:cxn ang="0">
                  <a:pos x="249" y="1741"/>
                </a:cxn>
                <a:cxn ang="0">
                  <a:pos x="305" y="1493"/>
                </a:cxn>
                <a:cxn ang="0">
                  <a:pos x="397" y="1254"/>
                </a:cxn>
                <a:cxn ang="0">
                  <a:pos x="519" y="1030"/>
                </a:cxn>
                <a:cxn ang="0">
                  <a:pos x="674" y="831"/>
                </a:cxn>
                <a:cxn ang="0">
                  <a:pos x="862" y="649"/>
                </a:cxn>
                <a:cxn ang="0">
                  <a:pos x="1063" y="498"/>
                </a:cxn>
                <a:cxn ang="0">
                  <a:pos x="1289" y="377"/>
                </a:cxn>
                <a:cxn ang="0">
                  <a:pos x="1525" y="292"/>
                </a:cxn>
                <a:cxn ang="0">
                  <a:pos x="1777" y="235"/>
                </a:cxn>
                <a:cxn ang="0">
                  <a:pos x="2034" y="218"/>
                </a:cxn>
                <a:cxn ang="0">
                  <a:pos x="1898" y="3"/>
                </a:cxn>
                <a:cxn ang="0">
                  <a:pos x="1630" y="37"/>
                </a:cxn>
                <a:cxn ang="0">
                  <a:pos x="1367" y="105"/>
                </a:cxn>
                <a:cxn ang="0">
                  <a:pos x="1117" y="210"/>
                </a:cxn>
                <a:cxn ang="0">
                  <a:pos x="884" y="350"/>
                </a:cxn>
                <a:cxn ang="0">
                  <a:pos x="666" y="514"/>
                </a:cxn>
                <a:cxn ang="0">
                  <a:pos x="479" y="707"/>
                </a:cxn>
                <a:cxn ang="0">
                  <a:pos x="316" y="922"/>
                </a:cxn>
                <a:cxn ang="0">
                  <a:pos x="187" y="1155"/>
                </a:cxn>
                <a:cxn ang="0">
                  <a:pos x="88" y="1411"/>
                </a:cxn>
                <a:cxn ang="0">
                  <a:pos x="25" y="1671"/>
                </a:cxn>
                <a:cxn ang="0">
                  <a:pos x="0" y="1941"/>
                </a:cxn>
                <a:cxn ang="0">
                  <a:pos x="8" y="2208"/>
                </a:cxn>
                <a:cxn ang="0">
                  <a:pos x="54" y="2475"/>
                </a:cxn>
                <a:cxn ang="0">
                  <a:pos x="135" y="2728"/>
                </a:cxn>
                <a:cxn ang="0">
                  <a:pos x="252" y="2974"/>
                </a:cxn>
                <a:cxn ang="0">
                  <a:pos x="397" y="3203"/>
                </a:cxn>
                <a:cxn ang="0">
                  <a:pos x="575" y="3404"/>
                </a:cxn>
                <a:cxn ang="0">
                  <a:pos x="776" y="3582"/>
                </a:cxn>
                <a:cxn ang="0">
                  <a:pos x="1000" y="3733"/>
                </a:cxn>
                <a:cxn ang="0">
                  <a:pos x="1244" y="3858"/>
                </a:cxn>
                <a:cxn ang="0">
                  <a:pos x="1503" y="3943"/>
                </a:cxn>
                <a:cxn ang="0">
                  <a:pos x="1769" y="3993"/>
                </a:cxn>
                <a:cxn ang="0">
                  <a:pos x="2034" y="4010"/>
                </a:cxn>
              </a:cxnLst>
              <a:rect l="0" t="0" r="r" b="b"/>
              <a:pathLst>
                <a:path w="2034" h="4010">
                  <a:moveTo>
                    <a:pt x="2034" y="3790"/>
                  </a:moveTo>
                  <a:lnTo>
                    <a:pt x="2009" y="3790"/>
                  </a:lnTo>
                  <a:lnTo>
                    <a:pt x="1881" y="3781"/>
                  </a:lnTo>
                  <a:lnTo>
                    <a:pt x="1755" y="3768"/>
                  </a:lnTo>
                  <a:lnTo>
                    <a:pt x="1627" y="3744"/>
                  </a:lnTo>
                  <a:lnTo>
                    <a:pt x="1505" y="3708"/>
                  </a:lnTo>
                  <a:lnTo>
                    <a:pt x="1381" y="3670"/>
                  </a:lnTo>
                  <a:lnTo>
                    <a:pt x="1267" y="3619"/>
                  </a:lnTo>
                  <a:lnTo>
                    <a:pt x="1151" y="3560"/>
                  </a:lnTo>
                  <a:lnTo>
                    <a:pt x="1041" y="3498"/>
                  </a:lnTo>
                  <a:lnTo>
                    <a:pt x="936" y="3424"/>
                  </a:lnTo>
                  <a:lnTo>
                    <a:pt x="839" y="3340"/>
                  </a:lnTo>
                  <a:lnTo>
                    <a:pt x="746" y="3252"/>
                  </a:lnTo>
                  <a:lnTo>
                    <a:pt x="657" y="3159"/>
                  </a:lnTo>
                  <a:lnTo>
                    <a:pt x="578" y="3061"/>
                  </a:lnTo>
                  <a:lnTo>
                    <a:pt x="507" y="2954"/>
                  </a:lnTo>
                  <a:lnTo>
                    <a:pt x="444" y="2844"/>
                  </a:lnTo>
                  <a:lnTo>
                    <a:pt x="388" y="2731"/>
                  </a:lnTo>
                  <a:lnTo>
                    <a:pt x="336" y="2614"/>
                  </a:lnTo>
                  <a:lnTo>
                    <a:pt x="300" y="2495"/>
                  </a:lnTo>
                  <a:lnTo>
                    <a:pt x="266" y="2370"/>
                  </a:lnTo>
                  <a:lnTo>
                    <a:pt x="246" y="2245"/>
                  </a:lnTo>
                  <a:lnTo>
                    <a:pt x="235" y="2118"/>
                  </a:lnTo>
                  <a:lnTo>
                    <a:pt x="229" y="1991"/>
                  </a:lnTo>
                  <a:lnTo>
                    <a:pt x="235" y="1865"/>
                  </a:lnTo>
                  <a:lnTo>
                    <a:pt x="249" y="1741"/>
                  </a:lnTo>
                  <a:lnTo>
                    <a:pt x="274" y="1614"/>
                  </a:lnTo>
                  <a:lnTo>
                    <a:pt x="305" y="1493"/>
                  </a:lnTo>
                  <a:lnTo>
                    <a:pt x="348" y="1372"/>
                  </a:lnTo>
                  <a:lnTo>
                    <a:pt x="397" y="1254"/>
                  </a:lnTo>
                  <a:lnTo>
                    <a:pt x="455" y="1138"/>
                  </a:lnTo>
                  <a:lnTo>
                    <a:pt x="519" y="1030"/>
                  </a:lnTo>
                  <a:lnTo>
                    <a:pt x="595" y="927"/>
                  </a:lnTo>
                  <a:lnTo>
                    <a:pt x="674" y="831"/>
                  </a:lnTo>
                  <a:lnTo>
                    <a:pt x="763" y="735"/>
                  </a:lnTo>
                  <a:lnTo>
                    <a:pt x="862" y="649"/>
                  </a:lnTo>
                  <a:lnTo>
                    <a:pt x="958" y="571"/>
                  </a:lnTo>
                  <a:lnTo>
                    <a:pt x="1063" y="498"/>
                  </a:lnTo>
                  <a:lnTo>
                    <a:pt x="1173" y="436"/>
                  </a:lnTo>
                  <a:lnTo>
                    <a:pt x="1289" y="377"/>
                  </a:lnTo>
                  <a:lnTo>
                    <a:pt x="1407" y="329"/>
                  </a:lnTo>
                  <a:lnTo>
                    <a:pt x="1525" y="292"/>
                  </a:lnTo>
                  <a:lnTo>
                    <a:pt x="1652" y="257"/>
                  </a:lnTo>
                  <a:lnTo>
                    <a:pt x="1777" y="235"/>
                  </a:lnTo>
                  <a:lnTo>
                    <a:pt x="1905" y="224"/>
                  </a:lnTo>
                  <a:lnTo>
                    <a:pt x="2034" y="218"/>
                  </a:lnTo>
                  <a:lnTo>
                    <a:pt x="2034" y="0"/>
                  </a:lnTo>
                  <a:lnTo>
                    <a:pt x="1898" y="3"/>
                  </a:lnTo>
                  <a:lnTo>
                    <a:pt x="1764" y="15"/>
                  </a:lnTo>
                  <a:lnTo>
                    <a:pt x="1630" y="37"/>
                  </a:lnTo>
                  <a:lnTo>
                    <a:pt x="1497" y="65"/>
                  </a:lnTo>
                  <a:lnTo>
                    <a:pt x="1367" y="105"/>
                  </a:lnTo>
                  <a:lnTo>
                    <a:pt x="1238" y="153"/>
                  </a:lnTo>
                  <a:lnTo>
                    <a:pt x="1117" y="210"/>
                  </a:lnTo>
                  <a:lnTo>
                    <a:pt x="995" y="277"/>
                  </a:lnTo>
                  <a:lnTo>
                    <a:pt x="884" y="350"/>
                  </a:lnTo>
                  <a:lnTo>
                    <a:pt x="774" y="428"/>
                  </a:lnTo>
                  <a:lnTo>
                    <a:pt x="666" y="514"/>
                  </a:lnTo>
                  <a:lnTo>
                    <a:pt x="569" y="605"/>
                  </a:lnTo>
                  <a:lnTo>
                    <a:pt x="479" y="707"/>
                  </a:lnTo>
                  <a:lnTo>
                    <a:pt x="397" y="811"/>
                  </a:lnTo>
                  <a:lnTo>
                    <a:pt x="316" y="922"/>
                  </a:lnTo>
                  <a:lnTo>
                    <a:pt x="249" y="1037"/>
                  </a:lnTo>
                  <a:lnTo>
                    <a:pt x="187" y="1155"/>
                  </a:lnTo>
                  <a:lnTo>
                    <a:pt x="134" y="1279"/>
                  </a:lnTo>
                  <a:lnTo>
                    <a:pt x="88" y="1411"/>
                  </a:lnTo>
                  <a:lnTo>
                    <a:pt x="54" y="1538"/>
                  </a:lnTo>
                  <a:lnTo>
                    <a:pt x="25" y="1671"/>
                  </a:lnTo>
                  <a:lnTo>
                    <a:pt x="8" y="1806"/>
                  </a:lnTo>
                  <a:lnTo>
                    <a:pt x="0" y="1941"/>
                  </a:lnTo>
                  <a:lnTo>
                    <a:pt x="0" y="2072"/>
                  </a:lnTo>
                  <a:lnTo>
                    <a:pt x="8" y="2208"/>
                  </a:lnTo>
                  <a:lnTo>
                    <a:pt x="25" y="2341"/>
                  </a:lnTo>
                  <a:lnTo>
                    <a:pt x="54" y="2475"/>
                  </a:lnTo>
                  <a:lnTo>
                    <a:pt x="91" y="2600"/>
                  </a:lnTo>
                  <a:lnTo>
                    <a:pt x="135" y="2728"/>
                  </a:lnTo>
                  <a:lnTo>
                    <a:pt x="189" y="2852"/>
                  </a:lnTo>
                  <a:lnTo>
                    <a:pt x="252" y="2974"/>
                  </a:lnTo>
                  <a:lnTo>
                    <a:pt x="320" y="3087"/>
                  </a:lnTo>
                  <a:lnTo>
                    <a:pt x="397" y="3203"/>
                  </a:lnTo>
                  <a:lnTo>
                    <a:pt x="482" y="3304"/>
                  </a:lnTo>
                  <a:lnTo>
                    <a:pt x="575" y="3404"/>
                  </a:lnTo>
                  <a:lnTo>
                    <a:pt x="671" y="3500"/>
                  </a:lnTo>
                  <a:lnTo>
                    <a:pt x="776" y="3582"/>
                  </a:lnTo>
                  <a:lnTo>
                    <a:pt x="886" y="3661"/>
                  </a:lnTo>
                  <a:lnTo>
                    <a:pt x="1000" y="3733"/>
                  </a:lnTo>
                  <a:lnTo>
                    <a:pt x="1119" y="3798"/>
                  </a:lnTo>
                  <a:lnTo>
                    <a:pt x="1244" y="3858"/>
                  </a:lnTo>
                  <a:lnTo>
                    <a:pt x="1370" y="3904"/>
                  </a:lnTo>
                  <a:lnTo>
                    <a:pt x="1503" y="3943"/>
                  </a:lnTo>
                  <a:lnTo>
                    <a:pt x="1635" y="3971"/>
                  </a:lnTo>
                  <a:lnTo>
                    <a:pt x="1769" y="3993"/>
                  </a:lnTo>
                  <a:lnTo>
                    <a:pt x="1902" y="4004"/>
                  </a:lnTo>
                  <a:lnTo>
                    <a:pt x="2034" y="4010"/>
                  </a:lnTo>
                  <a:lnTo>
                    <a:pt x="2034" y="3790"/>
                  </a:lnTo>
                  <a:close/>
                </a:path>
              </a:pathLst>
            </a:custGeom>
            <a:solidFill>
              <a:srgbClr val="333399"/>
            </a:solidFill>
            <a:ln w="0">
              <a:solidFill>
                <a:srgbClr val="000000"/>
              </a:solidFill>
              <a:prstDash val="solid"/>
              <a:round/>
              <a:headEnd/>
              <a:tailEnd/>
            </a:ln>
          </p:spPr>
          <p:txBody>
            <a:bodyPr/>
            <a:lstStyle/>
            <a:p>
              <a:endParaRPr lang="pt-BR"/>
            </a:p>
          </p:txBody>
        </p:sp>
        <p:sp>
          <p:nvSpPr>
            <p:cNvPr id="81926" name="Freeform 6"/>
            <p:cNvSpPr>
              <a:spLocks/>
            </p:cNvSpPr>
            <p:nvPr/>
          </p:nvSpPr>
          <p:spPr bwMode="auto">
            <a:xfrm>
              <a:off x="1841" y="2781"/>
              <a:ext cx="407" cy="802"/>
            </a:xfrm>
            <a:custGeom>
              <a:avLst/>
              <a:gdLst/>
              <a:ahLst/>
              <a:cxnLst>
                <a:cxn ang="0">
                  <a:pos x="27" y="3790"/>
                </a:cxn>
                <a:cxn ang="0">
                  <a:pos x="282" y="3768"/>
                </a:cxn>
                <a:cxn ang="0">
                  <a:pos x="531" y="3708"/>
                </a:cxn>
                <a:cxn ang="0">
                  <a:pos x="769" y="3619"/>
                </a:cxn>
                <a:cxn ang="0">
                  <a:pos x="995" y="3498"/>
                </a:cxn>
                <a:cxn ang="0">
                  <a:pos x="1197" y="3340"/>
                </a:cxn>
                <a:cxn ang="0">
                  <a:pos x="1380" y="3159"/>
                </a:cxn>
                <a:cxn ang="0">
                  <a:pos x="1529" y="2954"/>
                </a:cxn>
                <a:cxn ang="0">
                  <a:pos x="1648" y="2731"/>
                </a:cxn>
                <a:cxn ang="0">
                  <a:pos x="1736" y="2495"/>
                </a:cxn>
                <a:cxn ang="0">
                  <a:pos x="1787" y="2245"/>
                </a:cxn>
                <a:cxn ang="0">
                  <a:pos x="1807" y="1991"/>
                </a:cxn>
                <a:cxn ang="0">
                  <a:pos x="1785" y="1741"/>
                </a:cxn>
                <a:cxn ang="0">
                  <a:pos x="1731" y="1493"/>
                </a:cxn>
                <a:cxn ang="0">
                  <a:pos x="1637" y="1254"/>
                </a:cxn>
                <a:cxn ang="0">
                  <a:pos x="1515" y="1030"/>
                </a:cxn>
                <a:cxn ang="0">
                  <a:pos x="1359" y="831"/>
                </a:cxn>
                <a:cxn ang="0">
                  <a:pos x="1175" y="649"/>
                </a:cxn>
                <a:cxn ang="0">
                  <a:pos x="973" y="498"/>
                </a:cxn>
                <a:cxn ang="0">
                  <a:pos x="744" y="377"/>
                </a:cxn>
                <a:cxn ang="0">
                  <a:pos x="507" y="292"/>
                </a:cxn>
                <a:cxn ang="0">
                  <a:pos x="256" y="235"/>
                </a:cxn>
                <a:cxn ang="0">
                  <a:pos x="0" y="218"/>
                </a:cxn>
                <a:cxn ang="0">
                  <a:pos x="137" y="3"/>
                </a:cxn>
                <a:cxn ang="0">
                  <a:pos x="406" y="37"/>
                </a:cxn>
                <a:cxn ang="0">
                  <a:pos x="670" y="105"/>
                </a:cxn>
                <a:cxn ang="0">
                  <a:pos x="919" y="210"/>
                </a:cxn>
                <a:cxn ang="0">
                  <a:pos x="1152" y="350"/>
                </a:cxn>
                <a:cxn ang="0">
                  <a:pos x="1366" y="514"/>
                </a:cxn>
                <a:cxn ang="0">
                  <a:pos x="1557" y="707"/>
                </a:cxn>
                <a:cxn ang="0">
                  <a:pos x="1716" y="922"/>
                </a:cxn>
                <a:cxn ang="0">
                  <a:pos x="1849" y="1155"/>
                </a:cxn>
                <a:cxn ang="0">
                  <a:pos x="1948" y="1411"/>
                </a:cxn>
                <a:cxn ang="0">
                  <a:pos x="2011" y="1671"/>
                </a:cxn>
                <a:cxn ang="0">
                  <a:pos x="2036" y="1941"/>
                </a:cxn>
                <a:cxn ang="0">
                  <a:pos x="2024" y="2208"/>
                </a:cxn>
                <a:cxn ang="0">
                  <a:pos x="1982" y="2475"/>
                </a:cxn>
                <a:cxn ang="0">
                  <a:pos x="1901" y="2728"/>
                </a:cxn>
                <a:cxn ang="0">
                  <a:pos x="1785" y="2974"/>
                </a:cxn>
                <a:cxn ang="0">
                  <a:pos x="1637" y="3203"/>
                </a:cxn>
                <a:cxn ang="0">
                  <a:pos x="1461" y="3404"/>
                </a:cxn>
                <a:cxn ang="0">
                  <a:pos x="1260" y="3582"/>
                </a:cxn>
                <a:cxn ang="0">
                  <a:pos x="1035" y="3733"/>
                </a:cxn>
                <a:cxn ang="0">
                  <a:pos x="792" y="3858"/>
                </a:cxn>
                <a:cxn ang="0">
                  <a:pos x="534" y="3943"/>
                </a:cxn>
                <a:cxn ang="0">
                  <a:pos x="264" y="3993"/>
                </a:cxn>
                <a:cxn ang="0">
                  <a:pos x="0" y="4010"/>
                </a:cxn>
              </a:cxnLst>
              <a:rect l="0" t="0" r="r" b="b"/>
              <a:pathLst>
                <a:path w="2036" h="4010">
                  <a:moveTo>
                    <a:pt x="0" y="3790"/>
                  </a:moveTo>
                  <a:lnTo>
                    <a:pt x="27" y="3790"/>
                  </a:lnTo>
                  <a:lnTo>
                    <a:pt x="155" y="3781"/>
                  </a:lnTo>
                  <a:lnTo>
                    <a:pt x="282" y="3768"/>
                  </a:lnTo>
                  <a:lnTo>
                    <a:pt x="406" y="3744"/>
                  </a:lnTo>
                  <a:lnTo>
                    <a:pt x="531" y="3708"/>
                  </a:lnTo>
                  <a:lnTo>
                    <a:pt x="652" y="3670"/>
                  </a:lnTo>
                  <a:lnTo>
                    <a:pt x="769" y="3619"/>
                  </a:lnTo>
                  <a:lnTo>
                    <a:pt x="885" y="3560"/>
                  </a:lnTo>
                  <a:lnTo>
                    <a:pt x="995" y="3498"/>
                  </a:lnTo>
                  <a:lnTo>
                    <a:pt x="1101" y="3424"/>
                  </a:lnTo>
                  <a:lnTo>
                    <a:pt x="1197" y="3340"/>
                  </a:lnTo>
                  <a:lnTo>
                    <a:pt x="1290" y="3252"/>
                  </a:lnTo>
                  <a:lnTo>
                    <a:pt x="1380" y="3159"/>
                  </a:lnTo>
                  <a:lnTo>
                    <a:pt x="1455" y="3061"/>
                  </a:lnTo>
                  <a:lnTo>
                    <a:pt x="1529" y="2954"/>
                  </a:lnTo>
                  <a:lnTo>
                    <a:pt x="1594" y="2844"/>
                  </a:lnTo>
                  <a:lnTo>
                    <a:pt x="1648" y="2731"/>
                  </a:lnTo>
                  <a:lnTo>
                    <a:pt x="1695" y="2614"/>
                  </a:lnTo>
                  <a:lnTo>
                    <a:pt x="1736" y="2495"/>
                  </a:lnTo>
                  <a:lnTo>
                    <a:pt x="1768" y="2370"/>
                  </a:lnTo>
                  <a:lnTo>
                    <a:pt x="1787" y="2245"/>
                  </a:lnTo>
                  <a:lnTo>
                    <a:pt x="1802" y="2118"/>
                  </a:lnTo>
                  <a:lnTo>
                    <a:pt x="1807" y="1991"/>
                  </a:lnTo>
                  <a:lnTo>
                    <a:pt x="1802" y="1865"/>
                  </a:lnTo>
                  <a:lnTo>
                    <a:pt x="1785" y="1741"/>
                  </a:lnTo>
                  <a:lnTo>
                    <a:pt x="1759" y="1614"/>
                  </a:lnTo>
                  <a:lnTo>
                    <a:pt x="1731" y="1493"/>
                  </a:lnTo>
                  <a:lnTo>
                    <a:pt x="1685" y="1372"/>
                  </a:lnTo>
                  <a:lnTo>
                    <a:pt x="1637" y="1254"/>
                  </a:lnTo>
                  <a:lnTo>
                    <a:pt x="1582" y="1138"/>
                  </a:lnTo>
                  <a:lnTo>
                    <a:pt x="1515" y="1030"/>
                  </a:lnTo>
                  <a:lnTo>
                    <a:pt x="1441" y="927"/>
                  </a:lnTo>
                  <a:lnTo>
                    <a:pt x="1359" y="831"/>
                  </a:lnTo>
                  <a:lnTo>
                    <a:pt x="1271" y="735"/>
                  </a:lnTo>
                  <a:lnTo>
                    <a:pt x="1175" y="649"/>
                  </a:lnTo>
                  <a:lnTo>
                    <a:pt x="1078" y="571"/>
                  </a:lnTo>
                  <a:lnTo>
                    <a:pt x="973" y="498"/>
                  </a:lnTo>
                  <a:lnTo>
                    <a:pt x="860" y="436"/>
                  </a:lnTo>
                  <a:lnTo>
                    <a:pt x="744" y="377"/>
                  </a:lnTo>
                  <a:lnTo>
                    <a:pt x="630" y="329"/>
                  </a:lnTo>
                  <a:lnTo>
                    <a:pt x="507" y="292"/>
                  </a:lnTo>
                  <a:lnTo>
                    <a:pt x="382" y="257"/>
                  </a:lnTo>
                  <a:lnTo>
                    <a:pt x="256" y="235"/>
                  </a:lnTo>
                  <a:lnTo>
                    <a:pt x="131" y="224"/>
                  </a:lnTo>
                  <a:lnTo>
                    <a:pt x="0" y="218"/>
                  </a:lnTo>
                  <a:lnTo>
                    <a:pt x="0" y="0"/>
                  </a:lnTo>
                  <a:lnTo>
                    <a:pt x="137" y="3"/>
                  </a:lnTo>
                  <a:lnTo>
                    <a:pt x="270" y="15"/>
                  </a:lnTo>
                  <a:lnTo>
                    <a:pt x="406" y="37"/>
                  </a:lnTo>
                  <a:lnTo>
                    <a:pt x="536" y="65"/>
                  </a:lnTo>
                  <a:lnTo>
                    <a:pt x="670" y="105"/>
                  </a:lnTo>
                  <a:lnTo>
                    <a:pt x="795" y="153"/>
                  </a:lnTo>
                  <a:lnTo>
                    <a:pt x="919" y="210"/>
                  </a:lnTo>
                  <a:lnTo>
                    <a:pt x="1041" y="277"/>
                  </a:lnTo>
                  <a:lnTo>
                    <a:pt x="1152" y="350"/>
                  </a:lnTo>
                  <a:lnTo>
                    <a:pt x="1263" y="428"/>
                  </a:lnTo>
                  <a:lnTo>
                    <a:pt x="1366" y="514"/>
                  </a:lnTo>
                  <a:lnTo>
                    <a:pt x="1467" y="605"/>
                  </a:lnTo>
                  <a:lnTo>
                    <a:pt x="1557" y="707"/>
                  </a:lnTo>
                  <a:lnTo>
                    <a:pt x="1640" y="811"/>
                  </a:lnTo>
                  <a:lnTo>
                    <a:pt x="1716" y="922"/>
                  </a:lnTo>
                  <a:lnTo>
                    <a:pt x="1785" y="1037"/>
                  </a:lnTo>
                  <a:lnTo>
                    <a:pt x="1849" y="1155"/>
                  </a:lnTo>
                  <a:lnTo>
                    <a:pt x="1901" y="1279"/>
                  </a:lnTo>
                  <a:lnTo>
                    <a:pt x="1948" y="1411"/>
                  </a:lnTo>
                  <a:lnTo>
                    <a:pt x="1982" y="1538"/>
                  </a:lnTo>
                  <a:lnTo>
                    <a:pt x="2011" y="1671"/>
                  </a:lnTo>
                  <a:lnTo>
                    <a:pt x="2024" y="1806"/>
                  </a:lnTo>
                  <a:lnTo>
                    <a:pt x="2036" y="1941"/>
                  </a:lnTo>
                  <a:lnTo>
                    <a:pt x="2036" y="2072"/>
                  </a:lnTo>
                  <a:lnTo>
                    <a:pt x="2024" y="2208"/>
                  </a:lnTo>
                  <a:lnTo>
                    <a:pt x="2011" y="2341"/>
                  </a:lnTo>
                  <a:lnTo>
                    <a:pt x="1982" y="2475"/>
                  </a:lnTo>
                  <a:lnTo>
                    <a:pt x="1943" y="2600"/>
                  </a:lnTo>
                  <a:lnTo>
                    <a:pt x="1901" y="2728"/>
                  </a:lnTo>
                  <a:lnTo>
                    <a:pt x="1847" y="2852"/>
                  </a:lnTo>
                  <a:lnTo>
                    <a:pt x="1785" y="2974"/>
                  </a:lnTo>
                  <a:lnTo>
                    <a:pt x="1716" y="3087"/>
                  </a:lnTo>
                  <a:lnTo>
                    <a:pt x="1637" y="3203"/>
                  </a:lnTo>
                  <a:lnTo>
                    <a:pt x="1552" y="3304"/>
                  </a:lnTo>
                  <a:lnTo>
                    <a:pt x="1461" y="3404"/>
                  </a:lnTo>
                  <a:lnTo>
                    <a:pt x="1362" y="3500"/>
                  </a:lnTo>
                  <a:lnTo>
                    <a:pt x="1260" y="3582"/>
                  </a:lnTo>
                  <a:lnTo>
                    <a:pt x="1152" y="3661"/>
                  </a:lnTo>
                  <a:lnTo>
                    <a:pt x="1035" y="3733"/>
                  </a:lnTo>
                  <a:lnTo>
                    <a:pt x="914" y="3798"/>
                  </a:lnTo>
                  <a:lnTo>
                    <a:pt x="792" y="3858"/>
                  </a:lnTo>
                  <a:lnTo>
                    <a:pt x="663" y="3904"/>
                  </a:lnTo>
                  <a:lnTo>
                    <a:pt x="534" y="3943"/>
                  </a:lnTo>
                  <a:lnTo>
                    <a:pt x="401" y="3971"/>
                  </a:lnTo>
                  <a:lnTo>
                    <a:pt x="264" y="3993"/>
                  </a:lnTo>
                  <a:lnTo>
                    <a:pt x="131" y="4004"/>
                  </a:lnTo>
                  <a:lnTo>
                    <a:pt x="0" y="4010"/>
                  </a:lnTo>
                  <a:lnTo>
                    <a:pt x="0" y="3790"/>
                  </a:lnTo>
                  <a:close/>
                </a:path>
              </a:pathLst>
            </a:custGeom>
            <a:solidFill>
              <a:srgbClr val="333399"/>
            </a:solidFill>
            <a:ln w="0">
              <a:solidFill>
                <a:srgbClr val="333399"/>
              </a:solidFill>
              <a:prstDash val="solid"/>
              <a:round/>
              <a:headEnd/>
              <a:tailEnd/>
            </a:ln>
          </p:spPr>
          <p:txBody>
            <a:bodyPr/>
            <a:lstStyle/>
            <a:p>
              <a:endParaRPr lang="pt-BR"/>
            </a:p>
          </p:txBody>
        </p:sp>
        <p:sp>
          <p:nvSpPr>
            <p:cNvPr id="81927" name="Freeform 7"/>
            <p:cNvSpPr>
              <a:spLocks/>
            </p:cNvSpPr>
            <p:nvPr/>
          </p:nvSpPr>
          <p:spPr bwMode="auto">
            <a:xfrm>
              <a:off x="1618" y="2959"/>
              <a:ext cx="395" cy="445"/>
            </a:xfrm>
            <a:custGeom>
              <a:avLst/>
              <a:gdLst/>
              <a:ahLst/>
              <a:cxnLst>
                <a:cxn ang="0">
                  <a:pos x="1770" y="1758"/>
                </a:cxn>
                <a:cxn ang="0">
                  <a:pos x="1626" y="1875"/>
                </a:cxn>
                <a:cxn ang="0">
                  <a:pos x="1464" y="1956"/>
                </a:cxn>
                <a:cxn ang="0">
                  <a:pos x="1291" y="2007"/>
                </a:cxn>
                <a:cxn ang="0">
                  <a:pos x="1106" y="2021"/>
                </a:cxn>
                <a:cxn ang="0">
                  <a:pos x="923" y="1999"/>
                </a:cxn>
                <a:cxn ang="0">
                  <a:pos x="748" y="1944"/>
                </a:cxn>
                <a:cxn ang="0">
                  <a:pos x="591" y="1853"/>
                </a:cxn>
                <a:cxn ang="0">
                  <a:pos x="456" y="1735"/>
                </a:cxn>
                <a:cxn ang="0">
                  <a:pos x="343" y="1592"/>
                </a:cxn>
                <a:cxn ang="0">
                  <a:pos x="264" y="1429"/>
                </a:cxn>
                <a:cxn ang="0">
                  <a:pos x="220" y="1253"/>
                </a:cxn>
                <a:cxn ang="0">
                  <a:pos x="208" y="1072"/>
                </a:cxn>
                <a:cxn ang="0">
                  <a:pos x="233" y="895"/>
                </a:cxn>
                <a:cxn ang="0">
                  <a:pos x="296" y="722"/>
                </a:cxn>
                <a:cxn ang="0">
                  <a:pos x="389" y="570"/>
                </a:cxn>
                <a:cxn ang="0">
                  <a:pos x="515" y="434"/>
                </a:cxn>
                <a:cxn ang="0">
                  <a:pos x="662" y="329"/>
                </a:cxn>
                <a:cxn ang="0">
                  <a:pos x="829" y="253"/>
                </a:cxn>
                <a:cxn ang="0">
                  <a:pos x="1006" y="213"/>
                </a:cxn>
                <a:cxn ang="0">
                  <a:pos x="1189" y="211"/>
                </a:cxn>
                <a:cxn ang="0">
                  <a:pos x="1368" y="239"/>
                </a:cxn>
                <a:cxn ang="0">
                  <a:pos x="1539" y="304"/>
                </a:cxn>
                <a:cxn ang="0">
                  <a:pos x="1693" y="403"/>
                </a:cxn>
                <a:cxn ang="0">
                  <a:pos x="1822" y="528"/>
                </a:cxn>
                <a:cxn ang="0">
                  <a:pos x="1907" y="313"/>
                </a:cxn>
                <a:cxn ang="0">
                  <a:pos x="1750" y="185"/>
                </a:cxn>
                <a:cxn ang="0">
                  <a:pos x="1572" y="91"/>
                </a:cxn>
                <a:cxn ang="0">
                  <a:pos x="1376" y="29"/>
                </a:cxn>
                <a:cxn ang="0">
                  <a:pos x="1181" y="0"/>
                </a:cxn>
                <a:cxn ang="0">
                  <a:pos x="976" y="9"/>
                </a:cxn>
                <a:cxn ang="0">
                  <a:pos x="780" y="54"/>
                </a:cxn>
                <a:cxn ang="0">
                  <a:pos x="591" y="128"/>
                </a:cxn>
                <a:cxn ang="0">
                  <a:pos x="425" y="241"/>
                </a:cxn>
                <a:cxn ang="0">
                  <a:pos x="277" y="377"/>
                </a:cxn>
                <a:cxn ang="0">
                  <a:pos x="161" y="543"/>
                </a:cxn>
                <a:cxn ang="0">
                  <a:pos x="69" y="722"/>
                </a:cxn>
                <a:cxn ang="0">
                  <a:pos x="16" y="915"/>
                </a:cxn>
                <a:cxn ang="0">
                  <a:pos x="0" y="1115"/>
                </a:cxn>
                <a:cxn ang="0">
                  <a:pos x="16" y="1314"/>
                </a:cxn>
                <a:cxn ang="0">
                  <a:pos x="69" y="1508"/>
                </a:cxn>
                <a:cxn ang="0">
                  <a:pos x="161" y="1687"/>
                </a:cxn>
                <a:cxn ang="0">
                  <a:pos x="278" y="1851"/>
                </a:cxn>
                <a:cxn ang="0">
                  <a:pos x="425" y="1989"/>
                </a:cxn>
                <a:cxn ang="0">
                  <a:pos x="593" y="2100"/>
                </a:cxn>
                <a:cxn ang="0">
                  <a:pos x="780" y="2176"/>
                </a:cxn>
                <a:cxn ang="0">
                  <a:pos x="976" y="2221"/>
                </a:cxn>
                <a:cxn ang="0">
                  <a:pos x="1181" y="2226"/>
                </a:cxn>
                <a:cxn ang="0">
                  <a:pos x="1382" y="2199"/>
                </a:cxn>
                <a:cxn ang="0">
                  <a:pos x="1572" y="2137"/>
                </a:cxn>
                <a:cxn ang="0">
                  <a:pos x="1750" y="2041"/>
                </a:cxn>
                <a:cxn ang="0">
                  <a:pos x="1907" y="1917"/>
                </a:cxn>
                <a:cxn ang="0">
                  <a:pos x="1822" y="1699"/>
                </a:cxn>
              </a:cxnLst>
              <a:rect l="0" t="0" r="r" b="b"/>
              <a:pathLst>
                <a:path w="1975" h="2226">
                  <a:moveTo>
                    <a:pt x="1822" y="1699"/>
                  </a:moveTo>
                  <a:lnTo>
                    <a:pt x="1770" y="1758"/>
                  </a:lnTo>
                  <a:lnTo>
                    <a:pt x="1702" y="1821"/>
                  </a:lnTo>
                  <a:lnTo>
                    <a:pt x="1626" y="1875"/>
                  </a:lnTo>
                  <a:lnTo>
                    <a:pt x="1547" y="1923"/>
                  </a:lnTo>
                  <a:lnTo>
                    <a:pt x="1464" y="1956"/>
                  </a:lnTo>
                  <a:lnTo>
                    <a:pt x="1376" y="1988"/>
                  </a:lnTo>
                  <a:lnTo>
                    <a:pt x="1291" y="2007"/>
                  </a:lnTo>
                  <a:lnTo>
                    <a:pt x="1195" y="2018"/>
                  </a:lnTo>
                  <a:lnTo>
                    <a:pt x="1106" y="2021"/>
                  </a:lnTo>
                  <a:lnTo>
                    <a:pt x="1016" y="2013"/>
                  </a:lnTo>
                  <a:lnTo>
                    <a:pt x="923" y="1999"/>
                  </a:lnTo>
                  <a:lnTo>
                    <a:pt x="838" y="1979"/>
                  </a:lnTo>
                  <a:lnTo>
                    <a:pt x="748" y="1944"/>
                  </a:lnTo>
                  <a:lnTo>
                    <a:pt x="670" y="1903"/>
                  </a:lnTo>
                  <a:lnTo>
                    <a:pt x="591" y="1853"/>
                  </a:lnTo>
                  <a:lnTo>
                    <a:pt x="525" y="1797"/>
                  </a:lnTo>
                  <a:lnTo>
                    <a:pt x="456" y="1735"/>
                  </a:lnTo>
                  <a:lnTo>
                    <a:pt x="397" y="1667"/>
                  </a:lnTo>
                  <a:lnTo>
                    <a:pt x="343" y="1592"/>
                  </a:lnTo>
                  <a:lnTo>
                    <a:pt x="301" y="1514"/>
                  </a:lnTo>
                  <a:lnTo>
                    <a:pt x="264" y="1429"/>
                  </a:lnTo>
                  <a:lnTo>
                    <a:pt x="240" y="1344"/>
                  </a:lnTo>
                  <a:lnTo>
                    <a:pt x="220" y="1253"/>
                  </a:lnTo>
                  <a:lnTo>
                    <a:pt x="208" y="1162"/>
                  </a:lnTo>
                  <a:lnTo>
                    <a:pt x="208" y="1072"/>
                  </a:lnTo>
                  <a:lnTo>
                    <a:pt x="216" y="985"/>
                  </a:lnTo>
                  <a:lnTo>
                    <a:pt x="233" y="895"/>
                  </a:lnTo>
                  <a:lnTo>
                    <a:pt x="261" y="807"/>
                  </a:lnTo>
                  <a:lnTo>
                    <a:pt x="296" y="722"/>
                  </a:lnTo>
                  <a:lnTo>
                    <a:pt x="341" y="643"/>
                  </a:lnTo>
                  <a:lnTo>
                    <a:pt x="389" y="570"/>
                  </a:lnTo>
                  <a:lnTo>
                    <a:pt x="452" y="501"/>
                  </a:lnTo>
                  <a:lnTo>
                    <a:pt x="515" y="434"/>
                  </a:lnTo>
                  <a:lnTo>
                    <a:pt x="585" y="377"/>
                  </a:lnTo>
                  <a:lnTo>
                    <a:pt x="662" y="329"/>
                  </a:lnTo>
                  <a:lnTo>
                    <a:pt x="743" y="287"/>
                  </a:lnTo>
                  <a:lnTo>
                    <a:pt x="829" y="253"/>
                  </a:lnTo>
                  <a:lnTo>
                    <a:pt x="916" y="230"/>
                  </a:lnTo>
                  <a:lnTo>
                    <a:pt x="1006" y="213"/>
                  </a:lnTo>
                  <a:lnTo>
                    <a:pt x="1095" y="205"/>
                  </a:lnTo>
                  <a:lnTo>
                    <a:pt x="1189" y="211"/>
                  </a:lnTo>
                  <a:lnTo>
                    <a:pt x="1280" y="219"/>
                  </a:lnTo>
                  <a:lnTo>
                    <a:pt x="1368" y="239"/>
                  </a:lnTo>
                  <a:lnTo>
                    <a:pt x="1456" y="267"/>
                  </a:lnTo>
                  <a:lnTo>
                    <a:pt x="1539" y="304"/>
                  </a:lnTo>
                  <a:lnTo>
                    <a:pt x="1617" y="349"/>
                  </a:lnTo>
                  <a:lnTo>
                    <a:pt x="1693" y="403"/>
                  </a:lnTo>
                  <a:lnTo>
                    <a:pt x="1762" y="463"/>
                  </a:lnTo>
                  <a:lnTo>
                    <a:pt x="1822" y="528"/>
                  </a:lnTo>
                  <a:lnTo>
                    <a:pt x="1975" y="386"/>
                  </a:lnTo>
                  <a:lnTo>
                    <a:pt x="1907" y="313"/>
                  </a:lnTo>
                  <a:lnTo>
                    <a:pt x="1830" y="247"/>
                  </a:lnTo>
                  <a:lnTo>
                    <a:pt x="1750" y="185"/>
                  </a:lnTo>
                  <a:lnTo>
                    <a:pt x="1663" y="135"/>
                  </a:lnTo>
                  <a:lnTo>
                    <a:pt x="1572" y="91"/>
                  </a:lnTo>
                  <a:lnTo>
                    <a:pt x="1477" y="56"/>
                  </a:lnTo>
                  <a:lnTo>
                    <a:pt x="1376" y="29"/>
                  </a:lnTo>
                  <a:lnTo>
                    <a:pt x="1280" y="11"/>
                  </a:lnTo>
                  <a:lnTo>
                    <a:pt x="1181" y="0"/>
                  </a:lnTo>
                  <a:lnTo>
                    <a:pt x="1078" y="0"/>
                  </a:lnTo>
                  <a:lnTo>
                    <a:pt x="976" y="9"/>
                  </a:lnTo>
                  <a:lnTo>
                    <a:pt x="880" y="25"/>
                  </a:lnTo>
                  <a:lnTo>
                    <a:pt x="780" y="54"/>
                  </a:lnTo>
                  <a:lnTo>
                    <a:pt x="684" y="87"/>
                  </a:lnTo>
                  <a:lnTo>
                    <a:pt x="591" y="128"/>
                  </a:lnTo>
                  <a:lnTo>
                    <a:pt x="509" y="182"/>
                  </a:lnTo>
                  <a:lnTo>
                    <a:pt x="425" y="241"/>
                  </a:lnTo>
                  <a:lnTo>
                    <a:pt x="346" y="307"/>
                  </a:lnTo>
                  <a:lnTo>
                    <a:pt x="277" y="377"/>
                  </a:lnTo>
                  <a:lnTo>
                    <a:pt x="213" y="458"/>
                  </a:lnTo>
                  <a:lnTo>
                    <a:pt x="161" y="543"/>
                  </a:lnTo>
                  <a:lnTo>
                    <a:pt x="111" y="628"/>
                  </a:lnTo>
                  <a:lnTo>
                    <a:pt x="69" y="722"/>
                  </a:lnTo>
                  <a:lnTo>
                    <a:pt x="37" y="818"/>
                  </a:lnTo>
                  <a:lnTo>
                    <a:pt x="16" y="915"/>
                  </a:lnTo>
                  <a:lnTo>
                    <a:pt x="2" y="1014"/>
                  </a:lnTo>
                  <a:lnTo>
                    <a:pt x="0" y="1115"/>
                  </a:lnTo>
                  <a:lnTo>
                    <a:pt x="2" y="1213"/>
                  </a:lnTo>
                  <a:lnTo>
                    <a:pt x="16" y="1314"/>
                  </a:lnTo>
                  <a:lnTo>
                    <a:pt x="37" y="1413"/>
                  </a:lnTo>
                  <a:lnTo>
                    <a:pt x="69" y="1508"/>
                  </a:lnTo>
                  <a:lnTo>
                    <a:pt x="111" y="1601"/>
                  </a:lnTo>
                  <a:lnTo>
                    <a:pt x="161" y="1687"/>
                  </a:lnTo>
                  <a:lnTo>
                    <a:pt x="213" y="1769"/>
                  </a:lnTo>
                  <a:lnTo>
                    <a:pt x="278" y="1851"/>
                  </a:lnTo>
                  <a:lnTo>
                    <a:pt x="350" y="1923"/>
                  </a:lnTo>
                  <a:lnTo>
                    <a:pt x="425" y="1989"/>
                  </a:lnTo>
                  <a:lnTo>
                    <a:pt x="509" y="2046"/>
                  </a:lnTo>
                  <a:lnTo>
                    <a:pt x="593" y="2100"/>
                  </a:lnTo>
                  <a:lnTo>
                    <a:pt x="684" y="2140"/>
                  </a:lnTo>
                  <a:lnTo>
                    <a:pt x="780" y="2176"/>
                  </a:lnTo>
                  <a:lnTo>
                    <a:pt x="880" y="2203"/>
                  </a:lnTo>
                  <a:lnTo>
                    <a:pt x="976" y="2221"/>
                  </a:lnTo>
                  <a:lnTo>
                    <a:pt x="1078" y="2226"/>
                  </a:lnTo>
                  <a:lnTo>
                    <a:pt x="1181" y="2226"/>
                  </a:lnTo>
                  <a:lnTo>
                    <a:pt x="1283" y="2218"/>
                  </a:lnTo>
                  <a:lnTo>
                    <a:pt x="1382" y="2199"/>
                  </a:lnTo>
                  <a:lnTo>
                    <a:pt x="1478" y="2173"/>
                  </a:lnTo>
                  <a:lnTo>
                    <a:pt x="1572" y="2137"/>
                  </a:lnTo>
                  <a:lnTo>
                    <a:pt x="1665" y="2092"/>
                  </a:lnTo>
                  <a:lnTo>
                    <a:pt x="1750" y="2041"/>
                  </a:lnTo>
                  <a:lnTo>
                    <a:pt x="1830" y="1979"/>
                  </a:lnTo>
                  <a:lnTo>
                    <a:pt x="1907" y="1917"/>
                  </a:lnTo>
                  <a:lnTo>
                    <a:pt x="1975" y="1843"/>
                  </a:lnTo>
                  <a:lnTo>
                    <a:pt x="1822" y="1699"/>
                  </a:lnTo>
                  <a:close/>
                </a:path>
              </a:pathLst>
            </a:custGeom>
            <a:solidFill>
              <a:srgbClr val="333399"/>
            </a:solidFill>
            <a:ln w="0">
              <a:solidFill>
                <a:srgbClr val="333399"/>
              </a:solidFill>
              <a:prstDash val="solid"/>
              <a:round/>
              <a:headEnd/>
              <a:tailEnd/>
            </a:ln>
          </p:spPr>
          <p:txBody>
            <a:bodyPr/>
            <a:lstStyle/>
            <a:p>
              <a:endParaRPr lang="pt-BR"/>
            </a:p>
          </p:txBody>
        </p:sp>
      </p:grpSp>
      <p:graphicFrame>
        <p:nvGraphicFramePr>
          <p:cNvPr id="81928" name="Group 8"/>
          <p:cNvGraphicFramePr>
            <a:graphicFrameLocks noGrp="1"/>
          </p:cNvGraphicFramePr>
          <p:nvPr/>
        </p:nvGraphicFramePr>
        <p:xfrm>
          <a:off x="457200" y="685800"/>
          <a:ext cx="8229600" cy="5644776"/>
        </p:xfrm>
        <a:graphic>
          <a:graphicData uri="http://schemas.openxmlformats.org/drawingml/2006/table">
            <a:tbl>
              <a:tblPr/>
              <a:tblGrid>
                <a:gridCol w="1295400"/>
                <a:gridCol w="1447800"/>
                <a:gridCol w="1411288"/>
                <a:gridCol w="1331912"/>
                <a:gridCol w="2743200"/>
              </a:tblGrid>
              <a:tr h="3810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pt-BR" sz="1400" b="0" i="0" u="none" strike="noStrike" cap="none" normalizeH="0" baseline="0" smtClean="0">
                          <a:ln>
                            <a:noFill/>
                          </a:ln>
                          <a:solidFill>
                            <a:schemeClr val="tx1"/>
                          </a:solidFill>
                          <a:effectLst/>
                          <a:latin typeface="Comic Sans MS" pitchFamily="66" charset="0"/>
                        </a:rPr>
                        <a:t>Datas</a:t>
                      </a:r>
                    </a:p>
                  </a:txBody>
                  <a:tcPr marL="90000" marR="90000" marT="46800" marB="46800"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CCEC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pt-BR" sz="1400" b="0" i="0" u="none" strike="noStrike" cap="none" normalizeH="0" baseline="0" smtClean="0">
                          <a:ln>
                            <a:noFill/>
                          </a:ln>
                          <a:solidFill>
                            <a:schemeClr val="tx1"/>
                          </a:solidFill>
                          <a:effectLst/>
                          <a:latin typeface="Comic Sans MS" pitchFamily="66" charset="0"/>
                        </a:rPr>
                        <a:t>Audiência</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CCEC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pt-BR" sz="1400" b="0" i="0" u="none" strike="noStrike" cap="none" normalizeH="0" baseline="0" smtClean="0">
                          <a:ln>
                            <a:noFill/>
                          </a:ln>
                          <a:solidFill>
                            <a:schemeClr val="tx1"/>
                          </a:solidFill>
                          <a:effectLst/>
                          <a:latin typeface="Comic Sans MS" pitchFamily="66" charset="0"/>
                        </a:rPr>
                        <a:t>M</a:t>
                      </a:r>
                      <a:r>
                        <a:rPr kumimoji="0" lang="pt-BR" sz="1400" b="0" i="0" u="none" strike="noStrike" cap="none" normalizeH="0" baseline="0" smtClean="0">
                          <a:ln>
                            <a:noFill/>
                          </a:ln>
                          <a:solidFill>
                            <a:schemeClr val="tx1"/>
                          </a:solidFill>
                          <a:effectLst/>
                          <a:latin typeface="Arial"/>
                        </a:rPr>
                        <a:t>é</a:t>
                      </a:r>
                      <a:r>
                        <a:rPr kumimoji="0" lang="pt-BR" sz="1400" b="0" i="0" u="none" strike="noStrike" cap="none" normalizeH="0" baseline="0" smtClean="0">
                          <a:ln>
                            <a:noFill/>
                          </a:ln>
                          <a:solidFill>
                            <a:schemeClr val="tx1"/>
                          </a:solidFill>
                          <a:effectLst/>
                          <a:latin typeface="Comic Sans MS" pitchFamily="66" charset="0"/>
                        </a:rPr>
                        <a:t>todo</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CCEC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pt-BR" sz="1400" b="0" i="0" u="none" strike="noStrike" cap="none" normalizeH="0" baseline="0" smtClean="0">
                          <a:ln>
                            <a:noFill/>
                          </a:ln>
                          <a:solidFill>
                            <a:schemeClr val="tx1"/>
                          </a:solidFill>
                          <a:effectLst/>
                          <a:latin typeface="Comic Sans MS" pitchFamily="66" charset="0"/>
                        </a:rPr>
                        <a:t>Respons</a:t>
                      </a:r>
                      <a:r>
                        <a:rPr kumimoji="0" lang="pt-BR" sz="1400" b="0" i="0" u="none" strike="noStrike" cap="none" normalizeH="0" baseline="0" smtClean="0">
                          <a:ln>
                            <a:noFill/>
                          </a:ln>
                          <a:solidFill>
                            <a:schemeClr val="tx1"/>
                          </a:solidFill>
                          <a:effectLst/>
                          <a:latin typeface="Arial"/>
                        </a:rPr>
                        <a:t>á</a:t>
                      </a:r>
                      <a:r>
                        <a:rPr kumimoji="0" lang="pt-BR" sz="1400" b="0" i="0" u="none" strike="noStrike" cap="none" normalizeH="0" baseline="0" smtClean="0">
                          <a:ln>
                            <a:noFill/>
                          </a:ln>
                          <a:solidFill>
                            <a:schemeClr val="tx1"/>
                          </a:solidFill>
                          <a:effectLst/>
                          <a:latin typeface="Comic Sans MS" pitchFamily="66" charset="0"/>
                        </a:rPr>
                        <a:t>vel</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CCEC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pt-BR" sz="1400" b="0" i="0" u="none" strike="noStrike" cap="none" normalizeH="0" baseline="0" smtClean="0">
                          <a:ln>
                            <a:noFill/>
                          </a:ln>
                          <a:solidFill>
                            <a:schemeClr val="tx1"/>
                          </a:solidFill>
                          <a:effectLst/>
                          <a:latin typeface="Comic Sans MS" pitchFamily="66" charset="0"/>
                        </a:rPr>
                        <a:t>Mensagem</a:t>
                      </a:r>
                    </a:p>
                  </a:txBody>
                  <a:tcPr marL="90000" marR="90000" marT="46800" marB="46800"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CCECFF"/>
                    </a:solidFill>
                  </a:tcPr>
                </a:tc>
              </a:tr>
              <a:tr h="5699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1" i="0" u="none" strike="noStrike" cap="none" normalizeH="0" baseline="0" smtClean="0">
                          <a:ln>
                            <a:noFill/>
                          </a:ln>
                          <a:solidFill>
                            <a:schemeClr val="tx1"/>
                          </a:solidFill>
                          <a:effectLst/>
                          <a:latin typeface="Comic Sans MS" pitchFamily="66" charset="0"/>
                        </a:rPr>
                        <a:t>01/Novembro/2001  </a:t>
                      </a:r>
                    </a:p>
                  </a:txBody>
                  <a:tcPr marL="90000" marR="90000" marT="46800" marB="46800"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Diretores de Escolas e Chefes de Departamentos</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101600" marR="0" lvl="0" indent="-10160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Apresenta</a:t>
                      </a:r>
                      <a:r>
                        <a:rPr kumimoji="0" lang="pt-BR" sz="1200" b="0" i="0" u="none" strike="noStrike" cap="none" normalizeH="0" baseline="0" smtClean="0">
                          <a:ln>
                            <a:noFill/>
                          </a:ln>
                          <a:solidFill>
                            <a:schemeClr val="tx1"/>
                          </a:solidFill>
                          <a:effectLst/>
                          <a:latin typeface="Arial"/>
                        </a:rPr>
                        <a:t>ç</a:t>
                      </a:r>
                      <a:r>
                        <a:rPr kumimoji="0" lang="pt-BR" sz="1200" b="0" i="0" u="none" strike="noStrike" cap="none" normalizeH="0" baseline="0" smtClean="0">
                          <a:ln>
                            <a:noFill/>
                          </a:ln>
                          <a:solidFill>
                            <a:schemeClr val="tx1"/>
                          </a:solidFill>
                          <a:effectLst/>
                          <a:latin typeface="Comic Sans MS" pitchFamily="66" charset="0"/>
                        </a:rPr>
                        <a:t>ão</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Reitor e Assessor da Reitoria</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An</a:t>
                      </a:r>
                      <a:r>
                        <a:rPr kumimoji="0" lang="pt-BR" sz="1200" b="0" i="0" u="none" strike="noStrike" cap="none" normalizeH="0" baseline="0" smtClean="0">
                          <a:ln>
                            <a:noFill/>
                          </a:ln>
                          <a:solidFill>
                            <a:schemeClr val="tx1"/>
                          </a:solidFill>
                          <a:effectLst/>
                          <a:latin typeface="Arial"/>
                        </a:rPr>
                        <a:t>ú</a:t>
                      </a:r>
                      <a:r>
                        <a:rPr kumimoji="0" lang="pt-BR" sz="1200" b="0" i="0" u="none" strike="noStrike" cap="none" normalizeH="0" baseline="0" smtClean="0">
                          <a:ln>
                            <a:noFill/>
                          </a:ln>
                          <a:solidFill>
                            <a:schemeClr val="tx1"/>
                          </a:solidFill>
                          <a:effectLst/>
                          <a:latin typeface="Comic Sans MS" pitchFamily="66" charset="0"/>
                        </a:rPr>
                        <a:t>ncio do Projeto, seus objetivos e escopo</a:t>
                      </a:r>
                    </a:p>
                  </a:txBody>
                  <a:tcPr marL="90000" marR="90000" marT="46800" marB="46800"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r>
              <a:tr h="5699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1" i="0" u="none" strike="noStrike" cap="none" normalizeH="0" baseline="0" smtClean="0">
                          <a:ln>
                            <a:noFill/>
                          </a:ln>
                          <a:solidFill>
                            <a:schemeClr val="tx1"/>
                          </a:solidFill>
                          <a:effectLst/>
                          <a:latin typeface="Comic Sans MS" pitchFamily="66" charset="0"/>
                        </a:rPr>
                        <a:t>01/Dezembro/2001</a:t>
                      </a:r>
                    </a:p>
                  </a:txBody>
                  <a:tcPr marL="90000" marR="90000" marT="46800" marB="46800"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Comunidade Acadêmica</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101600" marR="0" lvl="0" indent="-101600" algn="l" defTabSz="914400" rtl="0" eaLnBrk="0" fontAlgn="base" latinLnBrk="0" hangingPunct="0">
                        <a:lnSpc>
                          <a:spcPct val="100000"/>
                        </a:lnSpc>
                        <a:spcBef>
                          <a:spcPct val="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Circular</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Vice-Reitor</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An</a:t>
                      </a:r>
                      <a:r>
                        <a:rPr kumimoji="0" lang="en-US" sz="1200" b="0" i="0" u="none" strike="noStrike" cap="none" normalizeH="0" baseline="0" smtClean="0">
                          <a:ln>
                            <a:noFill/>
                          </a:ln>
                          <a:solidFill>
                            <a:schemeClr val="tx1"/>
                          </a:solidFill>
                          <a:effectLst/>
                          <a:latin typeface="Arial"/>
                        </a:rPr>
                        <a:t>ú</a:t>
                      </a:r>
                      <a:r>
                        <a:rPr kumimoji="0" lang="pt-BR" sz="1200" b="0" i="0" u="none" strike="noStrike" cap="none" normalizeH="0" baseline="0" smtClean="0">
                          <a:ln>
                            <a:noFill/>
                          </a:ln>
                          <a:solidFill>
                            <a:schemeClr val="tx1"/>
                          </a:solidFill>
                          <a:effectLst/>
                          <a:latin typeface="Comic Sans MS" pitchFamily="66" charset="0"/>
                        </a:rPr>
                        <a:t>ncio do Projeto para uma audiência mais ampla </a:t>
                      </a:r>
                      <a:r>
                        <a:rPr kumimoji="0" lang="pt-BR" sz="1200" b="0" i="0" u="none" strike="noStrike" cap="none" normalizeH="0" baseline="0" smtClean="0">
                          <a:ln>
                            <a:noFill/>
                          </a:ln>
                          <a:solidFill>
                            <a:schemeClr val="tx1"/>
                          </a:solidFill>
                          <a:effectLst/>
                          <a:latin typeface="Arial"/>
                        </a:rPr>
                        <a:t>–</a:t>
                      </a:r>
                      <a:r>
                        <a:rPr kumimoji="0" lang="pt-BR" sz="1200" b="0" i="0" u="none" strike="noStrike" cap="none" normalizeH="0" baseline="0" smtClean="0">
                          <a:ln>
                            <a:noFill/>
                          </a:ln>
                          <a:solidFill>
                            <a:schemeClr val="tx1"/>
                          </a:solidFill>
                          <a:effectLst/>
                          <a:latin typeface="Comic Sans MS" pitchFamily="66" charset="0"/>
                        </a:rPr>
                        <a:t> convite aos participantes para participa</a:t>
                      </a:r>
                      <a:r>
                        <a:rPr kumimoji="0" lang="pt-BR" sz="1200" b="0" i="0" u="none" strike="noStrike" cap="none" normalizeH="0" baseline="0" smtClean="0">
                          <a:ln>
                            <a:noFill/>
                          </a:ln>
                          <a:solidFill>
                            <a:schemeClr val="tx1"/>
                          </a:solidFill>
                          <a:effectLst/>
                          <a:latin typeface="Arial"/>
                        </a:rPr>
                        <a:t>ç</a:t>
                      </a:r>
                      <a:r>
                        <a:rPr kumimoji="0" lang="pt-BR" sz="1200" b="0" i="0" u="none" strike="noStrike" cap="none" normalizeH="0" baseline="0" smtClean="0">
                          <a:ln>
                            <a:noFill/>
                          </a:ln>
                          <a:solidFill>
                            <a:schemeClr val="tx1"/>
                          </a:solidFill>
                          <a:effectLst/>
                          <a:latin typeface="Comic Sans MS" pitchFamily="66" charset="0"/>
                        </a:rPr>
                        <a:t>ão na coleta de dados</a:t>
                      </a:r>
                    </a:p>
                  </a:txBody>
                  <a:tcPr marL="90000" marR="90000" marT="46800" marB="46800"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r>
              <a:tr h="5651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1" i="0" u="none" strike="noStrike" cap="none" normalizeH="0" baseline="0" smtClean="0">
                          <a:ln>
                            <a:noFill/>
                          </a:ln>
                          <a:solidFill>
                            <a:schemeClr val="tx1"/>
                          </a:solidFill>
                          <a:effectLst/>
                          <a:latin typeface="Comic Sans MS" pitchFamily="66" charset="0"/>
                        </a:rPr>
                        <a:t>Dezembro </a:t>
                      </a:r>
                      <a:r>
                        <a:rPr kumimoji="0" lang="pt-BR" sz="1200" b="1" i="0" u="none" strike="noStrike" cap="none" normalizeH="0" baseline="0" smtClean="0">
                          <a:ln>
                            <a:noFill/>
                          </a:ln>
                          <a:solidFill>
                            <a:schemeClr val="tx1"/>
                          </a:solidFill>
                          <a:effectLst/>
                          <a:latin typeface="Arial"/>
                        </a:rPr>
                        <a:t>–</a:t>
                      </a:r>
                      <a:r>
                        <a:rPr kumimoji="0" lang="pt-BR" sz="1200" b="1" i="0" u="none" strike="noStrike" cap="none" normalizeH="0" baseline="0" smtClean="0">
                          <a:ln>
                            <a:noFill/>
                          </a:ln>
                          <a:solidFill>
                            <a:schemeClr val="tx1"/>
                          </a:solidFill>
                          <a:effectLst/>
                          <a:latin typeface="Comic Sans MS" pitchFamily="66" charset="0"/>
                        </a:rPr>
                        <a:t> Janeiro </a:t>
                      </a:r>
                    </a:p>
                  </a:txBody>
                  <a:tcPr marL="90000" marR="90000" marT="46800" marB="46800"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Participantes de Entrevistas e Focus Group</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E-Mail</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Gerente do Projeto</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Envio de informa</a:t>
                      </a:r>
                      <a:r>
                        <a:rPr kumimoji="0" lang="pt-BR" sz="1200" b="0" i="0" u="none" strike="noStrike" cap="none" normalizeH="0" baseline="0" smtClean="0">
                          <a:ln>
                            <a:noFill/>
                          </a:ln>
                          <a:solidFill>
                            <a:schemeClr val="tx1"/>
                          </a:solidFill>
                          <a:effectLst/>
                          <a:latin typeface="Arial"/>
                        </a:rPr>
                        <a:t>ç</a:t>
                      </a:r>
                      <a:r>
                        <a:rPr kumimoji="0" lang="pt-BR" sz="1200" b="0" i="0" u="none" strike="noStrike" cap="none" normalizeH="0" baseline="0" smtClean="0">
                          <a:ln>
                            <a:noFill/>
                          </a:ln>
                          <a:solidFill>
                            <a:schemeClr val="tx1"/>
                          </a:solidFill>
                          <a:effectLst/>
                          <a:latin typeface="Comic Sans MS" pitchFamily="66" charset="0"/>
                        </a:rPr>
                        <a:t>ões de feed-back aos participantes </a:t>
                      </a:r>
                    </a:p>
                  </a:txBody>
                  <a:tcPr marL="90000" marR="90000" marT="46800" marB="46800"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r>
              <a:tr h="5699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1" i="0" u="none" strike="noStrike" cap="none" normalizeH="0" baseline="0" smtClean="0">
                          <a:ln>
                            <a:noFill/>
                          </a:ln>
                          <a:solidFill>
                            <a:schemeClr val="tx1"/>
                          </a:solidFill>
                          <a:effectLst/>
                          <a:latin typeface="Comic Sans MS" pitchFamily="66" charset="0"/>
                        </a:rPr>
                        <a:t>15/Janeiro/ 2002</a:t>
                      </a:r>
                    </a:p>
                  </a:txBody>
                  <a:tcPr marL="90000" marR="90000" marT="46800" marB="46800"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Comunidade Acadêmica</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E-mail</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Reitor e Assessor da Reitoria</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pt-BR" sz="1200" b="0" i="0" u="none" strike="noStrike" cap="none" normalizeH="0" baseline="0" smtClean="0">
                        <a:ln>
                          <a:noFill/>
                        </a:ln>
                        <a:solidFill>
                          <a:schemeClr val="tx1"/>
                        </a:solidFill>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Comunicar que as entrevistas e Focus Group foram conclu</a:t>
                      </a:r>
                      <a:r>
                        <a:rPr kumimoji="0" lang="pt-BR" sz="1200" b="0" i="0" u="none" strike="noStrike" cap="none" normalizeH="0" baseline="0" smtClean="0">
                          <a:ln>
                            <a:noFill/>
                          </a:ln>
                          <a:solidFill>
                            <a:schemeClr val="tx1"/>
                          </a:solidFill>
                          <a:effectLst/>
                          <a:latin typeface="Arial"/>
                        </a:rPr>
                        <a:t>í</a:t>
                      </a:r>
                      <a:r>
                        <a:rPr kumimoji="0" lang="pt-BR" sz="1200" b="0" i="0" u="none" strike="noStrike" cap="none" normalizeH="0" baseline="0" smtClean="0">
                          <a:ln>
                            <a:noFill/>
                          </a:ln>
                          <a:solidFill>
                            <a:schemeClr val="tx1"/>
                          </a:solidFill>
                          <a:effectLst/>
                          <a:latin typeface="Comic Sans MS" pitchFamily="66" charset="0"/>
                        </a:rPr>
                        <a:t>dos e que o Projeto est</a:t>
                      </a:r>
                      <a:r>
                        <a:rPr kumimoji="0" lang="pt-BR" sz="1200" b="0" i="0" u="none" strike="noStrike" cap="none" normalizeH="0" baseline="0" smtClean="0">
                          <a:ln>
                            <a:noFill/>
                          </a:ln>
                          <a:solidFill>
                            <a:schemeClr val="tx1"/>
                          </a:solidFill>
                          <a:effectLst/>
                          <a:latin typeface="Arial"/>
                        </a:rPr>
                        <a:t>á</a:t>
                      </a:r>
                      <a:r>
                        <a:rPr kumimoji="0" lang="pt-BR" sz="1200" b="0" i="0" u="none" strike="noStrike" cap="none" normalizeH="0" baseline="0" smtClean="0">
                          <a:ln>
                            <a:noFill/>
                          </a:ln>
                          <a:solidFill>
                            <a:schemeClr val="tx1"/>
                          </a:solidFill>
                          <a:effectLst/>
                          <a:latin typeface="Comic Sans MS" pitchFamily="66" charset="0"/>
                        </a:rPr>
                        <a:t> iniciando a Fase de An</a:t>
                      </a:r>
                      <a:r>
                        <a:rPr kumimoji="0" lang="pt-BR" sz="1200" b="0" i="0" u="none" strike="noStrike" cap="none" normalizeH="0" baseline="0" smtClean="0">
                          <a:ln>
                            <a:noFill/>
                          </a:ln>
                          <a:solidFill>
                            <a:schemeClr val="tx1"/>
                          </a:solidFill>
                          <a:effectLst/>
                          <a:latin typeface="Arial"/>
                        </a:rPr>
                        <a:t>á</a:t>
                      </a:r>
                      <a:r>
                        <a:rPr kumimoji="0" lang="pt-BR" sz="1200" b="0" i="0" u="none" strike="noStrike" cap="none" normalizeH="0" baseline="0" smtClean="0">
                          <a:ln>
                            <a:noFill/>
                          </a:ln>
                          <a:solidFill>
                            <a:schemeClr val="tx1"/>
                          </a:solidFill>
                          <a:effectLst/>
                          <a:latin typeface="Comic Sans MS" pitchFamily="66" charset="0"/>
                        </a:rPr>
                        <a:t>lise</a:t>
                      </a:r>
                    </a:p>
                  </a:txBody>
                  <a:tcPr marL="90000" marR="90000" marT="46800" marB="46800"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r>
              <a:tr h="5699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1" i="0" u="none" strike="noStrike" cap="none" normalizeH="0" baseline="0" smtClean="0">
                          <a:ln>
                            <a:noFill/>
                          </a:ln>
                          <a:solidFill>
                            <a:schemeClr val="tx1"/>
                          </a:solidFill>
                          <a:effectLst/>
                          <a:latin typeface="Comic Sans MS" pitchFamily="66" charset="0"/>
                        </a:rPr>
                        <a:t>15/Janeiro/ 2002</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pt-BR" sz="1200" b="1" i="0" u="none" strike="noStrike" cap="none" normalizeH="0" baseline="0" smtClean="0">
                        <a:ln>
                          <a:noFill/>
                        </a:ln>
                        <a:solidFill>
                          <a:schemeClr val="tx1"/>
                        </a:solidFill>
                        <a:effectLst/>
                        <a:latin typeface="Comic Sans MS" pitchFamily="66" charset="0"/>
                      </a:endParaRPr>
                    </a:p>
                  </a:txBody>
                  <a:tcPr marL="90000" marR="90000" marT="46800" marB="46800"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Participantes de Entrevistas e Focus Group</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pt-BR" sz="1200" b="0" i="0" u="none" strike="noStrike" cap="none" normalizeH="0" baseline="0" smtClean="0">
                        <a:ln>
                          <a:noFill/>
                        </a:ln>
                        <a:solidFill>
                          <a:schemeClr val="tx1"/>
                        </a:solidFill>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Carta</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Gerente do Projeto</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pt-BR" sz="1200" b="0" i="0" u="none" strike="noStrike" cap="none" normalizeH="0" baseline="0" smtClean="0">
                        <a:ln>
                          <a:noFill/>
                        </a:ln>
                        <a:solidFill>
                          <a:schemeClr val="tx1"/>
                        </a:solidFill>
                        <a:effectLst/>
                        <a:latin typeface="Comic Sans MS" pitchFamily="66" charset="0"/>
                      </a:endParaRP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Agrade</a:t>
                      </a:r>
                      <a:r>
                        <a:rPr kumimoji="0" lang="en-US" sz="1200" b="0" i="0" u="none" strike="noStrike" cap="none" normalizeH="0" baseline="0" smtClean="0">
                          <a:ln>
                            <a:noFill/>
                          </a:ln>
                          <a:solidFill>
                            <a:schemeClr val="tx1"/>
                          </a:solidFill>
                          <a:effectLst/>
                          <a:latin typeface="Comic Sans MS" pitchFamily="66" charset="0"/>
                        </a:rPr>
                        <a:t>cer</a:t>
                      </a:r>
                      <a:r>
                        <a:rPr kumimoji="0" lang="pt-BR" sz="1200" b="0" i="0" u="none" strike="noStrike" cap="none" normalizeH="0" baseline="0" smtClean="0">
                          <a:ln>
                            <a:noFill/>
                          </a:ln>
                          <a:solidFill>
                            <a:schemeClr val="tx1"/>
                          </a:solidFill>
                          <a:effectLst/>
                          <a:latin typeface="Comic Sans MS" pitchFamily="66" charset="0"/>
                        </a:rPr>
                        <a:t> aos participantes/ assegurar que sabem como estamos usando a informa</a:t>
                      </a:r>
                      <a:r>
                        <a:rPr kumimoji="0" lang="pt-BR" sz="1200" b="0" i="0" u="none" strike="noStrike" cap="none" normalizeH="0" baseline="0" smtClean="0">
                          <a:ln>
                            <a:noFill/>
                          </a:ln>
                          <a:solidFill>
                            <a:schemeClr val="tx1"/>
                          </a:solidFill>
                          <a:effectLst/>
                          <a:latin typeface="Arial"/>
                        </a:rPr>
                        <a:t>ç</a:t>
                      </a:r>
                      <a:r>
                        <a:rPr kumimoji="0" lang="pt-BR" sz="1200" b="0" i="0" u="none" strike="noStrike" cap="none" normalizeH="0" baseline="0" smtClean="0">
                          <a:ln>
                            <a:noFill/>
                          </a:ln>
                          <a:solidFill>
                            <a:schemeClr val="tx1"/>
                          </a:solidFill>
                          <a:effectLst/>
                          <a:latin typeface="Comic Sans MS" pitchFamily="66" charset="0"/>
                        </a:rPr>
                        <a:t>ão e quando terão a oportunidade de verem as conclusões</a:t>
                      </a:r>
                    </a:p>
                  </a:txBody>
                  <a:tcPr marL="90000" marR="90000" marT="46800" marB="46800"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r>
              <a:tr h="4238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1" i="0" u="none" strike="noStrike" cap="none" normalizeH="0" baseline="0" smtClean="0">
                          <a:ln>
                            <a:noFill/>
                          </a:ln>
                          <a:solidFill>
                            <a:schemeClr val="tx1"/>
                          </a:solidFill>
                          <a:effectLst/>
                          <a:latin typeface="Comic Sans MS" pitchFamily="66" charset="0"/>
                        </a:rPr>
                        <a:t>7/Mar</a:t>
                      </a:r>
                      <a:r>
                        <a:rPr kumimoji="0" lang="pt-BR" sz="1200" b="1" i="0" u="none" strike="noStrike" cap="none" normalizeH="0" baseline="0" smtClean="0">
                          <a:ln>
                            <a:noFill/>
                          </a:ln>
                          <a:solidFill>
                            <a:schemeClr val="tx1"/>
                          </a:solidFill>
                          <a:effectLst/>
                          <a:latin typeface="Arial"/>
                        </a:rPr>
                        <a:t>ç</a:t>
                      </a:r>
                      <a:r>
                        <a:rPr kumimoji="0" lang="pt-BR" sz="1200" b="1" i="0" u="none" strike="noStrike" cap="none" normalizeH="0" baseline="0" smtClean="0">
                          <a:ln>
                            <a:noFill/>
                          </a:ln>
                          <a:solidFill>
                            <a:schemeClr val="tx1"/>
                          </a:solidFill>
                          <a:effectLst/>
                          <a:latin typeface="Comic Sans MS" pitchFamily="66" charset="0"/>
                        </a:rPr>
                        <a:t>o/2002</a:t>
                      </a:r>
                    </a:p>
                  </a:txBody>
                  <a:tcPr marL="90000" marR="90000" marT="46800" marB="46800"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Comunidade Acadêmica</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Video</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Gerente do Projeto</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Introduzir a Visão de T/I para a Comunidade Acadêmica</a:t>
                      </a:r>
                    </a:p>
                  </a:txBody>
                  <a:tcPr marL="90000" marR="90000" marT="46800" marB="46800"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r>
              <a:tr h="5699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1" i="0" u="none" strike="noStrike" cap="none" normalizeH="0" baseline="0" smtClean="0">
                          <a:ln>
                            <a:noFill/>
                          </a:ln>
                          <a:solidFill>
                            <a:schemeClr val="tx1"/>
                          </a:solidFill>
                          <a:effectLst/>
                          <a:latin typeface="Comic Sans MS" pitchFamily="66" charset="0"/>
                        </a:rPr>
                        <a:t>15/Maio/2002</a:t>
                      </a:r>
                    </a:p>
                  </a:txBody>
                  <a:tcPr marL="90000" marR="90000" marT="46800" marB="46800"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Comunidade Acadêmica</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E-Mail</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Reitor e Assessor da Reitoria</a:t>
                      </a:r>
                    </a:p>
                  </a:txBody>
                  <a:tcPr marL="90000" marR="90000" marT="46800" marB="46800"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pt-BR" sz="1200" b="0" i="0" u="none" strike="noStrike" cap="none" normalizeH="0" baseline="0" smtClean="0">
                          <a:ln>
                            <a:noFill/>
                          </a:ln>
                          <a:solidFill>
                            <a:schemeClr val="tx1"/>
                          </a:solidFill>
                          <a:effectLst/>
                          <a:latin typeface="Comic Sans MS" pitchFamily="66" charset="0"/>
                        </a:rPr>
                        <a:t>Anunciar as conclusões do Projeto e o cronograma de prosseguimento do Projeto</a:t>
                      </a:r>
                    </a:p>
                  </a:txBody>
                  <a:tcPr marL="90000" marR="90000" marT="46800" marB="46800"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endParaRPr lang="pt-BR" smtClean="0"/>
          </a:p>
        </p:txBody>
      </p:sp>
      <p:sp>
        <p:nvSpPr>
          <p:cNvPr id="82947" name="Rectangle 3"/>
          <p:cNvSpPr>
            <a:spLocks noGrp="1" noChangeArrowheads="1"/>
          </p:cNvSpPr>
          <p:nvPr>
            <p:ph type="body" idx="1"/>
          </p:nvPr>
        </p:nvSpPr>
        <p:spPr/>
        <p:txBody>
          <a:bodyPr/>
          <a:lstStyle/>
          <a:p>
            <a:r>
              <a:rPr lang="pt-BR" smtClean="0"/>
              <a:t>Qual a melhor estratégia de comunicação para o seu projeto?</a:t>
            </a:r>
          </a:p>
          <a:p>
            <a:endParaRPr lang="pt-BR" smtClean="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Comunicação em times ágeis</a:t>
            </a:r>
          </a:p>
        </p:txBody>
      </p:sp>
      <p:sp>
        <p:nvSpPr>
          <p:cNvPr id="3" name="Content Placeholder 2"/>
          <p:cNvSpPr>
            <a:spLocks noGrp="1"/>
          </p:cNvSpPr>
          <p:nvPr>
            <p:ph idx="1"/>
          </p:nvPr>
        </p:nvSpPr>
        <p:spPr/>
        <p:txBody>
          <a:bodyPr/>
          <a:lstStyle/>
          <a:p>
            <a:r>
              <a:rPr sz="2100"/>
              <a:t>Cerimônias como canais: Daily, Review e Retrospective</a:t>
            </a:r>
          </a:p>
          <a:p>
            <a:r>
              <a:rPr sz="2100"/>
              <a:t>Informação visível: quadros Kanban e painéis</a:t>
            </a:r>
          </a:p>
          <a:p>
            <a:r>
              <a:rPr sz="2100"/>
              <a:t>Ferramentas: Jira, Azure DevOps, Trello, Miro, Teams</a:t>
            </a:r>
          </a:p>
          <a:p>
            <a:r>
              <a:rPr sz="2100"/>
              <a:t>Times pequenos (3 a 9 pessoas) reduzem canais: n(n-1)/2</a:t>
            </a:r>
          </a:p>
          <a:p>
            <a:r>
              <a:rPr sz="2100"/>
              <a:t>Times remotos exigem acordos explícitos de comunicação</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pt-BR" smtClean="0"/>
              <a:t>Riscos</a:t>
            </a:r>
          </a:p>
        </p:txBody>
      </p:sp>
      <p:sp>
        <p:nvSpPr>
          <p:cNvPr id="83971" name="Rectangle 3"/>
          <p:cNvSpPr>
            <a:spLocks noGrp="1" noChangeArrowheads="1"/>
          </p:cNvSpPr>
          <p:nvPr>
            <p:ph type="body" idx="1"/>
          </p:nvPr>
        </p:nvSpPr>
        <p:spPr>
          <a:xfrm>
            <a:off x="457200" y="2819400"/>
            <a:ext cx="8229600" cy="3306763"/>
          </a:xfrm>
        </p:spPr>
        <p:txBody>
          <a:bodyPr/>
          <a:lstStyle/>
          <a:p>
            <a:pPr algn="ctr"/>
            <a:r>
              <a:rPr lang="pt-BR" dirty="0" smtClean="0">
                <a:hlinkClick r:id="rId2" action="ppaction://hlinkfile"/>
              </a:rPr>
              <a:t>Gerenciar riscos</a:t>
            </a:r>
            <a:endParaRPr lang="pt-BR" dirty="0" smtClean="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Riscos no ágil</a:t>
            </a:r>
          </a:p>
        </p:txBody>
      </p:sp>
      <p:sp>
        <p:nvSpPr>
          <p:cNvPr id="3" name="Content Placeholder 2"/>
          <p:cNvSpPr>
            <a:spLocks noGrp="1"/>
          </p:cNvSpPr>
          <p:nvPr>
            <p:ph idx="1"/>
          </p:nvPr>
        </p:nvSpPr>
        <p:spPr/>
        <p:txBody>
          <a:bodyPr/>
          <a:lstStyle/>
          <a:p>
            <a:r>
              <a:rPr sz="2100"/>
              <a:t>Gerenciados a cada iteração, não só no plano inicial</a:t>
            </a:r>
          </a:p>
          <a:p>
            <a:r>
              <a:rPr sz="2100"/>
              <a:t>Entregas curtas reduzem a exposição e antecipam feedback</a:t>
            </a:r>
          </a:p>
          <a:p>
            <a:r>
              <a:rPr sz="2100"/>
              <a:t>Impedimentos tratados na Daily; melhorias na Retrospective</a:t>
            </a:r>
          </a:p>
          <a:p>
            <a:r>
              <a:rPr sz="2100"/>
              <a:t>Spikes: investigação curta para reduzir incerteza técnica</a:t>
            </a:r>
          </a:p>
          <a:p>
            <a:r>
              <a:rPr sz="2100"/>
              <a:t>Matriz probabilidade x impacto continua útil</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RH</a:t>
            </a:r>
            <a:endParaRPr lang="pt-BR" dirty="0"/>
          </a:p>
        </p:txBody>
      </p:sp>
      <p:sp>
        <p:nvSpPr>
          <p:cNvPr id="3" name="Espaço Reservado para Conteúdo 2"/>
          <p:cNvSpPr>
            <a:spLocks noGrp="1"/>
          </p:cNvSpPr>
          <p:nvPr>
            <p:ph idx="1"/>
          </p:nvPr>
        </p:nvSpPr>
        <p:spPr/>
        <p:txBody>
          <a:bodyPr/>
          <a:lstStyle/>
          <a:p>
            <a:endParaRPr lang="pt-BR"/>
          </a:p>
        </p:txBody>
      </p:sp>
      <p:pic>
        <p:nvPicPr>
          <p:cNvPr id="156674" name="Picture 2" descr="Resultado de imagem para equipe de trabalho"/>
          <p:cNvPicPr>
            <a:picLocks noChangeAspect="1" noChangeArrowheads="1"/>
          </p:cNvPicPr>
          <p:nvPr/>
        </p:nvPicPr>
        <p:blipFill>
          <a:blip r:embed="rId2"/>
          <a:srcRect/>
          <a:stretch>
            <a:fillRect/>
          </a:stretch>
        </p:blipFill>
        <p:spPr bwMode="auto">
          <a:xfrm>
            <a:off x="1500166" y="1857364"/>
            <a:ext cx="5753100" cy="3562351"/>
          </a:xfrm>
          <a:prstGeom prst="rect">
            <a:avLst/>
          </a:prstGeom>
          <a:noFill/>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1026" name="Picture 2"/>
          <p:cNvPicPr>
            <a:picLocks noChangeAspect="1" noChangeArrowheads="1"/>
          </p:cNvPicPr>
          <p:nvPr/>
        </p:nvPicPr>
        <p:blipFill>
          <a:blip r:embed="rId2" cstate="print"/>
          <a:srcRect/>
          <a:stretch>
            <a:fillRect/>
          </a:stretch>
        </p:blipFill>
        <p:spPr bwMode="auto">
          <a:xfrm>
            <a:off x="827584" y="2636912"/>
            <a:ext cx="7810594" cy="21688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a:xfrm>
            <a:off x="457200" y="4267200"/>
            <a:ext cx="8229600" cy="1858963"/>
          </a:xfrm>
        </p:spPr>
        <p:txBody>
          <a:bodyPr/>
          <a:lstStyle/>
          <a:p>
            <a:r>
              <a:rPr lang="pt-BR" dirty="0" smtClean="0"/>
              <a:t>Dizia Einstein que “A criatividade é mais importante que a inteligência”.</a:t>
            </a:r>
          </a:p>
          <a:p>
            <a:endParaRPr lang="pt-BR" dirty="0"/>
          </a:p>
        </p:txBody>
      </p:sp>
      <p:pic>
        <p:nvPicPr>
          <p:cNvPr id="4098" name="Picture 2"/>
          <p:cNvPicPr>
            <a:picLocks noChangeAspect="1" noChangeArrowheads="1"/>
          </p:cNvPicPr>
          <p:nvPr/>
        </p:nvPicPr>
        <p:blipFill>
          <a:blip r:embed="rId2" cstate="print"/>
          <a:srcRect/>
          <a:stretch>
            <a:fillRect/>
          </a:stretch>
        </p:blipFill>
        <p:spPr bwMode="auto">
          <a:xfrm>
            <a:off x="457200" y="1371600"/>
            <a:ext cx="8396405" cy="21602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RH</a:t>
            </a:r>
            <a:endParaRPr lang="pt-BR" dirty="0"/>
          </a:p>
        </p:txBody>
      </p:sp>
      <p:sp>
        <p:nvSpPr>
          <p:cNvPr id="3" name="Espaço Reservado para Conteúdo 2"/>
          <p:cNvSpPr>
            <a:spLocks noGrp="1"/>
          </p:cNvSpPr>
          <p:nvPr>
            <p:ph idx="1"/>
          </p:nvPr>
        </p:nvSpPr>
        <p:spPr/>
        <p:txBody>
          <a:bodyPr/>
          <a:lstStyle/>
          <a:p>
            <a:pPr>
              <a:buNone/>
            </a:pPr>
            <a:r>
              <a:rPr lang="pt-BR" dirty="0" smtClean="0"/>
              <a:t>Gerenciamento dos recursos humanos, o qual inclui os processos que organizam, gerenciam e lideram a equipe do projeto.</a:t>
            </a:r>
          </a:p>
          <a:p>
            <a:pPr>
              <a:buNone/>
            </a:pPr>
            <a:r>
              <a:rPr lang="pt-BR" dirty="0" smtClean="0"/>
              <a:t>Este gerenciamento é vital para os projetos, pois as pessoas determinam o sucesso ou fracasso de organizações e projetos. É necessário ter uma equipe com gente bem qualificada.</a:t>
            </a:r>
          </a:p>
          <a:p>
            <a:endParaRPr lang="pt-BR"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157698" name="Picture 2"/>
          <p:cNvPicPr>
            <a:picLocks noChangeAspect="1" noChangeArrowheads="1"/>
          </p:cNvPicPr>
          <p:nvPr/>
        </p:nvPicPr>
        <p:blipFill>
          <a:blip r:embed="rId2"/>
          <a:srcRect/>
          <a:stretch>
            <a:fillRect/>
          </a:stretch>
        </p:blipFill>
        <p:spPr bwMode="auto">
          <a:xfrm>
            <a:off x="1085850" y="190500"/>
            <a:ext cx="6972300" cy="6477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Teorias de motivação: </a:t>
            </a:r>
            <a:r>
              <a:rPr lang="pt-BR" dirty="0" err="1" smtClean="0"/>
              <a:t>Maslow</a:t>
            </a:r>
            <a:endParaRPr lang="pt-BR" dirty="0"/>
          </a:p>
        </p:txBody>
      </p:sp>
      <p:sp>
        <p:nvSpPr>
          <p:cNvPr id="3" name="Espaço Reservado para Conteúdo 2"/>
          <p:cNvSpPr>
            <a:spLocks noGrp="1"/>
          </p:cNvSpPr>
          <p:nvPr>
            <p:ph idx="1"/>
          </p:nvPr>
        </p:nvSpPr>
        <p:spPr/>
        <p:txBody>
          <a:bodyPr/>
          <a:lstStyle/>
          <a:p>
            <a:endParaRPr lang="pt-BR"/>
          </a:p>
        </p:txBody>
      </p:sp>
      <p:pic>
        <p:nvPicPr>
          <p:cNvPr id="135170" name="Picture 2"/>
          <p:cNvPicPr>
            <a:picLocks noChangeAspect="1" noChangeArrowheads="1"/>
          </p:cNvPicPr>
          <p:nvPr/>
        </p:nvPicPr>
        <p:blipFill>
          <a:blip r:embed="rId2"/>
          <a:srcRect/>
          <a:stretch>
            <a:fillRect/>
          </a:stretch>
        </p:blipFill>
        <p:spPr bwMode="auto">
          <a:xfrm>
            <a:off x="1357290" y="2214554"/>
            <a:ext cx="7552593" cy="46434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Teorias de motivação :</a:t>
            </a:r>
            <a:br>
              <a:rPr lang="pt-BR" dirty="0" smtClean="0"/>
            </a:br>
            <a:r>
              <a:rPr lang="pt-BR" dirty="0" smtClean="0"/>
              <a:t>Teoria das expectativas</a:t>
            </a:r>
            <a:br>
              <a:rPr lang="pt-BR" dirty="0" smtClean="0"/>
            </a:br>
            <a:endParaRPr lang="pt-BR" dirty="0"/>
          </a:p>
        </p:txBody>
      </p:sp>
      <p:sp>
        <p:nvSpPr>
          <p:cNvPr id="3" name="Espaço Reservado para Conteúdo 2"/>
          <p:cNvSpPr>
            <a:spLocks noGrp="1"/>
          </p:cNvSpPr>
          <p:nvPr>
            <p:ph idx="1"/>
          </p:nvPr>
        </p:nvSpPr>
        <p:spPr/>
        <p:txBody>
          <a:bodyPr/>
          <a:lstStyle/>
          <a:p>
            <a:r>
              <a:rPr lang="pt-BR" sz="2600" dirty="0" smtClean="0"/>
              <a:t>Baseia-se na suposição de que as pessoas escolhem entre comportamentos diferentes, de acordo com as expectativas:</a:t>
            </a:r>
          </a:p>
          <a:p>
            <a:r>
              <a:rPr lang="pt-BR" sz="2600" b="1" dirty="0" smtClean="0"/>
              <a:t>Esforço X Desempenho</a:t>
            </a:r>
            <a:r>
              <a:rPr lang="pt-BR" sz="2600" dirty="0" smtClean="0"/>
              <a:t> – “Se eu me esforçar terei um bom desempenho?”</a:t>
            </a:r>
          </a:p>
          <a:p>
            <a:r>
              <a:rPr lang="pt-BR" sz="2600" b="1" dirty="0" smtClean="0"/>
              <a:t>Desempenho X Recompensa</a:t>
            </a:r>
            <a:r>
              <a:rPr lang="pt-BR" sz="2600" dirty="0" smtClean="0"/>
              <a:t> – “Se eu atingir esse desempenho, serei recompensado?”</a:t>
            </a:r>
          </a:p>
          <a:p>
            <a:r>
              <a:rPr lang="pt-BR" sz="2600" b="1" dirty="0" smtClean="0"/>
              <a:t>Validade ou atratividade da recompensa</a:t>
            </a:r>
            <a:r>
              <a:rPr lang="pt-BR" sz="2600" dirty="0" smtClean="0"/>
              <a:t> – “Qual é o valor que eu realmente dou a essa recompensa?”</a:t>
            </a:r>
          </a:p>
          <a:p>
            <a:endParaRPr lang="pt-BR" sz="2600"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57174"/>
            <a:ext cx="8229600" cy="1143000"/>
          </a:xfrm>
        </p:spPr>
        <p:txBody>
          <a:bodyPr/>
          <a:lstStyle/>
          <a:p>
            <a:r>
              <a:rPr lang="pt-BR" dirty="0" smtClean="0"/>
              <a:t>Teorias de motivação : </a:t>
            </a:r>
            <a:br>
              <a:rPr lang="pt-BR" dirty="0" smtClean="0"/>
            </a:br>
            <a:r>
              <a:rPr lang="pt-BR" dirty="0" smtClean="0"/>
              <a:t>Teoria de Herzberg</a:t>
            </a:r>
            <a:br>
              <a:rPr lang="pt-BR" dirty="0" smtClean="0"/>
            </a:br>
            <a:endParaRPr lang="pt-BR" dirty="0"/>
          </a:p>
        </p:txBody>
      </p:sp>
      <p:sp>
        <p:nvSpPr>
          <p:cNvPr id="3" name="Espaço Reservado para Conteúdo 2"/>
          <p:cNvSpPr>
            <a:spLocks noGrp="1"/>
          </p:cNvSpPr>
          <p:nvPr>
            <p:ph idx="1"/>
          </p:nvPr>
        </p:nvSpPr>
        <p:spPr/>
        <p:txBody>
          <a:bodyPr/>
          <a:lstStyle/>
          <a:p>
            <a:r>
              <a:rPr lang="pt-BR" sz="2600" b="1" dirty="0" smtClean="0"/>
              <a:t>Fatores higiênicos</a:t>
            </a:r>
            <a:r>
              <a:rPr lang="pt-BR" sz="2600" dirty="0" smtClean="0"/>
              <a:t> – São fatores que podem causar a insatisfação no cargo, e podem ser provenientes do ambiente de trabalho, da supervisão, colegas, segurança no ambiente de trabalho, salário, </a:t>
            </a:r>
            <a:r>
              <a:rPr lang="pt-BR" sz="2600" dirty="0" err="1" smtClean="0"/>
              <a:t>etc</a:t>
            </a:r>
            <a:r>
              <a:rPr lang="pt-BR" sz="2600" dirty="0" smtClean="0"/>
              <a:t>;</a:t>
            </a:r>
          </a:p>
          <a:p>
            <a:r>
              <a:rPr lang="pt-BR" sz="2600" b="1" dirty="0" smtClean="0"/>
              <a:t>Fatores motivadores</a:t>
            </a:r>
            <a:r>
              <a:rPr lang="pt-BR" sz="2600" dirty="0" smtClean="0"/>
              <a:t> – São os fatores que causam motivação em relação ao trabalho, como conteúdo do cargo, atividades desafiadoras e estimulantes necessárias ao desempenho da função, o crescimento profissional e o reconhecimento.</a:t>
            </a:r>
          </a:p>
          <a:p>
            <a:endParaRPr lang="pt-BR" sz="2600"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57174"/>
            <a:ext cx="8229600" cy="1143000"/>
          </a:xfrm>
        </p:spPr>
        <p:txBody>
          <a:bodyPr/>
          <a:lstStyle/>
          <a:p>
            <a:r>
              <a:rPr lang="pt-BR" dirty="0" smtClean="0"/>
              <a:t>Teorias de motivação : </a:t>
            </a:r>
            <a:br>
              <a:rPr lang="pt-BR" dirty="0" smtClean="0"/>
            </a:br>
            <a:r>
              <a:rPr lang="pt-BR" dirty="0" smtClean="0"/>
              <a:t>Teoria da Realização</a:t>
            </a:r>
            <a:br>
              <a:rPr lang="pt-BR" dirty="0" smtClean="0"/>
            </a:br>
            <a:endParaRPr lang="pt-BR" dirty="0"/>
          </a:p>
        </p:txBody>
      </p:sp>
      <p:sp>
        <p:nvSpPr>
          <p:cNvPr id="3" name="Espaço Reservado para Conteúdo 2"/>
          <p:cNvSpPr>
            <a:spLocks noGrp="1"/>
          </p:cNvSpPr>
          <p:nvPr>
            <p:ph idx="1"/>
          </p:nvPr>
        </p:nvSpPr>
        <p:spPr/>
        <p:txBody>
          <a:bodyPr/>
          <a:lstStyle/>
          <a:p>
            <a:pPr>
              <a:buNone/>
            </a:pPr>
            <a:r>
              <a:rPr lang="pt-BR" sz="2800" dirty="0" smtClean="0"/>
              <a:t>David </a:t>
            </a:r>
            <a:r>
              <a:rPr lang="pt-BR" sz="2800" dirty="0" err="1" smtClean="0"/>
              <a:t>McClelland</a:t>
            </a:r>
            <a:r>
              <a:rPr lang="pt-BR" sz="2800" dirty="0" smtClean="0"/>
              <a:t> afirma que a motivação das pessoas vem de:</a:t>
            </a:r>
          </a:p>
          <a:p>
            <a:r>
              <a:rPr lang="pt-BR" sz="2800" b="1" dirty="0" smtClean="0"/>
              <a:t>Realização</a:t>
            </a:r>
            <a:r>
              <a:rPr lang="pt-BR" sz="2800" dirty="0" smtClean="0"/>
              <a:t> – A necessidade de se sentir capaz frente a desafios aceitáveis, de realização, de reconhecimento;</a:t>
            </a:r>
          </a:p>
          <a:p>
            <a:r>
              <a:rPr lang="pt-BR" sz="2800" b="1" dirty="0" err="1" smtClean="0"/>
              <a:t>Afilição</a:t>
            </a:r>
            <a:r>
              <a:rPr lang="pt-BR" sz="2800" b="1" dirty="0" smtClean="0"/>
              <a:t> ou socialização</a:t>
            </a:r>
            <a:r>
              <a:rPr lang="pt-BR" sz="2800" dirty="0" smtClean="0"/>
              <a:t> – A necessidade de se sentir pertencente a um grupo, de cooperar com o grupo e de ser aprovado pelo grupo;</a:t>
            </a:r>
          </a:p>
          <a:p>
            <a:r>
              <a:rPr lang="pt-BR" sz="2800" b="1" dirty="0" smtClean="0"/>
              <a:t>Poder</a:t>
            </a:r>
            <a:r>
              <a:rPr lang="pt-BR" sz="2800" dirty="0" smtClean="0"/>
              <a:t> – A necessidade de influenciar as pessoas, se tornar um líder.</a:t>
            </a:r>
          </a:p>
          <a:p>
            <a:endParaRPr lang="pt-BR"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Teorias do comportamento humano</a:t>
            </a:r>
            <a:endParaRPr lang="pt-BR" dirty="0"/>
          </a:p>
        </p:txBody>
      </p:sp>
      <p:sp>
        <p:nvSpPr>
          <p:cNvPr id="3" name="Espaço Reservado para Conteúdo 2"/>
          <p:cNvSpPr>
            <a:spLocks noGrp="1"/>
          </p:cNvSpPr>
          <p:nvPr>
            <p:ph idx="1"/>
          </p:nvPr>
        </p:nvSpPr>
        <p:spPr/>
        <p:txBody>
          <a:bodyPr/>
          <a:lstStyle/>
          <a:p>
            <a:pPr>
              <a:buNone/>
            </a:pPr>
            <a:r>
              <a:rPr lang="pt-BR" dirty="0" smtClean="0"/>
              <a:t>Teoria X</a:t>
            </a:r>
          </a:p>
          <a:p>
            <a:r>
              <a:rPr lang="pt-BR" dirty="0" smtClean="0"/>
              <a:t>Estabelece que os seres humanos não gostam de trabalhar e o evitam sempre que possível; Preferem ser dirigidos a dirigir; o ser humano médio é pouco ambicioso; as pessoas são incapazes e não querem assumir responsabilidades.</a:t>
            </a:r>
          </a:p>
          <a:p>
            <a:endParaRPr lang="pt-BR"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Teorias do comportamento humano</a:t>
            </a:r>
            <a:endParaRPr lang="pt-BR" dirty="0"/>
          </a:p>
        </p:txBody>
      </p:sp>
      <p:sp>
        <p:nvSpPr>
          <p:cNvPr id="3" name="Espaço Reservado para Conteúdo 2"/>
          <p:cNvSpPr>
            <a:spLocks noGrp="1"/>
          </p:cNvSpPr>
          <p:nvPr>
            <p:ph idx="1"/>
          </p:nvPr>
        </p:nvSpPr>
        <p:spPr/>
        <p:txBody>
          <a:bodyPr/>
          <a:lstStyle/>
          <a:p>
            <a:pPr>
              <a:buNone/>
            </a:pPr>
            <a:r>
              <a:rPr lang="pt-BR" dirty="0" smtClean="0"/>
              <a:t>Teoria Y</a:t>
            </a:r>
          </a:p>
          <a:p>
            <a:r>
              <a:rPr lang="pt-BR" dirty="0" smtClean="0"/>
              <a:t>As pessoas aprendem a assumir responsabilidades; Podem ser motivadas; Podem trabalhar sem serem supervisionadas constantemente; A potencialidade intelectual do ser humano médio pode ser aumentada.</a:t>
            </a:r>
          </a:p>
          <a:p>
            <a:endParaRPr lang="pt-BR"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a:xfrm>
            <a:off x="457200" y="2428868"/>
            <a:ext cx="8229600" cy="3697295"/>
          </a:xfrm>
        </p:spPr>
        <p:txBody>
          <a:bodyPr/>
          <a:lstStyle/>
          <a:p>
            <a:pPr algn="ctr">
              <a:buNone/>
            </a:pPr>
            <a:r>
              <a:rPr lang="pt-BR" sz="10000" dirty="0" smtClean="0"/>
              <a:t>X </a:t>
            </a:r>
            <a:r>
              <a:rPr lang="pt-BR" sz="10000" dirty="0" err="1" smtClean="0"/>
              <a:t>vs</a:t>
            </a:r>
            <a:r>
              <a:rPr lang="pt-BR" sz="10000" dirty="0" smtClean="0"/>
              <a:t> Y</a:t>
            </a:r>
            <a:endParaRPr lang="pt-BR" sz="10000"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RH em times ágeis</a:t>
            </a:r>
          </a:p>
        </p:txBody>
      </p:sp>
      <p:sp>
        <p:nvSpPr>
          <p:cNvPr id="3" name="Content Placeholder 2"/>
          <p:cNvSpPr>
            <a:spLocks noGrp="1"/>
          </p:cNvSpPr>
          <p:nvPr>
            <p:ph idx="1"/>
          </p:nvPr>
        </p:nvSpPr>
        <p:spPr/>
        <p:txBody>
          <a:bodyPr/>
          <a:lstStyle/>
          <a:p>
            <a:r>
              <a:rPr sz="2100"/>
              <a:t>Times multifuncionais e autogerenciáveis (Teoria Y na prática)</a:t>
            </a:r>
          </a:p>
          <a:p>
            <a:r>
              <a:rPr sz="2100"/>
              <a:t>Liderança servidora: remove obstáculos e apoia o time</a:t>
            </a:r>
          </a:p>
          <a:p>
            <a:r>
              <a:rPr sz="2100"/>
              <a:t>Segurança psicológica para errar, aprender e discordar</a:t>
            </a:r>
          </a:p>
          <a:p>
            <a:r>
              <a:rPr sz="2100"/>
              <a:t>Motivação por autonomia, domínio e propósito</a:t>
            </a:r>
          </a:p>
          <a:p>
            <a:r>
              <a:rPr sz="2100"/>
              <a:t>Perfis T: especialista em uma área, colaborador em várias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dirty="0"/>
          </a:p>
        </p:txBody>
      </p:sp>
      <p:pic>
        <p:nvPicPr>
          <p:cNvPr id="136194" name="Picture 2" descr="Resultado de imagem para como fazer amigos e influenciar pessoas 9 pontos"/>
          <p:cNvPicPr>
            <a:picLocks noChangeAspect="1" noChangeArrowheads="1"/>
          </p:cNvPicPr>
          <p:nvPr/>
        </p:nvPicPr>
        <p:blipFill>
          <a:blip r:embed="rId2"/>
          <a:srcRect/>
          <a:stretch>
            <a:fillRect/>
          </a:stretch>
        </p:blipFill>
        <p:spPr bwMode="auto">
          <a:xfrm>
            <a:off x="1500166" y="0"/>
            <a:ext cx="6696086" cy="6882781"/>
          </a:xfrm>
          <a:prstGeom prst="rect">
            <a:avLst/>
          </a:prstGeom>
          <a:noFill/>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t>Dinâmica 2 x 2</a:t>
            </a:r>
            <a:endParaRPr lang="pt-BR" dirty="0"/>
          </a:p>
        </p:txBody>
      </p:sp>
      <p:sp>
        <p:nvSpPr>
          <p:cNvPr id="3" name="Espaço Reservado para Conteúdo 2"/>
          <p:cNvSpPr>
            <a:spLocks noGrp="1"/>
          </p:cNvSpPr>
          <p:nvPr>
            <p:ph idx="1"/>
          </p:nvPr>
        </p:nvSpPr>
        <p:spPr/>
        <p:txBody>
          <a:bodyPr/>
          <a:lstStyle/>
          <a:p>
            <a:r>
              <a:rPr lang="pt-BR" dirty="0" smtClean="0"/>
              <a:t>Lições aprendidas</a:t>
            </a:r>
          </a:p>
          <a:p>
            <a:pPr lvl="1"/>
            <a:r>
              <a:rPr lang="pt-BR" dirty="0" smtClean="0"/>
              <a:t>Houve ganha </a:t>
            </a:r>
            <a:r>
              <a:rPr lang="pt-BR" dirty="0" err="1" smtClean="0"/>
              <a:t>ganha</a:t>
            </a:r>
            <a:r>
              <a:rPr lang="pt-BR" dirty="0" smtClean="0"/>
              <a:t>?</a:t>
            </a:r>
          </a:p>
          <a:p>
            <a:pPr lvl="1"/>
            <a:r>
              <a:rPr lang="pt-BR" dirty="0" smtClean="0"/>
              <a:t>Colocou-se no lugar do outro?</a:t>
            </a:r>
          </a:p>
          <a:p>
            <a:pPr lvl="1"/>
            <a:r>
              <a:rPr lang="pt-BR" dirty="0" smtClean="0"/>
              <a:t>Empresário, percebeu a oportunidade de ajudar o próximo e resolver seu problema?</a:t>
            </a:r>
          </a:p>
          <a:p>
            <a:pPr lvl="1"/>
            <a:r>
              <a:rPr lang="pt-BR" dirty="0" smtClean="0"/>
              <a:t>Transeunte, percebe que mesmo na dificuldade é possível negociar e resolver problemas?</a:t>
            </a:r>
          </a:p>
          <a:p>
            <a:pPr lvl="1"/>
            <a:r>
              <a:rPr lang="pt-BR" dirty="0" smtClean="0"/>
              <a:t>Você acaba de conhecer a técnica ZOPA</a:t>
            </a:r>
          </a:p>
          <a:p>
            <a:pPr lvl="1"/>
            <a:r>
              <a:rPr lang="pt-BR" dirty="0" smtClean="0"/>
              <a:t>O gestor de projetos deve negociar todo tempo! Assim, as coisas vão acontecer...</a:t>
            </a:r>
            <a:endParaRPr lang="pt-BR" dirty="0"/>
          </a:p>
        </p:txBody>
      </p:sp>
    </p:spTree>
    <p:extLst>
      <p:ext uri="{BB962C8B-B14F-4D97-AF65-F5344CB8AC3E}">
        <p14:creationId xmlns:p14="http://schemas.microsoft.com/office/powerpoint/2010/main" val="242656358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Tendências atuais</a:t>
            </a:r>
          </a:p>
        </p:txBody>
      </p:sp>
      <p:sp>
        <p:nvSpPr>
          <p:cNvPr id="3" name="Content Placeholder 2"/>
          <p:cNvSpPr>
            <a:spLocks noGrp="1"/>
          </p:cNvSpPr>
          <p:nvPr>
            <p:ph idx="1"/>
          </p:nvPr>
        </p:nvSpPr>
        <p:spPr/>
        <p:txBody>
          <a:bodyPr/>
          <a:lstStyle/>
          <a:p>
            <a:r>
              <a:rPr sz="2100"/>
              <a:t>IA generativa: atas, riscos, estimativas e relatórios, com revisão humana</a:t>
            </a:r>
          </a:p>
          <a:p>
            <a:r>
              <a:rPr sz="2100"/>
              <a:t>Trabalho remoto e híbrido como padrão</a:t>
            </a:r>
          </a:p>
          <a:p>
            <a:r>
              <a:rPr sz="2100"/>
              <a:t>Gestão por valor, métricas de resultado e OKRs</a:t>
            </a:r>
          </a:p>
          <a:p>
            <a:r>
              <a:rPr sz="2100"/>
              <a:t>DevOps e entrega contínua</a:t>
            </a:r>
          </a:p>
          <a:p>
            <a:r>
              <a:rPr sz="2100"/>
              <a:t>Sustentabilidade e ESG nas decisões do projeto</a:t>
            </a:r>
          </a:p>
          <a:p>
            <a:r>
              <a:rPr sz="2100"/>
              <a:t>Decisões baseadas em dados e dashboards</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Exercício: do charter ao backlog</a:t>
            </a:r>
          </a:p>
        </p:txBody>
      </p:sp>
      <p:sp>
        <p:nvSpPr>
          <p:cNvPr id="3" name="Content Placeholder 2"/>
          <p:cNvSpPr>
            <a:spLocks noGrp="1"/>
          </p:cNvSpPr>
          <p:nvPr>
            <p:ph idx="1"/>
          </p:nvPr>
        </p:nvSpPr>
        <p:spPr/>
        <p:txBody>
          <a:bodyPr/>
          <a:lstStyle/>
          <a:p>
            <a:r>
              <a:rPr sz="2100"/>
              <a:t>Justifique a abordagem: preditiva, ágil ou híbrida</a:t>
            </a:r>
          </a:p>
          <a:p>
            <a:r>
              <a:rPr sz="2100"/>
              <a:t>Escreva 8 a 10 histórias de usuário priorizadas</a:t>
            </a:r>
          </a:p>
          <a:p>
            <a:r>
              <a:rPr sz="2100"/>
              <a:t>Defina a meta e os itens da primeira Sprint</a:t>
            </a:r>
          </a:p>
          <a:p>
            <a:r>
              <a:rPr sz="2100"/>
              <a:t>Defina critérios de aceite e Definition of Done</a:t>
            </a:r>
          </a:p>
          <a:p>
            <a:r>
              <a:rPr sz="2100"/>
              <a:t>Planeje a cadência de eventos e a comunicação</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Referências</a:t>
            </a:r>
          </a:p>
        </p:txBody>
      </p:sp>
      <p:sp>
        <p:nvSpPr>
          <p:cNvPr id="3" name="Content Placeholder 2"/>
          <p:cNvSpPr>
            <a:spLocks noGrp="1"/>
          </p:cNvSpPr>
          <p:nvPr>
            <p:ph idx="1"/>
          </p:nvPr>
        </p:nvSpPr>
        <p:spPr/>
        <p:txBody>
          <a:bodyPr/>
          <a:lstStyle/>
          <a:p>
            <a:r>
              <a:rPr sz="1900"/>
              <a:t>PMI. PMBOK® Guide, 8ª ed., 2025; Agile Practice Guide, 2017</a:t>
            </a:r>
          </a:p>
          <a:p>
            <a:r>
              <a:rPr sz="1900"/>
              <a:t>Schwaber e Sutherland. The Scrum Guide, 2020</a:t>
            </a:r>
          </a:p>
          <a:p>
            <a:r>
              <a:rPr sz="1900"/>
              <a:t>Beck et al. Manifesto para o Desenvolvimento Ágil de Software, 2001</a:t>
            </a:r>
          </a:p>
          <a:p>
            <a:r>
              <a:rPr sz="1900"/>
              <a:t>Anderson, D. Kanban: mudança evolucionária, 2010</a:t>
            </a:r>
          </a:p>
          <a:p>
            <a:r>
              <a:rPr sz="1900"/>
              <a:t>Edmondson, A. The Fearless Organization, 2018</a:t>
            </a:r>
          </a:p>
        </p:txBody>
      </p:sp>
    </p:spTree>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404</TotalTime>
  <Words>3447</Words>
  <Application>Microsoft Office PowerPoint</Application>
  <PresentationFormat>Apresentação na tela (4:3)</PresentationFormat>
  <Paragraphs>778</Paragraphs>
  <Slides>119</Slides>
  <Notes>0</Notes>
  <HiddenSlides>0</HiddenSlides>
  <MMClips>0</MMClips>
  <ScaleCrop>false</ScaleCrop>
  <HeadingPairs>
    <vt:vector size="6" baseType="variant">
      <vt:variant>
        <vt:lpstr>Tema</vt:lpstr>
      </vt:variant>
      <vt:variant>
        <vt:i4>1</vt:i4>
      </vt:variant>
      <vt:variant>
        <vt:lpstr>Servidores OLE incorporados</vt:lpstr>
      </vt:variant>
      <vt:variant>
        <vt:i4>1</vt:i4>
      </vt:variant>
      <vt:variant>
        <vt:lpstr>Títulos de slides</vt:lpstr>
      </vt:variant>
      <vt:variant>
        <vt:i4>119</vt:i4>
      </vt:variant>
    </vt:vector>
  </HeadingPairs>
  <TitlesOfParts>
    <vt:vector size="121" baseType="lpstr">
      <vt:lpstr>Design padrão</vt:lpstr>
      <vt:lpstr>Visio.Drawing.11</vt:lpstr>
      <vt:lpstr>Metodologia de Projetos</vt:lpstr>
      <vt:lpstr>Apresentação do PowerPoint</vt:lpstr>
      <vt:lpstr>Apresentação do PowerPoint</vt:lpstr>
      <vt:lpstr>Projeto</vt:lpstr>
      <vt:lpstr>Apresentação do PowerPoint</vt:lpstr>
      <vt:lpstr>Apresentação do PowerPoint</vt:lpstr>
      <vt:lpstr>Apresentação do PowerPoint</vt:lpstr>
      <vt:lpstr>PMBOK® Guide: evolução recente</vt:lpstr>
      <vt:lpstr>PMBOK® 8: os 6 princípios</vt:lpstr>
      <vt:lpstr>Apresentação do PowerPoint</vt:lpstr>
      <vt:lpstr>Apresentação do PowerPoint</vt:lpstr>
      <vt:lpstr>Apresentação do PowerPoint</vt:lpstr>
      <vt:lpstr>Duração do projeto</vt:lpstr>
      <vt:lpstr>Apresentação do PowerPoint</vt:lpstr>
      <vt:lpstr>Projetos X Atividades contínuas</vt:lpstr>
      <vt:lpstr>Apresentação do PowerPoint</vt:lpstr>
      <vt:lpstr>Características e benefícios</vt:lpstr>
      <vt:lpstr>Quando projetar</vt:lpstr>
      <vt:lpstr>Resolveu projetar?</vt:lpstr>
      <vt:lpstr>Project Charter</vt:lpstr>
      <vt:lpstr>Project Charter</vt:lpstr>
      <vt:lpstr>Sucesso do projeto</vt:lpstr>
      <vt:lpstr>Sucesso do projeto</vt:lpstr>
      <vt:lpstr>Áreas do conhecimento (PMBOK 6)</vt:lpstr>
      <vt:lpstr>Integração</vt:lpstr>
      <vt:lpstr>Apresentação do PowerPoint</vt:lpstr>
      <vt:lpstr>Apresentação do PowerPoint</vt:lpstr>
      <vt:lpstr>Planejamento estratégico</vt:lpstr>
      <vt:lpstr>Planejamento estratégico</vt:lpstr>
      <vt:lpstr>Planejamento estratégico</vt:lpstr>
      <vt:lpstr>CICLO DE VIDA</vt:lpstr>
      <vt:lpstr>CICLO DE VIDA</vt:lpstr>
      <vt:lpstr>Apresentação do PowerPoint</vt:lpstr>
      <vt:lpstr>Metodologias Ágeis</vt:lpstr>
      <vt:lpstr>Espectro de abordagens</vt:lpstr>
      <vt:lpstr>Manifesto Ágil (2001)</vt:lpstr>
      <vt:lpstr>Scrum (Scrum Guide 2020)</vt:lpstr>
      <vt:lpstr>Kanban</vt:lpstr>
      <vt:lpstr>Outras práticas e escala</vt:lpstr>
      <vt:lpstr>Tradicional x Ágil</vt:lpstr>
      <vt:lpstr>Híbrido: como escolher a abordagem</vt:lpstr>
      <vt:lpstr>Apresentação do PowerPoint</vt:lpstr>
      <vt:lpstr>TAP</vt:lpstr>
      <vt:lpstr>Apresentação do PowerPoint</vt:lpstr>
      <vt:lpstr>Apresentação do PowerPoint</vt:lpstr>
      <vt:lpstr>EXERCÍCIO</vt:lpstr>
      <vt:lpstr>Escopo</vt:lpstr>
      <vt:lpstr>Apresentação do PowerPoint</vt:lpstr>
      <vt:lpstr>Escopo</vt:lpstr>
      <vt:lpstr>Declaração do escopo</vt:lpstr>
      <vt:lpstr>Apresentação do PowerPoint</vt:lpstr>
      <vt:lpstr>Apresentação do PowerPoint</vt:lpstr>
      <vt:lpstr>Apresentação do PowerPoint</vt:lpstr>
      <vt:lpstr>Apresentação do PowerPoint</vt:lpstr>
      <vt:lpstr>Apresentação do PowerPoint</vt:lpstr>
      <vt:lpstr>Definição do Escopo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Criar EAP(Estrutura Analítica do Projeto)</vt:lpstr>
      <vt:lpstr>Work Breakdown Structure - WBS</vt:lpstr>
      <vt:lpstr>WBS</vt:lpstr>
      <vt:lpstr>WBS</vt:lpstr>
      <vt:lpstr>Escopo no ágil: backlog e histórias</vt:lpstr>
      <vt:lpstr>Exercício</vt:lpstr>
      <vt:lpstr>TEMPO</vt:lpstr>
      <vt:lpstr>TEMPO</vt:lpstr>
      <vt:lpstr>Apresentação do PowerPoint</vt:lpstr>
      <vt:lpstr>Por que os Projetos Atrasam?</vt:lpstr>
      <vt:lpstr>Por que os Projetos Atrasam?</vt:lpstr>
      <vt:lpstr>Apresentação do PowerPoint</vt:lpstr>
      <vt:lpstr>Tempo</vt:lpstr>
      <vt:lpstr>Apresentação do PowerPoint</vt:lpstr>
      <vt:lpstr>Apresentação do PowerPoint</vt:lpstr>
      <vt:lpstr>Apresentação do PowerPoint</vt:lpstr>
      <vt:lpstr>Sequenciamento</vt:lpstr>
      <vt:lpstr>Apresentação do PowerPoint</vt:lpstr>
      <vt:lpstr>Apresentação do PowerPoint</vt:lpstr>
      <vt:lpstr>Apresentação do PowerPoint</vt:lpstr>
      <vt:lpstr>Tempo no ágil: timeboxes e métricas</vt:lpstr>
      <vt:lpstr>RISCOS</vt:lpstr>
      <vt:lpstr>COMUNICAÇÃO</vt:lpstr>
      <vt:lpstr>Apresentação do PowerPoint</vt:lpstr>
      <vt:lpstr>Apresentação do PowerPoint</vt:lpstr>
      <vt:lpstr>Barreiras à Comunicação</vt:lpstr>
      <vt:lpstr>Apresentação do PowerPoint</vt:lpstr>
      <vt:lpstr>Plano de Comunicação eficaz</vt:lpstr>
      <vt:lpstr>Estratégia de Comunicação do Projeto</vt:lpstr>
      <vt:lpstr>Apresentação do PowerPoint</vt:lpstr>
      <vt:lpstr>Apresentação do PowerPoint</vt:lpstr>
      <vt:lpstr>Apresentação do PowerPoint</vt:lpstr>
      <vt:lpstr>Comunicação em times ágeis</vt:lpstr>
      <vt:lpstr>Riscos</vt:lpstr>
      <vt:lpstr>Riscos no ágil</vt:lpstr>
      <vt:lpstr>RH</vt:lpstr>
      <vt:lpstr>Apresentação do PowerPoint</vt:lpstr>
      <vt:lpstr>Apresentação do PowerPoint</vt:lpstr>
      <vt:lpstr>RH</vt:lpstr>
      <vt:lpstr>Apresentação do PowerPoint</vt:lpstr>
      <vt:lpstr>Teorias de motivação: Maslow</vt:lpstr>
      <vt:lpstr>Teorias de motivação : Teoria das expectativas </vt:lpstr>
      <vt:lpstr>Teorias de motivação :  Teoria de Herzberg </vt:lpstr>
      <vt:lpstr>Teorias de motivação :  Teoria da Realização </vt:lpstr>
      <vt:lpstr>Teorias do comportamento humano</vt:lpstr>
      <vt:lpstr>Teorias do comportamento humano</vt:lpstr>
      <vt:lpstr>Apresentação do PowerPoint</vt:lpstr>
      <vt:lpstr>RH em times ágeis</vt:lpstr>
      <vt:lpstr>Apresentação do PowerPoint</vt:lpstr>
      <vt:lpstr>Dinâmica 2 x 2</vt:lpstr>
      <vt:lpstr>Tendências atuais</vt:lpstr>
      <vt:lpstr>Exercício: do charter ao backlog</vt:lpstr>
      <vt:lpstr>Referências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luiz</dc:creator>
  <cp:lastModifiedBy>Luiz</cp:lastModifiedBy>
  <cp:revision>65</cp:revision>
  <cp:lastPrinted>1601-01-01T00:00:00Z</cp:lastPrinted>
  <dcterms:created xsi:type="dcterms:W3CDTF">1601-01-01T00:00:00Z</dcterms:created>
  <dcterms:modified xsi:type="dcterms:W3CDTF">2026-10-27T00:36:08Z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